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6.svg" ContentType="image/svg+xml"/>
  <Override PartName="/ppt/media/image7.svg" ContentType="image/svg+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trictFirstAndLastChars="0" saveSubsetFonts="1" autoCompressPictures="0">
  <p:sldMasterIdLst>
    <p:sldMasterId id="2147483653" r:id="rId1"/>
  </p:sldMasterIdLst>
  <p:notesMasterIdLst>
    <p:notesMasterId r:id="rId65"/>
  </p:notesMasterIdLst>
  <p:sldIdLst>
    <p:sldId id="770" r:id="rId2"/>
    <p:sldId id="269" r:id="rId3"/>
    <p:sldId id="693" r:id="rId4"/>
    <p:sldId id="749" r:id="rId5"/>
    <p:sldId id="748" r:id="rId6"/>
    <p:sldId id="774" r:id="rId8"/>
    <p:sldId id="775" r:id="rId9"/>
    <p:sldId id="795" r:id="rId39"/>
    <p:sldId id="266" r:id="rId10"/>
    <p:sldId id="772" r:id="rId11"/>
    <p:sldId id="776" r:id="rId12"/>
    <p:sldId id="810" r:id="rId15"/>
    <p:sldId id="811" r:id="rId40"/>
    <p:sldId id="846" r:id="rId48"/>
    <p:sldId id="827" r:id="rId16"/>
    <p:sldId id="835" r:id="rId14"/>
    <p:sldId id="796" r:id="rId17"/>
    <p:sldId id="838" r:id="rId26"/>
    <p:sldId id="831" r:id="rId20"/>
    <p:sldId id="771" r:id="rId21"/>
    <p:sldId id="780" r:id="rId22"/>
    <p:sldId id="793" r:id="rId32"/>
    <p:sldId id="781" r:id="rId24"/>
    <p:sldId id="844" r:id="rId71"/>
    <p:sldId id="845" r:id="rId72"/>
    <p:sldId id="836" r:id="rId25"/>
    <p:sldId id="841" r:id="rId28"/>
    <p:sldId id="842" r:id="rId30"/>
    <p:sldId id="802" r:id="rId54"/>
    <p:sldId id="773" r:id="rId55"/>
    <p:sldId id="784" r:id="rId56"/>
    <p:sldId id="812" r:id="rId41"/>
    <p:sldId id="785" r:id="rId57"/>
    <p:sldId id="787" r:id="rId58"/>
    <p:sldId id="843" r:id="rId31"/>
    <p:sldId id="782" r:id="rId59"/>
    <p:sldId id="783" r:id="rId60"/>
    <p:sldId id="794" r:id="rId61"/>
    <p:sldId id="788" r:id="rId62"/>
    <p:sldId id="801" r:id="rId63"/>
    <p:sldId id="277" r:id="rId64"/>
  </p:sldIdLst>
  <p:sldSz cx="10691813" cy="7559675"/>
  <p:notesSz cx="9939338" cy="1436846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既定のセクション" id="{F15EE332-85E8-464E-BD9B-6722D42356EC}">
          <p14:sldIdLst>
            <p14:sldId id="770"/>
            <p14:sldId id="269"/>
            <p14:sldId id="693"/>
            <p14:sldId id="749"/>
            <p14:sldId id="748"/>
            <p14:sldId id="803"/>
            <p14:sldId id="774"/>
            <p14:sldId id="775"/>
            <p14:sldId id="266"/>
            <p14:sldId id="772"/>
            <p14:sldId id="776"/>
            <p14:sldId id="832"/>
            <p14:sldId id="835"/>
            <p14:sldId id="810"/>
            <p14:sldId id="827"/>
            <p14:sldId id="796"/>
            <p14:sldId id="833"/>
            <p14:sldId id="834"/>
            <p14:sldId id="831"/>
            <p14:sldId id="771"/>
            <p14:sldId id="780"/>
            <p14:sldId id="789"/>
            <p14:sldId id="781"/>
            <p14:sldId id="836"/>
            <p14:sldId id="838"/>
            <p14:sldId id="839"/>
            <p14:sldId id="841"/>
            <p14:sldId id="840"/>
            <p14:sldId id="842"/>
            <p14:sldId id="843"/>
            <p14:sldId id="793"/>
            <p14:sldId id="804"/>
            <p14:sldId id="805"/>
            <p14:sldId id="806"/>
            <p14:sldId id="808"/>
            <p14:sldId id="807"/>
            <p14:sldId id="809"/>
            <p14:sldId id="795"/>
            <p14:sldId id="811"/>
            <p14:sldId id="812"/>
            <p14:sldId id="813"/>
            <p14:sldId id="814"/>
            <p14:sldId id="815"/>
            <p14:sldId id="816"/>
            <p14:sldId id="817"/>
            <p14:sldId id="818"/>
            <p14:sldId id="819"/>
            <p14:sldId id="820"/>
            <p14:sldId id="821"/>
            <p14:sldId id="822"/>
            <p14:sldId id="823"/>
            <p14:sldId id="824"/>
            <p14:sldId id="802"/>
            <p14:sldId id="773"/>
            <p14:sldId id="784"/>
            <p14:sldId id="785"/>
            <p14:sldId id="787"/>
            <p14:sldId id="782"/>
            <p14:sldId id="783"/>
            <p14:sldId id="794"/>
            <p14:sldId id="788"/>
            <p14:sldId id="801"/>
            <p14:sldId id="277"/>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4526" userDrawn="1">
          <p15:clr>
            <a:srgbClr val="A4A3A4"/>
          </p15:clr>
        </p15:guide>
        <p15:guide id="2" pos="3131" userDrawn="1">
          <p15:clr>
            <a:srgbClr val="A4A3A4"/>
          </p15:clr>
        </p15:guide>
      </p15:notes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6" roundtripDataSignature="AMtx7miHo5eoGHrZPWeT5AyeZZ6LkEE/Y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3E7E9"/>
    <a:srgbClr val="1F3864"/>
    <a:srgbClr val="003574"/>
    <a:srgbClr val="003775"/>
    <a:srgbClr val="EBEFF8"/>
    <a:srgbClr val="FBFBFC"/>
    <a:srgbClr val="0B3041"/>
    <a:srgbClr val="ECF2FC"/>
    <a:srgbClr val="F5F8FB"/>
    <a:srgbClr val="0889C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E9FEF8D-0F9E-4D7E-9A0F-5DDE6A6739AB}">
  <a:tblStyle styleId="{2E9FEF8D-0F9E-4D7E-9A0F-5DDE6A6739AB}" styleName="Table_0">
    <a:wholeTbl>
      <a:tcTxStyle b="off" i="off">
        <a:font>
          <a:latin typeface="游ゴシック"/>
          <a:ea typeface="游ゴシック"/>
          <a:cs typeface="游ゴシック"/>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游ゴシック"/>
          <a:ea typeface="游ゴシック"/>
          <a:cs typeface="游ゴシック"/>
        </a:font>
        <a:schemeClr val="lt1"/>
      </a:tcTxStyle>
      <a:tcStyle>
        <a:tcBdr/>
        <a:fill>
          <a:solidFill>
            <a:schemeClr val="accent5"/>
          </a:solidFill>
        </a:fill>
      </a:tcStyle>
    </a:lastCol>
    <a:firstCol>
      <a:tcTxStyle b="on" i="off">
        <a:font>
          <a:latin typeface="游ゴシック"/>
          <a:ea typeface="游ゴシック"/>
          <a:cs typeface="游ゴシック"/>
        </a:font>
        <a:schemeClr val="lt1"/>
      </a:tcTxStyle>
      <a:tcStyle>
        <a:tcBdr/>
        <a:fill>
          <a:solidFill>
            <a:schemeClr val="accent5"/>
          </a:solidFill>
        </a:fill>
      </a:tcStyle>
    </a:firstCol>
    <a:lastRow>
      <a:tcTxStyle b="on" i="off">
        <a:font>
          <a:latin typeface="游ゴシック"/>
          <a:ea typeface="游ゴシック"/>
          <a:cs typeface="游ゴシック"/>
        </a:font>
        <a:schemeClr val="lt1"/>
      </a:tcTxStyle>
      <a:tcStyle>
        <a:tcBdr>
          <a:top>
            <a:ln w="38100" cap="flat" cmpd="sng">
              <a:solidFill>
                <a:schemeClr val="lt1"/>
              </a:solidFill>
              <a:prstDash val="solid"/>
              <a:round/>
              <a:headEnd type="none" w="sm" len="sm"/>
              <a:tailEnd type="none" w="sm" len="sm"/>
            </a:ln>
          </a:top>
        </a:tcBdr>
        <a:fill>
          <a:solidFill>
            <a:schemeClr val="accent5"/>
          </a:solidFill>
        </a:fill>
      </a:tcStyle>
    </a:lastRow>
    <a:seCell>
      <a:tcTxStyle/>
      <a:tcStyle>
        <a:tcBdr/>
      </a:tcStyle>
    </a:seCell>
    <a:swCell>
      <a:tcTxStyle/>
      <a:tcStyle>
        <a:tcBdr/>
      </a:tcStyle>
    </a:swCell>
    <a:firstRow>
      <a:tcTxStyle b="on" i="off">
        <a:font>
          <a:latin typeface="游ゴシック"/>
          <a:ea typeface="游ゴシック"/>
          <a:cs typeface="游ゴシック"/>
        </a:font>
        <a:schemeClr val="lt1"/>
      </a:tcTxStyle>
      <a:tcStyle>
        <a:tcBdr>
          <a:bottom>
            <a:ln w="38100" cap="flat" cmpd="sng">
              <a:solidFill>
                <a:schemeClr val="lt1"/>
              </a:solidFill>
              <a:prstDash val="solid"/>
              <a:round/>
              <a:headEnd type="none" w="sm" len="sm"/>
              <a:tailEnd type="none" w="sm" len="sm"/>
            </a:ln>
          </a:bottom>
        </a:tcBdr>
        <a:fill>
          <a:solidFill>
            <a:schemeClr val="accent5"/>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218" autoAdjust="0"/>
    <p:restoredTop sz="94660"/>
  </p:normalViewPr>
  <p:slideViewPr>
    <p:cSldViewPr snapToGrid="0">
      <p:cViewPr>
        <p:scale>
          <a:sx n="75" d="100"/>
          <a:sy n="75" d="100"/>
        </p:scale>
        <p:origin x="676" y="-28"/>
      </p:cViewPr>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100" d="100"/>
          <a:sy n="100" d="100"/>
        </p:scale>
        <p:origin x="0" y="0"/>
      </p:cViewPr>
      <p:guideLst>
        <p:guide orient="horz" pos="4526"/>
        <p:guide pos="3131"/>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4" Type="http://schemas.openxmlformats.org/officeDocument/2006/relationships/slide" Target="slides/slide16.xml"/><Relationship Id="rId15" Type="http://schemas.openxmlformats.org/officeDocument/2006/relationships/slide" Target="slides/slide12.xml"/><Relationship Id="rId16" Type="http://schemas.openxmlformats.org/officeDocument/2006/relationships/slide" Target="slides/slide15.xml"/><Relationship Id="rId17" Type="http://schemas.openxmlformats.org/officeDocument/2006/relationships/slide" Target="slides/slide17.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4" Type="http://schemas.openxmlformats.org/officeDocument/2006/relationships/slide" Target="slides/slide23.xml"/><Relationship Id="rId25" Type="http://schemas.openxmlformats.org/officeDocument/2006/relationships/slide" Target="slides/slide26.xml"/><Relationship Id="rId26" Type="http://schemas.openxmlformats.org/officeDocument/2006/relationships/slide" Target="slides/slide18.xml"/><Relationship Id="rId28"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35.xml"/><Relationship Id="rId32" Type="http://schemas.openxmlformats.org/officeDocument/2006/relationships/slide" Target="slides/slide22.xml"/><Relationship Id="rId39" Type="http://schemas.openxmlformats.org/officeDocument/2006/relationships/slide" Target="slides/slide8.xml"/><Relationship Id="rId40" Type="http://schemas.openxmlformats.org/officeDocument/2006/relationships/slide" Target="slides/slide13.xml"/><Relationship Id="rId41" Type="http://schemas.openxmlformats.org/officeDocument/2006/relationships/slide" Target="slides/slide32.xml"/><Relationship Id="rId48" Type="http://schemas.openxmlformats.org/officeDocument/2006/relationships/slide" Target="slides/slide14.xml"/><Relationship Id="rId54" Type="http://schemas.openxmlformats.org/officeDocument/2006/relationships/slide" Target="slides/slide29.xml"/><Relationship Id="rId55" Type="http://schemas.openxmlformats.org/officeDocument/2006/relationships/slide" Target="slides/slide30.xml"/><Relationship Id="rId56" Type="http://schemas.openxmlformats.org/officeDocument/2006/relationships/slide" Target="slides/slide31.xml"/><Relationship Id="rId57" Type="http://schemas.openxmlformats.org/officeDocument/2006/relationships/slide" Target="slides/slide33.xml"/><Relationship Id="rId58" Type="http://schemas.openxmlformats.org/officeDocument/2006/relationships/slide" Target="slides/slide34.xml"/><Relationship Id="rId59" Type="http://schemas.openxmlformats.org/officeDocument/2006/relationships/slide" Target="slides/slide36.xml"/><Relationship Id="rId60" Type="http://schemas.openxmlformats.org/officeDocument/2006/relationships/slide" Target="slides/slide37.xml"/><Relationship Id="rId61" Type="http://schemas.openxmlformats.org/officeDocument/2006/relationships/slide" Target="slides/slide38.xml"/><Relationship Id="rId62" Type="http://schemas.openxmlformats.org/officeDocument/2006/relationships/slide" Target="slides/slide39.xml"/><Relationship Id="rId63" Type="http://schemas.openxmlformats.org/officeDocument/2006/relationships/slide" Target="slides/slide40.xml"/><Relationship Id="rId64" Type="http://schemas.openxmlformats.org/officeDocument/2006/relationships/slide" Target="slides/slide41.xml"/><Relationship Id="rId65" Type="http://schemas.openxmlformats.org/officeDocument/2006/relationships/notesMaster" Target="notesMasters/notesMaster1.xml"/><Relationship Id="rId66" Type="http://customschemas.google.com/relationships/presentationmetadata" Target="metadata"/><Relationship Id="rId67" Type="http://schemas.openxmlformats.org/officeDocument/2006/relationships/presProps" Target="presProps.xml"/><Relationship Id="rId68" Type="http://schemas.openxmlformats.org/officeDocument/2006/relationships/viewProps" Target="viewProps.xml"/><Relationship Id="rId69" Type="http://schemas.openxmlformats.org/officeDocument/2006/relationships/theme" Target="theme/theme1.xml"/><Relationship Id="rId70" Type="http://schemas.openxmlformats.org/officeDocument/2006/relationships/tableStyles" Target="tableStyles.xml"/><Relationship Id="rId71" Type="http://schemas.openxmlformats.org/officeDocument/2006/relationships/slide" Target="slides/slide24.xml"/><Relationship Id="rId7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5" y="4"/>
            <a:ext cx="4306676" cy="719872"/>
          </a:xfrm>
          <a:prstGeom prst="rect">
            <a:avLst/>
          </a:prstGeom>
          <a:noFill/>
          <a:ln>
            <a:noFill/>
          </a:ln>
        </p:spPr>
        <p:txBody>
          <a:bodyPr spcFirstLastPara="1" wrap="square" lIns="128134" tIns="64050" rIns="128134" bIns="64050" anchor="t" anchorCtr="0">
            <a:noAutofit/>
          </a:bodyPr>
          <a:lstStyle>
            <a:lvl1pPr marR="0" lvl="0" algn="l" rtl="0">
              <a:spcBef>
                <a:spcPts val="0"/>
              </a:spcBef>
              <a:spcAft>
                <a:spcPts val="0"/>
              </a:spcAft>
              <a:buSzPts val="1400"/>
              <a:buNone/>
              <a:defRPr sz="17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5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5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5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5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5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5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5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5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5630444" y="4"/>
            <a:ext cx="4306675" cy="719872"/>
          </a:xfrm>
          <a:prstGeom prst="rect">
            <a:avLst/>
          </a:prstGeom>
          <a:noFill/>
          <a:ln>
            <a:noFill/>
          </a:ln>
        </p:spPr>
        <p:txBody>
          <a:bodyPr spcFirstLastPara="1" wrap="square" lIns="128134" tIns="64050" rIns="128134" bIns="64050" anchor="t" anchorCtr="0">
            <a:noAutofit/>
          </a:bodyPr>
          <a:lstStyle>
            <a:lvl1pPr marR="0" lvl="0" algn="r" rtl="0">
              <a:spcBef>
                <a:spcPts val="0"/>
              </a:spcBef>
              <a:spcAft>
                <a:spcPts val="0"/>
              </a:spcAft>
              <a:buSzPts val="1400"/>
              <a:buNone/>
              <a:defRPr sz="17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5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5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5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5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5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5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5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5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543050" y="1797050"/>
            <a:ext cx="6856413" cy="4849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95044" y="6915677"/>
            <a:ext cx="7951470" cy="5656454"/>
          </a:xfrm>
          <a:prstGeom prst="rect">
            <a:avLst/>
          </a:prstGeom>
          <a:noFill/>
          <a:ln>
            <a:noFill/>
          </a:ln>
        </p:spPr>
        <p:txBody>
          <a:bodyPr spcFirstLastPara="1" wrap="square" lIns="128134" tIns="64050" rIns="128134" bIns="6405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5" y="13648596"/>
            <a:ext cx="4306676" cy="719872"/>
          </a:xfrm>
          <a:prstGeom prst="rect">
            <a:avLst/>
          </a:prstGeom>
          <a:noFill/>
          <a:ln>
            <a:noFill/>
          </a:ln>
        </p:spPr>
        <p:txBody>
          <a:bodyPr spcFirstLastPara="1" wrap="square" lIns="128134" tIns="64050" rIns="128134" bIns="64050" anchor="b" anchorCtr="0">
            <a:noAutofit/>
          </a:bodyPr>
          <a:lstStyle>
            <a:lvl1pPr marR="0" lvl="0" algn="l" rtl="0">
              <a:spcBef>
                <a:spcPts val="0"/>
              </a:spcBef>
              <a:spcAft>
                <a:spcPts val="0"/>
              </a:spcAft>
              <a:buSzPts val="1400"/>
              <a:buNone/>
              <a:defRPr sz="17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5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5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5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5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5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5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5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5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5630444" y="13648596"/>
            <a:ext cx="4306675" cy="719872"/>
          </a:xfrm>
          <a:prstGeom prst="rect">
            <a:avLst/>
          </a:prstGeom>
          <a:noFill/>
          <a:ln>
            <a:noFill/>
          </a:ln>
        </p:spPr>
        <p:txBody>
          <a:bodyPr spcFirstLastPara="1" wrap="square" lIns="128134" tIns="64050" rIns="128134" bIns="64050" anchor="b" anchorCtr="0">
            <a:noAutofit/>
          </a:bodyPr>
          <a:lstStyle/>
          <a:p>
            <a:pPr algn="r"/>
            <a:fld id="{00000000-1234-1234-1234-123412341234}" type="slidenum">
              <a:rPr lang="en-US" altLang="ja-JP" sz="1700" smtClean="0">
                <a:solidFill>
                  <a:schemeClr val="dk1"/>
                </a:solidFill>
              </a:rPr>
              <a:pPr algn="r"/>
              <a:t>‹#›</a:t>
            </a:fld>
            <a:endParaRPr lang="en-US" sz="1700">
              <a:solidFill>
                <a:schemeClr val="dk1"/>
              </a:solidFil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72A68-D8F2-B22E-7BFA-83527B74627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8067325-FBD2-0A2C-AAB1-F7B579EB568F}"/>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7CC41CC2-90D7-5CB1-F482-54299D366ABB}"/>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6D654142-6A85-EA5B-5409-B0B81E07C5DC}"/>
              </a:ext>
            </a:extLst>
          </p:cNvPr>
          <p:cNvSpPr>
            <a:spLocks noGrp="1"/>
          </p:cNvSpPr>
          <p:nvPr>
            <p:ph type="sldNum" sz="quarter" idx="5"/>
          </p:nvPr>
        </p:nvSpPr>
        <p:spPr/>
        <p:txBody>
          <a:bodyPr/>
          <a:lstStyle/>
          <a:p>
            <a:fld id="{30FF3BCC-1A43-4D25-8467-E40EF431E2F1}" type="slidenum">
              <a:rPr kumimoji="1" lang="ja-JP" altLang="en-US" smtClean="0"/>
              <a:t>0</a:t>
            </a:fld>
            <a:endParaRPr kumimoji="1" lang="ja-JP" altLang="en-US"/>
          </a:p>
        </p:txBody>
      </p:sp>
    </p:spTree>
    <p:extLst>
      <p:ext uri="{BB962C8B-B14F-4D97-AF65-F5344CB8AC3E}">
        <p14:creationId xmlns:p14="http://schemas.microsoft.com/office/powerpoint/2010/main" val="23596415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7775" y="1143000"/>
            <a:ext cx="4362450" cy="3086100"/>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1</a:t>
            </a:fld>
            <a:endParaRPr kumimoji="1" lang="ja-JP" altLang="en-US"/>
          </a:p>
        </p:txBody>
      </p:sp>
    </p:spTree>
    <p:extLst>
      <p:ext uri="{BB962C8B-B14F-4D97-AF65-F5344CB8AC3E}">
        <p14:creationId xmlns:p14="http://schemas.microsoft.com/office/powerpoint/2010/main" val="3637167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2:notes"/>
          <p:cNvSpPr>
            <a:spLocks noGrp="1" noRot="1" noChangeAspect="1"/>
          </p:cNvSpPr>
          <p:nvPr>
            <p:ph type="sldImg" idx="2"/>
          </p:nvPr>
        </p:nvSpPr>
        <p:spPr>
          <a:xfrm>
            <a:off x="1038225" y="1244600"/>
            <a:ext cx="4745038"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6" name="Google Shape;256;p2:notes"/>
          <p:cNvSpPr txBox="1">
            <a:spLocks noGrp="1"/>
          </p:cNvSpPr>
          <p:nvPr>
            <p:ph type="body" idx="1"/>
          </p:nvPr>
        </p:nvSpPr>
        <p:spPr>
          <a:xfrm>
            <a:off x="682755" y="4787722"/>
            <a:ext cx="5455939" cy="3915961"/>
          </a:xfrm>
          <a:prstGeom prst="rect">
            <a:avLst/>
          </a:prstGeom>
          <a:noFill/>
          <a:ln>
            <a:noFill/>
          </a:ln>
        </p:spPr>
        <p:txBody>
          <a:bodyPr spcFirstLastPara="1" wrap="square" lIns="88335" tIns="44169" rIns="88335" bIns="44169" anchor="t" anchorCtr="0">
            <a:noAutofit/>
          </a:bodyPr>
          <a:lstStyle/>
          <a:p>
            <a:endParaRPr dirty="0"/>
          </a:p>
        </p:txBody>
      </p:sp>
      <p:sp>
        <p:nvSpPr>
          <p:cNvPr id="257" name="Google Shape;257;p2:notes"/>
          <p:cNvSpPr txBox="1">
            <a:spLocks noGrp="1"/>
          </p:cNvSpPr>
          <p:nvPr>
            <p:ph type="sldNum" idx="12"/>
          </p:nvPr>
        </p:nvSpPr>
        <p:spPr>
          <a:xfrm>
            <a:off x="3863353" y="9448918"/>
            <a:ext cx="2955046" cy="498368"/>
          </a:xfrm>
          <a:prstGeom prst="rect">
            <a:avLst/>
          </a:prstGeom>
          <a:noFill/>
          <a:ln>
            <a:noFill/>
          </a:ln>
        </p:spPr>
        <p:txBody>
          <a:bodyPr spcFirstLastPara="1" wrap="square" lIns="88335" tIns="44169" rIns="88335" bIns="44169" anchor="b" anchorCtr="0">
            <a:noAutofit/>
          </a:bodyPr>
          <a:lstStyle/>
          <a:p>
            <a:pPr algn="r"/>
            <a:fld id="{00000000-1234-1234-1234-123412341234}" type="slidenum">
              <a:rPr lang="en-US" altLang="ja-JP"/>
              <a:pPr algn="r"/>
              <a:t>2</a:t>
            </a:fld>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33463" y="1243013"/>
            <a:ext cx="4740275" cy="3352800"/>
          </a:xfrm>
        </p:spPr>
      </p:sp>
      <p:sp>
        <p:nvSpPr>
          <p:cNvPr id="3" name="ノート プレースホルダー 2"/>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p:cNvSpPr>
            <a:spLocks noGrp="1"/>
          </p:cNvSpPr>
          <p:nvPr>
            <p:ph type="sldNum" sz="quarter" idx="5"/>
          </p:nvPr>
        </p:nvSpPr>
        <p:spPr/>
        <p:txBody>
          <a:bodyPr/>
          <a:lstStyle/>
          <a:p>
            <a:fld id="{30FF3BCC-1A43-4D25-8467-E40EF431E2F1}" type="slidenum">
              <a:rPr kumimoji="1" lang="ja-JP" altLang="en-US" smtClean="0"/>
              <a:t>4</a:t>
            </a:fld>
            <a:endParaRPr kumimoji="1" lang="ja-JP" altLang="en-US"/>
          </a:p>
        </p:txBody>
      </p:sp>
    </p:spTree>
    <p:extLst>
      <p:ext uri="{BB962C8B-B14F-4D97-AF65-F5344CB8AC3E}">
        <p14:creationId xmlns:p14="http://schemas.microsoft.com/office/powerpoint/2010/main" val="38172004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D25C8-440A-2828-878D-418A0792F61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F7C3FEA-F9FD-B7DB-149F-6EC1DBA88260}"/>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3A5BB81D-E86C-9959-31EE-7B30A06B6D52}"/>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80211B70-4BC5-9F81-584A-69CFC82BF433}"/>
              </a:ext>
            </a:extLst>
          </p:cNvPr>
          <p:cNvSpPr>
            <a:spLocks noGrp="1"/>
          </p:cNvSpPr>
          <p:nvPr>
            <p:ph type="sldNum" sz="quarter" idx="5"/>
          </p:nvPr>
        </p:nvSpPr>
        <p:spPr/>
        <p:txBody>
          <a:bodyPr/>
          <a:lstStyle/>
          <a:p>
            <a:fld id="{30FF3BCC-1A43-4D25-8467-E40EF431E2F1}" type="slidenum">
              <a:rPr kumimoji="1" lang="ja-JP" altLang="en-US" smtClean="0"/>
              <a:t>6</a:t>
            </a:fld>
            <a:endParaRPr kumimoji="1" lang="ja-JP" altLang="en-US"/>
          </a:p>
        </p:txBody>
      </p:sp>
    </p:spTree>
    <p:extLst>
      <p:ext uri="{BB962C8B-B14F-4D97-AF65-F5344CB8AC3E}">
        <p14:creationId xmlns:p14="http://schemas.microsoft.com/office/powerpoint/2010/main" val="7747491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ED554-B8EF-4A9F-7D23-DA7BEB53934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71CEDC1-16A4-E7E3-6D33-36595C1E076B}"/>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07542380-129E-8965-7EF1-2B0D19ED3CF4}"/>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C20D6D73-0F3C-EDF6-E562-BBF922D0AE83}"/>
              </a:ext>
            </a:extLst>
          </p:cNvPr>
          <p:cNvSpPr>
            <a:spLocks noGrp="1"/>
          </p:cNvSpPr>
          <p:nvPr>
            <p:ph type="sldNum" sz="quarter" idx="5"/>
          </p:nvPr>
        </p:nvSpPr>
        <p:spPr/>
        <p:txBody>
          <a:bodyPr/>
          <a:lstStyle/>
          <a:p>
            <a:fld id="{30FF3BCC-1A43-4D25-8467-E40EF431E2F1}" type="slidenum">
              <a:rPr kumimoji="1" lang="ja-JP" altLang="en-US" smtClean="0"/>
              <a:t>7</a:t>
            </a:fld>
            <a:endParaRPr kumimoji="1" lang="ja-JP" altLang="en-US"/>
          </a:p>
        </p:txBody>
      </p:sp>
    </p:spTree>
    <p:extLst>
      <p:ext uri="{BB962C8B-B14F-4D97-AF65-F5344CB8AC3E}">
        <p14:creationId xmlns:p14="http://schemas.microsoft.com/office/powerpoint/2010/main" val="1899608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11:notes"/>
          <p:cNvSpPr>
            <a:spLocks noGrp="1" noRot="1" noChangeAspect="1"/>
          </p:cNvSpPr>
          <p:nvPr>
            <p:ph type="sldImg" idx="2"/>
          </p:nvPr>
        </p:nvSpPr>
        <p:spPr>
          <a:xfrm>
            <a:off x="1543050" y="1797050"/>
            <a:ext cx="6856413" cy="4849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7" name="Google Shape;267;p11:notes"/>
          <p:cNvSpPr txBox="1">
            <a:spLocks noGrp="1"/>
          </p:cNvSpPr>
          <p:nvPr>
            <p:ph type="body" idx="1"/>
          </p:nvPr>
        </p:nvSpPr>
        <p:spPr>
          <a:xfrm>
            <a:off x="995044" y="6915677"/>
            <a:ext cx="7951470" cy="5656454"/>
          </a:xfrm>
          <a:prstGeom prst="rect">
            <a:avLst/>
          </a:prstGeom>
          <a:noFill/>
          <a:ln>
            <a:noFill/>
          </a:ln>
        </p:spPr>
        <p:txBody>
          <a:bodyPr spcFirstLastPara="1" wrap="square" lIns="128134" tIns="64050" rIns="128134" bIns="64050" anchor="t" anchorCtr="0">
            <a:noAutofit/>
          </a:bodyPr>
          <a:lstStyle/>
          <a:p>
            <a:pPr marL="0" indent="0"/>
            <a:endParaRPr/>
          </a:p>
        </p:txBody>
      </p:sp>
      <p:sp>
        <p:nvSpPr>
          <p:cNvPr id="268" name="Google Shape;268;p11:notes"/>
          <p:cNvSpPr txBox="1">
            <a:spLocks noGrp="1"/>
          </p:cNvSpPr>
          <p:nvPr>
            <p:ph type="sldNum" idx="12"/>
          </p:nvPr>
        </p:nvSpPr>
        <p:spPr>
          <a:xfrm>
            <a:off x="5630444" y="13648596"/>
            <a:ext cx="4306675" cy="719872"/>
          </a:xfrm>
          <a:prstGeom prst="rect">
            <a:avLst/>
          </a:prstGeom>
          <a:noFill/>
          <a:ln>
            <a:noFill/>
          </a:ln>
        </p:spPr>
        <p:txBody>
          <a:bodyPr spcFirstLastPara="1" wrap="square" lIns="128134" tIns="64050" rIns="128134" bIns="64050" anchor="b" anchorCtr="0">
            <a:noAutofit/>
          </a:bodyPr>
          <a:lstStyle/>
          <a:p>
            <a:pPr algn="r"/>
            <a:fld id="{00000000-1234-1234-1234-123412341234}" type="slidenum">
              <a:rPr lang="en-US" altLang="ja-JP"/>
              <a:pPr algn="r"/>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255F2-72AB-FF31-01FE-A6493B0F509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381C757-4FDD-ACE7-CF68-5819651248C1}"/>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C5EE625D-8D2D-C468-280D-551D9E317BF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0DF0B3B1-489B-7B8F-FCE9-8191D341F15C}"/>
              </a:ext>
            </a:extLst>
          </p:cNvPr>
          <p:cNvSpPr>
            <a:spLocks noGrp="1"/>
          </p:cNvSpPr>
          <p:nvPr>
            <p:ph type="sldNum" sz="quarter" idx="5"/>
          </p:nvPr>
        </p:nvSpPr>
        <p:spPr/>
        <p:txBody>
          <a:bodyPr/>
          <a:lstStyle/>
          <a:p>
            <a:fld id="{CAF5A409-FE33-4202-B69D-8515A6FDCE7E}" type="slidenum">
              <a:rPr kumimoji="1" lang="ja-JP" altLang="en-US" smtClean="0"/>
              <a:t>10</a:t>
            </a:fld>
            <a:endParaRPr kumimoji="1" lang="ja-JP" altLang="en-US"/>
          </a:p>
        </p:txBody>
      </p:sp>
    </p:spTree>
    <p:extLst>
      <p:ext uri="{BB962C8B-B14F-4D97-AF65-F5344CB8AC3E}">
        <p14:creationId xmlns:p14="http://schemas.microsoft.com/office/powerpoint/2010/main" val="1806618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4B92B-944C-47BE-0F1E-89100E9FAA5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8F02E50-5FFA-0141-FAFB-A20F94736551}"/>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C8F8C6A0-F5BA-0A1D-3A6C-D386671861F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C9E8D2F0-659B-4A6E-4CE3-91D890A0A6DC}"/>
              </a:ext>
            </a:extLst>
          </p:cNvPr>
          <p:cNvSpPr>
            <a:spLocks noGrp="1"/>
          </p:cNvSpPr>
          <p:nvPr>
            <p:ph type="sldNum" sz="quarter" idx="5"/>
          </p:nvPr>
        </p:nvSpPr>
        <p:spPr/>
        <p:txBody>
          <a:bodyPr/>
          <a:lstStyle/>
          <a:p>
            <a:fld id="{CAF5A409-FE33-4202-B69D-8515A6FDCE7E}" type="slidenum">
              <a:rPr kumimoji="1" lang="ja-JP" altLang="en-US" smtClean="0"/>
              <a:t>12</a:t>
            </a:fld>
            <a:endParaRPr kumimoji="1" lang="ja-JP" altLang="en-US"/>
          </a:p>
        </p:txBody>
      </p:sp>
    </p:spTree>
    <p:extLst>
      <p:ext uri="{BB962C8B-B14F-4D97-AF65-F5344CB8AC3E}">
        <p14:creationId xmlns:p14="http://schemas.microsoft.com/office/powerpoint/2010/main" val="25098708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F73305-98E7-9C39-4B5B-D423548721E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D2FDFB1-2BF8-C4BB-A2BD-4892D74A45BA}"/>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5D5D1372-C60D-6808-D87A-773E0F3D997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9E576281-9BBA-8477-DB8D-BB3D7D5770C0}"/>
              </a:ext>
            </a:extLst>
          </p:cNvPr>
          <p:cNvSpPr>
            <a:spLocks noGrp="1"/>
          </p:cNvSpPr>
          <p:nvPr>
            <p:ph type="sldNum" sz="quarter" idx="5"/>
          </p:nvPr>
        </p:nvSpPr>
        <p:spPr/>
        <p:txBody>
          <a:bodyPr/>
          <a:lstStyle/>
          <a:p>
            <a:fld id="{CAF5A409-FE33-4202-B69D-8515A6FDCE7E}" type="slidenum">
              <a:rPr kumimoji="1" lang="ja-JP" altLang="en-US" smtClean="0"/>
              <a:t>13</a:t>
            </a:fld>
            <a:endParaRPr kumimoji="1" lang="ja-JP" altLang="en-US"/>
          </a:p>
        </p:txBody>
      </p:sp>
    </p:spTree>
    <p:extLst>
      <p:ext uri="{BB962C8B-B14F-4D97-AF65-F5344CB8AC3E}">
        <p14:creationId xmlns:p14="http://schemas.microsoft.com/office/powerpoint/2010/main" val="35674260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90037-CCED-5EE3-0B10-592CC929811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9E7D4D1-50FE-51C7-B097-A9CE12C104C1}"/>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CAE414B0-5AB7-644F-2021-E12E9A596FD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987DC591-3706-A7D0-C036-675D42D50AA5}"/>
              </a:ext>
            </a:extLst>
          </p:cNvPr>
          <p:cNvSpPr>
            <a:spLocks noGrp="1"/>
          </p:cNvSpPr>
          <p:nvPr>
            <p:ph type="sldNum" sz="quarter" idx="5"/>
          </p:nvPr>
        </p:nvSpPr>
        <p:spPr/>
        <p:txBody>
          <a:bodyPr/>
          <a:lstStyle/>
          <a:p>
            <a:fld id="{CAF5A409-FE33-4202-B69D-8515A6FDCE7E}" type="slidenum">
              <a:rPr kumimoji="1" lang="ja-JP" altLang="en-US" smtClean="0"/>
              <a:t>14</a:t>
            </a:fld>
            <a:endParaRPr kumimoji="1" lang="ja-JP" altLang="en-US"/>
          </a:p>
        </p:txBody>
      </p:sp>
    </p:spTree>
    <p:extLst>
      <p:ext uri="{BB962C8B-B14F-4D97-AF65-F5344CB8AC3E}">
        <p14:creationId xmlns:p14="http://schemas.microsoft.com/office/powerpoint/2010/main" val="8545430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7775" y="1143000"/>
            <a:ext cx="4362450" cy="3086100"/>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15</a:t>
            </a:fld>
            <a:endParaRPr kumimoji="1" lang="ja-JP" altLang="en-US"/>
          </a:p>
        </p:txBody>
      </p:sp>
    </p:spTree>
    <p:extLst>
      <p:ext uri="{BB962C8B-B14F-4D97-AF65-F5344CB8AC3E}">
        <p14:creationId xmlns:p14="http://schemas.microsoft.com/office/powerpoint/2010/main" val="37467525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60B1B-8967-EB16-F654-95E71A21670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6F3223C-6CB5-B48E-4B27-2931302D029A}"/>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933B0F29-3AAB-5E14-B4D9-A017F82CA42C}"/>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E8F4B38-0355-E574-CF5F-76C145B0E13C}"/>
              </a:ext>
            </a:extLst>
          </p:cNvPr>
          <p:cNvSpPr>
            <a:spLocks noGrp="1"/>
          </p:cNvSpPr>
          <p:nvPr>
            <p:ph type="sldNum" sz="quarter" idx="5"/>
          </p:nvPr>
        </p:nvSpPr>
        <p:spPr/>
        <p:txBody>
          <a:bodyPr/>
          <a:lstStyle/>
          <a:p>
            <a:fld id="{30FF3BCC-1A43-4D25-8467-E40EF431E2F1}" type="slidenum">
              <a:rPr kumimoji="1" lang="ja-JP" altLang="en-US" smtClean="0"/>
              <a:t>20</a:t>
            </a:fld>
            <a:endParaRPr kumimoji="1" lang="ja-JP" altLang="en-US"/>
          </a:p>
        </p:txBody>
      </p:sp>
    </p:spTree>
    <p:extLst>
      <p:ext uri="{BB962C8B-B14F-4D97-AF65-F5344CB8AC3E}">
        <p14:creationId xmlns:p14="http://schemas.microsoft.com/office/powerpoint/2010/main" val="40946642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2E725-D7D8-17E1-4745-D0791B9111B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36A1D65-57DD-D413-2249-F85A5B421025}"/>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50982E84-E980-EAEA-3AF3-155A001191DF}"/>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35F2FC0-9ABA-38FB-BDED-E00320A10C78}"/>
              </a:ext>
            </a:extLst>
          </p:cNvPr>
          <p:cNvSpPr>
            <a:spLocks noGrp="1"/>
          </p:cNvSpPr>
          <p:nvPr>
            <p:ph type="sldNum" sz="quarter" idx="5"/>
          </p:nvPr>
        </p:nvSpPr>
        <p:spPr/>
        <p:txBody>
          <a:bodyPr/>
          <a:lstStyle/>
          <a:p>
            <a:fld id="{30FF3BCC-1A43-4D25-8467-E40EF431E2F1}" type="slidenum">
              <a:rPr kumimoji="1" lang="ja-JP" altLang="en-US" smtClean="0"/>
              <a:t>22</a:t>
            </a:fld>
            <a:endParaRPr kumimoji="1" lang="ja-JP" altLang="en-US"/>
          </a:p>
        </p:txBody>
      </p:sp>
    </p:spTree>
    <p:extLst>
      <p:ext uri="{BB962C8B-B14F-4D97-AF65-F5344CB8AC3E}">
        <p14:creationId xmlns:p14="http://schemas.microsoft.com/office/powerpoint/2010/main" val="17411098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E0BBF8-9647-9334-F86F-D0709B5EC8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2097096-F2EA-17C6-FDB0-B0B48566D776}"/>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63FAEF2D-4EE8-AC43-4584-9174CFEBDCE4}"/>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8DD0C593-0612-A50B-3805-FCCEFBA2D102}"/>
              </a:ext>
            </a:extLst>
          </p:cNvPr>
          <p:cNvSpPr>
            <a:spLocks noGrp="1"/>
          </p:cNvSpPr>
          <p:nvPr>
            <p:ph type="sldNum" sz="quarter" idx="5"/>
          </p:nvPr>
        </p:nvSpPr>
        <p:spPr/>
        <p:txBody>
          <a:bodyPr/>
          <a:lstStyle/>
          <a:p>
            <a:fld id="{30FF3BCC-1A43-4D25-8467-E40EF431E2F1}" type="slidenum">
              <a:rPr kumimoji="1" lang="ja-JP" altLang="en-US" smtClean="0"/>
              <a:t>23</a:t>
            </a:fld>
            <a:endParaRPr kumimoji="1" lang="ja-JP" altLang="en-US"/>
          </a:p>
        </p:txBody>
      </p:sp>
    </p:spTree>
    <p:extLst>
      <p:ext uri="{BB962C8B-B14F-4D97-AF65-F5344CB8AC3E}">
        <p14:creationId xmlns:p14="http://schemas.microsoft.com/office/powerpoint/2010/main" val="1645791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C7B85-83C3-9DDE-4335-158CC42969A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57E6BA9-F36D-604F-3499-7C87D66ABC57}"/>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445EFA15-1CDA-B8D1-0BAC-253999A0B140}"/>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F28CD9B-652E-87FA-D240-FE835F6686E1}"/>
              </a:ext>
            </a:extLst>
          </p:cNvPr>
          <p:cNvSpPr>
            <a:spLocks noGrp="1"/>
          </p:cNvSpPr>
          <p:nvPr>
            <p:ph type="sldNum" sz="quarter" idx="5"/>
          </p:nvPr>
        </p:nvSpPr>
        <p:spPr/>
        <p:txBody>
          <a:bodyPr/>
          <a:lstStyle/>
          <a:p>
            <a:fld id="{30FF3BCC-1A43-4D25-8467-E40EF431E2F1}" type="slidenum">
              <a:rPr kumimoji="1" lang="ja-JP" altLang="en-US" smtClean="0"/>
              <a:t>24</a:t>
            </a:fld>
            <a:endParaRPr kumimoji="1" lang="ja-JP" altLang="en-US"/>
          </a:p>
        </p:txBody>
      </p:sp>
    </p:spTree>
    <p:extLst>
      <p:ext uri="{BB962C8B-B14F-4D97-AF65-F5344CB8AC3E}">
        <p14:creationId xmlns:p14="http://schemas.microsoft.com/office/powerpoint/2010/main" val="5849257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35142-7613-2F88-6DDF-0AA0B95CE30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9A89B74-D534-CC5D-3603-B157866C912A}"/>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2C5E7B25-D992-5558-9CAA-3A2BB05B7140}"/>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9540B3A9-5359-D1DF-207E-4945C3794197}"/>
              </a:ext>
            </a:extLst>
          </p:cNvPr>
          <p:cNvSpPr>
            <a:spLocks noGrp="1"/>
          </p:cNvSpPr>
          <p:nvPr>
            <p:ph type="sldNum" sz="quarter" idx="5"/>
          </p:nvPr>
        </p:nvSpPr>
        <p:spPr/>
        <p:txBody>
          <a:bodyPr/>
          <a:lstStyle/>
          <a:p>
            <a:fld id="{30FF3BCC-1A43-4D25-8467-E40EF431E2F1}" type="slidenum">
              <a:rPr kumimoji="1" lang="ja-JP" altLang="en-US" smtClean="0"/>
              <a:t>30</a:t>
            </a:fld>
            <a:endParaRPr kumimoji="1" lang="ja-JP" altLang="en-US"/>
          </a:p>
        </p:txBody>
      </p:sp>
    </p:spTree>
    <p:extLst>
      <p:ext uri="{BB962C8B-B14F-4D97-AF65-F5344CB8AC3E}">
        <p14:creationId xmlns:p14="http://schemas.microsoft.com/office/powerpoint/2010/main" val="40718563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93F79-295E-F06B-7AB6-52A5A3EA393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26F7EE7-AB24-EA55-7ACE-47505BF35BAF}"/>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7BDE5B4E-F52E-8016-E763-B450F1D89C74}"/>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86271926-BBCD-B1D8-D398-CE016D9998E8}"/>
              </a:ext>
            </a:extLst>
          </p:cNvPr>
          <p:cNvSpPr>
            <a:spLocks noGrp="1"/>
          </p:cNvSpPr>
          <p:nvPr>
            <p:ph type="sldNum" sz="quarter" idx="5"/>
          </p:nvPr>
        </p:nvSpPr>
        <p:spPr/>
        <p:txBody>
          <a:bodyPr/>
          <a:lstStyle/>
          <a:p>
            <a:fld id="{30FF3BCC-1A43-4D25-8467-E40EF431E2F1}" type="slidenum">
              <a:rPr kumimoji="1" lang="ja-JP" altLang="en-US" smtClean="0"/>
              <a:t>37</a:t>
            </a:fld>
            <a:endParaRPr kumimoji="1" lang="ja-JP" altLang="en-US"/>
          </a:p>
        </p:txBody>
      </p:sp>
    </p:spTree>
    <p:extLst>
      <p:ext uri="{BB962C8B-B14F-4D97-AF65-F5344CB8AC3E}">
        <p14:creationId xmlns:p14="http://schemas.microsoft.com/office/powerpoint/2010/main" val="331735442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5E96C-CC6B-99A0-6474-94F8E39D1B4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7E480EA-D907-F625-EA77-9A31C3C46378}"/>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145C8471-5CB1-E6AC-1722-ACC2D29DCD43}"/>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C1946583-9637-7C28-6F6C-7AAA16F7BD66}"/>
              </a:ext>
            </a:extLst>
          </p:cNvPr>
          <p:cNvSpPr>
            <a:spLocks noGrp="1"/>
          </p:cNvSpPr>
          <p:nvPr>
            <p:ph type="sldNum" sz="quarter" idx="5"/>
          </p:nvPr>
        </p:nvSpPr>
        <p:spPr/>
        <p:txBody>
          <a:bodyPr/>
          <a:lstStyle/>
          <a:p>
            <a:fld id="{30FF3BCC-1A43-4D25-8467-E40EF431E2F1}" type="slidenum">
              <a:rPr kumimoji="1" lang="ja-JP" altLang="en-US" smtClean="0"/>
              <a:t>38</a:t>
            </a:fld>
            <a:endParaRPr kumimoji="1" lang="ja-JP" altLang="en-US"/>
          </a:p>
        </p:txBody>
      </p:sp>
    </p:spTree>
    <p:extLst>
      <p:ext uri="{BB962C8B-B14F-4D97-AF65-F5344CB8AC3E}">
        <p14:creationId xmlns:p14="http://schemas.microsoft.com/office/powerpoint/2010/main" val="231609458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5A3D9-AC05-6CFA-85F9-79E3D6B42C0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EBCF0B3-3282-F1B3-53C4-E3506519CB09}"/>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93457E92-9030-A260-6FB3-BEF990C00D26}"/>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71DE1B1D-40A4-9612-31B7-01DC52A31040}"/>
              </a:ext>
            </a:extLst>
          </p:cNvPr>
          <p:cNvSpPr>
            <a:spLocks noGrp="1"/>
          </p:cNvSpPr>
          <p:nvPr>
            <p:ph type="sldNum" sz="quarter" idx="5"/>
          </p:nvPr>
        </p:nvSpPr>
        <p:spPr/>
        <p:txBody>
          <a:bodyPr/>
          <a:lstStyle/>
          <a:p>
            <a:fld id="{30FF3BCC-1A43-4D25-8467-E40EF431E2F1}" type="slidenum">
              <a:rPr kumimoji="1" lang="ja-JP" altLang="en-US" smtClean="0"/>
              <a:t>39</a:t>
            </a:fld>
            <a:endParaRPr kumimoji="1" lang="ja-JP" altLang="en-US"/>
          </a:p>
        </p:txBody>
      </p:sp>
    </p:spTree>
    <p:extLst>
      <p:ext uri="{BB962C8B-B14F-4D97-AF65-F5344CB8AC3E}">
        <p14:creationId xmlns:p14="http://schemas.microsoft.com/office/powerpoint/2010/main" val="33734356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0B30E-2F45-B03F-63EA-7CC0D9829D2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6968CDD-94A7-72E4-171C-59BA82CF0462}"/>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B5A9B728-686D-68E4-01BC-D5B734918885}"/>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171840CA-567F-E35D-4A27-A0BC17FCC8DF}"/>
              </a:ext>
            </a:extLst>
          </p:cNvPr>
          <p:cNvSpPr>
            <a:spLocks noGrp="1"/>
          </p:cNvSpPr>
          <p:nvPr>
            <p:ph type="sldNum" sz="quarter" idx="5"/>
          </p:nvPr>
        </p:nvSpPr>
        <p:spPr/>
        <p:txBody>
          <a:bodyPr/>
          <a:lstStyle/>
          <a:p>
            <a:fld id="{30FF3BCC-1A43-4D25-8467-E40EF431E2F1}" type="slidenum">
              <a:rPr kumimoji="1" lang="ja-JP" altLang="en-US" smtClean="0"/>
              <a:t>52</a:t>
            </a:fld>
            <a:endParaRPr kumimoji="1" lang="ja-JP" altLang="en-US"/>
          </a:p>
        </p:txBody>
      </p:sp>
    </p:spTree>
    <p:extLst>
      <p:ext uri="{BB962C8B-B14F-4D97-AF65-F5344CB8AC3E}">
        <p14:creationId xmlns:p14="http://schemas.microsoft.com/office/powerpoint/2010/main" val="413513710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8BDAB-B0BC-D005-A2A7-951EBC89B4C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52DC877-776A-449C-A43E-AEB3CE94D630}"/>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9030C70C-7CA3-B8C1-0D62-4A544C5F87B2}"/>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96B92F43-F674-D334-F90F-5304787C5E7D}"/>
              </a:ext>
            </a:extLst>
          </p:cNvPr>
          <p:cNvSpPr>
            <a:spLocks noGrp="1"/>
          </p:cNvSpPr>
          <p:nvPr>
            <p:ph type="sldNum" sz="quarter" idx="5"/>
          </p:nvPr>
        </p:nvSpPr>
        <p:spPr/>
        <p:txBody>
          <a:bodyPr/>
          <a:lstStyle/>
          <a:p>
            <a:fld id="{30FF3BCC-1A43-4D25-8467-E40EF431E2F1}" type="slidenum">
              <a:rPr kumimoji="1" lang="ja-JP" altLang="en-US" smtClean="0"/>
              <a:t>54</a:t>
            </a:fld>
            <a:endParaRPr kumimoji="1" lang="ja-JP" altLang="en-US"/>
          </a:p>
        </p:txBody>
      </p:sp>
    </p:spTree>
    <p:extLst>
      <p:ext uri="{BB962C8B-B14F-4D97-AF65-F5344CB8AC3E}">
        <p14:creationId xmlns:p14="http://schemas.microsoft.com/office/powerpoint/2010/main" val="20659891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A4A82-F556-35B1-B856-FE508044492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EC3BDB4-265E-5E67-CFEA-208DBEE091A4}"/>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5BF07348-0B3E-EDA2-CC24-8961BB8EE4D3}"/>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0395BC13-068C-8F1D-24E2-48104E91BC41}"/>
              </a:ext>
            </a:extLst>
          </p:cNvPr>
          <p:cNvSpPr>
            <a:spLocks noGrp="1"/>
          </p:cNvSpPr>
          <p:nvPr>
            <p:ph type="sldNum" sz="quarter" idx="5"/>
          </p:nvPr>
        </p:nvSpPr>
        <p:spPr/>
        <p:txBody>
          <a:bodyPr/>
          <a:lstStyle/>
          <a:p>
            <a:fld id="{30FF3BCC-1A43-4D25-8467-E40EF431E2F1}" type="slidenum">
              <a:rPr kumimoji="1" lang="ja-JP" altLang="en-US" smtClean="0"/>
              <a:t>55</a:t>
            </a:fld>
            <a:endParaRPr kumimoji="1" lang="ja-JP" altLang="en-US"/>
          </a:p>
        </p:txBody>
      </p:sp>
    </p:spTree>
    <p:extLst>
      <p:ext uri="{BB962C8B-B14F-4D97-AF65-F5344CB8AC3E}">
        <p14:creationId xmlns:p14="http://schemas.microsoft.com/office/powerpoint/2010/main" val="29457885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D6D02-57FD-62EB-BC56-6E300F505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138501E-F5AF-0224-79A6-DBE6F9F7E093}"/>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F0C518C7-436D-8B71-5734-02D19443C6BA}"/>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4216A50-996C-4CF3-5119-58EFABB781F5}"/>
              </a:ext>
            </a:extLst>
          </p:cNvPr>
          <p:cNvSpPr>
            <a:spLocks noGrp="1"/>
          </p:cNvSpPr>
          <p:nvPr>
            <p:ph type="sldNum" sz="quarter" idx="5"/>
          </p:nvPr>
        </p:nvSpPr>
        <p:spPr/>
        <p:txBody>
          <a:bodyPr/>
          <a:lstStyle/>
          <a:p>
            <a:fld id="{30FF3BCC-1A43-4D25-8467-E40EF431E2F1}" type="slidenum">
              <a:rPr kumimoji="1" lang="ja-JP" altLang="en-US" smtClean="0"/>
              <a:t>56</a:t>
            </a:fld>
            <a:endParaRPr kumimoji="1" lang="ja-JP" altLang="en-US"/>
          </a:p>
        </p:txBody>
      </p:sp>
    </p:spTree>
    <p:extLst>
      <p:ext uri="{BB962C8B-B14F-4D97-AF65-F5344CB8AC3E}">
        <p14:creationId xmlns:p14="http://schemas.microsoft.com/office/powerpoint/2010/main" val="289853074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FF017-472F-0872-A57B-F89F02E4AE7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D7AC265-7FBA-5DC7-99A1-03FC2F6AC04A}"/>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47597C32-1DAD-46CB-92D2-4B18BA8A3020}"/>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E3D7D21C-CA67-AD27-2D15-37084604B145}"/>
              </a:ext>
            </a:extLst>
          </p:cNvPr>
          <p:cNvSpPr>
            <a:spLocks noGrp="1"/>
          </p:cNvSpPr>
          <p:nvPr>
            <p:ph type="sldNum" sz="quarter" idx="5"/>
          </p:nvPr>
        </p:nvSpPr>
        <p:spPr/>
        <p:txBody>
          <a:bodyPr/>
          <a:lstStyle/>
          <a:p>
            <a:fld id="{30FF3BCC-1A43-4D25-8467-E40EF431E2F1}" type="slidenum">
              <a:rPr kumimoji="1" lang="ja-JP" altLang="en-US" smtClean="0"/>
              <a:t>58</a:t>
            </a:fld>
            <a:endParaRPr kumimoji="1" lang="ja-JP" altLang="en-US"/>
          </a:p>
        </p:txBody>
      </p:sp>
    </p:spTree>
    <p:extLst>
      <p:ext uri="{BB962C8B-B14F-4D97-AF65-F5344CB8AC3E}">
        <p14:creationId xmlns:p14="http://schemas.microsoft.com/office/powerpoint/2010/main" val="88990971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6276C-84CC-C215-DACE-F6ADF0BA4C5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5F6E4CA-435F-061C-18DC-1F4E9AF81BF2}"/>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360C6E64-2E0B-5929-5BC0-D5FAC2E44A22}"/>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DB9BCA0D-59ED-2244-A45B-B24BCA184C3C}"/>
              </a:ext>
            </a:extLst>
          </p:cNvPr>
          <p:cNvSpPr>
            <a:spLocks noGrp="1"/>
          </p:cNvSpPr>
          <p:nvPr>
            <p:ph type="sldNum" sz="quarter" idx="5"/>
          </p:nvPr>
        </p:nvSpPr>
        <p:spPr/>
        <p:txBody>
          <a:bodyPr/>
          <a:lstStyle/>
          <a:p>
            <a:fld id="{30FF3BCC-1A43-4D25-8467-E40EF431E2F1}" type="slidenum">
              <a:rPr kumimoji="1" lang="ja-JP" altLang="en-US" smtClean="0"/>
              <a:t>59</a:t>
            </a:fld>
            <a:endParaRPr kumimoji="1" lang="ja-JP" altLang="en-US"/>
          </a:p>
        </p:txBody>
      </p:sp>
    </p:spTree>
    <p:extLst>
      <p:ext uri="{BB962C8B-B14F-4D97-AF65-F5344CB8AC3E}">
        <p14:creationId xmlns:p14="http://schemas.microsoft.com/office/powerpoint/2010/main" val="6535653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08CDCC-4499-9CC9-1F39-99083A511C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93DCC5A-4CF0-CE33-9793-735FCC81AE4E}"/>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96E4A811-4C57-E7FA-999B-3B2346969CFA}"/>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E5D9E0B5-62CD-B7FC-7619-BDD324DA7A35}"/>
              </a:ext>
            </a:extLst>
          </p:cNvPr>
          <p:cNvSpPr>
            <a:spLocks noGrp="1"/>
          </p:cNvSpPr>
          <p:nvPr>
            <p:ph type="sldNum" sz="quarter" idx="5"/>
          </p:nvPr>
        </p:nvSpPr>
        <p:spPr/>
        <p:txBody>
          <a:bodyPr/>
          <a:lstStyle/>
          <a:p>
            <a:fld id="{30FF3BCC-1A43-4D25-8467-E40EF431E2F1}" type="slidenum">
              <a:rPr kumimoji="1" lang="ja-JP" altLang="en-US" smtClean="0"/>
              <a:t>60</a:t>
            </a:fld>
            <a:endParaRPr kumimoji="1" lang="ja-JP" altLang="en-US"/>
          </a:p>
        </p:txBody>
      </p:sp>
    </p:spTree>
    <p:extLst>
      <p:ext uri="{BB962C8B-B14F-4D97-AF65-F5344CB8AC3E}">
        <p14:creationId xmlns:p14="http://schemas.microsoft.com/office/powerpoint/2010/main" val="216406258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33463" y="1243013"/>
            <a:ext cx="4740275" cy="3352800"/>
          </a:xfrm>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en-US" dirty="0"/>
          </a:p>
        </p:txBody>
      </p:sp>
      <p:sp>
        <p:nvSpPr>
          <p:cNvPr id="4" name="スライド番号プレースホルダー 3"/>
          <p:cNvSpPr>
            <a:spLocks noGrp="1"/>
          </p:cNvSpPr>
          <p:nvPr>
            <p:ph type="sldNum" sz="quarter" idx="5"/>
          </p:nvPr>
        </p:nvSpPr>
        <p:spPr/>
        <p:txBody>
          <a:bodyPr/>
          <a:lstStyle/>
          <a:p>
            <a:fld id="{CAF5A409-FE33-4202-B69D-8515A6FDCE7E}" type="slidenum">
              <a:rPr kumimoji="1" lang="ja-JP" altLang="en-US" smtClean="0"/>
              <a:t>61</a:t>
            </a:fld>
            <a:endParaRPr kumimoji="1" lang="ja-JP" altLang="en-US"/>
          </a:p>
        </p:txBody>
      </p:sp>
    </p:spTree>
    <p:extLst>
      <p:ext uri="{BB962C8B-B14F-4D97-AF65-F5344CB8AC3E}">
        <p14:creationId xmlns:p14="http://schemas.microsoft.com/office/powerpoint/2010/main" val="39096212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6.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997412218"/>
      </p:ext>
    </p:extLst>
  </p:cSld>
  <p:clrMapOvr>
    <a:masterClrMapping/>
  </p:clrMapOvr>
  <p:extLst>
    <p:ext uri="{DCECCB84-F9BA-43D5-87BE-67443E8EF086}">
      <p15:sldGuideLst xmlns:p15="http://schemas.microsoft.com/office/powerpoint/2012/main">
        <p15:guide id="1" orient="horz" pos="2381" userDrawn="1">
          <p15:clr>
            <a:srgbClr val="FBAE40"/>
          </p15:clr>
        </p15:guide>
        <p15:guide id="2" pos="3367"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表紙">
    <p:spTree>
      <p:nvGrpSpPr>
        <p:cNvPr id="1" name=""/>
        <p:cNvGrpSpPr/>
        <p:nvPr/>
      </p:nvGrpSpPr>
      <p:grpSpPr>
        <a:xfrm>
          <a:off x="0" y="0"/>
          <a:ext cx="0" cy="0"/>
          <a:chOff x="0" y="0"/>
          <a:chExt cx="0" cy="0"/>
        </a:xfrm>
      </p:grpSpPr>
      <p:pic>
        <p:nvPicPr>
          <p:cNvPr id="3" name="図 2" descr="絵と文字の加工写真&#10;&#10;AI 生成コンテンツは誤りを含む可能性があります。">
            <a:extLst>
              <a:ext uri="{FF2B5EF4-FFF2-40B4-BE49-F238E27FC236}">
                <a16:creationId xmlns:a16="http://schemas.microsoft.com/office/drawing/2014/main" id="{995F6558-5E48-7ACD-5E2F-54EE4A6825B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6" name="タイトル 1">
            <a:extLst>
              <a:ext uri="{FF2B5EF4-FFF2-40B4-BE49-F238E27FC236}">
                <a16:creationId xmlns:a16="http://schemas.microsoft.com/office/drawing/2014/main" id="{7D824756-0531-3BBA-09FB-CC8ACB55A36C}"/>
              </a:ext>
            </a:extLst>
          </p:cNvPr>
          <p:cNvSpPr>
            <a:spLocks noGrp="1"/>
          </p:cNvSpPr>
          <p:nvPr>
            <p:ph type="title"/>
          </p:nvPr>
        </p:nvSpPr>
        <p:spPr>
          <a:xfrm>
            <a:off x="885526" y="3467606"/>
            <a:ext cx="9221787" cy="738664"/>
          </a:xfrm>
          <a:prstGeom prst="rect">
            <a:avLst/>
          </a:prstGeom>
          <a:noFill/>
        </p:spPr>
        <p:txBody>
          <a:bodyPr wrap="square" lIns="0" tIns="0" rIns="0" bIns="0" rtlCol="0" anchor="ctr">
            <a:spAutoFit/>
          </a:bodyPr>
          <a:lstStyle>
            <a:lvl1pPr>
              <a:lnSpc>
                <a:spcPct val="100000"/>
              </a:lnSpc>
              <a:defRPr lang="ja-JP" altLang="en-US" sz="4800" b="1" spc="200">
                <a:latin typeface="+mj-lt"/>
                <a:cs typeface="+mn-cs"/>
              </a:defRPr>
            </a:lvl1pPr>
          </a:lstStyle>
          <a:p>
            <a:pPr marL="0" lvl="0" defTabSz="503972"/>
            <a:r>
              <a:rPr kumimoji="1" lang="ja-JP" altLang="en-US" dirty="0"/>
              <a:t>マスター タイトルの書式設定</a:t>
            </a:r>
          </a:p>
        </p:txBody>
      </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97898" y="641817"/>
            <a:ext cx="2996516" cy="594316"/>
          </a:xfrm>
          <a:prstGeom prst="rect">
            <a:avLst/>
          </a:prstGeom>
        </p:spPr>
      </p:pic>
      <p:sp>
        <p:nvSpPr>
          <p:cNvPr id="5" name="正方形/長方形 4">
            <a:extLst>
              <a:ext uri="{FF2B5EF4-FFF2-40B4-BE49-F238E27FC236}">
                <a16:creationId xmlns:a16="http://schemas.microsoft.com/office/drawing/2014/main" id="{E7F2AB3F-4E5C-EEA1-723A-7D941C02D057}"/>
              </a:ext>
            </a:extLst>
          </p:cNvPr>
          <p:cNvSpPr/>
          <p:nvPr userDrawn="1"/>
        </p:nvSpPr>
        <p:spPr>
          <a:xfrm>
            <a:off x="-1" y="-1"/>
            <a:ext cx="108000" cy="7560000"/>
          </a:xfrm>
          <a:prstGeom prst="rect">
            <a:avLst/>
          </a:prstGeom>
          <a:gradFill>
            <a:gsLst>
              <a:gs pos="100000">
                <a:schemeClr val="accent4"/>
              </a:gs>
              <a:gs pos="17000">
                <a:schemeClr val="tx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Tree>
    <p:extLst>
      <p:ext uri="{BB962C8B-B14F-4D97-AF65-F5344CB8AC3E}">
        <p14:creationId xmlns:p14="http://schemas.microsoft.com/office/powerpoint/2010/main" val="10359687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次">
    <p:spTree>
      <p:nvGrpSpPr>
        <p:cNvPr id="1" name=""/>
        <p:cNvGrpSpPr/>
        <p:nvPr/>
      </p:nvGrpSpPr>
      <p:grpSpPr>
        <a:xfrm>
          <a:off x="0" y="0"/>
          <a:ext cx="0" cy="0"/>
          <a:chOff x="0" y="0"/>
          <a:chExt cx="0" cy="0"/>
        </a:xfrm>
      </p:grpSpPr>
      <p:pic>
        <p:nvPicPr>
          <p:cNvPr id="2" name="図 1" descr="背景パターン&#10;&#10;AI 生成コンテンツは誤りを含む可能性があります。">
            <a:extLst>
              <a:ext uri="{FF2B5EF4-FFF2-40B4-BE49-F238E27FC236}">
                <a16:creationId xmlns:a16="http://schemas.microsoft.com/office/drawing/2014/main" id="{8E967D6D-5B52-5B07-CA48-6817A5CEB27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grpSp>
        <p:nvGrpSpPr>
          <p:cNvPr id="7" name="グループ化 6">
            <a:extLst>
              <a:ext uri="{FF2B5EF4-FFF2-40B4-BE49-F238E27FC236}">
                <a16:creationId xmlns:a16="http://schemas.microsoft.com/office/drawing/2014/main" id="{01D98B25-17B2-272C-53AC-A26D9745042C}"/>
              </a:ext>
            </a:extLst>
          </p:cNvPr>
          <p:cNvGrpSpPr/>
          <p:nvPr userDrawn="1"/>
        </p:nvGrpSpPr>
        <p:grpSpPr>
          <a:xfrm>
            <a:off x="887069" y="3420377"/>
            <a:ext cx="3420000" cy="602349"/>
            <a:chOff x="887069" y="3420377"/>
            <a:chExt cx="3420000" cy="602349"/>
          </a:xfrm>
        </p:grpSpPr>
        <p:sp>
          <p:nvSpPr>
            <p:cNvPr id="9" name="テキスト ボックス 8">
              <a:extLst>
                <a:ext uri="{FF2B5EF4-FFF2-40B4-BE49-F238E27FC236}">
                  <a16:creationId xmlns:a16="http://schemas.microsoft.com/office/drawing/2014/main" id="{C5012DD8-6B05-046F-3AF1-CACA060CA370}"/>
                </a:ext>
              </a:extLst>
            </p:cNvPr>
            <p:cNvSpPr txBox="1"/>
            <p:nvPr/>
          </p:nvSpPr>
          <p:spPr>
            <a:xfrm>
              <a:off x="977069" y="3420377"/>
              <a:ext cx="3240000" cy="492443"/>
            </a:xfrm>
            <a:prstGeom prst="rect">
              <a:avLst/>
            </a:prstGeom>
            <a:noFill/>
          </p:spPr>
          <p:txBody>
            <a:bodyPr wrap="square" lIns="0" tIns="0" rIns="0" bIns="0" anchor="t">
              <a:spAutoFit/>
            </a:bodyPr>
            <a:lstStyle/>
            <a:p>
              <a:pPr algn="ctr"/>
              <a:r>
                <a:rPr lang="ja-JP" altLang="en-US" sz="3200" b="1" dirty="0">
                  <a:latin typeface="+mj-lt"/>
                </a:rPr>
                <a:t>目次</a:t>
              </a:r>
            </a:p>
          </p:txBody>
        </p:sp>
        <p:cxnSp>
          <p:nvCxnSpPr>
            <p:cNvPr id="10" name="直線コネクタ 9">
              <a:extLst>
                <a:ext uri="{FF2B5EF4-FFF2-40B4-BE49-F238E27FC236}">
                  <a16:creationId xmlns:a16="http://schemas.microsoft.com/office/drawing/2014/main" id="{268C069C-EAF1-B7E8-021B-4DF925E86141}"/>
                </a:ext>
              </a:extLst>
            </p:cNvPr>
            <p:cNvCxnSpPr>
              <a:cxnSpLocks/>
            </p:cNvCxnSpPr>
            <p:nvPr/>
          </p:nvCxnSpPr>
          <p:spPr>
            <a:xfrm>
              <a:off x="887069" y="4022726"/>
              <a:ext cx="34200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gr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97898" y="641818"/>
            <a:ext cx="1627200" cy="322732"/>
          </a:xfrm>
          <a:prstGeom prst="rect">
            <a:avLst/>
          </a:prstGeom>
        </p:spPr>
      </p:pic>
      <p:sp>
        <p:nvSpPr>
          <p:cNvPr id="12" name="テキスト ボックス 11">
            <a:extLst>
              <a:ext uri="{FF2B5EF4-FFF2-40B4-BE49-F238E27FC236}">
                <a16:creationId xmlns:a16="http://schemas.microsoft.com/office/drawing/2014/main" id="{1A1C1562-A331-DA82-9B95-1B4F0DA08BD0}"/>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accent1"/>
                </a:solidFill>
                <a:latin typeface="+mj-lt"/>
              </a:rPr>
              <a:pPr algn="r"/>
              <a:t>‹#›</a:t>
            </a:fld>
            <a:endParaRPr kumimoji="1" lang="ja-JP" altLang="en-US" sz="992" dirty="0">
              <a:solidFill>
                <a:schemeClr val="accent1"/>
              </a:solidFill>
              <a:latin typeface="+mj-lt"/>
            </a:endParaRPr>
          </a:p>
        </p:txBody>
      </p:sp>
      <p:sp>
        <p:nvSpPr>
          <p:cNvPr id="13" name="Google Shape;14;p31">
            <a:extLst>
              <a:ext uri="{FF2B5EF4-FFF2-40B4-BE49-F238E27FC236}">
                <a16:creationId xmlns:a16="http://schemas.microsoft.com/office/drawing/2014/main" id="{0CB49C29-F967-F011-F3F8-2ED176CC202F}"/>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3" name="正方形/長方形 2">
            <a:extLst>
              <a:ext uri="{FF2B5EF4-FFF2-40B4-BE49-F238E27FC236}">
                <a16:creationId xmlns:a16="http://schemas.microsoft.com/office/drawing/2014/main" id="{7493C03D-EF3C-73CD-DCFB-960D33F81124}"/>
              </a:ext>
            </a:extLst>
          </p:cNvPr>
          <p:cNvSpPr/>
          <p:nvPr userDrawn="1"/>
        </p:nvSpPr>
        <p:spPr>
          <a:xfrm>
            <a:off x="6933143" y="7209190"/>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Tree>
    <p:extLst>
      <p:ext uri="{BB962C8B-B14F-4D97-AF65-F5344CB8AC3E}">
        <p14:creationId xmlns:p14="http://schemas.microsoft.com/office/powerpoint/2010/main" val="2801445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中扉">
    <p:spTree>
      <p:nvGrpSpPr>
        <p:cNvPr id="1" name=""/>
        <p:cNvGrpSpPr/>
        <p:nvPr/>
      </p:nvGrpSpPr>
      <p:grpSpPr>
        <a:xfrm>
          <a:off x="0" y="0"/>
          <a:ext cx="0" cy="0"/>
          <a:chOff x="0" y="0"/>
          <a:chExt cx="0" cy="0"/>
        </a:xfrm>
      </p:grpSpPr>
      <p:pic>
        <p:nvPicPr>
          <p:cNvPr id="3" name="図 2" descr="背景パターン&#10;&#10;AI 生成コンテンツは誤りを含む可能性があります。">
            <a:extLst>
              <a:ext uri="{FF2B5EF4-FFF2-40B4-BE49-F238E27FC236}">
                <a16:creationId xmlns:a16="http://schemas.microsoft.com/office/drawing/2014/main" id="{FDE449C2-8B65-9409-394F-45A167C6AEA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5" name="タイトル 1">
            <a:extLst>
              <a:ext uri="{FF2B5EF4-FFF2-40B4-BE49-F238E27FC236}">
                <a16:creationId xmlns:a16="http://schemas.microsoft.com/office/drawing/2014/main" id="{07D600CD-5CAD-A0C8-1E3D-CD1EA5B04422}"/>
              </a:ext>
            </a:extLst>
          </p:cNvPr>
          <p:cNvSpPr>
            <a:spLocks noGrp="1"/>
          </p:cNvSpPr>
          <p:nvPr>
            <p:ph type="title"/>
          </p:nvPr>
        </p:nvSpPr>
        <p:spPr>
          <a:xfrm>
            <a:off x="989013" y="3656161"/>
            <a:ext cx="9221787" cy="615553"/>
          </a:xfrm>
          <a:prstGeom prst="rect">
            <a:avLst/>
          </a:prstGeom>
          <a:noFill/>
        </p:spPr>
        <p:txBody>
          <a:bodyPr wrap="square" lIns="0" tIns="0" rIns="0" bIns="0" rtlCol="0" anchor="ctr">
            <a:spAutoFit/>
          </a:bodyPr>
          <a:lstStyle>
            <a:lvl1pPr>
              <a:lnSpc>
                <a:spcPct val="100000"/>
              </a:lnSpc>
              <a:defRPr lang="ja-JP" altLang="en-US" sz="4000" b="1" spc="200" dirty="0">
                <a:solidFill>
                  <a:schemeClr val="bg1"/>
                </a:solidFill>
                <a:latin typeface="+mj-lt"/>
                <a:cs typeface="+mn-cs"/>
              </a:defRPr>
            </a:lvl1pPr>
          </a:lstStyle>
          <a:p>
            <a:pPr marL="0" lvl="0" defTabSz="503972"/>
            <a:r>
              <a:rPr kumimoji="1" lang="ja-JP" altLang="en-US" dirty="0"/>
              <a:t>マスター タイトルの書式設定</a:t>
            </a:r>
          </a:p>
        </p:txBody>
      </p:sp>
      <p:pic>
        <p:nvPicPr>
          <p:cNvPr id="4" name="グラフィックス 3">
            <a:extLst>
              <a:ext uri="{FF2B5EF4-FFF2-40B4-BE49-F238E27FC236}">
                <a16:creationId xmlns:a16="http://schemas.microsoft.com/office/drawing/2014/main" id="{8D4E6481-3D38-43CE-56D4-0766A151BDB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97898" y="641818"/>
            <a:ext cx="1627200" cy="320105"/>
          </a:xfrm>
          <a:prstGeom prst="rect">
            <a:avLst/>
          </a:prstGeom>
        </p:spPr>
      </p:pic>
      <p:sp>
        <p:nvSpPr>
          <p:cNvPr id="7" name="テキスト ボックス 6">
            <a:extLst>
              <a:ext uri="{FF2B5EF4-FFF2-40B4-BE49-F238E27FC236}">
                <a16:creationId xmlns:a16="http://schemas.microsoft.com/office/drawing/2014/main" id="{06F9BFF4-1363-8167-1FD9-7F8105B557A4}"/>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bg1"/>
                </a:solidFill>
                <a:latin typeface="+mj-lt"/>
              </a:rPr>
              <a:pPr algn="r"/>
              <a:t>‹#›</a:t>
            </a:fld>
            <a:endParaRPr kumimoji="1" lang="ja-JP" altLang="en-US" sz="992" dirty="0">
              <a:solidFill>
                <a:schemeClr val="bg1"/>
              </a:solidFill>
              <a:latin typeface="+mj-lt"/>
            </a:endParaRPr>
          </a:p>
        </p:txBody>
      </p:sp>
      <p:sp>
        <p:nvSpPr>
          <p:cNvPr id="8" name="Google Shape;14;p31">
            <a:extLst>
              <a:ext uri="{FF2B5EF4-FFF2-40B4-BE49-F238E27FC236}">
                <a16:creationId xmlns:a16="http://schemas.microsoft.com/office/drawing/2014/main" id="{4768A1B1-9FB9-F183-2D3A-178D813DD52B}"/>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bg1"/>
                </a:solidFill>
                <a:latin typeface="Arial"/>
                <a:ea typeface="Arial"/>
                <a:cs typeface="Arial"/>
                <a:sym typeface="Arial"/>
              </a:rPr>
              <a:t>Copyright© M＆A Succession Group Inc. All Right Reserved</a:t>
            </a:r>
            <a:endParaRPr sz="700" b="0" i="0" u="none" strike="noStrike" cap="none" dirty="0">
              <a:solidFill>
                <a:schemeClr val="bg1"/>
              </a:solidFill>
              <a:latin typeface="Arial"/>
              <a:ea typeface="Arial"/>
              <a:cs typeface="Arial"/>
              <a:sym typeface="Arial"/>
            </a:endParaRPr>
          </a:p>
        </p:txBody>
      </p:sp>
      <p:sp>
        <p:nvSpPr>
          <p:cNvPr id="2" name="正方形/長方形 1">
            <a:extLst>
              <a:ext uri="{FF2B5EF4-FFF2-40B4-BE49-F238E27FC236}">
                <a16:creationId xmlns:a16="http://schemas.microsoft.com/office/drawing/2014/main" id="{00B19FBA-B74F-4E88-0389-543A882445EE}"/>
              </a:ext>
            </a:extLst>
          </p:cNvPr>
          <p:cNvSpPr/>
          <p:nvPr userDrawn="1"/>
        </p:nvSpPr>
        <p:spPr>
          <a:xfrm>
            <a:off x="6933143" y="7209190"/>
            <a:ext cx="640572" cy="144000"/>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bg1"/>
                </a:solidFill>
              </a:rPr>
              <a:t>Confidential</a:t>
            </a:r>
          </a:p>
        </p:txBody>
      </p:sp>
    </p:spTree>
    <p:extLst>
      <p:ext uri="{BB962C8B-B14F-4D97-AF65-F5344CB8AC3E}">
        <p14:creationId xmlns:p14="http://schemas.microsoft.com/office/powerpoint/2010/main" val="18809509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本編1">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BA577B03-0430-76D0-A4E3-BD118824A3F8}"/>
              </a:ext>
            </a:extLst>
          </p:cNvPr>
          <p:cNvSpPr/>
          <p:nvPr userDrawn="1"/>
        </p:nvSpPr>
        <p:spPr>
          <a:xfrm>
            <a:off x="-1" y="0"/>
            <a:ext cx="10691814" cy="666000"/>
          </a:xfrm>
          <a:prstGeom prst="rect">
            <a:avLst/>
          </a:prstGeom>
          <a:gradFill>
            <a:gsLst>
              <a:gs pos="88000">
                <a:srgbClr val="006AB1"/>
              </a:gs>
              <a:gs pos="5000">
                <a:schemeClr val="tx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dirty="0"/>
          </a:p>
        </p:txBody>
      </p:sp>
      <p:sp>
        <p:nvSpPr>
          <p:cNvPr id="31" name="フリーフォーム: 図形 30">
            <a:extLst>
              <a:ext uri="{FF2B5EF4-FFF2-40B4-BE49-F238E27FC236}">
                <a16:creationId xmlns:a16="http://schemas.microsoft.com/office/drawing/2014/main" id="{D9CC89AC-0069-75DF-7665-F8D290946A33}"/>
              </a:ext>
            </a:extLst>
          </p:cNvPr>
          <p:cNvSpPr/>
          <p:nvPr userDrawn="1"/>
        </p:nvSpPr>
        <p:spPr>
          <a:xfrm>
            <a:off x="6714554"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96000">
                <a:schemeClr val="accent4"/>
              </a:gs>
              <a:gs pos="46000">
                <a:schemeClr val="tx2">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dirty="0"/>
          </a:p>
        </p:txBody>
      </p:sp>
      <p:sp>
        <p:nvSpPr>
          <p:cNvPr id="3" name="字幕 2">
            <a:extLst>
              <a:ext uri="{FF2B5EF4-FFF2-40B4-BE49-F238E27FC236}">
                <a16:creationId xmlns:a16="http://schemas.microsoft.com/office/drawing/2014/main" id="{E4C44029-31FF-A9F7-06AC-0A055C09D50F}"/>
              </a:ext>
            </a:extLst>
          </p:cNvPr>
          <p:cNvSpPr>
            <a:spLocks noGrp="1"/>
          </p:cNvSpPr>
          <p:nvPr>
            <p:ph type="subTitle" idx="1"/>
          </p:nvPr>
        </p:nvSpPr>
        <p:spPr>
          <a:xfrm>
            <a:off x="460675" y="830046"/>
            <a:ext cx="9781875" cy="241861"/>
          </a:xfrm>
          <a:prstGeom prst="rect">
            <a:avLst/>
          </a:prstGeom>
        </p:spPr>
        <p:txBody>
          <a:bodyPr wrap="square" lIns="0" tIns="0" rIns="0" bIns="0">
            <a:spAutoFit/>
          </a:bodyPr>
          <a:lstStyle>
            <a:lvl1pPr marL="0" indent="0" algn="l">
              <a:lnSpc>
                <a:spcPct val="120000"/>
              </a:lnSpc>
              <a:spcBef>
                <a:spcPts val="0"/>
              </a:spcBef>
              <a:buNone/>
              <a:defRPr sz="1400" b="1" spc="55" baseline="0">
                <a:latin typeface="+mj-ea"/>
                <a:ea typeface="+mj-ea"/>
              </a:defRPr>
            </a:lvl1pPr>
            <a:lvl2pPr marL="503972" indent="0" algn="ctr">
              <a:buNone/>
              <a:defRPr sz="2205"/>
            </a:lvl2pPr>
            <a:lvl3pPr marL="1007943" indent="0" algn="ctr">
              <a:buNone/>
              <a:defRPr sz="1984"/>
            </a:lvl3pPr>
            <a:lvl4pPr marL="1511915" indent="0" algn="ctr">
              <a:buNone/>
              <a:defRPr sz="1764"/>
            </a:lvl4pPr>
            <a:lvl5pPr marL="2015886" indent="0" algn="ctr">
              <a:buNone/>
              <a:defRPr sz="1764"/>
            </a:lvl5pPr>
            <a:lvl6pPr marL="2519858" indent="0" algn="ctr">
              <a:buNone/>
              <a:defRPr sz="1764"/>
            </a:lvl6pPr>
            <a:lvl7pPr marL="3023829" indent="0" algn="ctr">
              <a:buNone/>
              <a:defRPr sz="1764"/>
            </a:lvl7pPr>
            <a:lvl8pPr marL="3527801" indent="0" algn="ctr">
              <a:buNone/>
              <a:defRPr sz="1764"/>
            </a:lvl8pPr>
            <a:lvl9pPr marL="4031772" indent="0" algn="ctr">
              <a:buNone/>
              <a:defRPr sz="1764"/>
            </a:lvl9pPr>
          </a:lstStyle>
          <a:p>
            <a:r>
              <a:rPr kumimoji="1" lang="ja-JP" altLang="en-US" dirty="0"/>
              <a:t>マスター サブタイトルの書式設定</a:t>
            </a:r>
          </a:p>
        </p:txBody>
      </p:sp>
      <p:sp>
        <p:nvSpPr>
          <p:cNvPr id="6" name="テキスト ボックス 5">
            <a:extLst>
              <a:ext uri="{FF2B5EF4-FFF2-40B4-BE49-F238E27FC236}">
                <a16:creationId xmlns:a16="http://schemas.microsoft.com/office/drawing/2014/main" id="{C06A0380-DE0F-1825-615F-4DBC89C8C6DB}"/>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accent1"/>
                </a:solidFill>
                <a:latin typeface="+mj-lt"/>
              </a:rPr>
              <a:pPr algn="r"/>
              <a:t>‹#›</a:t>
            </a:fld>
            <a:endParaRPr kumimoji="1" lang="ja-JP" altLang="en-US" sz="992" dirty="0">
              <a:solidFill>
                <a:schemeClr val="accent1"/>
              </a:solidFill>
              <a:latin typeface="+mj-lt"/>
            </a:endParaRPr>
          </a:p>
        </p:txBody>
      </p:sp>
      <p:pic>
        <p:nvPicPr>
          <p:cNvPr id="8" name="グラフィックス 7">
            <a:extLst>
              <a:ext uri="{FF2B5EF4-FFF2-40B4-BE49-F238E27FC236}">
                <a16:creationId xmlns:a16="http://schemas.microsoft.com/office/drawing/2014/main" id="{15124CEF-AA7F-DF16-7A5C-692E9AB7616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04801" y="7086114"/>
            <a:ext cx="1625600" cy="322220"/>
          </a:xfrm>
          <a:prstGeom prst="rect">
            <a:avLst/>
          </a:prstGeom>
        </p:spPr>
      </p:pic>
      <p:grpSp>
        <p:nvGrpSpPr>
          <p:cNvPr id="26" name="グループ化 25">
            <a:extLst>
              <a:ext uri="{FF2B5EF4-FFF2-40B4-BE49-F238E27FC236}">
                <a16:creationId xmlns:a16="http://schemas.microsoft.com/office/drawing/2014/main" id="{2864EB89-7DDA-1F5E-BB78-27D39C8659FC}"/>
              </a:ext>
            </a:extLst>
          </p:cNvPr>
          <p:cNvGrpSpPr/>
          <p:nvPr userDrawn="1"/>
        </p:nvGrpSpPr>
        <p:grpSpPr>
          <a:xfrm>
            <a:off x="-1" y="0"/>
            <a:ext cx="252001" cy="666000"/>
            <a:chOff x="-1" y="0"/>
            <a:chExt cx="252001" cy="666000"/>
          </a:xfrm>
        </p:grpSpPr>
        <p:cxnSp>
          <p:nvCxnSpPr>
            <p:cNvPr id="19" name="直線コネクタ 18">
              <a:extLst>
                <a:ext uri="{FF2B5EF4-FFF2-40B4-BE49-F238E27FC236}">
                  <a16:creationId xmlns:a16="http://schemas.microsoft.com/office/drawing/2014/main" id="{05B82C66-0A6E-C82F-B38C-D4495200FAA8}"/>
                </a:ext>
              </a:extLst>
            </p:cNvPr>
            <p:cNvCxnSpPr>
              <a:cxnSpLocks/>
            </p:cNvCxnSpPr>
            <p:nvPr userDrawn="1"/>
          </p:nvCxnSpPr>
          <p:spPr>
            <a:xfrm>
              <a:off x="0" y="333000"/>
              <a:ext cx="252000"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11" name="正方形/長方形 10">
              <a:extLst>
                <a:ext uri="{FF2B5EF4-FFF2-40B4-BE49-F238E27FC236}">
                  <a16:creationId xmlns:a16="http://schemas.microsoft.com/office/drawing/2014/main" id="{A6BFD29D-964D-B44D-88A5-439ACA448282}"/>
                </a:ext>
              </a:extLst>
            </p:cNvPr>
            <p:cNvSpPr/>
            <p:nvPr userDrawn="1"/>
          </p:nvSpPr>
          <p:spPr>
            <a:xfrm>
              <a:off x="-1" y="0"/>
              <a:ext cx="108000" cy="666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cxnSp>
          <p:nvCxnSpPr>
            <p:cNvPr id="18" name="直線コネクタ 17">
              <a:extLst>
                <a:ext uri="{FF2B5EF4-FFF2-40B4-BE49-F238E27FC236}">
                  <a16:creationId xmlns:a16="http://schemas.microsoft.com/office/drawing/2014/main" id="{B87BA5C7-32E9-C506-2110-1D5AFE77B082}"/>
                </a:ext>
              </a:extLst>
            </p:cNvPr>
            <p:cNvCxnSpPr>
              <a:cxnSpLocks/>
            </p:cNvCxnSpPr>
            <p:nvPr userDrawn="1"/>
          </p:nvCxnSpPr>
          <p:spPr>
            <a:xfrm>
              <a:off x="-1" y="333000"/>
              <a:ext cx="108000" cy="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grpSp>
      <p:sp>
        <p:nvSpPr>
          <p:cNvPr id="2" name="タイトル 1">
            <a:extLst>
              <a:ext uri="{FF2B5EF4-FFF2-40B4-BE49-F238E27FC236}">
                <a16:creationId xmlns:a16="http://schemas.microsoft.com/office/drawing/2014/main" id="{1DA08165-590D-BD55-05E9-10B2D6F8DD63}"/>
              </a:ext>
            </a:extLst>
          </p:cNvPr>
          <p:cNvSpPr>
            <a:spLocks noGrp="1"/>
          </p:cNvSpPr>
          <p:nvPr userDrawn="1">
            <p:ph type="ctrTitle"/>
          </p:nvPr>
        </p:nvSpPr>
        <p:spPr>
          <a:xfrm>
            <a:off x="341313" y="180296"/>
            <a:ext cx="7799917" cy="339267"/>
          </a:xfrm>
          <a:prstGeom prst="rect">
            <a:avLst/>
          </a:prstGeom>
        </p:spPr>
        <p:txBody>
          <a:bodyPr wrap="square" lIns="0" tIns="0" rIns="0" bIns="0" anchor="ctr">
            <a:spAutoFit/>
          </a:bodyPr>
          <a:lstStyle>
            <a:lvl1pPr algn="l">
              <a:lnSpc>
                <a:spcPct val="100000"/>
              </a:lnSpc>
              <a:defRPr sz="2200" b="1" spc="77" baseline="0">
                <a:solidFill>
                  <a:schemeClr val="bg1"/>
                </a:solidFill>
                <a:latin typeface="+mj-lt"/>
              </a:defRPr>
            </a:lvl1pPr>
          </a:lstStyle>
          <a:p>
            <a:r>
              <a:rPr kumimoji="1" lang="ja-JP" altLang="en-US" dirty="0"/>
              <a:t>マスター タイトルの書式設定</a:t>
            </a:r>
          </a:p>
        </p:txBody>
      </p:sp>
      <p:sp>
        <p:nvSpPr>
          <p:cNvPr id="30" name="フリーフォーム: 図形 29">
            <a:extLst>
              <a:ext uri="{FF2B5EF4-FFF2-40B4-BE49-F238E27FC236}">
                <a16:creationId xmlns:a16="http://schemas.microsoft.com/office/drawing/2014/main" id="{0AA6A414-726D-CCFA-2EF2-5B8503BE0A88}"/>
              </a:ext>
            </a:extLst>
          </p:cNvPr>
          <p:cNvSpPr/>
          <p:nvPr userDrawn="1"/>
        </p:nvSpPr>
        <p:spPr>
          <a:xfrm>
            <a:off x="6386286"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100000">
                <a:schemeClr val="accent4"/>
              </a:gs>
              <a:gs pos="8000">
                <a:srgbClr val="0167AB">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a:p>
        </p:txBody>
      </p:sp>
      <p:sp>
        <p:nvSpPr>
          <p:cNvPr id="33" name="Google Shape;14;p31">
            <a:extLst>
              <a:ext uri="{FF2B5EF4-FFF2-40B4-BE49-F238E27FC236}">
                <a16:creationId xmlns:a16="http://schemas.microsoft.com/office/drawing/2014/main" id="{273032A6-EBE9-0147-F9C2-495CA12FDE28}"/>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5" name="正方形/長方形 4">
            <a:extLst>
              <a:ext uri="{FF2B5EF4-FFF2-40B4-BE49-F238E27FC236}">
                <a16:creationId xmlns:a16="http://schemas.microsoft.com/office/drawing/2014/main" id="{283DDC2C-ECEE-530D-9F1C-6564A5A2BAB9}"/>
              </a:ext>
            </a:extLst>
          </p:cNvPr>
          <p:cNvSpPr/>
          <p:nvPr userDrawn="1"/>
        </p:nvSpPr>
        <p:spPr>
          <a:xfrm>
            <a:off x="6933143" y="7209190"/>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Tree>
    <p:extLst>
      <p:ext uri="{BB962C8B-B14F-4D97-AF65-F5344CB8AC3E}">
        <p14:creationId xmlns:p14="http://schemas.microsoft.com/office/powerpoint/2010/main" val="2627557559"/>
      </p:ext>
    </p:extLst>
  </p:cSld>
  <p:clrMapOvr>
    <a:masterClrMapping/>
  </p:clrMapOvr>
  <p:extLst>
    <p:ext uri="{DCECCB84-F9BA-43D5-87BE-67443E8EF086}">
      <p15:sldGuideLst xmlns:p15="http://schemas.microsoft.com/office/powerpoint/2012/main">
        <p15:guide id="2" orient="horz" pos="4309">
          <p15:clr>
            <a:srgbClr val="FBAE40"/>
          </p15:clr>
        </p15:guide>
        <p15:guide id="3" pos="215">
          <p15:clr>
            <a:srgbClr val="A4A3A4"/>
          </p15:clr>
        </p15:guide>
        <p15:guide id="4" pos="6520">
          <p15:clr>
            <a:srgbClr val="A4A3A4"/>
          </p15:clr>
        </p15:guide>
        <p15:guide id="5" pos="283">
          <p15:clr>
            <a:srgbClr val="FBAE40"/>
          </p15:clr>
        </p15:guide>
        <p15:guide id="6" pos="64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表紙">
    <p:spTree>
      <p:nvGrpSpPr>
        <p:cNvPr id="1" name=""/>
        <p:cNvGrpSpPr/>
        <p:nvPr/>
      </p:nvGrpSpPr>
      <p:grpSpPr>
        <a:xfrm>
          <a:off x="0" y="0"/>
          <a:ext cx="0" cy="0"/>
          <a:chOff x="0" y="0"/>
          <a:chExt cx="0" cy="0"/>
        </a:xfrm>
      </p:grpSpPr>
      <p:pic>
        <p:nvPicPr>
          <p:cNvPr id="3" name="図 2" descr="絵と文字の加工写真&#10;&#10;AI 生成コンテンツは誤りを含む可能性があります。">
            <a:extLst>
              <a:ext uri="{FF2B5EF4-FFF2-40B4-BE49-F238E27FC236}">
                <a16:creationId xmlns:a16="http://schemas.microsoft.com/office/drawing/2014/main" id="{995F6558-5E48-7ACD-5E2F-54EE4A6825B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6" name="タイトル 1">
            <a:extLst>
              <a:ext uri="{FF2B5EF4-FFF2-40B4-BE49-F238E27FC236}">
                <a16:creationId xmlns:a16="http://schemas.microsoft.com/office/drawing/2014/main" id="{7D824756-0531-3BBA-09FB-CC8ACB55A36C}"/>
              </a:ext>
            </a:extLst>
          </p:cNvPr>
          <p:cNvSpPr>
            <a:spLocks noGrp="1"/>
          </p:cNvSpPr>
          <p:nvPr>
            <p:ph type="title"/>
          </p:nvPr>
        </p:nvSpPr>
        <p:spPr>
          <a:xfrm>
            <a:off x="885526" y="3467606"/>
            <a:ext cx="9221787" cy="738664"/>
          </a:xfrm>
          <a:prstGeom prst="rect">
            <a:avLst/>
          </a:prstGeom>
          <a:noFill/>
        </p:spPr>
        <p:txBody>
          <a:bodyPr wrap="square" lIns="0" tIns="0" rIns="0" bIns="0" rtlCol="0" anchor="ctr">
            <a:spAutoFit/>
          </a:bodyPr>
          <a:lstStyle>
            <a:lvl1pPr>
              <a:lnSpc>
                <a:spcPct val="100000"/>
              </a:lnSpc>
              <a:defRPr lang="ja-JP" altLang="en-US" sz="4800" b="1" spc="200">
                <a:latin typeface="+mj-lt"/>
                <a:cs typeface="+mn-cs"/>
              </a:defRPr>
            </a:lvl1pPr>
          </a:lstStyle>
          <a:p>
            <a:pPr marL="0" lvl="0" defTabSz="503972"/>
            <a:r>
              <a:rPr kumimoji="1" lang="ja-JP" altLang="en-US" dirty="0"/>
              <a:t>マスター タイトルの書式設定</a:t>
            </a:r>
          </a:p>
        </p:txBody>
      </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97898" y="641817"/>
            <a:ext cx="2996516" cy="594316"/>
          </a:xfrm>
          <a:prstGeom prst="rect">
            <a:avLst/>
          </a:prstGeom>
        </p:spPr>
      </p:pic>
      <p:sp>
        <p:nvSpPr>
          <p:cNvPr id="5" name="正方形/長方形 4">
            <a:extLst>
              <a:ext uri="{FF2B5EF4-FFF2-40B4-BE49-F238E27FC236}">
                <a16:creationId xmlns:a16="http://schemas.microsoft.com/office/drawing/2014/main" id="{E7F2AB3F-4E5C-EEA1-723A-7D941C02D057}"/>
              </a:ext>
            </a:extLst>
          </p:cNvPr>
          <p:cNvSpPr/>
          <p:nvPr userDrawn="1"/>
        </p:nvSpPr>
        <p:spPr>
          <a:xfrm>
            <a:off x="-1" y="-1"/>
            <a:ext cx="108000" cy="7560000"/>
          </a:xfrm>
          <a:prstGeom prst="rect">
            <a:avLst/>
          </a:prstGeom>
          <a:gradFill>
            <a:gsLst>
              <a:gs pos="100000">
                <a:schemeClr val="accent4"/>
              </a:gs>
              <a:gs pos="17000">
                <a:schemeClr val="tx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Tree>
    <p:extLst>
      <p:ext uri="{BB962C8B-B14F-4D97-AF65-F5344CB8AC3E}">
        <p14:creationId xmlns:p14="http://schemas.microsoft.com/office/powerpoint/2010/main" val="21111899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8542152"/>
      </p:ext>
    </p:extLst>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Lst>
  <p:txStyles>
    <p:titleStyle>
      <a:lvl1pPr algn="l" defTabSz="1007943" rtl="0" eaLnBrk="1" latinLnBrk="0" hangingPunct="1">
        <a:lnSpc>
          <a:spcPct val="90000"/>
        </a:lnSpc>
        <a:spcBef>
          <a:spcPct val="0"/>
        </a:spcBef>
        <a:buNone/>
        <a:defRPr kumimoji="1" sz="4850" kern="1200">
          <a:solidFill>
            <a:schemeClr val="tx1"/>
          </a:solidFill>
          <a:latin typeface="+mj-lt"/>
          <a:ea typeface="+mj-ea"/>
          <a:cs typeface="+mj-cs"/>
        </a:defRPr>
      </a:lvl1pPr>
    </p:titleStyle>
    <p:bodyStyle>
      <a:lvl1pPr marL="251986" indent="-251986" algn="l" defTabSz="1007943" rtl="0" eaLnBrk="1" latinLnBrk="0" hangingPunct="1">
        <a:lnSpc>
          <a:spcPct val="90000"/>
        </a:lnSpc>
        <a:spcBef>
          <a:spcPts val="1102"/>
        </a:spcBef>
        <a:buFont typeface="Arial" panose="020B0604020202020204" pitchFamily="34" charset="0"/>
        <a:buChar char="•"/>
        <a:defRPr kumimoji="1" sz="3086" kern="1200">
          <a:solidFill>
            <a:schemeClr val="tx1"/>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kumimoji="1"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kumimoji="1"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9pPr>
    </p:bodyStyle>
    <p:otherStyle>
      <a:defPPr>
        <a:defRPr lang="ja-JP"/>
      </a:defPPr>
      <a:lvl1pPr marL="0" algn="l" defTabSz="1007943" rtl="0" eaLnBrk="1" latinLnBrk="0" hangingPunct="1">
        <a:defRPr kumimoji="1" sz="1984" kern="1200">
          <a:solidFill>
            <a:schemeClr val="tx1"/>
          </a:solidFill>
          <a:latin typeface="+mn-lt"/>
          <a:ea typeface="+mn-ea"/>
          <a:cs typeface="+mn-cs"/>
        </a:defRPr>
      </a:lvl1pPr>
      <a:lvl2pPr marL="503972" algn="l" defTabSz="1007943" rtl="0" eaLnBrk="1" latinLnBrk="0" hangingPunct="1">
        <a:defRPr kumimoji="1" sz="1984" kern="1200">
          <a:solidFill>
            <a:schemeClr val="tx1"/>
          </a:solidFill>
          <a:latin typeface="+mn-lt"/>
          <a:ea typeface="+mn-ea"/>
          <a:cs typeface="+mn-cs"/>
        </a:defRPr>
      </a:lvl2pPr>
      <a:lvl3pPr marL="1007943" algn="l" defTabSz="1007943" rtl="0" eaLnBrk="1" latinLnBrk="0" hangingPunct="1">
        <a:defRPr kumimoji="1" sz="1984" kern="1200">
          <a:solidFill>
            <a:schemeClr val="tx1"/>
          </a:solidFill>
          <a:latin typeface="+mn-lt"/>
          <a:ea typeface="+mn-ea"/>
          <a:cs typeface="+mn-cs"/>
        </a:defRPr>
      </a:lvl3pPr>
      <a:lvl4pPr marL="1511915" algn="l" defTabSz="1007943" rtl="0" eaLnBrk="1" latinLnBrk="0" hangingPunct="1">
        <a:defRPr kumimoji="1" sz="1984" kern="1200">
          <a:solidFill>
            <a:schemeClr val="tx1"/>
          </a:solidFill>
          <a:latin typeface="+mn-lt"/>
          <a:ea typeface="+mn-ea"/>
          <a:cs typeface="+mn-cs"/>
        </a:defRPr>
      </a:lvl4pPr>
      <a:lvl5pPr marL="2015886" algn="l" defTabSz="1007943" rtl="0" eaLnBrk="1" latinLnBrk="0" hangingPunct="1">
        <a:defRPr kumimoji="1" sz="1984" kern="1200">
          <a:solidFill>
            <a:schemeClr val="tx1"/>
          </a:solidFill>
          <a:latin typeface="+mn-lt"/>
          <a:ea typeface="+mn-ea"/>
          <a:cs typeface="+mn-cs"/>
        </a:defRPr>
      </a:lvl5pPr>
      <a:lvl6pPr marL="2519858" algn="l" defTabSz="1007943" rtl="0" eaLnBrk="1" latinLnBrk="0" hangingPunct="1">
        <a:defRPr kumimoji="1" sz="1984" kern="1200">
          <a:solidFill>
            <a:schemeClr val="tx1"/>
          </a:solidFill>
          <a:latin typeface="+mn-lt"/>
          <a:ea typeface="+mn-ea"/>
          <a:cs typeface="+mn-cs"/>
        </a:defRPr>
      </a:lvl6pPr>
      <a:lvl7pPr marL="3023829" algn="l" defTabSz="1007943" rtl="0" eaLnBrk="1" latinLnBrk="0" hangingPunct="1">
        <a:defRPr kumimoji="1" sz="1984" kern="1200">
          <a:solidFill>
            <a:schemeClr val="tx1"/>
          </a:solidFill>
          <a:latin typeface="+mn-lt"/>
          <a:ea typeface="+mn-ea"/>
          <a:cs typeface="+mn-cs"/>
        </a:defRPr>
      </a:lvl7pPr>
      <a:lvl8pPr marL="3527801" algn="l" defTabSz="1007943" rtl="0" eaLnBrk="1" latinLnBrk="0" hangingPunct="1">
        <a:defRPr kumimoji="1" sz="1984" kern="1200">
          <a:solidFill>
            <a:schemeClr val="tx1"/>
          </a:solidFill>
          <a:latin typeface="+mn-lt"/>
          <a:ea typeface="+mn-ea"/>
          <a:cs typeface="+mn-cs"/>
        </a:defRPr>
      </a:lvl8pPr>
      <a:lvl9pPr marL="4031772" algn="l" defTabSz="1007943" rtl="0" eaLnBrk="1" latinLnBrk="0" hangingPunct="1">
        <a:defRPr kumimoji="1" sz="1984"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8.jpeg"/><Relationship Id="rId4" Type="http://schemas.openxmlformats.org/officeDocument/2006/relationships/image" Target="../media/image9.png"/><Relationship Id="rId5" Type="http://schemas.microsoft.com/office/2007/relationships/hdphoto" Target="../media/hdphoto1.wdp"/></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17.png"/><Relationship Id="rId4" Type="http://schemas.openxmlformats.org/officeDocument/2006/relationships/image" Target="../media/image18.png"/><Relationship Id="rId5" Type="http://schemas.microsoft.com/office/2007/relationships/hdphoto" Target="../media/hdphoto2.wdp"/></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0.xml"/><Relationship Id="rId3" Type="http://schemas.openxmlformats.org/officeDocument/2006/relationships/image" Target="../media/image59.png"/><Relationship Id="rId4" Type="http://schemas.microsoft.com/office/2007/relationships/hdphoto" Target="../media/hdphoto3.wdp"/></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0.jpeg"/><Relationship Id="rId3" Type="http://schemas.openxmlformats.org/officeDocument/2006/relationships/image" Target="../media/image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E6EF2-E355-DFA0-0FDA-00C6AAD69C4F}"/>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F0EAAA34-63BD-2868-6F6F-9550B61A0EE2}"/>
              </a:ext>
            </a:extLst>
          </p:cNvPr>
          <p:cNvSpPr>
            <a:spLocks noGrp="1"/>
          </p:cNvSpPr>
          <p:nvPr>
            <p:ph type="title"/>
          </p:nvPr>
        </p:nvSpPr>
        <p:spPr>
          <a:xfrm>
            <a:off x="885526" y="3467606"/>
            <a:ext cx="9221787" cy="738664"/>
          </a:xfrm>
        </p:spPr>
        <p:txBody>
          <a:bodyPr/>
          <a:lstStyle/>
          <a:p>
            <a:r>
              <a:rPr lang="ja-JP" altLang="en-US" dirty="0"/>
              <a:t>企業概要書  </a:t>
            </a:r>
            <a:r>
              <a:rPr lang="ja-JP" altLang="en-US" sz="2400" dirty="0"/>
              <a:t>&lt;ペット小売／東海・関西&gt;</a:t>
            </a:r>
            <a:endParaRPr lang="ja-JP" altLang="en-US" dirty="0"/>
          </a:p>
        </p:txBody>
      </p:sp>
      <p:cxnSp>
        <p:nvCxnSpPr>
          <p:cNvPr id="11" name="直線コネクタ 10">
            <a:extLst>
              <a:ext uri="{FF2B5EF4-FFF2-40B4-BE49-F238E27FC236}">
                <a16:creationId xmlns:a16="http://schemas.microsoft.com/office/drawing/2014/main" id="{B552F00F-DAC8-72B9-D861-43E1B7EF96E4}"/>
              </a:ext>
            </a:extLst>
          </p:cNvPr>
          <p:cNvCxnSpPr>
            <a:cxnSpLocks/>
          </p:cNvCxnSpPr>
          <p:nvPr/>
        </p:nvCxnSpPr>
        <p:spPr>
          <a:xfrm>
            <a:off x="885526" y="4272782"/>
            <a:ext cx="6767299"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6" name="タイトル 2">
            <a:extLst>
              <a:ext uri="{FF2B5EF4-FFF2-40B4-BE49-F238E27FC236}">
                <a16:creationId xmlns:a16="http://schemas.microsoft.com/office/drawing/2014/main" id="{483B0F4A-40C8-4F5B-4490-660AE728BBA5}"/>
              </a:ext>
            </a:extLst>
          </p:cNvPr>
          <p:cNvSpPr txBox="1">
            <a:spLocks/>
          </p:cNvSpPr>
          <p:nvPr/>
        </p:nvSpPr>
        <p:spPr>
          <a:xfrm>
            <a:off x="941798" y="4043874"/>
            <a:ext cx="9221787" cy="738664"/>
          </a:xfrm>
          <a:prstGeom prst="rect">
            <a:avLst/>
          </a:prstGeom>
          <a:noFill/>
        </p:spPr>
        <p:txBody>
          <a:bodyPr wrap="square" lIns="0" tIns="0" rIns="0" bIns="0" rtlCol="0" anchor="ctr">
            <a:spAutoFit/>
          </a:bodyPr>
          <a:lstStyle>
            <a:lvl1pPr algn="l" defTabSz="1007943" rtl="0" eaLnBrk="1" latinLnBrk="0" hangingPunct="1">
              <a:lnSpc>
                <a:spcPct val="100000"/>
              </a:lnSpc>
              <a:spcBef>
                <a:spcPct val="0"/>
              </a:spcBef>
              <a:buNone/>
              <a:defRPr kumimoji="1" lang="ja-JP" altLang="en-US" sz="4800" b="1" kern="1200" spc="200">
                <a:solidFill>
                  <a:schemeClr val="tx1"/>
                </a:solidFill>
                <a:latin typeface="+mj-lt"/>
                <a:ea typeface="+mj-ea"/>
                <a:cs typeface="+mn-cs"/>
              </a:defRPr>
            </a:lvl1pPr>
          </a:lstStyle>
          <a:p>
            <a:pPr>
              <a:buClrTx/>
              <a:buFontTx/>
            </a:pPr>
            <a:r>
              <a:rPr lang="en-US" altLang="ja-JP" sz="1800" dirty="0"/>
              <a:t>Information</a:t>
            </a:r>
            <a:r>
              <a:rPr lang="ja-JP" altLang="en-US" sz="1800" dirty="0"/>
              <a:t> </a:t>
            </a:r>
            <a:r>
              <a:rPr lang="en-US" altLang="ja-JP" sz="1800" dirty="0"/>
              <a:t>Memorandum</a:t>
            </a:r>
            <a:r>
              <a:rPr lang="zh-TW" altLang="en-US" dirty="0"/>
              <a:t>　</a:t>
            </a:r>
          </a:p>
        </p:txBody>
      </p:sp>
    </p:spTree>
    <p:extLst>
      <p:ext uri="{BB962C8B-B14F-4D97-AF65-F5344CB8AC3E}">
        <p14:creationId xmlns:p14="http://schemas.microsoft.com/office/powerpoint/2010/main" val="4336838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87;p2">
            <a:extLst>
              <a:ext uri="{FF2B5EF4-FFF2-40B4-BE49-F238E27FC236}">
                <a16:creationId xmlns:a16="http://schemas.microsoft.com/office/drawing/2014/main" id="{A92DF3A4-79D3-09CF-A0AF-2A2E9BAD2537}"/>
              </a:ext>
            </a:extLst>
          </p:cNvPr>
          <p:cNvSpPr txBox="1"/>
          <p:nvPr/>
        </p:nvSpPr>
        <p:spPr>
          <a:xfrm>
            <a:off x="449263" y="5738246"/>
            <a:ext cx="3372853"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marL="180000" indent="-180000">
              <a:buClr>
                <a:schemeClr val="tx2"/>
              </a:buClr>
              <a:buSzPct val="100000"/>
              <a:buFont typeface="游ゴシック" panose="020B0400000000000000" pitchFamily="50" charset="-128"/>
              <a:buChar char="▌"/>
              <a:defRPr sz="1600" b="1" spc="50">
                <a:solidFill>
                  <a:schemeClr val="tx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en-US" dirty="0"/>
              <a:t>本件のご照会先</a:t>
            </a:r>
          </a:p>
        </p:txBody>
      </p:sp>
      <p:graphicFrame>
        <p:nvGraphicFramePr>
          <p:cNvPr id="3" name="Google Shape;188;p2">
            <a:extLst>
              <a:ext uri="{FF2B5EF4-FFF2-40B4-BE49-F238E27FC236}">
                <a16:creationId xmlns:a16="http://schemas.microsoft.com/office/drawing/2014/main" id="{6A5E1FF5-E790-97CE-E190-6844BCDD57F5}"/>
              </a:ext>
            </a:extLst>
          </p:cNvPr>
          <p:cNvGraphicFramePr/>
          <p:nvPr>
            <p:extLst>
              <p:ext uri="{D42A27DB-BD31-4B8C-83A1-F6EECF244321}">
                <p14:modId xmlns:p14="http://schemas.microsoft.com/office/powerpoint/2010/main" val="1416780746"/>
              </p:ext>
            </p:extLst>
          </p:nvPr>
        </p:nvGraphicFramePr>
        <p:xfrm>
          <a:off x="449264" y="6120538"/>
          <a:ext cx="9793287" cy="720000"/>
        </p:xfrm>
        <a:graphic>
          <a:graphicData uri="http://schemas.openxmlformats.org/drawingml/2006/table">
            <a:tbl>
              <a:tblPr firstRow="1" bandRow="1">
                <a:noFill/>
              </a:tblPr>
              <a:tblGrid>
                <a:gridCol w="2448322">
                  <a:extLst>
                    <a:ext uri="{9D8B030D-6E8A-4147-A177-3AD203B41FA5}">
                      <a16:colId xmlns:a16="http://schemas.microsoft.com/office/drawing/2014/main" val="20000"/>
                    </a:ext>
                  </a:extLst>
                </a:gridCol>
                <a:gridCol w="2448321">
                  <a:extLst>
                    <a:ext uri="{9D8B030D-6E8A-4147-A177-3AD203B41FA5}">
                      <a16:colId xmlns:a16="http://schemas.microsoft.com/office/drawing/2014/main" val="20001"/>
                    </a:ext>
                  </a:extLst>
                </a:gridCol>
                <a:gridCol w="2448322">
                  <a:extLst>
                    <a:ext uri="{9D8B030D-6E8A-4147-A177-3AD203B41FA5}">
                      <a16:colId xmlns:a16="http://schemas.microsoft.com/office/drawing/2014/main" val="20002"/>
                    </a:ext>
                  </a:extLst>
                </a:gridCol>
                <a:gridCol w="2448322">
                  <a:extLst>
                    <a:ext uri="{9D8B030D-6E8A-4147-A177-3AD203B41FA5}">
                      <a16:colId xmlns:a16="http://schemas.microsoft.com/office/drawing/2014/main" val="20003"/>
                    </a:ext>
                  </a:extLst>
                </a:gridCol>
              </a:tblGrid>
              <a:tr h="360000">
                <a:tc>
                  <a:txBody>
                    <a:bodyPr/>
                    <a:lstStyle/>
                    <a:p>
                      <a:pPr marL="0" marR="0" lvl="0" indent="0" algn="ctr" rtl="0">
                        <a:spcBef>
                          <a:spcPts val="0"/>
                        </a:spcBef>
                        <a:spcAft>
                          <a:spcPts val="0"/>
                        </a:spcAft>
                        <a:buNone/>
                      </a:pPr>
                      <a:r>
                        <a:rPr lang="ja-JP" sz="1200" b="1" u="none" strike="noStrike" cap="none" spc="30" baseline="0" dirty="0">
                          <a:latin typeface="+mj-lt"/>
                          <a:ea typeface="+mj-ea"/>
                        </a:rPr>
                        <a:t>弊社名</a:t>
                      </a:r>
                      <a:endParaRPr sz="1200" b="1" spc="30" baseline="0" dirty="0">
                        <a:latin typeface="+mj-lt"/>
                        <a:ea typeface="+mj-ea"/>
                      </a:endParaRPr>
                    </a:p>
                  </a:txBody>
                  <a:tcPr marL="0" marR="0" marT="0" marB="0" anchor="ctr">
                    <a:lnL w="12700" cap="flat" cmpd="sng">
                      <a:noFill/>
                      <a:prstDash val="solid"/>
                      <a:round/>
                      <a:headEnd type="none" w="sm" len="sm"/>
                      <a:tailEnd type="none" w="sm" len="sm"/>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担当者名</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電話番号</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E-mailアドレス</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12700"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0"/>
                  </a:ext>
                </a:extLst>
              </a:tr>
              <a:tr h="360000">
                <a:tc>
                  <a:txBody>
                    <a:bodyPr/>
                    <a:lstStyle/>
                    <a:p>
                      <a:pPr marL="0" marR="0" lvl="0" indent="0" algn="ctr" rtl="0">
                        <a:spcBef>
                          <a:spcPts val="0"/>
                        </a:spcBef>
                        <a:spcAft>
                          <a:spcPts val="0"/>
                        </a:spcAft>
                        <a:buNone/>
                      </a:pPr>
                      <a:r>
                        <a:rPr lang="ja-JP" altLang="en-US" sz="1200" b="1" u="none" strike="noStrike" cap="none" spc="30" baseline="0" dirty="0">
                          <a:latin typeface="+mj-ea"/>
                          <a:ea typeface="+mj-ea"/>
                        </a:rPr>
                        <a:t>株式会社M&amp;A承継機構</a:t>
                      </a:r>
                      <a:endParaRPr sz="1200" b="1" u="none" strike="noStrike" cap="none" spc="30" baseline="0" dirty="0">
                        <a:latin typeface="+mj-ea"/>
                        <a:ea typeface="+mj-ea"/>
                      </a:endParaRPr>
                    </a:p>
                  </a:txBody>
                  <a:tcPr marL="91450" marR="91450" marT="45725" marB="45725" anchor="ctr">
                    <a:lnL w="12700" cap="flat" cmpd="sng">
                      <a:noFill/>
                      <a:prstDash val="solid"/>
                      <a:round/>
                      <a:headEnd type="none" w="sm" len="sm"/>
                      <a:tailEnd type="none" w="sm" len="sm"/>
                    </a:lnL>
                    <a:lnR w="6350" cap="flat" cmpd="sng" algn="ctr">
                      <a:solidFill>
                        <a:schemeClr val="accent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ja-JP" altLang="en-US" sz="1200" b="1" u="none" strike="noStrike" cap="none" spc="30" baseline="0" dirty="0">
                          <a:latin typeface="+mj-ea"/>
                          <a:ea typeface="+mj-ea"/>
                        </a:rPr>
                        <a:t>田垣内　啓介</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en-US" sz="1200" b="1" u="none" strike="noStrike" cap="none" spc="30" baseline="0" dirty="0">
                          <a:latin typeface="+mj-ea"/>
                          <a:ea typeface="+mj-ea"/>
                        </a:rPr>
                        <a:t>080-4737-4326</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en-US" altLang="ja-JP" sz="1200" b="1" u="none" strike="noStrike" cap="none" spc="30" baseline="0" dirty="0">
                          <a:latin typeface="+mj-ea"/>
                          <a:ea typeface="+mj-ea"/>
                        </a:rPr>
                        <a:t>tagaito_keisuke@ma-sg.co.jp</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12700" cap="flat" cmpd="sng">
                      <a:noFill/>
                      <a:prstDash val="solid"/>
                      <a:round/>
                      <a:headEnd type="none" w="sm" len="sm"/>
                      <a:tailEnd type="none" w="sm" len="sm"/>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1"/>
                  </a:ext>
                </a:extLst>
              </a:tr>
            </a:tbl>
          </a:graphicData>
        </a:graphic>
      </p:graphicFrame>
      <p:sp>
        <p:nvSpPr>
          <p:cNvPr id="9" name="タイトル 8">
            <a:extLst>
              <a:ext uri="{FF2B5EF4-FFF2-40B4-BE49-F238E27FC236}">
                <a16:creationId xmlns:a16="http://schemas.microsoft.com/office/drawing/2014/main" id="{02B70F11-C06B-AE35-D3C3-0142145E5C0A}"/>
              </a:ext>
            </a:extLst>
          </p:cNvPr>
          <p:cNvSpPr>
            <a:spLocks noGrp="1"/>
          </p:cNvSpPr>
          <p:nvPr>
            <p:ph type="ctrTitle"/>
          </p:nvPr>
        </p:nvSpPr>
        <p:spPr/>
        <p:txBody>
          <a:bodyPr>
            <a:normAutofit/>
          </a:bodyPr>
          <a:lstStyle/>
          <a:p>
            <a:r>
              <a:rPr lang="ja-JP" altLang="en-US" dirty="0"/>
              <a:t>はじめに</a:t>
            </a:r>
          </a:p>
        </p:txBody>
      </p:sp>
      <p:sp>
        <p:nvSpPr>
          <p:cNvPr id="15" name="正方形/長方形 14">
            <a:extLst>
              <a:ext uri="{FF2B5EF4-FFF2-40B4-BE49-F238E27FC236}">
                <a16:creationId xmlns:a16="http://schemas.microsoft.com/office/drawing/2014/main" id="{51A174C3-B2B8-45E2-E11E-021C915BC89C}"/>
              </a:ext>
            </a:extLst>
          </p:cNvPr>
          <p:cNvSpPr/>
          <p:nvPr/>
        </p:nvSpPr>
        <p:spPr>
          <a:xfrm>
            <a:off x="449263" y="863600"/>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重要なご留意事項</a:t>
            </a:r>
          </a:p>
        </p:txBody>
      </p:sp>
      <p:sp>
        <p:nvSpPr>
          <p:cNvPr id="23" name="テキスト ボックス 22">
            <a:extLst>
              <a:ext uri="{FF2B5EF4-FFF2-40B4-BE49-F238E27FC236}">
                <a16:creationId xmlns:a16="http://schemas.microsoft.com/office/drawing/2014/main" id="{B50E1823-5D75-9C7E-3748-4C2C1C220A43}"/>
              </a:ext>
            </a:extLst>
          </p:cNvPr>
          <p:cNvSpPr txBox="1"/>
          <p:nvPr/>
        </p:nvSpPr>
        <p:spPr>
          <a:xfrm>
            <a:off x="449263" y="1234930"/>
            <a:ext cx="9793287" cy="4012958"/>
          </a:xfrm>
          <a:prstGeom prst="rect">
            <a:avLst/>
          </a:prstGeom>
          <a:noFill/>
        </p:spPr>
        <p:txBody>
          <a:bodyPr wrap="square" lIns="0" tIns="0" rIns="0" bIns="0" rtlCol="0">
            <a:spAutoFit/>
          </a:bodyPr>
          <a:lstStyle>
            <a:defPPr marR="0" lvl="0" algn="l" rtl="0">
              <a:lnSpc>
                <a:spcPct val="100000"/>
              </a:lnSpc>
              <a:spcBef>
                <a:spcPts val="0"/>
              </a:spcBef>
              <a:spcAft>
                <a:spcPts val="0"/>
              </a:spcAft>
            </a:defPPr>
            <a:lvl1pPr marL="180000" indent="-180000">
              <a:lnSpc>
                <a:spcPct val="120000"/>
              </a:lnSpc>
              <a:spcAft>
                <a:spcPts val="1200"/>
              </a:spcAft>
              <a:buClr>
                <a:schemeClr val="tx2"/>
              </a:buClr>
              <a:buSzPct val="80000"/>
              <a:buFont typeface="Wingdings" panose="05000000000000000000" pitchFamily="2" charset="2"/>
              <a:buChar char="n"/>
              <a:defRPr kumimoji="1" sz="1200" spc="50">
                <a:latin typeface="+mn-ea"/>
              </a:defRPr>
            </a:lvl1pPr>
          </a:lstStyle>
          <a:p>
            <a:pPr>
              <a:spcAft>
                <a:spcPts val="1800"/>
              </a:spcAft>
            </a:pPr>
            <a:r>
              <a:rPr lang="ja-JP" altLang="en-US" dirty="0">
                <a:ea typeface="+mn-ea"/>
              </a:rPr>
              <a:t>当該企業概要書（以下、「本概要書」といいます）は、株式会社</a:t>
            </a:r>
            <a:r>
              <a:rPr lang="en-US" altLang="ja-JP" dirty="0">
                <a:ea typeface="+mn-ea"/>
              </a:rPr>
              <a:t>M&amp;A</a:t>
            </a:r>
            <a:r>
              <a:rPr lang="ja-JP" altLang="en-US" dirty="0">
                <a:ea typeface="+mn-ea"/>
              </a:rPr>
              <a:t>承継機構（以下「弊社」といいます）が、対象会社の発行済株式の取得もしくは事業その他資産の譲受（以下「本取引」といいます）に関する仲介者として、対象会社から提供された情報に基づき、対象会社に関する情報を貴社に提供するために作成したものです。</a:t>
            </a:r>
          </a:p>
          <a:p>
            <a:pPr>
              <a:spcAft>
                <a:spcPts val="1800"/>
              </a:spcAft>
            </a:pPr>
            <a:r>
              <a:rPr lang="ja-JP" altLang="en-US" dirty="0">
                <a:ea typeface="+mn-ea"/>
              </a:rPr>
              <a:t>本概要書の存在及び記載されている情報並びに本概要書に関する全ての連絡・協議は貴社と弊社間で締結している秘密保持契約書（以下「秘密保持契約書」といいます）に定めのある秘密情報に該当致します。</a:t>
            </a:r>
          </a:p>
          <a:p>
            <a:pPr>
              <a:spcAft>
                <a:spcPts val="1800"/>
              </a:spcAft>
            </a:pPr>
            <a:r>
              <a:rPr lang="ja-JP" altLang="en-US" dirty="0">
                <a:ea typeface="+mn-ea"/>
              </a:rPr>
              <a:t>本概要書は、貴社が本取引を行うことを検討するための情報を提供することのみを目的として作成されておりますが、貴社が必要と考える全ての情報を網羅しているとは限りません。また、対象会社並びに弊社取締役、執行役員、監査役及び従業員（以下総称して「情報提供者」といいます）は、本概要書に記載されているいかなる情報及び意見に関しても、明示、黙示にかかわらず、その正確性及び完全性について表明または保証するものではありません。</a:t>
            </a:r>
          </a:p>
          <a:p>
            <a:pPr>
              <a:spcAft>
                <a:spcPts val="1800"/>
              </a:spcAft>
            </a:pPr>
            <a:r>
              <a:rPr lang="ja-JP" altLang="en-US" dirty="0">
                <a:ea typeface="+mn-ea"/>
              </a:rPr>
              <a:t>本概要書は必ずしも対象会社の現況をあらわしているものではなく、本概要書に記載されている日付または本概要書に記載されている情報の日付から、対象会社の状態が変化していないことを表明するものではありません。</a:t>
            </a:r>
          </a:p>
          <a:p>
            <a:pPr>
              <a:spcAft>
                <a:spcPts val="1800"/>
              </a:spcAft>
            </a:pPr>
            <a:r>
              <a:rPr lang="ja-JP" altLang="en-US" dirty="0">
                <a:ea typeface="+mn-ea"/>
              </a:rPr>
              <a:t>いかなる場合でも、本取引に関して、対象会社の役職員（元役職員を含む）及び取引先に対して、貴社及び貴社のアドバイザー等本取引に関与する者が直接、間接を問わずコンタクトをとることを禁止させていただくと共に、全てのご連絡は必ず弊社を介していただきますようお願い申し上げます。</a:t>
            </a:r>
          </a:p>
        </p:txBody>
      </p:sp>
    </p:spTree>
    <p:extLst>
      <p:ext uri="{BB962C8B-B14F-4D97-AF65-F5344CB8AC3E}">
        <p14:creationId xmlns:p14="http://schemas.microsoft.com/office/powerpoint/2010/main" val="2461943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2"/>
          <p:cNvSpPr txBox="1"/>
          <p:nvPr/>
        </p:nvSpPr>
        <p:spPr>
          <a:xfrm>
            <a:off x="6191813" y="2339371"/>
            <a:ext cx="4500000" cy="3570208"/>
          </a:xfrm>
          <a:prstGeom prst="rect">
            <a:avLst/>
          </a:prstGeom>
          <a:noFill/>
          <a:ln>
            <a:noFill/>
          </a:ln>
        </p:spPr>
        <p:txBody>
          <a:bodyPr spcFirstLastPara="1" wrap="square" lIns="0" tIns="0" rIns="0" bIns="0" anchor="t" anchorCtr="0">
            <a:spAutoFit/>
          </a:bodyPr>
          <a:lstStyle/>
          <a:p>
            <a:pPr>
              <a:lnSpc>
                <a:spcPct val="110000"/>
              </a:lnSpc>
              <a:spcAft>
                <a:spcPts val="2400"/>
              </a:spcAft>
              <a:buClr>
                <a:schemeClr val="dk1"/>
              </a:buClr>
              <a:buSzPts val="1400"/>
            </a:pPr>
            <a:r>
              <a:rPr lang="ja-JP" altLang="en-US" sz="2400" b="1" spc="70" dirty="0">
                <a:latin typeface="+mj-lt"/>
                <a:ea typeface="+mj-ea"/>
              </a:rPr>
              <a:t>エグゼクティブサマリー</a:t>
            </a:r>
            <a:endParaRPr lang="en-US" altLang="ja-JP" sz="2400" b="1" spc="70" dirty="0">
              <a:latin typeface="+mj-lt"/>
              <a:ea typeface="+mj-ea"/>
            </a:endParaRPr>
          </a:p>
          <a:p>
            <a:pPr>
              <a:lnSpc>
                <a:spcPct val="110000"/>
              </a:lnSpc>
              <a:spcAft>
                <a:spcPts val="2400"/>
              </a:spcAft>
              <a:buClr>
                <a:schemeClr val="dk1"/>
              </a:buClr>
              <a:buSzPts val="1400"/>
            </a:pPr>
            <a:r>
              <a:rPr lang="ja-JP" altLang="en-US" sz="2400" b="1" spc="70" dirty="0">
                <a:latin typeface="+mj-lt"/>
                <a:ea typeface="+mj-ea"/>
              </a:rPr>
              <a:t>事業概要</a:t>
            </a:r>
            <a:endParaRPr lang="en-US" altLang="ja-JP" sz="2400" b="1" spc="70" dirty="0">
              <a:latin typeface="+mj-lt"/>
              <a:ea typeface="+mj-ea"/>
            </a:endParaRPr>
          </a:p>
          <a:p>
            <a:pPr>
              <a:lnSpc>
                <a:spcPct val="110000"/>
              </a:lnSpc>
              <a:spcAft>
                <a:spcPts val="2400"/>
              </a:spcAft>
              <a:buClr>
                <a:schemeClr val="dk1"/>
              </a:buClr>
              <a:buSzPts val="1400"/>
            </a:pPr>
            <a:r>
              <a:rPr lang="ja-JP" altLang="en-US" sz="2400" b="1" spc="70" dirty="0">
                <a:latin typeface="+mj-lt"/>
                <a:ea typeface="+mj-ea"/>
              </a:rPr>
              <a:t>組織、拠点、設備等</a:t>
            </a:r>
            <a:endParaRPr lang="en-US" altLang="ja-JP" sz="2400" b="1" spc="70" dirty="0">
              <a:latin typeface="+mj-lt"/>
              <a:ea typeface="+mj-ea"/>
            </a:endParaRPr>
          </a:p>
          <a:p>
            <a:pPr>
              <a:lnSpc>
                <a:spcPct val="110000"/>
              </a:lnSpc>
              <a:spcAft>
                <a:spcPts val="2400"/>
              </a:spcAft>
              <a:buClr>
                <a:schemeClr val="dk1"/>
              </a:buClr>
              <a:buSzPts val="1400"/>
            </a:pPr>
            <a:r>
              <a:rPr lang="ja-JP" altLang="en-US" sz="2400" b="1" spc="70" dirty="0">
                <a:latin typeface="+mj-lt"/>
                <a:ea typeface="+mj-ea"/>
              </a:rPr>
              <a:t>財務情報詳細</a:t>
            </a:r>
            <a:endParaRPr lang="en-US" altLang="ja-JP" sz="2400" b="1" spc="70" dirty="0">
              <a:latin typeface="+mj-lt"/>
              <a:ea typeface="+mj-ea"/>
            </a:endParaRPr>
          </a:p>
          <a:p>
            <a:pPr>
              <a:lnSpc>
                <a:spcPct val="110000"/>
              </a:lnSpc>
              <a:spcAft>
                <a:spcPts val="2400"/>
              </a:spcAft>
              <a:buClr>
                <a:schemeClr val="dk1"/>
              </a:buClr>
              <a:buSzPts val="1400"/>
            </a:pPr>
            <a:r>
              <a:rPr lang="ja-JP" altLang="en-US" sz="2400" b="1" spc="70" dirty="0">
                <a:latin typeface="+mj-lt"/>
                <a:ea typeface="+mj-ea"/>
              </a:rPr>
              <a:t>Appendix</a:t>
            </a:r>
            <a:endParaRPr lang="en-US" altLang="ja-JP" sz="2400" b="1" spc="70" dirty="0">
              <a:latin typeface="+mj-lt"/>
              <a:ea typeface="+mj-ea"/>
            </a:endParaRPr>
          </a:p>
        </p:txBody>
      </p:sp>
      <p:sp>
        <p:nvSpPr>
          <p:cNvPr id="6" name="正方形/長方形 5">
            <a:extLst>
              <a:ext uri="{FF2B5EF4-FFF2-40B4-BE49-F238E27FC236}">
                <a16:creationId xmlns:a16="http://schemas.microsoft.com/office/drawing/2014/main" id="{7237316E-451C-1CCC-A702-B2048F3BE5F0}"/>
              </a:ext>
            </a:extLst>
          </p:cNvPr>
          <p:cNvSpPr/>
          <p:nvPr/>
        </p:nvSpPr>
        <p:spPr>
          <a:xfrm>
            <a:off x="5624542" y="2353556"/>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1</a:t>
            </a:r>
            <a:endParaRPr kumimoji="1" lang="ja-JP" altLang="en-US" b="1" dirty="0">
              <a:latin typeface="+mj-lt"/>
            </a:endParaRPr>
          </a:p>
        </p:txBody>
      </p:sp>
      <p:sp>
        <p:nvSpPr>
          <p:cNvPr id="9" name="正方形/長方形 8">
            <a:extLst>
              <a:ext uri="{FF2B5EF4-FFF2-40B4-BE49-F238E27FC236}">
                <a16:creationId xmlns:a16="http://schemas.microsoft.com/office/drawing/2014/main" id="{DDB8E843-D87E-F66B-3884-439FB909A0A7}"/>
              </a:ext>
            </a:extLst>
          </p:cNvPr>
          <p:cNvSpPr/>
          <p:nvPr/>
        </p:nvSpPr>
        <p:spPr>
          <a:xfrm>
            <a:off x="5624542" y="3060631"/>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2</a:t>
            </a:r>
            <a:endParaRPr kumimoji="1" lang="ja-JP" altLang="en-US" b="1" dirty="0">
              <a:latin typeface="+mj-lt"/>
            </a:endParaRPr>
          </a:p>
        </p:txBody>
      </p:sp>
      <p:sp>
        <p:nvSpPr>
          <p:cNvPr id="10" name="正方形/長方形 9">
            <a:extLst>
              <a:ext uri="{FF2B5EF4-FFF2-40B4-BE49-F238E27FC236}">
                <a16:creationId xmlns:a16="http://schemas.microsoft.com/office/drawing/2014/main" id="{FF90FB9F-20F8-D38F-B8AF-4A631E224A11}"/>
              </a:ext>
            </a:extLst>
          </p:cNvPr>
          <p:cNvSpPr/>
          <p:nvPr/>
        </p:nvSpPr>
        <p:spPr>
          <a:xfrm>
            <a:off x="5624542" y="3767706"/>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3</a:t>
            </a:r>
            <a:endParaRPr kumimoji="1" lang="ja-JP" altLang="en-US" b="1" dirty="0">
              <a:latin typeface="+mj-lt"/>
            </a:endParaRPr>
          </a:p>
        </p:txBody>
      </p:sp>
      <p:sp>
        <p:nvSpPr>
          <p:cNvPr id="11" name="正方形/長方形 10">
            <a:extLst>
              <a:ext uri="{FF2B5EF4-FFF2-40B4-BE49-F238E27FC236}">
                <a16:creationId xmlns:a16="http://schemas.microsoft.com/office/drawing/2014/main" id="{A76F0F70-F53A-8481-50DF-B7EEDD0BEE06}"/>
              </a:ext>
            </a:extLst>
          </p:cNvPr>
          <p:cNvSpPr/>
          <p:nvPr/>
        </p:nvSpPr>
        <p:spPr>
          <a:xfrm>
            <a:off x="5624542" y="4474781"/>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4</a:t>
            </a:r>
            <a:endParaRPr kumimoji="1" lang="ja-JP" altLang="en-US" b="1" dirty="0">
              <a:latin typeface="+mj-lt"/>
            </a:endParaRPr>
          </a:p>
        </p:txBody>
      </p:sp>
      <p:sp>
        <p:nvSpPr>
          <p:cNvPr id="3" name="正方形/長方形 2">
            <a:extLst>
              <a:ext uri="{FF2B5EF4-FFF2-40B4-BE49-F238E27FC236}">
                <a16:creationId xmlns:a16="http://schemas.microsoft.com/office/drawing/2014/main" id="{DE430CD6-B78A-5CFE-3B87-B7F6C2A9CBEA}"/>
              </a:ext>
            </a:extLst>
          </p:cNvPr>
          <p:cNvSpPr/>
          <p:nvPr/>
        </p:nvSpPr>
        <p:spPr>
          <a:xfrm>
            <a:off x="5624542" y="5181856"/>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5</a:t>
            </a:r>
            <a:endParaRPr kumimoji="1" lang="ja-JP" altLang="en-US" b="1" dirty="0">
              <a:latin typeface="+mj-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EAEF2-738C-97B3-4696-F3BB344E55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6C9D74-25B9-202B-100C-14E88F8A35B4}"/>
              </a:ext>
            </a:extLst>
          </p:cNvPr>
          <p:cNvSpPr>
            <a:spLocks noGrp="1"/>
          </p:cNvSpPr>
          <p:nvPr>
            <p:ph type="title"/>
          </p:nvPr>
        </p:nvSpPr>
        <p:spPr>
          <a:xfrm>
            <a:off x="989013" y="3656161"/>
            <a:ext cx="9221787" cy="615553"/>
          </a:xfrm>
        </p:spPr>
        <p:txBody>
          <a:bodyPr/>
          <a:lstStyle/>
          <a:p>
            <a:r>
              <a:rPr lang="ja-JP" altLang="en-US" dirty="0"/>
              <a:t>エグゼクティブサマリー</a:t>
            </a:r>
            <a:endParaRPr lang="en-US" altLang="ja-JP" dirty="0"/>
          </a:p>
        </p:txBody>
      </p:sp>
      <p:pic>
        <p:nvPicPr>
          <p:cNvPr id="7" name="図 6">
            <a:extLst>
              <a:ext uri="{FF2B5EF4-FFF2-40B4-BE49-F238E27FC236}">
                <a16:creationId xmlns:a16="http://schemas.microsoft.com/office/drawing/2014/main" id="{C8D5CA77-B77E-EE25-04B7-23BDB60E0B2A}"/>
              </a:ext>
            </a:extLst>
          </p:cNvPr>
          <p:cNvPicPr>
            <a:picLocks noChangeAspect="1"/>
          </p:cNvPicPr>
          <p:nvPr/>
        </p:nvPicPr>
        <p:blipFill>
          <a:blip/>
          <a:stretch>
            <a:fillRect/>
          </a:stretch>
        </p:blipFill>
        <p:spPr>
          <a:xfrm>
            <a:off x="7776467" y="3981785"/>
            <a:ext cx="21" cy="20"/>
          </a:xfrm>
          <a:prstGeom prst="rect">
            <a:avLst/>
          </a:prstGeom>
        </p:spPr>
      </p:pic>
      <p:pic>
        <p:nvPicPr>
          <p:cNvPr id="9" name="図 8">
            <a:extLst>
              <a:ext uri="{FF2B5EF4-FFF2-40B4-BE49-F238E27FC236}">
                <a16:creationId xmlns:a16="http://schemas.microsoft.com/office/drawing/2014/main" id="{5841CF96-EF85-6F41-A092-6ED9083D3E7C}"/>
              </a:ext>
            </a:extLst>
          </p:cNvPr>
          <p:cNvPicPr>
            <a:picLocks noChangeAspect="1"/>
          </p:cNvPicPr>
          <p:nvPr/>
        </p:nvPicPr>
        <p:blipFill>
          <a:blip/>
          <a:stretch>
            <a:fillRect/>
          </a:stretch>
        </p:blipFill>
        <p:spPr>
          <a:xfrm>
            <a:off x="7776467" y="3981785"/>
            <a:ext cx="21" cy="20"/>
          </a:xfrm>
          <a:prstGeom prst="rect">
            <a:avLst/>
          </a:prstGeom>
        </p:spPr>
      </p:pic>
    </p:spTree>
    <p:extLst>
      <p:ext uri="{BB962C8B-B14F-4D97-AF65-F5344CB8AC3E}">
        <p14:creationId xmlns:p14="http://schemas.microsoft.com/office/powerpoint/2010/main" val="5404063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字幕 13">
            <a:extLst>
              <a:ext uri="{FF2B5EF4-FFF2-40B4-BE49-F238E27FC236}">
                <a16:creationId xmlns:a16="http://schemas.microsoft.com/office/drawing/2014/main" id="{79A14348-475C-CD64-9408-407529B44C13}"/>
              </a:ext>
            </a:extLst>
          </p:cNvPr>
          <p:cNvSpPr>
            <a:spLocks noGrp="1"/>
          </p:cNvSpPr>
          <p:nvPr>
            <p:ph type="subTitle" idx="1"/>
          </p:nvPr>
        </p:nvSpPr>
        <p:spPr>
          <a:xfrm>
            <a:off x="460675" y="830046"/>
            <a:ext cx="9781875" cy="241861"/>
          </a:xfrm>
        </p:spPr>
        <p:txBody>
          <a:bodyPr>
            <a:noAutofit/>
          </a:bodyPr>
          <a:lstStyle/>
          <a:p>
            <a:r>
              <a:rPr lang="en-US" altLang="ja-JP" dirty="0">
                <a:latin typeface="+mj-ea"/>
              </a:rPr>
              <a:t>2019年の創業以来、東海圏を中心にペットショップを展開。2026年初に不採算の2店舗を撤退し、現在は直営6店舗を運営する。フランチャイズ加盟のインショップ4店舗に加え、2023年からは自社ブランドの大型犬専門店「おっきなもふもふ応援隊」を2店舗開設し、進行期は同2店舗で売上の42.4%・店舗貢献利益の52.6%を占める。</a:t>
            </a:r>
            <a:endParaRPr lang="en-US" altLang="ja-JP" dirty="0"/>
          </a:p>
        </p:txBody>
      </p:sp>
      <p:sp>
        <p:nvSpPr>
          <p:cNvPr id="13" name="タイトル 12">
            <a:extLst>
              <a:ext uri="{FF2B5EF4-FFF2-40B4-BE49-F238E27FC236}">
                <a16:creationId xmlns:a16="http://schemas.microsoft.com/office/drawing/2014/main" id="{85E2D3B1-D668-47BF-7D76-2F8709456651}"/>
              </a:ext>
            </a:extLst>
          </p:cNvPr>
          <p:cNvSpPr>
            <a:spLocks noGrp="1"/>
          </p:cNvSpPr>
          <p:nvPr>
            <p:ph type="ctrTitle"/>
          </p:nvPr>
        </p:nvSpPr>
        <p:spPr>
          <a:xfrm>
            <a:off x="311150" y="180296"/>
            <a:ext cx="7799917" cy="339267"/>
          </a:xfrm>
        </p:spPr>
        <p:txBody>
          <a:bodyPr>
            <a:normAutofit/>
          </a:bodyPr>
          <a:lstStyle/>
          <a:p>
            <a:r>
              <a:rPr lang="ja-JP" altLang="en-US" dirty="0"/>
              <a:t>基本情報</a:t>
            </a:r>
          </a:p>
        </p:txBody>
      </p:sp>
      <p:sp>
        <p:nvSpPr>
          <p:cNvPr id="5" name="タイトル 1">
            <a:extLst>
              <a:ext uri="{FF2B5EF4-FFF2-40B4-BE49-F238E27FC236}">
                <a16:creationId xmlns:a16="http://schemas.microsoft.com/office/drawing/2014/main" id="{4F103961-B26C-39D9-FB80-02B45E98D11A}"/>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エグゼクティブサマリー</a:t>
            </a:r>
          </a:p>
        </p:txBody>
      </p:sp>
      <p:sp>
        <p:nvSpPr>
          <p:cNvPr id="2" name="正方形/長方形 1">
            <a:extLst>
              <a:ext uri="{FF2B5EF4-FFF2-40B4-BE49-F238E27FC236}">
                <a16:creationId xmlns:a16="http://schemas.microsoft.com/office/drawing/2014/main" id="{A0EF9F9A-5414-64EC-48C3-D1A342DF89A8}"/>
              </a:ext>
            </a:extLst>
          </p:cNvPr>
          <p:cNvSpPr/>
          <p:nvPr/>
        </p:nvSpPr>
        <p:spPr>
          <a:xfrm>
            <a:off x="311150" y="1895888"/>
            <a:ext cx="993038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会社概要</a:t>
            </a:r>
          </a:p>
        </p:txBody>
      </p:sp>
      <p:graphicFrame>
        <p:nvGraphicFramePr>
          <p:cNvPr id="21" name="表 20">
            <a:extLst>
              <a:ext uri="{FF2B5EF4-FFF2-40B4-BE49-F238E27FC236}">
                <a16:creationId xmlns:a16="http://schemas.microsoft.com/office/drawing/2014/main" id="{CB1550B6-86BA-8688-2CFB-931E58845D33}"/>
              </a:ext>
            </a:extLst>
          </p:cNvPr>
          <p:cNvGraphicFramePr>
            <a:graphicFrameLocks noGrp="1"/>
          </p:cNvGraphicFramePr>
          <p:nvPr>
            <p:extLst>
              <p:ext uri="{D42A27DB-BD31-4B8C-83A1-F6EECF244321}">
                <p14:modId xmlns:p14="http://schemas.microsoft.com/office/powerpoint/2010/main" val="986417335"/>
              </p:ext>
            </p:extLst>
          </p:nvPr>
        </p:nvGraphicFramePr>
        <p:xfrm>
          <a:off x="311150" y="2448232"/>
          <a:ext cx="9930383" cy="4242816"/>
        </p:xfrm>
        <a:graphic>
          <a:graphicData uri="http://schemas.openxmlformats.org/drawingml/2006/table">
            <a:tbl>
              <a:tblPr/>
              <a:tblGrid>
                <a:gridCol w="1600200">
                  <a:extLst>
                    <a:ext uri="{9D8B030D-6E8A-4147-A177-3AD203B41FA5}">
                      <a16:colId xmlns:a16="http://schemas.microsoft.com/office/drawing/2014/main" val="2539626951"/>
                    </a:ext>
                  </a:extLst>
                </a:gridCol>
                <a:gridCol w="8330183">
                  <a:extLst>
                    <a:ext uri="{9D8B030D-6E8A-4147-A177-3AD203B41FA5}">
                      <a16:colId xmlns:a16="http://schemas.microsoft.com/office/drawing/2014/main" val="2394234266"/>
                    </a:ext>
                  </a:extLst>
                </a:gridCol>
              </a:tblGrid>
              <a:tr h="201168">
                <a:tc>
                  <a:txBody>
                    <a:bodyPr/>
                    <a:lstStyle/>
                    <a:p>
                      <a:pPr algn="l" fontAlgn="t">
                        <a:buNone/>
                      </a:pPr>
                      <a:r>
                        <a:rPr lang="ja-JP" sz="1050" b="1" i="0" u="none" strike="noStrike" dirty="0">
                          <a:solidFill>
                            <a:srgbClr val="FFFFFF"/>
                          </a:solidFill>
                          <a:effectLst/>
                          <a:latin typeface="游ゴシック" panose="020B0400000000000000" pitchFamily="50" charset="-128"/>
                          <a:ea typeface="游ゴシック" panose="020B0400000000000000" pitchFamily="50" charset="-128"/>
                        </a:rPr>
                        <a:t>項目</a:t>
                      </a:r>
                    </a:p>
                  </a:txBody>
                  <a:tcPr marL="0" marR="0" marT="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l" fontAlgn="t">
                        <a:buNone/>
                      </a:pPr>
                      <a:r>
                        <a:rPr lang="ja-JP" sz="1050" b="1" i="0" u="none" strike="noStrike" dirty="0">
                          <a:solidFill>
                            <a:srgbClr val="FFFFFF"/>
                          </a:solidFill>
                          <a:effectLst/>
                          <a:latin typeface="游ゴシック" panose="020B0400000000000000" pitchFamily="50" charset="-128"/>
                          <a:ea typeface="游ゴシック" panose="020B0400000000000000" pitchFamily="50" charset="-128"/>
                        </a:rPr>
                        <a:t>内容</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2071670933"/>
                  </a:ext>
                </a:extLst>
              </a:tr>
              <a:tr h="310896">
                <a:tc>
                  <a:txBody>
                    <a:bodyPr/>
                    <a:lstStyle/>
                    <a:p>
                      <a:pPr algn="l" fontAlgn="t">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会社名</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t">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LUXAS株式会社［ラクサス］（法人番号 4200001038172）</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900266530"/>
                  </a:ext>
                </a:extLst>
              </a:tr>
              <a:tr h="310896">
                <a:tc>
                  <a:txBody>
                    <a:bodyPr/>
                    <a:lstStyle/>
                    <a:p>
                      <a:pPr algn="l" fontAlgn="t">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本社所在地</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t">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岐阜県大垣市青柳町3丁目227番地2　※代表者自宅を賃借（2025年11月期の年間家賃1,000千円）</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497372513"/>
                  </a:ext>
                </a:extLst>
              </a:tr>
              <a:tr h="310896">
                <a:tc>
                  <a:txBody>
                    <a:bodyPr/>
                    <a:lstStyle/>
                    <a:p>
                      <a:pPr algn="l" fontAlgn="t">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店舗・拠点</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t">
                        <a:buNone/>
                      </a:pPr>
                      <a: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t>直営6店舗（三重県3／愛知県1／岐阜県1／大阪府1）、松阪管理センター　※2026年1月にペットプラザ岐阜店、2026年2月にアクアウォーク大垣店を撤退（2025年11月期末は8店舗）</a:t>
                      </a:r>
                      <a:endPar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1169181494"/>
                  </a:ext>
                </a:extLst>
              </a:tr>
              <a:tr h="310896">
                <a:tc>
                  <a:txBody>
                    <a:bodyPr/>
                    <a:lstStyle/>
                    <a:p>
                      <a:pPr algn="l" fontAlgn="t">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創業・設立</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t">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2019年8月 個人事業として創業／2020年12月 法人設立（第5期）</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946259682"/>
                  </a:ext>
                </a:extLst>
              </a:tr>
              <a:tr h="310896">
                <a:tc>
                  <a:txBody>
                    <a:bodyPr/>
                    <a:lstStyle/>
                    <a:p>
                      <a:pPr algn="l" fontAlgn="t">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資本金</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t">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1,000千円</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1359436894"/>
                  </a:ext>
                </a:extLst>
              </a:tr>
              <a:tr h="310896">
                <a:tc>
                  <a:txBody>
                    <a:bodyPr/>
                    <a:lstStyle/>
                    <a:p>
                      <a:pPr algn="l" fontAlgn="t">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代表者</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t">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代表取締役　淺野　ゆう子（1985年11月生）</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63480803"/>
                  </a:ext>
                </a:extLst>
              </a:tr>
              <a:tr h="310896">
                <a:tc>
                  <a:txBody>
                    <a:bodyPr/>
                    <a:lstStyle/>
                    <a:p>
                      <a:pPr algn="l" fontAlgn="t">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株主</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t">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淺野　ゆう子（100株／100.0%）　※株券不発行会社、譲渡制限規定あり、設立時から変更なし</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88547174"/>
                  </a:ext>
                </a:extLst>
              </a:tr>
              <a:tr h="310896">
                <a:tc>
                  <a:txBody>
                    <a:bodyPr/>
                    <a:lstStyle/>
                    <a:p>
                      <a:pPr algn="l" fontAlgn="t">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事業内容</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t">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ペットショップ（生体販売・ペット用品販売）、トリミング、ペットホテル、ペット保険代理店、セキュリティ機器販売</a:t>
                      </a:r>
                      <a:endParaRPr lang="ja-JP" sz="10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198329160"/>
                  </a:ext>
                </a:extLst>
              </a:tr>
              <a:tr h="310896">
                <a:tc>
                  <a:txBody>
                    <a:bodyPr/>
                    <a:lstStyle/>
                    <a:p>
                      <a:pPr algn="l" fontAlgn="t">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従業員数</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t">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49名（役員2名、正社員14名、アルバイト33名）　※2026年9月時点。詳細はP.23参照</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130286910"/>
                  </a:ext>
                </a:extLst>
              </a:tr>
              <a:tr h="310896">
                <a:tc>
                  <a:txBody>
                    <a:bodyPr/>
                    <a:lstStyle/>
                    <a:p>
                      <a:pPr algn="l" fontAlgn="t">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許認可等</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t">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第一種動物取扱業許可（種別：販売／保管）　8事業所で取得</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768104905"/>
                  </a:ext>
                </a:extLst>
              </a:tr>
              <a:tr h="310896">
                <a:tc>
                  <a:txBody>
                    <a:bodyPr/>
                    <a:lstStyle/>
                    <a:p>
                      <a:pPr algn="l" fontAlgn="t">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売上高</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t">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558,390千円（2025年11月期）　※調整後EBITDA 6,681千円、過去3期平均 18,185千円</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380813212"/>
                  </a:ext>
                </a:extLst>
              </a:tr>
              <a:tr h="310896">
                <a:tc>
                  <a:txBody>
                    <a:bodyPr/>
                    <a:lstStyle/>
                    <a:p>
                      <a:pPr algn="l" fontAlgn="t">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進行期の状況</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t">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2026年11月期の7か月累計（2025年12月〜2026年6月）で売上高279,153千円（前年同期比80.9%）、営業利益6,637千円。稼働6店舗の貢献利益は100,818千円　※詳細はP.8・P.13参照</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094010921"/>
                  </a:ext>
                </a:extLst>
              </a:tr>
              <a:tr h="310896">
                <a:tc>
                  <a:txBody>
                    <a:bodyPr/>
                    <a:lstStyle/>
                    <a:p>
                      <a:pPr algn="l" fontAlgn="t">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譲渡理由</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t">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成長戦略（資本力・経営基盤のある企業グループの下での多店舗展開の加速）</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094010921"/>
                  </a:ext>
                </a:extLst>
              </a:tr>
            </a:tbl>
          </a:graphicData>
        </a:graphic>
      </p:graphicFrame>
    </p:spTree>
    <p:extLst>
      <p:ext uri="{BB962C8B-B14F-4D97-AF65-F5344CB8AC3E}">
        <p14:creationId xmlns:p14="http://schemas.microsoft.com/office/powerpoint/2010/main" val="28193464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8EF9F-B9BD-9E7E-BA2C-5A4B51173A7F}"/>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7780A147-C248-92F8-8F3F-25BD76E0BC3B}"/>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財務ハイライト（P/L）</a:t>
            </a:r>
          </a:p>
        </p:txBody>
      </p:sp>
      <p:sp>
        <p:nvSpPr>
          <p:cNvPr id="5" name="タイトル 1">
            <a:extLst>
              <a:ext uri="{FF2B5EF4-FFF2-40B4-BE49-F238E27FC236}">
                <a16:creationId xmlns:a16="http://schemas.microsoft.com/office/drawing/2014/main" id="{BE8912DE-7392-DA52-DCED-61F45ED11AC6}"/>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エグゼクティブサマリー</a:t>
            </a:r>
          </a:p>
        </p:txBody>
      </p:sp>
      <p:sp>
        <p:nvSpPr>
          <p:cNvPr id="16" name="字幕 13">
            <a:extLst>
              <a:ext uri="{FF2B5EF4-FFF2-40B4-BE49-F238E27FC236}">
                <a16:creationId xmlns:a16="http://schemas.microsoft.com/office/drawing/2014/main" id="{7A1881B5-EF3F-935A-CE45-EAB497D19AED}"/>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売上高は2期で17.7%成長した一方、2025年11月期は仕入価格の転嫁が進まず粗利率が59.1%へ低下し、営業損失19,552千円を計上。進行期は不採算2店舗の撤退により粗利率が62.5%へ回復し、7か月累計で営業利益6,637千円と黒字転換している。</a:t>
            </a:r>
            <a:endParaRPr lang="en-US" altLang="ja-JP" dirty="0">
              <a:latin typeface="游ゴシック" panose="020B0400000000000000" pitchFamily="50" charset="-128"/>
              <a:ea typeface="游ゴシック" panose="020B0400000000000000" pitchFamily="50" charset="-128"/>
            </a:endParaRPr>
          </a:p>
        </p:txBody>
      </p:sp>
      <p:sp>
        <p:nvSpPr>
          <p:cNvPr id="2" name="正方形/長方形 1">
            <a:extLst>
              <a:ext uri="{FF2B5EF4-FFF2-40B4-BE49-F238E27FC236}">
                <a16:creationId xmlns:a16="http://schemas.microsoft.com/office/drawing/2014/main" id="{22D7A017-71F2-4035-677D-AF49C1C280D6}"/>
              </a:ext>
            </a:extLst>
          </p:cNvPr>
          <p:cNvSpPr/>
          <p:nvPr/>
        </p:nvSpPr>
        <p:spPr>
          <a:xfrm>
            <a:off x="6455664" y="4956048"/>
            <a:ext cx="3924999" cy="2084831"/>
          </a:xfrm>
          <a:prstGeom prst="rect">
            <a:avLst/>
          </a:prstGeom>
          <a:solidFill>
            <a:schemeClr val="accent2"/>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nSpc>
                <a:spcPct val="150000"/>
              </a:lnSpc>
            </a:pPr>
            <a:endParaRPr kumimoji="1" lang="en-US" altLang="ja-JP" sz="1200" b="1" dirty="0">
              <a:solidFill>
                <a:schemeClr val="tx1"/>
              </a:solidFill>
              <a:latin typeface="游ゴシック" panose="020B0400000000000000" pitchFamily="50" charset="-128"/>
              <a:ea typeface="游ゴシック" panose="020B0400000000000000" pitchFamily="50" charset="-128"/>
            </a:endParaRPr>
          </a:p>
        </p:txBody>
      </p:sp>
      <p:sp>
        <p:nvSpPr>
          <p:cNvPr id="8" name="正方形/長方形 7">
            <a:extLst>
              <a:ext uri="{FF2B5EF4-FFF2-40B4-BE49-F238E27FC236}">
                <a16:creationId xmlns:a16="http://schemas.microsoft.com/office/drawing/2014/main" id="{CBD334A9-999C-ACD4-9DD2-EF961CBA0926}"/>
              </a:ext>
            </a:extLst>
          </p:cNvPr>
          <p:cNvSpPr/>
          <p:nvPr/>
        </p:nvSpPr>
        <p:spPr>
          <a:xfrm>
            <a:off x="6455664" y="1572768"/>
            <a:ext cx="3924999" cy="3346704"/>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游ゴシック" panose="020B0400000000000000" pitchFamily="50" charset="-128"/>
                <a:ea typeface="游ゴシック" panose="020B0400000000000000" pitchFamily="50" charset="-128"/>
              </a:rPr>
              <a:t>Comment</a:t>
            </a:r>
            <a:endParaRPr kumimoji="1" lang="ja-JP" altLang="en-US" sz="1600" b="1" dirty="0">
              <a:solidFill>
                <a:schemeClr val="tx2"/>
              </a:solidFill>
              <a:latin typeface="游ゴシック" panose="020B0400000000000000" pitchFamily="50" charset="-128"/>
              <a:ea typeface="游ゴシック" panose="020B0400000000000000" pitchFamily="50" charset="-128"/>
            </a:endParaRPr>
          </a:p>
        </p:txBody>
      </p:sp>
      <p:sp>
        <p:nvSpPr>
          <p:cNvPr id="9" name="テキスト ボックス 8">
            <a:extLst>
              <a:ext uri="{FF2B5EF4-FFF2-40B4-BE49-F238E27FC236}">
                <a16:creationId xmlns:a16="http://schemas.microsoft.com/office/drawing/2014/main" id="{E5084622-1D6B-783F-80DE-6D9A498C7C12}"/>
              </a:ext>
            </a:extLst>
          </p:cNvPr>
          <p:cNvSpPr txBox="1"/>
          <p:nvPr/>
        </p:nvSpPr>
        <p:spPr>
          <a:xfrm>
            <a:off x="6455664" y="2066543"/>
            <a:ext cx="3912257" cy="2816352"/>
          </a:xfrm>
          <a:prstGeom prst="rect">
            <a:avLst/>
          </a:prstGeom>
          <a:noFill/>
        </p:spPr>
        <p:txBody>
          <a:bodyPr wrap="square" lIns="288000" tIns="0" rIns="252000" bIns="0" rtlCol="0">
            <a:spAutoFit/>
          </a:bodyPr>
          <a:lstStyle/>
          <a:p>
            <a:pPr>
              <a:spcAft>
                <a:spcPts val="300"/>
              </a:spcAft>
            </a:pPr>
            <a:r>
              <a:rPr sz="800" b="1" dirty="0">
                <a:solidFill>
                  <a:sysClr val="windowText" lastClr="000000"/>
                </a:solidFill>
                <a:latin typeface="游ゴシック" panose="020B0400000000000000" pitchFamily="50" charset="-128"/>
                <a:ea typeface="游ゴシック" panose="020B0400000000000000" pitchFamily="50" charset="-128"/>
              </a:rPr>
              <a:t>≪売上高≫</a:t>
            </a:r>
            <a:endParaRPr kumimoji="1" lang="en-US" altLang="ja-JP" sz="1200" dirty="0">
              <a:solidFill>
                <a:sysClr val="windowText" lastClr="000000"/>
              </a:solidFill>
              <a:latin typeface="游ゴシック" panose="020B0400000000000000" pitchFamily="50" charset="-128"/>
              <a:ea typeface="游ゴシック" panose="020B0400000000000000" pitchFamily="50" charset="-128"/>
            </a:endParaRPr>
          </a:p>
          <a:p>
            <a:pPr>
              <a:spcAft>
                <a:spcPts val="300"/>
              </a:spcAft>
            </a:pPr>
            <a:r>
              <a:rPr lang="ja-JP" altLang="en-US" sz="800" b="0" dirty="0">
                <a:solidFill>
                  <a:sysClr val="windowText" lastClr="000000"/>
                </a:solidFill>
                <a:latin typeface="游ゴシック" panose="020B0400000000000000" pitchFamily="50" charset="-128"/>
                <a:ea typeface="游ゴシック" panose="020B0400000000000000" pitchFamily="50" charset="-128"/>
              </a:rPr>
              <a:t>・大型犬専門2店舗（岐阜総本店・大阪総本店）で2025年11月期売上の46.7%を占める。</a:t>
            </a:r>
            <a:endParaRPr lang="en-US" altLang="ja-JP" sz="900" b="0" dirty="0">
              <a:solidFill>
                <a:sysClr val="windowText" lastClr="000000"/>
              </a:solidFill>
              <a:latin typeface="游ゴシック" panose="020B0400000000000000" pitchFamily="50" charset="-128"/>
              <a:ea typeface="游ゴシック" panose="020B0400000000000000" pitchFamily="50" charset="-128"/>
            </a:endParaRPr>
          </a:p>
          <a:p>
            <a:pPr>
              <a:spcAft>
                <a:spcPts val="300"/>
              </a:spcAft>
            </a:pPr>
            <a:r>
              <a:rPr lang="ja-JP" altLang="en-US" sz="800" b="0" dirty="0">
                <a:solidFill>
                  <a:sysClr val="windowText" lastClr="000000"/>
                </a:solidFill>
                <a:latin typeface="游ゴシック" panose="020B0400000000000000" pitchFamily="50" charset="-128"/>
                <a:ea typeface="游ゴシック" panose="020B0400000000000000" pitchFamily="50" charset="-128"/>
              </a:rPr>
              <a:t>・FC加盟のインショップ6店舗は269,879千円と横ばい。うち明和店は67,267→37,216千円（△44.7%）と大きく減少。</a:t>
            </a:r>
            <a:endParaRPr lang="en-US" altLang="ja-JP" sz="900" b="0" dirty="0">
              <a:solidFill>
                <a:sysClr val="windowText" lastClr="000000"/>
              </a:solidFill>
              <a:latin typeface="游ゴシック" panose="020B0400000000000000" pitchFamily="50" charset="-128"/>
              <a:ea typeface="游ゴシック" panose="020B0400000000000000" pitchFamily="50" charset="-128"/>
            </a:endParaRPr>
          </a:p>
          <a:p>
            <a:pPr>
              <a:spcAft>
                <a:spcPts val="300"/>
              </a:spcAft>
            </a:pPr>
            <a:r>
              <a:rPr sz="800" b="1" dirty="0">
                <a:solidFill>
                  <a:sysClr val="windowText" lastClr="000000"/>
                </a:solidFill>
                <a:latin typeface="游ゴシック" panose="020B0400000000000000" pitchFamily="50" charset="-128"/>
                <a:ea typeface="游ゴシック" panose="020B0400000000000000" pitchFamily="50" charset="-128"/>
              </a:rPr>
              <a:t>≪売上総利益≫</a:t>
            </a:r>
            <a:endParaRPr kumimoji="1" lang="en-US" altLang="ja-JP" sz="1200" dirty="0">
              <a:solidFill>
                <a:sysClr val="windowText" lastClr="000000"/>
              </a:solidFill>
              <a:latin typeface="游ゴシック" panose="020B0400000000000000" pitchFamily="50" charset="-128"/>
              <a:ea typeface="游ゴシック" panose="020B0400000000000000" pitchFamily="50" charset="-128"/>
            </a:endParaRPr>
          </a:p>
          <a:p>
            <a:pPr>
              <a:spcAft>
                <a:spcPts val="300"/>
              </a:spcAft>
            </a:pPr>
            <a:r>
              <a:rPr lang="ja-JP" altLang="en-US" sz="800" b="0" dirty="0">
                <a:solidFill>
                  <a:sysClr val="windowText" lastClr="000000"/>
                </a:solidFill>
                <a:latin typeface="游ゴシック" panose="020B0400000000000000" pitchFamily="50" charset="-128"/>
                <a:ea typeface="游ゴシック" panose="020B0400000000000000" pitchFamily="50" charset="-128"/>
              </a:rPr>
              <a:t>・粗利率は61.6%→63.6%→59.1%。小型犬中心の既存店で仕入価格の上昇を販売価格へ転嫁できなかったことが主因（ヒアリング）。</a:t>
            </a:r>
            <a:endParaRPr lang="en-US" altLang="ja-JP" sz="900" b="0" dirty="0">
              <a:solidFill>
                <a:sysClr val="windowText" lastClr="000000"/>
              </a:solidFill>
              <a:latin typeface="游ゴシック" panose="020B0400000000000000" pitchFamily="50" charset="-128"/>
              <a:ea typeface="游ゴシック" panose="020B0400000000000000" pitchFamily="50" charset="-128"/>
            </a:endParaRPr>
          </a:p>
          <a:p>
            <a:pPr>
              <a:spcAft>
                <a:spcPts val="300"/>
              </a:spcAft>
            </a:pPr>
            <a:r>
              <a:rPr sz="800" b="1" dirty="0">
                <a:solidFill>
                  <a:sysClr val="windowText" lastClr="000000"/>
                </a:solidFill>
                <a:latin typeface="游ゴシック" panose="020B0400000000000000" pitchFamily="50" charset="-128"/>
                <a:ea typeface="游ゴシック" panose="020B0400000000000000" pitchFamily="50" charset="-128"/>
              </a:rPr>
              <a:t>≪営業利益≫</a:t>
            </a:r>
            <a:endParaRPr kumimoji="1" lang="en-US" altLang="ja-JP" sz="1200" dirty="0">
              <a:solidFill>
                <a:sysClr val="windowText" lastClr="000000"/>
              </a:solidFill>
              <a:latin typeface="游ゴシック" panose="020B0400000000000000" pitchFamily="50" charset="-128"/>
              <a:ea typeface="游ゴシック" panose="020B0400000000000000" pitchFamily="50" charset="-128"/>
            </a:endParaRPr>
          </a:p>
          <a:p>
            <a:pPr>
              <a:spcAft>
                <a:spcPts val="300"/>
              </a:spcAft>
            </a:pPr>
            <a:r>
              <a:rPr lang="ja-JP" altLang="en-US" sz="800" b="0" dirty="0">
                <a:solidFill>
                  <a:sysClr val="windowText" lastClr="000000"/>
                </a:solidFill>
                <a:latin typeface="游ゴシック" panose="020B0400000000000000" pitchFamily="50" charset="-128"/>
                <a:ea typeface="游ゴシック" panose="020B0400000000000000" pitchFamily="50" charset="-128"/>
              </a:rPr>
              <a:t>・販管費が59,539千円増加（地代家賃+25,019千円、人件費+25,611千円）し、営業損失を計上。</a:t>
            </a:r>
            <a:endParaRPr lang="en-US" altLang="ja-JP" sz="900" b="0" dirty="0">
              <a:solidFill>
                <a:sysClr val="windowText" lastClr="000000"/>
              </a:solidFill>
              <a:latin typeface="游ゴシック" panose="020B0400000000000000" pitchFamily="50" charset="-128"/>
              <a:ea typeface="游ゴシック" panose="020B0400000000000000" pitchFamily="50" charset="-128"/>
            </a:endParaRPr>
          </a:p>
          <a:p>
            <a:pPr>
              <a:spcAft>
                <a:spcPts val="300"/>
              </a:spcAft>
            </a:pPr>
            <a:r>
              <a:rPr sz="800" b="1" dirty="0">
                <a:solidFill>
                  <a:sysClr val="windowText" lastClr="000000"/>
                </a:solidFill>
                <a:latin typeface="游ゴシック" panose="020B0400000000000000" pitchFamily="50" charset="-128"/>
                <a:ea typeface="游ゴシック" panose="020B0400000000000000" pitchFamily="50" charset="-128"/>
              </a:rPr>
              <a:t>≪進行期≫</a:t>
            </a:r>
            <a:endParaRPr kumimoji="1" lang="en-US" altLang="ja-JP" sz="1200" dirty="0">
              <a:solidFill>
                <a:sysClr val="windowText" lastClr="000000"/>
              </a:solidFill>
              <a:latin typeface="游ゴシック" panose="020B0400000000000000" pitchFamily="50" charset="-128"/>
              <a:ea typeface="游ゴシック" panose="020B0400000000000000" pitchFamily="50" charset="-128"/>
            </a:endParaRPr>
          </a:p>
          <a:p>
            <a:pPr>
              <a:spcAft>
                <a:spcPts val="300"/>
              </a:spcAft>
            </a:pPr>
            <a:r>
              <a:rPr lang="ja-JP" altLang="en-US" sz="800" b="0" dirty="0">
                <a:solidFill>
                  <a:sysClr val="windowText" lastClr="000000"/>
                </a:solidFill>
                <a:latin typeface="游ゴシック" panose="020B0400000000000000" pitchFamily="50" charset="-128"/>
                <a:ea typeface="游ゴシック" panose="020B0400000000000000" pitchFamily="50" charset="-128"/>
              </a:rPr>
              <a:t>・2026年1月にペットプラザ岐阜店、2月にアクアウォーク大垣店を撤退。7か月累計は売上279,153千円（前年同期比80.9%）、営業利益6,637千円と黒字転換。</a:t>
            </a:r>
            <a:endParaRPr lang="en-US" altLang="ja-JP" sz="900" b="0" dirty="0">
              <a:solidFill>
                <a:sysClr val="windowText" lastClr="000000"/>
              </a:solidFill>
              <a:latin typeface="游ゴシック" panose="020B0400000000000000" pitchFamily="50" charset="-128"/>
              <a:ea typeface="游ゴシック" panose="020B0400000000000000" pitchFamily="50" charset="-128"/>
            </a:endParaRPr>
          </a:p>
          <a:p>
            <a:pPr>
              <a:spcAft>
                <a:spcPts val="300"/>
              </a:spcAft>
            </a:pPr>
            <a:r>
              <a:rPr sz="800" b="1" dirty="0">
                <a:solidFill>
                  <a:sysClr val="windowText" lastClr="000000"/>
                </a:solidFill>
                <a:latin typeface="游ゴシック" panose="020B0400000000000000" pitchFamily="50" charset="-128"/>
                <a:ea typeface="游ゴシック" panose="020B0400000000000000" pitchFamily="50" charset="-128"/>
              </a:rPr>
              <a:t>≪見通し≫</a:t>
            </a:r>
            <a:endParaRPr kumimoji="1" lang="en-US" altLang="ja-JP" sz="1200" dirty="0">
              <a:solidFill>
                <a:sysClr val="windowText" lastClr="000000"/>
              </a:solidFill>
              <a:latin typeface="游ゴシック" panose="020B0400000000000000" pitchFamily="50" charset="-128"/>
              <a:ea typeface="游ゴシック" panose="020B0400000000000000" pitchFamily="50" charset="-128"/>
            </a:endParaRPr>
          </a:p>
          <a:p>
            <a:pPr>
              <a:spcAft>
                <a:spcPts val="300"/>
              </a:spcAft>
            </a:pPr>
            <a:r>
              <a:rPr lang="ja-JP" altLang="en-US" sz="800" b="0" dirty="0">
                <a:solidFill>
                  <a:sysClr val="windowText" lastClr="000000"/>
                </a:solidFill>
                <a:latin typeface="游ゴシック" panose="020B0400000000000000" pitchFamily="50" charset="-128"/>
                <a:ea typeface="游ゴシック" panose="020B0400000000000000" pitchFamily="50" charset="-128"/>
              </a:rPr>
              <a:t>・上記には撤退2店舗の営業損失4,087千円が含まれ、6店舗体制の通期化で解消が見込まれる。一方、月次では減価償却費（通期実績6,349千円）が未計上のため通期では減益要因（要確認）。</a:t>
            </a:r>
            <a:endParaRPr lang="en-US" altLang="ja-JP" sz="900" b="0" dirty="0">
              <a:solidFill>
                <a:sysClr val="windowText" lastClr="000000"/>
              </a:solidFill>
              <a:latin typeface="游ゴシック" panose="020B0400000000000000" pitchFamily="50" charset="-128"/>
              <a:ea typeface="游ゴシック" panose="020B0400000000000000" pitchFamily="50" charset="-128"/>
            </a:endParaRPr>
          </a:p>
        </p:txBody>
      </p:sp>
      <p:sp>
        <p:nvSpPr>
          <p:cNvPr id="18" name="TextBox 17"/>
          <p:cNvSpPr txBox="1"/>
          <p:nvPr/>
        </p:nvSpPr>
        <p:spPr>
          <a:xfrm>
            <a:off x="295285" y="6382512"/>
            <a:ext cx="5976000" cy="174851"/>
          </a:xfrm>
          <a:prstGeom prst="rect">
            <a:avLst/>
          </a:prstGeom>
          <a:noFill/>
        </p:spPr>
        <p:txBody>
          <a:bodyPr wrap="square" lIns="36000" tIns="18000" rIns="36000" bIns="18000" anchor="t">
            <a:spAutoFit/>
          </a:bodyPr>
          <a:lstStyle/>
          <a:p>
            <a:pPr>
              <a:spcBef>
                <a:spcPts val="0"/>
              </a:spcBef>
              <a:spcAft>
                <a:spcPts val="200"/>
              </a:spcAft>
            </a:pPr>
            <a:r>
              <a:rPr sz="900" b="0" dirty="0">
                <a:solidFill>
                  <a:sysClr val="windowText" lastClr="000000"/>
                </a:solidFill>
                <a:latin typeface="游ゴシック" panose="020B0400000000000000" pitchFamily="50" charset="-128"/>
                <a:ea typeface="游ゴシック" panose="020B0400000000000000" pitchFamily="50" charset="-128"/>
              </a:rPr>
              <a:t>※EBITDA＝営業利益＋減価償却費（販管費計上分）。調整項目の考え方は案件マスターに基づく。進行期は月次で減価償却費が未計上のため調整後EBITDAは算定していない。※千円未満の端数処理により合計が一致しない場合があります。</a:t>
            </a:r>
          </a:p>
        </p:txBody>
      </p:sp>
      <p:graphicFrame>
        <p:nvGraphicFramePr>
          <p:cNvPr id="4" name="表 3">
            <a:extLst>
              <a:ext uri="{FF2B5EF4-FFF2-40B4-BE49-F238E27FC236}">
                <a16:creationId xmlns:a16="http://schemas.microsoft.com/office/drawing/2014/main" id="{09B8E7CF-D8BA-70BB-75EB-6EC7F4B67D3D}"/>
              </a:ext>
            </a:extLst>
          </p:cNvPr>
          <p:cNvGraphicFramePr>
            <a:graphicFrameLocks noGrp="1"/>
          </p:cNvGraphicFramePr>
          <p:nvPr>
            <p:extLst>
              <p:ext uri="{D42A27DB-BD31-4B8C-83A1-F6EECF244321}">
                <p14:modId xmlns:p14="http://schemas.microsoft.com/office/powerpoint/2010/main" val="1779741811"/>
              </p:ext>
            </p:extLst>
          </p:nvPr>
        </p:nvGraphicFramePr>
        <p:xfrm>
          <a:off x="311150" y="1610807"/>
          <a:ext cx="5998464" cy="4270248"/>
        </p:xfrm>
        <a:graphic>
          <a:graphicData uri="http://schemas.openxmlformats.org/drawingml/2006/table">
            <a:tbl>
              <a:tblPr/>
              <a:tblGrid>
                <a:gridCol w="1975104">
                  <a:extLst>
                    <a:ext uri="{9D8B030D-6E8A-4147-A177-3AD203B41FA5}">
                      <a16:colId xmlns:a16="http://schemas.microsoft.com/office/drawing/2014/main" val="2315921538"/>
                    </a:ext>
                  </a:extLst>
                </a:gridCol>
                <a:gridCol w="969264">
                  <a:extLst>
                    <a:ext uri="{9D8B030D-6E8A-4147-A177-3AD203B41FA5}">
                      <a16:colId xmlns:a16="http://schemas.microsoft.com/office/drawing/2014/main" val="2930658936"/>
                    </a:ext>
                  </a:extLst>
                </a:gridCol>
                <a:gridCol w="969264">
                  <a:extLst>
                    <a:ext uri="{9D8B030D-6E8A-4147-A177-3AD203B41FA5}">
                      <a16:colId xmlns:a16="http://schemas.microsoft.com/office/drawing/2014/main" val="3282667626"/>
                    </a:ext>
                  </a:extLst>
                </a:gridCol>
                <a:gridCol w="969264">
                  <a:extLst>
                    <a:ext uri="{9D8B030D-6E8A-4147-A177-3AD203B41FA5}">
                      <a16:colId xmlns:a16="http://schemas.microsoft.com/office/drawing/2014/main" val="1985302225"/>
                    </a:ext>
                  </a:extLst>
                </a:gridCol>
                <a:gridCol w="1115568">
                  <a:extLst>
                    <a:ext uri="{9D8B030D-6E8A-4147-A177-3AD203B41FA5}">
                      <a16:colId xmlns:a16="http://schemas.microsoft.com/office/drawing/2014/main" val="1985302225"/>
                    </a:ext>
                  </a:extLst>
                </a:gridCol>
              </a:tblGrid>
              <a:tr h="164592">
                <a:tc>
                  <a:txBody>
                    <a:bodyPr/>
                    <a:lstStyle/>
                    <a:p>
                      <a:pPr algn="ctr" fontAlgn="ctr">
                        <a:buNone/>
                      </a:pPr>
                      <a:r>
                        <a:rPr lang="ja-JP" sz="850" b="0" i="0" u="none" strike="noStrike">
                          <a:solidFill>
                            <a:srgbClr val="FFFFFF"/>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a:noFill/>
                    </a:lnT>
                    <a:lnB>
                      <a:noFill/>
                    </a:lnB>
                    <a:noFill/>
                  </a:tcPr>
                </a:tc>
                <a:tc>
                  <a:txBody>
                    <a:bodyPr/>
                    <a:lstStyle/>
                    <a:p>
                      <a:pPr algn="ctr" fontAlgn="ctr">
                        <a:buNone/>
                      </a:pPr>
                      <a:r>
                        <a:rPr lang="ja-JP" sz="850" b="0" i="0" u="none" strike="noStrike">
                          <a:solidFill>
                            <a:srgbClr val="FFFFFF"/>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a:noFill/>
                    </a:lnT>
                    <a:lnB>
                      <a:noFill/>
                    </a:lnB>
                    <a:noFill/>
                  </a:tcPr>
                </a:tc>
                <a:tc>
                  <a:txBody>
                    <a:bodyPr/>
                    <a:lstStyle/>
                    <a:p>
                      <a:pPr algn="ctr" fontAlgn="ctr">
                        <a:buNone/>
                      </a:pPr>
                      <a:r>
                        <a:rPr lang="ja-JP" sz="850" b="0" i="0" u="none" strike="noStrike">
                          <a:solidFill>
                            <a:srgbClr val="FFFFFF"/>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a:noFill/>
                    </a:lnT>
                    <a:lnB>
                      <a:noFill/>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a:noFill/>
                    </a:lnT>
                    <a:lnB>
                      <a:noFill/>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0" marR="0" marT="0" marB="0" anchor="ctr">
                    <a:lnL>
                      <a:noFill/>
                    </a:lnL>
                    <a:lnR>
                      <a:noFill/>
                    </a:lnR>
                    <a:lnT>
                      <a:noFill/>
                    </a:lnT>
                    <a:lnB>
                      <a:noFill/>
                    </a:lnB>
                    <a:noFill/>
                  </a:tcPr>
                </a:tc>
                <a:extLst>
                  <a:ext uri="{0D108BD9-81ED-4DB2-BD59-A6C34878D82A}">
                    <a16:rowId xmlns:a16="http://schemas.microsoft.com/office/drawing/2014/main" val="1300146245"/>
                  </a:ext>
                </a:extLst>
              </a:tr>
              <a:tr h="237744">
                <a:tc>
                  <a:txBody>
                    <a:bodyPr/>
                    <a:lstStyle/>
                    <a:p>
                      <a:pPr algn="ctr" fontAlgn="ctr">
                        <a:buNone/>
                      </a:pPr>
                      <a:r>
                        <a:rPr lang="ja-JP" sz="850" b="0" i="0" u="none" strike="noStrike">
                          <a:solidFill>
                            <a:srgbClr val="FFFFFF"/>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850" b="0" i="0" u="none" strike="noStrike">
                          <a:solidFill>
                            <a:srgbClr val="FFFFFF"/>
                          </a:solidFill>
                          <a:effectLst/>
                          <a:latin typeface="游ゴシック" panose="020B0400000000000000" pitchFamily="50" charset="-128"/>
                          <a:ea typeface="游ゴシック" panose="020B0400000000000000" pitchFamily="50" charset="-128"/>
                        </a:rPr>
                        <a:t>23年11月期</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850" b="0" i="0" u="none" strike="noStrike">
                          <a:solidFill>
                            <a:srgbClr val="FFFFFF"/>
                          </a:solidFill>
                          <a:effectLst/>
                          <a:latin typeface="游ゴシック" panose="020B0400000000000000" pitchFamily="50" charset="-128"/>
                          <a:ea typeface="游ゴシック" panose="020B0400000000000000" pitchFamily="50" charset="-128"/>
                        </a:rPr>
                        <a:t>24年11月期</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850" b="0" i="0" u="none" strike="noStrike">
                          <a:solidFill>
                            <a:srgbClr val="FFFFFF"/>
                          </a:solidFill>
                          <a:effectLst/>
                          <a:latin typeface="游ゴシック" panose="020B0400000000000000" pitchFamily="50" charset="-128"/>
                          <a:ea typeface="游ゴシック" panose="020B0400000000000000" pitchFamily="50" charset="-128"/>
                        </a:rPr>
                        <a:t>25年11月期</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850" b="0" i="0" u="none" strike="noStrike">
                          <a:solidFill>
                            <a:srgbClr val="FFFFFF"/>
                          </a:solidFill>
                          <a:effectLst/>
                          <a:latin typeface="游ゴシック" panose="020B0400000000000000" pitchFamily="50" charset="-128"/>
                          <a:ea typeface="游ゴシック" panose="020B0400000000000000" pitchFamily="50" charset="-128"/>
                        </a:rPr>
                        <a:t>進行期(7か月)</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41491395"/>
                  </a:ext>
                </a:extLst>
              </a:tr>
              <a:tr h="182880">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売上高</a:t>
                      </a:r>
                    </a:p>
                  </a:txBody>
                  <a:tcPr marL="103756"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474,428</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539,035</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558,390</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279,153</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extLst>
                  <a:ext uri="{0D108BD9-81ED-4DB2-BD59-A6C34878D82A}">
                    <a16:rowId xmlns:a16="http://schemas.microsoft.com/office/drawing/2014/main" val="724115484"/>
                  </a:ext>
                </a:extLst>
              </a:tr>
              <a:tr h="182880">
                <a:tc>
                  <a:txBody>
                    <a:bodyPr/>
                    <a:lstStyle/>
                    <a:p>
                      <a:pPr algn="r" fontAlgn="ctr">
                        <a:buNone/>
                      </a:pPr>
                      <a:r>
                        <a:rPr lang="ja-JP" sz="850" b="0" i="1" u="none" strike="noStrike">
                          <a:solidFill>
                            <a:srgbClr val="000000"/>
                          </a:solidFill>
                          <a:effectLst/>
                          <a:latin typeface="游ゴシック" panose="020B0400000000000000" pitchFamily="50" charset="-128"/>
                          <a:ea typeface="游ゴシック" panose="020B0400000000000000" pitchFamily="50" charset="-128"/>
                        </a:rPr>
                        <a:t>前期比</a:t>
                      </a:r>
                    </a:p>
                  </a:txBody>
                  <a:tcPr marL="0" marR="103756" marT="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850" b="0" i="1" u="none" strike="noStrike">
                          <a:solidFill>
                            <a:srgbClr val="000000"/>
                          </a:solidFill>
                          <a:effectLst/>
                          <a:latin typeface="Arial" panose="020B0604020202020204" pitchFamily="34" charset="0"/>
                          <a:ea typeface="游ゴシック Medium" panose="020B0500000000000000" pitchFamily="50" charset="-128"/>
                        </a:rPr>
                        <a:t>-</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50" b="0" i="1" u="none" strike="noStrike">
                          <a:solidFill>
                            <a:srgbClr val="000000"/>
                          </a:solidFill>
                          <a:effectLst/>
                          <a:latin typeface="Arial" panose="020B0604020202020204" pitchFamily="34" charset="0"/>
                          <a:ea typeface="游ゴシック Medium" panose="020B0500000000000000" pitchFamily="50" charset="-128"/>
                        </a:rPr>
                        <a:t>113.6%</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50" b="0" i="1" u="none" strike="noStrike">
                          <a:solidFill>
                            <a:srgbClr val="000000"/>
                          </a:solidFill>
                          <a:effectLst/>
                          <a:latin typeface="Arial" panose="020B0604020202020204" pitchFamily="34" charset="0"/>
                          <a:ea typeface="游ゴシック Medium" panose="020B0500000000000000" pitchFamily="50" charset="-128"/>
                        </a:rPr>
                        <a:t>103.6%</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50" b="0" i="1" u="none" strike="noStrike">
                          <a:solidFill>
                            <a:srgbClr val="000000"/>
                          </a:solidFill>
                          <a:effectLst/>
                          <a:latin typeface="Arial" panose="020B0604020202020204" pitchFamily="34" charset="0"/>
                          <a:ea typeface="游ゴシック Medium" panose="020B0500000000000000" pitchFamily="50" charset="-128"/>
                        </a:rPr>
                        <a:t>80.9%</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507957297"/>
                  </a:ext>
                </a:extLst>
              </a:tr>
              <a:tr h="182880">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売上総利益</a:t>
                      </a:r>
                    </a:p>
                  </a:txBody>
                  <a:tcPr marL="103756"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292,379</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342,931</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330,024</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174,391</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518423238"/>
                  </a:ext>
                </a:extLst>
              </a:tr>
              <a:tr h="182880">
                <a:tc>
                  <a:txBody>
                    <a:bodyPr/>
                    <a:lstStyle/>
                    <a:p>
                      <a:pPr algn="r" fontAlgn="ctr">
                        <a:buNone/>
                      </a:pPr>
                      <a:r>
                        <a:rPr lang="ja-JP" sz="850" b="0" i="1" u="none" strike="noStrike">
                          <a:solidFill>
                            <a:srgbClr val="000000"/>
                          </a:solidFill>
                          <a:effectLst/>
                          <a:latin typeface="游ゴシック" panose="020B0400000000000000" pitchFamily="50" charset="-128"/>
                          <a:ea typeface="游ゴシック" panose="020B0400000000000000" pitchFamily="50" charset="-128"/>
                        </a:rPr>
                        <a:t>利益率</a:t>
                      </a:r>
                    </a:p>
                  </a:txBody>
                  <a:tcPr marL="0" marR="103756" marT="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850" b="0" i="1" u="none" strike="noStrike">
                          <a:solidFill>
                            <a:srgbClr val="000000"/>
                          </a:solidFill>
                          <a:effectLst/>
                          <a:latin typeface="Arial" panose="020B0604020202020204" pitchFamily="34" charset="0"/>
                          <a:ea typeface="游ゴシック Medium" panose="020B0500000000000000" pitchFamily="50" charset="-128"/>
                        </a:rPr>
                        <a:t>61.6%</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50" b="0" i="1" u="none" strike="noStrike">
                          <a:solidFill>
                            <a:srgbClr val="000000"/>
                          </a:solidFill>
                          <a:effectLst/>
                          <a:latin typeface="Arial" panose="020B0604020202020204" pitchFamily="34" charset="0"/>
                          <a:ea typeface="游ゴシック Medium" panose="020B0500000000000000" pitchFamily="50" charset="-128"/>
                        </a:rPr>
                        <a:t>63.6%</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50" b="0" i="1" u="none" strike="noStrike">
                          <a:solidFill>
                            <a:srgbClr val="000000"/>
                          </a:solidFill>
                          <a:effectLst/>
                          <a:latin typeface="Arial" panose="020B0604020202020204" pitchFamily="34" charset="0"/>
                          <a:ea typeface="游ゴシック Medium" panose="020B0500000000000000" pitchFamily="50" charset="-128"/>
                        </a:rPr>
                        <a:t>59.1%</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50" b="0" i="1" u="none" strike="noStrike">
                          <a:solidFill>
                            <a:srgbClr val="000000"/>
                          </a:solidFill>
                          <a:effectLst/>
                          <a:latin typeface="Arial" panose="020B0604020202020204" pitchFamily="34" charset="0"/>
                          <a:ea typeface="游ゴシック Medium" panose="020B0500000000000000" pitchFamily="50" charset="-128"/>
                        </a:rPr>
                        <a:t>62.5%</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066104613"/>
                  </a:ext>
                </a:extLst>
              </a:tr>
              <a:tr h="182880">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営業利益</a:t>
                      </a:r>
                    </a:p>
                  </a:txBody>
                  <a:tcPr marL="103756"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50" b="0" i="0" u="none" strike="noStrike" dirty="0">
                          <a:solidFill>
                            <a:srgbClr val="000000"/>
                          </a:solidFill>
                          <a:effectLst/>
                          <a:latin typeface="Arial" panose="020B0604020202020204" pitchFamily="34" charset="0"/>
                          <a:ea typeface="游ゴシック Medium" panose="020B0500000000000000" pitchFamily="50" charset="-128"/>
                        </a:rPr>
                        <a:t>2,341</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3,022</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 19,552</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6,637</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61764439"/>
                  </a:ext>
                </a:extLst>
              </a:tr>
              <a:tr h="182880">
                <a:tc>
                  <a:txBody>
                    <a:bodyPr/>
                    <a:lstStyle/>
                    <a:p>
                      <a:pPr algn="r" fontAlgn="ctr">
                        <a:buNone/>
                      </a:pPr>
                      <a:r>
                        <a:rPr lang="ja-JP" sz="850" b="0" i="1" u="none" strike="noStrike">
                          <a:solidFill>
                            <a:srgbClr val="000000"/>
                          </a:solidFill>
                          <a:effectLst/>
                          <a:latin typeface="游ゴシック" panose="020B0400000000000000" pitchFamily="50" charset="-128"/>
                          <a:ea typeface="游ゴシック" panose="020B0400000000000000" pitchFamily="50" charset="-128"/>
                        </a:rPr>
                        <a:t>利益率</a:t>
                      </a:r>
                    </a:p>
                  </a:txBody>
                  <a:tcPr marL="0" marR="103756" marT="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850" b="0" i="1" u="none" strike="noStrike">
                          <a:solidFill>
                            <a:srgbClr val="000000"/>
                          </a:solidFill>
                          <a:effectLst/>
                          <a:latin typeface="Arial" panose="020B0604020202020204" pitchFamily="34" charset="0"/>
                          <a:ea typeface="游ゴシック Medium" panose="020B0500000000000000" pitchFamily="50" charset="-128"/>
                        </a:rPr>
                        <a:t>0.5%</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50" b="0" i="1" u="none" strike="noStrike">
                          <a:solidFill>
                            <a:srgbClr val="000000"/>
                          </a:solidFill>
                          <a:effectLst/>
                          <a:latin typeface="Arial" panose="020B0604020202020204" pitchFamily="34" charset="0"/>
                          <a:ea typeface="游ゴシック Medium" panose="020B0500000000000000" pitchFamily="50" charset="-128"/>
                        </a:rPr>
                        <a:t>0.6%</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50" b="0" i="1" u="none" strike="noStrike">
                          <a:solidFill>
                            <a:srgbClr val="000000"/>
                          </a:solidFill>
                          <a:effectLst/>
                          <a:latin typeface="Arial" panose="020B0604020202020204" pitchFamily="34" charset="0"/>
                          <a:ea typeface="游ゴシック Medium" panose="020B0500000000000000" pitchFamily="50" charset="-128"/>
                        </a:rPr>
                        <a:t>-3.5%</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50" b="0" i="1" u="none" strike="noStrike">
                          <a:solidFill>
                            <a:srgbClr val="000000"/>
                          </a:solidFill>
                          <a:effectLst/>
                          <a:latin typeface="Arial" panose="020B0604020202020204" pitchFamily="34" charset="0"/>
                          <a:ea typeface="游ゴシック Medium" panose="020B0500000000000000" pitchFamily="50" charset="-128"/>
                        </a:rPr>
                        <a:t>2.4%</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748787460"/>
                  </a:ext>
                </a:extLst>
              </a:tr>
              <a:tr h="182880">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経常利益</a:t>
                      </a:r>
                    </a:p>
                  </a:txBody>
                  <a:tcPr marL="103756"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2,528</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3,110</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 18,575</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5,814</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761077561"/>
                  </a:ext>
                </a:extLst>
              </a:tr>
              <a:tr h="182880">
                <a:tc>
                  <a:txBody>
                    <a:bodyPr/>
                    <a:lstStyle/>
                    <a:p>
                      <a:pPr algn="r" fontAlgn="ctr">
                        <a:buNone/>
                      </a:pPr>
                      <a:r>
                        <a:rPr lang="ja-JP" sz="850" b="0" i="1" u="none" strike="noStrike">
                          <a:solidFill>
                            <a:srgbClr val="000000"/>
                          </a:solidFill>
                          <a:effectLst/>
                          <a:latin typeface="游ゴシック" panose="020B0400000000000000" pitchFamily="50" charset="-128"/>
                          <a:ea typeface="游ゴシック" panose="020B0400000000000000" pitchFamily="50" charset="-128"/>
                        </a:rPr>
                        <a:t>利益率</a:t>
                      </a:r>
                    </a:p>
                  </a:txBody>
                  <a:tcPr marL="0" marR="103756" marT="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850" b="0" i="1" u="none" strike="noStrike">
                          <a:solidFill>
                            <a:srgbClr val="000000"/>
                          </a:solidFill>
                          <a:effectLst/>
                          <a:latin typeface="Arial" panose="020B0604020202020204" pitchFamily="34" charset="0"/>
                          <a:ea typeface="游ゴシック Medium" panose="020B0500000000000000" pitchFamily="50" charset="-128"/>
                        </a:rPr>
                        <a:t>0.5%</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50" b="0" i="1" u="none" strike="noStrike">
                          <a:solidFill>
                            <a:srgbClr val="000000"/>
                          </a:solidFill>
                          <a:effectLst/>
                          <a:latin typeface="Arial" panose="020B0604020202020204" pitchFamily="34" charset="0"/>
                          <a:ea typeface="游ゴシック Medium" panose="020B0500000000000000" pitchFamily="50" charset="-128"/>
                        </a:rPr>
                        <a:t>0.6%</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50" b="0" i="1" u="none" strike="noStrike">
                          <a:solidFill>
                            <a:srgbClr val="000000"/>
                          </a:solidFill>
                          <a:effectLst/>
                          <a:latin typeface="Arial" panose="020B0604020202020204" pitchFamily="34" charset="0"/>
                          <a:ea typeface="游ゴシック Medium" panose="020B0500000000000000" pitchFamily="50" charset="-128"/>
                        </a:rPr>
                        <a:t>-3.3%</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50" b="0" i="1" u="none" strike="noStrike">
                          <a:solidFill>
                            <a:srgbClr val="000000"/>
                          </a:solidFill>
                          <a:effectLst/>
                          <a:latin typeface="Arial" panose="020B0604020202020204" pitchFamily="34" charset="0"/>
                          <a:ea typeface="游ゴシック Medium" panose="020B0500000000000000" pitchFamily="50" charset="-128"/>
                        </a:rPr>
                        <a:t>2.1%</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055149150"/>
                  </a:ext>
                </a:extLst>
              </a:tr>
              <a:tr h="182880">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税引後当期純利益</a:t>
                      </a:r>
                    </a:p>
                  </a:txBody>
                  <a:tcPr marL="103756"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1,634</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974</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 20,359</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 38,187</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285010701"/>
                  </a:ext>
                </a:extLst>
              </a:tr>
              <a:tr h="182880">
                <a:tc>
                  <a:txBody>
                    <a:bodyPr/>
                    <a:lstStyle/>
                    <a:p>
                      <a:pPr algn="r" fontAlgn="ctr">
                        <a:buNone/>
                      </a:pPr>
                      <a:r>
                        <a:rPr lang="ja-JP" sz="850" b="0" i="1" u="none" strike="noStrike">
                          <a:solidFill>
                            <a:srgbClr val="000000"/>
                          </a:solidFill>
                          <a:effectLst/>
                          <a:latin typeface="游ゴシック" panose="020B0400000000000000" pitchFamily="50" charset="-128"/>
                          <a:ea typeface="游ゴシック" panose="020B0400000000000000" pitchFamily="50" charset="-128"/>
                        </a:rPr>
                        <a:t>利益率</a:t>
                      </a:r>
                    </a:p>
                  </a:txBody>
                  <a:tcPr marL="0" marR="103756" marT="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850" b="0" i="1" u="none" strike="noStrike">
                          <a:solidFill>
                            <a:srgbClr val="000000"/>
                          </a:solidFill>
                          <a:effectLst/>
                          <a:latin typeface="Arial" panose="020B0604020202020204" pitchFamily="34" charset="0"/>
                          <a:ea typeface="游ゴシック Medium" panose="020B0500000000000000" pitchFamily="50" charset="-128"/>
                        </a:rPr>
                        <a:t>0.3%</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50" b="0" i="1" u="none" strike="noStrike">
                          <a:solidFill>
                            <a:srgbClr val="000000"/>
                          </a:solidFill>
                          <a:effectLst/>
                          <a:latin typeface="Arial" panose="020B0604020202020204" pitchFamily="34" charset="0"/>
                          <a:ea typeface="游ゴシック Medium" panose="020B0500000000000000" pitchFamily="50" charset="-128"/>
                        </a:rPr>
                        <a:t>0.2%</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50" b="0" i="1" u="none" strike="noStrike">
                          <a:solidFill>
                            <a:srgbClr val="000000"/>
                          </a:solidFill>
                          <a:effectLst/>
                          <a:latin typeface="Arial" panose="020B0604020202020204" pitchFamily="34" charset="0"/>
                          <a:ea typeface="游ゴシック Medium" panose="020B0500000000000000" pitchFamily="50" charset="-128"/>
                        </a:rPr>
                        <a:t>-3.6%</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50" b="0" i="1" u="none" strike="noStrike">
                          <a:solidFill>
                            <a:srgbClr val="000000"/>
                          </a:solidFill>
                          <a:effectLst/>
                          <a:latin typeface="Arial" panose="020B0604020202020204" pitchFamily="34" charset="0"/>
                          <a:ea typeface="游ゴシック Medium" panose="020B0500000000000000" pitchFamily="50" charset="-128"/>
                        </a:rPr>
                        <a:t>-13.7%</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703587175"/>
                  </a:ext>
                </a:extLst>
              </a:tr>
              <a:tr h="91440">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　</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　</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　</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　</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183187078"/>
                  </a:ext>
                </a:extLst>
              </a:tr>
              <a:tr h="182880">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減価償却費</a:t>
                      </a:r>
                    </a:p>
                  </a:txBody>
                  <a:tcPr marL="103756"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3,911</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9,295</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6,349</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4026811624"/>
                  </a:ext>
                </a:extLst>
              </a:tr>
              <a:tr h="91440">
                <a:tc>
                  <a:txBody>
                    <a:bodyPr/>
                    <a:lstStyle/>
                    <a:p>
                      <a:pPr algn="l"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Arial" panose="020B0604020202020204" pitchFamily="34" charset="0"/>
                          <a:ea typeface="游ゴシック Medium" panose="020B0500000000000000" pitchFamily="50" charset="-128"/>
                        </a:rPr>
                        <a:t>　</a:t>
                      </a:r>
                    </a:p>
                  </a:txBody>
                  <a:tcPr marL="0" marR="103756"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Arial" panose="020B0604020202020204" pitchFamily="34" charset="0"/>
                          <a:ea typeface="游ゴシック Medium" panose="020B0500000000000000" pitchFamily="50" charset="-128"/>
                        </a:rPr>
                        <a:t>　</a:t>
                      </a:r>
                    </a:p>
                  </a:txBody>
                  <a:tcPr marL="0" marR="103756"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Arial" panose="020B0604020202020204" pitchFamily="34" charset="0"/>
                          <a:ea typeface="游ゴシック Medium" panose="020B0500000000000000" pitchFamily="50" charset="-128"/>
                        </a:rPr>
                        <a:t>　</a:t>
                      </a:r>
                    </a:p>
                  </a:txBody>
                  <a:tcPr marL="0" marR="103756"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Arial" panose="020B0604020202020204" pitchFamily="34" charset="0"/>
                          <a:ea typeface="游ゴシック Medium" panose="020B0500000000000000" pitchFamily="50" charset="-128"/>
                        </a:rPr>
                        <a:t>　</a:t>
                      </a:r>
                    </a:p>
                  </a:txBody>
                  <a:tcPr marL="0" marR="103756"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998580123"/>
                  </a:ext>
                </a:extLst>
              </a:tr>
              <a:tr h="173736">
                <a:tc>
                  <a:txBody>
                    <a:bodyPr/>
                    <a:lstStyle/>
                    <a:p>
                      <a:pPr algn="l"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調整項目 合計</a:t>
                      </a:r>
                    </a:p>
                  </a:txBody>
                  <a:tcPr marL="103756"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50" b="1" i="0" u="none" strike="noStrike">
                          <a:solidFill>
                            <a:srgbClr val="000000"/>
                          </a:solidFill>
                          <a:effectLst/>
                          <a:latin typeface="Arial" panose="020B0604020202020204" pitchFamily="34" charset="0"/>
                          <a:ea typeface="游ゴシック Medium" panose="020B0500000000000000" pitchFamily="50" charset="-128"/>
                        </a:rPr>
                        <a:t>8,856</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Arial" panose="020B0604020202020204" pitchFamily="34" charset="0"/>
                          <a:ea typeface="游ゴシック Medium" panose="020B0500000000000000" pitchFamily="50" charset="-128"/>
                        </a:rPr>
                        <a:t>20,449</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Arial" panose="020B0604020202020204" pitchFamily="34" charset="0"/>
                          <a:ea typeface="游ゴシック Medium" panose="020B0500000000000000" pitchFamily="50" charset="-128"/>
                        </a:rPr>
                        <a:t>19,884</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Arial" panose="020B0604020202020204" pitchFamily="34" charset="0"/>
                          <a:ea typeface="游ゴシック Medium" panose="020B0500000000000000" pitchFamily="50" charset="-128"/>
                        </a:rPr>
                        <a:t>－</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1891433011"/>
                  </a:ext>
                </a:extLst>
              </a:tr>
              <a:tr h="173736">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　役員報酬（退任予定）</a:t>
                      </a:r>
                    </a:p>
                  </a:txBody>
                  <a:tcPr marL="207512"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9,600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9,600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14,400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166449910"/>
                  </a:ext>
                </a:extLst>
              </a:tr>
              <a:tr h="173736">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　役員報酬（派遣想定）</a:t>
                      </a:r>
                    </a:p>
                  </a:txBody>
                  <a:tcPr marL="207512"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 9,600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 9,600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 14,400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641927004"/>
                  </a:ext>
                </a:extLst>
              </a:tr>
              <a:tr h="173736">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　現場責任者人件費の振替</a:t>
                      </a:r>
                    </a:p>
                  </a:txBody>
                  <a:tcPr marL="207512"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8,831</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8,183</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641927004"/>
                  </a:ext>
                </a:extLst>
              </a:tr>
              <a:tr h="173736">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　非事業用車両リース料</a:t>
                      </a:r>
                    </a:p>
                  </a:txBody>
                  <a:tcPr marL="207512"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2,386</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3,154</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5,604</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641927004"/>
                  </a:ext>
                </a:extLst>
              </a:tr>
              <a:tr h="173736">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　接待交際費（超過分）</a:t>
                      </a:r>
                    </a:p>
                  </a:txBody>
                  <a:tcPr marL="207512"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4,453</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6,230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4,218</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641927004"/>
                  </a:ext>
                </a:extLst>
              </a:tr>
              <a:tr h="173736">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　生命保険料（非事業性）</a:t>
                      </a:r>
                    </a:p>
                  </a:txBody>
                  <a:tcPr marL="207512"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696</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1,599</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1,224</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641927004"/>
                  </a:ext>
                </a:extLst>
              </a:tr>
              <a:tr h="173736">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　雑収入（社員割引）</a:t>
                      </a:r>
                    </a:p>
                  </a:txBody>
                  <a:tcPr marL="207512"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1,321</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635</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655</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641927004"/>
                  </a:ext>
                </a:extLst>
              </a:tr>
              <a:tr h="91440">
                <a:tc>
                  <a:txBody>
                    <a:bodyPr/>
                    <a:lstStyle/>
                    <a:p>
                      <a:pPr algn="l"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a:noFill/>
                    </a:lnT>
                    <a:lnB w="19050" cap="flat" cmpd="sng" algn="ctr">
                      <a:solidFill>
                        <a:srgbClr val="0889C9"/>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Arial" panose="020B0604020202020204" pitchFamily="34" charset="0"/>
                          <a:ea typeface="游ゴシック Medium" panose="020B0500000000000000" pitchFamily="50" charset="-128"/>
                        </a:rPr>
                        <a:t>　</a:t>
                      </a:r>
                    </a:p>
                  </a:txBody>
                  <a:tcPr marL="0" marR="0" marT="0" marB="0" anchor="ctr">
                    <a:lnL>
                      <a:noFill/>
                    </a:lnL>
                    <a:lnR>
                      <a:noFill/>
                    </a:lnR>
                    <a:lnT>
                      <a:noFill/>
                    </a:lnT>
                    <a:lnB w="19050" cap="flat" cmpd="sng" algn="ctr">
                      <a:solidFill>
                        <a:srgbClr val="0889C9"/>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Arial" panose="020B0604020202020204" pitchFamily="34" charset="0"/>
                          <a:ea typeface="游ゴシック Medium" panose="020B0500000000000000" pitchFamily="50" charset="-128"/>
                        </a:rPr>
                        <a:t>　</a:t>
                      </a:r>
                    </a:p>
                  </a:txBody>
                  <a:tcPr marL="0" marR="0" marT="0" marB="0" anchor="ctr">
                    <a:lnL>
                      <a:noFill/>
                    </a:lnL>
                    <a:lnR>
                      <a:noFill/>
                    </a:lnR>
                    <a:lnT>
                      <a:noFill/>
                    </a:lnT>
                    <a:lnB w="19050" cap="flat" cmpd="sng" algn="ctr">
                      <a:solidFill>
                        <a:srgbClr val="0889C9"/>
                      </a:solidFill>
                      <a:prstDash val="solid"/>
                      <a:round/>
                      <a:headEnd type="none" w="med" len="med"/>
                      <a:tailEnd type="none" w="med" len="med"/>
                    </a:lnB>
                    <a:noFill/>
                  </a:tcPr>
                </a:tc>
                <a:tc>
                  <a:txBody>
                    <a:bodyPr/>
                    <a:lstStyle/>
                    <a:p>
                      <a:pPr algn="r" fontAlgn="ctr">
                        <a:buNone/>
                      </a:pPr>
                      <a:r>
                        <a:rPr lang="ja-JP" sz="850" b="1" i="0" u="none" strike="noStrike" dirty="0">
                          <a:solidFill>
                            <a:srgbClr val="000000"/>
                          </a:solidFill>
                          <a:effectLst/>
                          <a:latin typeface="Arial" panose="020B0604020202020204" pitchFamily="34" charset="0"/>
                          <a:ea typeface="游ゴシック Medium" panose="020B0500000000000000" pitchFamily="50" charset="-128"/>
                        </a:rPr>
                        <a:t>　</a:t>
                      </a:r>
                    </a:p>
                  </a:txBody>
                  <a:tcPr marL="0" marR="0" marT="0" marB="0" anchor="ctr">
                    <a:lnL>
                      <a:noFill/>
                    </a:lnL>
                    <a:lnR>
                      <a:noFill/>
                    </a:lnR>
                    <a:lnT>
                      <a:noFill/>
                    </a:lnT>
                    <a:lnB w="19050" cap="flat" cmpd="sng" algn="ctr">
                      <a:solidFill>
                        <a:srgbClr val="0889C9"/>
                      </a:solidFill>
                      <a:prstDash val="solid"/>
                      <a:round/>
                      <a:headEnd type="none" w="med" len="med"/>
                      <a:tailEnd type="none" w="med" len="med"/>
                    </a:lnB>
                    <a:noFill/>
                  </a:tcPr>
                </a:tc>
                <a:tc>
                  <a:txBody>
                    <a:bodyPr/>
                    <a:lstStyle/>
                    <a:p>
                      <a:pPr algn="r" fontAlgn="ctr">
                        <a:buNone/>
                      </a:pPr>
                      <a:r>
                        <a:rPr lang="ja-JP" sz="850" b="1" i="0" u="none" strike="noStrike" dirty="0">
                          <a:solidFill>
                            <a:srgbClr val="000000"/>
                          </a:solidFill>
                          <a:effectLst/>
                          <a:latin typeface="Arial" panose="020B0604020202020204" pitchFamily="34" charset="0"/>
                          <a:ea typeface="游ゴシック Medium" panose="020B0500000000000000" pitchFamily="50" charset="-128"/>
                        </a:rPr>
                        <a:t>　</a:t>
                      </a:r>
                    </a:p>
                  </a:txBody>
                  <a:tcPr marL="0" marR="0" marT="0" marB="0" anchor="ctr">
                    <a:lnL>
                      <a:noFill/>
                    </a:lnL>
                    <a:lnR>
                      <a:noFill/>
                    </a:lnR>
                    <a:lnT>
                      <a:noFill/>
                    </a:lnT>
                    <a:lnB w="19050" cap="flat" cmpd="sng" algn="ctr">
                      <a:solidFill>
                        <a:srgbClr val="0889C9"/>
                      </a:solidFill>
                      <a:prstDash val="solid"/>
                      <a:round/>
                      <a:headEnd type="none" w="med" len="med"/>
                      <a:tailEnd type="none" w="med" len="med"/>
                    </a:lnB>
                    <a:noFill/>
                  </a:tcPr>
                </a:tc>
                <a:extLst>
                  <a:ext uri="{0D108BD9-81ED-4DB2-BD59-A6C34878D82A}">
                    <a16:rowId xmlns:a16="http://schemas.microsoft.com/office/drawing/2014/main" val="129666250"/>
                  </a:ext>
                </a:extLst>
              </a:tr>
              <a:tr h="192024">
                <a:tc>
                  <a:txBody>
                    <a:bodyPr/>
                    <a:lstStyle/>
                    <a:p>
                      <a:pPr algn="l"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調整後EBITDA</a:t>
                      </a:r>
                    </a:p>
                  </a:txBody>
                  <a:tcPr marL="103756" marR="0" marT="0" marB="0" anchor="ctr">
                    <a:lnL>
                      <a:noFill/>
                    </a:lnL>
                    <a:lnR w="6350" cap="flat" cmpd="sng" algn="ctr">
                      <a:solidFill>
                        <a:srgbClr val="FFFFFF"/>
                      </a:solidFill>
                      <a:prstDash val="solid"/>
                      <a:round/>
                      <a:headEnd type="none" w="med" len="med"/>
                      <a:tailEnd type="none" w="med" len="med"/>
                    </a:lnR>
                    <a:lnT w="19050" cap="flat" cmpd="sng" algn="ctr">
                      <a:solidFill>
                        <a:srgbClr val="0889C9"/>
                      </a:solidFill>
                      <a:prstDash val="solid"/>
                      <a:round/>
                      <a:headEnd type="none" w="med" len="med"/>
                      <a:tailEnd type="none" w="med" len="med"/>
                    </a:lnT>
                    <a:lnB w="19050" cap="flat" cmpd="sng" algn="ctr">
                      <a:solidFill>
                        <a:srgbClr val="0889C9"/>
                      </a:solidFill>
                      <a:prstDash val="solid"/>
                      <a:round/>
                      <a:headEnd type="none" w="med" len="med"/>
                      <a:tailEnd type="none" w="med" len="med"/>
                    </a:lnB>
                    <a:solidFill>
                      <a:srgbClr val="E1F3FB"/>
                    </a:solidFill>
                  </a:tcPr>
                </a:tc>
                <a:tc>
                  <a:txBody>
                    <a:bodyPr/>
                    <a:lstStyle/>
                    <a:p>
                      <a:pPr algn="r" fontAlgn="ctr">
                        <a:buNone/>
                      </a:pPr>
                      <a:r>
                        <a:rPr lang="ja-JP" sz="850" b="1" i="0" u="none" strike="noStrike">
                          <a:solidFill>
                            <a:srgbClr val="000000"/>
                          </a:solidFill>
                          <a:effectLst/>
                          <a:latin typeface="Arial" panose="020B0604020202020204" pitchFamily="34" charset="0"/>
                          <a:ea typeface="游ゴシック Medium" panose="020B0500000000000000" pitchFamily="50" charset="-128"/>
                        </a:rPr>
                        <a:t>15,108</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0889C9"/>
                      </a:solidFill>
                      <a:prstDash val="solid"/>
                      <a:round/>
                      <a:headEnd type="none" w="med" len="med"/>
                      <a:tailEnd type="none" w="med" len="med"/>
                    </a:lnT>
                    <a:lnB w="19050" cap="flat" cmpd="sng" algn="ctr">
                      <a:solidFill>
                        <a:srgbClr val="0889C9"/>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Arial" panose="020B0604020202020204" pitchFamily="34" charset="0"/>
                          <a:ea typeface="游ゴシック Medium" panose="020B0500000000000000" pitchFamily="50" charset="-128"/>
                        </a:rPr>
                        <a:t>32,766</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0889C9"/>
                      </a:solidFill>
                      <a:prstDash val="solid"/>
                      <a:round/>
                      <a:headEnd type="none" w="med" len="med"/>
                      <a:tailEnd type="none" w="med" len="med"/>
                    </a:lnT>
                    <a:lnB w="19050" cap="flat" cmpd="sng" algn="ctr">
                      <a:solidFill>
                        <a:srgbClr val="0889C9"/>
                      </a:solidFill>
                      <a:prstDash val="solid"/>
                      <a:round/>
                      <a:headEnd type="none" w="med" len="med"/>
                      <a:tailEnd type="none" w="med" len="med"/>
                    </a:lnB>
                    <a:noFill/>
                  </a:tcPr>
                </a:tc>
                <a:tc>
                  <a:txBody>
                    <a:bodyPr/>
                    <a:lstStyle/>
                    <a:p>
                      <a:pPr algn="r" fontAlgn="ctr">
                        <a:buNone/>
                      </a:pPr>
                      <a:r>
                        <a:rPr lang="ja-JP" sz="850" b="1" i="0" u="none" strike="noStrike" dirty="0">
                          <a:solidFill>
                            <a:srgbClr val="000000"/>
                          </a:solidFill>
                          <a:effectLst/>
                          <a:latin typeface="Arial" panose="020B0604020202020204" pitchFamily="34" charset="0"/>
                          <a:ea typeface="游ゴシック Medium" panose="020B0500000000000000" pitchFamily="50" charset="-128"/>
                        </a:rPr>
                        <a:t>6,681</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0889C9"/>
                      </a:solidFill>
                      <a:prstDash val="solid"/>
                      <a:round/>
                      <a:headEnd type="none" w="med" len="med"/>
                      <a:tailEnd type="none" w="med" len="med"/>
                    </a:lnT>
                    <a:lnB w="19050" cap="flat" cmpd="sng" algn="ctr">
                      <a:solidFill>
                        <a:srgbClr val="0889C9"/>
                      </a:solidFill>
                      <a:prstDash val="solid"/>
                      <a:round/>
                      <a:headEnd type="none" w="med" len="med"/>
                      <a:tailEnd type="none" w="med" len="med"/>
                    </a:lnB>
                    <a:noFill/>
                  </a:tcPr>
                </a:tc>
                <a:tc>
                  <a:txBody>
                    <a:bodyPr/>
                    <a:lstStyle/>
                    <a:p>
                      <a:pPr algn="r" fontAlgn="ctr">
                        <a:buNone/>
                      </a:pPr>
                      <a:r>
                        <a:rPr lang="ja-JP" sz="850" b="1" i="0" u="none" strike="noStrike" dirty="0">
                          <a:solidFill>
                            <a:srgbClr val="000000"/>
                          </a:solidFill>
                          <a:effectLst/>
                          <a:latin typeface="Arial" panose="020B0604020202020204" pitchFamily="34" charset="0"/>
                          <a:ea typeface="游ゴシック Medium" panose="020B0500000000000000" pitchFamily="50" charset="-128"/>
                        </a:rPr>
                        <a:t>－</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0889C9"/>
                      </a:solidFill>
                      <a:prstDash val="solid"/>
                      <a:round/>
                      <a:headEnd type="none" w="med" len="med"/>
                      <a:tailEnd type="none" w="med" len="med"/>
                    </a:lnT>
                    <a:lnB w="19050" cap="flat" cmpd="sng" algn="ctr">
                      <a:solidFill>
                        <a:srgbClr val="0889C9"/>
                      </a:solidFill>
                      <a:prstDash val="solid"/>
                      <a:round/>
                      <a:headEnd type="none" w="med" len="med"/>
                      <a:tailEnd type="none" w="med" len="med"/>
                    </a:lnB>
                    <a:noFill/>
                  </a:tcPr>
                </a:tc>
                <a:extLst>
                  <a:ext uri="{0D108BD9-81ED-4DB2-BD59-A6C34878D82A}">
                    <a16:rowId xmlns:a16="http://schemas.microsoft.com/office/drawing/2014/main" val="3312068535"/>
                  </a:ext>
                </a:extLst>
              </a:tr>
            </a:tbl>
          </a:graphicData>
        </a:graphic>
      </p:graphicFrame>
      <p:sp>
        <p:nvSpPr>
          <p:cNvPr id="7" name="テキスト ボックス 6">
            <a:extLst>
              <a:ext uri="{FF2B5EF4-FFF2-40B4-BE49-F238E27FC236}">
                <a16:creationId xmlns:a16="http://schemas.microsoft.com/office/drawing/2014/main" id="{0F97EF78-0317-2D34-6B5B-762C46150F67}"/>
              </a:ext>
            </a:extLst>
          </p:cNvPr>
          <p:cNvSpPr txBox="1"/>
          <p:nvPr/>
        </p:nvSpPr>
        <p:spPr>
          <a:xfrm>
            <a:off x="6455664" y="5010912"/>
            <a:ext cx="3912257" cy="2011680"/>
          </a:xfrm>
          <a:prstGeom prst="rect">
            <a:avLst/>
          </a:prstGeom>
          <a:noFill/>
        </p:spPr>
        <p:txBody>
          <a:bodyPr wrap="square" lIns="288000" tIns="0" rIns="252000" bIns="0" rtlCol="0">
            <a:spAutoFit/>
          </a:bodyPr>
          <a:lstStyle/>
          <a:p>
            <a:pPr>
              <a:spcAft>
                <a:spcPts val="300"/>
              </a:spcAft>
            </a:pPr>
            <a:r>
              <a:rPr lang="en-US" altLang="ja-JP" sz="800" b="1" dirty="0">
                <a:solidFill>
                  <a:sysClr val="windowText" lastClr="000000"/>
                </a:solidFill>
                <a:latin typeface="游ゴシック" panose="020B0400000000000000" pitchFamily="50" charset="-128"/>
                <a:ea typeface="游ゴシック" panose="020B0400000000000000" pitchFamily="50" charset="-128"/>
              </a:rPr>
              <a:t>【調整項目】</a:t>
            </a:r>
          </a:p>
          <a:p>
            <a:pPr>
              <a:spcAft>
                <a:spcPts val="300"/>
              </a:spcAft>
            </a:pPr>
            <a:r>
              <a:rPr lang="en-US" altLang="ja-JP" sz="800" b="1" dirty="0">
                <a:solidFill>
                  <a:sysClr val="windowText" lastClr="000000"/>
                </a:solidFill>
                <a:latin typeface="游ゴシック" panose="020B0400000000000000" pitchFamily="50" charset="-128"/>
                <a:ea typeface="游ゴシック" panose="020B0400000000000000" pitchFamily="50" charset="-128"/>
              </a:rPr>
              <a:t>≪役員報酬≫代表者は引継完了後に退任、現場責任者が同水準（14,400千円）で役員就任する前提。退任分を戻し同額を後任分として控除</a:t>
            </a:r>
          </a:p>
          <a:p>
            <a:pPr>
              <a:spcAft>
                <a:spcPts val="300"/>
              </a:spcAft>
            </a:pPr>
            <a:r>
              <a:rPr lang="en-US" altLang="ja-JP" sz="800" b="1" dirty="0">
                <a:solidFill>
                  <a:sysClr val="windowText" lastClr="000000"/>
                </a:solidFill>
                <a:latin typeface="游ゴシック" panose="020B0400000000000000" pitchFamily="50" charset="-128"/>
                <a:ea typeface="游ゴシック" panose="020B0400000000000000" pitchFamily="50" charset="-128"/>
              </a:rPr>
              <a:t>≪現場責任者人件費≫上記に伴い従業員給与としての計上分を戻し入れ</a:t>
            </a:r>
          </a:p>
          <a:p>
            <a:pPr>
              <a:spcAft>
                <a:spcPts val="300"/>
              </a:spcAft>
            </a:pPr>
            <a:r>
              <a:rPr lang="en-US" altLang="ja-JP" sz="800" b="1" dirty="0">
                <a:solidFill>
                  <a:sysClr val="windowText" lastClr="000000"/>
                </a:solidFill>
                <a:latin typeface="游ゴシック" panose="020B0400000000000000" pitchFamily="50" charset="-128"/>
                <a:ea typeface="游ゴシック" panose="020B0400000000000000" pitchFamily="50" charset="-128"/>
              </a:rPr>
              <a:t>≪リース料・接待交際費・保険料≫本件実行後に発生しない費用を戻し入れ（接待交際費は適正水準4,000千円との差額）</a:t>
            </a:r>
          </a:p>
          <a:p>
            <a:pPr>
              <a:spcAft>
                <a:spcPts val="300"/>
              </a:spcAft>
            </a:pPr>
            <a:r>
              <a:rPr lang="en-US" altLang="ja-JP" sz="800" b="1" dirty="0">
                <a:solidFill>
                  <a:sysClr val="windowText" lastClr="000000"/>
                </a:solidFill>
                <a:latin typeface="游ゴシック" panose="020B0400000000000000" pitchFamily="50" charset="-128"/>
                <a:ea typeface="游ゴシック" panose="020B0400000000000000" pitchFamily="50" charset="-128"/>
              </a:rPr>
              <a:t>≪雑収入≫経常的に発生する社員割引分を加算</a:t>
            </a:r>
          </a:p>
          <a:p>
            <a:pPr>
              <a:spcAft>
                <a:spcPts val="300"/>
              </a:spcAft>
            </a:pPr>
            <a:r>
              <a:rPr lang="en-US" altLang="ja-JP" sz="800" b="1" dirty="0">
                <a:solidFill>
                  <a:sysClr val="windowText" lastClr="000000"/>
                </a:solidFill>
                <a:latin typeface="游ゴシック" panose="020B0400000000000000" pitchFamily="50" charset="-128"/>
                <a:ea typeface="游ゴシック" panose="020B0400000000000000" pitchFamily="50" charset="-128"/>
              </a:rPr>
              <a:t>✓ 調整後EBITDA（3期平均）18,185千円／直近2期平均 19,724千円</a:t>
            </a:r>
          </a:p>
        </p:txBody>
      </p:sp>
    </p:spTree>
    <p:extLst>
      <p:ext uri="{BB962C8B-B14F-4D97-AF65-F5344CB8AC3E}">
        <p14:creationId xmlns:p14="http://schemas.microsoft.com/office/powerpoint/2010/main" val="30165897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25D46-8BE9-D21F-8F78-292CE6E9B929}"/>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2AA39DD4-3E77-6023-715D-76F64D8C46A7}"/>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財務ハイライト（B/S）</a:t>
            </a:r>
          </a:p>
        </p:txBody>
      </p:sp>
      <p:sp>
        <p:nvSpPr>
          <p:cNvPr id="5" name="タイトル 1">
            <a:extLst>
              <a:ext uri="{FF2B5EF4-FFF2-40B4-BE49-F238E27FC236}">
                <a16:creationId xmlns:a16="http://schemas.microsoft.com/office/drawing/2014/main" id="{393BEF8A-36B7-CC08-2D29-C971912378C9}"/>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エグゼクティブサマリー</a:t>
            </a:r>
          </a:p>
        </p:txBody>
      </p:sp>
      <p:sp>
        <p:nvSpPr>
          <p:cNvPr id="11" name="字幕 13">
            <a:extLst>
              <a:ext uri="{FF2B5EF4-FFF2-40B4-BE49-F238E27FC236}">
                <a16:creationId xmlns:a16="http://schemas.microsoft.com/office/drawing/2014/main" id="{4BDEA35E-AAC5-A70B-357F-0FB600B4A83F}"/>
              </a:ext>
            </a:extLst>
          </p:cNvPr>
          <p:cNvSpPr>
            <a:spLocks noGrp="1"/>
          </p:cNvSpPr>
          <p:nvPr>
            <p:ph type="subTitle" idx="1"/>
          </p:nvPr>
        </p:nvSpPr>
        <p:spPr>
          <a:xfrm>
            <a:off x="460675" y="830046"/>
            <a:ext cx="9781875" cy="801343"/>
          </a:xfrm>
        </p:spPr>
        <p:txBody>
          <a:bodyPr>
            <a:noAutofit/>
          </a:bodyPr>
          <a:lstStyle/>
          <a:p>
            <a:r>
              <a:rPr lang="ja-JP" altLang="en-US" dirty="0">
                <a:latin typeface="游ゴシック" panose="020B0400000000000000" pitchFamily="50" charset="-128"/>
                <a:ea typeface="游ゴシック" panose="020B0400000000000000" pitchFamily="50" charset="-128"/>
              </a:rPr>
              <a:t>2025年11月期末の純資産は△14,057千円と債務超過。進行期は2026年3月に棚卸資産廃棄損44,000千円を計上したことにより、2026年6月末の純資産は△52,244千円となっている。</a:t>
            </a:r>
            <a:endParaRPr lang="en-US" altLang="ja-JP" dirty="0">
              <a:latin typeface="游ゴシック" panose="020B0400000000000000" pitchFamily="50" charset="-128"/>
              <a:ea typeface="游ゴシック" panose="020B0400000000000000" pitchFamily="50" charset="-128"/>
            </a:endParaRPr>
          </a:p>
        </p:txBody>
      </p:sp>
      <p:sp>
        <p:nvSpPr>
          <p:cNvPr id="2" name="正方形/長方形 1">
            <a:extLst>
              <a:ext uri="{FF2B5EF4-FFF2-40B4-BE49-F238E27FC236}">
                <a16:creationId xmlns:a16="http://schemas.microsoft.com/office/drawing/2014/main" id="{612EABB3-CE7D-61AA-49A7-0C5A39CB2F7F}"/>
              </a:ext>
            </a:extLst>
          </p:cNvPr>
          <p:cNvSpPr/>
          <p:nvPr/>
        </p:nvSpPr>
        <p:spPr>
          <a:xfrm>
            <a:off x="6263640" y="1714131"/>
            <a:ext cx="4087368" cy="5296269"/>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游ゴシック" panose="020B0400000000000000" pitchFamily="50" charset="-128"/>
                <a:ea typeface="游ゴシック" panose="020B0400000000000000" pitchFamily="50" charset="-128"/>
              </a:rPr>
              <a:t>Comment</a:t>
            </a:r>
            <a:endParaRPr kumimoji="1" lang="ja-JP" altLang="en-US" sz="1600" b="1" dirty="0">
              <a:solidFill>
                <a:schemeClr val="tx2"/>
              </a:solidFill>
              <a:latin typeface="游ゴシック" panose="020B0400000000000000" pitchFamily="50" charset="-128"/>
              <a:ea typeface="游ゴシック" panose="020B0400000000000000" pitchFamily="50" charset="-128"/>
            </a:endParaRPr>
          </a:p>
        </p:txBody>
      </p:sp>
      <p:graphicFrame>
        <p:nvGraphicFramePr>
          <p:cNvPr id="10" name="表 9">
            <a:extLst>
              <a:ext uri="{FF2B5EF4-FFF2-40B4-BE49-F238E27FC236}">
                <a16:creationId xmlns:a16="http://schemas.microsoft.com/office/drawing/2014/main" id="{EC917954-C9CC-A8BB-CE8B-2313B621CAA9}"/>
              </a:ext>
            </a:extLst>
          </p:cNvPr>
          <p:cNvGraphicFramePr>
            <a:graphicFrameLocks noGrp="1"/>
          </p:cNvGraphicFramePr>
          <p:nvPr>
            <p:extLst>
              <p:ext uri="{D42A27DB-BD31-4B8C-83A1-F6EECF244321}">
                <p14:modId xmlns:p14="http://schemas.microsoft.com/office/powerpoint/2010/main" val="1651202635"/>
              </p:ext>
            </p:extLst>
          </p:nvPr>
        </p:nvGraphicFramePr>
        <p:xfrm>
          <a:off x="341312" y="1465132"/>
          <a:ext cx="5833872" cy="4882896"/>
        </p:xfrm>
        <a:graphic>
          <a:graphicData uri="http://schemas.openxmlformats.org/drawingml/2006/table">
            <a:tbl>
              <a:tblPr/>
              <a:tblGrid>
                <a:gridCol w="1207008">
                  <a:extLst>
                    <a:ext uri="{9D8B030D-6E8A-4147-A177-3AD203B41FA5}">
                      <a16:colId xmlns:a16="http://schemas.microsoft.com/office/drawing/2014/main" val="3288712095"/>
                    </a:ext>
                  </a:extLst>
                </a:gridCol>
                <a:gridCol w="822960">
                  <a:extLst>
                    <a:ext uri="{9D8B030D-6E8A-4147-A177-3AD203B41FA5}">
                      <a16:colId xmlns:a16="http://schemas.microsoft.com/office/drawing/2014/main" val="1763953894"/>
                    </a:ext>
                  </a:extLst>
                </a:gridCol>
                <a:gridCol w="822960">
                  <a:extLst>
                    <a:ext uri="{9D8B030D-6E8A-4147-A177-3AD203B41FA5}">
                      <a16:colId xmlns:a16="http://schemas.microsoft.com/office/drawing/2014/main" val="1763953894"/>
                    </a:ext>
                  </a:extLst>
                </a:gridCol>
                <a:gridCol w="128016">
                  <a:extLst>
                    <a:ext uri="{9D8B030D-6E8A-4147-A177-3AD203B41FA5}">
                      <a16:colId xmlns:a16="http://schemas.microsoft.com/office/drawing/2014/main" val="425085564"/>
                    </a:ext>
                  </a:extLst>
                </a:gridCol>
                <a:gridCol w="1207008">
                  <a:extLst>
                    <a:ext uri="{9D8B030D-6E8A-4147-A177-3AD203B41FA5}">
                      <a16:colId xmlns:a16="http://schemas.microsoft.com/office/drawing/2014/main" val="529330877"/>
                    </a:ext>
                  </a:extLst>
                </a:gridCol>
                <a:gridCol w="822960">
                  <a:extLst>
                    <a:ext uri="{9D8B030D-6E8A-4147-A177-3AD203B41FA5}">
                      <a16:colId xmlns:a16="http://schemas.microsoft.com/office/drawing/2014/main" val="1796373806"/>
                    </a:ext>
                  </a:extLst>
                </a:gridCol>
                <a:gridCol w="822960">
                  <a:extLst>
                    <a:ext uri="{9D8B030D-6E8A-4147-A177-3AD203B41FA5}">
                      <a16:colId xmlns:a16="http://schemas.microsoft.com/office/drawing/2014/main" val="1796373806"/>
                    </a:ext>
                  </a:extLst>
                </a:gridCol>
              </a:tblGrid>
              <a:tr h="164592">
                <a:tc>
                  <a:txBody>
                    <a:bodyPr/>
                    <a:lstStyle/>
                    <a:p>
                      <a:pPr algn="ctr" fontAlgn="ctr">
                        <a:buNone/>
                      </a:pPr>
                      <a:r>
                        <a:rPr lang="ja-JP" sz="800" b="0" i="0" u="none" strike="noStrike">
                          <a:solidFill>
                            <a:srgbClr val="FFFFFF"/>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a:t>
                      </a:r>
                    </a:p>
                  </a:txBody>
                  <a:tcPr marL="0" marR="0" marT="0"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a:t>
                      </a:r>
                    </a:p>
                  </a:txBody>
                  <a:tcPr marL="0" marR="0" marT="0"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a:noFill/>
                    </a:lnT>
                    <a:lnB>
                      <a:noFill/>
                    </a:lnB>
                    <a:noFill/>
                  </a:tcPr>
                </a:tc>
                <a:tc>
                  <a:txBody>
                    <a:bodyPr/>
                    <a:lstStyle/>
                    <a:p>
                      <a:pPr algn="l"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a:noFill/>
                    </a:lnT>
                    <a:lnB>
                      <a:noFill/>
                    </a:lnB>
                    <a:noFill/>
                  </a:tcPr>
                </a:tc>
                <a:tc>
                  <a:txBody>
                    <a:bodyPr/>
                    <a:lstStyle/>
                    <a:p>
                      <a:pPr algn="l"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(単位：千円)</a:t>
                      </a:r>
                    </a:p>
                  </a:txBody>
                  <a:tcPr marL="0" marR="0" marT="0" marB="0" anchor="ctr">
                    <a:lnL>
                      <a:noFill/>
                    </a:lnL>
                    <a:lnR>
                      <a:noFill/>
                    </a:lnR>
                    <a:lnT>
                      <a:noFill/>
                    </a:lnT>
                    <a:lnB>
                      <a:noFill/>
                    </a:lnB>
                    <a:noFill/>
                  </a:tcPr>
                </a:tc>
                <a:extLst>
                  <a:ext uri="{0D108BD9-81ED-4DB2-BD59-A6C34878D82A}">
                    <a16:rowId xmlns:a16="http://schemas.microsoft.com/office/drawing/2014/main" val="2920009427"/>
                  </a:ext>
                </a:extLst>
              </a:tr>
              <a:tr h="365760">
                <a:tc>
                  <a:txBody>
                    <a:bodyPr/>
                    <a:lstStyle/>
                    <a:p>
                      <a:pPr algn="ctr" fontAlgn="ctr">
                        <a:buNone/>
                      </a:pPr>
                      <a:r>
                        <a:rPr lang="ja-JP" sz="800" b="0" i="0" u="none" strike="noStrike">
                          <a:solidFill>
                            <a:srgbClr val="FFFFFF"/>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FFFFFF"/>
                      </a:solidFill>
                      <a:prstDash val="solid"/>
                      <a:round/>
                      <a:headEnd type="none" w="med" len="med"/>
                      <a:tailEnd type="none" w="med" len="med"/>
                    </a:lnL>
                    <a:lnR>
                      <a:noFill/>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25年11月期
（決算）</a:t>
                      </a:r>
                    </a:p>
                  </a:txBody>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26年6月末
（進行期TB）</a:t>
                      </a:r>
                    </a:p>
                  </a:txBody>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25年11月期
（決算）</a:t>
                      </a:r>
                    </a:p>
                  </a:txBody>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26年6月末
（進行期TB）</a:t>
                      </a:r>
                    </a:p>
                  </a:txBody>
                  <a:tcPr/>
                </a:tc>
                <a:extLst>
                  <a:ext uri="{0D108BD9-81ED-4DB2-BD59-A6C34878D82A}">
                    <a16:rowId xmlns:a16="http://schemas.microsoft.com/office/drawing/2014/main" val="149450412"/>
                  </a:ext>
                </a:extLst>
              </a:tr>
              <a:tr h="25603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流動資産</a:t>
                      </a:r>
                    </a:p>
                  </a:txBody>
                  <a:tcPr marL="0" marR="0" marT="0" marB="0" anchor="ctr">
                    <a:lnL>
                      <a:noFill/>
                    </a:lnL>
                    <a:lnR>
                      <a:noFill/>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150,113</a:t>
                      </a:r>
                    </a:p>
                  </a:txBody>
                  <a:tcPr marL="0" marR="0" marT="0" marB="0" anchor="ctr">
                    <a:lnL>
                      <a:noFill/>
                    </a:lnL>
                    <a:lnR>
                      <a:noFill/>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92,091</a:t>
                      </a:r>
                    </a:p>
                  </a:txBody>
                  <a:tcPr marL="0" marR="0" marT="0" marB="0" anchor="ctr">
                    <a:lnL>
                      <a:noFill/>
                    </a:lnL>
                    <a:lnR>
                      <a:noFill/>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流動負債</a:t>
                      </a:r>
                    </a:p>
                  </a:txBody>
                  <a:tcPr marL="0" marR="0" marT="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47,672</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33,414</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extLst>
                  <a:ext uri="{0D108BD9-81ED-4DB2-BD59-A6C34878D82A}">
                    <a16:rowId xmlns:a16="http://schemas.microsoft.com/office/drawing/2014/main" val="3181706172"/>
                  </a:ext>
                </a:extLst>
              </a:tr>
              <a:tr h="25603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現預金</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10,140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14,792</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買掛金</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9,202</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7,003</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2486441720"/>
                  </a:ext>
                </a:extLst>
              </a:tr>
              <a:tr h="25603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売掛金</a:t>
                      </a:r>
                    </a:p>
                  </a:txBody>
                  <a:tcPr marL="0" marR="0" marT="0"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27,628</a:t>
                      </a:r>
                    </a:p>
                  </a:txBody>
                  <a:tcPr marL="0" marR="0" marT="0"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16,678</a:t>
                      </a:r>
                    </a:p>
                  </a:txBody>
                  <a:tcPr marL="0" marR="0" marT="0"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未払費用</a:t>
                      </a:r>
                    </a:p>
                  </a:txBody>
                  <a:tcPr marL="0" marR="0" marT="0"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20,114</a:t>
                      </a:r>
                    </a:p>
                  </a:txBody>
                  <a:tcPr marL="0" marR="0" marT="0"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9,579</a:t>
                      </a:r>
                    </a:p>
                  </a:txBody>
                  <a:tcPr marL="0" marR="0" marT="0" marB="0" anchor="ctr">
                    <a:lnL>
                      <a:noFill/>
                    </a:lnL>
                    <a:lnR>
                      <a:noFill/>
                    </a:lnR>
                    <a:lnT>
                      <a:noFill/>
                    </a:lnT>
                    <a:lnB>
                      <a:noFill/>
                    </a:lnB>
                    <a:noFill/>
                  </a:tcPr>
                </a:tc>
                <a:extLst>
                  <a:ext uri="{0D108BD9-81ED-4DB2-BD59-A6C34878D82A}">
                    <a16:rowId xmlns:a16="http://schemas.microsoft.com/office/drawing/2014/main" val="2741549184"/>
                  </a:ext>
                </a:extLst>
              </a:tr>
              <a:tr h="256032">
                <a:tc>
                  <a:txBody>
                    <a:bodyPr/>
                    <a:lstStyle/>
                    <a:p>
                      <a:pPr algn="l"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棚卸資産</a:t>
                      </a:r>
                    </a:p>
                  </a:txBody>
                  <a:tcPr marL="0" marR="0" marT="0"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106,167</a:t>
                      </a:r>
                    </a:p>
                  </a:txBody>
                  <a:tcPr marL="0" marR="0" marT="0"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58,596</a:t>
                      </a:r>
                    </a:p>
                  </a:txBody>
                  <a:tcPr marL="0" marR="0" marT="0"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未払消費税等</a:t>
                      </a:r>
                    </a:p>
                  </a:txBody>
                  <a:tcPr marL="0" marR="0" marT="0"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11,784</a:t>
                      </a:r>
                    </a:p>
                  </a:txBody>
                  <a:tcPr marL="0" marR="0" marT="0"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7,438</a:t>
                      </a:r>
                    </a:p>
                  </a:txBody>
                  <a:tcPr marL="0" marR="0" marT="0" marB="0" anchor="ctr">
                    <a:lnL>
                      <a:noFill/>
                    </a:lnL>
                    <a:lnR>
                      <a:noFill/>
                    </a:lnR>
                    <a:lnT>
                      <a:noFill/>
                    </a:lnT>
                    <a:lnB>
                      <a:noFill/>
                    </a:lnB>
                    <a:noFill/>
                  </a:tcPr>
                </a:tc>
                <a:extLst>
                  <a:ext uri="{0D108BD9-81ED-4DB2-BD59-A6C34878D82A}">
                    <a16:rowId xmlns:a16="http://schemas.microsoft.com/office/drawing/2014/main" val="2447550602"/>
                  </a:ext>
                </a:extLst>
              </a:tr>
              <a:tr h="256032">
                <a:tc>
                  <a:txBody>
                    <a:bodyPr/>
                    <a:lstStyle/>
                    <a:p>
                      <a:pPr algn="l"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前払費用</a:t>
                      </a:r>
                    </a:p>
                  </a:txBody>
                  <a:tcPr marL="0" marR="0" marT="0"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3,992</a:t>
                      </a:r>
                    </a:p>
                  </a:txBody>
                  <a:tcPr marL="0" marR="0" marT="0"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393</a:t>
                      </a:r>
                    </a:p>
                  </a:txBody>
                  <a:tcPr marL="0" marR="0" marT="0"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カード未払金</a:t>
                      </a:r>
                    </a:p>
                  </a:txBody>
                  <a:tcPr marL="0" marR="0" marT="0"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3,224</a:t>
                      </a:r>
                    </a:p>
                  </a:txBody>
                  <a:tcPr marL="0" marR="0" marT="0"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7,791</a:t>
                      </a:r>
                    </a:p>
                  </a:txBody>
                  <a:tcPr marL="0" marR="0" marT="0" marB="0" anchor="ctr">
                    <a:lnL>
                      <a:noFill/>
                    </a:lnL>
                    <a:lnR>
                      <a:noFill/>
                    </a:lnR>
                    <a:lnT>
                      <a:noFill/>
                    </a:lnT>
                    <a:lnB>
                      <a:noFill/>
                    </a:lnB>
                    <a:noFill/>
                  </a:tcPr>
                </a:tc>
                <a:extLst>
                  <a:ext uri="{0D108BD9-81ED-4DB2-BD59-A6C34878D82A}">
                    <a16:rowId xmlns:a16="http://schemas.microsoft.com/office/drawing/2014/main" val="3539815537"/>
                  </a:ext>
                </a:extLst>
              </a:tr>
              <a:tr h="256032">
                <a:tc>
                  <a:txBody>
                    <a:bodyPr/>
                    <a:lstStyle/>
                    <a:p>
                      <a:pPr algn="l"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仮払金</a:t>
                      </a:r>
                    </a:p>
                  </a:txBody>
                  <a:tcPr marL="0" marR="0" marT="0"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1,650</a:t>
                      </a:r>
                    </a:p>
                  </a:txBody>
                  <a:tcPr marL="0" marR="0" marT="0"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1,677</a:t>
                      </a:r>
                    </a:p>
                  </a:txBody>
                  <a:tcPr marL="0" marR="0" marT="0"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預り金</a:t>
                      </a:r>
                    </a:p>
                  </a:txBody>
                  <a:tcPr marL="0" marR="0" marT="0"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2,392</a:t>
                      </a:r>
                    </a:p>
                  </a:txBody>
                  <a:tcPr marL="0" marR="0" marT="0"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1,600</a:t>
                      </a:r>
                    </a:p>
                  </a:txBody>
                  <a:tcPr marL="0" marR="0" marT="0" marB="0" anchor="ctr">
                    <a:lnL>
                      <a:noFill/>
                    </a:lnL>
                    <a:lnR>
                      <a:noFill/>
                    </a:lnR>
                    <a:lnT>
                      <a:noFill/>
                    </a:lnT>
                    <a:lnB>
                      <a:noFill/>
                    </a:lnB>
                    <a:noFill/>
                  </a:tcPr>
                </a:tc>
                <a:extLst>
                  <a:ext uri="{0D108BD9-81ED-4DB2-BD59-A6C34878D82A}">
                    <a16:rowId xmlns:a16="http://schemas.microsoft.com/office/drawing/2014/main" val="285792898"/>
                  </a:ext>
                </a:extLst>
              </a:tr>
              <a:tr h="256032">
                <a:tc>
                  <a:txBody>
                    <a:bodyPr/>
                    <a:lstStyle/>
                    <a:p>
                      <a:pPr algn="l"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その他</a:t>
                      </a:r>
                    </a:p>
                  </a:txBody>
                  <a:tcPr marL="0" marR="0" marT="0" marB="0" anchor="ctr">
                    <a:lnL>
                      <a:noFill/>
                    </a:lnL>
                    <a:lnR>
                      <a:noFill/>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536</a:t>
                      </a:r>
                    </a:p>
                  </a:txBody>
                  <a:tcPr marL="0" marR="0" marT="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45</a:t>
                      </a:r>
                    </a:p>
                  </a:txBody>
                  <a:tcPr marL="0" marR="0" marT="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その他</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957</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75307486"/>
                  </a:ext>
                </a:extLst>
              </a:tr>
              <a:tr h="25603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固定資産</a:t>
                      </a:r>
                    </a:p>
                  </a:txBody>
                  <a:tcPr marL="0" marR="0" marT="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85,272</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86,018</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固定負債</a:t>
                      </a:r>
                    </a:p>
                  </a:txBody>
                  <a:tcPr marL="0" marR="0" marT="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201,770</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196,939</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extLst>
                  <a:ext uri="{0D108BD9-81ED-4DB2-BD59-A6C34878D82A}">
                    <a16:rowId xmlns:a16="http://schemas.microsoft.com/office/drawing/2014/main" val="3681567531"/>
                  </a:ext>
                </a:extLst>
              </a:tr>
              <a:tr h="25603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建物（附属設備）</a:t>
                      </a:r>
                    </a:p>
                  </a:txBody>
                  <a:tcPr marL="0" marR="0" marT="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44,397</a:t>
                      </a:r>
                    </a:p>
                  </a:txBody>
                  <a:tcPr marL="0" marR="0" marT="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44,397</a:t>
                      </a:r>
                    </a:p>
                  </a:txBody>
                  <a:tcPr marL="0" marR="0" marT="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長期借入金</a:t>
                      </a:r>
                    </a:p>
                  </a:txBody>
                  <a:tcPr marL="0" marR="0" marT="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191,858</a:t>
                      </a:r>
                    </a:p>
                  </a:txBody>
                  <a:tcPr marL="0" marR="0" marT="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191,858</a:t>
                      </a:r>
                    </a:p>
                  </a:txBody>
                  <a:tcPr marL="0" marR="0" marT="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270532494"/>
                  </a:ext>
                </a:extLst>
              </a:tr>
              <a:tr h="256032">
                <a:tc>
                  <a:txBody>
                    <a:bodyPr/>
                    <a:lstStyle/>
                    <a:p>
                      <a:pPr algn="l"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工具器具備品</a:t>
                      </a:r>
                    </a:p>
                  </a:txBody>
                  <a:tcPr marL="0" marR="0" marT="0"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6,045</a:t>
                      </a:r>
                    </a:p>
                  </a:txBody>
                  <a:tcPr marL="0" marR="0" marT="0"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6,045</a:t>
                      </a:r>
                    </a:p>
                  </a:txBody>
                  <a:tcPr marL="0" marR="0" marT="0"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役員借入金</a:t>
                      </a:r>
                    </a:p>
                  </a:txBody>
                  <a:tcPr marL="0" marR="0" marT="0"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7,566</a:t>
                      </a:r>
                    </a:p>
                  </a:txBody>
                  <a:tcPr marL="0" marR="0" marT="0"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3,403</a:t>
                      </a:r>
                    </a:p>
                  </a:txBody>
                  <a:tcPr marL="0" marR="0" marT="0" marB="0" anchor="ctr">
                    <a:lnL>
                      <a:noFill/>
                    </a:lnL>
                    <a:lnR>
                      <a:noFill/>
                    </a:lnR>
                    <a:lnT>
                      <a:noFill/>
                    </a:lnT>
                    <a:lnB>
                      <a:noFill/>
                    </a:lnB>
                    <a:noFill/>
                  </a:tcPr>
                </a:tc>
                <a:extLst>
                  <a:ext uri="{0D108BD9-81ED-4DB2-BD59-A6C34878D82A}">
                    <a16:rowId xmlns:a16="http://schemas.microsoft.com/office/drawing/2014/main" val="1334314230"/>
                  </a:ext>
                </a:extLst>
              </a:tr>
              <a:tr h="25603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車両運搬具</a:t>
                      </a:r>
                    </a:p>
                  </a:txBody>
                  <a:tcPr marL="0" marR="0" marT="0"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1,058</a:t>
                      </a:r>
                    </a:p>
                  </a:txBody>
                  <a:tcPr marL="0" marR="0" marT="0"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1,495</a:t>
                      </a:r>
                    </a:p>
                  </a:txBody>
                  <a:tcPr marL="0" marR="0" marT="0"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長期未払金</a:t>
                      </a:r>
                    </a:p>
                  </a:txBody>
                  <a:tcPr marL="0" marR="0" marT="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2,346</a:t>
                      </a:r>
                    </a:p>
                  </a:txBody>
                  <a:tcPr marL="0" marR="0" marT="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1,678</a:t>
                      </a:r>
                    </a:p>
                  </a:txBody>
                  <a:tcPr marL="0" marR="0" marT="0" marB="0" anchor="ctr">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90336650"/>
                  </a:ext>
                </a:extLst>
              </a:tr>
              <a:tr h="256032">
                <a:tc>
                  <a:txBody>
                    <a:bodyPr/>
                    <a:lstStyle/>
                    <a:p>
                      <a:pPr algn="l"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土地</a:t>
                      </a:r>
                    </a:p>
                  </a:txBody>
                  <a:tcPr marL="0" marR="0" marT="0" marB="0" anchor="ctr">
                    <a:lnL>
                      <a:noFill/>
                    </a:lnL>
                    <a:lnR>
                      <a:noFill/>
                    </a:lnR>
                    <a:lnT>
                      <a:noFill/>
                    </a:lnT>
                    <a:lnB>
                      <a:noFill/>
                    </a:lnB>
                    <a:noFill/>
                  </a:tcPr>
                </a:tc>
                <a:tc>
                  <a:txBody>
                    <a:bodyPr/>
                    <a:lstStyle/>
                    <a:p>
                      <a:pPr algn="r" fontAlgn="ctr">
                        <a:buNone/>
                      </a:pPr>
                      <a:r>
                        <a:rPr lang="ja-JP" sz="800" b="0" i="0" u="none" strike="noStrike" dirty="0">
                          <a:solidFill>
                            <a:srgbClr val="000000"/>
                          </a:solidFill>
                          <a:effectLst/>
                          <a:latin typeface="Arial" panose="020B0604020202020204" pitchFamily="34" charset="0"/>
                          <a:ea typeface="游ゴシック Medium" panose="020B0500000000000000" pitchFamily="50" charset="-128"/>
                        </a:rPr>
                        <a:t>2,974</a:t>
                      </a:r>
                    </a:p>
                  </a:txBody>
                  <a:tcPr marL="0" marR="0" marT="0" marB="0" anchor="ctr">
                    <a:lnL>
                      <a:noFill/>
                    </a:lnL>
                    <a:lnR>
                      <a:noFill/>
                    </a:lnR>
                    <a:lnT>
                      <a:noFill/>
                    </a:lnT>
                    <a:lnB>
                      <a:noFill/>
                    </a:lnB>
                    <a:noFill/>
                  </a:tcPr>
                </a:tc>
                <a:tc>
                  <a:txBody>
                    <a:bodyPr/>
                    <a:lstStyle/>
                    <a:p>
                      <a:pPr algn="r" fontAlgn="ctr">
                        <a:buNone/>
                      </a:pPr>
                      <a:r>
                        <a:rPr lang="ja-JP" sz="800" b="0" i="0" u="none" strike="noStrike" dirty="0">
                          <a:solidFill>
                            <a:srgbClr val="000000"/>
                          </a:solidFill>
                          <a:effectLst/>
                          <a:latin typeface="Arial" panose="020B0604020202020204" pitchFamily="34" charset="0"/>
                          <a:ea typeface="游ゴシック Medium" panose="020B0500000000000000" pitchFamily="50" charset="-128"/>
                        </a:rPr>
                        <a:t>2,974</a:t>
                      </a:r>
                    </a:p>
                  </a:txBody>
                  <a:tcPr marL="0" marR="0" marT="0"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a:noFill/>
                    </a:lnT>
                    <a:lnB>
                      <a:noFill/>
                    </a:lnB>
                    <a:noFill/>
                  </a:tcPr>
                </a:tc>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負債合計</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249,442</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230,353</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extLst>
                  <a:ext uri="{0D108BD9-81ED-4DB2-BD59-A6C34878D82A}">
                    <a16:rowId xmlns:a16="http://schemas.microsoft.com/office/drawing/2014/main" val="3846890720"/>
                  </a:ext>
                </a:extLst>
              </a:tr>
              <a:tr h="256032">
                <a:tc>
                  <a:txBody>
                    <a:bodyPr/>
                    <a:lstStyle/>
                    <a:p>
                      <a:pPr algn="l"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差入保証金</a:t>
                      </a:r>
                    </a:p>
                  </a:txBody>
                  <a:tcPr marL="0" marR="0" marT="0"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27,371</a:t>
                      </a:r>
                    </a:p>
                  </a:txBody>
                  <a:tcPr marL="0" marR="0" marT="0"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25,204</a:t>
                      </a:r>
                    </a:p>
                  </a:txBody>
                  <a:tcPr marL="0" marR="0" marT="0"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資本金</a:t>
                      </a:r>
                    </a:p>
                  </a:txBody>
                  <a:tcPr marL="0" marR="0" marT="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1,000</a:t>
                      </a:r>
                    </a:p>
                  </a:txBody>
                  <a:tcPr marL="0" marR="0" marT="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1,000</a:t>
                      </a:r>
                    </a:p>
                  </a:txBody>
                  <a:tcPr marL="0" marR="0" marT="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28702615"/>
                  </a:ext>
                </a:extLst>
              </a:tr>
              <a:tr h="256032">
                <a:tc>
                  <a:txBody>
                    <a:bodyPr/>
                    <a:lstStyle/>
                    <a:p>
                      <a:pPr algn="l"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長期前払費用</a:t>
                      </a:r>
                    </a:p>
                  </a:txBody>
                  <a:tcPr marL="0" marR="0" marT="0"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1,712</a:t>
                      </a:r>
                    </a:p>
                  </a:txBody>
                  <a:tcPr marL="0" marR="0" marT="0"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1,712</a:t>
                      </a:r>
                    </a:p>
                  </a:txBody>
                  <a:tcPr marL="0" marR="0" marT="0"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利益剰余金</a:t>
                      </a:r>
                    </a:p>
                  </a:txBody>
                  <a:tcPr marL="0" marR="0" marT="0"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15,057</a:t>
                      </a:r>
                    </a:p>
                  </a:txBody>
                  <a:tcPr marL="0" marR="0" marT="0"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53,244</a:t>
                      </a:r>
                    </a:p>
                  </a:txBody>
                  <a:tcPr marL="0" marR="0" marT="0" marB="0" anchor="ctr">
                    <a:lnL>
                      <a:noFill/>
                    </a:lnL>
                    <a:lnR>
                      <a:noFill/>
                    </a:lnR>
                    <a:lnT>
                      <a:noFill/>
                    </a:lnT>
                    <a:lnB>
                      <a:noFill/>
                    </a:lnB>
                    <a:noFill/>
                  </a:tcPr>
                </a:tc>
                <a:extLst>
                  <a:ext uri="{0D108BD9-81ED-4DB2-BD59-A6C34878D82A}">
                    <a16:rowId xmlns:a16="http://schemas.microsoft.com/office/drawing/2014/main" val="2363906639"/>
                  </a:ext>
                </a:extLst>
              </a:tr>
              <a:tr h="25603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営業権</a:t>
                      </a:r>
                    </a:p>
                  </a:txBody>
                  <a:tcPr marL="0" marR="0" marT="0"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1,500</a:t>
                      </a:r>
                    </a:p>
                  </a:txBody>
                  <a:tcPr marL="0" marR="0" marT="0"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1,500</a:t>
                      </a:r>
                    </a:p>
                  </a:txBody>
                  <a:tcPr marL="0" marR="0" marT="0"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a:t>
                      </a:r>
                    </a:p>
                  </a:txBody>
                  <a:tcPr marL="0" marR="0" marT="0" marB="0" anchor="ctr">
                    <a:lnL>
                      <a:noFill/>
                    </a:lnL>
                    <a:lnR>
                      <a:noFill/>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a:t>
                      </a:r>
                    </a:p>
                  </a:txBody>
                  <a:tcPr marL="0" marR="0" marT="0" marB="0" anchor="ctr">
                    <a:lnL>
                      <a:noFill/>
                    </a:lnL>
                    <a:lnR>
                      <a:noFill/>
                    </a:lnR>
                    <a:lnT>
                      <a:noFill/>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4133845884"/>
                  </a:ext>
                </a:extLst>
              </a:tr>
              <a:tr h="25603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その他</a:t>
                      </a:r>
                    </a:p>
                  </a:txBody>
                  <a:tcPr marL="0" marR="0" marT="0" marB="0" anchor="ctr">
                    <a:lnL>
                      <a:noFill/>
                    </a:lnL>
                    <a:lnR>
                      <a:noFill/>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216</a:t>
                      </a:r>
                    </a:p>
                  </a:txBody>
                  <a:tcPr marL="0" marR="0" marT="0" marB="0" anchor="ctr">
                    <a:lnL>
                      <a:noFill/>
                    </a:lnL>
                    <a:lnR>
                      <a:noFill/>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2,691</a:t>
                      </a:r>
                    </a:p>
                  </a:txBody>
                  <a:tcPr marL="0" marR="0" marT="0" marB="0" anchor="ctr">
                    <a:lnL>
                      <a:noFill/>
                    </a:lnL>
                    <a:lnR>
                      <a:noFill/>
                    </a:lnR>
                    <a:lnT>
                      <a:noFill/>
                    </a:lnT>
                    <a:lnB w="6350" cap="flat" cmpd="sng" algn="ctr">
                      <a:solidFill>
                        <a:srgbClr val="0B3041"/>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a:noFill/>
                    </a:lnT>
                    <a:lnB>
                      <a:noFill/>
                    </a:lnB>
                    <a:noFill/>
                  </a:tcPr>
                </a:tc>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純資産合計</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 14,057</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 52,244</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extLst>
                  <a:ext uri="{0D108BD9-81ED-4DB2-BD59-A6C34878D82A}">
                    <a16:rowId xmlns:a16="http://schemas.microsoft.com/office/drawing/2014/main" val="2864921436"/>
                  </a:ext>
                </a:extLst>
              </a:tr>
              <a:tr h="256032">
                <a:tc>
                  <a:txBody>
                    <a:bodyPr/>
                    <a:lstStyle/>
                    <a:p>
                      <a:pPr algn="l" fontAlgn="ctr">
                        <a:buNone/>
                      </a:pPr>
                      <a:r>
                        <a:rPr lang="ja-JP" sz="800" b="1" i="0" u="none" strike="noStrike" dirty="0">
                          <a:solidFill>
                            <a:srgbClr val="000000"/>
                          </a:solidFill>
                          <a:effectLst/>
                          <a:latin typeface="游ゴシック" panose="020B0400000000000000" pitchFamily="50" charset="-128"/>
                          <a:ea typeface="游ゴシック" panose="020B0400000000000000" pitchFamily="50" charset="-128"/>
                        </a:rPr>
                        <a:t>資産合計</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800" b="1" i="0" u="none" strike="noStrike" dirty="0">
                          <a:solidFill>
                            <a:srgbClr val="000000"/>
                          </a:solidFill>
                          <a:effectLst/>
                          <a:latin typeface="Arial" panose="020B0604020202020204" pitchFamily="34" charset="0"/>
                          <a:ea typeface="游ゴシック Medium" panose="020B0500000000000000" pitchFamily="50" charset="-128"/>
                        </a:rPr>
                        <a:t>235,385</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800" b="1" i="0" u="none" strike="noStrike" dirty="0">
                          <a:solidFill>
                            <a:srgbClr val="000000"/>
                          </a:solidFill>
                          <a:effectLst/>
                          <a:latin typeface="Arial" panose="020B0604020202020204" pitchFamily="34" charset="0"/>
                          <a:ea typeface="游ゴシック Medium" panose="020B0500000000000000" pitchFamily="50" charset="-128"/>
                        </a:rPr>
                        <a:t>178,109</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a:noFill/>
                    </a:lnT>
                    <a:lnB>
                      <a:noFill/>
                    </a:lnB>
                    <a:noFill/>
                  </a:tcPr>
                </a:tc>
                <a:tc>
                  <a:txBody>
                    <a:bodyPr/>
                    <a:lstStyle/>
                    <a:p>
                      <a:pPr algn="l" fontAlgn="ctr">
                        <a:buNone/>
                      </a:pPr>
                      <a:r>
                        <a:rPr lang="ja-JP" sz="800" b="1" i="0" u="none" strike="noStrike" dirty="0">
                          <a:solidFill>
                            <a:srgbClr val="000000"/>
                          </a:solidFill>
                          <a:effectLst/>
                          <a:latin typeface="游ゴシック" panose="020B0400000000000000" pitchFamily="50" charset="-128"/>
                          <a:ea typeface="游ゴシック" panose="020B0400000000000000" pitchFamily="50" charset="-128"/>
                        </a:rPr>
                        <a:t>負債・純資産合計</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800" b="1" i="0" u="none" strike="noStrike" dirty="0">
                          <a:solidFill>
                            <a:srgbClr val="000000"/>
                          </a:solidFill>
                          <a:effectLst/>
                          <a:latin typeface="Arial" panose="020B0604020202020204" pitchFamily="34" charset="0"/>
                          <a:ea typeface="游ゴシック Medium" panose="020B0500000000000000" pitchFamily="50" charset="-128"/>
                        </a:rPr>
                        <a:t>235,385</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800" b="1" i="0" u="none" strike="noStrike" dirty="0">
                          <a:solidFill>
                            <a:srgbClr val="000000"/>
                          </a:solidFill>
                          <a:effectLst/>
                          <a:latin typeface="Arial" panose="020B0604020202020204" pitchFamily="34" charset="0"/>
                          <a:ea typeface="游ゴシック Medium" panose="020B0500000000000000" pitchFamily="50" charset="-128"/>
                        </a:rPr>
                        <a:t>178,109</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extLst>
                  <a:ext uri="{0D108BD9-81ED-4DB2-BD59-A6C34878D82A}">
                    <a16:rowId xmlns:a16="http://schemas.microsoft.com/office/drawing/2014/main" val="1773176798"/>
                  </a:ext>
                </a:extLst>
              </a:tr>
            </a:tbl>
          </a:graphicData>
        </a:graphic>
      </p:graphicFrame>
      <p:sp>
        <p:nvSpPr>
          <p:cNvPr id="16" name="テキスト ボックス 15">
            <a:extLst>
              <a:ext uri="{FF2B5EF4-FFF2-40B4-BE49-F238E27FC236}">
                <a16:creationId xmlns:a16="http://schemas.microsoft.com/office/drawing/2014/main" id="{628CFE76-679D-C90B-1E19-B26DADCE4A7F}"/>
              </a:ext>
            </a:extLst>
          </p:cNvPr>
          <p:cNvSpPr txBox="1"/>
          <p:nvPr/>
        </p:nvSpPr>
        <p:spPr>
          <a:xfrm>
            <a:off x="6400800" y="2329719"/>
            <a:ext cx="3840480" cy="4593565"/>
          </a:xfrm>
          <a:prstGeom prst="rect">
            <a:avLst/>
          </a:prstGeom>
          <a:noFill/>
        </p:spPr>
        <p:txBody>
          <a:bodyPr wrap="square" lIns="288000" tIns="0" rIns="252000" bIns="0" rtlCol="0">
            <a:spAutoFit/>
          </a:bodyPr>
          <a:lstStyle/>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00" b="1"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≪棚卸資産≫</a:t>
            </a:r>
            <a:endParaRPr kumimoji="1" lang="ja-JP" altLang="en-US" sz="12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・2025年11月期末106,167千円（総資産の45%）。内訳は店舗8店52,017千円、本社32,000千円、バックヤード12,000千円、外部保管在庫10,000千円、貯蔵品150千円（P.32参照）。</a:t>
            </a:r>
            <a:endParaRPr kumimoji="0" lang="en-US" altLang="ja-JP" sz="9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・2026年3月に本社分＋バックヤード分の44,000千円を全額廃棄損として計上し、2026年6月末は58,596千円まで減少。</a:t>
            </a:r>
            <a:endParaRPr kumimoji="0" lang="en-US" altLang="ja-JP" sz="9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00" b="1"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≪売掛金≫</a:t>
            </a:r>
            <a:endParaRPr kumimoji="1" lang="ja-JP" altLang="en-US" sz="12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・2025年11月期末27,628千円の内訳は㈲ワンラブ（FC本部）17,373千円、カード・PayPay等の決済会社10,255千円。滞留債権は認められない。</a:t>
            </a:r>
            <a:endParaRPr kumimoji="0" lang="en-US" altLang="ja-JP" sz="9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00" b="1"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≪差入保証金≫</a:t>
            </a:r>
            <a:endParaRPr kumimoji="1" lang="ja-JP" altLang="en-US" sz="12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・2026年3月に2,024千円減少しており、うち2,000千円は撤退店舗の敷金返還と推察（仮説・要確認）。</a:t>
            </a:r>
            <a:endParaRPr kumimoji="0" lang="en-US" altLang="ja-JP" sz="9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00" b="1"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≪営業権≫</a:t>
            </a:r>
            <a:endParaRPr kumimoji="1" lang="ja-JP" altLang="en-US" sz="12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・1,500千円。仕入先デザイナーズワン㈱（代表者の親族が経営）に係るもの。取得経緯・算定根拠は要確認。</a:t>
            </a:r>
            <a:endParaRPr kumimoji="0" lang="en-US" altLang="ja-JP" sz="9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00" b="1"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≪借入金≫</a:t>
            </a:r>
            <a:endParaRPr kumimoji="1" lang="ja-JP" altLang="en-US" sz="12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・長期借入金191,858千円（9本）。民間6本は代表者の連帯保証および信用保証協会の保証付き（公庫3本は要確認）。月次では期首残高のまま据え置かれている。</a:t>
            </a:r>
            <a:endParaRPr kumimoji="0" lang="en-US" altLang="ja-JP" sz="9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・役員借入金は7,566千円（2025年11月期末）から3,403千円（2026年6月末）へ減少している。譲渡時の返済を希望。</a:t>
            </a:r>
            <a:endParaRPr kumimoji="0" lang="en-US" altLang="ja-JP" sz="9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00" b="1"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≪純資産≫</a:t>
            </a:r>
            <a:endParaRPr kumimoji="1" lang="ja-JP" altLang="en-US" sz="12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・2025年11月期末△14,057千円の債務超過。進行期は棚卸資産廃棄損の計上により2026年6月末で△52,244千円。</a:t>
            </a:r>
            <a:endParaRPr kumimoji="0" lang="en-US" altLang="ja-JP" sz="9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00" b="1"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≪注記≫</a:t>
            </a:r>
            <a:endParaRPr kumimoji="1" lang="ja-JP" altLang="en-US" sz="12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・進行期は試算表ベースであり、減価償却・棚卸評価等の決算整理は未了。千円未満の端数処理により内訳の合計が小計と一致しない場合があります。</a:t>
            </a:r>
            <a:endParaRPr kumimoji="0" lang="en-US" altLang="ja-JP" sz="9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p:txBody>
      </p:sp>
    </p:spTree>
    <p:extLst>
      <p:ext uri="{BB962C8B-B14F-4D97-AF65-F5344CB8AC3E}">
        <p14:creationId xmlns:p14="http://schemas.microsoft.com/office/powerpoint/2010/main" val="40303346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83CB5-D66B-9D1A-A660-C02FFA666B7D}"/>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B1EDBB24-67BB-E96E-B74B-D3EB5F75EDA4}"/>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進行期の月次推移（2025年12月〜2026年6月）</a:t>
            </a:r>
          </a:p>
        </p:txBody>
      </p:sp>
      <p:sp>
        <p:nvSpPr>
          <p:cNvPr id="4" name="タイトル 1">
            <a:extLst>
              <a:ext uri="{FF2B5EF4-FFF2-40B4-BE49-F238E27FC236}">
                <a16:creationId xmlns:a16="http://schemas.microsoft.com/office/drawing/2014/main" id="{9A038C7C-FDC6-3DA9-FB86-371BEF2D480D}"/>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エグゼクティブサマリー</a:t>
            </a:r>
          </a:p>
        </p:txBody>
      </p:sp>
      <p:sp>
        <p:nvSpPr>
          <p:cNvPr id="7" name="字幕 13">
            <a:extLst>
              <a:ext uri="{FF2B5EF4-FFF2-40B4-BE49-F238E27FC236}">
                <a16:creationId xmlns:a16="http://schemas.microsoft.com/office/drawing/2014/main" id="{AF62B1A2-0C69-2A17-FF69-1256D98EBEC7}"/>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進行期7か月の売上高は279,153千円（前年同期比80.9%）と減収の一方、粗利率は62.5%へ回復し営業利益6,637千円を確保。12月〜1月が最需要期であり、1月単月で営業利益13,407千円を計上している。</a:t>
            </a:r>
            <a:endParaRPr lang="en-US" altLang="ja-JP" dirty="0">
              <a:latin typeface="游ゴシック" panose="020B0400000000000000" pitchFamily="50" charset="-128"/>
              <a:ea typeface="游ゴシック" panose="020B0400000000000000" pitchFamily="50" charset="-128"/>
            </a:endParaRPr>
          </a:p>
        </p:txBody>
      </p:sp>
      <p:graphicFrame>
        <p:nvGraphicFramePr>
          <p:cNvPr id="9" name="表 8">
            <a:extLst>
              <a:ext uri="{FF2B5EF4-FFF2-40B4-BE49-F238E27FC236}">
                <a16:creationId xmlns:a16="http://schemas.microsoft.com/office/drawing/2014/main" id="{BDBFD0C1-1E26-C190-B7D0-F16AC8348D43}"/>
              </a:ext>
            </a:extLst>
          </p:cNvPr>
          <p:cNvGraphicFramePr>
            <a:graphicFrameLocks noGrp="1"/>
          </p:cNvGraphicFramePr>
          <p:nvPr>
            <p:extLst>
              <p:ext uri="{D42A27DB-BD31-4B8C-83A1-F6EECF244321}">
                <p14:modId xmlns:p14="http://schemas.microsoft.com/office/powerpoint/2010/main" val="2509094929"/>
              </p:ext>
            </p:extLst>
          </p:nvPr>
        </p:nvGraphicFramePr>
        <p:xfrm>
          <a:off x="341313" y="1465133"/>
          <a:ext cx="9902952" cy="4658868"/>
        </p:xfrm>
        <a:graphic>
          <a:graphicData uri="http://schemas.openxmlformats.org/drawingml/2006/table">
            <a:tbl>
              <a:tblPr/>
              <a:tblGrid>
                <a:gridCol w="1828800">
                  <a:extLst>
                    <a:ext uri="{9D8B030D-6E8A-4147-A177-3AD203B41FA5}">
                      <a16:colId xmlns:a16="http://schemas.microsoft.com/office/drawing/2014/main" val="3316058797"/>
                    </a:ext>
                  </a:extLst>
                </a:gridCol>
                <a:gridCol w="731520">
                  <a:extLst>
                    <a:ext uri="{9D8B030D-6E8A-4147-A177-3AD203B41FA5}">
                      <a16:colId xmlns:a16="http://schemas.microsoft.com/office/drawing/2014/main" val="1380719249"/>
                    </a:ext>
                  </a:extLst>
                </a:gridCol>
                <a:gridCol w="731520">
                  <a:extLst>
                    <a:ext uri="{9D8B030D-6E8A-4147-A177-3AD203B41FA5}">
                      <a16:colId xmlns:a16="http://schemas.microsoft.com/office/drawing/2014/main" val="246846433"/>
                    </a:ext>
                  </a:extLst>
                </a:gridCol>
                <a:gridCol w="731520">
                  <a:extLst>
                    <a:ext uri="{9D8B030D-6E8A-4147-A177-3AD203B41FA5}">
                      <a16:colId xmlns:a16="http://schemas.microsoft.com/office/drawing/2014/main" val="3721573245"/>
                    </a:ext>
                  </a:extLst>
                </a:gridCol>
                <a:gridCol w="731520">
                  <a:extLst>
                    <a:ext uri="{9D8B030D-6E8A-4147-A177-3AD203B41FA5}">
                      <a16:colId xmlns:a16="http://schemas.microsoft.com/office/drawing/2014/main" val="25268631"/>
                    </a:ext>
                  </a:extLst>
                </a:gridCol>
                <a:gridCol w="731520">
                  <a:extLst>
                    <a:ext uri="{9D8B030D-6E8A-4147-A177-3AD203B41FA5}">
                      <a16:colId xmlns:a16="http://schemas.microsoft.com/office/drawing/2014/main" val="829825544"/>
                    </a:ext>
                  </a:extLst>
                </a:gridCol>
                <a:gridCol w="731520">
                  <a:extLst>
                    <a:ext uri="{9D8B030D-6E8A-4147-A177-3AD203B41FA5}">
                      <a16:colId xmlns:a16="http://schemas.microsoft.com/office/drawing/2014/main" val="829825544"/>
                    </a:ext>
                  </a:extLst>
                </a:gridCol>
                <a:gridCol w="731520">
                  <a:extLst>
                    <a:ext uri="{9D8B030D-6E8A-4147-A177-3AD203B41FA5}">
                      <a16:colId xmlns:a16="http://schemas.microsoft.com/office/drawing/2014/main" val="829825544"/>
                    </a:ext>
                  </a:extLst>
                </a:gridCol>
                <a:gridCol w="950976">
                  <a:extLst>
                    <a:ext uri="{9D8B030D-6E8A-4147-A177-3AD203B41FA5}">
                      <a16:colId xmlns:a16="http://schemas.microsoft.com/office/drawing/2014/main" val="1494183210"/>
                    </a:ext>
                  </a:extLst>
                </a:gridCol>
                <a:gridCol w="685800">
                  <a:extLst>
                    <a:ext uri="{9D8B030D-6E8A-4147-A177-3AD203B41FA5}">
                      <a16:colId xmlns:a16="http://schemas.microsoft.com/office/drawing/2014/main" val="3341255910"/>
                    </a:ext>
                  </a:extLst>
                </a:gridCol>
                <a:gridCol w="1316736">
                  <a:extLst>
                    <a:ext uri="{9D8B030D-6E8A-4147-A177-3AD203B41FA5}">
                      <a16:colId xmlns:a16="http://schemas.microsoft.com/office/drawing/2014/main" val="387513537"/>
                    </a:ext>
                  </a:extLst>
                </a:gridCol>
              </a:tblGrid>
              <a:tr h="384048">
                <a:tc>
                  <a:txBody>
                    <a:bodyPr/>
                    <a:lstStyle/>
                    <a:p>
                      <a:pPr algn="ctr" fontAlgn="ctr">
                        <a:buNone/>
                      </a:pPr>
                      <a:r>
                        <a:rPr lang="ja-JP" sz="750" b="1" i="0" u="none" strike="noStrike">
                          <a:solidFill>
                            <a:srgbClr val="FFFFFF"/>
                          </a:solidFill>
                          <a:effectLst/>
                          <a:latin typeface="游ゴシック" panose="020B0400000000000000" pitchFamily="50" charset="-128"/>
                          <a:ea typeface="游ゴシック" panose="020B0400000000000000" pitchFamily="50" charset="-128"/>
                        </a:rPr>
                        <a:t>科目</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ctr" fontAlgn="ctr">
                        <a:buNone/>
                      </a:pPr>
                      <a:r>
                        <a:rPr lang="ja-JP" sz="750" b="1" i="0" u="none" strike="noStrike">
                          <a:solidFill>
                            <a:srgbClr val="FFFFFF"/>
                          </a:solidFill>
                          <a:effectLst/>
                          <a:latin typeface="游ゴシック" panose="020B0400000000000000" pitchFamily="50" charset="-128"/>
                          <a:ea typeface="游ゴシック" panose="020B0400000000000000" pitchFamily="50" charset="-128"/>
                        </a:rPr>
                        <a:t>2025年
12月</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ctr" fontAlgn="ctr">
                        <a:buNone/>
                      </a:pPr>
                      <a:r>
                        <a:rPr lang="ja-JP" sz="750" b="1" i="0" u="none" strike="noStrike">
                          <a:solidFill>
                            <a:srgbClr val="FFFFFF"/>
                          </a:solidFill>
                          <a:effectLst/>
                          <a:latin typeface="游ゴシック" panose="020B0400000000000000" pitchFamily="50" charset="-128"/>
                          <a:ea typeface="游ゴシック" panose="020B0400000000000000" pitchFamily="50" charset="-128"/>
                        </a:rPr>
                        <a:t>2026年
1月</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ctr" fontAlgn="ctr">
                        <a:buNone/>
                      </a:pPr>
                      <a:r>
                        <a:rPr lang="ja-JP" sz="750" b="1" i="0" u="none" strike="noStrike">
                          <a:solidFill>
                            <a:srgbClr val="FFFFFF"/>
                          </a:solidFill>
                          <a:effectLst/>
                          <a:latin typeface="游ゴシック" panose="020B0400000000000000" pitchFamily="50" charset="-128"/>
                          <a:ea typeface="游ゴシック" panose="020B0400000000000000" pitchFamily="50" charset="-128"/>
                        </a:rPr>
                        <a:t>2026年
2月</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ctr" fontAlgn="ctr">
                        <a:buNone/>
                      </a:pPr>
                      <a:r>
                        <a:rPr lang="ja-JP" sz="750" b="1" i="0" u="none" strike="noStrike">
                          <a:solidFill>
                            <a:srgbClr val="FFFFFF"/>
                          </a:solidFill>
                          <a:effectLst/>
                          <a:latin typeface="游ゴシック" panose="020B0400000000000000" pitchFamily="50" charset="-128"/>
                          <a:ea typeface="游ゴシック" panose="020B0400000000000000" pitchFamily="50" charset="-128"/>
                        </a:rPr>
                        <a:t>2026年
3月</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ctr" fontAlgn="ctr">
                        <a:buNone/>
                      </a:pPr>
                      <a:r>
                        <a:rPr lang="ja-JP" sz="750" b="1" i="0" u="none" strike="noStrike">
                          <a:solidFill>
                            <a:srgbClr val="FFFFFF"/>
                          </a:solidFill>
                          <a:effectLst/>
                          <a:latin typeface="游ゴシック" panose="020B0400000000000000" pitchFamily="50" charset="-128"/>
                          <a:ea typeface="游ゴシック" panose="020B0400000000000000" pitchFamily="50" charset="-128"/>
                        </a:rPr>
                        <a:t>2026年
4月</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ctr" fontAlgn="ctr">
                        <a:buNone/>
                      </a:pPr>
                      <a:r>
                        <a:rPr lang="ja-JP" sz="750" b="1" i="0" u="none" strike="noStrike">
                          <a:solidFill>
                            <a:srgbClr val="FFFFFF"/>
                          </a:solidFill>
                          <a:effectLst/>
                          <a:latin typeface="游ゴシック" panose="020B0400000000000000" pitchFamily="50" charset="-128"/>
                          <a:ea typeface="游ゴシック" panose="020B0400000000000000" pitchFamily="50" charset="-128"/>
                        </a:rPr>
                        <a:t>2026年
5月</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ctr" fontAlgn="ctr">
                        <a:buNone/>
                      </a:pPr>
                      <a:r>
                        <a:rPr lang="ja-JP" sz="750" b="1" i="0" u="none" strike="noStrike">
                          <a:solidFill>
                            <a:srgbClr val="FFFFFF"/>
                          </a:solidFill>
                          <a:effectLst/>
                          <a:latin typeface="游ゴシック" panose="020B0400000000000000" pitchFamily="50" charset="-128"/>
                          <a:ea typeface="游ゴシック" panose="020B0400000000000000" pitchFamily="50" charset="-128"/>
                        </a:rPr>
                        <a:t>2026年
6月</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ctr" fontAlgn="ctr">
                        <a:buNone/>
                      </a:pPr>
                      <a:r>
                        <a:rPr lang="ja-JP" sz="750" b="1" i="0" u="none" strike="noStrike">
                          <a:solidFill>
                            <a:srgbClr val="FFFFFF"/>
                          </a:solidFill>
                          <a:effectLst/>
                          <a:latin typeface="游ゴシック" panose="020B0400000000000000" pitchFamily="50" charset="-128"/>
                          <a:ea typeface="游ゴシック" panose="020B0400000000000000" pitchFamily="50" charset="-128"/>
                        </a:rPr>
                        <a:t>7か月累計</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ctr" fontAlgn="ctr">
                        <a:buNone/>
                      </a:pPr>
                      <a:r>
                        <a:rPr lang="ja-JP" sz="750" b="1" i="0" u="none" strike="noStrike" dirty="0">
                          <a:solidFill>
                            <a:srgbClr val="FFFFFF"/>
                          </a:solidFill>
                          <a:effectLst/>
                          <a:latin typeface="游ゴシック" panose="020B0400000000000000" pitchFamily="50" charset="-128"/>
                          <a:ea typeface="游ゴシック" panose="020B0400000000000000" pitchFamily="50" charset="-128"/>
                        </a:rPr>
                        <a:t>前年
同期比</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ctr" fontAlgn="ctr">
                        <a:buNone/>
                      </a:pPr>
                      <a:r>
                        <a:rPr lang="ja-JP" sz="750" b="1" i="0" u="none" strike="noStrike">
                          <a:solidFill>
                            <a:srgbClr val="FFFFFF"/>
                          </a:solidFill>
                          <a:effectLst/>
                          <a:latin typeface="游ゴシック" panose="020B0400000000000000" pitchFamily="50" charset="-128"/>
                          <a:ea typeface="游ゴシック" panose="020B0400000000000000" pitchFamily="50" charset="-128"/>
                        </a:rPr>
                        <a:t>参考：25年11月期
（通期実績）</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extLst>
                  <a:ext uri="{0D108BD9-81ED-4DB2-BD59-A6C34878D82A}">
                    <a16:rowId xmlns:a16="http://schemas.microsoft.com/office/drawing/2014/main" val="3150016470"/>
                  </a:ext>
                </a:extLst>
              </a:tr>
              <a:tr h="251460">
                <a:tc>
                  <a:txBody>
                    <a:bodyPr/>
                    <a:lstStyle/>
                    <a:p>
                      <a:pPr algn="ctr" fontAlgn="ctr">
                        <a:buNone/>
                      </a:pPr>
                      <a:r>
                        <a:rPr lang="ja-JP" sz="750" b="0" i="0" u="none" strike="noStrike" dirty="0">
                          <a:solidFill>
                            <a:srgbClr val="000000"/>
                          </a:solidFill>
                          <a:effectLst/>
                          <a:latin typeface="游ゴシック" panose="020B0400000000000000" pitchFamily="50" charset="-128"/>
                          <a:ea typeface="游ゴシック" panose="020B0400000000000000" pitchFamily="50" charset="-128"/>
                        </a:rPr>
                        <a:t>生体売上高</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22,575</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33,442</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22,793</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19,020</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28,992</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21,085</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17,210</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165,117</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76.6%</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338,295</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056577972"/>
                  </a:ext>
                </a:extLst>
              </a:tr>
              <a:tr h="251460">
                <a:tc>
                  <a:txBody>
                    <a:bodyPr/>
                    <a:lstStyle/>
                    <a:p>
                      <a:pPr algn="ct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サービス売上高</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dirty="0">
                          <a:solidFill>
                            <a:srgbClr val="000000"/>
                          </a:solidFill>
                          <a:effectLst/>
                          <a:latin typeface="游ゴシック" panose="020B0400000000000000" pitchFamily="50" charset="-128"/>
                          <a:ea typeface="游ゴシック" panose="020B0400000000000000" pitchFamily="50" charset="-128"/>
                        </a:rPr>
                        <a:t>4,714</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dirty="0">
                          <a:solidFill>
                            <a:srgbClr val="000000"/>
                          </a:solidFill>
                          <a:effectLst/>
                          <a:latin typeface="游ゴシック" panose="020B0400000000000000" pitchFamily="50" charset="-128"/>
                          <a:ea typeface="游ゴシック" panose="020B0400000000000000" pitchFamily="50" charset="-128"/>
                        </a:rPr>
                        <a:t>3,832</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4,171</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6,225</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4,480</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4,229</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5,140</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32,792</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dirty="0">
                          <a:solidFill>
                            <a:srgbClr val="000000"/>
                          </a:solidFill>
                          <a:effectLst/>
                          <a:latin typeface="游ゴシック" panose="020B0400000000000000" pitchFamily="50" charset="-128"/>
                          <a:ea typeface="游ゴシック" panose="020B0400000000000000" pitchFamily="50" charset="-128"/>
                        </a:rPr>
                        <a:t>106.4%</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52,699</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67627526"/>
                  </a:ext>
                </a:extLst>
              </a:tr>
              <a:tr h="251460">
                <a:tc>
                  <a:txBody>
                    <a:bodyPr/>
                    <a:lstStyle/>
                    <a:p>
                      <a:pPr algn="ct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物販売上高</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14,288</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13,883</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10,195</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10,658</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11,250</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11,823</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9,148</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81,245</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82.3%</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167,395</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222888758"/>
                  </a:ext>
                </a:extLst>
              </a:tr>
              <a:tr h="251460">
                <a:tc>
                  <a:txBody>
                    <a:bodyPr/>
                    <a:lstStyle/>
                    <a:p>
                      <a:pPr algn="ctr" fontAlgn="ctr">
                        <a:buNone/>
                      </a:pPr>
                      <a:r>
                        <a:rPr lang="ja-JP" sz="850" b="1" i="0" u="none" strike="noStrike" dirty="0">
                          <a:solidFill>
                            <a:srgbClr val="000000"/>
                          </a:solidFill>
                          <a:effectLst/>
                          <a:latin typeface="游ゴシック" panose="020B0400000000000000" pitchFamily="50" charset="-128"/>
                          <a:ea typeface="游ゴシック" panose="020B0400000000000000" pitchFamily="50" charset="-128"/>
                        </a:rPr>
                        <a:t>売上高</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41,577</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51,158</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37,159</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35,902</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44,722</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37,136</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31,498</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279,153</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80.9%</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558,390</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927963007"/>
                  </a:ext>
                </a:extLst>
              </a:tr>
              <a:tr h="251460">
                <a:tc>
                  <a:txBody>
                    <a:bodyPr/>
                    <a:lstStyle/>
                    <a:p>
                      <a:pPr algn="ct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売上原価</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17,900</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14,912</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11,807</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12,609</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18,701</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13,951</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14,883</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104,762</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dirty="0">
                          <a:solidFill>
                            <a:srgbClr val="000000"/>
                          </a:solidFill>
                          <a:effectLst/>
                          <a:latin typeface="游ゴシック" panose="020B0400000000000000" pitchFamily="50" charset="-128"/>
                          <a:ea typeface="游ゴシック" panose="020B0400000000000000" pitchFamily="50" charset="-128"/>
                        </a:rPr>
                        <a:t>77.6%</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228,365</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087551456"/>
                  </a:ext>
                </a:extLst>
              </a:tr>
              <a:tr h="251460">
                <a:tc>
                  <a:txBody>
                    <a:bodyPr/>
                    <a:lstStyle/>
                    <a:p>
                      <a:pPr algn="ct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売上総利益</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23,677</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36,246</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25,353</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23,294</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26,021</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23,186</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16,615</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174,391</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83.0%</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330,024</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961957651"/>
                  </a:ext>
                </a:extLst>
              </a:tr>
              <a:tr h="251460">
                <a:tc>
                  <a:txBody>
                    <a:bodyPr/>
                    <a:lstStyle/>
                    <a:p>
                      <a:pPr algn="ct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販売費及び一般管理費</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25,194</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22,839</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24,296</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21,910</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23,404</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28,338</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21,773</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167,754</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85.4%</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349,576</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486727505"/>
                  </a:ext>
                </a:extLst>
              </a:tr>
              <a:tr h="251460">
                <a:tc>
                  <a:txBody>
                    <a:bodyPr/>
                    <a:lstStyle/>
                    <a:p>
                      <a:pPr algn="ct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　従業員給与</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10,068</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9,790</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8,676</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8,542</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9,024</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9,411</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8,668</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64,180</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85.2%</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127,017</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693701439"/>
                  </a:ext>
                </a:extLst>
              </a:tr>
              <a:tr h="251460">
                <a:tc>
                  <a:txBody>
                    <a:bodyPr/>
                    <a:lstStyle/>
                    <a:p>
                      <a:pPr algn="ct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　広告宣伝費</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5,535</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1,650</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1,652</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1,542</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1,640</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1,646</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1,498</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15,163</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75.7%</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26,651</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464820398"/>
                  </a:ext>
                </a:extLst>
              </a:tr>
              <a:tr h="251460">
                <a:tc>
                  <a:txBody>
                    <a:bodyPr/>
                    <a:lstStyle/>
                    <a:p>
                      <a:pPr algn="ct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　ロイヤリティ</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2,405</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2,515</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1,953</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1,562</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2,086</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1,964</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1,708</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14,193</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77.0%</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29,982</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80445004"/>
                  </a:ext>
                </a:extLst>
              </a:tr>
              <a:tr h="251460">
                <a:tc>
                  <a:txBody>
                    <a:bodyPr/>
                    <a:lstStyle/>
                    <a:p>
                      <a:pPr algn="ct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　地代家賃</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3,930</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2,860</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2,731</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2,775</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2,621</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2,517</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2,446</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19,879</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93.8%</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33,249</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818873767"/>
                  </a:ext>
                </a:extLst>
              </a:tr>
              <a:tr h="251460">
                <a:tc>
                  <a:txBody>
                    <a:bodyPr/>
                    <a:lstStyle/>
                    <a:p>
                      <a:pPr algn="ct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　役員報酬</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dirty="0">
                          <a:solidFill>
                            <a:srgbClr val="000000"/>
                          </a:solidFill>
                          <a:effectLst/>
                          <a:latin typeface="游ゴシック" panose="020B0400000000000000" pitchFamily="50" charset="-128"/>
                          <a:ea typeface="游ゴシック" panose="020B0400000000000000" pitchFamily="50" charset="-128"/>
                        </a:rPr>
                        <a:t>900</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900</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900</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900</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900</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900</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900</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6,300</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75.0%</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14,400</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455912933"/>
                  </a:ext>
                </a:extLst>
              </a:tr>
              <a:tr h="251460">
                <a:tc>
                  <a:txBody>
                    <a:bodyPr/>
                    <a:lstStyle/>
                    <a:p>
                      <a:pPr algn="ct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　法定福利費</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 2,240</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dirty="0">
                          <a:solidFill>
                            <a:srgbClr val="000000"/>
                          </a:solidFill>
                          <a:effectLst/>
                          <a:latin typeface="游ゴシック" panose="020B0400000000000000" pitchFamily="50" charset="-128"/>
                          <a:ea typeface="游ゴシック" panose="020B0400000000000000" pitchFamily="50" charset="-128"/>
                        </a:rPr>
                        <a:t>△ 1,018</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1,800</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899</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1,564</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925</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849</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2,779</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84.2%</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15,295</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145927038"/>
                  </a:ext>
                </a:extLst>
              </a:tr>
              <a:tr h="251460">
                <a:tc>
                  <a:txBody>
                    <a:bodyPr/>
                    <a:lstStyle/>
                    <a:p>
                      <a:pPr algn="ct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営業利益</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 1,517</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13,407</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1,057</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1,384</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2,617</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 5,152</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 5,159</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6,637</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48.2%</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 19,552</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587109556"/>
                  </a:ext>
                </a:extLst>
              </a:tr>
              <a:tr h="251460">
                <a:tc>
                  <a:txBody>
                    <a:bodyPr/>
                    <a:lstStyle/>
                    <a:p>
                      <a:pPr algn="ct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経常利益</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 1,740</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13,600</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844</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1,090</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2,409</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 5,309</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 5,080</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5,814</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45.6%</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 18,575</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794250216"/>
                  </a:ext>
                </a:extLst>
              </a:tr>
              <a:tr h="251460">
                <a:tc>
                  <a:txBody>
                    <a:bodyPr/>
                    <a:lstStyle/>
                    <a:p>
                      <a:pPr algn="ct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特別損失</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44,000</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44,000</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750" b="0" i="0" u="none" strike="noStrike">
                          <a:solidFill>
                            <a:srgbClr val="000000"/>
                          </a:solidFill>
                          <a:effectLst/>
                          <a:latin typeface="游ゴシック" panose="020B0400000000000000" pitchFamily="50" charset="-128"/>
                          <a:ea typeface="游ゴシック" panose="020B0400000000000000" pitchFamily="50" charset="-128"/>
                        </a:rPr>
                        <a:t>1,298</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790303744"/>
                  </a:ext>
                </a:extLst>
              </a:tr>
              <a:tr h="251460">
                <a:tc>
                  <a:txBody>
                    <a:bodyPr/>
                    <a:lstStyle/>
                    <a:p>
                      <a:pPr algn="ct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当期純利益</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 1,740</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13,600</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843</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 42,910</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2,409</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 5,309</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 5,080</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 38,187</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 20,359</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583919144"/>
                  </a:ext>
                </a:extLst>
              </a:tr>
            </a:tbl>
          </a:graphicData>
        </a:graphic>
      </p:graphicFrame>
      <p:sp>
        <p:nvSpPr>
          <p:cNvPr id="14" name="TextBox 13"/>
          <p:cNvSpPr txBox="1"/>
          <p:nvPr/>
        </p:nvSpPr>
        <p:spPr>
          <a:xfrm>
            <a:off x="338328" y="6272784"/>
            <a:ext cx="9902952" cy="868680"/>
          </a:xfrm>
          <a:prstGeom prst="rect">
            <a:avLst/>
          </a:prstGeom>
          <a:noFill/>
        </p:spPr>
        <p:txBody>
          <a:bodyPr wrap="square">
            <a:spAutoFit/>
          </a:bodyPr>
          <a:lstStyle/>
          <a:p>
            <a:r>
              <a:rPr sz="800">
                <a:latin typeface="游ゴシック Medium"/>
              </a:rPr>
              <a:t>（単位：千円）※出所：勘定科目残高推移表 2025年12月〜2026年6月（2026年9月18日出力）。「参考」列は第5期決算報告書。</a:t>
            </a:r>
          </a:p>
          <a:p>
            <a:r>
              <a:rPr sz="800">
                <a:latin typeface="游ゴシック Medium"/>
              </a:rPr>
              <a:t>※進行期の月次には減価償却費が計上されていない（2025年11月期の通期実績は6,349千円）。通期ではその分だけ営業利益が減少する見込み（要確認）。</a:t>
            </a:r>
          </a:p>
          <a:p>
            <a:r>
              <a:rPr sz="800">
                <a:latin typeface="游ゴシック Medium"/>
              </a:rPr>
              <a:t>※法定福利費は2025年12月・2026年1月がマイナス計上であり、年末調整・社会保険料の精算処理の影響と推察（仮説）。7か月累計2,779千円は通期実績15,295千円に比して低く、期中未計上分が下期に乗る可能性がある。</a:t>
            </a:r>
          </a:p>
          <a:p>
            <a:r>
              <a:rPr sz="800">
                <a:latin typeface="游ゴシック Medium"/>
              </a:rPr>
              <a:t>※2026年5月の租税公課4,969千円は自動車税・固定資産税等の年次課税と推察（仮説）。同月の営業損失の主因。※2026年3月の特別損失44,000千円は棚卸資産廃棄損（P.32参照）。</a:t>
            </a:r>
          </a:p>
        </p:txBody>
      </p:sp>
    </p:spTree>
    <p:extLst>
      <p:ext uri="{BB962C8B-B14F-4D97-AF65-F5344CB8AC3E}">
        <p14:creationId xmlns:p14="http://schemas.microsoft.com/office/powerpoint/2010/main" val="9155409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7" name="タイトル 6">
            <a:extLst>
              <a:ext uri="{FF2B5EF4-FFF2-40B4-BE49-F238E27FC236}">
                <a16:creationId xmlns:a16="http://schemas.microsoft.com/office/drawing/2014/main" id="{5297D612-8E56-9402-459F-FE068C2C5D1A}"/>
              </a:ext>
            </a:extLst>
          </p:cNvPr>
          <p:cNvSpPr>
            <a:spLocks noGrp="1"/>
          </p:cNvSpPr>
          <p:nvPr>
            <p:ph type="ctrTitle"/>
          </p:nvPr>
        </p:nvSpPr>
        <p:spPr>
          <a:xfrm>
            <a:off x="341313" y="180296"/>
            <a:ext cx="7799917" cy="339267"/>
          </a:xfrm>
        </p:spPr>
        <p:txBody>
          <a:bodyPr/>
          <a:lstStyle/>
          <a:p>
            <a:r>
              <a:rPr lang="zh-CN" altLang="en-US" dirty="0"/>
              <a:t>譲渡希望条件</a:t>
            </a:r>
          </a:p>
        </p:txBody>
      </p:sp>
      <p:sp>
        <p:nvSpPr>
          <p:cNvPr id="9" name="タイトル 1">
            <a:extLst>
              <a:ext uri="{FF2B5EF4-FFF2-40B4-BE49-F238E27FC236}">
                <a16:creationId xmlns:a16="http://schemas.microsoft.com/office/drawing/2014/main" id="{203C135E-3923-6D8E-447A-FF4DC0536B9B}"/>
              </a:ext>
            </a:extLst>
          </p:cNvPr>
          <p:cNvSpPr txBox="1">
            <a:spLocks/>
          </p:cNvSpPr>
          <p:nvPr/>
        </p:nvSpPr>
        <p:spPr>
          <a:xfrm>
            <a:off x="8366333" y="252154"/>
            <a:ext cx="1984167" cy="184666"/>
          </a:xfrm>
          <a:prstGeom prst="rect">
            <a:avLst/>
          </a:prstGeom>
        </p:spPr>
        <p:txBody>
          <a:bodyPr vert="horz" lIns="0" tIns="0" rIns="0" bIns="0" rtlCol="0" anchor="ctr">
            <a:spAutoFit/>
          </a:bodyPr>
          <a:lstStyle>
            <a:defPPr marR="0" lvl="0" algn="l" rtl="0">
              <a:lnSpc>
                <a:spcPct val="100000"/>
              </a:lnSpc>
              <a:spcBef>
                <a:spcPts val="0"/>
              </a:spcBef>
              <a:spcAft>
                <a:spcPts val="0"/>
              </a:spcAft>
              <a:defRPr/>
            </a:defPPr>
            <a:lvl1pPr algn="r" defTabSz="914400" eaLnBrk="1" latinLnBrk="0" hangingPunct="1">
              <a:spcBef>
                <a:spcPct val="0"/>
              </a:spcBef>
              <a:buClr>
                <a:schemeClr val="bg1"/>
              </a:buClr>
              <a:buNone/>
              <a:defRPr kumimoji="1" sz="1200" b="1" kern="1200" spc="55">
                <a:solidFill>
                  <a:schemeClr val="bg1"/>
                </a:solidFill>
                <a:latin typeface="+mj-lt"/>
                <a:ea typeface="+mj-ea"/>
                <a:cs typeface="+mj-cs"/>
              </a:defRPr>
            </a:lvl1pPr>
          </a:lstStyle>
          <a:p>
            <a:r>
              <a:rPr lang="ja-JP" altLang="en-US" spc="0" dirty="0"/>
              <a:t>　エグゼクティブサマリー</a:t>
            </a:r>
          </a:p>
        </p:txBody>
      </p:sp>
      <p:sp>
        <p:nvSpPr>
          <p:cNvPr id="18" name="正方形/長方形 17">
            <a:extLst>
              <a:ext uri="{FF2B5EF4-FFF2-40B4-BE49-F238E27FC236}">
                <a16:creationId xmlns:a16="http://schemas.microsoft.com/office/drawing/2014/main" id="{77AE94F8-D910-3328-173F-F4A99716CFE7}"/>
              </a:ext>
            </a:extLst>
          </p:cNvPr>
          <p:cNvSpPr/>
          <p:nvPr/>
        </p:nvSpPr>
        <p:spPr>
          <a:xfrm>
            <a:off x="449262" y="1225957"/>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22" name="直線コネクタ 21">
            <a:extLst>
              <a:ext uri="{FF2B5EF4-FFF2-40B4-BE49-F238E27FC236}">
                <a16:creationId xmlns:a16="http://schemas.microsoft.com/office/drawing/2014/main" id="{1928CBFA-2EBE-A608-C5BF-40E5AFFAF1AD}"/>
              </a:ext>
            </a:extLst>
          </p:cNvPr>
          <p:cNvCxnSpPr>
            <a:cxnSpLocks/>
          </p:cNvCxnSpPr>
          <p:nvPr/>
        </p:nvCxnSpPr>
        <p:spPr>
          <a:xfrm>
            <a:off x="3133558" y="1349963"/>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19" name="テキスト ボックス 18">
            <a:extLst>
              <a:ext uri="{FF2B5EF4-FFF2-40B4-BE49-F238E27FC236}">
                <a16:creationId xmlns:a16="http://schemas.microsoft.com/office/drawing/2014/main" id="{FFFB131C-8535-2A88-A3C8-FF60589D2A11}"/>
              </a:ext>
            </a:extLst>
          </p:cNvPr>
          <p:cNvSpPr txBox="1"/>
          <p:nvPr/>
        </p:nvSpPr>
        <p:spPr>
          <a:xfrm>
            <a:off x="3151380" y="1703936"/>
            <a:ext cx="7074659" cy="338554"/>
          </a:xfrm>
          <a:prstGeom prst="rect">
            <a:avLst/>
          </a:prstGeom>
          <a:noFill/>
        </p:spPr>
        <p:txBody>
          <a:bodyPr wrap="square" lIns="1440000" tIns="0" rIns="0" bIns="0" rtlCol="0" anchor="ctr">
            <a:spAutoFit/>
          </a:bodyPr>
          <a:lstStyle/>
          <a:p>
            <a:r>
              <a:rPr lang="ja-JP" altLang="en-US" sz="2200" b="1" spc="50" dirty="0">
                <a:solidFill>
                  <a:schemeClr val="dk1"/>
                </a:solidFill>
                <a:latin typeface="+mj-ea"/>
                <a:ea typeface="+mj-ea"/>
              </a:rPr>
              <a:t>発行済全株式の譲渡（100%）</a:t>
            </a:r>
          </a:p>
        </p:txBody>
      </p:sp>
      <p:sp>
        <p:nvSpPr>
          <p:cNvPr id="23" name="正方形/長方形 22">
            <a:extLst>
              <a:ext uri="{FF2B5EF4-FFF2-40B4-BE49-F238E27FC236}">
                <a16:creationId xmlns:a16="http://schemas.microsoft.com/office/drawing/2014/main" id="{A4BC3D1B-6519-3EC6-F8C8-D12E5886EBA8}"/>
              </a:ext>
            </a:extLst>
          </p:cNvPr>
          <p:cNvSpPr/>
          <p:nvPr/>
        </p:nvSpPr>
        <p:spPr>
          <a:xfrm>
            <a:off x="908477" y="1467627"/>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条件</a:t>
            </a:r>
            <a:r>
              <a:rPr lang="en-US" altLang="ja-JP" b="1" spc="70" dirty="0">
                <a:solidFill>
                  <a:schemeClr val="bg1"/>
                </a:solidFill>
                <a:latin typeface="+mj-ea"/>
                <a:ea typeface="+mj-ea"/>
              </a:rPr>
              <a:t>1</a:t>
            </a:r>
          </a:p>
        </p:txBody>
      </p:sp>
      <p:sp>
        <p:nvSpPr>
          <p:cNvPr id="46" name="正方形/長方形 45">
            <a:extLst>
              <a:ext uri="{FF2B5EF4-FFF2-40B4-BE49-F238E27FC236}">
                <a16:creationId xmlns:a16="http://schemas.microsoft.com/office/drawing/2014/main" id="{538DA60A-A0C2-2AC4-6AFA-6E9A0A840E2F}"/>
              </a:ext>
            </a:extLst>
          </p:cNvPr>
          <p:cNvSpPr/>
          <p:nvPr/>
        </p:nvSpPr>
        <p:spPr>
          <a:xfrm>
            <a:off x="908477" y="1905968"/>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スキーム</a:t>
            </a:r>
            <a:endParaRPr lang="en-US" altLang="ja-JP" sz="1800" b="1" spc="70" dirty="0">
              <a:solidFill>
                <a:schemeClr val="tx2"/>
              </a:solidFill>
              <a:latin typeface="+mj-ea"/>
              <a:ea typeface="+mj-ea"/>
            </a:endParaRPr>
          </a:p>
        </p:txBody>
      </p:sp>
      <p:sp>
        <p:nvSpPr>
          <p:cNvPr id="47" name="二等辺三角形 46">
            <a:extLst>
              <a:ext uri="{FF2B5EF4-FFF2-40B4-BE49-F238E27FC236}">
                <a16:creationId xmlns:a16="http://schemas.microsoft.com/office/drawing/2014/main" id="{E30A0C32-ED58-E579-307E-2A50184F7621}"/>
              </a:ext>
            </a:extLst>
          </p:cNvPr>
          <p:cNvSpPr/>
          <p:nvPr/>
        </p:nvSpPr>
        <p:spPr>
          <a:xfrm rot="5400000">
            <a:off x="3953282" y="1731194"/>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54" name="正方形/長方形 53">
            <a:extLst>
              <a:ext uri="{FF2B5EF4-FFF2-40B4-BE49-F238E27FC236}">
                <a16:creationId xmlns:a16="http://schemas.microsoft.com/office/drawing/2014/main" id="{CF75FB02-E0C4-B24A-D8DD-19550648E691}"/>
              </a:ext>
            </a:extLst>
          </p:cNvPr>
          <p:cNvSpPr/>
          <p:nvPr/>
        </p:nvSpPr>
        <p:spPr>
          <a:xfrm>
            <a:off x="449262" y="2678813"/>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55" name="直線コネクタ 54">
            <a:extLst>
              <a:ext uri="{FF2B5EF4-FFF2-40B4-BE49-F238E27FC236}">
                <a16:creationId xmlns:a16="http://schemas.microsoft.com/office/drawing/2014/main" id="{031A2A35-DDED-EC21-CA05-09DA68DA2C0D}"/>
              </a:ext>
            </a:extLst>
          </p:cNvPr>
          <p:cNvCxnSpPr>
            <a:cxnSpLocks/>
          </p:cNvCxnSpPr>
          <p:nvPr/>
        </p:nvCxnSpPr>
        <p:spPr>
          <a:xfrm>
            <a:off x="3133558" y="2802819"/>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56" name="テキスト ボックス 55">
            <a:extLst>
              <a:ext uri="{FF2B5EF4-FFF2-40B4-BE49-F238E27FC236}">
                <a16:creationId xmlns:a16="http://schemas.microsoft.com/office/drawing/2014/main" id="{4F61C06A-72C7-F15D-8706-7F1E6F179BF5}"/>
              </a:ext>
            </a:extLst>
          </p:cNvPr>
          <p:cNvSpPr txBox="1"/>
          <p:nvPr/>
        </p:nvSpPr>
        <p:spPr>
          <a:xfrm>
            <a:off x="3151380" y="3156792"/>
            <a:ext cx="7074659" cy="338554"/>
          </a:xfrm>
          <a:prstGeom prst="rect">
            <a:avLst/>
          </a:prstGeom>
          <a:noFill/>
        </p:spPr>
        <p:txBody>
          <a:bodyPr wrap="square" lIns="1440000" tIns="0" rIns="0" bIns="0" rtlCol="0" anchor="ctr">
            <a:spAutoFit/>
          </a:bodyPr>
          <a:lstStyle>
            <a:defPPr marR="0" lvl="0" algn="l" rtl="0">
              <a:lnSpc>
                <a:spcPct val="100000"/>
              </a:lnSpc>
              <a:spcBef>
                <a:spcPts val="0"/>
              </a:spcBef>
              <a:spcAft>
                <a:spcPts val="0"/>
              </a:spcAft>
            </a:defPPr>
            <a:lvl1pPr algn="ctr">
              <a:defRPr sz="2200" b="1">
                <a:solidFill>
                  <a:schemeClr val="dk1"/>
                </a:solidFill>
                <a:latin typeface="+mj-ea"/>
                <a:ea typeface="+mj-ea"/>
              </a:defRPr>
            </a:lvl1pPr>
          </a:lstStyle>
          <a:p>
            <a:pPr algn="l"/>
            <a:r>
              <a:rPr lang="ja-JP" altLang="en-US" spc="50" dirty="0"/>
              <a:t>応相談</a:t>
            </a:r>
            <a:endParaRPr lang="en-US" altLang="ja-JP" spc="50" dirty="0"/>
          </a:p>
        </p:txBody>
      </p:sp>
      <p:sp>
        <p:nvSpPr>
          <p:cNvPr id="59" name="正方形/長方形 58">
            <a:extLst>
              <a:ext uri="{FF2B5EF4-FFF2-40B4-BE49-F238E27FC236}">
                <a16:creationId xmlns:a16="http://schemas.microsoft.com/office/drawing/2014/main" id="{CFFDBAD3-865C-CB13-2F89-BB6495428292}"/>
              </a:ext>
            </a:extLst>
          </p:cNvPr>
          <p:cNvSpPr/>
          <p:nvPr/>
        </p:nvSpPr>
        <p:spPr>
          <a:xfrm>
            <a:off x="908477" y="2920483"/>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条件</a:t>
            </a:r>
            <a:r>
              <a:rPr lang="en-US" altLang="ja-JP" b="1" spc="70" dirty="0">
                <a:solidFill>
                  <a:schemeClr val="bg1"/>
                </a:solidFill>
                <a:latin typeface="+mj-ea"/>
                <a:ea typeface="+mj-ea"/>
              </a:rPr>
              <a:t>2</a:t>
            </a:r>
          </a:p>
        </p:txBody>
      </p:sp>
      <p:sp>
        <p:nvSpPr>
          <p:cNvPr id="60" name="正方形/長方形 59">
            <a:extLst>
              <a:ext uri="{FF2B5EF4-FFF2-40B4-BE49-F238E27FC236}">
                <a16:creationId xmlns:a16="http://schemas.microsoft.com/office/drawing/2014/main" id="{C0C6D277-3738-13CF-070E-BA308BBE1973}"/>
              </a:ext>
            </a:extLst>
          </p:cNvPr>
          <p:cNvSpPr/>
          <p:nvPr/>
        </p:nvSpPr>
        <p:spPr>
          <a:xfrm>
            <a:off x="908477" y="3358824"/>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希望価格</a:t>
            </a:r>
          </a:p>
        </p:txBody>
      </p:sp>
      <p:sp>
        <p:nvSpPr>
          <p:cNvPr id="58" name="二等辺三角形 57">
            <a:extLst>
              <a:ext uri="{FF2B5EF4-FFF2-40B4-BE49-F238E27FC236}">
                <a16:creationId xmlns:a16="http://schemas.microsoft.com/office/drawing/2014/main" id="{C23C8717-6A45-2543-9780-94DF43068F77}"/>
              </a:ext>
            </a:extLst>
          </p:cNvPr>
          <p:cNvSpPr/>
          <p:nvPr/>
        </p:nvSpPr>
        <p:spPr>
          <a:xfrm rot="5400000">
            <a:off x="3953282" y="3184050"/>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62" name="正方形/長方形 61">
            <a:extLst>
              <a:ext uri="{FF2B5EF4-FFF2-40B4-BE49-F238E27FC236}">
                <a16:creationId xmlns:a16="http://schemas.microsoft.com/office/drawing/2014/main" id="{7140BAFD-DDE9-DDDD-13AE-F82ADD82CD40}"/>
              </a:ext>
            </a:extLst>
          </p:cNvPr>
          <p:cNvSpPr/>
          <p:nvPr/>
        </p:nvSpPr>
        <p:spPr>
          <a:xfrm>
            <a:off x="449262" y="4131669"/>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63" name="直線コネクタ 62">
            <a:extLst>
              <a:ext uri="{FF2B5EF4-FFF2-40B4-BE49-F238E27FC236}">
                <a16:creationId xmlns:a16="http://schemas.microsoft.com/office/drawing/2014/main" id="{364A6865-94EE-F5C9-85ED-D69680FD951A}"/>
              </a:ext>
            </a:extLst>
          </p:cNvPr>
          <p:cNvCxnSpPr>
            <a:cxnSpLocks/>
          </p:cNvCxnSpPr>
          <p:nvPr/>
        </p:nvCxnSpPr>
        <p:spPr>
          <a:xfrm>
            <a:off x="3133558" y="4255675"/>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56" name="テキスト ボックス 255">
            <a:extLst>
              <a:ext uri="{FF2B5EF4-FFF2-40B4-BE49-F238E27FC236}">
                <a16:creationId xmlns:a16="http://schemas.microsoft.com/office/drawing/2014/main" id="{B6D90125-A2A7-8289-0B44-6FD810A06C6F}"/>
              </a:ext>
            </a:extLst>
          </p:cNvPr>
          <p:cNvSpPr txBox="1"/>
          <p:nvPr/>
        </p:nvSpPr>
        <p:spPr>
          <a:xfrm>
            <a:off x="3151380" y="4265966"/>
            <a:ext cx="7074659" cy="1025922"/>
          </a:xfrm>
          <a:prstGeom prst="rect">
            <a:avLst/>
          </a:prstGeom>
          <a:noFill/>
        </p:spPr>
        <p:txBody>
          <a:bodyPr wrap="square" lIns="1368000" tIns="0" rIns="0" bIns="0" rtlCol="0" anchor="ctr">
            <a:spAutoFit/>
          </a:bodyPr>
          <a:lstStyle>
            <a:defPPr marR="0" lvl="0" algn="l" rtl="0">
              <a:lnSpc>
                <a:spcPct val="100000"/>
              </a:lnSpc>
              <a:spcBef>
                <a:spcPts val="0"/>
              </a:spcBef>
              <a:spcAft>
                <a:spcPts val="0"/>
              </a:spcAft>
            </a:defPPr>
            <a:lvl1pPr algn="ctr">
              <a:defRPr sz="2200" b="1">
                <a:solidFill>
                  <a:schemeClr val="dk1"/>
                </a:solidFill>
                <a:latin typeface="+mj-ea"/>
                <a:ea typeface="+mj-ea"/>
              </a:defRPr>
            </a:lvl1pPr>
          </a:lstStyle>
          <a:p>
            <a:pPr marL="324000" indent="-324000" algn="l">
              <a:spcAft>
                <a:spcPts val="200"/>
              </a:spcAft>
              <a:buClr>
                <a:schemeClr val="tx2"/>
              </a:buClr>
              <a:buFont typeface="游ゴシック" panose="020B0400000000000000" pitchFamily="50" charset="-128"/>
              <a:buChar char="▪"/>
            </a:pPr>
            <a:r>
              <a:rPr lang="ja-JP" altLang="en-US" sz="1200" spc="50" dirty="0"/>
              <a:t>代表者（淺野ゆう子氏）の連帯保証の解除</a:t>
            </a:r>
            <a:endParaRPr lang="en-US" altLang="ja-JP" sz="1200" spc="50" dirty="0"/>
          </a:p>
          <a:p>
            <a:pPr marL="324000" indent="-324000" algn="l">
              <a:spcAft>
                <a:spcPts val="200"/>
              </a:spcAft>
              <a:buClr>
                <a:schemeClr val="tx2"/>
              </a:buClr>
              <a:buFont typeface="游ゴシック" panose="020B0400000000000000" pitchFamily="50" charset="-128"/>
              <a:buChar char="▪"/>
            </a:pPr>
            <a:r>
              <a:rPr lang="ja-JP" altLang="en-US" sz="1200" spc="50" dirty="0"/>
              <a:t>役員借入金の返済（2025年11月期末7,566千円／2026年6月末3,403千円）</a:t>
            </a:r>
            <a:endParaRPr lang="en-US" altLang="ja-JP" sz="1200" spc="50" dirty="0"/>
          </a:p>
          <a:p>
            <a:pPr marL="324000" indent="-324000" algn="l">
              <a:spcAft>
                <a:spcPts val="200"/>
              </a:spcAft>
              <a:buClr>
                <a:schemeClr val="tx2"/>
              </a:buClr>
              <a:buFont typeface="游ゴシック" panose="020B0400000000000000" pitchFamily="50" charset="-128"/>
              <a:buChar char="▪"/>
            </a:pPr>
            <a:r>
              <a:rPr lang="ja-JP" altLang="en-US" sz="1200" spc="50" dirty="0"/>
              <a:t>従業員の継続雇用、および取引先（FC本部・仕入先）との取引継続</a:t>
            </a:r>
            <a:endParaRPr lang="en-US" altLang="ja-JP" sz="1200" spc="50" dirty="0"/>
          </a:p>
          <a:p>
            <a:pPr marL="324000" indent="-324000" algn="l">
              <a:spcAft>
                <a:spcPts val="200"/>
              </a:spcAft>
              <a:buClr>
                <a:schemeClr val="tx2"/>
              </a:buClr>
              <a:buFont typeface="游ゴシック" panose="020B0400000000000000" pitchFamily="50" charset="-128"/>
              <a:buChar char="▪"/>
            </a:pPr>
            <a:r>
              <a:rPr lang="ja-JP" altLang="en-US" sz="1200" spc="50" dirty="0"/>
              <a:t>引継期間は柔軟に対応可能。代表者は引継完了後に退任予定</a:t>
            </a:r>
            <a:endParaRPr lang="en-US" altLang="ja-JP" sz="1200" spc="50" dirty="0"/>
          </a:p>
          <a:p>
            <a:pPr marL="324000" indent="-324000" algn="l">
              <a:spcAft>
                <a:spcPts val="200"/>
              </a:spcAft>
              <a:buClr>
                <a:schemeClr val="tx2"/>
              </a:buClr>
              <a:buFont typeface="游ゴシック" panose="020B0400000000000000" pitchFamily="50" charset="-128"/>
              <a:buChar char="▪"/>
            </a:pPr>
            <a:r>
              <a:rPr lang="ja-JP" altLang="en-US" sz="1200" spc="50" dirty="0"/>
              <a:t>現場責任者の淺野崇氏（代表者の配偶者）は譲渡後も継続関与を想定（要確認）</a:t>
            </a:r>
            <a:endParaRPr lang="en-US" altLang="ja-JP" sz="1200" spc="50" dirty="0"/>
          </a:p>
        </p:txBody>
      </p:sp>
      <p:sp>
        <p:nvSpPr>
          <p:cNvPr id="259" name="正方形/長方形 258">
            <a:extLst>
              <a:ext uri="{FF2B5EF4-FFF2-40B4-BE49-F238E27FC236}">
                <a16:creationId xmlns:a16="http://schemas.microsoft.com/office/drawing/2014/main" id="{11BED845-77D7-96E2-7088-05671252A4BC}"/>
              </a:ext>
            </a:extLst>
          </p:cNvPr>
          <p:cNvSpPr/>
          <p:nvPr/>
        </p:nvSpPr>
        <p:spPr>
          <a:xfrm>
            <a:off x="908477" y="4373339"/>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条件</a:t>
            </a:r>
            <a:r>
              <a:rPr lang="en-US" altLang="ja-JP" b="1" spc="70" dirty="0">
                <a:solidFill>
                  <a:schemeClr val="bg1"/>
                </a:solidFill>
                <a:latin typeface="+mj-ea"/>
                <a:ea typeface="+mj-ea"/>
              </a:rPr>
              <a:t>3</a:t>
            </a:r>
          </a:p>
        </p:txBody>
      </p:sp>
      <p:sp>
        <p:nvSpPr>
          <p:cNvPr id="260" name="正方形/長方形 259">
            <a:extLst>
              <a:ext uri="{FF2B5EF4-FFF2-40B4-BE49-F238E27FC236}">
                <a16:creationId xmlns:a16="http://schemas.microsoft.com/office/drawing/2014/main" id="{6B9DA270-CEE2-C021-D23B-6674C7B58B8F}"/>
              </a:ext>
            </a:extLst>
          </p:cNvPr>
          <p:cNvSpPr/>
          <p:nvPr/>
        </p:nvSpPr>
        <p:spPr>
          <a:xfrm>
            <a:off x="908477" y="4811680"/>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付帯条件</a:t>
            </a:r>
          </a:p>
        </p:txBody>
      </p:sp>
      <p:sp>
        <p:nvSpPr>
          <p:cNvPr id="258" name="二等辺三角形 257">
            <a:extLst>
              <a:ext uri="{FF2B5EF4-FFF2-40B4-BE49-F238E27FC236}">
                <a16:creationId xmlns:a16="http://schemas.microsoft.com/office/drawing/2014/main" id="{ED431A8E-E118-9737-A89C-BA75554554F2}"/>
              </a:ext>
            </a:extLst>
          </p:cNvPr>
          <p:cNvSpPr/>
          <p:nvPr/>
        </p:nvSpPr>
        <p:spPr>
          <a:xfrm rot="5400000">
            <a:off x="3953282" y="4636906"/>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262" name="正方形/長方形 261">
            <a:extLst>
              <a:ext uri="{FF2B5EF4-FFF2-40B4-BE49-F238E27FC236}">
                <a16:creationId xmlns:a16="http://schemas.microsoft.com/office/drawing/2014/main" id="{0DA87416-6EB3-2B9D-5D99-EBF7AD989A1A}"/>
              </a:ext>
            </a:extLst>
          </p:cNvPr>
          <p:cNvSpPr/>
          <p:nvPr/>
        </p:nvSpPr>
        <p:spPr>
          <a:xfrm>
            <a:off x="449262" y="5584525"/>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263" name="直線コネクタ 262">
            <a:extLst>
              <a:ext uri="{FF2B5EF4-FFF2-40B4-BE49-F238E27FC236}">
                <a16:creationId xmlns:a16="http://schemas.microsoft.com/office/drawing/2014/main" id="{348C7A7D-E8C0-8FBA-0152-B09944A67B14}"/>
              </a:ext>
            </a:extLst>
          </p:cNvPr>
          <p:cNvCxnSpPr>
            <a:cxnSpLocks/>
          </p:cNvCxnSpPr>
          <p:nvPr/>
        </p:nvCxnSpPr>
        <p:spPr>
          <a:xfrm>
            <a:off x="3133558" y="5708531"/>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67" name="正方形/長方形 266">
            <a:extLst>
              <a:ext uri="{FF2B5EF4-FFF2-40B4-BE49-F238E27FC236}">
                <a16:creationId xmlns:a16="http://schemas.microsoft.com/office/drawing/2014/main" id="{5C906CE1-F422-F0CF-35F9-FA21CDF60987}"/>
              </a:ext>
            </a:extLst>
          </p:cNvPr>
          <p:cNvSpPr/>
          <p:nvPr/>
        </p:nvSpPr>
        <p:spPr>
          <a:xfrm>
            <a:off x="908477" y="5826195"/>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その他</a:t>
            </a:r>
            <a:endParaRPr lang="en-US" altLang="ja-JP" b="1" spc="70" dirty="0">
              <a:solidFill>
                <a:schemeClr val="bg1"/>
              </a:solidFill>
              <a:latin typeface="+mj-ea"/>
              <a:ea typeface="+mj-ea"/>
            </a:endParaRPr>
          </a:p>
        </p:txBody>
      </p:sp>
      <p:sp>
        <p:nvSpPr>
          <p:cNvPr id="268" name="正方形/長方形 267">
            <a:extLst>
              <a:ext uri="{FF2B5EF4-FFF2-40B4-BE49-F238E27FC236}">
                <a16:creationId xmlns:a16="http://schemas.microsoft.com/office/drawing/2014/main" id="{46529E79-2433-FBD9-6238-E748A585579E}"/>
              </a:ext>
            </a:extLst>
          </p:cNvPr>
          <p:cNvSpPr/>
          <p:nvPr/>
        </p:nvSpPr>
        <p:spPr>
          <a:xfrm>
            <a:off x="908477" y="6264536"/>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譲渡理由</a:t>
            </a:r>
          </a:p>
        </p:txBody>
      </p:sp>
      <p:sp>
        <p:nvSpPr>
          <p:cNvPr id="266" name="二等辺三角形 265">
            <a:extLst>
              <a:ext uri="{FF2B5EF4-FFF2-40B4-BE49-F238E27FC236}">
                <a16:creationId xmlns:a16="http://schemas.microsoft.com/office/drawing/2014/main" id="{94757AC3-62D5-3E6F-15D0-8CC989986978}"/>
              </a:ext>
            </a:extLst>
          </p:cNvPr>
          <p:cNvSpPr/>
          <p:nvPr/>
        </p:nvSpPr>
        <p:spPr>
          <a:xfrm rot="5400000">
            <a:off x="3953282" y="6089762"/>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2" name="テキスト ボックス 1">
            <a:extLst>
              <a:ext uri="{FF2B5EF4-FFF2-40B4-BE49-F238E27FC236}">
                <a16:creationId xmlns:a16="http://schemas.microsoft.com/office/drawing/2014/main" id="{ACA65C26-85FE-7632-463B-0FBA87B2AA4D}"/>
              </a:ext>
            </a:extLst>
          </p:cNvPr>
          <p:cNvSpPr txBox="1"/>
          <p:nvPr/>
        </p:nvSpPr>
        <p:spPr>
          <a:xfrm>
            <a:off x="3151380" y="6095259"/>
            <a:ext cx="7074659" cy="338554"/>
          </a:xfrm>
          <a:prstGeom prst="rect">
            <a:avLst/>
          </a:prstGeom>
          <a:noFill/>
        </p:spPr>
        <p:txBody>
          <a:bodyPr wrap="square" lIns="1440000" tIns="0" rIns="0" bIns="0" rtlCol="0" anchor="ctr">
            <a:spAutoFit/>
          </a:bodyPr>
          <a:lstStyle/>
          <a:p>
            <a:r>
              <a:rPr lang="ja-JP" altLang="en-US" sz="2200" b="1" spc="50" dirty="0">
                <a:solidFill>
                  <a:schemeClr val="dk1"/>
                </a:solidFill>
                <a:latin typeface="+mj-ea"/>
                <a:ea typeface="+mj-ea"/>
              </a:rPr>
              <a:t>成長戦略（資本力・経営基盤のある企業グループの下での多店舗展開の加速）</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EAEF2-738C-97B3-4696-F3BB344E55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6C9D74-25B9-202B-100C-14E88F8A35B4}"/>
              </a:ext>
            </a:extLst>
          </p:cNvPr>
          <p:cNvSpPr>
            <a:spLocks noGrp="1"/>
          </p:cNvSpPr>
          <p:nvPr>
            <p:ph type="title"/>
          </p:nvPr>
        </p:nvSpPr>
        <p:spPr>
          <a:xfrm>
            <a:off x="989013" y="3656161"/>
            <a:ext cx="9221787" cy="615553"/>
          </a:xfrm>
        </p:spPr>
        <p:txBody>
          <a:bodyPr/>
          <a:lstStyle/>
          <a:p>
            <a:r>
              <a:rPr lang="ja-JP" altLang="en-US" dirty="0"/>
              <a:t>事業概要</a:t>
            </a:r>
            <a:endParaRPr lang="en-US" altLang="ja-JP" dirty="0"/>
          </a:p>
        </p:txBody>
      </p:sp>
      <p:pic>
        <p:nvPicPr>
          <p:cNvPr id="7" name="図 6">
            <a:extLst>
              <a:ext uri="{FF2B5EF4-FFF2-40B4-BE49-F238E27FC236}">
                <a16:creationId xmlns:a16="http://schemas.microsoft.com/office/drawing/2014/main" id="{C8D5CA77-B77E-EE25-04B7-23BDB60E0B2A}"/>
              </a:ext>
            </a:extLst>
          </p:cNvPr>
          <p:cNvPicPr>
            <a:picLocks noChangeAspect="1"/>
          </p:cNvPicPr>
          <p:nvPr/>
        </p:nvPicPr>
        <p:blipFill>
          <a:blip/>
          <a:stretch>
            <a:fillRect/>
          </a:stretch>
        </p:blipFill>
        <p:spPr>
          <a:xfrm>
            <a:off x="7776467" y="3981785"/>
            <a:ext cx="21" cy="20"/>
          </a:xfrm>
          <a:prstGeom prst="rect">
            <a:avLst/>
          </a:prstGeom>
        </p:spPr>
      </p:pic>
      <p:pic>
        <p:nvPicPr>
          <p:cNvPr id="9" name="図 8">
            <a:extLst>
              <a:ext uri="{FF2B5EF4-FFF2-40B4-BE49-F238E27FC236}">
                <a16:creationId xmlns:a16="http://schemas.microsoft.com/office/drawing/2014/main" id="{5841CF96-EF85-6F41-A092-6ED9083D3E7C}"/>
              </a:ext>
            </a:extLst>
          </p:cNvPr>
          <p:cNvPicPr>
            <a:picLocks noChangeAspect="1"/>
          </p:cNvPicPr>
          <p:nvPr/>
        </p:nvPicPr>
        <p:blipFill>
          <a:blip/>
          <a:stretch>
            <a:fillRect/>
          </a:stretch>
        </p:blipFill>
        <p:spPr>
          <a:xfrm>
            <a:off x="7776467" y="3981785"/>
            <a:ext cx="21" cy="20"/>
          </a:xfrm>
          <a:prstGeom prst="rect">
            <a:avLst/>
          </a:prstGeom>
        </p:spPr>
      </p:pic>
    </p:spTree>
    <p:extLst>
      <p:ext uri="{BB962C8B-B14F-4D97-AF65-F5344CB8AC3E}">
        <p14:creationId xmlns:p14="http://schemas.microsoft.com/office/powerpoint/2010/main" val="40851993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DAF01-C12B-9043-B114-455CAA33D0F7}"/>
            </a:ext>
          </a:extLst>
        </p:cNvPr>
        <p:cNvGrpSpPr/>
        <p:nvPr/>
      </p:nvGrpSpPr>
      <p:grpSpPr>
        <a:xfrm>
          <a:off x="0" y="0"/>
          <a:ext cx="0" cy="0"/>
          <a:chOff x="0" y="0"/>
          <a:chExt cx="0" cy="0"/>
        </a:xfrm>
      </p:grpSpPr>
      <p:sp>
        <p:nvSpPr>
          <p:cNvPr id="5" name="正方形/長方形 4">
            <a:extLst>
              <a:ext uri="{FF2B5EF4-FFF2-40B4-BE49-F238E27FC236}">
                <a16:creationId xmlns:a16="http://schemas.microsoft.com/office/drawing/2014/main" id="{E743677C-E154-B684-80CF-3F2817127171}"/>
              </a:ext>
            </a:extLst>
          </p:cNvPr>
          <p:cNvSpPr/>
          <p:nvPr/>
        </p:nvSpPr>
        <p:spPr>
          <a:xfrm>
            <a:off x="449262" y="1481694"/>
            <a:ext cx="2160000" cy="5472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tIns="180000" rtlCol="0" anchor="t"/>
          <a:lstStyle/>
          <a:p>
            <a:pPr algn="ctr"/>
            <a:r>
              <a:rPr kumimoji="1" lang="ja-JP" altLang="en-US" sz="1800" b="1" spc="100" dirty="0">
                <a:solidFill>
                  <a:sysClr val="windowText" lastClr="000000"/>
                </a:solidFill>
                <a:latin typeface="游ゴシック" panose="020B0400000000000000" pitchFamily="50" charset="-128"/>
                <a:ea typeface="游ゴシック" panose="020B0400000000000000" pitchFamily="50" charset="-128"/>
              </a:rPr>
              <a:t>主要仕入先</a:t>
            </a:r>
          </a:p>
        </p:txBody>
      </p:sp>
      <p:sp>
        <p:nvSpPr>
          <p:cNvPr id="17" name="正方形/長方形 16">
            <a:extLst>
              <a:ext uri="{FF2B5EF4-FFF2-40B4-BE49-F238E27FC236}">
                <a16:creationId xmlns:a16="http://schemas.microsoft.com/office/drawing/2014/main" id="{6FD21BE9-2FB9-6DA0-CBB4-78D9B31143EA}"/>
              </a:ext>
            </a:extLst>
          </p:cNvPr>
          <p:cNvSpPr/>
          <p:nvPr/>
        </p:nvSpPr>
        <p:spPr>
          <a:xfrm>
            <a:off x="8082550" y="1463675"/>
            <a:ext cx="2160000" cy="5472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tIns="180000" rtlCol="0" anchor="t"/>
          <a:lstStyle/>
          <a:p>
            <a:pPr algn="ctr"/>
            <a:r>
              <a:rPr kumimoji="1" lang="ja-JP" altLang="en-US" sz="1800" b="1" spc="100">
                <a:solidFill>
                  <a:sysClr val="windowText" lastClr="000000"/>
                </a:solidFill>
                <a:latin typeface="游ゴシック" panose="020B0400000000000000" pitchFamily="50" charset="-128"/>
                <a:ea typeface="游ゴシック" panose="020B0400000000000000" pitchFamily="50" charset="-128"/>
              </a:rPr>
              <a:t>主要販売先</a:t>
            </a:r>
          </a:p>
        </p:txBody>
      </p:sp>
      <p:sp>
        <p:nvSpPr>
          <p:cNvPr id="21" name="正方形/長方形 20">
            <a:extLst>
              <a:ext uri="{FF2B5EF4-FFF2-40B4-BE49-F238E27FC236}">
                <a16:creationId xmlns:a16="http://schemas.microsoft.com/office/drawing/2014/main" id="{95D20CE9-562D-5FB0-80DD-F3BD3CE1D49C}"/>
              </a:ext>
            </a:extLst>
          </p:cNvPr>
          <p:cNvSpPr/>
          <p:nvPr/>
        </p:nvSpPr>
        <p:spPr>
          <a:xfrm>
            <a:off x="2933906" y="1487165"/>
            <a:ext cx="4824000" cy="401648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tIns="180000" rtlCol="0" anchor="t"/>
          <a:lstStyle/>
          <a:p>
            <a:pPr algn="ctr"/>
            <a:r>
              <a:rPr kumimoji="1" lang="ja-JP" altLang="en-US" sz="1800" b="1" spc="100" dirty="0">
                <a:solidFill>
                  <a:sysClr val="windowText" lastClr="000000"/>
                </a:solidFill>
                <a:latin typeface="游ゴシック" panose="020B0400000000000000" pitchFamily="50" charset="-128"/>
                <a:ea typeface="游ゴシック" panose="020B0400000000000000" pitchFamily="50" charset="-128"/>
              </a:rPr>
              <a:t>対象会社</a:t>
            </a:r>
          </a:p>
        </p:txBody>
      </p:sp>
      <p:cxnSp>
        <p:nvCxnSpPr>
          <p:cNvPr id="24" name="直線コネクタ 23">
            <a:extLst>
              <a:ext uri="{FF2B5EF4-FFF2-40B4-BE49-F238E27FC236}">
                <a16:creationId xmlns:a16="http://schemas.microsoft.com/office/drawing/2014/main" id="{F5D312B4-FD5F-5D39-501F-FA5FF893E938}"/>
              </a:ext>
            </a:extLst>
          </p:cNvPr>
          <p:cNvCxnSpPr>
            <a:cxnSpLocks/>
          </p:cNvCxnSpPr>
          <p:nvPr/>
        </p:nvCxnSpPr>
        <p:spPr>
          <a:xfrm>
            <a:off x="2933907" y="1467042"/>
            <a:ext cx="4824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8" name="正方形/長方形 7">
            <a:extLst>
              <a:ext uri="{FF2B5EF4-FFF2-40B4-BE49-F238E27FC236}">
                <a16:creationId xmlns:a16="http://schemas.microsoft.com/office/drawing/2014/main" id="{46E42F7C-FE44-EBE8-0D30-C704D342DE1D}"/>
              </a:ext>
            </a:extLst>
          </p:cNvPr>
          <p:cNvSpPr/>
          <p:nvPr/>
        </p:nvSpPr>
        <p:spPr>
          <a:xfrm>
            <a:off x="297929" y="2184743"/>
            <a:ext cx="2267950" cy="1296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288000" tIns="0" rIns="0" bIns="0" rtlCol="0" anchor="t">
            <a:noAutofit/>
          </a:bodyPr>
          <a:lstStyle/>
          <a:p>
            <a:pPr marL="180000" indent="-180000">
              <a:lnSpc>
                <a:spcPct val="120000"/>
              </a:lnSpc>
              <a:spcAft>
                <a:spcPts val="500"/>
              </a:spcAft>
              <a:buClr>
                <a:schemeClr val="tx2"/>
              </a:buClr>
              <a:buFont typeface="游ゴシック" panose="020B0400000000000000" pitchFamily="50" charset="-128"/>
              <a:buChar char="▪"/>
            </a:pPr>
            <a:r>
              <a:rPr kumimoji="1" lang="ja-JP" altLang="en-US" sz="1000" b="1" spc="50" dirty="0">
                <a:solidFill>
                  <a:sysClr val="windowText" lastClr="000000"/>
                </a:solidFill>
                <a:latin typeface="游ゴシック" panose="020B0400000000000000" pitchFamily="50" charset="-128"/>
                <a:ea typeface="游ゴシック" panose="020B0400000000000000" pitchFamily="50" charset="-128"/>
              </a:rPr>
              <a:t>ジャペル㈱（59%）</a:t>
            </a:r>
          </a:p>
          <a:p>
            <a:pPr marL="180000" indent="-180000">
              <a:lnSpc>
                <a:spcPct val="120000"/>
              </a:lnSpc>
              <a:spcAft>
                <a:spcPts val="500"/>
              </a:spcAft>
              <a:buClr>
                <a:schemeClr val="tx2"/>
              </a:buClr>
              <a:buFont typeface="游ゴシック" panose="020B0400000000000000" pitchFamily="50" charset="-128"/>
              <a:buChar char="▪"/>
            </a:pPr>
            <a:r>
              <a:rPr kumimoji="1" lang="ja-JP" altLang="en-US" sz="1000" b="1" spc="50" dirty="0">
                <a:solidFill>
                  <a:sysClr val="windowText" lastClr="000000"/>
                </a:solidFill>
                <a:latin typeface="游ゴシック" panose="020B0400000000000000" pitchFamily="50" charset="-128"/>
                <a:ea typeface="游ゴシック" panose="020B0400000000000000" pitchFamily="50" charset="-128"/>
              </a:rPr>
              <a:t>㈲ワンラブ（FC本部・16%）</a:t>
            </a:r>
          </a:p>
          <a:p>
            <a:pPr marL="180000" indent="-180000">
              <a:lnSpc>
                <a:spcPct val="120000"/>
              </a:lnSpc>
              <a:spcAft>
                <a:spcPts val="500"/>
              </a:spcAft>
              <a:buClr>
                <a:schemeClr val="tx2"/>
              </a:buClr>
              <a:buFont typeface="游ゴシック" panose="020B0400000000000000" pitchFamily="50" charset="-128"/>
              <a:buChar char="▪"/>
            </a:pPr>
            <a:r>
              <a:rPr kumimoji="1" lang="ja-JP" altLang="en-US" sz="1000" b="1" spc="50" dirty="0">
                <a:solidFill>
                  <a:sysClr val="windowText" lastClr="000000"/>
                </a:solidFill>
                <a:latin typeface="游ゴシック" panose="020B0400000000000000" pitchFamily="50" charset="-128"/>
                <a:ea typeface="游ゴシック" panose="020B0400000000000000" pitchFamily="50" charset="-128"/>
              </a:rPr>
              <a:t>個人ブリーダー（10%）</a:t>
            </a:r>
          </a:p>
          <a:p>
            <a:pPr marL="180000" indent="-180000">
              <a:lnSpc>
                <a:spcPct val="120000"/>
              </a:lnSpc>
              <a:spcAft>
                <a:spcPts val="500"/>
              </a:spcAft>
              <a:buClr>
                <a:schemeClr val="tx2"/>
              </a:buClr>
              <a:buFont typeface="游ゴシック" panose="020B0400000000000000" pitchFamily="50" charset="-128"/>
              <a:buChar char="▪"/>
            </a:pPr>
            <a:r>
              <a:rPr kumimoji="1" lang="ja-JP" altLang="en-US" sz="1000" b="1" spc="50" dirty="0">
                <a:solidFill>
                  <a:sysClr val="windowText" lastClr="000000"/>
                </a:solidFill>
                <a:latin typeface="游ゴシック" panose="020B0400000000000000" pitchFamily="50" charset="-128"/>
                <a:ea typeface="游ゴシック" panose="020B0400000000000000" pitchFamily="50" charset="-128"/>
              </a:rPr>
              <a:t>デザイナーズワン㈱（5%）</a:t>
            </a:r>
          </a:p>
        </p:txBody>
      </p:sp>
      <p:sp>
        <p:nvSpPr>
          <p:cNvPr id="13" name="正方形/長方形 12">
            <a:extLst>
              <a:ext uri="{FF2B5EF4-FFF2-40B4-BE49-F238E27FC236}">
                <a16:creationId xmlns:a16="http://schemas.microsoft.com/office/drawing/2014/main" id="{5CEF68BA-14D9-A2BB-9103-0A8466BCAE95}"/>
              </a:ext>
            </a:extLst>
          </p:cNvPr>
          <p:cNvSpPr/>
          <p:nvPr/>
        </p:nvSpPr>
        <p:spPr>
          <a:xfrm>
            <a:off x="8224441" y="2184743"/>
            <a:ext cx="2267950" cy="1296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288000" tIns="0" rIns="0" bIns="0" rtlCol="0" anchor="t">
            <a:noAutofit/>
          </a:bodyPr>
          <a:lstStyle/>
          <a:p>
            <a:pPr marL="180000" indent="-180000">
              <a:lnSpc>
                <a:spcPct val="120000"/>
              </a:lnSpc>
              <a:spcAft>
                <a:spcPts val="500"/>
              </a:spcAft>
              <a:buClr>
                <a:schemeClr val="tx2"/>
              </a:buClr>
              <a:buFont typeface="游ゴシック" panose="020B0400000000000000" pitchFamily="50" charset="-128"/>
              <a:buChar char="▪"/>
            </a:pPr>
            <a:r>
              <a:rPr kumimoji="1" lang="ja-JP" altLang="en-US" sz="1000" b="1" spc="50" dirty="0">
                <a:solidFill>
                  <a:sysClr val="windowText" lastClr="000000"/>
                </a:solidFill>
                <a:latin typeface="游ゴシック" panose="020B0400000000000000" pitchFamily="50" charset="-128"/>
                <a:ea typeface="游ゴシック" panose="020B0400000000000000" pitchFamily="50" charset="-128"/>
              </a:rPr>
              <a:t>一般個人顧客（売上の99%）</a:t>
            </a:r>
            <a:endParaRPr kumimoji="1" lang="en-US" altLang="ja-JP" sz="1200" b="1" spc="50" dirty="0">
              <a:solidFill>
                <a:sysClr val="windowText" lastClr="000000"/>
              </a:solidFill>
              <a:latin typeface="游ゴシック" panose="020B0400000000000000" pitchFamily="50" charset="-128"/>
              <a:ea typeface="游ゴシック" panose="020B0400000000000000" pitchFamily="50" charset="-128"/>
            </a:endParaRPr>
          </a:p>
          <a:p>
            <a:pPr marL="180000" indent="-180000">
              <a:lnSpc>
                <a:spcPct val="120000"/>
              </a:lnSpc>
              <a:spcAft>
                <a:spcPts val="500"/>
              </a:spcAft>
              <a:buClr>
                <a:schemeClr val="tx2"/>
              </a:buClr>
              <a:buFont typeface="游ゴシック" panose="020B0400000000000000" pitchFamily="50" charset="-128"/>
              <a:buChar char="▪"/>
            </a:pPr>
            <a:r>
              <a:rPr kumimoji="1" lang="ja-JP" altLang="en-US" sz="1000" b="1" spc="50" dirty="0">
                <a:solidFill>
                  <a:sysClr val="windowText" lastClr="000000"/>
                </a:solidFill>
                <a:latin typeface="游ゴシック" panose="020B0400000000000000" pitchFamily="50" charset="-128"/>
                <a:ea typeface="游ゴシック" panose="020B0400000000000000" pitchFamily="50" charset="-128"/>
              </a:rPr>
              <a:t>東海圏（岐阜・愛知・三重）</a:t>
            </a:r>
            <a:endParaRPr kumimoji="1" lang="en-US" altLang="ja-JP" sz="1200" b="1" spc="50" dirty="0">
              <a:solidFill>
                <a:sysClr val="windowText" lastClr="000000"/>
              </a:solidFill>
              <a:latin typeface="游ゴシック" panose="020B0400000000000000" pitchFamily="50" charset="-128"/>
              <a:ea typeface="游ゴシック" panose="020B0400000000000000" pitchFamily="50" charset="-128"/>
            </a:endParaRPr>
          </a:p>
          <a:p>
            <a:pPr marL="180000" indent="-180000">
              <a:lnSpc>
                <a:spcPct val="120000"/>
              </a:lnSpc>
              <a:spcAft>
                <a:spcPts val="500"/>
              </a:spcAft>
              <a:buClr>
                <a:schemeClr val="tx2"/>
              </a:buClr>
              <a:buFont typeface="游ゴシック" panose="020B0400000000000000" pitchFamily="50" charset="-128"/>
              <a:buChar char="▪"/>
            </a:pPr>
            <a:r>
              <a:rPr kumimoji="1" lang="ja-JP" altLang="en-US" sz="1000" b="1" spc="50" dirty="0">
                <a:solidFill>
                  <a:sysClr val="windowText" lastClr="000000"/>
                </a:solidFill>
                <a:latin typeface="游ゴシック" panose="020B0400000000000000" pitchFamily="50" charset="-128"/>
                <a:ea typeface="游ゴシック" panose="020B0400000000000000" pitchFamily="50" charset="-128"/>
              </a:rPr>
              <a:t>関西圏（大阪）の来店客</a:t>
            </a:r>
            <a:endParaRPr kumimoji="1" lang="en-US" altLang="ja-JP" sz="1200" b="1" spc="50" dirty="0">
              <a:solidFill>
                <a:sysClr val="windowText" lastClr="000000"/>
              </a:solidFill>
              <a:latin typeface="游ゴシック" panose="020B0400000000000000" pitchFamily="50" charset="-128"/>
              <a:ea typeface="游ゴシック" panose="020B0400000000000000" pitchFamily="50" charset="-128"/>
            </a:endParaRPr>
          </a:p>
          <a:p>
            <a:pPr marL="180000" indent="-180000">
              <a:lnSpc>
                <a:spcPct val="120000"/>
              </a:lnSpc>
              <a:spcAft>
                <a:spcPts val="500"/>
              </a:spcAft>
              <a:buClr>
                <a:schemeClr val="tx2"/>
              </a:buClr>
              <a:buFont typeface="游ゴシック" panose="020B0400000000000000" pitchFamily="50" charset="-128"/>
              <a:buChar char="▪"/>
            </a:pPr>
            <a:r>
              <a:rPr kumimoji="1" lang="ja-JP" altLang="en-US" sz="1000" b="1" spc="50" dirty="0">
                <a:solidFill>
                  <a:sysClr val="windowText" lastClr="000000"/>
                </a:solidFill>
                <a:latin typeface="游ゴシック" panose="020B0400000000000000" pitchFamily="50" charset="-128"/>
                <a:ea typeface="游ゴシック" panose="020B0400000000000000" pitchFamily="50" charset="-128"/>
              </a:rPr>
              <a:t>決済：現金・カード・PayPay</a:t>
            </a:r>
            <a:endParaRPr kumimoji="1" lang="en-US" altLang="ja-JP" sz="1200" b="1" spc="50" dirty="0">
              <a:solidFill>
                <a:sysClr val="windowText" lastClr="000000"/>
              </a:solidFill>
              <a:latin typeface="游ゴシック" panose="020B0400000000000000" pitchFamily="50" charset="-128"/>
              <a:ea typeface="游ゴシック" panose="020B0400000000000000" pitchFamily="50" charset="-128"/>
            </a:endParaRPr>
          </a:p>
        </p:txBody>
      </p:sp>
      <p:sp>
        <p:nvSpPr>
          <p:cNvPr id="4" name="タイトル 3">
            <a:extLst>
              <a:ext uri="{FF2B5EF4-FFF2-40B4-BE49-F238E27FC236}">
                <a16:creationId xmlns:a16="http://schemas.microsoft.com/office/drawing/2014/main" id="{E91DD8E0-55E1-1614-7417-2E76D253FEAD}"/>
              </a:ext>
            </a:extLst>
          </p:cNvPr>
          <p:cNvSpPr>
            <a:spLocks noGrp="1"/>
          </p:cNvSpPr>
          <p:nvPr>
            <p:ph type="ctrTitle"/>
          </p:nvPr>
        </p:nvSpPr>
        <p:spPr/>
        <p:txBody>
          <a:bodyPr/>
          <a:lstStyle/>
          <a:p>
            <a:r>
              <a:rPr lang="ja-JP" altLang="en-US" dirty="0">
                <a:latin typeface="游ゴシック" panose="020B0400000000000000" pitchFamily="50" charset="-128"/>
                <a:ea typeface="游ゴシック" panose="020B0400000000000000" pitchFamily="50" charset="-128"/>
              </a:rPr>
              <a:t>商流</a:t>
            </a:r>
          </a:p>
        </p:txBody>
      </p:sp>
      <p:sp>
        <p:nvSpPr>
          <p:cNvPr id="20" name="タイトル 1">
            <a:extLst>
              <a:ext uri="{FF2B5EF4-FFF2-40B4-BE49-F238E27FC236}">
                <a16:creationId xmlns:a16="http://schemas.microsoft.com/office/drawing/2014/main" id="{96C927CB-5A9B-C47E-368A-3579B2595C1E}"/>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dirty="0">
                <a:latin typeface="游ゴシック" panose="020B0400000000000000" pitchFamily="50" charset="-128"/>
                <a:ea typeface="游ゴシック" panose="020B0400000000000000" pitchFamily="50" charset="-128"/>
              </a:rPr>
              <a:t>事業概要</a:t>
            </a:r>
          </a:p>
        </p:txBody>
      </p:sp>
      <p:cxnSp>
        <p:nvCxnSpPr>
          <p:cNvPr id="16" name="直線コネクタ 15">
            <a:extLst>
              <a:ext uri="{FF2B5EF4-FFF2-40B4-BE49-F238E27FC236}">
                <a16:creationId xmlns:a16="http://schemas.microsoft.com/office/drawing/2014/main" id="{FD5050F0-3C11-BC61-1EAA-56B714331E84}"/>
              </a:ext>
            </a:extLst>
          </p:cNvPr>
          <p:cNvCxnSpPr>
            <a:cxnSpLocks/>
          </p:cNvCxnSpPr>
          <p:nvPr/>
        </p:nvCxnSpPr>
        <p:spPr>
          <a:xfrm>
            <a:off x="449263" y="1467042"/>
            <a:ext cx="2160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9" name="直線コネクタ 18">
            <a:extLst>
              <a:ext uri="{FF2B5EF4-FFF2-40B4-BE49-F238E27FC236}">
                <a16:creationId xmlns:a16="http://schemas.microsoft.com/office/drawing/2014/main" id="{4E6E5648-22F1-DE1E-6020-D47989377CA9}"/>
              </a:ext>
            </a:extLst>
          </p:cNvPr>
          <p:cNvCxnSpPr>
            <a:cxnSpLocks/>
          </p:cNvCxnSpPr>
          <p:nvPr/>
        </p:nvCxnSpPr>
        <p:spPr>
          <a:xfrm>
            <a:off x="8082550" y="1467042"/>
            <a:ext cx="2160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46" name="正方形/長方形 45">
            <a:extLst>
              <a:ext uri="{FF2B5EF4-FFF2-40B4-BE49-F238E27FC236}">
                <a16:creationId xmlns:a16="http://schemas.microsoft.com/office/drawing/2014/main" id="{807BE902-CAE0-C2CD-4984-B11E293BA38A}"/>
              </a:ext>
            </a:extLst>
          </p:cNvPr>
          <p:cNvSpPr>
            <a:spLocks/>
          </p:cNvSpPr>
          <p:nvPr/>
        </p:nvSpPr>
        <p:spPr>
          <a:xfrm>
            <a:off x="3170404" y="4433281"/>
            <a:ext cx="4320000" cy="864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08000" rIns="0" bIns="0" rtlCol="0" anchor="t">
            <a:noAutofit/>
          </a:bodyPr>
          <a:lstStyle/>
          <a:p>
            <a:r>
              <a:rPr kumimoji="1" lang="ja-JP" altLang="en-US" sz="1400" b="1" dirty="0">
                <a:solidFill>
                  <a:sysClr val="windowText" lastClr="000000"/>
                </a:solidFill>
                <a:latin typeface="游ゴシック" panose="020B0400000000000000" pitchFamily="50" charset="-128"/>
                <a:ea typeface="游ゴシック" panose="020B0400000000000000" pitchFamily="50" charset="-128"/>
              </a:rPr>
              <a:t>セキュリティ機器販売事業（実質休眠）</a:t>
            </a:r>
          </a:p>
        </p:txBody>
      </p:sp>
      <p:sp>
        <p:nvSpPr>
          <p:cNvPr id="49" name="正方形/長方形 48">
            <a:extLst>
              <a:ext uri="{FF2B5EF4-FFF2-40B4-BE49-F238E27FC236}">
                <a16:creationId xmlns:a16="http://schemas.microsoft.com/office/drawing/2014/main" id="{5003CAF4-56DA-63E6-9B55-231DF32CB689}"/>
              </a:ext>
            </a:extLst>
          </p:cNvPr>
          <p:cNvSpPr/>
          <p:nvPr/>
        </p:nvSpPr>
        <p:spPr>
          <a:xfrm>
            <a:off x="3347399" y="4799101"/>
            <a:ext cx="1944000"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marL="180000" indent="-180000">
              <a:lnSpc>
                <a:spcPct val="120000"/>
              </a:lnSpc>
              <a:buClr>
                <a:schemeClr val="accent4"/>
              </a:buClr>
              <a:buFont typeface="游ゴシック" panose="020B0400000000000000" pitchFamily="50" charset="-128"/>
              <a:buChar char="▪"/>
            </a:pPr>
            <a:r>
              <a:rPr kumimoji="1" lang="ja-JP" altLang="en-US" sz="1100" dirty="0">
                <a:solidFill>
                  <a:sysClr val="windowText" lastClr="000000"/>
                </a:solidFill>
                <a:latin typeface="游ゴシック" panose="020B0400000000000000" pitchFamily="50" charset="-128"/>
                <a:ea typeface="游ゴシック" panose="020B0400000000000000" pitchFamily="50" charset="-128"/>
              </a:rPr>
              <a:t>セキュリティ機器の販売</a:t>
            </a:r>
            <a:endParaRPr kumimoji="1" lang="en-US" altLang="ja-JP" sz="1100" dirty="0">
              <a:solidFill>
                <a:sysClr val="windowText" lastClr="000000"/>
              </a:solidFill>
              <a:latin typeface="游ゴシック" panose="020B0400000000000000" pitchFamily="50" charset="-128"/>
              <a:ea typeface="游ゴシック" panose="020B0400000000000000" pitchFamily="50" charset="-128"/>
            </a:endParaRPr>
          </a:p>
        </p:txBody>
      </p:sp>
      <p:sp>
        <p:nvSpPr>
          <p:cNvPr id="50" name="正方形/長方形 49">
            <a:extLst>
              <a:ext uri="{FF2B5EF4-FFF2-40B4-BE49-F238E27FC236}">
                <a16:creationId xmlns:a16="http://schemas.microsoft.com/office/drawing/2014/main" id="{E5DD003F-2AD9-A9D3-1FD8-654750A0A7AD}"/>
              </a:ext>
            </a:extLst>
          </p:cNvPr>
          <p:cNvSpPr/>
          <p:nvPr/>
        </p:nvSpPr>
        <p:spPr>
          <a:xfrm>
            <a:off x="5375849" y="4799101"/>
            <a:ext cx="1944000"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marL="180000" indent="-180000">
              <a:lnSpc>
                <a:spcPct val="120000"/>
              </a:lnSpc>
              <a:buClr>
                <a:schemeClr val="accent4"/>
              </a:buClr>
              <a:buFont typeface="游ゴシック" panose="020B0400000000000000" pitchFamily="50" charset="-128"/>
              <a:buChar char="▪"/>
            </a:pPr>
            <a:r>
              <a:rPr kumimoji="1" lang="ja-JP" altLang="en-US" sz="1100" dirty="0">
                <a:solidFill>
                  <a:sysClr val="windowText" lastClr="000000"/>
                </a:solidFill>
                <a:latin typeface="游ゴシック" panose="020B0400000000000000" pitchFamily="50" charset="-128"/>
                <a:ea typeface="游ゴシック" panose="020B0400000000000000" pitchFamily="50" charset="-128"/>
              </a:rPr>
              <a:t>保守・メンテナンス</a:t>
            </a:r>
            <a:endParaRPr kumimoji="1" lang="en-US" altLang="ja-JP" sz="1100" dirty="0">
              <a:solidFill>
                <a:sysClr val="windowText" lastClr="000000"/>
              </a:solidFill>
              <a:latin typeface="游ゴシック" panose="020B0400000000000000" pitchFamily="50" charset="-128"/>
              <a:ea typeface="游ゴシック" panose="020B0400000000000000" pitchFamily="50" charset="-128"/>
            </a:endParaRPr>
          </a:p>
        </p:txBody>
      </p:sp>
      <p:grpSp>
        <p:nvGrpSpPr>
          <p:cNvPr id="7" name="グループ化 6">
            <a:extLst>
              <a:ext uri="{FF2B5EF4-FFF2-40B4-BE49-F238E27FC236}">
                <a16:creationId xmlns:a16="http://schemas.microsoft.com/office/drawing/2014/main" id="{E37EF5B6-E17E-6EAE-90CA-1B881E6D8AAE}"/>
              </a:ext>
            </a:extLst>
          </p:cNvPr>
          <p:cNvGrpSpPr/>
          <p:nvPr/>
        </p:nvGrpSpPr>
        <p:grpSpPr>
          <a:xfrm>
            <a:off x="3185906" y="2095628"/>
            <a:ext cx="4320000" cy="1126755"/>
            <a:chOff x="3185906" y="2095628"/>
            <a:chExt cx="4320000" cy="1126755"/>
          </a:xfrm>
        </p:grpSpPr>
        <p:sp>
          <p:nvSpPr>
            <p:cNvPr id="39" name="正方形/長方形 38">
              <a:extLst>
                <a:ext uri="{FF2B5EF4-FFF2-40B4-BE49-F238E27FC236}">
                  <a16:creationId xmlns:a16="http://schemas.microsoft.com/office/drawing/2014/main" id="{B655DFB4-3E4B-DFE0-1927-1F0AF192973F}"/>
                </a:ext>
              </a:extLst>
            </p:cNvPr>
            <p:cNvSpPr>
              <a:spLocks/>
            </p:cNvSpPr>
            <p:nvPr/>
          </p:nvSpPr>
          <p:spPr>
            <a:xfrm>
              <a:off x="3185906" y="2095628"/>
              <a:ext cx="4320000" cy="1126755"/>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08000" rIns="0" bIns="0" rtlCol="0" anchor="t">
              <a:noAutofit/>
            </a:bodyPr>
            <a:lstStyle/>
            <a:p>
              <a:r>
                <a:rPr kumimoji="1" lang="ja-JP" altLang="en-US" sz="1400" b="1" dirty="0">
                  <a:solidFill>
                    <a:sysClr val="windowText" lastClr="000000"/>
                  </a:solidFill>
                  <a:latin typeface="游ゴシック" panose="020B0400000000000000" pitchFamily="50" charset="-128"/>
                  <a:ea typeface="游ゴシック" panose="020B0400000000000000" pitchFamily="50" charset="-128"/>
                </a:rPr>
                <a:t>ペットショップ事業（主業）｜直営6店舗</a:t>
              </a:r>
            </a:p>
          </p:txBody>
        </p:sp>
        <p:sp>
          <p:nvSpPr>
            <p:cNvPr id="51" name="正方形/長方形 50">
              <a:extLst>
                <a:ext uri="{FF2B5EF4-FFF2-40B4-BE49-F238E27FC236}">
                  <a16:creationId xmlns:a16="http://schemas.microsoft.com/office/drawing/2014/main" id="{E6C0282B-CCAA-5FBD-D527-4720B8D3CD68}"/>
                </a:ext>
              </a:extLst>
            </p:cNvPr>
            <p:cNvSpPr/>
            <p:nvPr/>
          </p:nvSpPr>
          <p:spPr>
            <a:xfrm>
              <a:off x="3362901" y="2466383"/>
              <a:ext cx="1944000" cy="756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marL="180000" indent="-180000">
                <a:lnSpc>
                  <a:spcPct val="120000"/>
                </a:lnSpc>
                <a:buClr>
                  <a:schemeClr val="accent4"/>
                </a:buClr>
                <a:buFont typeface="游ゴシック" panose="020B0400000000000000" pitchFamily="50" charset="-128"/>
                <a:buChar char="▪"/>
              </a:pPr>
              <a:r>
                <a:rPr kumimoji="1" lang="ja-JP" altLang="en-US" sz="1100" dirty="0">
                  <a:solidFill>
                    <a:sysClr val="windowText" lastClr="000000"/>
                  </a:solidFill>
                  <a:latin typeface="游ゴシック" panose="020B0400000000000000" pitchFamily="50" charset="-128"/>
                  <a:ea typeface="游ゴシック" panose="020B0400000000000000" pitchFamily="50" charset="-128"/>
                </a:rPr>
                <a:t>ワンラブFC店
（インショップ4店舗）</a:t>
              </a:r>
              <a:endParaRPr kumimoji="1" lang="en-US" altLang="ja-JP" sz="1100" dirty="0">
                <a:solidFill>
                  <a:sysClr val="windowText" lastClr="000000"/>
                </a:solidFill>
                <a:latin typeface="游ゴシック" panose="020B0400000000000000" pitchFamily="50" charset="-128"/>
                <a:ea typeface="游ゴシック" panose="020B0400000000000000" pitchFamily="50" charset="-128"/>
              </a:endParaRPr>
            </a:p>
          </p:txBody>
        </p:sp>
        <p:sp>
          <p:nvSpPr>
            <p:cNvPr id="52" name="正方形/長方形 51">
              <a:extLst>
                <a:ext uri="{FF2B5EF4-FFF2-40B4-BE49-F238E27FC236}">
                  <a16:creationId xmlns:a16="http://schemas.microsoft.com/office/drawing/2014/main" id="{88997CF3-6104-5500-60EB-0DDACA45AE6F}"/>
                </a:ext>
              </a:extLst>
            </p:cNvPr>
            <p:cNvSpPr/>
            <p:nvPr/>
          </p:nvSpPr>
          <p:spPr>
            <a:xfrm>
              <a:off x="5391351" y="2466383"/>
              <a:ext cx="1944000" cy="756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marL="180000" indent="-180000">
                <a:lnSpc>
                  <a:spcPct val="120000"/>
                </a:lnSpc>
                <a:buClr>
                  <a:schemeClr val="accent4"/>
                </a:buClr>
                <a:buFont typeface="游ゴシック" panose="020B0400000000000000" pitchFamily="50" charset="-128"/>
                <a:buChar char="▪"/>
              </a:pPr>
              <a:r>
                <a:rPr kumimoji="1" lang="ja-JP" altLang="en-US" sz="1100" dirty="0">
                  <a:solidFill>
                    <a:sysClr val="windowText" lastClr="000000"/>
                  </a:solidFill>
                  <a:latin typeface="游ゴシック" panose="020B0400000000000000" pitchFamily="50" charset="-128"/>
                  <a:ea typeface="游ゴシック" panose="020B0400000000000000" pitchFamily="50" charset="-128"/>
                </a:rPr>
                <a:t>おっきなもふもふ応援隊
（大型犬専門・路面店2店舗）</a:t>
              </a:r>
            </a:p>
          </p:txBody>
        </p:sp>
      </p:grpSp>
      <p:grpSp>
        <p:nvGrpSpPr>
          <p:cNvPr id="6" name="グループ化 5">
            <a:extLst>
              <a:ext uri="{FF2B5EF4-FFF2-40B4-BE49-F238E27FC236}">
                <a16:creationId xmlns:a16="http://schemas.microsoft.com/office/drawing/2014/main" id="{9F35CA69-48F5-2495-E72E-A4DEA4CE2B8C}"/>
              </a:ext>
            </a:extLst>
          </p:cNvPr>
          <p:cNvGrpSpPr/>
          <p:nvPr/>
        </p:nvGrpSpPr>
        <p:grpSpPr>
          <a:xfrm>
            <a:off x="3185906" y="3382270"/>
            <a:ext cx="4320000" cy="891123"/>
            <a:chOff x="3185906" y="3471891"/>
            <a:chExt cx="4320000" cy="891123"/>
          </a:xfrm>
        </p:grpSpPr>
        <p:sp>
          <p:nvSpPr>
            <p:cNvPr id="47" name="正方形/長方形 46">
              <a:extLst>
                <a:ext uri="{FF2B5EF4-FFF2-40B4-BE49-F238E27FC236}">
                  <a16:creationId xmlns:a16="http://schemas.microsoft.com/office/drawing/2014/main" id="{A3FF10E9-0F90-E0AE-DF08-37E610F0395E}"/>
                </a:ext>
              </a:extLst>
            </p:cNvPr>
            <p:cNvSpPr>
              <a:spLocks/>
            </p:cNvSpPr>
            <p:nvPr/>
          </p:nvSpPr>
          <p:spPr>
            <a:xfrm>
              <a:off x="3185906" y="3471891"/>
              <a:ext cx="4320000" cy="891123"/>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08000" rIns="0" bIns="0" rtlCol="0" anchor="t">
              <a:noAutofit/>
            </a:bodyPr>
            <a:lstStyle/>
            <a:p>
              <a:r>
                <a:rPr kumimoji="1" lang="ja-JP" altLang="en-US" sz="1400" b="1" dirty="0">
                  <a:solidFill>
                    <a:sysClr val="windowText" lastClr="000000"/>
                  </a:solidFill>
                  <a:latin typeface="游ゴシック" panose="020B0400000000000000" pitchFamily="50" charset="-128"/>
                  <a:ea typeface="游ゴシック" panose="020B0400000000000000" pitchFamily="50" charset="-128"/>
                </a:rPr>
                <a:t>店舗付帯サービス</a:t>
              </a:r>
            </a:p>
          </p:txBody>
        </p:sp>
        <p:sp>
          <p:nvSpPr>
            <p:cNvPr id="55" name="正方形/長方形 54">
              <a:extLst>
                <a:ext uri="{FF2B5EF4-FFF2-40B4-BE49-F238E27FC236}">
                  <a16:creationId xmlns:a16="http://schemas.microsoft.com/office/drawing/2014/main" id="{D2B70813-B617-004E-DE79-557C34BE9081}"/>
                </a:ext>
              </a:extLst>
            </p:cNvPr>
            <p:cNvSpPr/>
            <p:nvPr/>
          </p:nvSpPr>
          <p:spPr>
            <a:xfrm>
              <a:off x="3362901" y="3859014"/>
              <a:ext cx="1944000" cy="50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marL="180000" indent="-180000">
                <a:lnSpc>
                  <a:spcPct val="120000"/>
                </a:lnSpc>
                <a:buClr>
                  <a:schemeClr val="accent4"/>
                </a:buClr>
                <a:buFont typeface="游ゴシック" panose="020B0400000000000000" pitchFamily="50" charset="-128"/>
                <a:buChar char="▪"/>
              </a:pPr>
              <a:r>
                <a:rPr kumimoji="1" lang="ja-JP" altLang="en-US" sz="1100" dirty="0">
                  <a:solidFill>
                    <a:sysClr val="windowText" lastClr="000000"/>
                  </a:solidFill>
                  <a:latin typeface="游ゴシック" panose="020B0400000000000000" pitchFamily="50" charset="-128"/>
                  <a:ea typeface="游ゴシック" panose="020B0400000000000000" pitchFamily="50" charset="-128"/>
                </a:rPr>
                <a:t>トリミング
ペットホテル</a:t>
              </a:r>
              <a:endParaRPr kumimoji="1" lang="en-US" altLang="ja-JP" sz="1100" dirty="0">
                <a:solidFill>
                  <a:sysClr val="windowText" lastClr="000000"/>
                </a:solidFill>
                <a:latin typeface="游ゴシック" panose="020B0400000000000000" pitchFamily="50" charset="-128"/>
                <a:ea typeface="游ゴシック" panose="020B0400000000000000" pitchFamily="50" charset="-128"/>
              </a:endParaRPr>
            </a:p>
          </p:txBody>
        </p:sp>
        <p:sp>
          <p:nvSpPr>
            <p:cNvPr id="56" name="正方形/長方形 55">
              <a:extLst>
                <a:ext uri="{FF2B5EF4-FFF2-40B4-BE49-F238E27FC236}">
                  <a16:creationId xmlns:a16="http://schemas.microsoft.com/office/drawing/2014/main" id="{139CC8E2-2131-C209-701F-F234CABA26CF}"/>
                </a:ext>
              </a:extLst>
            </p:cNvPr>
            <p:cNvSpPr/>
            <p:nvPr/>
          </p:nvSpPr>
          <p:spPr>
            <a:xfrm>
              <a:off x="5391351" y="3859014"/>
              <a:ext cx="1944000" cy="50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marL="180000" indent="-180000">
                <a:lnSpc>
                  <a:spcPct val="120000"/>
                </a:lnSpc>
                <a:buClr>
                  <a:schemeClr val="accent4"/>
                </a:buClr>
                <a:buFont typeface="游ゴシック" panose="020B0400000000000000" pitchFamily="50" charset="-128"/>
                <a:buChar char="▪"/>
              </a:pPr>
              <a:r>
                <a:rPr kumimoji="1" lang="ja-JP" altLang="en-US" sz="1100" dirty="0">
                  <a:solidFill>
                    <a:sysClr val="windowText" lastClr="000000"/>
                  </a:solidFill>
                  <a:latin typeface="游ゴシック" panose="020B0400000000000000" pitchFamily="50" charset="-128"/>
                  <a:ea typeface="游ゴシック" panose="020B0400000000000000" pitchFamily="50" charset="-128"/>
                </a:rPr>
                <a:t>ペット保険
（代理店手数料）</a:t>
              </a:r>
              <a:endParaRPr kumimoji="1" lang="en-US" altLang="ja-JP" sz="1100" dirty="0">
                <a:solidFill>
                  <a:sysClr val="windowText" lastClr="000000"/>
                </a:solidFill>
                <a:latin typeface="游ゴシック" panose="020B0400000000000000" pitchFamily="50" charset="-128"/>
                <a:ea typeface="游ゴシック" panose="020B0400000000000000" pitchFamily="50" charset="-128"/>
              </a:endParaRPr>
            </a:p>
          </p:txBody>
        </p:sp>
      </p:grpSp>
      <p:sp>
        <p:nvSpPr>
          <p:cNvPr id="3" name="二等辺三角形 2">
            <a:extLst>
              <a:ext uri="{FF2B5EF4-FFF2-40B4-BE49-F238E27FC236}">
                <a16:creationId xmlns:a16="http://schemas.microsoft.com/office/drawing/2014/main" id="{B557BBBE-1218-1342-7E2D-CD72F7B39D2F}"/>
              </a:ext>
            </a:extLst>
          </p:cNvPr>
          <p:cNvSpPr/>
          <p:nvPr/>
        </p:nvSpPr>
        <p:spPr>
          <a:xfrm rot="5400000">
            <a:off x="7612581" y="4076906"/>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solidFill>
                <a:sysClr val="windowText" lastClr="000000"/>
              </a:solidFill>
              <a:latin typeface="游ゴシック" panose="020B0400000000000000" pitchFamily="50" charset="-128"/>
              <a:ea typeface="游ゴシック" panose="020B0400000000000000" pitchFamily="50" charset="-128"/>
            </a:endParaRPr>
          </a:p>
        </p:txBody>
      </p:sp>
      <p:sp>
        <p:nvSpPr>
          <p:cNvPr id="9" name="二等辺三角形 8">
            <a:extLst>
              <a:ext uri="{FF2B5EF4-FFF2-40B4-BE49-F238E27FC236}">
                <a16:creationId xmlns:a16="http://schemas.microsoft.com/office/drawing/2014/main" id="{91745C76-6270-D9EC-0862-A4072EDFED90}"/>
              </a:ext>
            </a:extLst>
          </p:cNvPr>
          <p:cNvSpPr/>
          <p:nvPr/>
        </p:nvSpPr>
        <p:spPr>
          <a:xfrm rot="5400000">
            <a:off x="2470990" y="4076906"/>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solidFill>
                <a:sysClr val="windowText" lastClr="000000"/>
              </a:solidFill>
              <a:latin typeface="游ゴシック" panose="020B0400000000000000" pitchFamily="50" charset="-128"/>
              <a:ea typeface="游ゴシック" panose="020B0400000000000000" pitchFamily="50" charset="-128"/>
            </a:endParaRPr>
          </a:p>
        </p:txBody>
      </p:sp>
      <p:sp>
        <p:nvSpPr>
          <p:cNvPr id="12" name="正方形/長方形 11">
            <a:extLst>
              <a:ext uri="{FF2B5EF4-FFF2-40B4-BE49-F238E27FC236}">
                <a16:creationId xmlns:a16="http://schemas.microsoft.com/office/drawing/2014/main" id="{29C58FFC-1A01-A8F0-166D-D51C0B6A2C66}"/>
              </a:ext>
            </a:extLst>
          </p:cNvPr>
          <p:cNvSpPr/>
          <p:nvPr/>
        </p:nvSpPr>
        <p:spPr>
          <a:xfrm>
            <a:off x="2933906" y="5890769"/>
            <a:ext cx="4824000" cy="103282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tIns="180000" rtlCol="0" anchor="t"/>
          <a:lstStyle/>
          <a:p>
            <a:pPr algn="ctr"/>
            <a:r>
              <a:rPr kumimoji="1" lang="ja-JP" altLang="en-US" sz="1800" b="1" spc="100" dirty="0">
                <a:solidFill>
                  <a:sysClr val="windowText" lastClr="000000"/>
                </a:solidFill>
                <a:latin typeface="游ゴシック" panose="020B0400000000000000" pitchFamily="50" charset="-128"/>
                <a:ea typeface="游ゴシック" panose="020B0400000000000000" pitchFamily="50" charset="-128"/>
              </a:rPr>
              <a:t>主要外注先</a:t>
            </a:r>
          </a:p>
        </p:txBody>
      </p:sp>
      <p:cxnSp>
        <p:nvCxnSpPr>
          <p:cNvPr id="14" name="直線コネクタ 13">
            <a:extLst>
              <a:ext uri="{FF2B5EF4-FFF2-40B4-BE49-F238E27FC236}">
                <a16:creationId xmlns:a16="http://schemas.microsoft.com/office/drawing/2014/main" id="{0FD3DDF0-DCBD-CE14-F158-968514C4BE62}"/>
              </a:ext>
            </a:extLst>
          </p:cNvPr>
          <p:cNvCxnSpPr>
            <a:cxnSpLocks/>
          </p:cNvCxnSpPr>
          <p:nvPr/>
        </p:nvCxnSpPr>
        <p:spPr>
          <a:xfrm>
            <a:off x="2933906" y="5890769"/>
            <a:ext cx="4862558"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2" name="二等辺三角形 21">
            <a:extLst>
              <a:ext uri="{FF2B5EF4-FFF2-40B4-BE49-F238E27FC236}">
                <a16:creationId xmlns:a16="http://schemas.microsoft.com/office/drawing/2014/main" id="{E5D47B62-2C55-3FE5-A074-85C434EA220E}"/>
              </a:ext>
            </a:extLst>
          </p:cNvPr>
          <p:cNvSpPr/>
          <p:nvPr/>
        </p:nvSpPr>
        <p:spPr>
          <a:xfrm>
            <a:off x="5039253" y="5569697"/>
            <a:ext cx="613305" cy="148933"/>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solidFill>
                <a:sysClr val="windowText" lastClr="000000"/>
              </a:solidFill>
              <a:latin typeface="游ゴシック" panose="020B0400000000000000" pitchFamily="50" charset="-128"/>
              <a:ea typeface="游ゴシック" panose="020B0400000000000000" pitchFamily="50" charset="-128"/>
            </a:endParaRPr>
          </a:p>
        </p:txBody>
      </p:sp>
      <p:sp>
        <p:nvSpPr>
          <p:cNvPr id="25" name="正方形/長方形 24">
            <a:extLst>
              <a:ext uri="{FF2B5EF4-FFF2-40B4-BE49-F238E27FC236}">
                <a16:creationId xmlns:a16="http://schemas.microsoft.com/office/drawing/2014/main" id="{54EC9FE9-AADB-81BC-6DCA-F5354A701162}"/>
              </a:ext>
            </a:extLst>
          </p:cNvPr>
          <p:cNvSpPr/>
          <p:nvPr/>
        </p:nvSpPr>
        <p:spPr>
          <a:xfrm>
            <a:off x="3170404" y="6386624"/>
            <a:ext cx="4335502" cy="5369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288000" tIns="0" rIns="0" bIns="0" rtlCol="0" anchor="t">
            <a:noAutofit/>
          </a:bodyPr>
          <a:lstStyle/>
          <a:p>
            <a:pPr marL="180000" indent="-180000">
              <a:lnSpc>
                <a:spcPct val="120000"/>
              </a:lnSpc>
              <a:spcAft>
                <a:spcPts val="500"/>
              </a:spcAft>
              <a:buClr>
                <a:schemeClr val="tx2"/>
              </a:buClr>
              <a:buFont typeface="游ゴシック" panose="020B0400000000000000" pitchFamily="50" charset="-128"/>
              <a:buChar char="▪"/>
            </a:pPr>
            <a:r>
              <a:rPr kumimoji="1" lang="ja-JP" altLang="en-US" sz="900" b="1" spc="50" dirty="0">
                <a:solidFill>
                  <a:sysClr val="windowText" lastClr="000000"/>
                </a:solidFill>
                <a:latin typeface="游ゴシック" panose="020B0400000000000000" pitchFamily="50" charset="-128"/>
                <a:ea typeface="游ゴシック" panose="020B0400000000000000" pitchFamily="50" charset="-128"/>
              </a:rPr>
              <a:t>外注費25,058千円（2025年11月期）。トリミング・生体管理等の外部委託と推察されるが、取引先別の内訳は未受領（要確認）。</a:t>
            </a:r>
            <a:endParaRPr kumimoji="1" lang="en-US" altLang="ja-JP" sz="1200" b="1" spc="50" dirty="0">
              <a:solidFill>
                <a:sysClr val="windowText" lastClr="000000"/>
              </a:solidFill>
              <a:latin typeface="游ゴシック" panose="020B0400000000000000" pitchFamily="50" charset="-128"/>
              <a:ea typeface="游ゴシック" panose="020B0400000000000000" pitchFamily="50" charset="-128"/>
            </a:endParaRPr>
          </a:p>
        </p:txBody>
      </p:sp>
      <p:sp>
        <p:nvSpPr>
          <p:cNvPr id="31" name="二等辺三角形 30">
            <a:extLst>
              <a:ext uri="{FF2B5EF4-FFF2-40B4-BE49-F238E27FC236}">
                <a16:creationId xmlns:a16="http://schemas.microsoft.com/office/drawing/2014/main" id="{64633052-A79E-B34E-462F-300E6FAF9F36}"/>
              </a:ext>
            </a:extLst>
          </p:cNvPr>
          <p:cNvSpPr/>
          <p:nvPr/>
        </p:nvSpPr>
        <p:spPr>
          <a:xfrm rot="10800000">
            <a:off x="5039252" y="5720533"/>
            <a:ext cx="613305" cy="148933"/>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solidFill>
                <a:sysClr val="windowText" lastClr="000000"/>
              </a:solidFill>
              <a:latin typeface="游ゴシック" panose="020B0400000000000000" pitchFamily="50" charset="-128"/>
              <a:ea typeface="游ゴシック" panose="020B0400000000000000" pitchFamily="50" charset="-128"/>
            </a:endParaRPr>
          </a:p>
        </p:txBody>
      </p:sp>
      <p:sp>
        <p:nvSpPr>
          <p:cNvPr id="35" name="字幕 13">
            <a:extLst>
              <a:ext uri="{FF2B5EF4-FFF2-40B4-BE49-F238E27FC236}">
                <a16:creationId xmlns:a16="http://schemas.microsoft.com/office/drawing/2014/main" id="{999986B5-FEED-86D6-9A2B-D6BEF4A1BD44}"/>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生体はFC本部（㈲ワンラブ）とジャペル㈱を中心に調達し、大型犬専門店の展開に伴い個人ブリーダーからの直接仕入も拡大。販売は店頭での個人向けが99%を占める（下図は撤退後の6店舗体制）。</a:t>
            </a:r>
            <a:endParaRPr lang="en-US" altLang="ja-JP" dirty="0">
              <a:latin typeface="游ゴシック" panose="020B0400000000000000" pitchFamily="50" charset="-128"/>
              <a:ea typeface="游ゴシック" panose="020B0400000000000000" pitchFamily="50" charset="-128"/>
            </a:endParaRPr>
          </a:p>
        </p:txBody>
      </p:sp>
      <p:sp>
        <p:nvSpPr>
          <p:cNvPr id="11" name="正方形/長方形 10">
            <a:extLst>
              <a:ext uri="{FF2B5EF4-FFF2-40B4-BE49-F238E27FC236}">
                <a16:creationId xmlns:a16="http://schemas.microsoft.com/office/drawing/2014/main" id="{E71AE244-435B-F519-E8F8-BFC5ADAAC61F}"/>
              </a:ext>
            </a:extLst>
          </p:cNvPr>
          <p:cNvSpPr/>
          <p:nvPr/>
        </p:nvSpPr>
        <p:spPr>
          <a:xfrm>
            <a:off x="7947797" y="3943450"/>
            <a:ext cx="2267950" cy="194731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288000" tIns="0" rIns="0" bIns="0" rtlCol="0" anchor="t">
            <a:noAutofit/>
          </a:bodyPr>
          <a:lstStyle/>
          <a:p>
            <a:pPr>
              <a:lnSpc>
                <a:spcPct val="120000"/>
              </a:lnSpc>
              <a:spcAft>
                <a:spcPts val="500"/>
              </a:spcAft>
              <a:buClr>
                <a:schemeClr val="tx2"/>
              </a:buClr>
            </a:pPr>
            <a:r>
              <a:rPr kumimoji="1" lang="en-US" altLang="ja-JP" sz="800" u="sng" spc="50" dirty="0">
                <a:solidFill>
                  <a:sysClr val="windowText" lastClr="000000"/>
                </a:solidFill>
                <a:latin typeface="游ゴシック" panose="020B0400000000000000" pitchFamily="50" charset="-128"/>
                <a:ea typeface="游ゴシック" panose="020B0400000000000000" pitchFamily="50" charset="-128"/>
              </a:rPr>
              <a:t>※ペット保険（アイペット損保）は初年度に掛金の40%、次年度以降も10%が継続手数料として入る仕組み。手術特約の加入率は約75%（全国平均約50%）と高く、年間約19,000千円の保険収入があるとのヒアリング（要確認）。</a:t>
            </a:r>
            <a:endParaRPr kumimoji="1" lang="en-US" altLang="ja-JP" sz="1100" u="sng" spc="50" dirty="0">
              <a:solidFill>
                <a:sysClr val="windowText" lastClr="000000"/>
              </a:solidFill>
              <a:latin typeface="游ゴシック" panose="020B0400000000000000" pitchFamily="50" charset="-128"/>
              <a:ea typeface="游ゴシック" panose="020B0400000000000000" pitchFamily="50" charset="-128"/>
            </a:endParaRPr>
          </a:p>
        </p:txBody>
      </p:sp>
      <p:sp>
        <p:nvSpPr>
          <p:cNvPr id="28" name="正方形/長方形 27">
            <a:extLst>
              <a:ext uri="{FF2B5EF4-FFF2-40B4-BE49-F238E27FC236}">
                <a16:creationId xmlns:a16="http://schemas.microsoft.com/office/drawing/2014/main" id="{9DEE9467-1895-B486-68EB-F54F2BACDAD0}"/>
              </a:ext>
            </a:extLst>
          </p:cNvPr>
          <p:cNvSpPr/>
          <p:nvPr/>
        </p:nvSpPr>
        <p:spPr>
          <a:xfrm>
            <a:off x="7418644" y="3301135"/>
            <a:ext cx="970998"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algn="ctr">
              <a:lnSpc>
                <a:spcPct val="120000"/>
              </a:lnSpc>
              <a:buClr>
                <a:schemeClr val="accent4"/>
              </a:buClr>
            </a:pPr>
            <a:r>
              <a:rPr kumimoji="1" lang="ja-JP" altLang="en-US" sz="900" dirty="0">
                <a:solidFill>
                  <a:schemeClr val="tx1"/>
                </a:solidFill>
                <a:latin typeface="游ゴシック" panose="020B0400000000000000" pitchFamily="50" charset="-128"/>
                <a:ea typeface="游ゴシック" panose="020B0400000000000000" pitchFamily="50" charset="-128"/>
              </a:rPr>
              <a:t>店頭販売
個人向け</a:t>
            </a:r>
            <a:endParaRPr kumimoji="1" lang="en-US" altLang="ja-JP" sz="1100" dirty="0">
              <a:solidFill>
                <a:schemeClr val="tx1"/>
              </a:solidFill>
              <a:latin typeface="游ゴシック" panose="020B0400000000000000" pitchFamily="50" charset="-128"/>
              <a:ea typeface="游ゴシック" panose="020B0400000000000000" pitchFamily="50" charset="-128"/>
            </a:endParaRPr>
          </a:p>
        </p:txBody>
      </p:sp>
      <p:sp>
        <p:nvSpPr>
          <p:cNvPr id="29" name="正方形/長方形 28">
            <a:extLst>
              <a:ext uri="{FF2B5EF4-FFF2-40B4-BE49-F238E27FC236}">
                <a16:creationId xmlns:a16="http://schemas.microsoft.com/office/drawing/2014/main" id="{66CEEE74-B8BD-04D5-25B2-B52A1D04D1BA}"/>
              </a:ext>
            </a:extLst>
          </p:cNvPr>
          <p:cNvSpPr/>
          <p:nvPr/>
        </p:nvSpPr>
        <p:spPr>
          <a:xfrm>
            <a:off x="297929" y="3943450"/>
            <a:ext cx="2267950" cy="194731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288000" tIns="0" rIns="0" bIns="0" rtlCol="0" anchor="t">
            <a:noAutofit/>
          </a:bodyPr>
          <a:lstStyle/>
          <a:p>
            <a:pPr>
              <a:lnSpc>
                <a:spcPct val="120000"/>
              </a:lnSpc>
              <a:spcAft>
                <a:spcPts val="500"/>
              </a:spcAft>
              <a:buClr>
                <a:schemeClr val="tx2"/>
              </a:buClr>
            </a:pPr>
            <a:r>
              <a:rPr kumimoji="1" lang="en-US" altLang="ja-JP" sz="800" u="sng" spc="50" dirty="0">
                <a:solidFill>
                  <a:sysClr val="windowText" lastClr="000000"/>
                </a:solidFill>
                <a:latin typeface="游ゴシック" panose="020B0400000000000000" pitchFamily="50" charset="-128"/>
                <a:ea typeface="游ゴシック" panose="020B0400000000000000" pitchFamily="50" charset="-128"/>
              </a:rPr>
              <a:t>※FC本部（㈲ワンラブ）とはフランチャイズ契約を締結。生体・用品の仕入、店舗の転借、ロイヤリティの支払が一体となった契約構造と推察（要確認）。生体はワンラブがオークション会場で仕入れ、マイクロチップ埋込・ワクチン接種等の処理を済ませたうえで当社へ供給される。</a:t>
            </a:r>
            <a:endParaRPr kumimoji="1" lang="en-US" altLang="ja-JP" sz="1100" u="sng" spc="50" dirty="0">
              <a:solidFill>
                <a:sysClr val="windowText" lastClr="000000"/>
              </a:solidFill>
              <a:latin typeface="游ゴシック" panose="020B0400000000000000" pitchFamily="50" charset="-128"/>
              <a:ea typeface="游ゴシック" panose="020B0400000000000000" pitchFamily="50" charset="-128"/>
            </a:endParaRPr>
          </a:p>
        </p:txBody>
      </p:sp>
      <p:sp>
        <p:nvSpPr>
          <p:cNvPr id="30" name="正方形/長方形 29">
            <a:extLst>
              <a:ext uri="{FF2B5EF4-FFF2-40B4-BE49-F238E27FC236}">
                <a16:creationId xmlns:a16="http://schemas.microsoft.com/office/drawing/2014/main" id="{50DBF169-4DDE-5DF4-7743-E7F49E149174}"/>
              </a:ext>
            </a:extLst>
          </p:cNvPr>
          <p:cNvSpPr/>
          <p:nvPr/>
        </p:nvSpPr>
        <p:spPr>
          <a:xfrm>
            <a:off x="2141784" y="2768889"/>
            <a:ext cx="1271716"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algn="ctr">
              <a:lnSpc>
                <a:spcPct val="120000"/>
              </a:lnSpc>
              <a:buClr>
                <a:schemeClr val="accent4"/>
              </a:buClr>
            </a:pPr>
            <a:r>
              <a:rPr kumimoji="1" lang="en-US" altLang="ja-JP" sz="900" u="sng" dirty="0">
                <a:solidFill>
                  <a:schemeClr val="tx1"/>
                </a:solidFill>
                <a:latin typeface="游ゴシック" panose="020B0400000000000000" pitchFamily="50" charset="-128"/>
                <a:ea typeface="游ゴシック" panose="020B0400000000000000" pitchFamily="50" charset="-128"/>
              </a:rPr>
              <a:t>【仕入】</a:t>
            </a:r>
          </a:p>
        </p:txBody>
      </p:sp>
      <p:sp>
        <p:nvSpPr>
          <p:cNvPr id="32" name="正方形/長方形 31">
            <a:extLst>
              <a:ext uri="{FF2B5EF4-FFF2-40B4-BE49-F238E27FC236}">
                <a16:creationId xmlns:a16="http://schemas.microsoft.com/office/drawing/2014/main" id="{66329092-D510-4728-D662-B5277E41F113}"/>
              </a:ext>
            </a:extLst>
          </p:cNvPr>
          <p:cNvSpPr/>
          <p:nvPr/>
        </p:nvSpPr>
        <p:spPr>
          <a:xfrm>
            <a:off x="7291666" y="2768889"/>
            <a:ext cx="1271716"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algn="ctr">
              <a:lnSpc>
                <a:spcPct val="120000"/>
              </a:lnSpc>
              <a:buClr>
                <a:schemeClr val="accent4"/>
              </a:buClr>
            </a:pPr>
            <a:r>
              <a:rPr kumimoji="1" lang="en-US" altLang="ja-JP" sz="900" u="sng" dirty="0">
                <a:solidFill>
                  <a:schemeClr val="tx1"/>
                </a:solidFill>
                <a:latin typeface="游ゴシック" panose="020B0400000000000000" pitchFamily="50" charset="-128"/>
                <a:ea typeface="游ゴシック" panose="020B0400000000000000" pitchFamily="50" charset="-128"/>
              </a:rPr>
              <a:t>【販売】</a:t>
            </a:r>
          </a:p>
        </p:txBody>
      </p:sp>
    </p:spTree>
    <p:extLst>
      <p:ext uri="{BB962C8B-B14F-4D97-AF65-F5344CB8AC3E}">
        <p14:creationId xmlns:p14="http://schemas.microsoft.com/office/powerpoint/2010/main" val="5383831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371DA-C25D-7F01-0C28-2B43B1B33564}"/>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A7412CA0-F3EF-4734-CC49-C786E0300145}"/>
              </a:ext>
            </a:extLst>
          </p:cNvPr>
          <p:cNvSpPr>
            <a:spLocks noGrp="1"/>
          </p:cNvSpPr>
          <p:nvPr>
            <p:ph type="ctrTitle"/>
          </p:nvPr>
        </p:nvSpPr>
        <p:spPr/>
        <p:txBody>
          <a:bodyPr/>
          <a:lstStyle/>
          <a:p>
            <a:r>
              <a:rPr lang="ja-JP" altLang="en-US" dirty="0">
                <a:latin typeface="游ゴシック" panose="020B0400000000000000" pitchFamily="50" charset="-128"/>
                <a:ea typeface="游ゴシック" panose="020B0400000000000000" pitchFamily="50" charset="-128"/>
              </a:rPr>
              <a:t>店舗別売上高（3期推移＋進行期）</a:t>
            </a:r>
          </a:p>
        </p:txBody>
      </p:sp>
      <p:sp>
        <p:nvSpPr>
          <p:cNvPr id="20" name="タイトル 1">
            <a:extLst>
              <a:ext uri="{FF2B5EF4-FFF2-40B4-BE49-F238E27FC236}">
                <a16:creationId xmlns:a16="http://schemas.microsoft.com/office/drawing/2014/main" id="{49CDD4F0-E0CB-9196-B467-1A9DD0FE74A5}"/>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dirty="0">
                <a:latin typeface="游ゴシック" panose="020B0400000000000000" pitchFamily="50" charset="-128"/>
                <a:ea typeface="游ゴシック" panose="020B0400000000000000" pitchFamily="50" charset="-128"/>
              </a:rPr>
              <a:t>事業概要</a:t>
            </a:r>
          </a:p>
        </p:txBody>
      </p:sp>
      <p:sp>
        <p:nvSpPr>
          <p:cNvPr id="35" name="字幕 13">
            <a:extLst>
              <a:ext uri="{FF2B5EF4-FFF2-40B4-BE49-F238E27FC236}">
                <a16:creationId xmlns:a16="http://schemas.microsoft.com/office/drawing/2014/main" id="{A9732D9E-8C9D-B414-798C-01440721FFFF}"/>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大型犬専門2店舗で2025年11月期売上の46.7%を占める。不採算のペットプラザ岐阜店は2026年1月、アクアウォーク大垣店は2026年2月をもって撤退しており、進行期3月以降は6店舗体制。</a:t>
            </a:r>
            <a:endParaRPr lang="en-US" altLang="ja-JP" dirty="0">
              <a:latin typeface="游ゴシック" panose="020B0400000000000000" pitchFamily="50" charset="-128"/>
              <a:ea typeface="游ゴシック" panose="020B0400000000000000" pitchFamily="50" charset="-128"/>
            </a:endParaRPr>
          </a:p>
        </p:txBody>
      </p:sp>
      <p:graphicFrame>
        <p:nvGraphicFramePr>
          <p:cNvPr id="11" name="表 10">
            <a:extLst>
              <a:ext uri="{FF2B5EF4-FFF2-40B4-BE49-F238E27FC236}">
                <a16:creationId xmlns:a16="http://schemas.microsoft.com/office/drawing/2014/main" id="{8D1A8F18-47A8-882C-04F3-7274BE8DFA21}"/>
              </a:ext>
            </a:extLst>
          </p:cNvPr>
          <p:cNvGraphicFramePr>
            <a:graphicFrameLocks noGrp="1"/>
          </p:cNvGraphicFramePr>
          <p:nvPr>
            <p:extLst>
              <p:ext uri="{D42A27DB-BD31-4B8C-83A1-F6EECF244321}">
                <p14:modId xmlns:p14="http://schemas.microsoft.com/office/powerpoint/2010/main" val="777190556"/>
              </p:ext>
            </p:extLst>
          </p:nvPr>
        </p:nvGraphicFramePr>
        <p:xfrm>
          <a:off x="341313" y="1775208"/>
          <a:ext cx="9930384" cy="3364992"/>
        </p:xfrm>
        <a:graphic>
          <a:graphicData uri="http://schemas.openxmlformats.org/drawingml/2006/table">
            <a:tbl>
              <a:tblPr/>
              <a:tblGrid>
                <a:gridCol w="2487168">
                  <a:extLst>
                    <a:ext uri="{9D8B030D-6E8A-4147-A177-3AD203B41FA5}">
                      <a16:colId xmlns:a16="http://schemas.microsoft.com/office/drawing/2014/main" val="2226821946"/>
                    </a:ext>
                  </a:extLst>
                </a:gridCol>
                <a:gridCol w="1078992">
                  <a:extLst>
                    <a:ext uri="{9D8B030D-6E8A-4147-A177-3AD203B41FA5}">
                      <a16:colId xmlns:a16="http://schemas.microsoft.com/office/drawing/2014/main" val="394351917"/>
                    </a:ext>
                  </a:extLst>
                </a:gridCol>
                <a:gridCol w="731520">
                  <a:extLst>
                    <a:ext uri="{9D8B030D-6E8A-4147-A177-3AD203B41FA5}">
                      <a16:colId xmlns:a16="http://schemas.microsoft.com/office/drawing/2014/main" val="2273061486"/>
                    </a:ext>
                  </a:extLst>
                </a:gridCol>
                <a:gridCol w="1078992">
                  <a:extLst>
                    <a:ext uri="{9D8B030D-6E8A-4147-A177-3AD203B41FA5}">
                      <a16:colId xmlns:a16="http://schemas.microsoft.com/office/drawing/2014/main" val="3147415530"/>
                    </a:ext>
                  </a:extLst>
                </a:gridCol>
                <a:gridCol w="731520">
                  <a:extLst>
                    <a:ext uri="{9D8B030D-6E8A-4147-A177-3AD203B41FA5}">
                      <a16:colId xmlns:a16="http://schemas.microsoft.com/office/drawing/2014/main" val="2884797882"/>
                    </a:ext>
                  </a:extLst>
                </a:gridCol>
                <a:gridCol w="1078992">
                  <a:extLst>
                    <a:ext uri="{9D8B030D-6E8A-4147-A177-3AD203B41FA5}">
                      <a16:colId xmlns:a16="http://schemas.microsoft.com/office/drawing/2014/main" val="878939645"/>
                    </a:ext>
                  </a:extLst>
                </a:gridCol>
                <a:gridCol w="731520">
                  <a:extLst>
                    <a:ext uri="{9D8B030D-6E8A-4147-A177-3AD203B41FA5}">
                      <a16:colId xmlns:a16="http://schemas.microsoft.com/office/drawing/2014/main" val="878939645"/>
                    </a:ext>
                  </a:extLst>
                </a:gridCol>
                <a:gridCol w="1152144">
                  <a:extLst>
                    <a:ext uri="{9D8B030D-6E8A-4147-A177-3AD203B41FA5}">
                      <a16:colId xmlns:a16="http://schemas.microsoft.com/office/drawing/2014/main" val="878939645"/>
                    </a:ext>
                  </a:extLst>
                </a:gridCol>
                <a:gridCol w="859536">
                  <a:extLst>
                    <a:ext uri="{9D8B030D-6E8A-4147-A177-3AD203B41FA5}">
                      <a16:colId xmlns:a16="http://schemas.microsoft.com/office/drawing/2014/main" val="2604138394"/>
                    </a:ext>
                  </a:extLst>
                </a:gridCol>
              </a:tblGrid>
              <a:tr h="402336">
                <a:tc>
                  <a:txBody>
                    <a:bodyPr/>
                    <a:lstStyle/>
                    <a:p>
                      <a:pPr algn="ctr" fontAlgn="ctr">
                        <a:buNone/>
                      </a:pPr>
                      <a:r>
                        <a:rPr lang="ja-JP" sz="850" b="1" i="0" u="none" strike="noStrike" dirty="0">
                          <a:solidFill>
                            <a:srgbClr val="FFFFFF"/>
                          </a:solidFill>
                          <a:effectLst/>
                          <a:latin typeface="游ゴシック" panose="020B0400000000000000" pitchFamily="50" charset="-128"/>
                          <a:ea typeface="游ゴシック" panose="020B0400000000000000" pitchFamily="50" charset="-128"/>
                        </a:rPr>
                        <a:t>事業所名</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3041"/>
                    </a:solidFill>
                  </a:tcPr>
                </a:tc>
                <a:tc>
                  <a:txBody>
                    <a:bodyPr/>
                    <a:lstStyle/>
                    <a:p>
                      <a:pPr algn="ctr" fontAlgn="ctr">
                        <a:buNone/>
                      </a:pPr>
                      <a:r>
                        <a:rPr lang="ja-JP" sz="850" b="1" i="0" u="none" strike="noStrike" dirty="0">
                          <a:solidFill>
                            <a:srgbClr val="FFFFFF"/>
                          </a:solidFill>
                          <a:effectLst/>
                          <a:latin typeface="游ゴシック" panose="020B0400000000000000" pitchFamily="50" charset="-128"/>
                          <a:ea typeface="游ゴシック" panose="020B0400000000000000" pitchFamily="50" charset="-128"/>
                        </a:rPr>
                        <a:t>23年11月期</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3041"/>
                    </a:solidFill>
                  </a:tcPr>
                </a:tc>
                <a:tc>
                  <a:txBody>
                    <a:bodyPr/>
                    <a:lstStyle/>
                    <a:p>
                      <a:pPr algn="ctr" fontAlgn="ctr">
                        <a:buNone/>
                      </a:pPr>
                      <a:r>
                        <a:rPr lang="ja-JP" sz="850" b="1" i="0" u="none" strike="noStrike" dirty="0">
                          <a:solidFill>
                            <a:srgbClr val="FFFFFF"/>
                          </a:solidFill>
                          <a:effectLst/>
                          <a:latin typeface="游ゴシック" panose="020B0400000000000000" pitchFamily="50" charset="-128"/>
                          <a:ea typeface="游ゴシック" panose="020B0400000000000000" pitchFamily="50" charset="-128"/>
                        </a:rPr>
                        <a:t>構成比</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3041"/>
                    </a:solidFill>
                  </a:tcPr>
                </a:tc>
                <a:tc>
                  <a:txBody>
                    <a:bodyPr/>
                    <a:lstStyle/>
                    <a:p>
                      <a:pPr algn="ctr" fontAlgn="ctr">
                        <a:buNone/>
                      </a:pPr>
                      <a:r>
                        <a:rPr lang="ja-JP" sz="850" b="1" i="0" u="none" strike="noStrike" dirty="0">
                          <a:solidFill>
                            <a:srgbClr val="FFFFFF"/>
                          </a:solidFill>
                          <a:effectLst/>
                          <a:latin typeface="游ゴシック" panose="020B0400000000000000" pitchFamily="50" charset="-128"/>
                          <a:ea typeface="游ゴシック" panose="020B0400000000000000" pitchFamily="50" charset="-128"/>
                        </a:rPr>
                        <a:t>24年11月期</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3041"/>
                    </a:solidFill>
                  </a:tcPr>
                </a:tc>
                <a:tc>
                  <a:txBody>
                    <a:bodyPr/>
                    <a:lstStyle/>
                    <a:p>
                      <a:pPr algn="ctr" fontAlgn="ctr">
                        <a:buNone/>
                      </a:pPr>
                      <a:r>
                        <a:rPr lang="ja-JP" sz="850" b="1" i="0" u="none" strike="noStrike" dirty="0">
                          <a:solidFill>
                            <a:srgbClr val="FFFFFF"/>
                          </a:solidFill>
                          <a:effectLst/>
                          <a:latin typeface="游ゴシック" panose="020B0400000000000000" pitchFamily="50" charset="-128"/>
                          <a:ea typeface="游ゴシック" panose="020B0400000000000000" pitchFamily="50" charset="-128"/>
                        </a:rPr>
                        <a:t>構成比</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3041"/>
                    </a:solidFill>
                  </a:tcPr>
                </a:tc>
                <a:tc>
                  <a:txBody>
                    <a:bodyPr/>
                    <a:lstStyle/>
                    <a:p>
                      <a:pPr algn="ctr" fontAlgn="ctr">
                        <a:buNone/>
                      </a:pPr>
                      <a:r>
                        <a:rPr lang="ja-JP" sz="850" b="1" i="0" u="none" strike="noStrike" dirty="0">
                          <a:solidFill>
                            <a:srgbClr val="FFFFFF"/>
                          </a:solidFill>
                          <a:effectLst/>
                          <a:latin typeface="游ゴシック" panose="020B0400000000000000" pitchFamily="50" charset="-128"/>
                          <a:ea typeface="游ゴシック" panose="020B0400000000000000" pitchFamily="50" charset="-128"/>
                        </a:rPr>
                        <a:t>25年11月期</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3041"/>
                    </a:solidFill>
                  </a:tcPr>
                </a:tc>
                <a:tc>
                  <a:txBody>
                    <a:bodyPr/>
                    <a:lstStyle/>
                    <a:p>
                      <a:pPr algn="ctr" fontAlgn="ctr">
                        <a:buNone/>
                      </a:pPr>
                      <a:r>
                        <a:rPr lang="ja-JP" sz="850" b="1" i="0" u="none" strike="noStrike" dirty="0">
                          <a:solidFill>
                            <a:srgbClr val="FFFFFF"/>
                          </a:solidFill>
                          <a:effectLst/>
                          <a:latin typeface="游ゴシック" panose="020B0400000000000000" pitchFamily="50" charset="-128"/>
                          <a:ea typeface="游ゴシック" panose="020B0400000000000000" pitchFamily="50" charset="-128"/>
                        </a:rPr>
                        <a:t>構成比</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3041"/>
                    </a:solidFill>
                  </a:tcPr>
                </a:tc>
                <a:tc>
                  <a:txBody>
                    <a:bodyPr/>
                    <a:lstStyle/>
                    <a:p>
                      <a:pPr algn="ctr" fontAlgn="ctr">
                        <a:buNone/>
                      </a:pPr>
                      <a:r>
                        <a:rPr lang="ja-JP" sz="850" b="1" i="0" u="none" strike="noStrike" dirty="0">
                          <a:solidFill>
                            <a:srgbClr val="FFFFFF"/>
                          </a:solidFill>
                          <a:effectLst/>
                          <a:latin typeface="游ゴシック" panose="020B0400000000000000" pitchFamily="50" charset="-128"/>
                          <a:ea typeface="游ゴシック" panose="020B0400000000000000" pitchFamily="50" charset="-128"/>
                        </a:rPr>
                        <a:t>進行期7か月
(25/12〜26/6)</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3041"/>
                    </a:solidFill>
                  </a:tcPr>
                </a:tc>
                <a:tc>
                  <a:txBody>
                    <a:bodyPr/>
                    <a:lstStyle/>
                    <a:p>
                      <a:pPr algn="ctr" fontAlgn="ctr">
                        <a:buNone/>
                      </a:pPr>
                      <a:r>
                        <a:rPr lang="ja-JP" sz="850" b="1" i="0" u="none" strike="noStrike" dirty="0">
                          <a:solidFill>
                            <a:srgbClr val="FFFFFF"/>
                          </a:solidFill>
                          <a:effectLst/>
                          <a:latin typeface="游ゴシック" panose="020B0400000000000000" pitchFamily="50" charset="-128"/>
                          <a:ea typeface="游ゴシック" panose="020B0400000000000000" pitchFamily="50" charset="-128"/>
                        </a:rPr>
                        <a:t>構成比</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3041"/>
                    </a:solidFill>
                  </a:tcPr>
                </a:tc>
                <a:extLst>
                  <a:ext uri="{0D108BD9-81ED-4DB2-BD59-A6C34878D82A}">
                    <a16:rowId xmlns:a16="http://schemas.microsoft.com/office/drawing/2014/main" val="2136583368"/>
                  </a:ext>
                </a:extLst>
              </a:tr>
              <a:tr h="246888">
                <a:tc>
                  <a:txBody>
                    <a:bodyPr/>
                    <a:lstStyle/>
                    <a:p>
                      <a:pPr algn="l" fontAlgn="b">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おっきなもふもふ応援隊 大阪総本店</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34,655</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6.4%</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142,385</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25.5%</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58,447</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20.9%</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710604957"/>
                  </a:ext>
                </a:extLst>
              </a:tr>
              <a:tr h="246888">
                <a:tc>
                  <a:txBody>
                    <a:bodyPr/>
                    <a:lstStyle/>
                    <a:p>
                      <a:pPr algn="l" fontAlgn="b">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おっきなもふもふ応援隊 岐阜総本店</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98,527</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20.8%</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157,756</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29.3%</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118,491</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21.2%</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60,023</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21.5%</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4169350144"/>
                  </a:ext>
                </a:extLst>
              </a:tr>
              <a:tr h="246888">
                <a:tc>
                  <a:txBody>
                    <a:bodyPr/>
                    <a:lstStyle/>
                    <a:p>
                      <a:pPr algn="l" fontAlgn="b">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ワンラブ バローミタス伊勢店</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88,527</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18.7%</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75,571</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14.0%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66,609</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11.9%</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40,221</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14.4%</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755084407"/>
                  </a:ext>
                </a:extLst>
              </a:tr>
              <a:tr h="246888">
                <a:tc>
                  <a:txBody>
                    <a:bodyPr/>
                    <a:lstStyle/>
                    <a:p>
                      <a:pPr algn="l" fontAlgn="b">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ワンラブ ホームセンターバロー久居店</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66,887</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14.1%</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62,981</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11.7%</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57,327</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10.3%</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33,840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12.1%</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954073247"/>
                  </a:ext>
                </a:extLst>
              </a:tr>
              <a:tr h="246888">
                <a:tc>
                  <a:txBody>
                    <a:bodyPr/>
                    <a:lstStyle/>
                    <a:p>
                      <a:pPr algn="l" fontAlgn="b">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ワンラブ ドン・キホーテ緑店</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19,793</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3.7%</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51,761</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9.3%</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36,963</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13.2%</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137578284"/>
                  </a:ext>
                </a:extLst>
              </a:tr>
              <a:tr h="246888">
                <a:tc>
                  <a:txBody>
                    <a:bodyPr/>
                    <a:lstStyle/>
                    <a:p>
                      <a:pPr algn="l" fontAlgn="b">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ワンラブ アクアウォーク大垣店 ※2026年2月撤退</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50,138</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10.6%</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43,305</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8.0%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38,021</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6.8%</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6,112</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2.2%</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870541768"/>
                  </a:ext>
                </a:extLst>
              </a:tr>
              <a:tr h="246888">
                <a:tc>
                  <a:txBody>
                    <a:bodyPr/>
                    <a:lstStyle/>
                    <a:p>
                      <a:pPr algn="l" fontAlgn="b">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ワンラブ カインズホーム明和店</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65,416</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13.8%</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67,267</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12.5%</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37,216</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6.7%</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25,109</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9.0%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706507175"/>
                  </a:ext>
                </a:extLst>
              </a:tr>
              <a:tr h="246888">
                <a:tc>
                  <a:txBody>
                    <a:bodyPr/>
                    <a:lstStyle/>
                    <a:p>
                      <a:pPr algn="l" fontAlgn="b">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ワンラブ ペットプラザ岐阜店 ※2026年1月撤退</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32,770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6.9%</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20,636</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3.8%</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18,945</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3.4%</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1,843</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0.7%</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873200470"/>
                  </a:ext>
                </a:extLst>
              </a:tr>
              <a:tr h="246888">
                <a:tc>
                  <a:txBody>
                    <a:bodyPr/>
                    <a:lstStyle/>
                    <a:p>
                      <a:pPr algn="l" fontAlgn="b">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ワンラブ コメリパワー中志段味店 ※2024年6月譲渡</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43,555</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9.2%</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29,765</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5.5%</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7520482"/>
                  </a:ext>
                </a:extLst>
              </a:tr>
              <a:tr h="246888">
                <a:tc>
                  <a:txBody>
                    <a:bodyPr/>
                    <a:lstStyle/>
                    <a:p>
                      <a:pPr algn="l" fontAlgn="b">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本社（サービス・物販）</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15,611</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3.3%</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18,397</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3.4%</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22,126</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4.0%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13,650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4.9%</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970990274"/>
                  </a:ext>
                </a:extLst>
              </a:tr>
              <a:tr h="246888">
                <a:tc>
                  <a:txBody>
                    <a:bodyPr/>
                    <a:lstStyle/>
                    <a:p>
                      <a:pPr algn="l" fontAlgn="b">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本社（セキュリティ事業）</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12,996</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2.7%</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8,909</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1.7%</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5,508</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2,945</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1.1%</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970990274"/>
                  </a:ext>
                </a:extLst>
              </a:tr>
              <a:tr h="246888">
                <a:tc>
                  <a:txBody>
                    <a:bodyPr/>
                    <a:lstStyle/>
                    <a:p>
                      <a:pPr algn="ctr" fontAlgn="ctr">
                        <a:buNone/>
                      </a:pPr>
                      <a:r>
                        <a:rPr lang="ja-JP" sz="850" b="1" i="0" u="none" strike="noStrike" dirty="0">
                          <a:solidFill>
                            <a:srgbClr val="FFFFFF"/>
                          </a:solidFill>
                          <a:effectLst/>
                          <a:latin typeface="游ゴシック" panose="020B0400000000000000" pitchFamily="50" charset="-128"/>
                          <a:ea typeface="游ゴシック" panose="020B0400000000000000" pitchFamily="50" charset="-128"/>
                        </a:rPr>
                        <a:t>合計</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3041"/>
                    </a:solidFill>
                  </a:tcPr>
                </a:tc>
                <a:tc>
                  <a:txBody>
                    <a:bodyPr/>
                    <a:lstStyle/>
                    <a:p>
                      <a:pPr algn="r" fontAlgn="b">
                        <a:buNone/>
                      </a:pPr>
                      <a:r>
                        <a:rPr lang="ja-JP" sz="850" b="1" i="0" u="none" strike="noStrike" dirty="0">
                          <a:solidFill>
                            <a:srgbClr val="FFFFFF"/>
                          </a:solidFill>
                          <a:effectLst/>
                          <a:latin typeface="游ゴシック" panose="020B0400000000000000" pitchFamily="50" charset="-128"/>
                          <a:ea typeface="游ゴシック" panose="020B0400000000000000" pitchFamily="50" charset="-128"/>
                        </a:rPr>
                        <a:t>474,428</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3041"/>
                    </a:solidFill>
                  </a:tcPr>
                </a:tc>
                <a:tc>
                  <a:txBody>
                    <a:bodyPr/>
                    <a:lstStyle/>
                    <a:p>
                      <a:pPr algn="r" fontAlgn="b">
                        <a:buNone/>
                      </a:pPr>
                      <a:r>
                        <a:rPr lang="ja-JP" sz="850" b="1" i="0" u="none" strike="noStrike" dirty="0">
                          <a:solidFill>
                            <a:srgbClr val="FFFFFF"/>
                          </a:solidFill>
                          <a:effectLst/>
                          <a:latin typeface="游ゴシック" panose="020B0400000000000000" pitchFamily="50" charset="-128"/>
                          <a:ea typeface="游ゴシック" panose="020B0400000000000000" pitchFamily="50" charset="-128"/>
                        </a:rPr>
                        <a:t>100.0%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3041"/>
                    </a:solidFill>
                  </a:tcPr>
                </a:tc>
                <a:tc>
                  <a:txBody>
                    <a:bodyPr/>
                    <a:lstStyle/>
                    <a:p>
                      <a:pPr algn="r" fontAlgn="b">
                        <a:buNone/>
                      </a:pPr>
                      <a:r>
                        <a:rPr lang="ja-JP" sz="850" b="1" i="0" u="none" strike="noStrike" dirty="0">
                          <a:solidFill>
                            <a:srgbClr val="FFFFFF"/>
                          </a:solidFill>
                          <a:effectLst/>
                          <a:latin typeface="游ゴシック" panose="020B0400000000000000" pitchFamily="50" charset="-128"/>
                          <a:ea typeface="游ゴシック" panose="020B0400000000000000" pitchFamily="50" charset="-128"/>
                        </a:rPr>
                        <a:t>539,035</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3041"/>
                    </a:solidFill>
                  </a:tcPr>
                </a:tc>
                <a:tc>
                  <a:txBody>
                    <a:bodyPr/>
                    <a:lstStyle/>
                    <a:p>
                      <a:pPr algn="r" fontAlgn="b">
                        <a:buNone/>
                      </a:pPr>
                      <a:r>
                        <a:rPr lang="ja-JP" sz="850" b="1" i="0" u="none" strike="noStrike" dirty="0">
                          <a:solidFill>
                            <a:srgbClr val="FFFFFF"/>
                          </a:solidFill>
                          <a:effectLst/>
                          <a:latin typeface="游ゴシック" panose="020B0400000000000000" pitchFamily="50" charset="-128"/>
                          <a:ea typeface="游ゴシック" panose="020B0400000000000000" pitchFamily="50" charset="-128"/>
                        </a:rPr>
                        <a:t>100.0%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3041"/>
                    </a:solidFill>
                  </a:tcPr>
                </a:tc>
                <a:tc>
                  <a:txBody>
                    <a:bodyPr/>
                    <a:lstStyle/>
                    <a:p>
                      <a:pPr algn="r" fontAlgn="b">
                        <a:buNone/>
                      </a:pPr>
                      <a:r>
                        <a:rPr lang="ja-JP" sz="850" b="1" i="0" u="none" strike="noStrike" dirty="0">
                          <a:solidFill>
                            <a:srgbClr val="FFFFFF"/>
                          </a:solidFill>
                          <a:effectLst/>
                          <a:latin typeface="游ゴシック" panose="020B0400000000000000" pitchFamily="50" charset="-128"/>
                          <a:ea typeface="游ゴシック" panose="020B0400000000000000" pitchFamily="50" charset="-128"/>
                        </a:rPr>
                        <a:t>558,390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3041"/>
                    </a:solidFill>
                  </a:tcPr>
                </a:tc>
                <a:tc>
                  <a:txBody>
                    <a:bodyPr/>
                    <a:lstStyle/>
                    <a:p>
                      <a:pPr algn="r" fontAlgn="b">
                        <a:buNone/>
                      </a:pPr>
                      <a:r>
                        <a:rPr lang="ja-JP" sz="850" b="1" i="0" u="none" strike="noStrike" dirty="0">
                          <a:solidFill>
                            <a:srgbClr val="FFFFFF"/>
                          </a:solidFill>
                          <a:effectLst/>
                          <a:latin typeface="游ゴシック" panose="020B0400000000000000" pitchFamily="50" charset="-128"/>
                          <a:ea typeface="游ゴシック" panose="020B0400000000000000" pitchFamily="50" charset="-128"/>
                        </a:rPr>
                        <a:t>100.0%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3041"/>
                    </a:solidFill>
                  </a:tcPr>
                </a:tc>
                <a:tc>
                  <a:txBody>
                    <a:bodyPr/>
                    <a:lstStyle/>
                    <a:p>
                      <a:pPr algn="r" fontAlgn="b">
                        <a:buNone/>
                      </a:pPr>
                      <a:r>
                        <a:rPr lang="ja-JP" sz="850" b="1" i="0" u="none" strike="noStrike" dirty="0">
                          <a:solidFill>
                            <a:srgbClr val="FFFFFF"/>
                          </a:solidFill>
                          <a:effectLst/>
                          <a:latin typeface="游ゴシック" panose="020B0400000000000000" pitchFamily="50" charset="-128"/>
                          <a:ea typeface="游ゴシック" panose="020B0400000000000000" pitchFamily="50" charset="-128"/>
                        </a:rPr>
                        <a:t>279,153</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3041"/>
                    </a:solidFill>
                  </a:tcPr>
                </a:tc>
                <a:tc>
                  <a:txBody>
                    <a:bodyPr/>
                    <a:lstStyle/>
                    <a:p>
                      <a:pPr algn="r" fontAlgn="b">
                        <a:buNone/>
                      </a:pPr>
                      <a:r>
                        <a:rPr lang="ja-JP" sz="850" b="1" i="0" u="none" strike="noStrike" dirty="0">
                          <a:solidFill>
                            <a:srgbClr val="FFFFFF"/>
                          </a:solidFill>
                          <a:effectLst/>
                          <a:latin typeface="游ゴシック" panose="020B0400000000000000" pitchFamily="50" charset="-128"/>
                          <a:ea typeface="游ゴシック" panose="020B0400000000000000" pitchFamily="50" charset="-128"/>
                        </a:rPr>
                        <a:t>100.0%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3041"/>
                    </a:solidFill>
                  </a:tcPr>
                </a:tc>
                <a:extLst>
                  <a:ext uri="{0D108BD9-81ED-4DB2-BD59-A6C34878D82A}">
                    <a16:rowId xmlns:a16="http://schemas.microsoft.com/office/drawing/2014/main" val="3872327840"/>
                  </a:ext>
                </a:extLst>
              </a:tr>
            </a:tbl>
          </a:graphicData>
        </a:graphic>
      </p:graphicFrame>
      <p:sp>
        <p:nvSpPr>
          <p:cNvPr id="18" name="TextBox 14">
            <a:extLst>
              <a:ext uri="{FF2B5EF4-FFF2-40B4-BE49-F238E27FC236}">
                <a16:creationId xmlns:a16="http://schemas.microsoft.com/office/drawing/2014/main" id="{DB0F0585-36DA-5BC2-3EF1-1F38A9D84311}"/>
              </a:ext>
            </a:extLst>
          </p:cNvPr>
          <p:cNvSpPr txBox="1"/>
          <p:nvPr/>
        </p:nvSpPr>
        <p:spPr>
          <a:xfrm>
            <a:off x="8463216" y="1550358"/>
            <a:ext cx="933300" cy="167700"/>
          </a:xfrm>
          <a:prstGeom prst="rect">
            <a:avLst/>
          </a:prstGeom>
          <a:noFill/>
        </p:spPr>
        <p:txBody>
          <a:bodyPr wrap="square" lIns="36000" tIns="18000" rIns="36000" bIns="18000" anchor="t">
            <a:spAutoFit/>
          </a:bodyPr>
          <a:lstStyle/>
          <a:p>
            <a:pPr>
              <a:spcBef>
                <a:spcPts val="0"/>
              </a:spcBef>
              <a:spcAft>
                <a:spcPts val="200"/>
              </a:spcAft>
            </a:pPr>
            <a:r>
              <a:rPr lang="ja-JP" altLang="en-US" sz="850" b="0" dirty="0">
                <a:solidFill>
                  <a:schemeClr val="tx1"/>
                </a:solidFill>
                <a:latin typeface="游ゴシック" panose="020B0400000000000000" pitchFamily="50" charset="-128"/>
                <a:ea typeface="游ゴシック" panose="020B0400000000000000" pitchFamily="50" charset="-128"/>
              </a:rPr>
              <a:t>（単位：千円）</a:t>
            </a:r>
            <a:endParaRPr sz="900" b="0" dirty="0">
              <a:solidFill>
                <a:schemeClr val="tx1"/>
              </a:solidFill>
              <a:latin typeface="游ゴシック" panose="020B0400000000000000" pitchFamily="50" charset="-128"/>
              <a:ea typeface="游ゴシック" panose="020B0400000000000000" pitchFamily="50" charset="-128"/>
            </a:endParaRPr>
          </a:p>
        </p:txBody>
      </p:sp>
      <p:sp>
        <p:nvSpPr>
          <p:cNvPr id="36" name="TextBox 35"/>
          <p:cNvSpPr txBox="1"/>
          <p:nvPr/>
        </p:nvSpPr>
        <p:spPr>
          <a:xfrm>
            <a:off x="338328" y="5303520"/>
            <a:ext cx="9902952" cy="1005840"/>
          </a:xfrm>
          <a:prstGeom prst="rect">
            <a:avLst/>
          </a:prstGeom>
          <a:noFill/>
        </p:spPr>
        <p:txBody>
          <a:bodyPr wrap="square">
            <a:spAutoFit/>
          </a:bodyPr>
          <a:lstStyle/>
          <a:p>
            <a:r>
              <a:rPr sz="900">
                <a:latin typeface="游ゴシック Medium"/>
              </a:rPr>
              <a:t>※出所：第3期〜第5期 決算報告書「売上高等の事業所別内訳書」および店舗別試算表 2025年12月〜2026年6月。各期のPL売上高と一致することを確認済。</a:t>
            </a:r>
          </a:p>
          <a:p>
            <a:r>
              <a:rPr sz="900">
                <a:latin typeface="游ゴシック Medium"/>
              </a:rPr>
              <a:t>※対象会社の既存会社説明資料には「店舗6箇所」および2024年11月期の店舗別売上高が記載されているが、2025年11月期時点の稼働店舗は8店舗である。</a:t>
            </a:r>
          </a:p>
          <a:p>
            <a:r>
              <a:rPr sz="900">
                <a:latin typeface="游ゴシック Medium"/>
              </a:rPr>
              <a:t>※店舗別試算表および従業員名簿により、撤退した2店舗はペットプラザ岐阜店（2026年1月まで）とアクアウォーク大垣店（2026年2月まで）であることを確認した。</a:t>
            </a:r>
          </a:p>
          <a:p>
            <a:r>
              <a:rPr sz="900">
                <a:latin typeface="游ゴシック Medium"/>
              </a:rPr>
              <a:t>※本社（サービス・物販）の進行期13,650千円は月額約195万円で計上されており、ペット保険の代理店手数料と推察される（仮説・要確認）。</a:t>
            </a:r>
          </a:p>
        </p:txBody>
      </p:sp>
    </p:spTree>
    <p:extLst>
      <p:ext uri="{BB962C8B-B14F-4D97-AF65-F5344CB8AC3E}">
        <p14:creationId xmlns:p14="http://schemas.microsoft.com/office/powerpoint/2010/main" val="31981612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891F8-DC9B-0C7A-5AA5-FC421CDA878B}"/>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4823C4F2-FDE2-2A7A-88F4-14757C781840}"/>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店舗別損益（進行期7か月）</a:t>
            </a:r>
          </a:p>
        </p:txBody>
      </p:sp>
      <p:sp>
        <p:nvSpPr>
          <p:cNvPr id="4" name="タイトル 1">
            <a:extLst>
              <a:ext uri="{FF2B5EF4-FFF2-40B4-BE49-F238E27FC236}">
                <a16:creationId xmlns:a16="http://schemas.microsoft.com/office/drawing/2014/main" id="{D44DDE09-7FAA-EAAC-AE8C-414FEC9219B7}"/>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事業概要</a:t>
            </a:r>
          </a:p>
        </p:txBody>
      </p:sp>
      <p:graphicFrame>
        <p:nvGraphicFramePr>
          <p:cNvPr id="9" name="表 8">
            <a:extLst>
              <a:ext uri="{FF2B5EF4-FFF2-40B4-BE49-F238E27FC236}">
                <a16:creationId xmlns:a16="http://schemas.microsoft.com/office/drawing/2014/main" id="{CCA9EF7E-7CE7-5EF8-7F12-B433D524792F}"/>
              </a:ext>
            </a:extLst>
          </p:cNvPr>
          <p:cNvGraphicFramePr>
            <a:graphicFrameLocks noGrp="1"/>
          </p:cNvGraphicFramePr>
          <p:nvPr>
            <p:extLst>
              <p:ext uri="{D42A27DB-BD31-4B8C-83A1-F6EECF244321}">
                <p14:modId xmlns:p14="http://schemas.microsoft.com/office/powerpoint/2010/main" val="3029468883"/>
              </p:ext>
            </p:extLst>
          </p:nvPr>
        </p:nvGraphicFramePr>
        <p:xfrm>
          <a:off x="341313" y="1572768"/>
          <a:ext cx="9902952" cy="3973068"/>
        </p:xfrm>
        <a:graphic>
          <a:graphicData uri="http://schemas.openxmlformats.org/drawingml/2006/table">
            <a:tbl>
              <a:tblPr/>
              <a:tblGrid>
                <a:gridCol w="256032">
                  <a:extLst>
                    <a:ext uri="{9D8B030D-6E8A-4147-A177-3AD203B41FA5}">
                      <a16:colId xmlns:a16="http://schemas.microsoft.com/office/drawing/2014/main" val="3316058797"/>
                    </a:ext>
                  </a:extLst>
                </a:gridCol>
                <a:gridCol w="2606040">
                  <a:extLst>
                    <a:ext uri="{9D8B030D-6E8A-4147-A177-3AD203B41FA5}">
                      <a16:colId xmlns:a16="http://schemas.microsoft.com/office/drawing/2014/main" val="1380719249"/>
                    </a:ext>
                  </a:extLst>
                </a:gridCol>
                <a:gridCol w="1234440">
                  <a:extLst>
                    <a:ext uri="{9D8B030D-6E8A-4147-A177-3AD203B41FA5}">
                      <a16:colId xmlns:a16="http://schemas.microsoft.com/office/drawing/2014/main" val="246846433"/>
                    </a:ext>
                  </a:extLst>
                </a:gridCol>
                <a:gridCol w="1234440">
                  <a:extLst>
                    <a:ext uri="{9D8B030D-6E8A-4147-A177-3AD203B41FA5}">
                      <a16:colId xmlns:a16="http://schemas.microsoft.com/office/drawing/2014/main" val="3721573245"/>
                    </a:ext>
                  </a:extLst>
                </a:gridCol>
                <a:gridCol w="914400">
                  <a:extLst>
                    <a:ext uri="{9D8B030D-6E8A-4147-A177-3AD203B41FA5}">
                      <a16:colId xmlns:a16="http://schemas.microsoft.com/office/drawing/2014/main" val="25268631"/>
                    </a:ext>
                  </a:extLst>
                </a:gridCol>
                <a:gridCol w="640080">
                  <a:extLst>
                    <a:ext uri="{9D8B030D-6E8A-4147-A177-3AD203B41FA5}">
                      <a16:colId xmlns:a16="http://schemas.microsoft.com/office/drawing/2014/main" val="829825544"/>
                    </a:ext>
                  </a:extLst>
                </a:gridCol>
                <a:gridCol w="987552">
                  <a:extLst>
                    <a:ext uri="{9D8B030D-6E8A-4147-A177-3AD203B41FA5}">
                      <a16:colId xmlns:a16="http://schemas.microsoft.com/office/drawing/2014/main" val="1494183210"/>
                    </a:ext>
                  </a:extLst>
                </a:gridCol>
                <a:gridCol w="932688">
                  <a:extLst>
                    <a:ext uri="{9D8B030D-6E8A-4147-A177-3AD203B41FA5}">
                      <a16:colId xmlns:a16="http://schemas.microsoft.com/office/drawing/2014/main" val="3341255910"/>
                    </a:ext>
                  </a:extLst>
                </a:gridCol>
                <a:gridCol w="1097280">
                  <a:extLst>
                    <a:ext uri="{9D8B030D-6E8A-4147-A177-3AD203B41FA5}">
                      <a16:colId xmlns:a16="http://schemas.microsoft.com/office/drawing/2014/main" val="387513537"/>
                    </a:ext>
                  </a:extLst>
                </a:gridCol>
              </a:tblGrid>
              <a:tr h="347472">
                <a:tc>
                  <a:txBody>
                    <a:bodyPr/>
                    <a:lstStyle/>
                    <a:p>
                      <a:pPr algn="ctr" fontAlgn="ctr">
                        <a:buNone/>
                      </a:pPr>
                      <a:r>
                        <a:rPr lang="ja-JP" sz="850" b="1" i="0" u="none" strike="noStrike" dirty="0">
                          <a:solidFill>
                            <a:srgbClr val="FFFFFF"/>
                          </a:solidFill>
                          <a:effectLst/>
                          <a:latin typeface="游ゴシック" panose="020B0400000000000000" pitchFamily="50" charset="-128"/>
                          <a:ea typeface="游ゴシック" panose="020B0400000000000000" pitchFamily="50" charset="-128"/>
                        </a:rPr>
                        <a:t>№</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ctr" fontAlgn="ctr">
                        <a:buNone/>
                      </a:pPr>
                      <a:r>
                        <a:rPr lang="ja-JP" sz="850" b="1" i="0" u="none" strike="noStrike">
                          <a:solidFill>
                            <a:srgbClr val="FFFFFF"/>
                          </a:solidFill>
                          <a:effectLst/>
                          <a:latin typeface="游ゴシック" panose="020B0400000000000000" pitchFamily="50" charset="-128"/>
                          <a:ea typeface="游ゴシック" panose="020B0400000000000000" pitchFamily="50" charset="-128"/>
                        </a:rPr>
                        <a:t>部門</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ctr" fontAlgn="ctr">
                        <a:buNone/>
                      </a:pPr>
                      <a:r>
                        <a:rPr lang="ja-JP" sz="850" b="1" i="0" u="none" strike="noStrike">
                          <a:solidFill>
                            <a:srgbClr val="FFFFFF"/>
                          </a:solidFill>
                          <a:effectLst/>
                          <a:latin typeface="游ゴシック" panose="020B0400000000000000" pitchFamily="50" charset="-128"/>
                          <a:ea typeface="游ゴシック" panose="020B0400000000000000" pitchFamily="50" charset="-128"/>
                        </a:rPr>
                        <a:t>業態</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ctr" fontAlgn="ctr">
                        <a:buNone/>
                      </a:pPr>
                      <a:r>
                        <a:rPr lang="ja-JP" sz="850" b="1" i="0" u="none" strike="noStrike">
                          <a:solidFill>
                            <a:srgbClr val="FFFFFF"/>
                          </a:solidFill>
                          <a:effectLst/>
                          <a:latin typeface="游ゴシック" panose="020B0400000000000000" pitchFamily="50" charset="-128"/>
                          <a:ea typeface="游ゴシック" panose="020B0400000000000000" pitchFamily="50" charset="-128"/>
                        </a:rPr>
                        <a:t>状況</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ctr" fontAlgn="ctr">
                        <a:buNone/>
                      </a:pPr>
                      <a:r>
                        <a:rPr lang="ja-JP" sz="850" b="1" i="0" u="none" strike="noStrike">
                          <a:solidFill>
                            <a:srgbClr val="FFFFFF"/>
                          </a:solidFill>
                          <a:effectLst/>
                          <a:latin typeface="游ゴシック" panose="020B0400000000000000" pitchFamily="50" charset="-128"/>
                          <a:ea typeface="游ゴシック" panose="020B0400000000000000" pitchFamily="50" charset="-128"/>
                        </a:rPr>
                        <a:t>売上高</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ctr" fontAlgn="ctr">
                        <a:buNone/>
                      </a:pPr>
                      <a:r>
                        <a:rPr lang="ja-JP" sz="850" b="1" i="0" u="none" strike="noStrike">
                          <a:solidFill>
                            <a:srgbClr val="FFFFFF"/>
                          </a:solidFill>
                          <a:effectLst/>
                          <a:latin typeface="游ゴシック" panose="020B0400000000000000" pitchFamily="50" charset="-128"/>
                          <a:ea typeface="游ゴシック" panose="020B0400000000000000" pitchFamily="50" charset="-128"/>
                        </a:rPr>
                        <a:t>構成比</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ctr" fontAlgn="ctr">
                        <a:buNone/>
                      </a:pPr>
                      <a:r>
                        <a:rPr lang="ja-JP" sz="850" b="1" i="0" u="none" strike="noStrike">
                          <a:solidFill>
                            <a:srgbClr val="FFFFFF"/>
                          </a:solidFill>
                          <a:effectLst/>
                          <a:latin typeface="游ゴシック" panose="020B0400000000000000" pitchFamily="50" charset="-128"/>
                          <a:ea typeface="游ゴシック" panose="020B0400000000000000" pitchFamily="50" charset="-128"/>
                        </a:rPr>
                        <a:t>売上総利益</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ctr" fontAlgn="ctr">
                        <a:buNone/>
                      </a:pPr>
                      <a:r>
                        <a:rPr lang="ja-JP" sz="850" b="1" i="0" u="none" strike="noStrike" dirty="0">
                          <a:solidFill>
                            <a:srgbClr val="FFFFFF"/>
                          </a:solidFill>
                          <a:effectLst/>
                          <a:latin typeface="游ゴシック" panose="020B0400000000000000" pitchFamily="50" charset="-128"/>
                          <a:ea typeface="游ゴシック" panose="020B0400000000000000" pitchFamily="50" charset="-128"/>
                        </a:rPr>
                        <a:t>販管費</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ctr" fontAlgn="ctr">
                        <a:buNone/>
                      </a:pPr>
                      <a:r>
                        <a:rPr lang="ja-JP" sz="850" b="1" i="0" u="none" strike="noStrike" dirty="0">
                          <a:solidFill>
                            <a:srgbClr val="FFFFFF"/>
                          </a:solidFill>
                          <a:effectLst/>
                          <a:latin typeface="游ゴシック" panose="020B0400000000000000" pitchFamily="50" charset="-128"/>
                          <a:ea typeface="游ゴシック" panose="020B0400000000000000" pitchFamily="50" charset="-128"/>
                        </a:rPr>
                        <a:t>営業利益</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extLst>
                  <a:ext uri="{0D108BD9-81ED-4DB2-BD59-A6C34878D82A}">
                    <a16:rowId xmlns:a16="http://schemas.microsoft.com/office/drawing/2014/main" val="3150016470"/>
                  </a:ext>
                </a:extLst>
              </a:tr>
              <a:tr h="278892">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1</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ワンラブ カインズホーム明和店</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FC／インショップ</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稼働中</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25,109</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9.0%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18,583</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18,977</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 394</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056577972"/>
                  </a:ext>
                </a:extLst>
              </a:tr>
              <a:tr h="278892">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2</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ワンラブ バローミタス伊勢店</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FC／インショップ</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稼働中</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40,221</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14.4%</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31,468</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14,171</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17,296</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67627526"/>
                  </a:ext>
                </a:extLst>
              </a:tr>
              <a:tr h="278892">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3</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ワンラブ ホームセンターバロー久居店</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FC／インショップ</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稼働中</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33,840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12.1%</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26,675</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13,333</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13,342</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222888758"/>
                  </a:ext>
                </a:extLst>
              </a:tr>
              <a:tr h="278892">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4</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ワンラブ ドン・キホーテ緑店</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FC／インショップ</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稼働中</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36,963</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13.2%</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31,416</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13,900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17,516</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927963007"/>
                  </a:ext>
                </a:extLst>
              </a:tr>
              <a:tr h="278892">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5</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おっきなもふもふ応援隊 岐阜総本店</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大型犬専門／路面店</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稼働中</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60,023</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21.5%</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48,926</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22,724</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26,202</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087551456"/>
                  </a:ext>
                </a:extLst>
              </a:tr>
              <a:tr h="278892">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6</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おっきなもふもふ応援隊 大阪総本店</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大型犬専門／路面店</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稼働中</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58,447</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20.9%</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49,078</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22,222</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26,856</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961957651"/>
                  </a:ext>
                </a:extLst>
              </a:tr>
              <a:tr h="278892">
                <a:tc>
                  <a:txBody>
                    <a:bodyPr/>
                    <a:lstStyle/>
                    <a:p>
                      <a:pPr algn="ct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　</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【稼働6店舗 小計】</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254,603</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91.2%</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206,145</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105,327</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100,818</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486727505"/>
                  </a:ext>
                </a:extLst>
              </a:tr>
              <a:tr h="278892">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7</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ワンラブ アクアウォーク大垣店</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FC／インショップ</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2026年2月に撤退</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6,112</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2.2%</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859</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1,915</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 1,056</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693701439"/>
                  </a:ext>
                </a:extLst>
              </a:tr>
              <a:tr h="278892">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8</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ワンラブ ペットプラザ岐阜店</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FC／インショップ</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2026年1月に撤退</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1,843</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0.7%</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 1,275</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1,756</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 3,031</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464820398"/>
                  </a:ext>
                </a:extLst>
              </a:tr>
              <a:tr h="278892">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セキュリティ事業</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非店舗</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2,945</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1.1%</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1,615</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1,615</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80445004"/>
                  </a:ext>
                </a:extLst>
              </a:tr>
              <a:tr h="278892">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大垣管理センター</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非店舗</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2026年2月に閉鎖</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113</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 113</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818873767"/>
                  </a:ext>
                </a:extLst>
              </a:tr>
              <a:tr h="278892">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共通部門（本社）</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非店舗</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13,650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4.9%</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 32,954</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58,643</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 91,597</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455912933"/>
                  </a:ext>
                </a:extLst>
              </a:tr>
              <a:tr h="278892">
                <a:tc>
                  <a:txBody>
                    <a:bodyPr/>
                    <a:lstStyle/>
                    <a:p>
                      <a:pPr algn="ct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　</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ja-JP" sz="850" b="1" i="0" u="none" strike="noStrike" dirty="0">
                          <a:solidFill>
                            <a:srgbClr val="000000"/>
                          </a:solidFill>
                          <a:effectLst/>
                          <a:latin typeface="游ゴシック" panose="020B0400000000000000" pitchFamily="50" charset="-128"/>
                          <a:ea typeface="游ゴシック" panose="020B0400000000000000" pitchFamily="50" charset="-128"/>
                        </a:rPr>
                        <a:t>【合計】</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279,153</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100.0%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174,391</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167,754</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50" b="1" i="0" u="none" strike="noStrike">
                          <a:solidFill>
                            <a:srgbClr val="000000"/>
                          </a:solidFill>
                          <a:effectLst/>
                          <a:latin typeface="游ゴシック" panose="020B0400000000000000" pitchFamily="50" charset="-128"/>
                          <a:ea typeface="游ゴシック" panose="020B0400000000000000" pitchFamily="50" charset="-128"/>
                        </a:rPr>
                        <a:t>6,637</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145927038"/>
                  </a:ext>
                </a:extLst>
              </a:tr>
            </a:tbl>
          </a:graphicData>
        </a:graphic>
      </p:graphicFrame>
      <p:sp>
        <p:nvSpPr>
          <p:cNvPr id="7" name="字幕 13">
            <a:extLst>
              <a:ext uri="{FF2B5EF4-FFF2-40B4-BE49-F238E27FC236}">
                <a16:creationId xmlns:a16="http://schemas.microsoft.com/office/drawing/2014/main" id="{AF62B1A2-0C69-2A17-FF69-1256D98EBEC7}"/>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不採算2店舗の撤退により、進行期は稼働6店舗で100,818千円の店舗貢献利益を計上。大型犬専門2店舗が貢献利益の52.6%を占める一方、明和店は損益均衡にとどまる。</a:t>
            </a:r>
            <a:endParaRPr lang="en-US" altLang="ja-JP" dirty="0">
              <a:latin typeface="游ゴシック" panose="020B0400000000000000" pitchFamily="50" charset="-128"/>
              <a:ea typeface="游ゴシック" panose="020B0400000000000000" pitchFamily="50" charset="-128"/>
            </a:endParaRPr>
          </a:p>
        </p:txBody>
      </p:sp>
      <p:sp>
        <p:nvSpPr>
          <p:cNvPr id="14" name="TextBox 13"/>
          <p:cNvSpPr txBox="1"/>
          <p:nvPr/>
        </p:nvSpPr>
        <p:spPr>
          <a:xfrm>
            <a:off x="338328" y="5852160"/>
            <a:ext cx="9902952" cy="1143000"/>
          </a:xfrm>
          <a:prstGeom prst="rect">
            <a:avLst/>
          </a:prstGeom>
          <a:noFill/>
        </p:spPr>
        <p:txBody>
          <a:bodyPr wrap="square">
            <a:spAutoFit/>
          </a:bodyPr>
          <a:lstStyle/>
          <a:p>
            <a:r>
              <a:rPr sz="800">
                <a:latin typeface="游ゴシック Medium"/>
              </a:rPr>
              <a:t>（単位：千円）※出所：店舗別（部門別）勘定科目残高推移表 2025年12月〜2026年6月（2026年9月18日出力）。部門別の合計は全社の試算表と一致することを確認済。</a:t>
            </a:r>
          </a:p>
          <a:p>
            <a:r>
              <a:rPr sz="800">
                <a:latin typeface="游ゴシック Medium"/>
              </a:rPr>
              <a:t>※店舗別の営業利益は本社費を配賦する前の「店舗貢献利益」であり、役員報酬・本社家賃・広告宣伝費等の本社費は共通部門に一括計上されている。</a:t>
            </a:r>
          </a:p>
          <a:p>
            <a:r>
              <a:rPr sz="800">
                <a:latin typeface="游ゴシック Medium"/>
              </a:rPr>
              <a:t>※共通部門の売上原価46,604千円は、本社で仕入れた商品40,994千円および外注費5,610千円が各店舗へ振り替えられずに共通部門に残っているものと推察される（仮説・要確認）。このため店舗別の粗利・営業利益は実力値より過大に表示されている可能性があり、解釈には留意を要する。</a:t>
            </a:r>
          </a:p>
          <a:p>
            <a:r>
              <a:rPr sz="800">
                <a:latin typeface="游ゴシック Medium"/>
              </a:rPr>
              <a:t>※明和店の販管費は売上高比75.6%と他のFC加盟店（伊勢35.2%・久居39.4%・緑37.6%）に比して高く、松阪管理センターの人件費が含まれていると推察される（仮説・要確認）。</a:t>
            </a:r>
          </a:p>
          <a:p>
            <a:r>
              <a:rPr sz="800">
                <a:latin typeface="游ゴシック Medium"/>
              </a:rPr>
              <a:t>※共通部門の売上13,650千円は月額約195万円で計上されているサービス売上高であり、ペット保険の代理店手数料と推察される（仮説・要確認）。</a:t>
            </a:r>
          </a:p>
          <a:p>
            <a:r>
              <a:rPr sz="800">
                <a:latin typeface="游ゴシック Medium"/>
              </a:rPr>
              <a:t>※販管費の科目別の内訳はP.14「店舗別の費用構造」を参照。</a:t>
            </a:r>
          </a:p>
        </p:txBody>
      </p:sp>
    </p:spTree>
    <p:extLst>
      <p:ext uri="{BB962C8B-B14F-4D97-AF65-F5344CB8AC3E}">
        <p14:creationId xmlns:p14="http://schemas.microsoft.com/office/powerpoint/2010/main" val="45292940"/>
      </p:ext>
    </p:extLst>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タイトル 12">
            <a:extLst>
              <a:ext uri="{FF2B5EF4-FFF2-40B4-BE49-F238E27FC236}">
                <a16:creationId xmlns:a16="http://schemas.microsoft.com/office/drawing/2014/main" id="{4823C4F2-FDE2-2A7A-88F4-14757C781840}"/>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店舗別の費用構造（進行期7か月）</a:t>
            </a:r>
          </a:p>
        </p:txBody>
      </p:sp>
      <p:sp>
        <p:nvSpPr>
          <p:cNvPr id="4" name="タイトル 1">
            <a:extLst>
              <a:ext uri="{FF2B5EF4-FFF2-40B4-BE49-F238E27FC236}">
                <a16:creationId xmlns:a16="http://schemas.microsoft.com/office/drawing/2014/main" id="{D44DDE09-7FAA-EAAC-AE8C-414FEC9219B7}"/>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事業概要</a:t>
            </a:r>
          </a:p>
        </p:txBody>
      </p:sp>
      <p:graphicFrame>
        <p:nvGraphicFramePr>
          <p:cNvPr id="9" name="表 8">
            <a:extLst>
              <a:ext uri="{FF2B5EF4-FFF2-40B4-BE49-F238E27FC236}">
                <a16:creationId xmlns:a16="http://schemas.microsoft.com/office/drawing/2014/main" id="{CCA9EF7E-7CE7-5EF8-7F12-B433D524792F}"/>
              </a:ext>
            </a:extLst>
          </p:cNvPr>
          <p:cNvGraphicFramePr>
            <a:graphicFrameLocks noGrp="1"/>
          </p:cNvGraphicFramePr>
          <p:nvPr>
            <p:extLst>
              <p:ext uri="{D42A27DB-BD31-4B8C-83A1-F6EECF244321}">
                <p14:modId xmlns:p14="http://schemas.microsoft.com/office/powerpoint/2010/main" val="3029468883"/>
              </p:ext>
            </p:extLst>
          </p:nvPr>
        </p:nvGraphicFramePr>
        <p:xfrm>
          <a:off x="338328" y="1572768"/>
          <a:ext cx="9902952" cy="3931920"/>
        </p:xfrm>
        <a:graphic>
          <a:graphicData uri="http://schemas.openxmlformats.org/drawingml/2006/table">
            <a:tbl>
              <a:tblPr/>
              <a:tblGrid>
                <a:gridCol w="2221992">
                  <a:extLst>
                    <a:ext uri="{9D8B030D-6E8A-4147-A177-3AD203B41FA5}">
                      <a16:colId xmlns:a16="http://schemas.microsoft.com/office/drawing/2014/main" val="3316058797"/>
                    </a:ext>
                  </a:extLst>
                </a:gridCol>
                <a:gridCol w="768096">
                  <a:extLst>
                    <a:ext uri="{9D8B030D-6E8A-4147-A177-3AD203B41FA5}">
                      <a16:colId xmlns:a16="http://schemas.microsoft.com/office/drawing/2014/main" val="1380719249"/>
                    </a:ext>
                  </a:extLst>
                </a:gridCol>
                <a:gridCol w="768096">
                  <a:extLst>
                    <a:ext uri="{9D8B030D-6E8A-4147-A177-3AD203B41FA5}">
                      <a16:colId xmlns:a16="http://schemas.microsoft.com/office/drawing/2014/main" val="246846433"/>
                    </a:ext>
                  </a:extLst>
                </a:gridCol>
                <a:gridCol w="768096">
                  <a:extLst>
                    <a:ext uri="{9D8B030D-6E8A-4147-A177-3AD203B41FA5}">
                      <a16:colId xmlns:a16="http://schemas.microsoft.com/office/drawing/2014/main" val="3721573245"/>
                    </a:ext>
                  </a:extLst>
                </a:gridCol>
                <a:gridCol w="768096">
                  <a:extLst>
                    <a:ext uri="{9D8B030D-6E8A-4147-A177-3AD203B41FA5}">
                      <a16:colId xmlns:a16="http://schemas.microsoft.com/office/drawing/2014/main" val="25268631"/>
                    </a:ext>
                  </a:extLst>
                </a:gridCol>
                <a:gridCol w="768096">
                  <a:extLst>
                    <a:ext uri="{9D8B030D-6E8A-4147-A177-3AD203B41FA5}">
                      <a16:colId xmlns:a16="http://schemas.microsoft.com/office/drawing/2014/main" val="829825544"/>
                    </a:ext>
                  </a:extLst>
                </a:gridCol>
                <a:gridCol w="768096">
                  <a:extLst>
                    <a:ext uri="{9D8B030D-6E8A-4147-A177-3AD203B41FA5}">
                      <a16:colId xmlns:a16="http://schemas.microsoft.com/office/drawing/2014/main" val="1494183210"/>
                    </a:ext>
                  </a:extLst>
                </a:gridCol>
                <a:gridCol w="768096">
                  <a:extLst>
                    <a:ext uri="{9D8B030D-6E8A-4147-A177-3AD203B41FA5}">
                      <a16:colId xmlns:a16="http://schemas.microsoft.com/office/drawing/2014/main" val="3341255910"/>
                    </a:ext>
                  </a:extLst>
                </a:gridCol>
                <a:gridCol w="768096">
                  <a:extLst>
                    <a:ext uri="{9D8B030D-6E8A-4147-A177-3AD203B41FA5}">
                      <a16:colId xmlns:a16="http://schemas.microsoft.com/office/drawing/2014/main" val="387513537"/>
                    </a:ext>
                  </a:extLst>
                </a:gridCol>
                <a:gridCol w="768096">
                  <a:extLst>
                    <a:ext uri="{9D8B030D-6E8A-4147-A177-3AD203B41FA5}">
                      <a16:colId xmlns:a16="http://schemas.microsoft.com/office/drawing/2014/main" val="1380719249"/>
                    </a:ext>
                  </a:extLst>
                </a:gridCol>
                <a:gridCol w="768096">
                  <a:extLst>
                    <a:ext uri="{9D8B030D-6E8A-4147-A177-3AD203B41FA5}">
                      <a16:colId xmlns:a16="http://schemas.microsoft.com/office/drawing/2014/main" val="1380719249"/>
                    </a:ext>
                  </a:extLst>
                </a:gridCol>
              </a:tblGrid>
              <a:tr h="365760">
                <a:tc>
                  <a:txBody>
                    <a:bodyPr/>
                    <a:lstStyle/>
                    <a:p>
                      <a:pPr algn="ctr" fontAlgn="ctr">
                        <a:buNone/>
                      </a:pPr>
                      <a:r>
                        <a:rPr lang="ja-JP" sz="800" b="1" i="0" u="none" strike="noStrike" dirty="0">
                          <a:solidFill>
                            <a:srgbClr val="FFFFFF"/>
                          </a:solidFill>
                          <a:effectLst/>
                          <a:latin typeface="游ゴシック" panose="020B0400000000000000" pitchFamily="50" charset="-128"/>
                          <a:ea typeface="游ゴシック" panose="020B0400000000000000" pitchFamily="50" charset="-128"/>
                        </a:rPr>
                        <a:t>部門</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売上高</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従業員給与</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対売上</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法定福利費</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ロイヤリティ</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地代家賃</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ctr" fontAlgn="ctr">
                        <a:buNone/>
                      </a:pPr>
                      <a:r>
                        <a:rPr lang="ja-JP" sz="800" b="1" i="0" u="none" strike="noStrike" dirty="0">
                          <a:solidFill>
                            <a:srgbClr val="FFFFFF"/>
                          </a:solidFill>
                          <a:effectLst/>
                          <a:latin typeface="游ゴシック" panose="020B0400000000000000" pitchFamily="50" charset="-128"/>
                          <a:ea typeface="游ゴシック" panose="020B0400000000000000" pitchFamily="50" charset="-128"/>
                        </a:rPr>
                        <a:t>広告宣伝費</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ctr" fontAlgn="ctr">
                        <a:buNone/>
                      </a:pPr>
                      <a:r>
                        <a:rPr lang="ja-JP" sz="800" b="1" i="0" u="none" strike="noStrike" dirty="0">
                          <a:solidFill>
                            <a:srgbClr val="FFFFFF"/>
                          </a:solidFill>
                          <a:effectLst/>
                          <a:latin typeface="游ゴシック" panose="020B0400000000000000" pitchFamily="50" charset="-128"/>
                          <a:ea typeface="游ゴシック" panose="020B0400000000000000" pitchFamily="50" charset="-128"/>
                        </a:rPr>
                        <a:t>その他</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販管費計</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対売上</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extLst>
                  <a:ext uri="{0D108BD9-81ED-4DB2-BD59-A6C34878D82A}">
                    <a16:rowId xmlns:a16="http://schemas.microsoft.com/office/drawing/2014/main" val="3150016470"/>
                  </a:ext>
                </a:extLst>
              </a:tr>
              <a:tr h="274320">
                <a:tc>
                  <a:txBody>
                    <a:bodyPr/>
                    <a:lstStyle/>
                    <a:p>
                      <a:pPr algn="l"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ワンラブ カインズホーム明和店</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25,109</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11,071</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44.1%</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1,055</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3,467</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2,310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3,184</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18,977</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75.6%</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056577972"/>
                  </a:ext>
                </a:extLst>
              </a:tr>
              <a:tr h="274320">
                <a:tc>
                  <a:txBody>
                    <a:bodyPr/>
                    <a:lstStyle/>
                    <a:p>
                      <a:pPr algn="l"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ワンラブ バローミタス伊勢店</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40,221</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8,234</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20.5%</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968</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4,827</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1,540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538</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14,171</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35.2%</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67627526"/>
                  </a:ext>
                </a:extLst>
              </a:tr>
              <a:tr h="274320">
                <a:tc>
                  <a:txBody>
                    <a:bodyPr/>
                    <a:lstStyle/>
                    <a:p>
                      <a:pPr algn="l"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ワンラブ ホームセンターバロー久居店</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33,840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7,923</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23.4%</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1,059</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4,399</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1,540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530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13,333</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39.4%</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222888758"/>
                  </a:ext>
                </a:extLst>
              </a:tr>
              <a:tr h="274320">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ワンラブ ドン・キホーテ緑店</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36,963</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6,677</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18.1%</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710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5,407</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770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1,756</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13,900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37.6%</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927963007"/>
                  </a:ext>
                </a:extLst>
              </a:tr>
              <a:tr h="274320">
                <a:tc>
                  <a:txBody>
                    <a:bodyPr/>
                    <a:lstStyle/>
                    <a:p>
                      <a:pPr algn="l"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おっきなもふもふ応援隊 岐阜総本店</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60,023</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13,862</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23.1%</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1,525</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5,160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2,460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2,767</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22,724</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37.9%</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087551456"/>
                  </a:ext>
                </a:extLst>
              </a:tr>
              <a:tr h="274320">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おっきなもふもふ応援隊 大阪総本店</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58,447</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11,461</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19.6%</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1,133</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6,936</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2,074</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2,884</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22,222</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38.0%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961957651"/>
                  </a:ext>
                </a:extLst>
              </a:tr>
              <a:tr h="274320">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【稼働6店舗 小計】</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254,603</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59,228</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23.3%</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6,449</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12,693</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17,503</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10,693</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11,659</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105,327</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41.4%</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486727505"/>
                  </a:ext>
                </a:extLst>
              </a:tr>
              <a:tr h="274320">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ワンラブ アクアウォーク大垣店（2026年2月撤退）</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6,112</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1,060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17.3%</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175</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917</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31</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82</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1,915</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31.3%</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693701439"/>
                  </a:ext>
                </a:extLst>
              </a:tr>
              <a:tr h="274320">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ワンラブ ペットプラザ岐阜店（2026年1月撤退）</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1,843</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1,093</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59.3%</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97</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583</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177</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1,756</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95.3%</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464820398"/>
                  </a:ext>
                </a:extLst>
              </a:tr>
              <a:tr h="274320">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セキュリティ事業</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2,945</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80445004"/>
                  </a:ext>
                </a:extLst>
              </a:tr>
              <a:tr h="274320">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大垣管理センター（2026年2月閉鎖）</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349</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252</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16</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113</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818873767"/>
                  </a:ext>
                </a:extLst>
              </a:tr>
              <a:tr h="274320">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共通部門（本社）</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13,650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2,450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17.9%</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9,753</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2,345</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4,470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39,625</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58,643</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429.6%</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455912933"/>
                  </a:ext>
                </a:extLst>
              </a:tr>
              <a:tr h="274320">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【合計】</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1" i="0" u="none" strike="noStrike" dirty="0">
                          <a:solidFill>
                            <a:srgbClr val="000000"/>
                          </a:solidFill>
                          <a:effectLst/>
                          <a:latin typeface="游ゴシック" panose="020B0400000000000000" pitchFamily="50" charset="-128"/>
                          <a:ea typeface="游ゴシック" panose="020B0400000000000000" pitchFamily="50" charset="-128"/>
                        </a:rPr>
                        <a:t>279,153</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64,180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23.0%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2,779</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14,193</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19,879</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15,163</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51,560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1" i="0" u="none" strike="noStrike" dirty="0">
                          <a:solidFill>
                            <a:srgbClr val="000000"/>
                          </a:solidFill>
                          <a:effectLst/>
                          <a:latin typeface="游ゴシック" panose="020B0400000000000000" pitchFamily="50" charset="-128"/>
                          <a:ea typeface="游ゴシック" panose="020B0400000000000000" pitchFamily="50" charset="-128"/>
                        </a:rPr>
                        <a:t>167,754</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1" i="0" u="none" strike="noStrike" dirty="0">
                          <a:solidFill>
                            <a:srgbClr val="000000"/>
                          </a:solidFill>
                          <a:effectLst/>
                          <a:latin typeface="游ゴシック" panose="020B0400000000000000" pitchFamily="50" charset="-128"/>
                          <a:ea typeface="游ゴシック" panose="020B0400000000000000" pitchFamily="50" charset="-128"/>
                        </a:rPr>
                        <a:t>60.1%</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145927038"/>
                  </a:ext>
                </a:extLst>
              </a:tr>
            </a:tbl>
          </a:graphicData>
        </a:graphic>
      </p:graphicFrame>
      <p:sp>
        <p:nvSpPr>
          <p:cNvPr id="7" name="字幕 13">
            <a:extLst>
              <a:ext uri="{FF2B5EF4-FFF2-40B4-BE49-F238E27FC236}">
                <a16:creationId xmlns:a16="http://schemas.microsoft.com/office/drawing/2014/main" id="{AF62B1A2-0C69-2A17-FF69-1256D98EBEC7}"/>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販管費率は稼働6店舗で41.4%。明和店の75.6%は従業員給与11,071千円（売上高比44.1%）が主因であり、松阪管理センターの人件費が同店に計上されているとの推察と整合する。</a:t>
            </a:r>
            <a:endParaRPr lang="en-US" altLang="ja-JP" dirty="0">
              <a:latin typeface="游ゴシック" panose="020B0400000000000000" pitchFamily="50" charset="-128"/>
              <a:ea typeface="游ゴシック" panose="020B0400000000000000" pitchFamily="50" charset="-128"/>
            </a:endParaRPr>
          </a:p>
        </p:txBody>
      </p:sp>
      <p:sp>
        <p:nvSpPr>
          <p:cNvPr id="14" name="TextBox 13"/>
          <p:cNvSpPr txBox="1"/>
          <p:nvPr/>
        </p:nvSpPr>
        <p:spPr>
          <a:xfrm>
            <a:off x="338328" y="5852160"/>
            <a:ext cx="9902952" cy="1143000"/>
          </a:xfrm>
          <a:prstGeom prst="rect">
            <a:avLst/>
          </a:prstGeom>
          <a:noFill/>
        </p:spPr>
        <p:txBody>
          <a:bodyPr wrap="square">
            <a:spAutoFit/>
          </a:bodyPr>
          <a:lstStyle/>
          <a:p>
            <a:r>
              <a:rPr sz="800">
                <a:latin typeface="游ゴシック Medium"/>
              </a:rPr>
              <a:t>（単位：千円）※出所：店舗別（部門別）勘定科目残高推移表 2025年12月〜2026年6月（2026年9月18日出力）。従業員給与・法定福利費・ロイヤリティ・地代家賃・広告宣伝費の各科目について、11部門の合計が全社の試算表と一致することを確認済。</a:t>
            </a:r>
          </a:p>
          <a:p>
            <a:r>
              <a:rPr sz="800">
                <a:latin typeface="游ゴシック Medium"/>
              </a:rPr>
              <a:t>※法定福利費は本社に一括計上したうえで各店舗へマイナス計上（振替）する処理がとられており、店舗側は各店ともマイナス残高となる。店舗別の販管費は社会保険料の負担分だけ過少に表示されている（稼働6店舗計△6,449千円）。</a:t>
            </a:r>
          </a:p>
          <a:p>
            <a:r>
              <a:rPr sz="800">
                <a:latin typeface="游ゴシック Medium"/>
              </a:rPr>
              <a:t>※「その他」は役員報酬・支払手数料・旅費交通費・厚生費・リース料・通信費・水道光熱費・租税公課・接待交際費・保険料・備品消耗品費・管理諸費・雑費等の合計。</a:t>
            </a:r>
          </a:p>
          <a:p>
            <a:r>
              <a:rPr sz="800">
                <a:latin typeface="游ゴシック Medium"/>
              </a:rPr>
              <a:t>※ロイヤリティはワンラブFC加盟店のうち明和・伊勢・久居（および撤退2店）が負担しており（稼働3店で売上高比12.0〜13.8%）、地代家賃の計上はない。一方ドン・キホーテ緑店はロイヤリティの負担がなく地代家賃5,407千円（同14.6%）を負担しており、同店のみ契約形態が異なる理由は要確認。</a:t>
            </a:r>
          </a:p>
          <a:p>
            <a:r>
              <a:rPr sz="800">
                <a:latin typeface="游ゴシック Medium"/>
              </a:rPr>
              <a:t>※広告宣伝費は定額計上（明和330千円／月、伊勢・久居220千円／月、緑110千円／月、路面店2店は280〜360千円／月）。</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CFDEB-F9F2-96DC-838A-7FDC0146B98E}"/>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539E11E6-6AFA-CA56-713C-06699CFF2ADC}"/>
              </a:ext>
            </a:extLst>
          </p:cNvPr>
          <p:cNvSpPr>
            <a:spLocks noGrp="1"/>
          </p:cNvSpPr>
          <p:nvPr>
            <p:ph type="ctrTitle"/>
          </p:nvPr>
        </p:nvSpPr>
        <p:spPr/>
        <p:txBody>
          <a:bodyPr/>
          <a:lstStyle/>
          <a:p>
            <a:r>
              <a:rPr lang="ja-JP" altLang="en-US" dirty="0">
                <a:latin typeface="游ゴシック" panose="020B0400000000000000" pitchFamily="50" charset="-128"/>
                <a:ea typeface="游ゴシック" panose="020B0400000000000000" pitchFamily="50" charset="-128"/>
              </a:rPr>
              <a:t>売上区分別の収益構成</a:t>
            </a:r>
          </a:p>
        </p:txBody>
      </p:sp>
      <p:sp>
        <p:nvSpPr>
          <p:cNvPr id="20" name="タイトル 1">
            <a:extLst>
              <a:ext uri="{FF2B5EF4-FFF2-40B4-BE49-F238E27FC236}">
                <a16:creationId xmlns:a16="http://schemas.microsoft.com/office/drawing/2014/main" id="{A4B1CA18-DAF6-3992-876F-0856A71C6878}"/>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dirty="0">
                <a:latin typeface="游ゴシック" panose="020B0400000000000000" pitchFamily="50" charset="-128"/>
                <a:ea typeface="游ゴシック" panose="020B0400000000000000" pitchFamily="50" charset="-128"/>
              </a:rPr>
              <a:t>事業概要</a:t>
            </a:r>
          </a:p>
        </p:txBody>
      </p:sp>
      <p:sp>
        <p:nvSpPr>
          <p:cNvPr id="35" name="字幕 13">
            <a:extLst>
              <a:ext uri="{FF2B5EF4-FFF2-40B4-BE49-F238E27FC236}">
                <a16:creationId xmlns:a16="http://schemas.microsoft.com/office/drawing/2014/main" id="{79E2C05E-6C1C-4A67-87BE-BE66A1BDA40B}"/>
              </a:ext>
            </a:extLst>
          </p:cNvPr>
          <p:cNvSpPr>
            <a:spLocks noGrp="1"/>
          </p:cNvSpPr>
          <p:nvPr>
            <p:ph type="subTitle" idx="1"/>
          </p:nvPr>
        </p:nvSpPr>
        <p:spPr>
          <a:xfrm>
            <a:off x="460675" y="830046"/>
            <a:ext cx="9781875" cy="761026"/>
          </a:xfrm>
        </p:spPr>
        <p:txBody>
          <a:bodyPr>
            <a:noAutofit/>
          </a:bodyPr>
          <a:lstStyle/>
          <a:p>
            <a:r>
              <a:rPr lang="ja-JP" altLang="en-US" dirty="0">
                <a:latin typeface="游ゴシック" panose="020B0400000000000000" pitchFamily="50" charset="-128"/>
                <a:ea typeface="游ゴシック" panose="020B0400000000000000" pitchFamily="50" charset="-128"/>
              </a:rPr>
              <a:t>生体売上が6割を占める一方、フード・用品等の物販は構成比24.4%→30.0%と着実に拡大。トリミング・ペットホテル・ペット保険からなるサービス売上はストック性が高く、進行期は前年同期比106.4%と3区分で唯一増加している。</a:t>
            </a:r>
            <a:endParaRPr lang="en-US" altLang="ja-JP" dirty="0">
              <a:latin typeface="游ゴシック" panose="020B0400000000000000" pitchFamily="50" charset="-128"/>
              <a:ea typeface="游ゴシック" panose="020B0400000000000000" pitchFamily="50" charset="-128"/>
            </a:endParaRPr>
          </a:p>
        </p:txBody>
      </p:sp>
      <p:graphicFrame>
        <p:nvGraphicFramePr>
          <p:cNvPr id="3" name="表 2">
            <a:extLst>
              <a:ext uri="{FF2B5EF4-FFF2-40B4-BE49-F238E27FC236}">
                <a16:creationId xmlns:a16="http://schemas.microsoft.com/office/drawing/2014/main" id="{E566131D-1FDA-971E-8275-99BAA4785941}"/>
              </a:ext>
            </a:extLst>
          </p:cNvPr>
          <p:cNvGraphicFramePr>
            <a:graphicFrameLocks noGrp="1"/>
          </p:cNvGraphicFramePr>
          <p:nvPr>
            <p:extLst>
              <p:ext uri="{D42A27DB-BD31-4B8C-83A1-F6EECF244321}">
                <p14:modId xmlns:p14="http://schemas.microsoft.com/office/powerpoint/2010/main" val="764819747"/>
              </p:ext>
            </p:extLst>
          </p:nvPr>
        </p:nvGraphicFramePr>
        <p:xfrm>
          <a:off x="341312" y="1760471"/>
          <a:ext cx="10012680" cy="4617720"/>
        </p:xfrm>
        <a:graphic>
          <a:graphicData uri="http://schemas.openxmlformats.org/drawingml/2006/table">
            <a:tbl>
              <a:tblPr/>
              <a:tblGrid>
                <a:gridCol w="1417320">
                  <a:extLst>
                    <a:ext uri="{9D8B030D-6E8A-4147-A177-3AD203B41FA5}">
                      <a16:colId xmlns:a16="http://schemas.microsoft.com/office/drawing/2014/main" val="3669490461"/>
                    </a:ext>
                  </a:extLst>
                </a:gridCol>
                <a:gridCol w="1920240">
                  <a:extLst>
                    <a:ext uri="{9D8B030D-6E8A-4147-A177-3AD203B41FA5}">
                      <a16:colId xmlns:a16="http://schemas.microsoft.com/office/drawing/2014/main" val="2793615800"/>
                    </a:ext>
                  </a:extLst>
                </a:gridCol>
                <a:gridCol w="3063240">
                  <a:extLst>
                    <a:ext uri="{9D8B030D-6E8A-4147-A177-3AD203B41FA5}">
                      <a16:colId xmlns:a16="http://schemas.microsoft.com/office/drawing/2014/main" val="1996097912"/>
                    </a:ext>
                  </a:extLst>
                </a:gridCol>
                <a:gridCol w="3611880">
                  <a:extLst>
                    <a:ext uri="{9D8B030D-6E8A-4147-A177-3AD203B41FA5}">
                      <a16:colId xmlns:a16="http://schemas.microsoft.com/office/drawing/2014/main" val="583706970"/>
                    </a:ext>
                  </a:extLst>
                </a:gridCol>
              </a:tblGrid>
              <a:tr h="365760">
                <a:tc>
                  <a:txBody>
                    <a:bodyPr/>
                    <a:lstStyle/>
                    <a:p>
                      <a:pPr algn="ctr" fontAlgn="ctr">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売上区分</a:t>
                      </a:r>
                    </a:p>
                  </a:txBody>
                  <a:tcPr marL="0" marR="0" marT="0" marB="0" anchor="ctr">
                    <a:lnL>
                      <a:noFill/>
                    </a:lnL>
                    <a:lnR>
                      <a:noFill/>
                    </a:lnR>
                    <a:lnT w="12700" cap="flat" cmpd="sng" algn="ctr">
                      <a:solidFill>
                        <a:srgbClr val="0B3A5B"/>
                      </a:solidFill>
                      <a:prstDash val="solid"/>
                      <a:round/>
                      <a:headEnd type="none" w="med" len="med"/>
                      <a:tailEnd type="none" w="med" len="med"/>
                    </a:lnT>
                    <a:lnB w="12700" cap="flat" cmpd="sng" algn="ctr">
                      <a:solidFill>
                        <a:srgbClr val="0B3A5B"/>
                      </a:solidFill>
                      <a:prstDash val="solid"/>
                      <a:round/>
                      <a:headEnd type="none" w="med" len="med"/>
                      <a:tailEnd type="none" w="med" len="med"/>
                    </a:lnB>
                    <a:solidFill>
                      <a:srgbClr val="0B3041"/>
                    </a:solidFill>
                  </a:tcPr>
                </a:tc>
                <a:tc>
                  <a:txBody>
                    <a:bodyPr/>
                    <a:lstStyle/>
                    <a:p>
                      <a:pPr algn="ctr" fontAlgn="ctr">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主な内容</a:t>
                      </a:r>
                    </a:p>
                  </a:txBody>
                  <a:tcPr marL="0" marR="0" marT="0" marB="0" anchor="ctr">
                    <a:lnL>
                      <a:noFill/>
                    </a:lnL>
                    <a:lnR>
                      <a:noFill/>
                    </a:lnR>
                    <a:lnT w="12700" cap="flat" cmpd="sng" algn="ctr">
                      <a:solidFill>
                        <a:srgbClr val="0B3A5B"/>
                      </a:solidFill>
                      <a:prstDash val="solid"/>
                      <a:round/>
                      <a:headEnd type="none" w="med" len="med"/>
                      <a:tailEnd type="none" w="med" len="med"/>
                    </a:lnT>
                    <a:lnB w="12700" cap="flat" cmpd="sng" algn="ctr">
                      <a:solidFill>
                        <a:srgbClr val="0B3A5B"/>
                      </a:solidFill>
                      <a:prstDash val="solid"/>
                      <a:round/>
                      <a:headEnd type="none" w="med" len="med"/>
                      <a:tailEnd type="none" w="med" len="med"/>
                    </a:lnB>
                    <a:solidFill>
                      <a:srgbClr val="0B3041"/>
                    </a:solidFill>
                  </a:tcPr>
                </a:tc>
                <a:tc>
                  <a:txBody>
                    <a:bodyPr/>
                    <a:lstStyle/>
                    <a:p>
                      <a:pPr algn="ctr" fontAlgn="ctr">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収益の特性</a:t>
                      </a:r>
                    </a:p>
                  </a:txBody>
                  <a:tcPr marL="0" marR="0" marT="0" marB="0" anchor="ctr">
                    <a:lnL>
                      <a:noFill/>
                    </a:lnL>
                    <a:lnR>
                      <a:noFill/>
                    </a:lnR>
                    <a:lnT w="12700" cap="flat" cmpd="sng" algn="ctr">
                      <a:solidFill>
                        <a:srgbClr val="0B3A5B"/>
                      </a:solidFill>
                      <a:prstDash val="solid"/>
                      <a:round/>
                      <a:headEnd type="none" w="med" len="med"/>
                      <a:tailEnd type="none" w="med" len="med"/>
                    </a:lnT>
                    <a:lnB w="12700" cap="flat" cmpd="sng" algn="ctr">
                      <a:solidFill>
                        <a:srgbClr val="0B3A5B"/>
                      </a:solidFill>
                      <a:prstDash val="solid"/>
                      <a:round/>
                      <a:headEnd type="none" w="med" len="med"/>
                      <a:tailEnd type="none" w="med" len="med"/>
                    </a:lnB>
                    <a:solidFill>
                      <a:srgbClr val="0B3041"/>
                    </a:solidFill>
                  </a:tcPr>
                </a:tc>
                <a:tc>
                  <a:txBody>
                    <a:bodyPr/>
                    <a:lstStyle/>
                    <a:p>
                      <a:pPr algn="ctr" fontAlgn="ctr">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3期推移＋進行期7か月（千円）／構成比</a:t>
                      </a:r>
                    </a:p>
                  </a:txBody>
                  <a:tcPr marL="0" marR="0" marT="0" marB="0" anchor="ctr">
                    <a:lnL>
                      <a:noFill/>
                    </a:lnL>
                    <a:lnR>
                      <a:noFill/>
                    </a:lnR>
                    <a:lnT w="12700" cap="flat" cmpd="sng" algn="ctr">
                      <a:solidFill>
                        <a:srgbClr val="0B3A5B"/>
                      </a:solidFill>
                      <a:prstDash val="solid"/>
                      <a:round/>
                      <a:headEnd type="none" w="med" len="med"/>
                      <a:tailEnd type="none" w="med" len="med"/>
                    </a:lnT>
                    <a:lnB w="12700" cap="flat" cmpd="sng" algn="ctr">
                      <a:solidFill>
                        <a:srgbClr val="0B3A5B"/>
                      </a:solidFill>
                      <a:prstDash val="solid"/>
                      <a:round/>
                      <a:headEnd type="none" w="med" len="med"/>
                      <a:tailEnd type="none" w="med" len="med"/>
                    </a:lnB>
                    <a:solidFill>
                      <a:srgbClr val="0B3041"/>
                    </a:solidFill>
                  </a:tcPr>
                </a:tc>
                <a:extLst>
                  <a:ext uri="{0D108BD9-81ED-4DB2-BD59-A6C34878D82A}">
                    <a16:rowId xmlns:a16="http://schemas.microsoft.com/office/drawing/2014/main" val="2124648568"/>
                  </a:ext>
                </a:extLst>
              </a:tr>
              <a:tr h="1097280">
                <a:tc>
                  <a:txBody>
                    <a:bodyPr/>
                    <a:lstStyle/>
                    <a:p>
                      <a:pPr algn="l"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生体売上高</a:t>
                      </a:r>
                    </a:p>
                  </a:txBody>
                  <a:tcPr marL="0" marR="0" marT="0" marB="0" anchor="ctr">
                    <a:lnL>
                      <a:noFill/>
                    </a:lnL>
                    <a:lnR>
                      <a:noFill/>
                    </a:lnR>
                    <a:lnT w="12700" cap="flat" cmpd="sng" algn="ctr">
                      <a:solidFill>
                        <a:srgbClr val="0B3A5B"/>
                      </a:solidFill>
                      <a:prstDash val="solid"/>
                      <a:round/>
                      <a:headEnd type="none" w="med" len="med"/>
                      <a:tailEnd type="none" w="med" len="med"/>
                    </a:lnT>
                    <a:lnB w="6350" cap="flat" cmpd="sng" algn="ctr">
                      <a:solidFill>
                        <a:srgbClr val="B7C9D6"/>
                      </a:solidFill>
                      <a:prstDash val="solid"/>
                      <a:round/>
                      <a:headEnd type="none" w="med" len="med"/>
                      <a:tailEnd type="none" w="med" len="med"/>
                    </a:lnB>
                    <a:solidFill>
                      <a:srgbClr val="F5F8FB"/>
                    </a:solidFill>
                  </a:tcPr>
                </a:tc>
                <a:tc>
                  <a:txBody>
                    <a:bodyPr/>
                    <a:lstStyle/>
                    <a:p>
                      <a:pPr algn="l"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犬・猫等の生体販売</a:t>
                      </a:r>
                      <a:endPar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w="12700" cap="flat" cmpd="sng" algn="ctr">
                      <a:solidFill>
                        <a:srgbClr val="0B3A5B"/>
                      </a:solidFill>
                      <a:prstDash val="solid"/>
                      <a:round/>
                      <a:headEnd type="none" w="med" len="med"/>
                      <a:tailEnd type="none" w="med" len="med"/>
                    </a:lnT>
                    <a:lnB w="6350" cap="flat" cmpd="sng" algn="ctr">
                      <a:solidFill>
                        <a:srgbClr val="B7C9D6"/>
                      </a:solidFill>
                      <a:prstDash val="solid"/>
                      <a:round/>
                      <a:headEnd type="none" w="med" len="med"/>
                      <a:tailEnd type="none" w="med" len="med"/>
                    </a:lnB>
                    <a:solidFill>
                      <a:srgbClr val="F5F8FB"/>
                    </a:solidFill>
                  </a:tcPr>
                </a:tc>
                <a:tc>
                  <a:txBody>
                    <a:bodyPr/>
                    <a:lstStyle/>
                    <a:p>
                      <a:pPr algn="l"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仕入相場の変動を受けやすい。
大型犬は単価・粗利ともに高い</a:t>
                      </a:r>
                    </a:p>
                  </a:txBody>
                  <a:tcPr marL="0" marR="0" marT="0" marB="0" anchor="ctr">
                    <a:lnL>
                      <a:noFill/>
                    </a:lnL>
                    <a:lnR>
                      <a:noFill/>
                    </a:lnR>
                    <a:lnT w="12700" cap="flat" cmpd="sng" algn="ctr">
                      <a:solidFill>
                        <a:srgbClr val="0B3A5B"/>
                      </a:solidFill>
                      <a:prstDash val="solid"/>
                      <a:round/>
                      <a:headEnd type="none" w="med" len="med"/>
                      <a:tailEnd type="none" w="med" len="med"/>
                    </a:lnT>
                    <a:lnB w="6350" cap="flat" cmpd="sng" algn="ctr">
                      <a:solidFill>
                        <a:srgbClr val="B7C9D6"/>
                      </a:solidFill>
                      <a:prstDash val="solid"/>
                      <a:round/>
                      <a:headEnd type="none" w="med" len="med"/>
                      <a:tailEnd type="none" w="med" len="med"/>
                    </a:lnB>
                    <a:solidFill>
                      <a:srgbClr val="F5F8FB"/>
                    </a:solidFill>
                  </a:tcPr>
                </a:tc>
                <a:tc>
                  <a:txBody>
                    <a:bodyPr/>
                    <a:lstStyle/>
                    <a:p>
                      <a:pPr algn="l"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293,214 → 333,090 → 338,295　｜進行期 165,116
（61.8% → 61.8% → 60.6%　｜59.1%）</a:t>
                      </a:r>
                    </a:p>
                  </a:txBody>
                  <a:tcPr marL="0" marR="0" marT="0" marB="0" anchor="ctr">
                    <a:lnL>
                      <a:noFill/>
                    </a:lnL>
                    <a:lnR>
                      <a:noFill/>
                    </a:lnR>
                    <a:lnT w="12700" cap="flat" cmpd="sng" algn="ctr">
                      <a:solidFill>
                        <a:srgbClr val="0B3A5B"/>
                      </a:solidFill>
                      <a:prstDash val="solid"/>
                      <a:round/>
                      <a:headEnd type="none" w="med" len="med"/>
                      <a:tailEnd type="none" w="med" len="med"/>
                    </a:lnT>
                    <a:lnB w="6350" cap="flat" cmpd="sng" algn="ctr">
                      <a:solidFill>
                        <a:srgbClr val="B7C9D6"/>
                      </a:solidFill>
                      <a:prstDash val="solid"/>
                      <a:round/>
                      <a:headEnd type="none" w="med" len="med"/>
                      <a:tailEnd type="none" w="med" len="med"/>
                    </a:lnB>
                    <a:solidFill>
                      <a:srgbClr val="F5F8FB"/>
                    </a:solidFill>
                  </a:tcPr>
                </a:tc>
                <a:extLst>
                  <a:ext uri="{0D108BD9-81ED-4DB2-BD59-A6C34878D82A}">
                    <a16:rowId xmlns:a16="http://schemas.microsoft.com/office/drawing/2014/main" val="3559026932"/>
                  </a:ext>
                </a:extLst>
              </a:tr>
              <a:tr h="1188720">
                <a:tc>
                  <a:txBody>
                    <a:bodyPr/>
                    <a:lstStyle/>
                    <a:p>
                      <a:pPr algn="l"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サービス売上高</a:t>
                      </a:r>
                    </a:p>
                  </a:txBody>
                  <a:tcPr marL="0" marR="0" marT="0" marB="0" anchor="ctr">
                    <a:lnL>
                      <a:noFill/>
                    </a:lnL>
                    <a:lnR>
                      <a:noFill/>
                    </a:lnR>
                    <a:lnT w="6350" cap="flat" cmpd="sng" algn="ctr">
                      <a:solidFill>
                        <a:srgbClr val="B7C9D6"/>
                      </a:solidFill>
                      <a:prstDash val="solid"/>
                      <a:round/>
                      <a:headEnd type="none" w="med" len="med"/>
                      <a:tailEnd type="none" w="med" len="med"/>
                    </a:lnT>
                    <a:lnB w="6350" cap="flat" cmpd="sng" algn="ctr">
                      <a:solidFill>
                        <a:srgbClr val="B7C9D6"/>
                      </a:solidFill>
                      <a:prstDash val="solid"/>
                      <a:round/>
                      <a:headEnd type="none" w="med" len="med"/>
                      <a:tailEnd type="none" w="med" len="med"/>
                    </a:lnB>
                    <a:noFill/>
                  </a:tcPr>
                </a:tc>
                <a:tc>
                  <a:txBody>
                    <a:bodyPr/>
                    <a:lstStyle/>
                    <a:p>
                      <a:pPr algn="l"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トリミング、ペットホテル、
ペット保険の代理店手数料</a:t>
                      </a:r>
                    </a:p>
                  </a:txBody>
                  <a:tcPr marL="0" marR="0" marT="0" marB="0" anchor="ctr">
                    <a:lnL>
                      <a:noFill/>
                    </a:lnL>
                    <a:lnR>
                      <a:noFill/>
                    </a:lnR>
                    <a:lnT w="6350" cap="flat" cmpd="sng" algn="ctr">
                      <a:solidFill>
                        <a:srgbClr val="B7C9D6"/>
                      </a:solidFill>
                      <a:prstDash val="solid"/>
                      <a:round/>
                      <a:headEnd type="none" w="med" len="med"/>
                      <a:tailEnd type="none" w="med" len="med"/>
                    </a:lnT>
                    <a:lnB w="6350" cap="flat" cmpd="sng" algn="ctr">
                      <a:solidFill>
                        <a:srgbClr val="B7C9D6"/>
                      </a:solidFill>
                      <a:prstDash val="solid"/>
                      <a:round/>
                      <a:headEnd type="none" w="med" len="med"/>
                      <a:tailEnd type="none" w="med" len="med"/>
                    </a:lnB>
                    <a:no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ストック性が高い。ペット保険は初年度に掛金の40%、次年度以降も10%が継続手数料として入る</a:t>
                      </a:r>
                    </a:p>
                  </a:txBody>
                  <a:tcPr marL="0" marR="0" marT="0" marB="0" anchor="ctr">
                    <a:lnL>
                      <a:noFill/>
                    </a:lnL>
                    <a:lnR>
                      <a:noFill/>
                    </a:lnR>
                    <a:lnT w="6350" cap="flat" cmpd="sng" algn="ctr">
                      <a:solidFill>
                        <a:srgbClr val="B7C9D6"/>
                      </a:solidFill>
                      <a:prstDash val="solid"/>
                      <a:round/>
                      <a:headEnd type="none" w="med" len="med"/>
                      <a:tailEnd type="none" w="med" len="med"/>
                    </a:lnT>
                    <a:lnB w="6350" cap="flat" cmpd="sng" algn="ctr">
                      <a:solidFill>
                        <a:srgbClr val="B7C9D6"/>
                      </a:solidFill>
                      <a:prstDash val="solid"/>
                      <a:round/>
                      <a:headEnd type="none" w="med" len="med"/>
                      <a:tailEnd type="none" w="med" len="med"/>
                    </a:lnB>
                    <a:no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65,656 → 60,897 → 52,699　｜進行期 32,791
（13.8% → 11.3% → 9.4%　｜11.7%）</a:t>
                      </a:r>
                    </a:p>
                  </a:txBody>
                  <a:tcPr marL="0" marR="0" marT="0" marB="0" anchor="ctr">
                    <a:lnL>
                      <a:noFill/>
                    </a:lnL>
                    <a:lnR>
                      <a:noFill/>
                    </a:lnR>
                    <a:lnT w="6350" cap="flat" cmpd="sng" algn="ctr">
                      <a:solidFill>
                        <a:srgbClr val="B7C9D6"/>
                      </a:solidFill>
                      <a:prstDash val="solid"/>
                      <a:round/>
                      <a:headEnd type="none" w="med" len="med"/>
                      <a:tailEnd type="none" w="med" len="med"/>
                    </a:lnT>
                    <a:lnB w="6350" cap="flat" cmpd="sng" algn="ctr">
                      <a:solidFill>
                        <a:srgbClr val="B7C9D6"/>
                      </a:solidFill>
                      <a:prstDash val="solid"/>
                      <a:round/>
                      <a:headEnd type="none" w="med" len="med"/>
                      <a:tailEnd type="none" w="med" len="med"/>
                    </a:lnB>
                    <a:noFill/>
                  </a:tcPr>
                </a:tc>
                <a:extLst>
                  <a:ext uri="{0D108BD9-81ED-4DB2-BD59-A6C34878D82A}">
                    <a16:rowId xmlns:a16="http://schemas.microsoft.com/office/drawing/2014/main" val="1624083827"/>
                  </a:ext>
                </a:extLst>
              </a:tr>
              <a:tr h="1051560">
                <a:tc>
                  <a:txBody>
                    <a:bodyPr/>
                    <a:lstStyle/>
                    <a:p>
                      <a:pPr algn="l"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物販売上高</a:t>
                      </a:r>
                    </a:p>
                  </a:txBody>
                  <a:tcPr marL="0" marR="0" marT="0" marB="0" anchor="ctr">
                    <a:lnL>
                      <a:noFill/>
                    </a:lnL>
                    <a:lnR>
                      <a:noFill/>
                    </a:lnR>
                    <a:lnT w="6350" cap="flat" cmpd="sng" algn="ctr">
                      <a:solidFill>
                        <a:srgbClr val="B7C9D6"/>
                      </a:solidFill>
                      <a:prstDash val="solid"/>
                      <a:round/>
                      <a:headEnd type="none" w="med" len="med"/>
                      <a:tailEnd type="none" w="med" len="med"/>
                    </a:lnT>
                    <a:lnB w="6350" cap="flat" cmpd="sng" algn="ctr">
                      <a:solidFill>
                        <a:srgbClr val="B7C9D6"/>
                      </a:solidFill>
                      <a:prstDash val="solid"/>
                      <a:round/>
                      <a:headEnd type="none" w="med" len="med"/>
                      <a:tailEnd type="none" w="med" len="med"/>
                    </a:lnB>
                    <a:solidFill>
                      <a:srgbClr val="F5F8FB"/>
                    </a:solidFill>
                  </a:tcPr>
                </a:tc>
                <a:tc>
                  <a:txBody>
                    <a:bodyPr/>
                    <a:lstStyle/>
                    <a:p>
                      <a:pPr algn="l"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フード、ペット用品、ケージ等</a:t>
                      </a:r>
                    </a:p>
                  </a:txBody>
                  <a:tcPr marL="0" marR="0" marT="0" marB="0" anchor="ctr">
                    <a:lnL>
                      <a:noFill/>
                    </a:lnL>
                    <a:lnR>
                      <a:noFill/>
                    </a:lnR>
                    <a:lnT w="6350" cap="flat" cmpd="sng" algn="ctr">
                      <a:solidFill>
                        <a:srgbClr val="B7C9D6"/>
                      </a:solidFill>
                      <a:prstDash val="solid"/>
                      <a:round/>
                      <a:headEnd type="none" w="med" len="med"/>
                      <a:tailEnd type="none" w="med" len="med"/>
                    </a:lnT>
                    <a:lnB w="6350" cap="flat" cmpd="sng" algn="ctr">
                      <a:solidFill>
                        <a:srgbClr val="B7C9D6"/>
                      </a:solidFill>
                      <a:prstDash val="solid"/>
                      <a:round/>
                      <a:headEnd type="none" w="med" len="med"/>
                      <a:tailEnd type="none" w="med" len="med"/>
                    </a:lnB>
                    <a:solidFill>
                      <a:srgbClr val="F5F8FB"/>
                    </a:solidFill>
                  </a:tcPr>
                </a:tc>
                <a:tc>
                  <a:txBody>
                    <a:bodyPr/>
                    <a:lstStyle/>
                    <a:p>
                      <a:pPr algn="l"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生体販売に付随し、購入後の継続購買につながる</a:t>
                      </a:r>
                    </a:p>
                  </a:txBody>
                  <a:tcPr marL="0" marR="0" marT="0" marB="0" anchor="ctr">
                    <a:lnL>
                      <a:noFill/>
                    </a:lnL>
                    <a:lnR>
                      <a:noFill/>
                    </a:lnR>
                    <a:lnT w="6350" cap="flat" cmpd="sng" algn="ctr">
                      <a:solidFill>
                        <a:srgbClr val="B7C9D6"/>
                      </a:solidFill>
                      <a:prstDash val="solid"/>
                      <a:round/>
                      <a:headEnd type="none" w="med" len="med"/>
                      <a:tailEnd type="none" w="med" len="med"/>
                    </a:lnT>
                    <a:lnB w="6350" cap="flat" cmpd="sng" algn="ctr">
                      <a:solidFill>
                        <a:srgbClr val="B7C9D6"/>
                      </a:solidFill>
                      <a:prstDash val="solid"/>
                      <a:round/>
                      <a:headEnd type="none" w="med" len="med"/>
                      <a:tailEnd type="none" w="med" len="med"/>
                    </a:lnB>
                    <a:solidFill>
                      <a:srgbClr val="F5F8FB"/>
                    </a:solidFill>
                  </a:tcPr>
                </a:tc>
                <a:tc>
                  <a:txBody>
                    <a:bodyPr/>
                    <a:lstStyle/>
                    <a:p>
                      <a:pPr algn="l"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115,559 → 145,048 → 167,395　｜進行期 81,244
（24.4% → 26.9% → 30.0%　｜29.1%）</a:t>
                      </a:r>
                    </a:p>
                  </a:txBody>
                  <a:tcPr marL="0" marR="0" marT="0" marB="0" anchor="ctr">
                    <a:lnL>
                      <a:noFill/>
                    </a:lnL>
                    <a:lnR>
                      <a:noFill/>
                    </a:lnR>
                    <a:lnT w="6350" cap="flat" cmpd="sng" algn="ctr">
                      <a:solidFill>
                        <a:srgbClr val="B7C9D6"/>
                      </a:solidFill>
                      <a:prstDash val="solid"/>
                      <a:round/>
                      <a:headEnd type="none" w="med" len="med"/>
                      <a:tailEnd type="none" w="med" len="med"/>
                    </a:lnT>
                    <a:lnB w="6350" cap="flat" cmpd="sng" algn="ctr">
                      <a:solidFill>
                        <a:srgbClr val="B7C9D6"/>
                      </a:solidFill>
                      <a:prstDash val="solid"/>
                      <a:round/>
                      <a:headEnd type="none" w="med" len="med"/>
                      <a:tailEnd type="none" w="med" len="med"/>
                    </a:lnB>
                    <a:solidFill>
                      <a:srgbClr val="F5F8FB"/>
                    </a:solidFill>
                  </a:tcPr>
                </a:tc>
                <a:extLst>
                  <a:ext uri="{0D108BD9-81ED-4DB2-BD59-A6C34878D82A}">
                    <a16:rowId xmlns:a16="http://schemas.microsoft.com/office/drawing/2014/main" val="3129277040"/>
                  </a:ext>
                </a:extLst>
              </a:tr>
              <a:tr h="914400">
                <a:tc>
                  <a:txBody>
                    <a:bodyPr/>
                    <a:lstStyle/>
                    <a:p>
                      <a:pPr algn="l"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合計</a:t>
                      </a:r>
                    </a:p>
                  </a:txBody>
                  <a:tcPr marL="0" marR="0" marT="0" marB="0" anchor="ctr">
                    <a:lnL>
                      <a:noFill/>
                    </a:lnL>
                    <a:lnR>
                      <a:noFill/>
                    </a:lnR>
                    <a:lnT w="6350" cap="flat" cmpd="sng" algn="ctr">
                      <a:solidFill>
                        <a:srgbClr val="B7C9D6"/>
                      </a:solidFill>
                      <a:prstDash val="solid"/>
                      <a:round/>
                      <a:headEnd type="none" w="med" len="med"/>
                      <a:tailEnd type="none" w="med" len="med"/>
                    </a:lnT>
                    <a:lnB w="6350" cap="flat" cmpd="sng" algn="ctr">
                      <a:solidFill>
                        <a:srgbClr val="B7C9D6"/>
                      </a:solidFill>
                      <a:prstDash val="solid"/>
                      <a:round/>
                      <a:headEnd type="none" w="med" len="med"/>
                      <a:tailEnd type="none" w="med" len="med"/>
                    </a:lnB>
                    <a:noFill/>
                  </a:tcPr>
                </a:tc>
                <a:tc>
                  <a:txBody>
                    <a:bodyPr/>
                    <a:lstStyle/>
                    <a:p>
                      <a:pPr algn="l" fontAlgn="ctr">
                        <a:buNone/>
                      </a:pPr>
                      <a:r>
                        <a:rPr lang="ja-JP" altLang="ja-JP" sz="1000" b="0" i="0" u="none" strike="noStrike" dirty="0">
                          <a:solidFill>
                            <a:srgbClr val="000000"/>
                          </a:solidFill>
                          <a:effectLst/>
                          <a:latin typeface="游ゴシック" panose="020B0400000000000000" pitchFamily="50" charset="-128"/>
                          <a:ea typeface="游ゴシック" panose="020B0400000000000000" pitchFamily="50" charset="-128"/>
                        </a:rPr>
                        <a:t>－</a:t>
                      </a:r>
                    </a:p>
                  </a:txBody>
                  <a:tcPr marL="0" marR="0" marT="0" marB="0" anchor="ctr">
                    <a:lnL>
                      <a:noFill/>
                    </a:lnL>
                    <a:lnR>
                      <a:noFill/>
                    </a:lnR>
                    <a:lnT w="6350" cap="flat" cmpd="sng" algn="ctr">
                      <a:solidFill>
                        <a:srgbClr val="B7C9D6"/>
                      </a:solidFill>
                      <a:prstDash val="solid"/>
                      <a:round/>
                      <a:headEnd type="none" w="med" len="med"/>
                      <a:tailEnd type="none" w="med" len="med"/>
                    </a:lnT>
                    <a:lnB w="6350" cap="flat" cmpd="sng" algn="ctr">
                      <a:solidFill>
                        <a:srgbClr val="B7C9D6"/>
                      </a:solidFill>
                      <a:prstDash val="solid"/>
                      <a:round/>
                      <a:headEnd type="none" w="med" len="med"/>
                      <a:tailEnd type="none" w="med" len="med"/>
                    </a:lnB>
                    <a:no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a:t>
                      </a:r>
                    </a:p>
                  </a:txBody>
                  <a:tcPr marL="0" marR="0" marT="0" marB="0" anchor="ctr">
                    <a:lnL>
                      <a:noFill/>
                    </a:lnL>
                    <a:lnR>
                      <a:noFill/>
                    </a:lnR>
                    <a:lnT w="6350" cap="flat" cmpd="sng" algn="ctr">
                      <a:solidFill>
                        <a:srgbClr val="B7C9D6"/>
                      </a:solidFill>
                      <a:prstDash val="solid"/>
                      <a:round/>
                      <a:headEnd type="none" w="med" len="med"/>
                      <a:tailEnd type="none" w="med" len="med"/>
                    </a:lnT>
                    <a:lnB w="6350" cap="flat" cmpd="sng" algn="ctr">
                      <a:solidFill>
                        <a:srgbClr val="B7C9D6"/>
                      </a:solidFill>
                      <a:prstDash val="solid"/>
                      <a:round/>
                      <a:headEnd type="none" w="med" len="med"/>
                      <a:tailEnd type="none" w="med" len="med"/>
                    </a:lnB>
                    <a:no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474,428 → 539,035 → 558,390　｜進行期 279,153
（100.0% → 100.0% → 100.0%　｜100.0%）</a:t>
                      </a:r>
                    </a:p>
                  </a:txBody>
                  <a:tcPr marL="0" marR="0" marT="0" marB="0" anchor="ctr">
                    <a:lnL>
                      <a:noFill/>
                    </a:lnL>
                    <a:lnR>
                      <a:noFill/>
                    </a:lnR>
                    <a:lnT w="6350" cap="flat" cmpd="sng" algn="ctr">
                      <a:solidFill>
                        <a:srgbClr val="B7C9D6"/>
                      </a:solidFill>
                      <a:prstDash val="solid"/>
                      <a:round/>
                      <a:headEnd type="none" w="med" len="med"/>
                      <a:tailEnd type="none" w="med" len="med"/>
                    </a:lnT>
                    <a:lnB w="6350" cap="flat" cmpd="sng" algn="ctr">
                      <a:solidFill>
                        <a:srgbClr val="B7C9D6"/>
                      </a:solidFill>
                      <a:prstDash val="solid"/>
                      <a:round/>
                      <a:headEnd type="none" w="med" len="med"/>
                      <a:tailEnd type="none" w="med" len="med"/>
                    </a:lnB>
                    <a:noFill/>
                  </a:tcPr>
                </a:tc>
                <a:extLst>
                  <a:ext uri="{0D108BD9-81ED-4DB2-BD59-A6C34878D82A}">
                    <a16:rowId xmlns:a16="http://schemas.microsoft.com/office/drawing/2014/main" val="4215961394"/>
                  </a:ext>
                </a:extLst>
              </a:tr>
            </a:tbl>
          </a:graphicData>
        </a:graphic>
      </p:graphicFrame>
    </p:spTree>
    <p:extLst>
      <p:ext uri="{BB962C8B-B14F-4D97-AF65-F5344CB8AC3E}">
        <p14:creationId xmlns:p14="http://schemas.microsoft.com/office/powerpoint/2010/main" val="5400013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D0BF3-8862-6D38-707C-2714A6B2BD1A}"/>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AA9FDB77-6848-BC40-4BDD-831ED9D8D792}"/>
              </a:ext>
            </a:extLst>
          </p:cNvPr>
          <p:cNvSpPr>
            <a:spLocks noGrp="1"/>
          </p:cNvSpPr>
          <p:nvPr>
            <p:ph type="ctrTitle"/>
          </p:nvPr>
        </p:nvSpPr>
        <p:spPr/>
        <p:txBody>
          <a:bodyPr/>
          <a:lstStyle/>
          <a:p>
            <a:r>
              <a:rPr lang="ja-JP" altLang="en-US" dirty="0">
                <a:latin typeface="游ゴシック" panose="020B0400000000000000" pitchFamily="50" charset="-128"/>
                <a:ea typeface="游ゴシック" panose="020B0400000000000000" pitchFamily="50" charset="-128"/>
              </a:rPr>
              <a:t>参考｜2つの業態の比較</a:t>
            </a:r>
          </a:p>
        </p:txBody>
      </p:sp>
      <p:sp>
        <p:nvSpPr>
          <p:cNvPr id="20" name="タイトル 1">
            <a:extLst>
              <a:ext uri="{FF2B5EF4-FFF2-40B4-BE49-F238E27FC236}">
                <a16:creationId xmlns:a16="http://schemas.microsoft.com/office/drawing/2014/main" id="{A91FA19B-8223-DC47-9BD3-2C555B089FC4}"/>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dirty="0">
                <a:latin typeface="游ゴシック" panose="020B0400000000000000" pitchFamily="50" charset="-128"/>
                <a:ea typeface="游ゴシック" panose="020B0400000000000000" pitchFamily="50" charset="-128"/>
              </a:rPr>
              <a:t>事業概要</a:t>
            </a:r>
          </a:p>
        </p:txBody>
      </p:sp>
      <p:sp>
        <p:nvSpPr>
          <p:cNvPr id="35" name="字幕 13">
            <a:extLst>
              <a:ext uri="{FF2B5EF4-FFF2-40B4-BE49-F238E27FC236}">
                <a16:creationId xmlns:a16="http://schemas.microsoft.com/office/drawing/2014/main" id="{95C74D80-92DD-4745-F4D1-A8B1B082B2A9}"/>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不採算2店舗の撤退を経て、FC加盟のインショップ4店舗と自社ブランドの大型犬専門店2店舗を併営。進行期はいずれの業態も店舗貢献利益を確保しており、両者は補完関係にある。</a:t>
            </a:r>
          </a:p>
        </p:txBody>
      </p:sp>
      <p:graphicFrame>
        <p:nvGraphicFramePr>
          <p:cNvPr id="2" name="表 1">
            <a:extLst>
              <a:ext uri="{FF2B5EF4-FFF2-40B4-BE49-F238E27FC236}">
                <a16:creationId xmlns:a16="http://schemas.microsoft.com/office/drawing/2014/main" id="{932E9EF1-CE56-DEC3-277F-E2D3E2F48ECE}"/>
              </a:ext>
            </a:extLst>
          </p:cNvPr>
          <p:cNvGraphicFramePr>
            <a:graphicFrameLocks noGrp="1"/>
          </p:cNvGraphicFramePr>
          <p:nvPr>
            <p:extLst>
              <p:ext uri="{D42A27DB-BD31-4B8C-83A1-F6EECF244321}">
                <p14:modId xmlns:p14="http://schemas.microsoft.com/office/powerpoint/2010/main" val="2080391777"/>
              </p:ext>
            </p:extLst>
          </p:nvPr>
        </p:nvGraphicFramePr>
        <p:xfrm>
          <a:off x="320040" y="1417320"/>
          <a:ext cx="9921240" cy="2286000"/>
        </p:xfrm>
        <a:graphic>
          <a:graphicData uri="http://schemas.openxmlformats.org/drawingml/2006/table">
            <a:tbl>
              <a:tblPr/>
              <a:tblGrid>
                <a:gridCol w="1600200">
                  <a:extLst>
                    <a:ext uri="{9D8B030D-6E8A-4147-A177-3AD203B41FA5}">
                      <a16:colId xmlns:a16="http://schemas.microsoft.com/office/drawing/2014/main" val="2226821946"/>
                    </a:ext>
                  </a:extLst>
                </a:gridCol>
                <a:gridCol w="4160520">
                  <a:extLst>
                    <a:ext uri="{9D8B030D-6E8A-4147-A177-3AD203B41FA5}">
                      <a16:colId xmlns:a16="http://schemas.microsoft.com/office/drawing/2014/main" val="394351917"/>
                    </a:ext>
                  </a:extLst>
                </a:gridCol>
                <a:gridCol w="4160520">
                  <a:extLst>
                    <a:ext uri="{9D8B030D-6E8A-4147-A177-3AD203B41FA5}">
                      <a16:colId xmlns:a16="http://schemas.microsoft.com/office/drawing/2014/main" val="2273061486"/>
                    </a:ext>
                  </a:extLst>
                </a:gridCol>
              </a:tblGrid>
              <a:tr h="237744">
                <a:tc>
                  <a:txBody>
                    <a:bodyPr/>
                    <a:lstStyle/>
                    <a:p>
                      <a:pPr algn="ctr" fontAlgn="ctr">
                        <a:lnSpc>
                          <a:spcPct val="106000"/>
                        </a:lnSpc>
                        <a:buNone/>
                      </a:pPr>
                      <a:r>
                        <a:rPr sz="1100" b="1">
                          <a:solidFill>
                            <a:srgbClr val="FFFFFF"/>
                          </a:solidFill>
                          <a:latin typeface="游ゴシック" panose="020B0400000000000000" pitchFamily="50" charset="-128"/>
                          <a:ea typeface="游ゴシック" panose="020B0400000000000000" pitchFamily="50" charset="-128"/>
                        </a:rPr>
                        <a:t>比較項目</a:t>
                      </a: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ctr" fontAlgn="ctr">
                        <a:lnSpc>
                          <a:spcPct val="106000"/>
                        </a:lnSpc>
                        <a:buNone/>
                      </a:pPr>
                      <a:r>
                        <a:rPr sz="1100" b="1">
                          <a:solidFill>
                            <a:srgbClr val="FFFFFF"/>
                          </a:solidFill>
                          <a:latin typeface="游ゴシック" panose="020B0400000000000000" pitchFamily="50" charset="-128"/>
                          <a:ea typeface="游ゴシック" panose="020B0400000000000000" pitchFamily="50" charset="-128"/>
                        </a:rPr>
                        <a:t>ワンラブFC店（インショップ4店舗）</a:t>
                      </a: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C6D1F"/>
                    </a:solidFill>
                  </a:tcPr>
                </a:tc>
                <a:tc>
                  <a:txBody>
                    <a:bodyPr/>
                    <a:lstStyle/>
                    <a:p>
                      <a:pPr algn="ctr" fontAlgn="ctr">
                        <a:lnSpc>
                          <a:spcPct val="106000"/>
                        </a:lnSpc>
                        <a:buNone/>
                      </a:pPr>
                      <a:r>
                        <a:rPr sz="1100" b="1" dirty="0" err="1">
                          <a:solidFill>
                            <a:srgbClr val="FFFFFF"/>
                          </a:solidFill>
                          <a:latin typeface="游ゴシック" panose="020B0400000000000000" pitchFamily="50" charset="-128"/>
                          <a:ea typeface="游ゴシック" panose="020B0400000000000000" pitchFamily="50" charset="-128"/>
                        </a:rPr>
                        <a:t>おっきなもふもふ応援隊（大型犬専門・路面店2店舗）</a:t>
                      </a:r>
                      <a:endParaRPr sz="1100" b="1" dirty="0">
                        <a:solidFill>
                          <a:srgbClr val="FFFFFF"/>
                        </a:solidFill>
                        <a:latin typeface="游ゴシック" panose="020B0400000000000000" pitchFamily="50" charset="-128"/>
                        <a:ea typeface="游ゴシック" panose="020B0400000000000000" pitchFamily="50" charset="-128"/>
                      </a:endParaRP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5688F"/>
                    </a:solidFill>
                  </a:tcPr>
                </a:tc>
                <a:extLst>
                  <a:ext uri="{0D108BD9-81ED-4DB2-BD59-A6C34878D82A}">
                    <a16:rowId xmlns:a16="http://schemas.microsoft.com/office/drawing/2014/main" val="2136583368"/>
                  </a:ext>
                </a:extLst>
              </a:tr>
              <a:tr h="256032">
                <a:tc>
                  <a:txBody>
                    <a:bodyPr/>
                    <a:lstStyle/>
                    <a:p>
                      <a:pPr algn="ctr" fontAlgn="b">
                        <a:lnSpc>
                          <a:spcPct val="106000"/>
                        </a:lnSpc>
                        <a:buNone/>
                      </a:pPr>
                      <a:r>
                        <a:rPr sz="1000" b="1" dirty="0" err="1">
                          <a:solidFill>
                            <a:srgbClr val="1F3864"/>
                          </a:solidFill>
                          <a:latin typeface="游ゴシック" panose="020B0400000000000000" pitchFamily="50" charset="-128"/>
                          <a:ea typeface="游ゴシック" panose="020B0400000000000000" pitchFamily="50" charset="-128"/>
                        </a:rPr>
                        <a:t>店舗数</a:t>
                      </a:r>
                      <a:endParaRPr sz="1000" b="1" dirty="0">
                        <a:solidFill>
                          <a:srgbClr val="1F3864"/>
                        </a:solidFill>
                        <a:latin typeface="游ゴシック" panose="020B0400000000000000" pitchFamily="50" charset="-128"/>
                        <a:ea typeface="游ゴシック" panose="020B0400000000000000" pitchFamily="50" charset="-128"/>
                      </a:endParaRP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CF1F7"/>
                    </a:solidFill>
                  </a:tcPr>
                </a:tc>
                <a:tc>
                  <a:txBody>
                    <a:bodyPr/>
                    <a:lstStyle/>
                    <a:p>
                      <a:pPr algn="l" fontAlgn="b">
                        <a:lnSpc>
                          <a:spcPct val="106000"/>
                        </a:lnSpc>
                        <a:buNone/>
                      </a:pPr>
                      <a:r>
                        <a:rPr sz="1000" b="0">
                          <a:solidFill>
                            <a:srgbClr val="202020"/>
                          </a:solidFill>
                          <a:latin typeface="游ゴシック" panose="020B0400000000000000" pitchFamily="50" charset="-128"/>
                          <a:ea typeface="游ゴシック" panose="020B0400000000000000" pitchFamily="50" charset="-128"/>
                        </a:rPr>
                        <a:t>4店舗（三重県3・愛知県1）　※2026年初に岐阜県2店舗を撤退</a:t>
                      </a: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DF8EC"/>
                    </a:solidFill>
                  </a:tcPr>
                </a:tc>
                <a:tc>
                  <a:txBody>
                    <a:bodyPr/>
                    <a:lstStyle/>
                    <a:p>
                      <a:pPr algn="l" fontAlgn="b">
                        <a:lnSpc>
                          <a:spcPct val="106000"/>
                        </a:lnSpc>
                        <a:buNone/>
                      </a:pPr>
                      <a:r>
                        <a:rPr sz="1000" b="0">
                          <a:solidFill>
                            <a:srgbClr val="202020"/>
                          </a:solidFill>
                          <a:latin typeface="游ゴシック" panose="020B0400000000000000" pitchFamily="50" charset="-128"/>
                          <a:ea typeface="游ゴシック" panose="020B0400000000000000" pitchFamily="50" charset="-128"/>
                        </a:rPr>
                        <a:t>2店舗（岐阜県1・大阪府1）</a:t>
                      </a: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3F6FB"/>
                    </a:solidFill>
                  </a:tcPr>
                </a:tc>
                <a:extLst>
                  <a:ext uri="{0D108BD9-81ED-4DB2-BD59-A6C34878D82A}">
                    <a16:rowId xmlns:a16="http://schemas.microsoft.com/office/drawing/2014/main" val="1710604957"/>
                  </a:ext>
                </a:extLst>
              </a:tr>
              <a:tr h="256032">
                <a:tc>
                  <a:txBody>
                    <a:bodyPr/>
                    <a:lstStyle/>
                    <a:p>
                      <a:pPr algn="ctr" fontAlgn="b">
                        <a:lnSpc>
                          <a:spcPct val="106000"/>
                        </a:lnSpc>
                        <a:buNone/>
                      </a:pPr>
                      <a:r>
                        <a:rPr sz="1000" b="1">
                          <a:solidFill>
                            <a:srgbClr val="1F3864"/>
                          </a:solidFill>
                          <a:latin typeface="游ゴシック" panose="020B0400000000000000" pitchFamily="50" charset="-128"/>
                          <a:ea typeface="游ゴシック" panose="020B0400000000000000" pitchFamily="50" charset="-128"/>
                        </a:rPr>
                        <a:t>売上高（進行期7か月）</a:t>
                      </a: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CF1F7"/>
                    </a:solidFill>
                  </a:tcPr>
                </a:tc>
                <a:tc>
                  <a:txBody>
                    <a:bodyPr/>
                    <a:lstStyle/>
                    <a:p>
                      <a:pPr algn="l" fontAlgn="b">
                        <a:lnSpc>
                          <a:spcPct val="106000"/>
                        </a:lnSpc>
                        <a:buNone/>
                      </a:pPr>
                      <a:r>
                        <a:rPr sz="1000" b="0">
                          <a:solidFill>
                            <a:srgbClr val="202020"/>
                          </a:solidFill>
                          <a:latin typeface="游ゴシック" panose="020B0400000000000000" pitchFamily="50" charset="-128"/>
                          <a:ea typeface="游ゴシック" panose="020B0400000000000000" pitchFamily="50" charset="-128"/>
                        </a:rPr>
                        <a:t>136,133千円（構成比48.8%）</a:t>
                      </a: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DF8EC"/>
                    </a:solidFill>
                  </a:tcPr>
                </a:tc>
                <a:tc>
                  <a:txBody>
                    <a:bodyPr/>
                    <a:lstStyle/>
                    <a:p>
                      <a:pPr algn="l" fontAlgn="b">
                        <a:lnSpc>
                          <a:spcPct val="106000"/>
                        </a:lnSpc>
                        <a:buNone/>
                      </a:pPr>
                      <a:r>
                        <a:rPr sz="1000" b="0">
                          <a:solidFill>
                            <a:srgbClr val="202020"/>
                          </a:solidFill>
                          <a:latin typeface="游ゴシック" panose="020B0400000000000000" pitchFamily="50" charset="-128"/>
                          <a:ea typeface="游ゴシック" panose="020B0400000000000000" pitchFamily="50" charset="-128"/>
                        </a:rPr>
                        <a:t>118,470千円（構成比42.4%）</a:t>
                      </a: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3F6FB"/>
                    </a:solidFill>
                  </a:tcPr>
                </a:tc>
                <a:extLst>
                  <a:ext uri="{0D108BD9-81ED-4DB2-BD59-A6C34878D82A}">
                    <a16:rowId xmlns:a16="http://schemas.microsoft.com/office/drawing/2014/main" val="4169350144"/>
                  </a:ext>
                </a:extLst>
              </a:tr>
              <a:tr h="256032">
                <a:tc>
                  <a:txBody>
                    <a:bodyPr/>
                    <a:lstStyle/>
                    <a:p>
                      <a:pPr algn="ctr" fontAlgn="b">
                        <a:lnSpc>
                          <a:spcPct val="106000"/>
                        </a:lnSpc>
                        <a:buNone/>
                      </a:pPr>
                      <a:r>
                        <a:rPr sz="1000" b="1">
                          <a:solidFill>
                            <a:srgbClr val="1F3864"/>
                          </a:solidFill>
                          <a:latin typeface="游ゴシック" panose="020B0400000000000000" pitchFamily="50" charset="-128"/>
                          <a:ea typeface="游ゴシック" panose="020B0400000000000000" pitchFamily="50" charset="-128"/>
                        </a:rPr>
                        <a:t>店舗貢献利益（同）</a:t>
                      </a: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CF1F7"/>
                    </a:solidFill>
                  </a:tcPr>
                </a:tc>
                <a:tc>
                  <a:txBody>
                    <a:bodyPr/>
                    <a:lstStyle/>
                    <a:p>
                      <a:pPr algn="l" fontAlgn="b">
                        <a:lnSpc>
                          <a:spcPct val="106000"/>
                        </a:lnSpc>
                        <a:buNone/>
                      </a:pPr>
                      <a:r>
                        <a:rPr sz="1000" b="0">
                          <a:solidFill>
                            <a:srgbClr val="202020"/>
                          </a:solidFill>
                          <a:latin typeface="游ゴシック" panose="020B0400000000000000" pitchFamily="50" charset="-128"/>
                          <a:ea typeface="游ゴシック" panose="020B0400000000000000" pitchFamily="50" charset="-128"/>
                        </a:rPr>
                        <a:t>47,760千円（売上高比35.1%）</a:t>
                      </a: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DF8EC"/>
                    </a:solidFill>
                  </a:tcPr>
                </a:tc>
                <a:tc>
                  <a:txBody>
                    <a:bodyPr/>
                    <a:lstStyle/>
                    <a:p>
                      <a:pPr algn="l" fontAlgn="b">
                        <a:lnSpc>
                          <a:spcPct val="106000"/>
                        </a:lnSpc>
                        <a:buNone/>
                      </a:pPr>
                      <a:r>
                        <a:rPr sz="1000" b="0">
                          <a:solidFill>
                            <a:srgbClr val="202020"/>
                          </a:solidFill>
                          <a:latin typeface="游ゴシック" panose="020B0400000000000000" pitchFamily="50" charset="-128"/>
                          <a:ea typeface="游ゴシック" panose="020B0400000000000000" pitchFamily="50" charset="-128"/>
                        </a:rPr>
                        <a:t>53,058千円（売上高比44.8%）</a:t>
                      </a: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3F6FB"/>
                    </a:solidFill>
                  </a:tcPr>
                </a:tc>
                <a:extLst>
                  <a:ext uri="{0D108BD9-81ED-4DB2-BD59-A6C34878D82A}">
                    <a16:rowId xmlns:a16="http://schemas.microsoft.com/office/drawing/2014/main" val="4169350144"/>
                  </a:ext>
                </a:extLst>
              </a:tr>
              <a:tr h="256032">
                <a:tc>
                  <a:txBody>
                    <a:bodyPr/>
                    <a:lstStyle/>
                    <a:p>
                      <a:pPr algn="ctr" fontAlgn="b">
                        <a:lnSpc>
                          <a:spcPct val="106000"/>
                        </a:lnSpc>
                        <a:buNone/>
                      </a:pPr>
                      <a:r>
                        <a:rPr sz="1000" b="1">
                          <a:solidFill>
                            <a:srgbClr val="1F3864"/>
                          </a:solidFill>
                          <a:latin typeface="游ゴシック" panose="020B0400000000000000" pitchFamily="50" charset="-128"/>
                          <a:ea typeface="游ゴシック" panose="020B0400000000000000" pitchFamily="50" charset="-128"/>
                        </a:rPr>
                        <a:t>出店形態</a:t>
                      </a: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CF1F7"/>
                    </a:solidFill>
                  </a:tcPr>
                </a:tc>
                <a:tc>
                  <a:txBody>
                    <a:bodyPr/>
                    <a:lstStyle/>
                    <a:p>
                      <a:pPr algn="l" fontAlgn="b">
                        <a:lnSpc>
                          <a:spcPct val="106000"/>
                        </a:lnSpc>
                        <a:buNone/>
                      </a:pPr>
                      <a:r>
                        <a:rPr sz="1000" b="0" dirty="0">
                          <a:solidFill>
                            <a:srgbClr val="202020"/>
                          </a:solidFill>
                          <a:latin typeface="游ゴシック" panose="020B0400000000000000" pitchFamily="50" charset="-128"/>
                          <a:ea typeface="游ゴシック" panose="020B0400000000000000" pitchFamily="50" charset="-128"/>
                        </a:rPr>
                        <a:t>ホームセンター等の店内インショップ。FC本部から転借</a:t>
                      </a: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DF8EC"/>
                    </a:solidFill>
                  </a:tcPr>
                </a:tc>
                <a:tc>
                  <a:txBody>
                    <a:bodyPr/>
                    <a:lstStyle/>
                    <a:p>
                      <a:pPr algn="l" fontAlgn="b">
                        <a:lnSpc>
                          <a:spcPct val="106000"/>
                        </a:lnSpc>
                        <a:buNone/>
                      </a:pPr>
                      <a:r>
                        <a:rPr sz="1000" b="0">
                          <a:solidFill>
                            <a:srgbClr val="202020"/>
                          </a:solidFill>
                          <a:latin typeface="游ゴシック" panose="020B0400000000000000" pitchFamily="50" charset="-128"/>
                          <a:ea typeface="游ゴシック" panose="020B0400000000000000" pitchFamily="50" charset="-128"/>
                        </a:rPr>
                        <a:t>路面店・大型商業施設内の独立区画（395〜421㎡）。当社が直接賃借</a:t>
                      </a: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3F6FB"/>
                    </a:solidFill>
                  </a:tcPr>
                </a:tc>
                <a:extLst>
                  <a:ext uri="{0D108BD9-81ED-4DB2-BD59-A6C34878D82A}">
                    <a16:rowId xmlns:a16="http://schemas.microsoft.com/office/drawing/2014/main" val="1755084407"/>
                  </a:ext>
                </a:extLst>
              </a:tr>
              <a:tr h="256032">
                <a:tc>
                  <a:txBody>
                    <a:bodyPr/>
                    <a:lstStyle/>
                    <a:p>
                      <a:pPr algn="ctr" fontAlgn="b">
                        <a:lnSpc>
                          <a:spcPct val="106000"/>
                        </a:lnSpc>
                        <a:buNone/>
                      </a:pPr>
                      <a:r>
                        <a:rPr sz="1000" b="1">
                          <a:solidFill>
                            <a:srgbClr val="1F3864"/>
                          </a:solidFill>
                          <a:latin typeface="游ゴシック" panose="020B0400000000000000" pitchFamily="50" charset="-128"/>
                          <a:ea typeface="游ゴシック" panose="020B0400000000000000" pitchFamily="50" charset="-128"/>
                        </a:rPr>
                        <a:t>店舗使用料</a:t>
                      </a: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CF1F7"/>
                    </a:solidFill>
                  </a:tcPr>
                </a:tc>
                <a:tc>
                  <a:txBody>
                    <a:bodyPr/>
                    <a:lstStyle/>
                    <a:p>
                      <a:pPr algn="l" fontAlgn="b">
                        <a:lnSpc>
                          <a:spcPct val="106000"/>
                        </a:lnSpc>
                        <a:buNone/>
                      </a:pPr>
                      <a:r>
                        <a:rPr sz="1000" b="0" dirty="0" err="1">
                          <a:solidFill>
                            <a:srgbClr val="202020"/>
                          </a:solidFill>
                          <a:latin typeface="游ゴシック" panose="020B0400000000000000" pitchFamily="50" charset="-128"/>
                          <a:ea typeface="游ゴシック" panose="020B0400000000000000" pitchFamily="50" charset="-128"/>
                        </a:rPr>
                        <a:t>売上歩合（11〜15%）。販管費上は「ロイヤリティ」に計上</a:t>
                      </a:r>
                      <a:endParaRPr sz="1000" b="0" dirty="0">
                        <a:solidFill>
                          <a:srgbClr val="202020"/>
                        </a:solidFill>
                        <a:latin typeface="游ゴシック" panose="020B0400000000000000" pitchFamily="50" charset="-128"/>
                        <a:ea typeface="游ゴシック" panose="020B0400000000000000" pitchFamily="50" charset="-128"/>
                      </a:endParaRP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DF8EC"/>
                    </a:solidFill>
                  </a:tcPr>
                </a:tc>
                <a:tc>
                  <a:txBody>
                    <a:bodyPr/>
                    <a:lstStyle/>
                    <a:p>
                      <a:pPr algn="l" fontAlgn="b">
                        <a:lnSpc>
                          <a:spcPct val="106000"/>
                        </a:lnSpc>
                        <a:buNone/>
                      </a:pPr>
                      <a:r>
                        <a:rPr sz="1000" b="0">
                          <a:solidFill>
                            <a:srgbClr val="202020"/>
                          </a:solidFill>
                          <a:latin typeface="游ゴシック" panose="020B0400000000000000" pitchFamily="50" charset="-128"/>
                          <a:ea typeface="游ゴシック" panose="020B0400000000000000" pitchFamily="50" charset="-128"/>
                        </a:rPr>
                        <a:t>固定賃料（月額640〜920千円）。地代家賃に計上</a:t>
                      </a: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3F6FB"/>
                    </a:solidFill>
                  </a:tcPr>
                </a:tc>
                <a:extLst>
                  <a:ext uri="{0D108BD9-81ED-4DB2-BD59-A6C34878D82A}">
                    <a16:rowId xmlns:a16="http://schemas.microsoft.com/office/drawing/2014/main" val="3954073247"/>
                  </a:ext>
                </a:extLst>
              </a:tr>
              <a:tr h="256032">
                <a:tc>
                  <a:txBody>
                    <a:bodyPr/>
                    <a:lstStyle/>
                    <a:p>
                      <a:pPr algn="ctr" fontAlgn="b">
                        <a:lnSpc>
                          <a:spcPct val="106000"/>
                        </a:lnSpc>
                        <a:buNone/>
                      </a:pPr>
                      <a:r>
                        <a:rPr sz="1000" b="1">
                          <a:solidFill>
                            <a:srgbClr val="1F3864"/>
                          </a:solidFill>
                          <a:latin typeface="游ゴシック" panose="020B0400000000000000" pitchFamily="50" charset="-128"/>
                          <a:ea typeface="游ゴシック" panose="020B0400000000000000" pitchFamily="50" charset="-128"/>
                        </a:rPr>
                        <a:t>取扱い・顧客層</a:t>
                      </a: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CF1F7"/>
                    </a:solidFill>
                  </a:tcPr>
                </a:tc>
                <a:tc>
                  <a:txBody>
                    <a:bodyPr/>
                    <a:lstStyle/>
                    <a:p>
                      <a:pPr algn="l" fontAlgn="b">
                        <a:lnSpc>
                          <a:spcPct val="106000"/>
                        </a:lnSpc>
                        <a:buNone/>
                      </a:pPr>
                      <a:r>
                        <a:rPr sz="1000" b="0">
                          <a:solidFill>
                            <a:srgbClr val="202020"/>
                          </a:solidFill>
                          <a:latin typeface="游ゴシック" panose="020B0400000000000000" pitchFamily="50" charset="-128"/>
                          <a:ea typeface="游ゴシック" panose="020B0400000000000000" pitchFamily="50" charset="-128"/>
                        </a:rPr>
                        <a:t>小型犬・猫中心の一般的な品揃え。商業施設の集客に依存</a:t>
                      </a: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DF8EC"/>
                    </a:solidFill>
                  </a:tcPr>
                </a:tc>
                <a:tc>
                  <a:txBody>
                    <a:bodyPr/>
                    <a:lstStyle/>
                    <a:p>
                      <a:pPr algn="l" fontAlgn="b">
                        <a:lnSpc>
                          <a:spcPct val="106000"/>
                        </a:lnSpc>
                        <a:buNone/>
                      </a:pPr>
                      <a:r>
                        <a:rPr sz="1000" b="0">
                          <a:solidFill>
                            <a:srgbClr val="202020"/>
                          </a:solidFill>
                          <a:latin typeface="游ゴシック" panose="020B0400000000000000" pitchFamily="50" charset="-128"/>
                          <a:ea typeface="游ゴシック" panose="020B0400000000000000" pitchFamily="50" charset="-128"/>
                        </a:rPr>
                        <a:t>大型犬に特化。高所得層が中心で単価・保険加入率が高い</a:t>
                      </a: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3F6FB"/>
                    </a:solidFill>
                  </a:tcPr>
                </a:tc>
                <a:extLst>
                  <a:ext uri="{0D108BD9-81ED-4DB2-BD59-A6C34878D82A}">
                    <a16:rowId xmlns:a16="http://schemas.microsoft.com/office/drawing/2014/main" val="2137578284"/>
                  </a:ext>
                </a:extLst>
              </a:tr>
              <a:tr h="256032">
                <a:tc>
                  <a:txBody>
                    <a:bodyPr/>
                    <a:lstStyle/>
                    <a:p>
                      <a:pPr algn="ctr" fontAlgn="b">
                        <a:lnSpc>
                          <a:spcPct val="106000"/>
                        </a:lnSpc>
                        <a:buNone/>
                      </a:pPr>
                      <a:r>
                        <a:rPr sz="1000" b="1">
                          <a:solidFill>
                            <a:srgbClr val="1F3864"/>
                          </a:solidFill>
                          <a:latin typeface="游ゴシック" panose="020B0400000000000000" pitchFamily="50" charset="-128"/>
                          <a:ea typeface="游ゴシック" panose="020B0400000000000000" pitchFamily="50" charset="-128"/>
                        </a:rPr>
                        <a:t>足元の状況</a:t>
                      </a: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CF1F7"/>
                    </a:solidFill>
                  </a:tcPr>
                </a:tc>
                <a:tc>
                  <a:txBody>
                    <a:bodyPr/>
                    <a:lstStyle/>
                    <a:p>
                      <a:pPr algn="l" fontAlgn="b">
                        <a:lnSpc>
                          <a:spcPct val="106000"/>
                        </a:lnSpc>
                        <a:buNone/>
                      </a:pPr>
                      <a:r>
                        <a:rPr sz="1000" b="0">
                          <a:solidFill>
                            <a:srgbClr val="202020"/>
                          </a:solidFill>
                          <a:latin typeface="游ゴシック" panose="020B0400000000000000" pitchFamily="50" charset="-128"/>
                          <a:ea typeface="游ゴシック" panose="020B0400000000000000" pitchFamily="50" charset="-128"/>
                        </a:rPr>
                        <a:t>不採算2店舗を撤退し4店舗体制。伊勢・久居・緑の3店は高い収益性</a:t>
                      </a: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DF8EC"/>
                    </a:solidFill>
                  </a:tcPr>
                </a:tc>
                <a:tc>
                  <a:txBody>
                    <a:bodyPr/>
                    <a:lstStyle/>
                    <a:p>
                      <a:pPr algn="l" fontAlgn="b">
                        <a:lnSpc>
                          <a:spcPct val="106000"/>
                        </a:lnSpc>
                        <a:buNone/>
                      </a:pPr>
                      <a:r>
                        <a:rPr sz="1000" b="0">
                          <a:solidFill>
                            <a:srgbClr val="202020"/>
                          </a:solidFill>
                          <a:latin typeface="游ゴシック" panose="020B0400000000000000" pitchFamily="50" charset="-128"/>
                          <a:ea typeface="游ゴシック" panose="020B0400000000000000" pitchFamily="50" charset="-128"/>
                        </a:rPr>
                        <a:t>岐阜は開店4期目、大阪は3期目。2店舗で店舗貢献利益の52.6%</a:t>
                      </a: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3F6FB"/>
                    </a:solidFill>
                  </a:tcPr>
                </a:tc>
                <a:extLst>
                  <a:ext uri="{0D108BD9-81ED-4DB2-BD59-A6C34878D82A}">
                    <a16:rowId xmlns:a16="http://schemas.microsoft.com/office/drawing/2014/main" val="870541768"/>
                  </a:ext>
                </a:extLst>
              </a:tr>
              <a:tr h="256032">
                <a:tc>
                  <a:txBody>
                    <a:bodyPr/>
                    <a:lstStyle/>
                    <a:p>
                      <a:pPr algn="ctr" fontAlgn="b">
                        <a:lnSpc>
                          <a:spcPct val="106000"/>
                        </a:lnSpc>
                        <a:buNone/>
                      </a:pPr>
                      <a:r>
                        <a:rPr sz="1000" b="1">
                          <a:solidFill>
                            <a:srgbClr val="1F3864"/>
                          </a:solidFill>
                          <a:latin typeface="游ゴシック" panose="020B0400000000000000" pitchFamily="50" charset="-128"/>
                          <a:ea typeface="游ゴシック" panose="020B0400000000000000" pitchFamily="50" charset="-128"/>
                        </a:rPr>
                        <a:t>主な論点</a:t>
                      </a: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CF1F7"/>
                    </a:solidFill>
                  </a:tcPr>
                </a:tc>
                <a:tc>
                  <a:txBody>
                    <a:bodyPr/>
                    <a:lstStyle/>
                    <a:p>
                      <a:pPr algn="l" fontAlgn="b">
                        <a:lnSpc>
                          <a:spcPct val="106000"/>
                        </a:lnSpc>
                        <a:buNone/>
                      </a:pPr>
                      <a:r>
                        <a:rPr sz="1000" b="0">
                          <a:solidFill>
                            <a:srgbClr val="202020"/>
                          </a:solidFill>
                          <a:latin typeface="游ゴシック" panose="020B0400000000000000" pitchFamily="50" charset="-128"/>
                          <a:ea typeface="游ゴシック" panose="020B0400000000000000" pitchFamily="50" charset="-128"/>
                        </a:rPr>
                        <a:t>FC契約・転借契約にCOC条項あり。実行時の届出・協議が必要</a:t>
                      </a: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DF8EC"/>
                    </a:solidFill>
                  </a:tcPr>
                </a:tc>
                <a:tc>
                  <a:txBody>
                    <a:bodyPr/>
                    <a:lstStyle/>
                    <a:p>
                      <a:pPr algn="l" fontAlgn="b">
                        <a:lnSpc>
                          <a:spcPct val="106000"/>
                        </a:lnSpc>
                        <a:buNone/>
                      </a:pPr>
                      <a:r>
                        <a:rPr sz="1000" b="0" dirty="0" err="1">
                          <a:solidFill>
                            <a:srgbClr val="202020"/>
                          </a:solidFill>
                          <a:latin typeface="游ゴシック" panose="020B0400000000000000" pitchFamily="50" charset="-128"/>
                          <a:ea typeface="游ゴシック" panose="020B0400000000000000" pitchFamily="50" charset="-128"/>
                        </a:rPr>
                        <a:t>定期建物賃貸借で更新なし（岐阜2033年1月／大阪2027年11月）</a:t>
                      </a:r>
                      <a:endParaRPr sz="1000" b="0" dirty="0">
                        <a:solidFill>
                          <a:srgbClr val="202020"/>
                        </a:solidFill>
                        <a:latin typeface="游ゴシック" panose="020B0400000000000000" pitchFamily="50" charset="-128"/>
                        <a:ea typeface="游ゴシック" panose="020B0400000000000000" pitchFamily="50" charset="-128"/>
                      </a:endParaRP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3F6FB"/>
                    </a:solidFill>
                  </a:tcPr>
                </a:tc>
                <a:extLst>
                  <a:ext uri="{0D108BD9-81ED-4DB2-BD59-A6C34878D82A}">
                    <a16:rowId xmlns:a16="http://schemas.microsoft.com/office/drawing/2014/main" val="2706507175"/>
                  </a:ext>
                </a:extLst>
              </a:tr>
            </a:tbl>
          </a:graphicData>
        </a:graphic>
      </p:graphicFrame>
      <p:sp>
        <p:nvSpPr>
          <p:cNvPr id="3" name="Rounded Rectangle 35">
            <a:extLst>
              <a:ext uri="{FF2B5EF4-FFF2-40B4-BE49-F238E27FC236}">
                <a16:creationId xmlns:a16="http://schemas.microsoft.com/office/drawing/2014/main" id="{C462A77D-B33F-B820-3A72-13CB97FB6487}"/>
              </a:ext>
            </a:extLst>
          </p:cNvPr>
          <p:cNvSpPr/>
          <p:nvPr/>
        </p:nvSpPr>
        <p:spPr>
          <a:xfrm>
            <a:off x="320040" y="4224528"/>
            <a:ext cx="9921240" cy="1700784"/>
          </a:xfrm>
          <a:prstGeom prst="roundRect">
            <a:avLst>
              <a:gd name="adj" fmla="val 3500"/>
            </a:avLst>
          </a:prstGeom>
          <a:solidFill>
            <a:srgbClr val="FFFFFF"/>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latin typeface="游ゴシック" panose="020B0400000000000000" pitchFamily="50" charset="-128"/>
              <a:ea typeface="游ゴシック" panose="020B0400000000000000" pitchFamily="50" charset="-128"/>
            </a:endParaRPr>
          </a:p>
        </p:txBody>
      </p:sp>
      <p:sp>
        <p:nvSpPr>
          <p:cNvPr id="5" name="Rounded Rectangle 36">
            <a:extLst>
              <a:ext uri="{FF2B5EF4-FFF2-40B4-BE49-F238E27FC236}">
                <a16:creationId xmlns:a16="http://schemas.microsoft.com/office/drawing/2014/main" id="{706C6035-2BDA-E9D4-635E-4A1FCC9623D6}"/>
              </a:ext>
            </a:extLst>
          </p:cNvPr>
          <p:cNvSpPr/>
          <p:nvPr/>
        </p:nvSpPr>
        <p:spPr>
          <a:xfrm>
            <a:off x="320040" y="4224528"/>
            <a:ext cx="9921240" cy="292608"/>
          </a:xfrm>
          <a:prstGeom prst="roundRect">
            <a:avLst>
              <a:gd name="adj" fmla="val 10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latin typeface="游ゴシック" panose="020B0400000000000000" pitchFamily="50" charset="-128"/>
              <a:ea typeface="游ゴシック" panose="020B0400000000000000" pitchFamily="50" charset="-128"/>
            </a:endParaRPr>
          </a:p>
        </p:txBody>
      </p:sp>
      <p:sp>
        <p:nvSpPr>
          <p:cNvPr id="6" name="TextBox 37">
            <a:extLst>
              <a:ext uri="{FF2B5EF4-FFF2-40B4-BE49-F238E27FC236}">
                <a16:creationId xmlns:a16="http://schemas.microsoft.com/office/drawing/2014/main" id="{E16B6D57-F147-9916-FC23-D32A1089191A}"/>
              </a:ext>
            </a:extLst>
          </p:cNvPr>
          <p:cNvSpPr txBox="1"/>
          <p:nvPr/>
        </p:nvSpPr>
        <p:spPr>
          <a:xfrm>
            <a:off x="484632" y="4273241"/>
            <a:ext cx="9592056" cy="195182"/>
          </a:xfrm>
          <a:prstGeom prst="rect">
            <a:avLst/>
          </a:prstGeom>
          <a:noFill/>
        </p:spPr>
        <p:txBody>
          <a:bodyPr wrap="square" lIns="0" tIns="0" rIns="0" bIns="0" anchor="ctr">
            <a:spAutoFit/>
          </a:bodyPr>
          <a:lstStyle/>
          <a:p>
            <a:pPr algn="l">
              <a:lnSpc>
                <a:spcPct val="110000"/>
              </a:lnSpc>
            </a:pPr>
            <a:r>
              <a:rPr sz="1200" b="1">
                <a:solidFill>
                  <a:srgbClr val="FFFFFF"/>
                </a:solidFill>
                <a:latin typeface="游ゴシック" panose="020B0400000000000000" pitchFamily="50" charset="-128"/>
                <a:ea typeface="游ゴシック" panose="020B0400000000000000" pitchFamily="50" charset="-128"/>
              </a:rPr>
              <a:t>同社における位置づけ　―　FCの安定基盤 × 自社ブランドの成長エンジン</a:t>
            </a:r>
          </a:p>
        </p:txBody>
      </p:sp>
      <p:sp>
        <p:nvSpPr>
          <p:cNvPr id="7" name="Rounded Rectangle 38">
            <a:extLst>
              <a:ext uri="{FF2B5EF4-FFF2-40B4-BE49-F238E27FC236}">
                <a16:creationId xmlns:a16="http://schemas.microsoft.com/office/drawing/2014/main" id="{96FF3115-4F8F-C6E7-30A2-3681C1AE751C}"/>
              </a:ext>
            </a:extLst>
          </p:cNvPr>
          <p:cNvSpPr/>
          <p:nvPr/>
        </p:nvSpPr>
        <p:spPr>
          <a:xfrm>
            <a:off x="484632" y="4590288"/>
            <a:ext cx="91440" cy="201168"/>
          </a:xfrm>
          <a:prstGeom prst="roundRect">
            <a:avLst>
              <a:gd name="adj" fmla="val 30000"/>
            </a:avLst>
          </a:prstGeom>
          <a:solidFill>
            <a:srgbClr val="8C6D1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latin typeface="游ゴシック" panose="020B0400000000000000" pitchFamily="50" charset="-128"/>
              <a:ea typeface="游ゴシック" panose="020B0400000000000000" pitchFamily="50" charset="-128"/>
            </a:endParaRPr>
          </a:p>
        </p:txBody>
      </p:sp>
      <p:sp>
        <p:nvSpPr>
          <p:cNvPr id="11" name="TextBox 39">
            <a:extLst>
              <a:ext uri="{FF2B5EF4-FFF2-40B4-BE49-F238E27FC236}">
                <a16:creationId xmlns:a16="http://schemas.microsoft.com/office/drawing/2014/main" id="{90AC6A11-C144-6C79-D1B8-92EA1FC4EB1C}"/>
              </a:ext>
            </a:extLst>
          </p:cNvPr>
          <p:cNvSpPr txBox="1"/>
          <p:nvPr/>
        </p:nvSpPr>
        <p:spPr>
          <a:xfrm>
            <a:off x="649224" y="4610100"/>
            <a:ext cx="4549140" cy="170816"/>
          </a:xfrm>
          <a:prstGeom prst="rect">
            <a:avLst/>
          </a:prstGeom>
          <a:noFill/>
        </p:spPr>
        <p:txBody>
          <a:bodyPr wrap="square" lIns="0" tIns="0" rIns="0" bIns="0" anchor="t">
            <a:spAutoFit/>
          </a:bodyPr>
          <a:lstStyle/>
          <a:p>
            <a:pPr algn="l">
              <a:lnSpc>
                <a:spcPct val="110000"/>
              </a:lnSpc>
            </a:pPr>
            <a:r>
              <a:rPr sz="1050" b="1" dirty="0" err="1">
                <a:solidFill>
                  <a:srgbClr val="8C6D1F"/>
                </a:solidFill>
                <a:latin typeface="游ゴシック" panose="020B0400000000000000" pitchFamily="50" charset="-128"/>
                <a:ea typeface="游ゴシック" panose="020B0400000000000000" pitchFamily="50" charset="-128"/>
              </a:rPr>
              <a:t>ワンラブFC店（インショップ4店舗）</a:t>
            </a:r>
            <a:endParaRPr sz="1050" b="1" dirty="0">
              <a:solidFill>
                <a:srgbClr val="8C6D1F"/>
              </a:solidFill>
              <a:latin typeface="游ゴシック" panose="020B0400000000000000" pitchFamily="50" charset="-128"/>
              <a:ea typeface="游ゴシック" panose="020B0400000000000000" pitchFamily="50" charset="-128"/>
            </a:endParaRPr>
          </a:p>
        </p:txBody>
      </p:sp>
      <p:sp>
        <p:nvSpPr>
          <p:cNvPr id="12" name="Oval 40">
            <a:extLst>
              <a:ext uri="{FF2B5EF4-FFF2-40B4-BE49-F238E27FC236}">
                <a16:creationId xmlns:a16="http://schemas.microsoft.com/office/drawing/2014/main" id="{8DEB51BE-3680-D1AE-7919-C594307A4E19}"/>
              </a:ext>
            </a:extLst>
          </p:cNvPr>
          <p:cNvSpPr/>
          <p:nvPr/>
        </p:nvSpPr>
        <p:spPr>
          <a:xfrm>
            <a:off x="502920" y="4860036"/>
            <a:ext cx="118872" cy="118872"/>
          </a:xfrm>
          <a:prstGeom prst="ellipse">
            <a:avLst/>
          </a:prstGeom>
          <a:solidFill>
            <a:srgbClr val="8C6D1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latin typeface="游ゴシック" panose="020B0400000000000000" pitchFamily="50" charset="-128"/>
              <a:ea typeface="游ゴシック" panose="020B0400000000000000" pitchFamily="50" charset="-128"/>
            </a:endParaRPr>
          </a:p>
        </p:txBody>
      </p:sp>
      <p:sp>
        <p:nvSpPr>
          <p:cNvPr id="15" name="TextBox 41">
            <a:extLst>
              <a:ext uri="{FF2B5EF4-FFF2-40B4-BE49-F238E27FC236}">
                <a16:creationId xmlns:a16="http://schemas.microsoft.com/office/drawing/2014/main" id="{57E21949-3E46-F996-C081-2DF194FDCB48}"/>
              </a:ext>
            </a:extLst>
          </p:cNvPr>
          <p:cNvSpPr txBox="1"/>
          <p:nvPr/>
        </p:nvSpPr>
        <p:spPr>
          <a:xfrm>
            <a:off x="685800" y="4828032"/>
            <a:ext cx="4494275" cy="146771"/>
          </a:xfrm>
          <a:prstGeom prst="rect">
            <a:avLst/>
          </a:prstGeom>
          <a:noFill/>
        </p:spPr>
        <p:txBody>
          <a:bodyPr wrap="square" lIns="0" tIns="0" rIns="0" bIns="0" anchor="t">
            <a:spAutoFit/>
          </a:bodyPr>
          <a:lstStyle/>
          <a:p>
            <a:pPr algn="l">
              <a:lnSpc>
                <a:spcPct val="110000"/>
              </a:lnSpc>
            </a:pPr>
            <a:r>
              <a:rPr sz="900" b="0" dirty="0" err="1">
                <a:solidFill>
                  <a:srgbClr val="202020"/>
                </a:solidFill>
                <a:latin typeface="游ゴシック" panose="020B0400000000000000" pitchFamily="50" charset="-128"/>
                <a:ea typeface="游ゴシック" panose="020B0400000000000000" pitchFamily="50" charset="-128"/>
              </a:rPr>
              <a:t>FC本部の仕入・販促ノウハウを活用した安定運営</a:t>
            </a:r>
            <a:endParaRPr sz="900" b="0" dirty="0">
              <a:solidFill>
                <a:srgbClr val="202020"/>
              </a:solidFill>
              <a:latin typeface="游ゴシック" panose="020B0400000000000000" pitchFamily="50" charset="-128"/>
              <a:ea typeface="游ゴシック" panose="020B0400000000000000" pitchFamily="50" charset="-128"/>
            </a:endParaRPr>
          </a:p>
        </p:txBody>
      </p:sp>
      <p:sp>
        <p:nvSpPr>
          <p:cNvPr id="16" name="Oval 42">
            <a:extLst>
              <a:ext uri="{FF2B5EF4-FFF2-40B4-BE49-F238E27FC236}">
                <a16:creationId xmlns:a16="http://schemas.microsoft.com/office/drawing/2014/main" id="{98E069C5-603E-A4BF-8389-F6BAFCA19D59}"/>
              </a:ext>
            </a:extLst>
          </p:cNvPr>
          <p:cNvSpPr/>
          <p:nvPr/>
        </p:nvSpPr>
        <p:spPr>
          <a:xfrm>
            <a:off x="502920" y="5074920"/>
            <a:ext cx="118872" cy="118872"/>
          </a:xfrm>
          <a:prstGeom prst="ellipse">
            <a:avLst/>
          </a:prstGeom>
          <a:solidFill>
            <a:srgbClr val="8C6D1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latin typeface="游ゴシック" panose="020B0400000000000000" pitchFamily="50" charset="-128"/>
              <a:ea typeface="游ゴシック" panose="020B0400000000000000" pitchFamily="50" charset="-128"/>
            </a:endParaRPr>
          </a:p>
        </p:txBody>
      </p:sp>
      <p:sp>
        <p:nvSpPr>
          <p:cNvPr id="19" name="TextBox 43">
            <a:extLst>
              <a:ext uri="{FF2B5EF4-FFF2-40B4-BE49-F238E27FC236}">
                <a16:creationId xmlns:a16="http://schemas.microsoft.com/office/drawing/2014/main" id="{EEE56CA0-E2F3-17C4-59B0-604E31992743}"/>
              </a:ext>
            </a:extLst>
          </p:cNvPr>
          <p:cNvSpPr txBox="1"/>
          <p:nvPr/>
        </p:nvSpPr>
        <p:spPr>
          <a:xfrm>
            <a:off x="685800" y="5042916"/>
            <a:ext cx="4494275" cy="146771"/>
          </a:xfrm>
          <a:prstGeom prst="rect">
            <a:avLst/>
          </a:prstGeom>
          <a:noFill/>
        </p:spPr>
        <p:txBody>
          <a:bodyPr wrap="square" lIns="0" tIns="0" rIns="0" bIns="0" anchor="t">
            <a:spAutoFit/>
          </a:bodyPr>
          <a:lstStyle/>
          <a:p>
            <a:pPr algn="l">
              <a:lnSpc>
                <a:spcPct val="110000"/>
              </a:lnSpc>
            </a:pPr>
            <a:r>
              <a:rPr sz="900" b="0">
                <a:solidFill>
                  <a:srgbClr val="202020"/>
                </a:solidFill>
                <a:latin typeface="游ゴシック" panose="020B0400000000000000" pitchFamily="50" charset="-128"/>
                <a:ea typeface="游ゴシック" panose="020B0400000000000000" pitchFamily="50" charset="-128"/>
              </a:rPr>
              <a:t>歩合賃料のため固定費負担が小さく、損益分岐点が低い</a:t>
            </a:r>
          </a:p>
        </p:txBody>
      </p:sp>
      <p:sp>
        <p:nvSpPr>
          <p:cNvPr id="24" name="Oval 44">
            <a:extLst>
              <a:ext uri="{FF2B5EF4-FFF2-40B4-BE49-F238E27FC236}">
                <a16:creationId xmlns:a16="http://schemas.microsoft.com/office/drawing/2014/main" id="{B34C533D-8263-968E-559C-2F326720C8BB}"/>
              </a:ext>
            </a:extLst>
          </p:cNvPr>
          <p:cNvSpPr/>
          <p:nvPr/>
        </p:nvSpPr>
        <p:spPr>
          <a:xfrm>
            <a:off x="502920" y="5289804"/>
            <a:ext cx="118872" cy="118872"/>
          </a:xfrm>
          <a:prstGeom prst="ellipse">
            <a:avLst/>
          </a:prstGeom>
          <a:solidFill>
            <a:srgbClr val="8C6D1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latin typeface="游ゴシック" panose="020B0400000000000000" pitchFamily="50" charset="-128"/>
              <a:ea typeface="游ゴシック" panose="020B0400000000000000" pitchFamily="50" charset="-128"/>
            </a:endParaRPr>
          </a:p>
        </p:txBody>
      </p:sp>
      <p:sp>
        <p:nvSpPr>
          <p:cNvPr id="25" name="TextBox 45">
            <a:extLst>
              <a:ext uri="{FF2B5EF4-FFF2-40B4-BE49-F238E27FC236}">
                <a16:creationId xmlns:a16="http://schemas.microsoft.com/office/drawing/2014/main" id="{E2A879C3-4FFC-AF48-94E4-CE9E288EF308}"/>
              </a:ext>
            </a:extLst>
          </p:cNvPr>
          <p:cNvSpPr txBox="1"/>
          <p:nvPr/>
        </p:nvSpPr>
        <p:spPr>
          <a:xfrm>
            <a:off x="685800" y="5257800"/>
            <a:ext cx="4494275" cy="146771"/>
          </a:xfrm>
          <a:prstGeom prst="rect">
            <a:avLst/>
          </a:prstGeom>
          <a:noFill/>
        </p:spPr>
        <p:txBody>
          <a:bodyPr wrap="square" lIns="0" tIns="0" rIns="0" bIns="0" anchor="t">
            <a:spAutoFit/>
          </a:bodyPr>
          <a:lstStyle/>
          <a:p>
            <a:pPr algn="l">
              <a:lnSpc>
                <a:spcPct val="110000"/>
              </a:lnSpc>
            </a:pPr>
            <a:r>
              <a:rPr sz="900" b="0">
                <a:solidFill>
                  <a:srgbClr val="202020"/>
                </a:solidFill>
                <a:latin typeface="游ゴシック" panose="020B0400000000000000" pitchFamily="50" charset="-128"/>
                <a:ea typeface="游ゴシック" panose="020B0400000000000000" pitchFamily="50" charset="-128"/>
              </a:rPr>
              <a:t>商業施設の集客に依存し、売上が施設の動向に左右される</a:t>
            </a:r>
          </a:p>
        </p:txBody>
      </p:sp>
      <p:sp>
        <p:nvSpPr>
          <p:cNvPr id="26" name="Rounded Rectangle 46">
            <a:extLst>
              <a:ext uri="{FF2B5EF4-FFF2-40B4-BE49-F238E27FC236}">
                <a16:creationId xmlns:a16="http://schemas.microsoft.com/office/drawing/2014/main" id="{5335FD71-18A3-F824-F503-8F2853A254E3}"/>
              </a:ext>
            </a:extLst>
          </p:cNvPr>
          <p:cNvSpPr/>
          <p:nvPr/>
        </p:nvSpPr>
        <p:spPr>
          <a:xfrm>
            <a:off x="5362955" y="4590288"/>
            <a:ext cx="91440" cy="201168"/>
          </a:xfrm>
          <a:prstGeom prst="roundRect">
            <a:avLst>
              <a:gd name="adj" fmla="val 30000"/>
            </a:avLst>
          </a:prstGeom>
          <a:solidFill>
            <a:srgbClr val="45688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latin typeface="游ゴシック" panose="020B0400000000000000" pitchFamily="50" charset="-128"/>
              <a:ea typeface="游ゴシック" panose="020B0400000000000000" pitchFamily="50" charset="-128"/>
            </a:endParaRPr>
          </a:p>
        </p:txBody>
      </p:sp>
      <p:sp>
        <p:nvSpPr>
          <p:cNvPr id="27" name="TextBox 47">
            <a:extLst>
              <a:ext uri="{FF2B5EF4-FFF2-40B4-BE49-F238E27FC236}">
                <a16:creationId xmlns:a16="http://schemas.microsoft.com/office/drawing/2014/main" id="{FBC57924-8675-5547-DABC-25828DD8CC81}"/>
              </a:ext>
            </a:extLst>
          </p:cNvPr>
          <p:cNvSpPr txBox="1"/>
          <p:nvPr/>
        </p:nvSpPr>
        <p:spPr>
          <a:xfrm>
            <a:off x="5527547" y="4604004"/>
            <a:ext cx="4549140" cy="170816"/>
          </a:xfrm>
          <a:prstGeom prst="rect">
            <a:avLst/>
          </a:prstGeom>
          <a:noFill/>
        </p:spPr>
        <p:txBody>
          <a:bodyPr wrap="square" lIns="0" tIns="0" rIns="0" bIns="0" anchor="t">
            <a:spAutoFit/>
          </a:bodyPr>
          <a:lstStyle/>
          <a:p>
            <a:pPr algn="l">
              <a:lnSpc>
                <a:spcPct val="110000"/>
              </a:lnSpc>
            </a:pPr>
            <a:r>
              <a:rPr sz="1050" b="1">
                <a:solidFill>
                  <a:srgbClr val="45688F"/>
                </a:solidFill>
                <a:latin typeface="游ゴシック" panose="020B0400000000000000" pitchFamily="50" charset="-128"/>
                <a:ea typeface="游ゴシック" panose="020B0400000000000000" pitchFamily="50" charset="-128"/>
              </a:rPr>
              <a:t>おっきなもふもふ応援隊（大型犬専門・路面店2店舗）</a:t>
            </a:r>
          </a:p>
        </p:txBody>
      </p:sp>
      <p:sp>
        <p:nvSpPr>
          <p:cNvPr id="28" name="Oval 48">
            <a:extLst>
              <a:ext uri="{FF2B5EF4-FFF2-40B4-BE49-F238E27FC236}">
                <a16:creationId xmlns:a16="http://schemas.microsoft.com/office/drawing/2014/main" id="{8F31C366-DA0F-D824-F8E8-446A91205D67}"/>
              </a:ext>
            </a:extLst>
          </p:cNvPr>
          <p:cNvSpPr/>
          <p:nvPr/>
        </p:nvSpPr>
        <p:spPr>
          <a:xfrm>
            <a:off x="5381243" y="4860036"/>
            <a:ext cx="118872" cy="118872"/>
          </a:xfrm>
          <a:prstGeom prst="ellipse">
            <a:avLst/>
          </a:prstGeom>
          <a:solidFill>
            <a:srgbClr val="45688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latin typeface="游ゴシック" panose="020B0400000000000000" pitchFamily="50" charset="-128"/>
              <a:ea typeface="游ゴシック" panose="020B0400000000000000" pitchFamily="50" charset="-128"/>
            </a:endParaRPr>
          </a:p>
        </p:txBody>
      </p:sp>
      <p:sp>
        <p:nvSpPr>
          <p:cNvPr id="29" name="TextBox 49">
            <a:extLst>
              <a:ext uri="{FF2B5EF4-FFF2-40B4-BE49-F238E27FC236}">
                <a16:creationId xmlns:a16="http://schemas.microsoft.com/office/drawing/2014/main" id="{E74629B7-9A67-611B-D956-1E6B1F4A5977}"/>
              </a:ext>
            </a:extLst>
          </p:cNvPr>
          <p:cNvSpPr txBox="1"/>
          <p:nvPr/>
        </p:nvSpPr>
        <p:spPr>
          <a:xfrm>
            <a:off x="5564123" y="4828032"/>
            <a:ext cx="4494275" cy="146771"/>
          </a:xfrm>
          <a:prstGeom prst="rect">
            <a:avLst/>
          </a:prstGeom>
          <a:noFill/>
        </p:spPr>
        <p:txBody>
          <a:bodyPr wrap="square" lIns="0" tIns="0" rIns="0" bIns="0" anchor="t">
            <a:spAutoFit/>
          </a:bodyPr>
          <a:lstStyle/>
          <a:p>
            <a:pPr algn="l">
              <a:lnSpc>
                <a:spcPct val="110000"/>
              </a:lnSpc>
            </a:pPr>
            <a:r>
              <a:rPr sz="900" b="0" dirty="0" err="1">
                <a:solidFill>
                  <a:srgbClr val="202020"/>
                </a:solidFill>
                <a:latin typeface="游ゴシック" panose="020B0400000000000000" pitchFamily="50" charset="-128"/>
                <a:ea typeface="游ゴシック" panose="020B0400000000000000" pitchFamily="50" charset="-128"/>
              </a:rPr>
              <a:t>大型犬専門という差別化により価格競争を回避</a:t>
            </a:r>
            <a:endParaRPr sz="900" b="0" dirty="0">
              <a:solidFill>
                <a:srgbClr val="202020"/>
              </a:solidFill>
              <a:latin typeface="游ゴシック" panose="020B0400000000000000" pitchFamily="50" charset="-128"/>
              <a:ea typeface="游ゴシック" panose="020B0400000000000000" pitchFamily="50" charset="-128"/>
            </a:endParaRPr>
          </a:p>
        </p:txBody>
      </p:sp>
      <p:sp>
        <p:nvSpPr>
          <p:cNvPr id="30" name="Oval 50">
            <a:extLst>
              <a:ext uri="{FF2B5EF4-FFF2-40B4-BE49-F238E27FC236}">
                <a16:creationId xmlns:a16="http://schemas.microsoft.com/office/drawing/2014/main" id="{720DEF93-6A39-F6DC-F0BF-83BF83B2F8EA}"/>
              </a:ext>
            </a:extLst>
          </p:cNvPr>
          <p:cNvSpPr/>
          <p:nvPr/>
        </p:nvSpPr>
        <p:spPr>
          <a:xfrm>
            <a:off x="5381243" y="5074920"/>
            <a:ext cx="118872" cy="118872"/>
          </a:xfrm>
          <a:prstGeom prst="ellipse">
            <a:avLst/>
          </a:prstGeom>
          <a:solidFill>
            <a:srgbClr val="45688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latin typeface="游ゴシック" panose="020B0400000000000000" pitchFamily="50" charset="-128"/>
              <a:ea typeface="游ゴシック" panose="020B0400000000000000" pitchFamily="50" charset="-128"/>
            </a:endParaRPr>
          </a:p>
        </p:txBody>
      </p:sp>
      <p:sp>
        <p:nvSpPr>
          <p:cNvPr id="31" name="TextBox 51">
            <a:extLst>
              <a:ext uri="{FF2B5EF4-FFF2-40B4-BE49-F238E27FC236}">
                <a16:creationId xmlns:a16="http://schemas.microsoft.com/office/drawing/2014/main" id="{026AD4A1-8945-559A-A69C-1FECA8EFD7B7}"/>
              </a:ext>
            </a:extLst>
          </p:cNvPr>
          <p:cNvSpPr txBox="1"/>
          <p:nvPr/>
        </p:nvSpPr>
        <p:spPr>
          <a:xfrm>
            <a:off x="5564123" y="5042916"/>
            <a:ext cx="4494275" cy="146771"/>
          </a:xfrm>
          <a:prstGeom prst="rect">
            <a:avLst/>
          </a:prstGeom>
          <a:noFill/>
        </p:spPr>
        <p:txBody>
          <a:bodyPr wrap="square" lIns="0" tIns="0" rIns="0" bIns="0" anchor="t">
            <a:spAutoFit/>
          </a:bodyPr>
          <a:lstStyle/>
          <a:p>
            <a:pPr algn="l">
              <a:lnSpc>
                <a:spcPct val="110000"/>
              </a:lnSpc>
            </a:pPr>
            <a:r>
              <a:rPr sz="900" b="0" dirty="0" err="1">
                <a:solidFill>
                  <a:srgbClr val="202020"/>
                </a:solidFill>
                <a:latin typeface="游ゴシック" panose="020B0400000000000000" pitchFamily="50" charset="-128"/>
                <a:ea typeface="游ゴシック" panose="020B0400000000000000" pitchFamily="50" charset="-128"/>
              </a:rPr>
              <a:t>固定賃料のため損益分岐点は高いが、超過分は利益に直結</a:t>
            </a:r>
            <a:endParaRPr sz="900" b="0" dirty="0">
              <a:solidFill>
                <a:srgbClr val="202020"/>
              </a:solidFill>
              <a:latin typeface="游ゴシック" panose="020B0400000000000000" pitchFamily="50" charset="-128"/>
              <a:ea typeface="游ゴシック" panose="020B0400000000000000" pitchFamily="50" charset="-128"/>
            </a:endParaRPr>
          </a:p>
        </p:txBody>
      </p:sp>
      <p:sp>
        <p:nvSpPr>
          <p:cNvPr id="32" name="Oval 52">
            <a:extLst>
              <a:ext uri="{FF2B5EF4-FFF2-40B4-BE49-F238E27FC236}">
                <a16:creationId xmlns:a16="http://schemas.microsoft.com/office/drawing/2014/main" id="{CA2BB05A-7128-4211-CE64-94054AE15BEF}"/>
              </a:ext>
            </a:extLst>
          </p:cNvPr>
          <p:cNvSpPr/>
          <p:nvPr/>
        </p:nvSpPr>
        <p:spPr>
          <a:xfrm>
            <a:off x="5381243" y="5289804"/>
            <a:ext cx="118872" cy="118872"/>
          </a:xfrm>
          <a:prstGeom prst="ellipse">
            <a:avLst/>
          </a:prstGeom>
          <a:solidFill>
            <a:srgbClr val="45688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latin typeface="游ゴシック" panose="020B0400000000000000" pitchFamily="50" charset="-128"/>
              <a:ea typeface="游ゴシック" panose="020B0400000000000000" pitchFamily="50" charset="-128"/>
            </a:endParaRPr>
          </a:p>
        </p:txBody>
      </p:sp>
      <p:sp>
        <p:nvSpPr>
          <p:cNvPr id="33" name="TextBox 53">
            <a:extLst>
              <a:ext uri="{FF2B5EF4-FFF2-40B4-BE49-F238E27FC236}">
                <a16:creationId xmlns:a16="http://schemas.microsoft.com/office/drawing/2014/main" id="{318FBD4F-0805-AA2E-CE43-1D1CC4B21896}"/>
              </a:ext>
            </a:extLst>
          </p:cNvPr>
          <p:cNvSpPr txBox="1"/>
          <p:nvPr/>
        </p:nvSpPr>
        <p:spPr>
          <a:xfrm>
            <a:off x="5564123" y="5257800"/>
            <a:ext cx="4494275" cy="146771"/>
          </a:xfrm>
          <a:prstGeom prst="rect">
            <a:avLst/>
          </a:prstGeom>
          <a:noFill/>
        </p:spPr>
        <p:txBody>
          <a:bodyPr wrap="square" lIns="0" tIns="0" rIns="0" bIns="0" anchor="t">
            <a:spAutoFit/>
          </a:bodyPr>
          <a:lstStyle/>
          <a:p>
            <a:pPr algn="l">
              <a:lnSpc>
                <a:spcPct val="110000"/>
              </a:lnSpc>
            </a:pPr>
            <a:r>
              <a:rPr sz="900" b="0" dirty="0" err="1">
                <a:solidFill>
                  <a:srgbClr val="202020"/>
                </a:solidFill>
                <a:latin typeface="游ゴシック" panose="020B0400000000000000" pitchFamily="50" charset="-128"/>
                <a:ea typeface="游ゴシック" panose="020B0400000000000000" pitchFamily="50" charset="-128"/>
              </a:rPr>
              <a:t>ワンラブFC加盟店で大型犬専門店を運営するのは当社のみ</a:t>
            </a:r>
            <a:endParaRPr sz="900" b="0" dirty="0">
              <a:solidFill>
                <a:srgbClr val="202020"/>
              </a:solidFill>
              <a:latin typeface="游ゴシック" panose="020B0400000000000000" pitchFamily="50" charset="-128"/>
              <a:ea typeface="游ゴシック" panose="020B0400000000000000" pitchFamily="50" charset="-128"/>
            </a:endParaRPr>
          </a:p>
        </p:txBody>
      </p:sp>
      <p:sp>
        <p:nvSpPr>
          <p:cNvPr id="34" name="Rounded Rectangle 54">
            <a:extLst>
              <a:ext uri="{FF2B5EF4-FFF2-40B4-BE49-F238E27FC236}">
                <a16:creationId xmlns:a16="http://schemas.microsoft.com/office/drawing/2014/main" id="{E150036B-D23E-794A-D996-32B9511B5CC3}"/>
              </a:ext>
            </a:extLst>
          </p:cNvPr>
          <p:cNvSpPr/>
          <p:nvPr/>
        </p:nvSpPr>
        <p:spPr>
          <a:xfrm>
            <a:off x="484632" y="5468112"/>
            <a:ext cx="9592056" cy="402336"/>
          </a:xfrm>
          <a:prstGeom prst="roundRect">
            <a:avLst>
              <a:gd name="adj" fmla="val 1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latin typeface="游ゴシック" panose="020B0400000000000000" pitchFamily="50" charset="-128"/>
              <a:ea typeface="游ゴシック" panose="020B0400000000000000" pitchFamily="50" charset="-128"/>
            </a:endParaRPr>
          </a:p>
        </p:txBody>
      </p:sp>
      <p:sp>
        <p:nvSpPr>
          <p:cNvPr id="36" name="TextBox 55">
            <a:extLst>
              <a:ext uri="{FF2B5EF4-FFF2-40B4-BE49-F238E27FC236}">
                <a16:creationId xmlns:a16="http://schemas.microsoft.com/office/drawing/2014/main" id="{36EBAA10-3303-6F78-F802-F25ABD66B499}"/>
              </a:ext>
            </a:extLst>
          </p:cNvPr>
          <p:cNvSpPr txBox="1"/>
          <p:nvPr/>
        </p:nvSpPr>
        <p:spPr>
          <a:xfrm>
            <a:off x="630936" y="5514879"/>
            <a:ext cx="9299448" cy="308802"/>
          </a:xfrm>
          <a:prstGeom prst="rect">
            <a:avLst/>
          </a:prstGeom>
          <a:noFill/>
        </p:spPr>
        <p:txBody>
          <a:bodyPr wrap="square" lIns="0" tIns="0" rIns="0" bIns="0" anchor="ctr">
            <a:spAutoFit/>
          </a:bodyPr>
          <a:lstStyle/>
          <a:p>
            <a:pPr algn="l">
              <a:lnSpc>
                <a:spcPct val="114000"/>
              </a:lnSpc>
            </a:pPr>
            <a:r>
              <a:rPr sz="900" b="0" dirty="0">
                <a:solidFill>
                  <a:srgbClr val="1F3864"/>
                </a:solidFill>
                <a:latin typeface="游ゴシック" panose="020B0400000000000000" pitchFamily="50" charset="-128"/>
                <a:ea typeface="游ゴシック" panose="020B0400000000000000" pitchFamily="50" charset="-128"/>
              </a:rPr>
              <a:t>2つの業態は代替関係ではなく、FC店で安定的な基盤を確保しつつ、自社ブランドの大型犬専門店で成長を取りに行く補完関係にある。進行期は不採算のFC店2店舗を撤退し、残る4店舗はいずれも店舗貢献利益を確保している。</a:t>
            </a:r>
          </a:p>
        </p:txBody>
      </p:sp>
      <p:sp>
        <p:nvSpPr>
          <p:cNvPr id="37" name="Rounded Rectangle 56">
            <a:extLst>
              <a:ext uri="{FF2B5EF4-FFF2-40B4-BE49-F238E27FC236}">
                <a16:creationId xmlns:a16="http://schemas.microsoft.com/office/drawing/2014/main" id="{83C69019-50CA-ED75-8099-0B4963A8A8BF}"/>
              </a:ext>
            </a:extLst>
          </p:cNvPr>
          <p:cNvSpPr/>
          <p:nvPr/>
        </p:nvSpPr>
        <p:spPr>
          <a:xfrm>
            <a:off x="320040" y="6053328"/>
            <a:ext cx="9921240" cy="841248"/>
          </a:xfrm>
          <a:prstGeom prst="roundRect">
            <a:avLst>
              <a:gd name="adj" fmla="val 6000"/>
            </a:avLst>
          </a:prstGeom>
          <a:solidFill>
            <a:srgbClr val="FFFFFF"/>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latin typeface="游ゴシック" panose="020B0400000000000000" pitchFamily="50" charset="-128"/>
              <a:ea typeface="游ゴシック" panose="020B0400000000000000" pitchFamily="50" charset="-128"/>
            </a:endParaRPr>
          </a:p>
        </p:txBody>
      </p:sp>
      <p:sp>
        <p:nvSpPr>
          <p:cNvPr id="38" name="Rounded Rectangle 57">
            <a:extLst>
              <a:ext uri="{FF2B5EF4-FFF2-40B4-BE49-F238E27FC236}">
                <a16:creationId xmlns:a16="http://schemas.microsoft.com/office/drawing/2014/main" id="{66FA17BA-D5DF-6C2E-C518-8FB15E1075A8}"/>
              </a:ext>
            </a:extLst>
          </p:cNvPr>
          <p:cNvSpPr/>
          <p:nvPr/>
        </p:nvSpPr>
        <p:spPr>
          <a:xfrm>
            <a:off x="320040" y="6053328"/>
            <a:ext cx="1417320" cy="841248"/>
          </a:xfrm>
          <a:prstGeom prst="roundRect">
            <a:avLst>
              <a:gd name="adj" fmla="val 6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latin typeface="游ゴシック" panose="020B0400000000000000" pitchFamily="50" charset="-128"/>
              <a:ea typeface="游ゴシック" panose="020B0400000000000000" pitchFamily="50" charset="-128"/>
            </a:endParaRPr>
          </a:p>
        </p:txBody>
      </p:sp>
      <p:sp>
        <p:nvSpPr>
          <p:cNvPr id="39" name="Rectangle 58">
            <a:extLst>
              <a:ext uri="{FF2B5EF4-FFF2-40B4-BE49-F238E27FC236}">
                <a16:creationId xmlns:a16="http://schemas.microsoft.com/office/drawing/2014/main" id="{2B3003D2-9472-9753-B838-77024EE065B8}"/>
              </a:ext>
            </a:extLst>
          </p:cNvPr>
          <p:cNvSpPr/>
          <p:nvPr/>
        </p:nvSpPr>
        <p:spPr>
          <a:xfrm>
            <a:off x="1600200" y="6053328"/>
            <a:ext cx="137160" cy="84124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游ゴシック" panose="020B0400000000000000" pitchFamily="50" charset="-128"/>
              <a:ea typeface="游ゴシック" panose="020B0400000000000000" pitchFamily="50" charset="-128"/>
            </a:endParaRPr>
          </a:p>
        </p:txBody>
      </p:sp>
      <p:sp>
        <p:nvSpPr>
          <p:cNvPr id="40" name="TextBox 59">
            <a:extLst>
              <a:ext uri="{FF2B5EF4-FFF2-40B4-BE49-F238E27FC236}">
                <a16:creationId xmlns:a16="http://schemas.microsoft.com/office/drawing/2014/main" id="{8D96FFF6-6050-9068-0324-2359CE35C74F}"/>
              </a:ext>
            </a:extLst>
          </p:cNvPr>
          <p:cNvSpPr txBox="1"/>
          <p:nvPr/>
        </p:nvSpPr>
        <p:spPr>
          <a:xfrm>
            <a:off x="411479" y="6368218"/>
            <a:ext cx="1271016" cy="211468"/>
          </a:xfrm>
          <a:prstGeom prst="rect">
            <a:avLst/>
          </a:prstGeom>
          <a:noFill/>
        </p:spPr>
        <p:txBody>
          <a:bodyPr wrap="square" lIns="0" tIns="0" rIns="0" bIns="0" anchor="ctr">
            <a:spAutoFit/>
          </a:bodyPr>
          <a:lstStyle/>
          <a:p>
            <a:pPr algn="ctr">
              <a:lnSpc>
                <a:spcPct val="110000"/>
              </a:lnSpc>
            </a:pPr>
            <a:r>
              <a:rPr sz="1300" b="1">
                <a:solidFill>
                  <a:srgbClr val="FFFFFF"/>
                </a:solidFill>
                <a:latin typeface="游ゴシック" panose="020B0400000000000000" pitchFamily="50" charset="-128"/>
                <a:ea typeface="游ゴシック" panose="020B0400000000000000" pitchFamily="50" charset="-128"/>
              </a:rPr>
              <a:t>ポイント</a:t>
            </a:r>
          </a:p>
        </p:txBody>
      </p:sp>
      <p:sp>
        <p:nvSpPr>
          <p:cNvPr id="41" name="Oval 60">
            <a:extLst>
              <a:ext uri="{FF2B5EF4-FFF2-40B4-BE49-F238E27FC236}">
                <a16:creationId xmlns:a16="http://schemas.microsoft.com/office/drawing/2014/main" id="{8016429C-7314-45F3-F0A9-6686F6C91103}"/>
              </a:ext>
            </a:extLst>
          </p:cNvPr>
          <p:cNvSpPr/>
          <p:nvPr/>
        </p:nvSpPr>
        <p:spPr>
          <a:xfrm>
            <a:off x="1883664" y="6355080"/>
            <a:ext cx="237744" cy="237744"/>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游ゴシック" panose="020B0400000000000000" pitchFamily="50" charset="-128"/>
                <a:ea typeface="游ゴシック" panose="020B0400000000000000" pitchFamily="50" charset="-128"/>
              </a:rPr>
              <a:t>✓</a:t>
            </a:r>
          </a:p>
        </p:txBody>
      </p:sp>
      <p:sp>
        <p:nvSpPr>
          <p:cNvPr id="42" name="TextBox 61">
            <a:extLst>
              <a:ext uri="{FF2B5EF4-FFF2-40B4-BE49-F238E27FC236}">
                <a16:creationId xmlns:a16="http://schemas.microsoft.com/office/drawing/2014/main" id="{C35530C5-E555-7AE5-C9FF-0747E7314549}"/>
              </a:ext>
            </a:extLst>
          </p:cNvPr>
          <p:cNvSpPr txBox="1"/>
          <p:nvPr/>
        </p:nvSpPr>
        <p:spPr>
          <a:xfrm>
            <a:off x="2194560" y="6319582"/>
            <a:ext cx="2285999" cy="308739"/>
          </a:xfrm>
          <a:prstGeom prst="rect">
            <a:avLst/>
          </a:prstGeom>
          <a:noFill/>
        </p:spPr>
        <p:txBody>
          <a:bodyPr wrap="square" lIns="0" tIns="0" rIns="0" bIns="0" anchor="ctr">
            <a:spAutoFit/>
          </a:bodyPr>
          <a:lstStyle/>
          <a:p>
            <a:pPr algn="l">
              <a:lnSpc>
                <a:spcPct val="110000"/>
              </a:lnSpc>
            </a:pPr>
            <a:r>
              <a:rPr sz="930" b="1" dirty="0" err="1">
                <a:solidFill>
                  <a:srgbClr val="202020"/>
                </a:solidFill>
                <a:latin typeface="游ゴシック" panose="020B0400000000000000" pitchFamily="50" charset="-128"/>
                <a:ea typeface="游ゴシック" panose="020B0400000000000000" pitchFamily="50" charset="-128"/>
              </a:rPr>
              <a:t>FC店4店舗の店舗貢献利益率は35.1%。
歩合賃料で固定費負担が軽い</a:t>
            </a:r>
          </a:p>
        </p:txBody>
      </p:sp>
      <p:sp>
        <p:nvSpPr>
          <p:cNvPr id="43" name="Oval 62">
            <a:extLst>
              <a:ext uri="{FF2B5EF4-FFF2-40B4-BE49-F238E27FC236}">
                <a16:creationId xmlns:a16="http://schemas.microsoft.com/office/drawing/2014/main" id="{BD6F58C2-3984-2CA7-FF48-CAFEA40424CA}"/>
              </a:ext>
            </a:extLst>
          </p:cNvPr>
          <p:cNvSpPr/>
          <p:nvPr/>
        </p:nvSpPr>
        <p:spPr>
          <a:xfrm>
            <a:off x="4718304" y="6355080"/>
            <a:ext cx="237744" cy="237744"/>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游ゴシック" panose="020B0400000000000000" pitchFamily="50" charset="-128"/>
                <a:ea typeface="游ゴシック" panose="020B0400000000000000" pitchFamily="50" charset="-128"/>
              </a:rPr>
              <a:t>✓</a:t>
            </a:r>
          </a:p>
        </p:txBody>
      </p:sp>
      <p:sp>
        <p:nvSpPr>
          <p:cNvPr id="44" name="TextBox 63">
            <a:extLst>
              <a:ext uri="{FF2B5EF4-FFF2-40B4-BE49-F238E27FC236}">
                <a16:creationId xmlns:a16="http://schemas.microsoft.com/office/drawing/2014/main" id="{81B3B557-23D3-8F18-2F97-30A34D909D0B}"/>
              </a:ext>
            </a:extLst>
          </p:cNvPr>
          <p:cNvSpPr txBox="1"/>
          <p:nvPr/>
        </p:nvSpPr>
        <p:spPr>
          <a:xfrm>
            <a:off x="5029200" y="6319582"/>
            <a:ext cx="2285999" cy="308739"/>
          </a:xfrm>
          <a:prstGeom prst="rect">
            <a:avLst/>
          </a:prstGeom>
          <a:noFill/>
        </p:spPr>
        <p:txBody>
          <a:bodyPr wrap="square" lIns="0" tIns="0" rIns="0" bIns="0" anchor="ctr">
            <a:spAutoFit/>
          </a:bodyPr>
          <a:lstStyle/>
          <a:p>
            <a:pPr algn="l">
              <a:lnSpc>
                <a:spcPct val="110000"/>
              </a:lnSpc>
            </a:pPr>
            <a:r>
              <a:rPr sz="930" b="1" dirty="0" err="1">
                <a:solidFill>
                  <a:srgbClr val="202020"/>
                </a:solidFill>
                <a:latin typeface="游ゴシック" panose="020B0400000000000000" pitchFamily="50" charset="-128"/>
                <a:ea typeface="游ゴシック" panose="020B0400000000000000" pitchFamily="50" charset="-128"/>
              </a:rPr>
              <a:t>大型犬専門2店舗の店舗貢献利益率は
44.8%と高く、成長の牽引役</a:t>
            </a:r>
          </a:p>
        </p:txBody>
      </p:sp>
      <p:cxnSp>
        <p:nvCxnSpPr>
          <p:cNvPr id="45" name="Connector 64">
            <a:extLst>
              <a:ext uri="{FF2B5EF4-FFF2-40B4-BE49-F238E27FC236}">
                <a16:creationId xmlns:a16="http://schemas.microsoft.com/office/drawing/2014/main" id="{5E5E6452-2E67-5655-FF63-784F5F275FE4}"/>
              </a:ext>
            </a:extLst>
          </p:cNvPr>
          <p:cNvCxnSpPr/>
          <p:nvPr/>
        </p:nvCxnSpPr>
        <p:spPr>
          <a:xfrm>
            <a:off x="4572000" y="6172200"/>
            <a:ext cx="0" cy="603504"/>
          </a:xfrm>
          <a:prstGeom prst="line">
            <a:avLst/>
          </a:prstGeom>
          <a:ln w="9525">
            <a:solidFill>
              <a:srgbClr val="C8D2E0"/>
            </a:solidFill>
            <a:prstDash val="dash"/>
          </a:ln>
        </p:spPr>
        <p:style>
          <a:lnRef idx="2">
            <a:schemeClr val="accent1"/>
          </a:lnRef>
          <a:fillRef idx="0">
            <a:schemeClr val="accent1"/>
          </a:fillRef>
          <a:effectRef idx="1">
            <a:schemeClr val="accent1"/>
          </a:effectRef>
          <a:fontRef idx="minor">
            <a:schemeClr val="tx1"/>
          </a:fontRef>
        </p:style>
      </p:cxnSp>
      <p:sp>
        <p:nvSpPr>
          <p:cNvPr id="46" name="Oval 65">
            <a:extLst>
              <a:ext uri="{FF2B5EF4-FFF2-40B4-BE49-F238E27FC236}">
                <a16:creationId xmlns:a16="http://schemas.microsoft.com/office/drawing/2014/main" id="{7366481F-2D76-A1AC-9531-E59FF08F3A2F}"/>
              </a:ext>
            </a:extLst>
          </p:cNvPr>
          <p:cNvSpPr/>
          <p:nvPr/>
        </p:nvSpPr>
        <p:spPr>
          <a:xfrm>
            <a:off x="7552944" y="6355080"/>
            <a:ext cx="237744" cy="237744"/>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游ゴシック" panose="020B0400000000000000" pitchFamily="50" charset="-128"/>
                <a:ea typeface="游ゴシック" panose="020B0400000000000000" pitchFamily="50" charset="-128"/>
              </a:rPr>
              <a:t>✓</a:t>
            </a:r>
          </a:p>
        </p:txBody>
      </p:sp>
      <p:sp>
        <p:nvSpPr>
          <p:cNvPr id="47" name="TextBox 66">
            <a:extLst>
              <a:ext uri="{FF2B5EF4-FFF2-40B4-BE49-F238E27FC236}">
                <a16:creationId xmlns:a16="http://schemas.microsoft.com/office/drawing/2014/main" id="{C943CBED-9BB5-78AC-8AAA-C3B6EC64B0C8}"/>
              </a:ext>
            </a:extLst>
          </p:cNvPr>
          <p:cNvSpPr txBox="1"/>
          <p:nvPr/>
        </p:nvSpPr>
        <p:spPr>
          <a:xfrm>
            <a:off x="7863840" y="6319582"/>
            <a:ext cx="2285999" cy="308739"/>
          </a:xfrm>
          <a:prstGeom prst="rect">
            <a:avLst/>
          </a:prstGeom>
          <a:noFill/>
        </p:spPr>
        <p:txBody>
          <a:bodyPr wrap="square" lIns="0" tIns="0" rIns="0" bIns="0" anchor="ctr">
            <a:spAutoFit/>
          </a:bodyPr>
          <a:lstStyle/>
          <a:p>
            <a:pPr algn="l">
              <a:lnSpc>
                <a:spcPct val="110000"/>
              </a:lnSpc>
            </a:pPr>
            <a:r>
              <a:rPr sz="930" b="1" dirty="0" err="1">
                <a:solidFill>
                  <a:srgbClr val="202020"/>
                </a:solidFill>
                <a:latin typeface="游ゴシック" panose="020B0400000000000000" pitchFamily="50" charset="-128"/>
                <a:ea typeface="游ゴシック" panose="020B0400000000000000" pitchFamily="50" charset="-128"/>
              </a:rPr>
              <a:t>ワンラブFC加盟店で大型犬専門店を
運営するのは当社のみ（ヒアリング）</a:t>
            </a:r>
          </a:p>
        </p:txBody>
      </p:sp>
      <p:cxnSp>
        <p:nvCxnSpPr>
          <p:cNvPr id="48" name="Connector 67">
            <a:extLst>
              <a:ext uri="{FF2B5EF4-FFF2-40B4-BE49-F238E27FC236}">
                <a16:creationId xmlns:a16="http://schemas.microsoft.com/office/drawing/2014/main" id="{2AD97C75-BC44-BF99-6DCE-43556C2B9203}"/>
              </a:ext>
            </a:extLst>
          </p:cNvPr>
          <p:cNvCxnSpPr/>
          <p:nvPr/>
        </p:nvCxnSpPr>
        <p:spPr>
          <a:xfrm>
            <a:off x="7406640" y="6172200"/>
            <a:ext cx="0" cy="603504"/>
          </a:xfrm>
          <a:prstGeom prst="line">
            <a:avLst/>
          </a:prstGeom>
          <a:ln w="9525">
            <a:solidFill>
              <a:srgbClr val="C8D2E0"/>
            </a:solidFill>
            <a:prstDash val="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914113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正方形/長方形 15">
            <a:extLst>
              <a:ext uri="{FF2B5EF4-FFF2-40B4-BE49-F238E27FC236}">
                <a16:creationId xmlns:a16="http://schemas.microsoft.com/office/drawing/2014/main" id="{C40E5E72-4BCD-E861-A1A2-154E947EEC6C}"/>
              </a:ext>
            </a:extLst>
          </p:cNvPr>
          <p:cNvSpPr/>
          <p:nvPr/>
        </p:nvSpPr>
        <p:spPr>
          <a:xfrm>
            <a:off x="449262" y="1127688"/>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sp>
        <p:nvSpPr>
          <p:cNvPr id="14" name="テキスト ボックス 13">
            <a:extLst>
              <a:ext uri="{FF2B5EF4-FFF2-40B4-BE49-F238E27FC236}">
                <a16:creationId xmlns:a16="http://schemas.microsoft.com/office/drawing/2014/main" id="{E4EAC5C5-4B19-168C-44C3-D63B9FCB0292}"/>
              </a:ext>
            </a:extLst>
          </p:cNvPr>
          <p:cNvSpPr txBox="1"/>
          <p:nvPr/>
        </p:nvSpPr>
        <p:spPr>
          <a:xfrm>
            <a:off x="2114550" y="1404897"/>
            <a:ext cx="7768831" cy="1101584"/>
          </a:xfrm>
          <a:prstGeom prst="rect">
            <a:avLst/>
          </a:prstGeom>
          <a:noFill/>
        </p:spPr>
        <p:txBody>
          <a:bodyPr wrap="square" lIns="0" tIns="0" rIns="0" bIns="0" rtlCol="0" anchor="ctr">
            <a:spAutoFit/>
          </a:bodyPr>
          <a:lstStyle/>
          <a:p>
            <a:pPr>
              <a:lnSpc>
                <a:spcPct val="120000"/>
              </a:lnSpc>
              <a:spcAft>
                <a:spcPts val="600"/>
              </a:spcAft>
            </a:pPr>
            <a:r>
              <a:rPr lang="ja-JP" altLang="en-US" sz="1600" b="1" spc="30" dirty="0">
                <a:solidFill>
                  <a:sysClr val="windowText" lastClr="000000"/>
                </a:solidFill>
                <a:latin typeface="+mj-ea"/>
                <a:ea typeface="+mj-ea"/>
              </a:rPr>
              <a:t>大型犬専門店という差別化ポジション</a:t>
            </a:r>
            <a:endParaRPr lang="en-US" altLang="ja-JP" sz="1600" b="1" spc="30" dirty="0">
              <a:solidFill>
                <a:sysClr val="windowText" lastClr="000000"/>
              </a:solidFill>
              <a:latin typeface="+mj-ea"/>
              <a:ea typeface="+mj-ea"/>
            </a:endParaRPr>
          </a:p>
          <a:p>
            <a:pPr>
              <a:lnSpc>
                <a:spcPct val="120000"/>
              </a:lnSpc>
              <a:spcAft>
                <a:spcPts val="600"/>
              </a:spcAft>
            </a:pPr>
            <a:r>
              <a:rPr lang="ja-JP" altLang="en-US" sz="1600" b="1" spc="30" dirty="0">
                <a:solidFill>
                  <a:sysClr val="windowText" lastClr="000000"/>
                </a:solidFill>
                <a:latin typeface="+mj-ea"/>
                <a:ea typeface="+mj-ea"/>
              </a:rPr>
              <a:t>ワンラブFC加盟店の中で大型犬専門店を運営するのは当社のみ（ヒアリング）。大型犬は生体単価が高く、購買層も景気変動の影響を受けにくい高所得層が中心。進行期7か月の店舗貢献利益率は大型犬専門2店舗で44.8%と、FC加盟4店舗の35.1%を上回る。</a:t>
            </a:r>
            <a:endParaRPr lang="en-US" altLang="ja-JP" sz="1600" b="1" spc="30" dirty="0">
              <a:solidFill>
                <a:sysClr val="windowText" lastClr="000000"/>
              </a:solidFill>
              <a:latin typeface="+mj-ea"/>
              <a:ea typeface="+mj-ea"/>
            </a:endParaRPr>
          </a:p>
        </p:txBody>
      </p:sp>
      <p:sp>
        <p:nvSpPr>
          <p:cNvPr id="3" name="タイトル 2">
            <a:extLst>
              <a:ext uri="{FF2B5EF4-FFF2-40B4-BE49-F238E27FC236}">
                <a16:creationId xmlns:a16="http://schemas.microsoft.com/office/drawing/2014/main" id="{3DD08FDB-DE43-2BEC-7657-AFC65253B448}"/>
              </a:ext>
            </a:extLst>
          </p:cNvPr>
          <p:cNvSpPr>
            <a:spLocks noGrp="1"/>
          </p:cNvSpPr>
          <p:nvPr>
            <p:ph type="ctrTitle"/>
          </p:nvPr>
        </p:nvSpPr>
        <p:spPr/>
        <p:txBody>
          <a:bodyPr/>
          <a:lstStyle/>
          <a:p>
            <a:r>
              <a:rPr lang="ja-JP" altLang="en-US" dirty="0"/>
              <a:t>特徴、強み、成長性</a:t>
            </a:r>
          </a:p>
        </p:txBody>
      </p:sp>
      <p:sp>
        <p:nvSpPr>
          <p:cNvPr id="2" name="タイトル 1">
            <a:extLst>
              <a:ext uri="{FF2B5EF4-FFF2-40B4-BE49-F238E27FC236}">
                <a16:creationId xmlns:a16="http://schemas.microsoft.com/office/drawing/2014/main" id="{0A4FF749-E8A2-9754-A990-0C08664F52BF}"/>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spc="0" dirty="0"/>
              <a:t>事業概要</a:t>
            </a:r>
          </a:p>
        </p:txBody>
      </p:sp>
      <p:cxnSp>
        <p:nvCxnSpPr>
          <p:cNvPr id="4" name="直線コネクタ 3">
            <a:extLst>
              <a:ext uri="{FF2B5EF4-FFF2-40B4-BE49-F238E27FC236}">
                <a16:creationId xmlns:a16="http://schemas.microsoft.com/office/drawing/2014/main" id="{15777771-F922-A7C4-D3CB-74B58B03FF57}"/>
              </a:ext>
            </a:extLst>
          </p:cNvPr>
          <p:cNvCxnSpPr>
            <a:cxnSpLocks/>
          </p:cNvCxnSpPr>
          <p:nvPr/>
        </p:nvCxnSpPr>
        <p:spPr>
          <a:xfrm>
            <a:off x="449263" y="1123117"/>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12" name="正方形/長方形 11">
            <a:extLst>
              <a:ext uri="{FF2B5EF4-FFF2-40B4-BE49-F238E27FC236}">
                <a16:creationId xmlns:a16="http://schemas.microsoft.com/office/drawing/2014/main" id="{4D234CEC-3A04-0F25-446A-5400388CA526}"/>
              </a:ext>
            </a:extLst>
          </p:cNvPr>
          <p:cNvSpPr/>
          <p:nvPr/>
        </p:nvSpPr>
        <p:spPr>
          <a:xfrm>
            <a:off x="647115" y="1469688"/>
            <a:ext cx="1191210"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ja-JP" altLang="en-US" b="1" spc="70" dirty="0">
                <a:solidFill>
                  <a:schemeClr val="bg1"/>
                </a:solidFill>
                <a:latin typeface="+mj-ea"/>
                <a:ea typeface="+mj-ea"/>
              </a:rPr>
              <a:t>特徴</a:t>
            </a:r>
            <a:endParaRPr lang="en-US" altLang="ja-JP" b="1" spc="70" dirty="0">
              <a:solidFill>
                <a:schemeClr val="bg1"/>
              </a:solidFill>
              <a:latin typeface="+mj-ea"/>
              <a:ea typeface="+mj-ea"/>
            </a:endParaRPr>
          </a:p>
        </p:txBody>
      </p:sp>
      <p:sp>
        <p:nvSpPr>
          <p:cNvPr id="18" name="正方形/長方形 17">
            <a:extLst>
              <a:ext uri="{FF2B5EF4-FFF2-40B4-BE49-F238E27FC236}">
                <a16:creationId xmlns:a16="http://schemas.microsoft.com/office/drawing/2014/main" id="{0C864657-FFF0-FA13-5524-DC1F4F22D1C8}"/>
              </a:ext>
            </a:extLst>
          </p:cNvPr>
          <p:cNvSpPr/>
          <p:nvPr/>
        </p:nvSpPr>
        <p:spPr>
          <a:xfrm>
            <a:off x="449262" y="3124558"/>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sp>
        <p:nvSpPr>
          <p:cNvPr id="20" name="テキスト ボックス 19">
            <a:extLst>
              <a:ext uri="{FF2B5EF4-FFF2-40B4-BE49-F238E27FC236}">
                <a16:creationId xmlns:a16="http://schemas.microsoft.com/office/drawing/2014/main" id="{48644844-8906-9AF0-5D0D-98648174194F}"/>
              </a:ext>
            </a:extLst>
          </p:cNvPr>
          <p:cNvSpPr txBox="1"/>
          <p:nvPr/>
        </p:nvSpPr>
        <p:spPr>
          <a:xfrm>
            <a:off x="2114550" y="3551039"/>
            <a:ext cx="7768831" cy="803040"/>
          </a:xfrm>
          <a:prstGeom prst="rect">
            <a:avLst/>
          </a:prstGeom>
          <a:noFill/>
        </p:spPr>
        <p:txBody>
          <a:bodyPr wrap="square" lIns="0" tIns="0" rIns="0" bIns="0" rtlCol="0" anchor="ctr">
            <a:spAutoFit/>
          </a:bodyPr>
          <a:lstStyle/>
          <a:p>
            <a:pPr>
              <a:lnSpc>
                <a:spcPct val="120000"/>
              </a:lnSpc>
              <a:spcAft>
                <a:spcPts val="600"/>
              </a:spcAft>
            </a:pPr>
            <a:r>
              <a:rPr lang="ja-JP" altLang="en-US" sz="1600" b="1" spc="30" dirty="0">
                <a:solidFill>
                  <a:sysClr val="windowText" lastClr="000000"/>
                </a:solidFill>
                <a:latin typeface="+mj-ea"/>
                <a:ea typeface="+mj-ea"/>
              </a:rPr>
              <a:t>ペット関連サービスの一体提供とストック収益</a:t>
            </a:r>
            <a:endParaRPr lang="en-US" altLang="ja-JP" sz="1600" b="1" spc="30" dirty="0">
              <a:solidFill>
                <a:sysClr val="windowText" lastClr="000000"/>
              </a:solidFill>
              <a:latin typeface="+mj-ea"/>
              <a:ea typeface="+mj-ea"/>
            </a:endParaRPr>
          </a:p>
          <a:p>
            <a:pPr>
              <a:lnSpc>
                <a:spcPct val="120000"/>
              </a:lnSpc>
              <a:spcAft>
                <a:spcPts val="600"/>
              </a:spcAft>
            </a:pPr>
            <a:r>
              <a:rPr lang="ja-JP" altLang="en-US" sz="1600" b="1" spc="30" dirty="0">
                <a:solidFill>
                  <a:sysClr val="windowText" lastClr="000000"/>
                </a:solidFill>
                <a:latin typeface="+mj-ea"/>
                <a:ea typeface="+mj-ea"/>
              </a:rPr>
              <a:t>生体販売を起点に、フード・用品、トリミング、ペットホテル、ペット保険まで一体で提供。特にペット保険は手術特約の加入率が約75%（全国平均約50%）と高く、初年度に掛金の40%、次年度以降も10%が継続手数料として入る。進行期は共通部門のサービス売上が月額約195万円（7か月13,650千円）で安定計上されており、同手数料と推察される（仮説・要確認）。</a:t>
            </a:r>
            <a:endParaRPr lang="en-US" altLang="ja-JP" sz="1600" b="1" spc="30" dirty="0">
              <a:solidFill>
                <a:sysClr val="windowText" lastClr="000000"/>
              </a:solidFill>
              <a:latin typeface="+mj-ea"/>
              <a:ea typeface="+mj-ea"/>
            </a:endParaRPr>
          </a:p>
        </p:txBody>
      </p:sp>
      <p:cxnSp>
        <p:nvCxnSpPr>
          <p:cNvPr id="21" name="直線コネクタ 20">
            <a:extLst>
              <a:ext uri="{FF2B5EF4-FFF2-40B4-BE49-F238E27FC236}">
                <a16:creationId xmlns:a16="http://schemas.microsoft.com/office/drawing/2014/main" id="{3CCDB214-2D0E-0EEE-88F8-7201AB775BEA}"/>
              </a:ext>
            </a:extLst>
          </p:cNvPr>
          <p:cNvCxnSpPr>
            <a:cxnSpLocks/>
          </p:cNvCxnSpPr>
          <p:nvPr/>
        </p:nvCxnSpPr>
        <p:spPr>
          <a:xfrm>
            <a:off x="449263" y="3119987"/>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7" name="正方形/長方形 26">
            <a:extLst>
              <a:ext uri="{FF2B5EF4-FFF2-40B4-BE49-F238E27FC236}">
                <a16:creationId xmlns:a16="http://schemas.microsoft.com/office/drawing/2014/main" id="{8C7E43AC-FD21-D8FF-812C-F486F11E9CD0}"/>
              </a:ext>
            </a:extLst>
          </p:cNvPr>
          <p:cNvSpPr/>
          <p:nvPr/>
        </p:nvSpPr>
        <p:spPr>
          <a:xfrm>
            <a:off x="647115" y="3466558"/>
            <a:ext cx="1191210"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ja-JP" altLang="en-US" b="1" spc="70" dirty="0">
                <a:solidFill>
                  <a:schemeClr val="bg1"/>
                </a:solidFill>
                <a:latin typeface="+mj-ea"/>
                <a:ea typeface="+mj-ea"/>
              </a:rPr>
              <a:t>強み</a:t>
            </a:r>
            <a:endParaRPr lang="en-US" altLang="ja-JP" b="1" spc="70" dirty="0">
              <a:solidFill>
                <a:schemeClr val="bg1"/>
              </a:solidFill>
              <a:latin typeface="+mj-ea"/>
              <a:ea typeface="+mj-ea"/>
            </a:endParaRPr>
          </a:p>
        </p:txBody>
      </p:sp>
      <p:sp>
        <p:nvSpPr>
          <p:cNvPr id="28" name="正方形/長方形 27">
            <a:extLst>
              <a:ext uri="{FF2B5EF4-FFF2-40B4-BE49-F238E27FC236}">
                <a16:creationId xmlns:a16="http://schemas.microsoft.com/office/drawing/2014/main" id="{0BB6E073-4046-E1C0-AB4F-403D39FF250A}"/>
              </a:ext>
            </a:extLst>
          </p:cNvPr>
          <p:cNvSpPr/>
          <p:nvPr/>
        </p:nvSpPr>
        <p:spPr>
          <a:xfrm>
            <a:off x="449262" y="5112286"/>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sp>
        <p:nvSpPr>
          <p:cNvPr id="29" name="テキスト ボックス 28">
            <a:extLst>
              <a:ext uri="{FF2B5EF4-FFF2-40B4-BE49-F238E27FC236}">
                <a16:creationId xmlns:a16="http://schemas.microsoft.com/office/drawing/2014/main" id="{91275261-EC0D-E601-4242-EE2F20F981A2}"/>
              </a:ext>
            </a:extLst>
          </p:cNvPr>
          <p:cNvSpPr txBox="1"/>
          <p:nvPr/>
        </p:nvSpPr>
        <p:spPr>
          <a:xfrm>
            <a:off x="2114550" y="5538767"/>
            <a:ext cx="7768831" cy="803040"/>
          </a:xfrm>
          <a:prstGeom prst="rect">
            <a:avLst/>
          </a:prstGeom>
          <a:noFill/>
        </p:spPr>
        <p:txBody>
          <a:bodyPr wrap="square" lIns="0" tIns="0" rIns="0" bIns="0" rtlCol="0" anchor="ctr">
            <a:spAutoFit/>
          </a:bodyPr>
          <a:lstStyle/>
          <a:p>
            <a:pPr>
              <a:lnSpc>
                <a:spcPct val="120000"/>
              </a:lnSpc>
              <a:spcAft>
                <a:spcPts val="600"/>
              </a:spcAft>
            </a:pPr>
            <a:r>
              <a:rPr lang="ja-JP" altLang="en-US" sz="1600" b="1" spc="30" dirty="0">
                <a:solidFill>
                  <a:sysClr val="windowText" lastClr="000000"/>
                </a:solidFill>
                <a:latin typeface="+mj-ea"/>
                <a:ea typeface="+mj-ea"/>
              </a:rPr>
              <a:t>出店余地と実証済みの立ち上げノウハウ</a:t>
            </a:r>
            <a:endParaRPr lang="en-US" altLang="ja-JP" sz="1600" b="1" spc="30" dirty="0">
              <a:solidFill>
                <a:sysClr val="windowText" lastClr="000000"/>
              </a:solidFill>
              <a:latin typeface="+mj-ea"/>
              <a:ea typeface="+mj-ea"/>
            </a:endParaRPr>
          </a:p>
          <a:p>
            <a:pPr>
              <a:lnSpc>
                <a:spcPct val="120000"/>
              </a:lnSpc>
              <a:spcAft>
                <a:spcPts val="600"/>
              </a:spcAft>
            </a:pPr>
            <a:r>
              <a:rPr lang="ja-JP" altLang="en-US" sz="1600" b="1" spc="30" dirty="0">
                <a:solidFill>
                  <a:sysClr val="windowText" lastClr="000000"/>
                </a:solidFill>
                <a:latin typeface="+mj-ea"/>
                <a:ea typeface="+mj-ea"/>
              </a:rPr>
              <a:t>大型犬専門店は市場にまだ少なく、平均所得の高いエリアを選別して出店する余地が大きい。岐阜総本店は開店3期目で118,491千円、大阪総本店は開店2期目で142,385千円といずれも短期間で立ち上がり、進行期7か月でも2店舗合計53,058千円の店舗貢献利益を計上している。出店ノウハウは実証済みであり、資本力のある企業グループの下では出店ペースの加速が期待できる。</a:t>
            </a:r>
            <a:endParaRPr lang="en-US" altLang="ja-JP" sz="1600" b="1" spc="30" dirty="0">
              <a:solidFill>
                <a:sysClr val="windowText" lastClr="000000"/>
              </a:solidFill>
              <a:latin typeface="+mj-ea"/>
              <a:ea typeface="+mj-ea"/>
            </a:endParaRPr>
          </a:p>
        </p:txBody>
      </p:sp>
      <p:cxnSp>
        <p:nvCxnSpPr>
          <p:cNvPr id="30" name="直線コネクタ 29">
            <a:extLst>
              <a:ext uri="{FF2B5EF4-FFF2-40B4-BE49-F238E27FC236}">
                <a16:creationId xmlns:a16="http://schemas.microsoft.com/office/drawing/2014/main" id="{9E59F759-029D-ACD7-2E8B-82D0E894FB13}"/>
              </a:ext>
            </a:extLst>
          </p:cNvPr>
          <p:cNvCxnSpPr>
            <a:cxnSpLocks/>
          </p:cNvCxnSpPr>
          <p:nvPr/>
        </p:nvCxnSpPr>
        <p:spPr>
          <a:xfrm>
            <a:off x="449263" y="5107715"/>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31" name="正方形/長方形 30">
            <a:extLst>
              <a:ext uri="{FF2B5EF4-FFF2-40B4-BE49-F238E27FC236}">
                <a16:creationId xmlns:a16="http://schemas.microsoft.com/office/drawing/2014/main" id="{9F97658D-62E2-B46F-7C6B-A887412B79A8}"/>
              </a:ext>
            </a:extLst>
          </p:cNvPr>
          <p:cNvSpPr/>
          <p:nvPr/>
        </p:nvSpPr>
        <p:spPr>
          <a:xfrm>
            <a:off x="647115" y="5454286"/>
            <a:ext cx="1191210"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ja-JP" altLang="en-US" b="1" spc="70" dirty="0">
                <a:solidFill>
                  <a:schemeClr val="bg1"/>
                </a:solidFill>
                <a:latin typeface="+mj-ea"/>
                <a:ea typeface="+mj-ea"/>
              </a:rPr>
              <a:t>成長性</a:t>
            </a:r>
            <a:endParaRPr lang="en-US" altLang="ja-JP" b="1" spc="70" dirty="0">
              <a:solidFill>
                <a:schemeClr val="bg1"/>
              </a:solidFill>
              <a:latin typeface="+mj-ea"/>
              <a:ea typeface="+mj-ea"/>
            </a:endParaRPr>
          </a:p>
        </p:txBody>
      </p:sp>
    </p:spTree>
    <p:extLst>
      <p:ext uri="{BB962C8B-B14F-4D97-AF65-F5344CB8AC3E}">
        <p14:creationId xmlns:p14="http://schemas.microsoft.com/office/powerpoint/2010/main" val="27210844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C3BC0-753C-033E-F6BF-1E996308297A}"/>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33F37850-AD52-3D13-0C74-E00196D01FCC}"/>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主要仕入先の3期推移</a:t>
            </a:r>
          </a:p>
        </p:txBody>
      </p:sp>
      <p:sp>
        <p:nvSpPr>
          <p:cNvPr id="6" name="タイトル 1">
            <a:extLst>
              <a:ext uri="{FF2B5EF4-FFF2-40B4-BE49-F238E27FC236}">
                <a16:creationId xmlns:a16="http://schemas.microsoft.com/office/drawing/2014/main" id="{C94241A7-8BCE-A268-9079-8C5AF9CFCFBF}"/>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事業概要</a:t>
            </a:r>
          </a:p>
        </p:txBody>
      </p:sp>
      <p:sp>
        <p:nvSpPr>
          <p:cNvPr id="9" name="字幕 13">
            <a:extLst>
              <a:ext uri="{FF2B5EF4-FFF2-40B4-BE49-F238E27FC236}">
                <a16:creationId xmlns:a16="http://schemas.microsoft.com/office/drawing/2014/main" id="{B8D00A9D-DB7C-195B-A6F7-0DBDF4FF7287}"/>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ジャペル㈱とFC本部の㈲ワンラブの2社で仕入高の約75%を構成。2024年11月期以降は個人ブリーダーからの直接仕入を拡大し、大型犬専門店の商品調達を多様化している。</a:t>
            </a:r>
            <a:endParaRPr lang="en-US" altLang="ja-JP" dirty="0">
              <a:latin typeface="游ゴシック" panose="020B0400000000000000" pitchFamily="50" charset="-128"/>
              <a:ea typeface="游ゴシック" panose="020B0400000000000000" pitchFamily="50" charset="-128"/>
            </a:endParaRPr>
          </a:p>
        </p:txBody>
      </p:sp>
      <p:graphicFrame>
        <p:nvGraphicFramePr>
          <p:cNvPr id="7" name="表 3">
            <a:extLst>
              <a:ext uri="{FF2B5EF4-FFF2-40B4-BE49-F238E27FC236}">
                <a16:creationId xmlns:a16="http://schemas.microsoft.com/office/drawing/2014/main" id="{AF5ABF4B-AE9A-2816-EAD7-AAB16BC7FF1F}"/>
              </a:ext>
            </a:extLst>
          </p:cNvPr>
          <p:cNvGraphicFramePr>
            <a:graphicFrameLocks noGrp="1"/>
          </p:cNvGraphicFramePr>
          <p:nvPr>
            <p:extLst>
              <p:ext uri="{D42A27DB-BD31-4B8C-83A1-F6EECF244321}">
                <p14:modId xmlns:p14="http://schemas.microsoft.com/office/powerpoint/2010/main" val="1737593560"/>
              </p:ext>
            </p:extLst>
          </p:nvPr>
        </p:nvGraphicFramePr>
        <p:xfrm>
          <a:off x="310896" y="1517305"/>
          <a:ext cx="10241280" cy="2176272"/>
        </p:xfrm>
        <a:graphic>
          <a:graphicData uri="http://schemas.openxmlformats.org/drawingml/2006/table">
            <a:tbl>
              <a:tblPr/>
              <a:tblGrid>
                <a:gridCol w="3657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gridCol w="822960">
                  <a:extLst>
                    <a:ext uri="{9D8B030D-6E8A-4147-A177-3AD203B41FA5}">
                      <a16:colId xmlns:a16="http://schemas.microsoft.com/office/drawing/2014/main" val="20005"/>
                    </a:ext>
                  </a:extLst>
                </a:gridCol>
                <a:gridCol w="822960">
                  <a:extLst>
                    <a:ext uri="{9D8B030D-6E8A-4147-A177-3AD203B41FA5}">
                      <a16:colId xmlns:a16="http://schemas.microsoft.com/office/drawing/2014/main" val="20006"/>
                    </a:ext>
                  </a:extLst>
                </a:gridCol>
                <a:gridCol w="822960">
                  <a:extLst>
                    <a:ext uri="{9D8B030D-6E8A-4147-A177-3AD203B41FA5}">
                      <a16:colId xmlns:a16="http://schemas.microsoft.com/office/drawing/2014/main" val="20003"/>
                    </a:ext>
                  </a:extLst>
                </a:gridCol>
                <a:gridCol w="822960">
                  <a:extLst>
                    <a:ext uri="{9D8B030D-6E8A-4147-A177-3AD203B41FA5}">
                      <a16:colId xmlns:a16="http://schemas.microsoft.com/office/drawing/2014/main" val="20003"/>
                    </a:ext>
                  </a:extLst>
                </a:gridCol>
                <a:gridCol w="822960">
                  <a:extLst>
                    <a:ext uri="{9D8B030D-6E8A-4147-A177-3AD203B41FA5}">
                      <a16:colId xmlns:a16="http://schemas.microsoft.com/office/drawing/2014/main" val="20003"/>
                    </a:ext>
                  </a:extLst>
                </a:gridCol>
              </a:tblGrid>
              <a:tr h="365760">
                <a:tc>
                  <a:txBody>
                    <a:bodyPr/>
                    <a:lstStyle/>
                    <a:p>
                      <a:pPr algn="ctr" fontAlgn="ctr">
                        <a:buNone/>
                      </a:pPr>
                      <a:r>
                        <a:rPr lang="ja-JP" sz="800" b="1" i="0" u="none" strike="noStrike" dirty="0">
                          <a:solidFill>
                            <a:srgbClr val="FFFFFF"/>
                          </a:solidFill>
                          <a:effectLst/>
                          <a:latin typeface="游ゴシック" panose="020B0400000000000000" pitchFamily="50" charset="-128"/>
                          <a:ea typeface="游ゴシック" panose="020B0400000000000000" pitchFamily="50" charset="-128"/>
                        </a:rPr>
                        <a:t>№</a:t>
                      </a:r>
                    </a:p>
                  </a:txBody>
                  <a:tcPr marL="54864" marR="54864" marT="9144" marB="9144" anchor="ctr">
                    <a:lnL w="12700" cap="flat" cmpd="sng" algn="ctr">
                      <a:solidFill>
                        <a:srgbClr val="000000"/>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800" b="1" i="0" u="none" strike="noStrike" dirty="0">
                          <a:solidFill>
                            <a:srgbClr val="FFFFFF"/>
                          </a:solidFill>
                          <a:effectLst/>
                          <a:latin typeface="游ゴシック" panose="020B0400000000000000" pitchFamily="50" charset="-128"/>
                          <a:ea typeface="游ゴシック" panose="020B0400000000000000" pitchFamily="50" charset="-128"/>
                        </a:rPr>
                        <a:t>仕入先</a:t>
                      </a:r>
                    </a:p>
                  </a:txBody>
                  <a:tcPr marL="54864" marR="54864" marT="9144" marB="9144"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800" b="1" i="0" u="none" strike="noStrike" dirty="0">
                          <a:solidFill>
                            <a:srgbClr val="FFFFFF"/>
                          </a:solidFill>
                          <a:effectLst/>
                          <a:latin typeface="游ゴシック" panose="020B0400000000000000" pitchFamily="50" charset="-128"/>
                          <a:ea typeface="游ゴシック" panose="020B0400000000000000" pitchFamily="50" charset="-128"/>
                        </a:rPr>
                        <a:t>所在地</a:t>
                      </a:r>
                    </a:p>
                  </a:txBody>
                  <a:tcPr marL="54864" marR="54864" marT="9144" marB="9144"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800" b="1" i="0" u="none" strike="noStrike" dirty="0">
                          <a:solidFill>
                            <a:srgbClr val="FFFFFF"/>
                          </a:solidFill>
                          <a:effectLst/>
                          <a:latin typeface="游ゴシック" panose="020B0400000000000000" pitchFamily="50" charset="-128"/>
                          <a:ea typeface="游ゴシック" panose="020B0400000000000000" pitchFamily="50" charset="-128"/>
                        </a:rPr>
                        <a:t>仕入内容</a:t>
                      </a:r>
                    </a:p>
                  </a:txBody>
                  <a:tcPr marL="54864" marR="54864" marT="9144" marB="9144"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800" b="1" i="0" u="none" strike="noStrike" dirty="0">
                          <a:solidFill>
                            <a:srgbClr val="FFFFFF"/>
                          </a:solidFill>
                          <a:effectLst/>
                          <a:latin typeface="游ゴシック" panose="020B0400000000000000" pitchFamily="50" charset="-128"/>
                          <a:ea typeface="游ゴシック" panose="020B0400000000000000" pitchFamily="50" charset="-128"/>
                        </a:rPr>
                        <a:t>23年11月期</a:t>
                      </a:r>
                    </a:p>
                  </a:txBody>
                  <a:tcPr marL="54864" marR="54864" marT="9144" marB="9144"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800" b="1" i="0" u="none" strike="noStrike" dirty="0">
                          <a:solidFill>
                            <a:srgbClr val="FFFFFF"/>
                          </a:solidFill>
                          <a:effectLst/>
                          <a:latin typeface="游ゴシック" panose="020B0400000000000000" pitchFamily="50" charset="-128"/>
                          <a:ea typeface="游ゴシック" panose="020B0400000000000000" pitchFamily="50" charset="-128"/>
                        </a:rPr>
                        <a:t>構成比</a:t>
                      </a:r>
                      <a:endParaRPr lang="ja-JP" sz="105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54864" marR="54864" marT="9144" marB="9144" anchor="ctr">
                    <a:lnL w="6350" cap="flat" cmpd="sng" algn="ctr">
                      <a:solidFill>
                        <a:schemeClr val="bg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800" b="1" i="0" u="none" strike="noStrike" dirty="0">
                          <a:solidFill>
                            <a:srgbClr val="FFFFFF"/>
                          </a:solidFill>
                          <a:effectLst/>
                          <a:latin typeface="游ゴシック" panose="020B0400000000000000" pitchFamily="50" charset="-128"/>
                          <a:ea typeface="游ゴシック" panose="020B0400000000000000" pitchFamily="50" charset="-128"/>
                        </a:rPr>
                        <a:t>24年11月期</a:t>
                      </a:r>
                      <a:endParaRPr lang="ja-JP" sz="105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54864" marR="54864"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800" b="1" i="0" u="none" strike="noStrike" dirty="0">
                          <a:solidFill>
                            <a:srgbClr val="FFFFFF"/>
                          </a:solidFill>
                          <a:effectLst/>
                          <a:latin typeface="游ゴシック" panose="020B0400000000000000" pitchFamily="50" charset="-128"/>
                          <a:ea typeface="游ゴシック" panose="020B0400000000000000" pitchFamily="50" charset="-128"/>
                        </a:rPr>
                        <a:t>構成比</a:t>
                      </a:r>
                    </a:p>
                  </a:txBody>
                  <a:tcPr marL="54864" marR="54864" marT="9144" marB="9144"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800" b="1" i="0" u="none" strike="noStrike" dirty="0">
                          <a:solidFill>
                            <a:srgbClr val="FFFFFF"/>
                          </a:solidFill>
                          <a:effectLst/>
                          <a:latin typeface="游ゴシック" panose="020B0400000000000000" pitchFamily="50" charset="-128"/>
                          <a:ea typeface="游ゴシック" panose="020B0400000000000000" pitchFamily="50" charset="-128"/>
                        </a:rPr>
                        <a:t>25年11月期</a:t>
                      </a:r>
                    </a:p>
                  </a:txBody>
                  <a:tcPr marL="54864" marR="54864" marT="9144" marB="9144"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800" b="1" i="0" u="none" strike="noStrike" dirty="0">
                          <a:solidFill>
                            <a:srgbClr val="FFFFFF"/>
                          </a:solidFill>
                          <a:effectLst/>
                          <a:latin typeface="游ゴシック" panose="020B0400000000000000" pitchFamily="50" charset="-128"/>
                          <a:ea typeface="游ゴシック" panose="020B0400000000000000" pitchFamily="50" charset="-128"/>
                        </a:rPr>
                        <a:t>構成比</a:t>
                      </a:r>
                    </a:p>
                  </a:txBody>
                  <a:tcPr marL="54864" marR="54864" marT="9144" marB="9144"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extLst>
                  <a:ext uri="{0D108BD9-81ED-4DB2-BD59-A6C34878D82A}">
                    <a16:rowId xmlns:a16="http://schemas.microsoft.com/office/drawing/2014/main" val="10000"/>
                  </a:ext>
                </a:extLst>
              </a:tr>
              <a:tr h="301752">
                <a:tc>
                  <a:txBody>
                    <a:bodyPr/>
                    <a:lstStyle/>
                    <a:p>
                      <a:pPr algn="ctr" fontAlgn="ctr">
                        <a:buNone/>
                      </a:pPr>
                      <a:r>
                        <a:rPr lang="ja-JP" sz="800" b="0" i="0" u="none" strike="noStrike" dirty="0">
                          <a:solidFill>
                            <a:srgbClr val="202020"/>
                          </a:solidFill>
                          <a:effectLst/>
                          <a:latin typeface="游ゴシック" panose="020B0400000000000000" pitchFamily="50" charset="-128"/>
                          <a:ea typeface="游ゴシック" panose="020B0400000000000000" pitchFamily="50" charset="-128"/>
                        </a:rPr>
                        <a:t>1</a:t>
                      </a:r>
                    </a:p>
                  </a:txBody>
                  <a:tcPr marL="54864" marR="54864"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800" b="0" i="0" u="none" strike="noStrike" dirty="0">
                          <a:solidFill>
                            <a:srgbClr val="202020"/>
                          </a:solidFill>
                          <a:effectLst/>
                          <a:latin typeface="游ゴシック" panose="020B0400000000000000" pitchFamily="50" charset="-128"/>
                          <a:ea typeface="游ゴシック" panose="020B0400000000000000" pitchFamily="50" charset="-128"/>
                        </a:rPr>
                        <a:t>ジャペル株式会社</a:t>
                      </a:r>
                    </a:p>
                  </a:txBody>
                  <a:tcPr marL="54864" marR="54864"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800" b="0" i="0" u="none" strike="noStrike" dirty="0">
                          <a:solidFill>
                            <a:srgbClr val="202020"/>
                          </a:solidFill>
                          <a:effectLst/>
                          <a:latin typeface="游ゴシック" panose="020B0400000000000000" pitchFamily="50" charset="-128"/>
                          <a:ea typeface="游ゴシック" panose="020B0400000000000000" pitchFamily="50" charset="-128"/>
                        </a:rPr>
                        <a:t>愛知県春日井市</a:t>
                      </a:r>
                    </a:p>
                  </a:txBody>
                  <a:tcPr marL="54864" marR="54864"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800" b="0" i="0" u="none" strike="noStrike" dirty="0">
                          <a:solidFill>
                            <a:srgbClr val="202020"/>
                          </a:solidFill>
                          <a:effectLst/>
                          <a:latin typeface="游ゴシック" panose="020B0400000000000000" pitchFamily="50" charset="-128"/>
                          <a:ea typeface="游ゴシック" panose="020B0400000000000000" pitchFamily="50" charset="-128"/>
                        </a:rPr>
                        <a:t>生体・飼育用品等</a:t>
                      </a:r>
                    </a:p>
                  </a:txBody>
                  <a:tcPr marL="54864" marR="54864"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800" b="0" i="0" u="none" strike="noStrike" dirty="0">
                          <a:solidFill>
                            <a:srgbClr val="202020"/>
                          </a:solidFill>
                          <a:effectLst/>
                          <a:latin typeface="游ゴシック" panose="020B0400000000000000" pitchFamily="50" charset="-128"/>
                          <a:ea typeface="游ゴシック" panose="020B0400000000000000" pitchFamily="50" charset="-128"/>
                        </a:rPr>
                        <a:t>91,166</a:t>
                      </a:r>
                    </a:p>
                  </a:txBody>
                  <a:tcPr marL="54864" marR="54864"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800" b="0" i="0" u="none" strike="noStrike" dirty="0">
                          <a:solidFill>
                            <a:srgbClr val="202020"/>
                          </a:solidFill>
                          <a:effectLst/>
                          <a:latin typeface="游ゴシック" panose="020B0400000000000000" pitchFamily="50" charset="-128"/>
                          <a:ea typeface="游ゴシック" panose="020B0400000000000000" pitchFamily="50" charset="-128"/>
                        </a:rPr>
                        <a:t>49.6%</a:t>
                      </a:r>
                    </a:p>
                  </a:txBody>
                  <a:tcPr marL="54864" marR="54864"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800" b="0" i="0" u="none" strike="noStrike">
                          <a:solidFill>
                            <a:srgbClr val="202020"/>
                          </a:solidFill>
                          <a:effectLst/>
                          <a:latin typeface="游ゴシック" panose="020B0400000000000000" pitchFamily="50" charset="-128"/>
                          <a:ea typeface="游ゴシック" panose="020B0400000000000000" pitchFamily="50" charset="-128"/>
                        </a:rPr>
                        <a:t>109,451</a:t>
                      </a:r>
                    </a:p>
                  </a:txBody>
                  <a:tcPr marL="54864" marR="54864"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800" b="0" i="0" u="none" strike="noStrike" dirty="0">
                          <a:solidFill>
                            <a:srgbClr val="202020"/>
                          </a:solidFill>
                          <a:effectLst/>
                          <a:latin typeface="游ゴシック" panose="020B0400000000000000" pitchFamily="50" charset="-128"/>
                          <a:ea typeface="游ゴシック" panose="020B0400000000000000" pitchFamily="50" charset="-128"/>
                        </a:rPr>
                        <a:t>49.6%</a:t>
                      </a:r>
                    </a:p>
                  </a:txBody>
                  <a:tcPr marL="54864" marR="54864"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800" b="0" i="0" u="none" strike="noStrike" dirty="0">
                          <a:solidFill>
                            <a:srgbClr val="202020"/>
                          </a:solidFill>
                          <a:effectLst/>
                          <a:latin typeface="游ゴシック" panose="020B0400000000000000" pitchFamily="50" charset="-128"/>
                          <a:ea typeface="游ゴシック" panose="020B0400000000000000" pitchFamily="50" charset="-128"/>
                        </a:rPr>
                        <a:t>107,140</a:t>
                      </a:r>
                    </a:p>
                  </a:txBody>
                  <a:tcPr marL="54864" marR="54864"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800" b="0" i="0" u="none" strike="noStrike" dirty="0">
                          <a:solidFill>
                            <a:srgbClr val="202020"/>
                          </a:solidFill>
                          <a:effectLst/>
                          <a:latin typeface="游ゴシック" panose="020B0400000000000000" pitchFamily="50" charset="-128"/>
                          <a:ea typeface="游ゴシック" panose="020B0400000000000000" pitchFamily="50" charset="-128"/>
                        </a:rPr>
                        <a:t>58.8%</a:t>
                      </a:r>
                    </a:p>
                  </a:txBody>
                  <a:tcPr marL="54864" marR="54864"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1752">
                <a:tc>
                  <a:txBody>
                    <a:bodyPr/>
                    <a:lstStyle/>
                    <a:p>
                      <a:pPr algn="ctr" fontAlgn="ctr">
                        <a:buNone/>
                      </a:pPr>
                      <a:r>
                        <a:rPr lang="ja-JP" sz="800" b="0" i="0" u="none" strike="noStrike" dirty="0">
                          <a:solidFill>
                            <a:srgbClr val="202020"/>
                          </a:solidFill>
                          <a:effectLst/>
                          <a:latin typeface="游ゴシック" panose="020B0400000000000000" pitchFamily="50" charset="-128"/>
                          <a:ea typeface="游ゴシック" panose="020B0400000000000000" pitchFamily="50" charset="-128"/>
                        </a:rPr>
                        <a:t>2</a:t>
                      </a:r>
                    </a:p>
                  </a:txBody>
                  <a:tcPr marL="54864" marR="54864"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800" b="0" i="0" u="none" strike="noStrike" dirty="0">
                          <a:solidFill>
                            <a:srgbClr val="202020"/>
                          </a:solidFill>
                          <a:effectLst/>
                          <a:latin typeface="游ゴシック" panose="020B0400000000000000" pitchFamily="50" charset="-128"/>
                          <a:ea typeface="游ゴシック" panose="020B0400000000000000" pitchFamily="50" charset="-128"/>
                        </a:rPr>
                        <a:t>有限会社ワンラブ</a:t>
                      </a:r>
                    </a:p>
                  </a:txBody>
                  <a:tcPr marL="54864" marR="54864"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800" b="0" i="0" u="none" strike="noStrike" dirty="0">
                          <a:solidFill>
                            <a:srgbClr val="202020"/>
                          </a:solidFill>
                          <a:effectLst/>
                          <a:latin typeface="游ゴシック" panose="020B0400000000000000" pitchFamily="50" charset="-128"/>
                          <a:ea typeface="游ゴシック" panose="020B0400000000000000" pitchFamily="50" charset="-128"/>
                        </a:rPr>
                        <a:t>愛知県名古屋市</a:t>
                      </a:r>
                    </a:p>
                  </a:txBody>
                  <a:tcPr marL="54864" marR="54864"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800" b="0" i="0" u="none" strike="noStrike" dirty="0">
                          <a:solidFill>
                            <a:srgbClr val="202020"/>
                          </a:solidFill>
                          <a:effectLst/>
                          <a:latin typeface="游ゴシック" panose="020B0400000000000000" pitchFamily="50" charset="-128"/>
                          <a:ea typeface="游ゴシック" panose="020B0400000000000000" pitchFamily="50" charset="-128"/>
                        </a:rPr>
                        <a:t>生体・飼育用品等</a:t>
                      </a:r>
                    </a:p>
                  </a:txBody>
                  <a:tcPr marL="54864" marR="54864"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800" b="0" i="0" u="none" strike="noStrike" dirty="0">
                          <a:solidFill>
                            <a:srgbClr val="202020"/>
                          </a:solidFill>
                          <a:effectLst/>
                          <a:latin typeface="游ゴシック" panose="020B0400000000000000" pitchFamily="50" charset="-128"/>
                          <a:ea typeface="游ゴシック" panose="020B0400000000000000" pitchFamily="50" charset="-128"/>
                        </a:rPr>
                        <a:t>44,927</a:t>
                      </a:r>
                    </a:p>
                  </a:txBody>
                  <a:tcPr marL="54864" marR="54864"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800" b="0" i="0" u="none" strike="noStrike" dirty="0">
                          <a:solidFill>
                            <a:srgbClr val="202020"/>
                          </a:solidFill>
                          <a:effectLst/>
                          <a:latin typeface="游ゴシック" panose="020B0400000000000000" pitchFamily="50" charset="-128"/>
                          <a:ea typeface="游ゴシック" panose="020B0400000000000000" pitchFamily="50" charset="-128"/>
                        </a:rPr>
                        <a:t>24.4%</a:t>
                      </a:r>
                    </a:p>
                  </a:txBody>
                  <a:tcPr marL="54864" marR="54864"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800" b="0" i="0" u="none" strike="noStrike">
                          <a:solidFill>
                            <a:srgbClr val="202020"/>
                          </a:solidFill>
                          <a:effectLst/>
                          <a:latin typeface="游ゴシック" panose="020B0400000000000000" pitchFamily="50" charset="-128"/>
                          <a:ea typeface="游ゴシック" panose="020B0400000000000000" pitchFamily="50" charset="-128"/>
                        </a:rPr>
                        <a:t>50,158</a:t>
                      </a:r>
                    </a:p>
                  </a:txBody>
                  <a:tcPr marL="54864" marR="54864"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800" b="0" i="0" u="none" strike="noStrike" dirty="0">
                          <a:solidFill>
                            <a:srgbClr val="202020"/>
                          </a:solidFill>
                          <a:effectLst/>
                          <a:latin typeface="游ゴシック" panose="020B0400000000000000" pitchFamily="50" charset="-128"/>
                          <a:ea typeface="游ゴシック" panose="020B0400000000000000" pitchFamily="50" charset="-128"/>
                        </a:rPr>
                        <a:t>22.7%</a:t>
                      </a:r>
                    </a:p>
                  </a:txBody>
                  <a:tcPr marL="54864" marR="54864"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800" b="0" i="0" u="none" strike="noStrike" dirty="0">
                          <a:solidFill>
                            <a:srgbClr val="202020"/>
                          </a:solidFill>
                          <a:effectLst/>
                          <a:latin typeface="游ゴシック" panose="020B0400000000000000" pitchFamily="50" charset="-128"/>
                          <a:ea typeface="游ゴシック" panose="020B0400000000000000" pitchFamily="50" charset="-128"/>
                        </a:rPr>
                        <a:t>29,244</a:t>
                      </a:r>
                    </a:p>
                  </a:txBody>
                  <a:tcPr marL="54864" marR="54864"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800" b="0" i="0" u="none" strike="noStrike" dirty="0">
                          <a:solidFill>
                            <a:srgbClr val="202020"/>
                          </a:solidFill>
                          <a:effectLst/>
                          <a:latin typeface="游ゴシック" panose="020B0400000000000000" pitchFamily="50" charset="-128"/>
                          <a:ea typeface="游ゴシック" panose="020B0400000000000000" pitchFamily="50" charset="-128"/>
                        </a:rPr>
                        <a:t>16.0%</a:t>
                      </a:r>
                    </a:p>
                  </a:txBody>
                  <a:tcPr marL="54864" marR="54864"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1752">
                <a:tc>
                  <a:txBody>
                    <a:bodyPr/>
                    <a:lstStyle/>
                    <a:p>
                      <a:pPr algn="ctr" fontAlgn="ctr">
                        <a:buNone/>
                      </a:pPr>
                      <a:r>
                        <a:rPr lang="ja-JP" sz="800" b="0" i="0" u="none" strike="noStrike" dirty="0">
                          <a:solidFill>
                            <a:srgbClr val="202020"/>
                          </a:solidFill>
                          <a:effectLst/>
                          <a:latin typeface="游ゴシック" panose="020B0400000000000000" pitchFamily="50" charset="-128"/>
                          <a:ea typeface="游ゴシック" panose="020B0400000000000000" pitchFamily="50" charset="-128"/>
                        </a:rPr>
                        <a:t>3</a:t>
                      </a:r>
                    </a:p>
                  </a:txBody>
                  <a:tcPr marL="54864" marR="54864"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800" b="0" i="0" u="none" strike="noStrike" dirty="0">
                          <a:solidFill>
                            <a:srgbClr val="202020"/>
                          </a:solidFill>
                          <a:effectLst/>
                          <a:latin typeface="游ゴシック" panose="020B0400000000000000" pitchFamily="50" charset="-128"/>
                          <a:ea typeface="游ゴシック" panose="020B0400000000000000" pitchFamily="50" charset="-128"/>
                        </a:rPr>
                        <a:t>個人ブリーダー（複数）</a:t>
                      </a:r>
                    </a:p>
                  </a:txBody>
                  <a:tcPr marL="54864" marR="54864"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800" b="0" i="0" u="none" strike="noStrike" dirty="0">
                          <a:solidFill>
                            <a:srgbClr val="202020"/>
                          </a:solidFill>
                          <a:effectLst/>
                          <a:latin typeface="游ゴシック" panose="020B0400000000000000" pitchFamily="50" charset="-128"/>
                          <a:ea typeface="游ゴシック" panose="020B0400000000000000" pitchFamily="50" charset="-128"/>
                        </a:rPr>
                        <a:t>－</a:t>
                      </a:r>
                    </a:p>
                  </a:txBody>
                  <a:tcPr marL="54864" marR="54864"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800" b="0" i="0" u="none" strike="noStrike" dirty="0">
                          <a:solidFill>
                            <a:srgbClr val="202020"/>
                          </a:solidFill>
                          <a:effectLst/>
                          <a:latin typeface="游ゴシック" panose="020B0400000000000000" pitchFamily="50" charset="-128"/>
                          <a:ea typeface="游ゴシック" panose="020B0400000000000000" pitchFamily="50" charset="-128"/>
                        </a:rPr>
                        <a:t>生体</a:t>
                      </a:r>
                    </a:p>
                  </a:txBody>
                  <a:tcPr marL="54864" marR="54864"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800" b="0" i="0" u="none" strike="noStrike" dirty="0">
                          <a:solidFill>
                            <a:srgbClr val="202020"/>
                          </a:solidFill>
                          <a:effectLst/>
                          <a:latin typeface="游ゴシック" panose="020B0400000000000000" pitchFamily="50" charset="-128"/>
                          <a:ea typeface="游ゴシック" panose="020B0400000000000000" pitchFamily="50" charset="-128"/>
                        </a:rPr>
                        <a:t>－</a:t>
                      </a:r>
                    </a:p>
                  </a:txBody>
                  <a:tcPr marL="54864" marR="54864"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800" b="0" i="0" u="none" strike="noStrike" dirty="0">
                          <a:solidFill>
                            <a:srgbClr val="202020"/>
                          </a:solidFill>
                          <a:effectLst/>
                          <a:latin typeface="游ゴシック" panose="020B0400000000000000" pitchFamily="50" charset="-128"/>
                          <a:ea typeface="游ゴシック" panose="020B0400000000000000" pitchFamily="50" charset="-128"/>
                        </a:rPr>
                        <a:t>－</a:t>
                      </a:r>
                    </a:p>
                  </a:txBody>
                  <a:tcPr marL="54864" marR="54864"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800" b="0" i="0" u="none" strike="noStrike">
                          <a:solidFill>
                            <a:srgbClr val="202020"/>
                          </a:solidFill>
                          <a:effectLst/>
                          <a:latin typeface="游ゴシック" panose="020B0400000000000000" pitchFamily="50" charset="-128"/>
                          <a:ea typeface="游ゴシック" panose="020B0400000000000000" pitchFamily="50" charset="-128"/>
                        </a:rPr>
                        <a:t>9,184</a:t>
                      </a:r>
                    </a:p>
                  </a:txBody>
                  <a:tcPr marL="54864" marR="54864"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800" b="0" i="0" u="none" strike="noStrike" dirty="0">
                          <a:solidFill>
                            <a:srgbClr val="202020"/>
                          </a:solidFill>
                          <a:effectLst/>
                          <a:latin typeface="游ゴシック" panose="020B0400000000000000" pitchFamily="50" charset="-128"/>
                          <a:ea typeface="游ゴシック" panose="020B0400000000000000" pitchFamily="50" charset="-128"/>
                        </a:rPr>
                        <a:t>4.2%</a:t>
                      </a:r>
                    </a:p>
                  </a:txBody>
                  <a:tcPr marL="54864" marR="54864"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800" b="0" i="0" u="none" strike="noStrike" dirty="0">
                          <a:solidFill>
                            <a:srgbClr val="202020"/>
                          </a:solidFill>
                          <a:effectLst/>
                          <a:latin typeface="游ゴシック" panose="020B0400000000000000" pitchFamily="50" charset="-128"/>
                          <a:ea typeface="游ゴシック" panose="020B0400000000000000" pitchFamily="50" charset="-128"/>
                        </a:rPr>
                        <a:t>17,561</a:t>
                      </a:r>
                    </a:p>
                  </a:txBody>
                  <a:tcPr marL="54864" marR="54864"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800" b="0" i="0" u="none" strike="noStrike" dirty="0">
                          <a:solidFill>
                            <a:srgbClr val="202020"/>
                          </a:solidFill>
                          <a:effectLst/>
                          <a:latin typeface="游ゴシック" panose="020B0400000000000000" pitchFamily="50" charset="-128"/>
                          <a:ea typeface="游ゴシック" panose="020B0400000000000000" pitchFamily="50" charset="-128"/>
                        </a:rPr>
                        <a:t>9.6%</a:t>
                      </a:r>
                    </a:p>
                  </a:txBody>
                  <a:tcPr marL="54864" marR="54864"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1752">
                <a:tc>
                  <a:txBody>
                    <a:bodyPr/>
                    <a:lstStyle/>
                    <a:p>
                      <a:pPr algn="ctr" fontAlgn="ctr">
                        <a:buNone/>
                      </a:pPr>
                      <a:r>
                        <a:rPr lang="ja-JP" sz="800" b="0" i="0" u="none" strike="noStrike" dirty="0">
                          <a:solidFill>
                            <a:srgbClr val="202020"/>
                          </a:solidFill>
                          <a:effectLst/>
                          <a:latin typeface="游ゴシック" panose="020B0400000000000000" pitchFamily="50" charset="-128"/>
                          <a:ea typeface="游ゴシック" panose="020B0400000000000000" pitchFamily="50" charset="-128"/>
                        </a:rPr>
                        <a:t>4</a:t>
                      </a:r>
                    </a:p>
                  </a:txBody>
                  <a:tcPr marL="54864" marR="54864"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800" b="0" i="0" u="none" strike="noStrike" dirty="0">
                          <a:solidFill>
                            <a:srgbClr val="202020"/>
                          </a:solidFill>
                          <a:effectLst/>
                          <a:latin typeface="游ゴシック" panose="020B0400000000000000" pitchFamily="50" charset="-128"/>
                          <a:ea typeface="游ゴシック" panose="020B0400000000000000" pitchFamily="50" charset="-128"/>
                        </a:rPr>
                        <a:t>デザイナーズワン株式会社</a:t>
                      </a:r>
                    </a:p>
                  </a:txBody>
                  <a:tcPr marL="54864" marR="54864"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800" b="0" i="0" u="none" strike="noStrike" dirty="0">
                          <a:solidFill>
                            <a:srgbClr val="202020"/>
                          </a:solidFill>
                          <a:effectLst/>
                          <a:latin typeface="游ゴシック" panose="020B0400000000000000" pitchFamily="50" charset="-128"/>
                          <a:ea typeface="游ゴシック" panose="020B0400000000000000" pitchFamily="50" charset="-128"/>
                        </a:rPr>
                        <a:t>愛知県一宮市</a:t>
                      </a:r>
                    </a:p>
                  </a:txBody>
                  <a:tcPr marL="54864" marR="54864"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800" b="0" i="0" u="none" strike="noStrike" dirty="0">
                          <a:solidFill>
                            <a:srgbClr val="202020"/>
                          </a:solidFill>
                          <a:effectLst/>
                          <a:latin typeface="游ゴシック" panose="020B0400000000000000" pitchFamily="50" charset="-128"/>
                          <a:ea typeface="游ゴシック" panose="020B0400000000000000" pitchFamily="50" charset="-128"/>
                        </a:rPr>
                        <a:t>生体</a:t>
                      </a:r>
                    </a:p>
                  </a:txBody>
                  <a:tcPr marL="54864" marR="54864"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800" b="0" i="0" u="none" strike="noStrike" dirty="0">
                          <a:solidFill>
                            <a:srgbClr val="202020"/>
                          </a:solidFill>
                          <a:effectLst/>
                          <a:latin typeface="游ゴシック" panose="020B0400000000000000" pitchFamily="50" charset="-128"/>
                          <a:ea typeface="游ゴシック" panose="020B0400000000000000" pitchFamily="50" charset="-128"/>
                        </a:rPr>
                        <a:t>10,500</a:t>
                      </a:r>
                    </a:p>
                  </a:txBody>
                  <a:tcPr marL="54864" marR="54864"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800" b="0" i="0" u="none" strike="noStrike" dirty="0">
                          <a:solidFill>
                            <a:srgbClr val="202020"/>
                          </a:solidFill>
                          <a:effectLst/>
                          <a:latin typeface="游ゴシック" panose="020B0400000000000000" pitchFamily="50" charset="-128"/>
                          <a:ea typeface="游ゴシック" panose="020B0400000000000000" pitchFamily="50" charset="-128"/>
                        </a:rPr>
                        <a:t>5.7%</a:t>
                      </a:r>
                    </a:p>
                  </a:txBody>
                  <a:tcPr marL="54864" marR="54864"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800" b="0" i="0" u="none" strike="noStrike">
                          <a:solidFill>
                            <a:srgbClr val="202020"/>
                          </a:solidFill>
                          <a:effectLst/>
                          <a:latin typeface="游ゴシック" panose="020B0400000000000000" pitchFamily="50" charset="-128"/>
                          <a:ea typeface="游ゴシック" panose="020B0400000000000000" pitchFamily="50" charset="-128"/>
                        </a:rPr>
                        <a:t>12,280</a:t>
                      </a:r>
                    </a:p>
                  </a:txBody>
                  <a:tcPr marL="54864" marR="54864"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800" b="0" i="0" u="none" strike="noStrike" dirty="0">
                          <a:solidFill>
                            <a:srgbClr val="202020"/>
                          </a:solidFill>
                          <a:effectLst/>
                          <a:latin typeface="游ゴシック" panose="020B0400000000000000" pitchFamily="50" charset="-128"/>
                          <a:ea typeface="游ゴシック" panose="020B0400000000000000" pitchFamily="50" charset="-128"/>
                        </a:rPr>
                        <a:t>5.6%</a:t>
                      </a:r>
                    </a:p>
                  </a:txBody>
                  <a:tcPr marL="54864" marR="54864"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800" b="0" i="0" u="none" strike="noStrike" dirty="0">
                          <a:solidFill>
                            <a:srgbClr val="202020"/>
                          </a:solidFill>
                          <a:effectLst/>
                          <a:latin typeface="游ゴシック" panose="020B0400000000000000" pitchFamily="50" charset="-128"/>
                          <a:ea typeface="游ゴシック" panose="020B0400000000000000" pitchFamily="50" charset="-128"/>
                        </a:rPr>
                        <a:t>9,400</a:t>
                      </a:r>
                    </a:p>
                  </a:txBody>
                  <a:tcPr marL="54864" marR="54864"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800" b="0" i="0" u="none" strike="noStrike" dirty="0">
                          <a:solidFill>
                            <a:srgbClr val="202020"/>
                          </a:solidFill>
                          <a:effectLst/>
                          <a:latin typeface="游ゴシック" panose="020B0400000000000000" pitchFamily="50" charset="-128"/>
                          <a:ea typeface="游ゴシック" panose="020B0400000000000000" pitchFamily="50" charset="-128"/>
                        </a:rPr>
                        <a:t>5.2%</a:t>
                      </a:r>
                    </a:p>
                  </a:txBody>
                  <a:tcPr marL="54864" marR="54864"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1752">
                <a:tc>
                  <a:txBody>
                    <a:bodyPr/>
                    <a:lstStyle/>
                    <a:p>
                      <a:pPr algn="ctr" fontAlgn="ctr">
                        <a:buNone/>
                      </a:pPr>
                      <a:r>
                        <a:rPr lang="ja-JP" sz="800" b="0" i="0" u="none" strike="noStrike" dirty="0">
                          <a:solidFill>
                            <a:srgbClr val="202020"/>
                          </a:solidFill>
                          <a:effectLst/>
                          <a:latin typeface="游ゴシック" panose="020B0400000000000000" pitchFamily="50" charset="-128"/>
                          <a:ea typeface="游ゴシック" panose="020B0400000000000000" pitchFamily="50" charset="-128"/>
                        </a:rPr>
                        <a:t>　</a:t>
                      </a:r>
                    </a:p>
                  </a:txBody>
                  <a:tcPr marL="54864" marR="54864"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800" b="0" i="0" u="none" strike="noStrike" dirty="0">
                          <a:solidFill>
                            <a:srgbClr val="202020"/>
                          </a:solidFill>
                          <a:effectLst/>
                          <a:latin typeface="游ゴシック" panose="020B0400000000000000" pitchFamily="50" charset="-128"/>
                          <a:ea typeface="游ゴシック" panose="020B0400000000000000" pitchFamily="50" charset="-128"/>
                        </a:rPr>
                        <a:t>その他約50社（個人含む）</a:t>
                      </a:r>
                    </a:p>
                  </a:txBody>
                  <a:tcPr marL="54864" marR="54864"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800" b="0" i="0" u="none" strike="noStrike" dirty="0">
                          <a:solidFill>
                            <a:srgbClr val="202020"/>
                          </a:solidFill>
                          <a:effectLst/>
                          <a:latin typeface="游ゴシック" panose="020B0400000000000000" pitchFamily="50" charset="-128"/>
                          <a:ea typeface="游ゴシック" panose="020B0400000000000000" pitchFamily="50" charset="-128"/>
                        </a:rPr>
                        <a:t>－</a:t>
                      </a:r>
                    </a:p>
                  </a:txBody>
                  <a:tcPr marL="54864" marR="54864"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800" b="0" i="0" u="none" strike="noStrike" dirty="0">
                          <a:solidFill>
                            <a:srgbClr val="202020"/>
                          </a:solidFill>
                          <a:effectLst/>
                          <a:latin typeface="游ゴシック" panose="020B0400000000000000" pitchFamily="50" charset="-128"/>
                          <a:ea typeface="游ゴシック" panose="020B0400000000000000" pitchFamily="50" charset="-128"/>
                        </a:rPr>
                        <a:t>－</a:t>
                      </a:r>
                    </a:p>
                  </a:txBody>
                  <a:tcPr marL="54864" marR="54864"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800" b="0" i="0" u="none" strike="noStrike" dirty="0">
                          <a:solidFill>
                            <a:srgbClr val="202020"/>
                          </a:solidFill>
                          <a:effectLst/>
                          <a:latin typeface="游ゴシック" panose="020B0400000000000000" pitchFamily="50" charset="-128"/>
                          <a:ea typeface="游ゴシック" panose="020B0400000000000000" pitchFamily="50" charset="-128"/>
                        </a:rPr>
                        <a:t>37,261</a:t>
                      </a:r>
                    </a:p>
                  </a:txBody>
                  <a:tcPr marL="54864" marR="54864"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800" b="0" i="0" u="none" strike="noStrike" dirty="0">
                          <a:solidFill>
                            <a:srgbClr val="202020"/>
                          </a:solidFill>
                          <a:effectLst/>
                          <a:latin typeface="游ゴシック" panose="020B0400000000000000" pitchFamily="50" charset="-128"/>
                          <a:ea typeface="游ゴシック" panose="020B0400000000000000" pitchFamily="50" charset="-128"/>
                        </a:rPr>
                        <a:t>20.3%</a:t>
                      </a:r>
                    </a:p>
                  </a:txBody>
                  <a:tcPr marL="54864" marR="54864"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800" b="0" i="0" u="none" strike="noStrike">
                          <a:solidFill>
                            <a:srgbClr val="202020"/>
                          </a:solidFill>
                          <a:effectLst/>
                          <a:latin typeface="游ゴシック" panose="020B0400000000000000" pitchFamily="50" charset="-128"/>
                          <a:ea typeface="游ゴシック" panose="020B0400000000000000" pitchFamily="50" charset="-128"/>
                        </a:rPr>
                        <a:t>39,728</a:t>
                      </a:r>
                    </a:p>
                  </a:txBody>
                  <a:tcPr marL="54864" marR="54864"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800" b="0" i="0" u="none" strike="noStrike" dirty="0">
                          <a:solidFill>
                            <a:srgbClr val="202020"/>
                          </a:solidFill>
                          <a:effectLst/>
                          <a:latin typeface="游ゴシック" panose="020B0400000000000000" pitchFamily="50" charset="-128"/>
                          <a:ea typeface="游ゴシック" panose="020B0400000000000000" pitchFamily="50" charset="-128"/>
                        </a:rPr>
                        <a:t>18.0%</a:t>
                      </a:r>
                    </a:p>
                  </a:txBody>
                  <a:tcPr marL="54864" marR="54864"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800" b="0" i="0" u="none" strike="noStrike" dirty="0">
                          <a:solidFill>
                            <a:srgbClr val="202020"/>
                          </a:solidFill>
                          <a:effectLst/>
                          <a:latin typeface="游ゴシック" panose="020B0400000000000000" pitchFamily="50" charset="-128"/>
                          <a:ea typeface="游ゴシック" panose="020B0400000000000000" pitchFamily="50" charset="-128"/>
                        </a:rPr>
                        <a:t>18,899</a:t>
                      </a:r>
                    </a:p>
                  </a:txBody>
                  <a:tcPr marL="54864" marR="54864"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800" b="0" i="0" u="none" strike="noStrike" dirty="0">
                          <a:solidFill>
                            <a:srgbClr val="202020"/>
                          </a:solidFill>
                          <a:effectLst/>
                          <a:latin typeface="游ゴシック" panose="020B0400000000000000" pitchFamily="50" charset="-128"/>
                          <a:ea typeface="游ゴシック" panose="020B0400000000000000" pitchFamily="50" charset="-128"/>
                        </a:rPr>
                        <a:t>10.4%</a:t>
                      </a:r>
                    </a:p>
                  </a:txBody>
                  <a:tcPr marL="54864" marR="54864"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1752">
                <a:tc>
                  <a:txBody>
                    <a:bodyPr/>
                    <a:lstStyle/>
                    <a:p>
                      <a:pPr algn="ctr" fontAlgn="ctr">
                        <a:buNone/>
                      </a:pPr>
                      <a:r>
                        <a:rPr lang="ja-JP" sz="800" b="1" i="0" u="none" strike="noStrike" dirty="0">
                          <a:solidFill>
                            <a:srgbClr val="202020"/>
                          </a:solidFill>
                          <a:effectLst/>
                          <a:latin typeface="游ゴシック" panose="020B0400000000000000" pitchFamily="50" charset="-128"/>
                          <a:ea typeface="游ゴシック" panose="020B0400000000000000" pitchFamily="50" charset="-128"/>
                        </a:rPr>
                        <a:t>　</a:t>
                      </a:r>
                    </a:p>
                  </a:txBody>
                  <a:tcPr marL="54864" marR="54864"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800" b="1" i="0" u="none" strike="noStrike" dirty="0">
                          <a:solidFill>
                            <a:srgbClr val="202020"/>
                          </a:solidFill>
                          <a:effectLst/>
                          <a:latin typeface="游ゴシック" panose="020B0400000000000000" pitchFamily="50" charset="-128"/>
                          <a:ea typeface="游ゴシック" panose="020B0400000000000000" pitchFamily="50" charset="-128"/>
                        </a:rPr>
                        <a:t>合計</a:t>
                      </a:r>
                    </a:p>
                  </a:txBody>
                  <a:tcPr marL="54864" marR="54864"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800" b="1" i="0" u="none" strike="noStrike" dirty="0">
                          <a:solidFill>
                            <a:srgbClr val="202020"/>
                          </a:solidFill>
                          <a:effectLst/>
                          <a:latin typeface="游ゴシック" panose="020B0400000000000000" pitchFamily="50" charset="-128"/>
                          <a:ea typeface="游ゴシック" panose="020B0400000000000000" pitchFamily="50" charset="-128"/>
                        </a:rPr>
                        <a:t>－</a:t>
                      </a:r>
                    </a:p>
                  </a:txBody>
                  <a:tcPr marL="54864" marR="54864"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800" b="1" i="0" u="none" strike="noStrike" dirty="0">
                          <a:solidFill>
                            <a:srgbClr val="202020"/>
                          </a:solidFill>
                          <a:effectLst/>
                          <a:latin typeface="游ゴシック" panose="020B0400000000000000" pitchFamily="50" charset="-128"/>
                          <a:ea typeface="游ゴシック" panose="020B0400000000000000" pitchFamily="50" charset="-128"/>
                        </a:rPr>
                        <a:t>－</a:t>
                      </a:r>
                    </a:p>
                  </a:txBody>
                  <a:tcPr marL="54864" marR="54864"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800" b="1" i="0" u="none" strike="noStrike" dirty="0">
                          <a:solidFill>
                            <a:srgbClr val="202020"/>
                          </a:solidFill>
                          <a:effectLst/>
                          <a:latin typeface="游ゴシック" panose="020B0400000000000000" pitchFamily="50" charset="-128"/>
                          <a:ea typeface="游ゴシック" panose="020B0400000000000000" pitchFamily="50" charset="-128"/>
                        </a:rPr>
                        <a:t>183,854</a:t>
                      </a:r>
                    </a:p>
                  </a:txBody>
                  <a:tcPr marL="54864" marR="54864"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800" b="1" i="0" u="none" strike="noStrike" dirty="0">
                          <a:solidFill>
                            <a:srgbClr val="202020"/>
                          </a:solidFill>
                          <a:effectLst/>
                          <a:latin typeface="游ゴシック" panose="020B0400000000000000" pitchFamily="50" charset="-128"/>
                          <a:ea typeface="游ゴシック" panose="020B0400000000000000" pitchFamily="50" charset="-128"/>
                        </a:rPr>
                        <a:t>100.0%</a:t>
                      </a:r>
                    </a:p>
                  </a:txBody>
                  <a:tcPr marL="54864" marR="54864"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800" b="1" i="0" u="none" strike="noStrike">
                          <a:solidFill>
                            <a:srgbClr val="202020"/>
                          </a:solidFill>
                          <a:effectLst/>
                          <a:latin typeface="游ゴシック" panose="020B0400000000000000" pitchFamily="50" charset="-128"/>
                          <a:ea typeface="游ゴシック" panose="020B0400000000000000" pitchFamily="50" charset="-128"/>
                        </a:rPr>
                        <a:t>220,801</a:t>
                      </a:r>
                    </a:p>
                  </a:txBody>
                  <a:tcPr marL="54864" marR="54864"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800" b="1" i="0" u="none" strike="noStrike" dirty="0">
                          <a:solidFill>
                            <a:srgbClr val="202020"/>
                          </a:solidFill>
                          <a:effectLst/>
                          <a:latin typeface="游ゴシック" panose="020B0400000000000000" pitchFamily="50" charset="-128"/>
                          <a:ea typeface="游ゴシック" panose="020B0400000000000000" pitchFamily="50" charset="-128"/>
                        </a:rPr>
                        <a:t>100.0%</a:t>
                      </a:r>
                    </a:p>
                  </a:txBody>
                  <a:tcPr marL="54864" marR="54864"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800" b="1" i="0" u="none" strike="noStrike" dirty="0">
                          <a:solidFill>
                            <a:srgbClr val="202020"/>
                          </a:solidFill>
                          <a:effectLst/>
                          <a:latin typeface="游ゴシック" panose="020B0400000000000000" pitchFamily="50" charset="-128"/>
                          <a:ea typeface="游ゴシック" panose="020B0400000000000000" pitchFamily="50" charset="-128"/>
                        </a:rPr>
                        <a:t>182,244</a:t>
                      </a:r>
                    </a:p>
                  </a:txBody>
                  <a:tcPr marL="54864" marR="54864"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800" b="1" i="0" u="none" strike="noStrike" dirty="0">
                          <a:solidFill>
                            <a:srgbClr val="202020"/>
                          </a:solidFill>
                          <a:effectLst/>
                          <a:latin typeface="游ゴシック" panose="020B0400000000000000" pitchFamily="50" charset="-128"/>
                          <a:ea typeface="游ゴシック" panose="020B0400000000000000" pitchFamily="50" charset="-128"/>
                        </a:rPr>
                        <a:t>100.0%</a:t>
                      </a:r>
                    </a:p>
                  </a:txBody>
                  <a:tcPr marL="54864" marR="54864"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10" name="TextBox 14">
            <a:extLst>
              <a:ext uri="{FF2B5EF4-FFF2-40B4-BE49-F238E27FC236}">
                <a16:creationId xmlns:a16="http://schemas.microsoft.com/office/drawing/2014/main" id="{46A477A0-42E5-2D8F-DCCD-59CEEB8A741F}"/>
              </a:ext>
            </a:extLst>
          </p:cNvPr>
          <p:cNvSpPr txBox="1"/>
          <p:nvPr/>
        </p:nvSpPr>
        <p:spPr>
          <a:xfrm>
            <a:off x="310896" y="4096512"/>
            <a:ext cx="10021824" cy="640080"/>
          </a:xfrm>
          <a:prstGeom prst="rect">
            <a:avLst/>
          </a:prstGeom>
          <a:noFill/>
        </p:spPr>
        <p:txBody>
          <a:bodyPr wrap="square" lIns="0" tIns="0" rIns="0" bIns="0" anchor="t">
            <a:spAutoFit/>
          </a:bodyPr>
          <a:lstStyle/>
          <a:p>
            <a:pPr algn="l">
              <a:lnSpc>
                <a:spcPct val="115000"/>
              </a:lnSpc>
            </a:pPr>
            <a:r>
              <a:rPr sz="800" b="0" dirty="0">
                <a:solidFill>
                  <a:schemeClr val="tx1"/>
                </a:solidFill>
                <a:latin typeface="游ゴシック" panose="020B0400000000000000" pitchFamily="50" charset="-128"/>
                <a:ea typeface="游ゴシック" panose="020B0400000000000000" pitchFamily="50" charset="-128"/>
              </a:rPr>
              <a:t>（単位：千円／税込）</a:t>
            </a:r>
          </a:p>
          <a:p>
            <a:pPr algn="l">
              <a:lnSpc>
                <a:spcPct val="115000"/>
              </a:lnSpc>
            </a:pPr>
            <a:r>
              <a:rPr sz="800" b="0" dirty="0">
                <a:solidFill>
                  <a:schemeClr val="tx1"/>
                </a:solidFill>
                <a:latin typeface="游ゴシック" panose="020B0400000000000000" pitchFamily="50" charset="-128"/>
                <a:ea typeface="游ゴシック" panose="020B0400000000000000" pitchFamily="50" charset="-128"/>
              </a:rPr>
              <a:t>※出所：対象会社提供の総勘定元帳より「商品仕入高」を集計。各期のPL上の商品仕入高と概ね一致することを確認済。</a:t>
            </a:r>
          </a:p>
          <a:p>
            <a:pPr algn="l">
              <a:lnSpc>
                <a:spcPct val="115000"/>
              </a:lnSpc>
            </a:pPr>
            <a:r>
              <a:rPr sz="800" b="0" dirty="0">
                <a:solidFill>
                  <a:schemeClr val="tx1"/>
                </a:solidFill>
                <a:latin typeface="游ゴシック" panose="020B0400000000000000" pitchFamily="50" charset="-128"/>
                <a:ea typeface="游ゴシック" panose="020B0400000000000000" pitchFamily="50" charset="-128"/>
              </a:rPr>
              <a:t>※仕入先別の内訳は内部管理資料に基づくため、決算書数値と細部が異なる可能性がある。</a:t>
            </a:r>
          </a:p>
        </p:txBody>
      </p:sp>
      <p:sp>
        <p:nvSpPr>
          <p:cNvPr id="12" name="Rounded Rectangle 15">
            <a:extLst>
              <a:ext uri="{FF2B5EF4-FFF2-40B4-BE49-F238E27FC236}">
                <a16:creationId xmlns:a16="http://schemas.microsoft.com/office/drawing/2014/main" id="{CED272E0-2312-464F-D8F1-085CD0BBE0F2}"/>
              </a:ext>
            </a:extLst>
          </p:cNvPr>
          <p:cNvSpPr/>
          <p:nvPr/>
        </p:nvSpPr>
        <p:spPr>
          <a:xfrm>
            <a:off x="310896" y="4663440"/>
            <a:ext cx="10021824" cy="1463040"/>
          </a:xfrm>
          <a:prstGeom prst="roundRect">
            <a:avLst>
              <a:gd name="adj" fmla="val 6000"/>
            </a:avLst>
          </a:prstGeom>
          <a:solidFill>
            <a:srgbClr val="E1F3FB"/>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游ゴシック" panose="020B0400000000000000" pitchFamily="50" charset="-128"/>
              <a:ea typeface="游ゴシック" panose="020B0400000000000000" pitchFamily="50" charset="-128"/>
            </a:endParaRPr>
          </a:p>
        </p:txBody>
      </p:sp>
      <p:sp>
        <p:nvSpPr>
          <p:cNvPr id="22" name="Rounded Rectangle 16">
            <a:extLst>
              <a:ext uri="{FF2B5EF4-FFF2-40B4-BE49-F238E27FC236}">
                <a16:creationId xmlns:a16="http://schemas.microsoft.com/office/drawing/2014/main" id="{3DFEBA6A-6E1C-D020-DAF2-81F2E9C35743}"/>
              </a:ext>
            </a:extLst>
          </p:cNvPr>
          <p:cNvSpPr/>
          <p:nvPr/>
        </p:nvSpPr>
        <p:spPr>
          <a:xfrm>
            <a:off x="310896" y="4663440"/>
            <a:ext cx="1325880" cy="1463040"/>
          </a:xfrm>
          <a:prstGeom prst="roundRect">
            <a:avLst>
              <a:gd name="adj" fmla="val 6000"/>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游ゴシック" panose="020B0400000000000000" pitchFamily="50" charset="-128"/>
              <a:ea typeface="游ゴシック" panose="020B0400000000000000" pitchFamily="50" charset="-128"/>
            </a:endParaRPr>
          </a:p>
        </p:txBody>
      </p:sp>
      <p:sp>
        <p:nvSpPr>
          <p:cNvPr id="24" name="Rectangle 17">
            <a:extLst>
              <a:ext uri="{FF2B5EF4-FFF2-40B4-BE49-F238E27FC236}">
                <a16:creationId xmlns:a16="http://schemas.microsoft.com/office/drawing/2014/main" id="{4814532B-18AB-618F-5F72-0173E5D6D6F8}"/>
              </a:ext>
            </a:extLst>
          </p:cNvPr>
          <p:cNvSpPr/>
          <p:nvPr/>
        </p:nvSpPr>
        <p:spPr>
          <a:xfrm>
            <a:off x="1499616" y="4663440"/>
            <a:ext cx="137160" cy="1463040"/>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游ゴシック" panose="020B0400000000000000" pitchFamily="50" charset="-128"/>
              <a:ea typeface="游ゴシック" panose="020B0400000000000000" pitchFamily="50" charset="-128"/>
            </a:endParaRPr>
          </a:p>
        </p:txBody>
      </p:sp>
      <p:sp>
        <p:nvSpPr>
          <p:cNvPr id="26" name="TextBox 18">
            <a:extLst>
              <a:ext uri="{FF2B5EF4-FFF2-40B4-BE49-F238E27FC236}">
                <a16:creationId xmlns:a16="http://schemas.microsoft.com/office/drawing/2014/main" id="{841EFDCB-6A37-96B6-940C-10B7B272E93B}"/>
              </a:ext>
            </a:extLst>
          </p:cNvPr>
          <p:cNvSpPr txBox="1"/>
          <p:nvPr/>
        </p:nvSpPr>
        <p:spPr>
          <a:xfrm>
            <a:off x="365760" y="5074920"/>
            <a:ext cx="1216152" cy="210312"/>
          </a:xfrm>
          <a:prstGeom prst="rect">
            <a:avLst/>
          </a:prstGeom>
          <a:noFill/>
        </p:spPr>
        <p:txBody>
          <a:bodyPr wrap="square" lIns="0" tIns="0" rIns="0" bIns="0" anchor="ctr">
            <a:spAutoFit/>
          </a:bodyPr>
          <a:lstStyle/>
          <a:p>
            <a:pPr algn="ctr">
              <a:lnSpc>
                <a:spcPct val="115000"/>
              </a:lnSpc>
            </a:pPr>
            <a:r>
              <a:rPr sz="1250" b="1">
                <a:solidFill>
                  <a:srgbClr val="FFFFFF"/>
                </a:solidFill>
                <a:latin typeface="游ゴシック" panose="020B0400000000000000" pitchFamily="50" charset="-128"/>
                <a:ea typeface="游ゴシック" panose="020B0400000000000000" pitchFamily="50" charset="-128"/>
              </a:rPr>
              <a:t>ポイント</a:t>
            </a:r>
          </a:p>
        </p:txBody>
      </p:sp>
      <p:sp>
        <p:nvSpPr>
          <p:cNvPr id="28" name="TextBox 19">
            <a:extLst>
              <a:ext uri="{FF2B5EF4-FFF2-40B4-BE49-F238E27FC236}">
                <a16:creationId xmlns:a16="http://schemas.microsoft.com/office/drawing/2014/main" id="{8AE6C81F-DDA0-25BA-BF55-5FF73D4BD39C}"/>
              </a:ext>
            </a:extLst>
          </p:cNvPr>
          <p:cNvSpPr txBox="1"/>
          <p:nvPr/>
        </p:nvSpPr>
        <p:spPr>
          <a:xfrm>
            <a:off x="1783080" y="4828032"/>
            <a:ext cx="8458200" cy="1133856"/>
          </a:xfrm>
          <a:prstGeom prst="rect">
            <a:avLst/>
          </a:prstGeom>
          <a:noFill/>
        </p:spPr>
        <p:txBody>
          <a:bodyPr wrap="square" lIns="0" tIns="0" rIns="0" bIns="0" anchor="t">
            <a:spAutoFit/>
          </a:bodyPr>
          <a:lstStyle/>
          <a:p>
            <a:pPr algn="l">
              <a:lnSpc>
                <a:spcPct val="132000"/>
              </a:lnSpc>
            </a:pPr>
            <a:r>
              <a:rPr sz="900" b="0" dirty="0">
                <a:solidFill>
                  <a:srgbClr val="202020"/>
                </a:solidFill>
                <a:latin typeface="游ゴシック" panose="020B0400000000000000" pitchFamily="50" charset="-128"/>
                <a:ea typeface="游ゴシック" panose="020B0400000000000000" pitchFamily="50" charset="-128"/>
              </a:rPr>
              <a:t>■ ジャペル㈱（肥料・飼料卸売業）・㈲ワンラブ（ペット・ペット用品小売業／FC本部）の上位2社で仕入高の約75%。いずれも創業来の継続取引であり、供給の安定性は高い。</a:t>
            </a:r>
          </a:p>
          <a:p>
            <a:pPr algn="l">
              <a:lnSpc>
                <a:spcPct val="132000"/>
              </a:lnSpc>
            </a:pPr>
            <a:r>
              <a:rPr sz="900" b="0" dirty="0">
                <a:solidFill>
                  <a:srgbClr val="202020"/>
                </a:solidFill>
                <a:latin typeface="游ゴシック" panose="020B0400000000000000" pitchFamily="50" charset="-128"/>
                <a:ea typeface="游ゴシック" panose="020B0400000000000000" pitchFamily="50" charset="-128"/>
              </a:rPr>
              <a:t>■ デザイナーズワン㈱（ペット生育業）は代表者の親族が経営する会社。当社は同社の営業権（簿価1,500千円）を保有し、松阪管理センターで同社の生体を管理している（大垣管理センターは2026年2月に閉鎖）。取引条件の妥当性は要確認。</a:t>
            </a:r>
          </a:p>
          <a:p>
            <a:pPr algn="l">
              <a:lnSpc>
                <a:spcPct val="132000"/>
              </a:lnSpc>
            </a:pPr>
            <a:r>
              <a:rPr sz="900" b="0" dirty="0">
                <a:solidFill>
                  <a:srgbClr val="202020"/>
                </a:solidFill>
                <a:latin typeface="游ゴシック" panose="020B0400000000000000" pitchFamily="50" charset="-128"/>
                <a:ea typeface="游ゴシック" panose="020B0400000000000000" pitchFamily="50" charset="-128"/>
              </a:rPr>
              <a:t>■ 生体はFC本部がオークション会場で仕入れ、マイクロチップ埋込・ワクチン接種等の処理を済ませたうえで当社へ供給される。</a:t>
            </a:r>
          </a:p>
        </p:txBody>
      </p:sp>
    </p:spTree>
    <p:extLst>
      <p:ext uri="{BB962C8B-B14F-4D97-AF65-F5344CB8AC3E}">
        <p14:creationId xmlns:p14="http://schemas.microsoft.com/office/powerpoint/2010/main" val="25677483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F8F80-D630-2549-01F8-FD24A4744414}"/>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F701402F-4CEB-57E0-97C2-822B3C0B999E}"/>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仕入・店舗コストの構造</a:t>
            </a:r>
          </a:p>
        </p:txBody>
      </p:sp>
      <p:sp>
        <p:nvSpPr>
          <p:cNvPr id="5" name="タイトル 1">
            <a:extLst>
              <a:ext uri="{FF2B5EF4-FFF2-40B4-BE49-F238E27FC236}">
                <a16:creationId xmlns:a16="http://schemas.microsoft.com/office/drawing/2014/main" id="{AC4464AF-219D-E466-F3BC-96AEFEDBCFD7}"/>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事業概要</a:t>
            </a:r>
          </a:p>
        </p:txBody>
      </p:sp>
      <p:sp>
        <p:nvSpPr>
          <p:cNvPr id="11" name="字幕 13">
            <a:extLst>
              <a:ext uri="{FF2B5EF4-FFF2-40B4-BE49-F238E27FC236}">
                <a16:creationId xmlns:a16="http://schemas.microsoft.com/office/drawing/2014/main" id="{9BD509DC-88D9-BD2F-8F86-54221089006B}"/>
              </a:ext>
            </a:extLst>
          </p:cNvPr>
          <p:cNvSpPr>
            <a:spLocks noGrp="1"/>
          </p:cNvSpPr>
          <p:nvPr>
            <p:ph type="subTitle" idx="1"/>
          </p:nvPr>
        </p:nvSpPr>
        <p:spPr>
          <a:xfrm>
            <a:off x="460675" y="830046"/>
            <a:ext cx="9781875" cy="530765"/>
          </a:xfrm>
        </p:spPr>
        <p:txBody>
          <a:bodyPr>
            <a:noAutofit/>
          </a:bodyPr>
          <a:lstStyle/>
          <a:p>
            <a:r>
              <a:rPr lang="ja-JP" altLang="en-US" dirty="0">
                <a:latin typeface="游ゴシック" panose="020B0400000000000000" pitchFamily="50" charset="-128"/>
                <a:ea typeface="游ゴシック" panose="020B0400000000000000" pitchFamily="50" charset="-128"/>
              </a:rPr>
              <a:t>FC加盟のインショップは店舗使用料が売上歩合、大型犬専門の路面店は固定賃料と、費用構造は業態により大きく異なる。2025年11月期の地代家賃増加とロイヤリティ減少は、売上構成のシフトの裏返しである。</a:t>
            </a:r>
            <a:endParaRPr lang="en-US" altLang="ja-JP" dirty="0">
              <a:latin typeface="游ゴシック" panose="020B0400000000000000" pitchFamily="50" charset="-128"/>
              <a:ea typeface="游ゴシック" panose="020B0400000000000000" pitchFamily="50" charset="-128"/>
            </a:endParaRPr>
          </a:p>
        </p:txBody>
      </p:sp>
      <p:sp>
        <p:nvSpPr>
          <p:cNvPr id="14" name="Rounded Rectangle 13"/>
          <p:cNvSpPr/>
          <p:nvPr/>
        </p:nvSpPr>
        <p:spPr>
          <a:xfrm>
            <a:off x="320040" y="1766142"/>
            <a:ext cx="4823459" cy="3353614"/>
          </a:xfrm>
          <a:prstGeom prst="roundRect">
            <a:avLst>
              <a:gd name="adj" fmla="val 3500"/>
            </a:avLst>
          </a:prstGeom>
          <a:solidFill>
            <a:srgbClr val="FFFFFF"/>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sz="1600">
              <a:latin typeface="游ゴシック" panose="020B0400000000000000" pitchFamily="50" charset="-128"/>
              <a:ea typeface="游ゴシック" panose="020B0400000000000000" pitchFamily="50" charset="-128"/>
            </a:endParaRPr>
          </a:p>
        </p:txBody>
      </p:sp>
      <p:sp>
        <p:nvSpPr>
          <p:cNvPr id="15" name="Rounded Rectangle 14"/>
          <p:cNvSpPr/>
          <p:nvPr/>
        </p:nvSpPr>
        <p:spPr>
          <a:xfrm>
            <a:off x="320040" y="1599316"/>
            <a:ext cx="4823459" cy="329184"/>
          </a:xfrm>
          <a:prstGeom prst="roundRect">
            <a:avLst>
              <a:gd name="adj" fmla="val 10000"/>
            </a:avLst>
          </a:prstGeom>
          <a:solidFill>
            <a:srgbClr val="1F3864"/>
          </a:solidFill>
          <a:ln w="28575">
            <a:solidFill>
              <a:srgbClr val="1F3864"/>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sz="1600">
              <a:latin typeface="游ゴシック" panose="020B0400000000000000" pitchFamily="50" charset="-128"/>
              <a:ea typeface="游ゴシック" panose="020B0400000000000000" pitchFamily="50" charset="-128"/>
            </a:endParaRPr>
          </a:p>
        </p:txBody>
      </p:sp>
      <p:sp>
        <p:nvSpPr>
          <p:cNvPr id="16" name="TextBox 15"/>
          <p:cNvSpPr txBox="1"/>
          <p:nvPr/>
        </p:nvSpPr>
        <p:spPr>
          <a:xfrm>
            <a:off x="484632" y="1651633"/>
            <a:ext cx="4549140" cy="224549"/>
          </a:xfrm>
          <a:prstGeom prst="rect">
            <a:avLst/>
          </a:prstGeom>
          <a:noFill/>
        </p:spPr>
        <p:txBody>
          <a:bodyPr wrap="square" lIns="0" tIns="0" rIns="0" bIns="0" anchor="ctr">
            <a:spAutoFit/>
          </a:bodyPr>
          <a:lstStyle/>
          <a:p>
            <a:pPr algn="l">
              <a:lnSpc>
                <a:spcPct val="108000"/>
              </a:lnSpc>
            </a:pPr>
            <a:r>
              <a:rPr sz="1400" b="1" dirty="0" err="1">
                <a:solidFill>
                  <a:srgbClr val="FFFFFF"/>
                </a:solidFill>
                <a:latin typeface="游ゴシック" panose="020B0400000000000000" pitchFamily="50" charset="-128"/>
                <a:ea typeface="游ゴシック" panose="020B0400000000000000" pitchFamily="50" charset="-128"/>
              </a:rPr>
              <a:t>仕入　～生体・ペット用品～</a:t>
            </a:r>
          </a:p>
        </p:txBody>
      </p:sp>
      <p:sp>
        <p:nvSpPr>
          <p:cNvPr id="17" name="Oval 16"/>
          <p:cNvSpPr/>
          <p:nvPr/>
        </p:nvSpPr>
        <p:spPr>
          <a:xfrm>
            <a:off x="484632" y="2093273"/>
            <a:ext cx="256032" cy="256032"/>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dirty="0">
                <a:solidFill>
                  <a:srgbClr val="FFFFFF"/>
                </a:solidFill>
                <a:latin typeface="游ゴシック" panose="020B0400000000000000" pitchFamily="50" charset="-128"/>
                <a:ea typeface="游ゴシック" panose="020B0400000000000000" pitchFamily="50" charset="-128"/>
              </a:rPr>
              <a:t>①</a:t>
            </a:r>
          </a:p>
        </p:txBody>
      </p:sp>
      <p:sp>
        <p:nvSpPr>
          <p:cNvPr id="18" name="TextBox 17"/>
          <p:cNvSpPr txBox="1"/>
          <p:nvPr/>
        </p:nvSpPr>
        <p:spPr>
          <a:xfrm>
            <a:off x="832104" y="2128605"/>
            <a:ext cx="4146803" cy="192425"/>
          </a:xfrm>
          <a:prstGeom prst="rect">
            <a:avLst/>
          </a:prstGeom>
          <a:noFill/>
        </p:spPr>
        <p:txBody>
          <a:bodyPr wrap="square" lIns="0" tIns="0" rIns="0" bIns="0" anchor="t">
            <a:spAutoFit/>
          </a:bodyPr>
          <a:lstStyle/>
          <a:p>
            <a:pPr algn="l">
              <a:lnSpc>
                <a:spcPct val="108000"/>
              </a:lnSpc>
            </a:pPr>
            <a:r>
              <a:rPr sz="1200" b="1">
                <a:solidFill>
                  <a:srgbClr val="1F3864"/>
                </a:solidFill>
                <a:latin typeface="游ゴシック" panose="020B0400000000000000" pitchFamily="50" charset="-128"/>
                <a:ea typeface="游ゴシック" panose="020B0400000000000000" pitchFamily="50" charset="-128"/>
              </a:rPr>
              <a:t>価格の決まり方</a:t>
            </a:r>
          </a:p>
        </p:txBody>
      </p:sp>
      <p:sp>
        <p:nvSpPr>
          <p:cNvPr id="19" name="TextBox 18"/>
          <p:cNvSpPr txBox="1"/>
          <p:nvPr/>
        </p:nvSpPr>
        <p:spPr>
          <a:xfrm>
            <a:off x="832104" y="2402925"/>
            <a:ext cx="4146803" cy="337721"/>
          </a:xfrm>
          <a:prstGeom prst="rect">
            <a:avLst/>
          </a:prstGeom>
          <a:noFill/>
        </p:spPr>
        <p:txBody>
          <a:bodyPr wrap="square" lIns="0" tIns="0" rIns="0" bIns="0" anchor="t">
            <a:spAutoFit/>
          </a:bodyPr>
          <a:lstStyle/>
          <a:p>
            <a:pPr>
              <a:lnSpc>
                <a:spcPct val="112000"/>
              </a:lnSpc>
            </a:pPr>
            <a:r>
              <a:rPr sz="1000" b="0" dirty="0" err="1">
                <a:solidFill>
                  <a:srgbClr val="202020"/>
                </a:solidFill>
                <a:latin typeface="游ゴシック" panose="020B0400000000000000" pitchFamily="50" charset="-128"/>
                <a:ea typeface="游ゴシック" panose="020B0400000000000000" pitchFamily="50" charset="-128"/>
              </a:rPr>
              <a:t>ペット用品はジャペル㈱等の卸売価格。生体はオークション相場に連動し、FC本部（㈲ワンラブ）経由の仕入と個人ブリーダー等からの直接仕入を併用する。</a:t>
            </a:r>
          </a:p>
        </p:txBody>
      </p:sp>
      <p:sp>
        <p:nvSpPr>
          <p:cNvPr id="20" name="Oval 19"/>
          <p:cNvSpPr/>
          <p:nvPr/>
        </p:nvSpPr>
        <p:spPr>
          <a:xfrm>
            <a:off x="484632" y="3025089"/>
            <a:ext cx="256032" cy="256032"/>
          </a:xfrm>
          <a:prstGeom prst="ellipse">
            <a:avLst/>
          </a:prstGeom>
          <a:solidFill>
            <a:srgbClr val="00377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dirty="0">
                <a:solidFill>
                  <a:srgbClr val="FFFFFF"/>
                </a:solidFill>
                <a:latin typeface="游ゴシック" panose="020B0400000000000000" pitchFamily="50" charset="-128"/>
                <a:ea typeface="游ゴシック" panose="020B0400000000000000" pitchFamily="50" charset="-128"/>
              </a:rPr>
              <a:t>②</a:t>
            </a:r>
          </a:p>
        </p:txBody>
      </p:sp>
      <p:sp>
        <p:nvSpPr>
          <p:cNvPr id="21" name="TextBox 20"/>
          <p:cNvSpPr txBox="1"/>
          <p:nvPr/>
        </p:nvSpPr>
        <p:spPr>
          <a:xfrm>
            <a:off x="832104" y="3066237"/>
            <a:ext cx="4146803" cy="192425"/>
          </a:xfrm>
          <a:prstGeom prst="rect">
            <a:avLst/>
          </a:prstGeom>
          <a:noFill/>
        </p:spPr>
        <p:txBody>
          <a:bodyPr wrap="square" lIns="0" tIns="0" rIns="0" bIns="0" anchor="t">
            <a:spAutoFit/>
          </a:bodyPr>
          <a:lstStyle/>
          <a:p>
            <a:pPr algn="l">
              <a:lnSpc>
                <a:spcPct val="108000"/>
              </a:lnSpc>
            </a:pPr>
            <a:r>
              <a:rPr sz="1200" b="1" dirty="0" err="1">
                <a:solidFill>
                  <a:srgbClr val="1F3864"/>
                </a:solidFill>
                <a:latin typeface="游ゴシック" panose="020B0400000000000000" pitchFamily="50" charset="-128"/>
                <a:ea typeface="游ゴシック" panose="020B0400000000000000" pitchFamily="50" charset="-128"/>
              </a:rPr>
              <a:t>同社の実質的な強み</a:t>
            </a:r>
            <a:endParaRPr sz="1200" b="1" dirty="0">
              <a:solidFill>
                <a:srgbClr val="1F3864"/>
              </a:solidFill>
              <a:latin typeface="游ゴシック" panose="020B0400000000000000" pitchFamily="50" charset="-128"/>
              <a:ea typeface="游ゴシック" panose="020B0400000000000000" pitchFamily="50" charset="-128"/>
            </a:endParaRPr>
          </a:p>
        </p:txBody>
      </p:sp>
      <p:sp>
        <p:nvSpPr>
          <p:cNvPr id="22" name="TextBox 21"/>
          <p:cNvSpPr txBox="1"/>
          <p:nvPr/>
        </p:nvSpPr>
        <p:spPr>
          <a:xfrm>
            <a:off x="832104" y="3340557"/>
            <a:ext cx="4146803" cy="337721"/>
          </a:xfrm>
          <a:prstGeom prst="rect">
            <a:avLst/>
          </a:prstGeom>
          <a:noFill/>
        </p:spPr>
        <p:txBody>
          <a:bodyPr wrap="square" lIns="0" tIns="0" rIns="0" bIns="0" anchor="t">
            <a:spAutoFit/>
          </a:bodyPr>
          <a:lstStyle/>
          <a:p>
            <a:pPr algn="l">
              <a:lnSpc>
                <a:spcPct val="112000"/>
              </a:lnSpc>
            </a:pPr>
            <a:r>
              <a:rPr sz="1000" b="0" dirty="0" err="1">
                <a:solidFill>
                  <a:srgbClr val="202020"/>
                </a:solidFill>
                <a:latin typeface="游ゴシック" panose="020B0400000000000000" pitchFamily="50" charset="-128"/>
                <a:ea typeface="游ゴシック" panose="020B0400000000000000" pitchFamily="50" charset="-128"/>
              </a:rPr>
              <a:t>大型犬専門店の展開に伴い、個人ブリーダーからの直接仕入を拡大（2024年11月期9,184千円→2025年11月期17,561千円）。仕入ルートの複線化が進んでいる。</a:t>
            </a:r>
          </a:p>
        </p:txBody>
      </p:sp>
      <p:sp>
        <p:nvSpPr>
          <p:cNvPr id="23" name="Rounded Rectangle 22"/>
          <p:cNvSpPr/>
          <p:nvPr/>
        </p:nvSpPr>
        <p:spPr>
          <a:xfrm>
            <a:off x="484632" y="4127040"/>
            <a:ext cx="4494275" cy="592372"/>
          </a:xfrm>
          <a:prstGeom prst="roundRect">
            <a:avLst>
              <a:gd name="adj" fmla="val 8000"/>
            </a:avLst>
          </a:prstGeom>
          <a:solidFill>
            <a:srgbClr val="EAF3E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sz="1600">
              <a:latin typeface="游ゴシック" panose="020B0400000000000000" pitchFamily="50" charset="-128"/>
              <a:ea typeface="游ゴシック" panose="020B0400000000000000" pitchFamily="50" charset="-128"/>
            </a:endParaRPr>
          </a:p>
        </p:txBody>
      </p:sp>
      <p:sp>
        <p:nvSpPr>
          <p:cNvPr id="24" name="Oval 23"/>
          <p:cNvSpPr/>
          <p:nvPr/>
        </p:nvSpPr>
        <p:spPr>
          <a:xfrm>
            <a:off x="594359" y="4245912"/>
            <a:ext cx="219456" cy="219456"/>
          </a:xfrm>
          <a:prstGeom prst="ellipse">
            <a:avLst/>
          </a:prstGeom>
          <a:solidFill>
            <a:schemeClr val="accent3">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游ゴシック" panose="020B0400000000000000" pitchFamily="50" charset="-128"/>
                <a:ea typeface="游ゴシック" panose="020B0400000000000000" pitchFamily="50" charset="-128"/>
              </a:rPr>
              <a:t>!</a:t>
            </a:r>
          </a:p>
        </p:txBody>
      </p:sp>
      <p:sp>
        <p:nvSpPr>
          <p:cNvPr id="25" name="TextBox 24"/>
          <p:cNvSpPr txBox="1"/>
          <p:nvPr/>
        </p:nvSpPr>
        <p:spPr>
          <a:xfrm>
            <a:off x="886969" y="4201683"/>
            <a:ext cx="3989832" cy="337721"/>
          </a:xfrm>
          <a:prstGeom prst="rect">
            <a:avLst/>
          </a:prstGeom>
          <a:noFill/>
        </p:spPr>
        <p:txBody>
          <a:bodyPr wrap="square" lIns="0" tIns="0" rIns="0" bIns="0" anchor="t">
            <a:spAutoFit/>
          </a:bodyPr>
          <a:lstStyle/>
          <a:p>
            <a:pPr algn="l">
              <a:lnSpc>
                <a:spcPct val="112000"/>
              </a:lnSpc>
            </a:pPr>
            <a:r>
              <a:rPr sz="1000" b="0" dirty="0">
                <a:solidFill>
                  <a:srgbClr val="1E6B3F"/>
                </a:solidFill>
                <a:latin typeface="游ゴシック" panose="020B0400000000000000" pitchFamily="50" charset="-128"/>
                <a:ea typeface="游ゴシック" panose="020B0400000000000000" pitchFamily="50" charset="-128"/>
              </a:rPr>
              <a:t>2025年11月期は小型犬を中心に仕入価格の上昇を販売価格へ転嫁できず、粗利率が63.6%→59.1%へ低下した。</a:t>
            </a:r>
            <a:endParaRPr sz="1000" b="0" dirty="0">
              <a:solidFill>
                <a:srgbClr val="1E6B3F"/>
              </a:solidFill>
              <a:latin typeface="游ゴシック" panose="020B0400000000000000" pitchFamily="50" charset="-128"/>
              <a:ea typeface="游ゴシック" panose="020B0400000000000000" pitchFamily="50" charset="-128"/>
            </a:endParaRPr>
          </a:p>
        </p:txBody>
      </p:sp>
      <p:sp>
        <p:nvSpPr>
          <p:cNvPr id="26" name="Rounded Rectangle 25"/>
          <p:cNvSpPr/>
          <p:nvPr/>
        </p:nvSpPr>
        <p:spPr>
          <a:xfrm>
            <a:off x="5417819" y="1766142"/>
            <a:ext cx="4823459" cy="3353613"/>
          </a:xfrm>
          <a:prstGeom prst="roundRect">
            <a:avLst>
              <a:gd name="adj" fmla="val 3500"/>
            </a:avLst>
          </a:prstGeom>
          <a:solidFill>
            <a:srgbClr val="FFFFFF"/>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sz="1600">
              <a:latin typeface="游ゴシック" panose="020B0400000000000000" pitchFamily="50" charset="-128"/>
              <a:ea typeface="游ゴシック" panose="020B0400000000000000" pitchFamily="50" charset="-128"/>
            </a:endParaRPr>
          </a:p>
        </p:txBody>
      </p:sp>
      <p:sp>
        <p:nvSpPr>
          <p:cNvPr id="27" name="Rounded Rectangle 26"/>
          <p:cNvSpPr/>
          <p:nvPr/>
        </p:nvSpPr>
        <p:spPr>
          <a:xfrm>
            <a:off x="5417819" y="1599316"/>
            <a:ext cx="4823459" cy="329184"/>
          </a:xfrm>
          <a:prstGeom prst="roundRect">
            <a:avLst>
              <a:gd name="adj" fmla="val 10000"/>
            </a:avLst>
          </a:prstGeom>
          <a:solidFill>
            <a:srgbClr val="1F3864"/>
          </a:solidFill>
          <a:ln w="28575">
            <a:solidFill>
              <a:srgbClr val="1F3864"/>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sz="1600">
              <a:latin typeface="游ゴシック" panose="020B0400000000000000" pitchFamily="50" charset="-128"/>
              <a:ea typeface="游ゴシック" panose="020B0400000000000000" pitchFamily="50" charset="-128"/>
            </a:endParaRPr>
          </a:p>
        </p:txBody>
      </p:sp>
      <p:sp>
        <p:nvSpPr>
          <p:cNvPr id="28" name="TextBox 27"/>
          <p:cNvSpPr txBox="1"/>
          <p:nvPr/>
        </p:nvSpPr>
        <p:spPr>
          <a:xfrm>
            <a:off x="5582411" y="1651633"/>
            <a:ext cx="4549140" cy="224549"/>
          </a:xfrm>
          <a:prstGeom prst="rect">
            <a:avLst/>
          </a:prstGeom>
          <a:noFill/>
        </p:spPr>
        <p:txBody>
          <a:bodyPr wrap="square" lIns="0" tIns="0" rIns="0" bIns="0" anchor="ctr">
            <a:spAutoFit/>
          </a:bodyPr>
          <a:lstStyle/>
          <a:p>
            <a:pPr algn="l">
              <a:lnSpc>
                <a:spcPct val="108000"/>
              </a:lnSpc>
            </a:pPr>
            <a:r>
              <a:rPr sz="1400" b="1">
                <a:solidFill>
                  <a:srgbClr val="FFFFFF"/>
                </a:solidFill>
                <a:latin typeface="游ゴシック" panose="020B0400000000000000" pitchFamily="50" charset="-128"/>
                <a:ea typeface="游ゴシック" panose="020B0400000000000000" pitchFamily="50" charset="-128"/>
              </a:rPr>
              <a:t>店舗コスト　～FC店と路面店～</a:t>
            </a:r>
          </a:p>
        </p:txBody>
      </p:sp>
      <p:sp>
        <p:nvSpPr>
          <p:cNvPr id="29" name="Oval 28"/>
          <p:cNvSpPr/>
          <p:nvPr/>
        </p:nvSpPr>
        <p:spPr>
          <a:xfrm>
            <a:off x="5582411" y="2093092"/>
            <a:ext cx="256032" cy="256032"/>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游ゴシック" panose="020B0400000000000000" pitchFamily="50" charset="-128"/>
                <a:ea typeface="游ゴシック" panose="020B0400000000000000" pitchFamily="50" charset="-128"/>
              </a:rPr>
              <a:t>①</a:t>
            </a:r>
          </a:p>
        </p:txBody>
      </p:sp>
      <p:sp>
        <p:nvSpPr>
          <p:cNvPr id="30" name="TextBox 29"/>
          <p:cNvSpPr txBox="1"/>
          <p:nvPr/>
        </p:nvSpPr>
        <p:spPr>
          <a:xfrm>
            <a:off x="5929883" y="2128605"/>
            <a:ext cx="4146803" cy="192425"/>
          </a:xfrm>
          <a:prstGeom prst="rect">
            <a:avLst/>
          </a:prstGeom>
          <a:noFill/>
        </p:spPr>
        <p:txBody>
          <a:bodyPr wrap="square" lIns="0" tIns="0" rIns="0" bIns="0" anchor="t">
            <a:spAutoFit/>
          </a:bodyPr>
          <a:lstStyle/>
          <a:p>
            <a:pPr algn="l">
              <a:lnSpc>
                <a:spcPct val="108000"/>
              </a:lnSpc>
            </a:pPr>
            <a:r>
              <a:rPr sz="1200" b="1" dirty="0" err="1">
                <a:solidFill>
                  <a:srgbClr val="1F3864"/>
                </a:solidFill>
                <a:latin typeface="游ゴシック" panose="020B0400000000000000" pitchFamily="50" charset="-128"/>
                <a:ea typeface="游ゴシック" panose="020B0400000000000000" pitchFamily="50" charset="-128"/>
              </a:rPr>
              <a:t>費用構造</a:t>
            </a:r>
            <a:endParaRPr sz="1200" b="1" dirty="0">
              <a:solidFill>
                <a:srgbClr val="1F3864"/>
              </a:solidFill>
              <a:latin typeface="游ゴシック" panose="020B0400000000000000" pitchFamily="50" charset="-128"/>
              <a:ea typeface="游ゴシック" panose="020B0400000000000000" pitchFamily="50" charset="-128"/>
            </a:endParaRPr>
          </a:p>
        </p:txBody>
      </p:sp>
      <p:sp>
        <p:nvSpPr>
          <p:cNvPr id="31" name="TextBox 30"/>
          <p:cNvSpPr txBox="1"/>
          <p:nvPr/>
        </p:nvSpPr>
        <p:spPr>
          <a:xfrm>
            <a:off x="5929883" y="2402925"/>
            <a:ext cx="4146803" cy="510076"/>
          </a:xfrm>
          <a:prstGeom prst="rect">
            <a:avLst/>
          </a:prstGeom>
          <a:noFill/>
        </p:spPr>
        <p:txBody>
          <a:bodyPr wrap="square" lIns="0" tIns="0" rIns="0" bIns="0" anchor="t">
            <a:spAutoFit/>
          </a:bodyPr>
          <a:lstStyle/>
          <a:p>
            <a:pPr algn="l">
              <a:lnSpc>
                <a:spcPct val="112000"/>
              </a:lnSpc>
            </a:pPr>
            <a:r>
              <a:rPr sz="1000" b="0" dirty="0">
                <a:solidFill>
                  <a:srgbClr val="202020"/>
                </a:solidFill>
                <a:latin typeface="游ゴシック" panose="020B0400000000000000" pitchFamily="50" charset="-128"/>
                <a:ea typeface="游ゴシック" panose="020B0400000000000000" pitchFamily="50" charset="-128"/>
              </a:rPr>
              <a:t>FC加盟のインショップは店舗使用料が売上歩合（売上の11〜15%）であり、販管費上は「ロイヤリティ」に含まれる。路面店（大型犬専門店2店舗）と緑店は月額640〜920千円の固定賃料。</a:t>
            </a:r>
          </a:p>
        </p:txBody>
      </p:sp>
      <p:sp>
        <p:nvSpPr>
          <p:cNvPr id="32" name="Oval 31"/>
          <p:cNvSpPr/>
          <p:nvPr/>
        </p:nvSpPr>
        <p:spPr>
          <a:xfrm>
            <a:off x="5582411" y="3053212"/>
            <a:ext cx="256032" cy="256032"/>
          </a:xfrm>
          <a:prstGeom prst="ellipse">
            <a:avLst/>
          </a:prstGeom>
          <a:solidFill>
            <a:srgbClr val="00357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dirty="0">
                <a:solidFill>
                  <a:srgbClr val="FFFFFF"/>
                </a:solidFill>
                <a:latin typeface="游ゴシック" panose="020B0400000000000000" pitchFamily="50" charset="-128"/>
                <a:ea typeface="游ゴシック" panose="020B0400000000000000" pitchFamily="50" charset="-128"/>
              </a:rPr>
              <a:t>②</a:t>
            </a:r>
          </a:p>
        </p:txBody>
      </p:sp>
      <p:sp>
        <p:nvSpPr>
          <p:cNvPr id="33" name="TextBox 32"/>
          <p:cNvSpPr txBox="1"/>
          <p:nvPr/>
        </p:nvSpPr>
        <p:spPr>
          <a:xfrm>
            <a:off x="5929883" y="3066236"/>
            <a:ext cx="4146803" cy="192425"/>
          </a:xfrm>
          <a:prstGeom prst="rect">
            <a:avLst/>
          </a:prstGeom>
          <a:noFill/>
        </p:spPr>
        <p:txBody>
          <a:bodyPr wrap="square" lIns="0" tIns="0" rIns="0" bIns="0" anchor="t">
            <a:spAutoFit/>
          </a:bodyPr>
          <a:lstStyle/>
          <a:p>
            <a:pPr algn="l">
              <a:lnSpc>
                <a:spcPct val="108000"/>
              </a:lnSpc>
            </a:pPr>
            <a:r>
              <a:rPr sz="1200" b="1" dirty="0" err="1">
                <a:solidFill>
                  <a:srgbClr val="1F3864"/>
                </a:solidFill>
                <a:latin typeface="游ゴシック" panose="020B0400000000000000" pitchFamily="50" charset="-128"/>
                <a:ea typeface="游ゴシック" panose="020B0400000000000000" pitchFamily="50" charset="-128"/>
              </a:rPr>
              <a:t>同社の実質的な強み</a:t>
            </a:r>
            <a:endParaRPr sz="1200" b="1" dirty="0">
              <a:solidFill>
                <a:srgbClr val="1F3864"/>
              </a:solidFill>
              <a:latin typeface="游ゴシック" panose="020B0400000000000000" pitchFamily="50" charset="-128"/>
              <a:ea typeface="游ゴシック" panose="020B0400000000000000" pitchFamily="50" charset="-128"/>
            </a:endParaRPr>
          </a:p>
        </p:txBody>
      </p:sp>
      <p:sp>
        <p:nvSpPr>
          <p:cNvPr id="34" name="TextBox 33"/>
          <p:cNvSpPr txBox="1"/>
          <p:nvPr/>
        </p:nvSpPr>
        <p:spPr>
          <a:xfrm>
            <a:off x="5929883" y="3340557"/>
            <a:ext cx="4146803" cy="510076"/>
          </a:xfrm>
          <a:prstGeom prst="rect">
            <a:avLst/>
          </a:prstGeom>
          <a:noFill/>
        </p:spPr>
        <p:txBody>
          <a:bodyPr wrap="square" lIns="0" tIns="0" rIns="0" bIns="0" anchor="t">
            <a:spAutoFit/>
          </a:bodyPr>
          <a:lstStyle/>
          <a:p>
            <a:pPr algn="l">
              <a:lnSpc>
                <a:spcPct val="112000"/>
              </a:lnSpc>
            </a:pPr>
            <a:r>
              <a:rPr sz="1000" b="0" dirty="0">
                <a:solidFill>
                  <a:srgbClr val="202020"/>
                </a:solidFill>
                <a:latin typeface="游ゴシック" panose="020B0400000000000000" pitchFamily="50" charset="-128"/>
                <a:ea typeface="游ゴシック" panose="020B0400000000000000" pitchFamily="50" charset="-128"/>
              </a:rPr>
              <a:t>大型犬専門店は高所得層をターゲットとし、生体単価・保険加入率がともに高い。固定賃料のため損益分岐点は高いが、超過分は利益に直結する。</a:t>
            </a:r>
          </a:p>
        </p:txBody>
      </p:sp>
      <p:sp>
        <p:nvSpPr>
          <p:cNvPr id="35" name="Rounded Rectangle 34"/>
          <p:cNvSpPr/>
          <p:nvPr/>
        </p:nvSpPr>
        <p:spPr>
          <a:xfrm>
            <a:off x="5582411" y="4127040"/>
            <a:ext cx="4494275" cy="588198"/>
          </a:xfrm>
          <a:prstGeom prst="roundRect">
            <a:avLst>
              <a:gd name="adj" fmla="val 8000"/>
            </a:avLst>
          </a:prstGeom>
          <a:solidFill>
            <a:srgbClr val="EAF3E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sz="1600">
              <a:latin typeface="游ゴシック" panose="020B0400000000000000" pitchFamily="50" charset="-128"/>
              <a:ea typeface="游ゴシック" panose="020B0400000000000000" pitchFamily="50" charset="-128"/>
            </a:endParaRPr>
          </a:p>
        </p:txBody>
      </p:sp>
      <p:sp>
        <p:nvSpPr>
          <p:cNvPr id="36" name="Oval 35"/>
          <p:cNvSpPr/>
          <p:nvPr/>
        </p:nvSpPr>
        <p:spPr>
          <a:xfrm>
            <a:off x="5692139" y="4201683"/>
            <a:ext cx="219456" cy="219456"/>
          </a:xfrm>
          <a:prstGeom prst="ellipse">
            <a:avLst/>
          </a:prstGeom>
          <a:solidFill>
            <a:srgbClr val="1E6B3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游ゴシック" panose="020B0400000000000000" pitchFamily="50" charset="-128"/>
                <a:ea typeface="游ゴシック" panose="020B0400000000000000" pitchFamily="50" charset="-128"/>
              </a:rPr>
              <a:t>✓</a:t>
            </a:r>
          </a:p>
        </p:txBody>
      </p:sp>
      <p:sp>
        <p:nvSpPr>
          <p:cNvPr id="37" name="TextBox 36"/>
          <p:cNvSpPr txBox="1"/>
          <p:nvPr/>
        </p:nvSpPr>
        <p:spPr>
          <a:xfrm>
            <a:off x="5984747" y="4166101"/>
            <a:ext cx="4091939" cy="510076"/>
          </a:xfrm>
          <a:prstGeom prst="rect">
            <a:avLst/>
          </a:prstGeom>
          <a:noFill/>
        </p:spPr>
        <p:txBody>
          <a:bodyPr wrap="square" lIns="0" tIns="0" rIns="0" bIns="0" anchor="t">
            <a:spAutoFit/>
          </a:bodyPr>
          <a:lstStyle/>
          <a:p>
            <a:pPr algn="l">
              <a:lnSpc>
                <a:spcPct val="112000"/>
              </a:lnSpc>
            </a:pPr>
            <a:r>
              <a:rPr sz="1000" b="0" dirty="0">
                <a:solidFill>
                  <a:srgbClr val="1E6B3F"/>
                </a:solidFill>
                <a:latin typeface="游ゴシック" panose="020B0400000000000000" pitchFamily="50" charset="-128"/>
                <a:ea typeface="游ゴシック" panose="020B0400000000000000" pitchFamily="50" charset="-128"/>
              </a:rPr>
              <a:t>2025年11月期の地代家賃33,249千円（前期19,460千円）は路面店2店舗の通期稼働による増加。一方ロイヤリティは45,990→29,982千円と減少しており、売上構成の変化が費用構造に表れている。</a:t>
            </a:r>
            <a:endParaRPr sz="1000" b="0" dirty="0">
              <a:solidFill>
                <a:srgbClr val="1E6B3F"/>
              </a:solidFill>
              <a:latin typeface="游ゴシック" panose="020B0400000000000000" pitchFamily="50" charset="-128"/>
              <a:ea typeface="游ゴシック" panose="020B0400000000000000" pitchFamily="50" charset="-128"/>
            </a:endParaRPr>
          </a:p>
        </p:txBody>
      </p:sp>
      <p:sp>
        <p:nvSpPr>
          <p:cNvPr id="38" name="Rounded Rectangle 37"/>
          <p:cNvSpPr/>
          <p:nvPr/>
        </p:nvSpPr>
        <p:spPr>
          <a:xfrm>
            <a:off x="320040" y="5556895"/>
            <a:ext cx="9921240" cy="868680"/>
          </a:xfrm>
          <a:prstGeom prst="roundRect">
            <a:avLst>
              <a:gd name="adj" fmla="val 6000"/>
            </a:avLst>
          </a:prstGeom>
          <a:solidFill>
            <a:srgbClr val="FFFFFF"/>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sz="1400">
              <a:latin typeface="游ゴシック" panose="020B0400000000000000" pitchFamily="50" charset="-128"/>
              <a:ea typeface="游ゴシック" panose="020B0400000000000000" pitchFamily="50" charset="-128"/>
            </a:endParaRPr>
          </a:p>
        </p:txBody>
      </p:sp>
      <p:sp>
        <p:nvSpPr>
          <p:cNvPr id="39" name="Rounded Rectangle 38"/>
          <p:cNvSpPr/>
          <p:nvPr/>
        </p:nvSpPr>
        <p:spPr>
          <a:xfrm>
            <a:off x="320040" y="5556895"/>
            <a:ext cx="1417320" cy="868680"/>
          </a:xfrm>
          <a:prstGeom prst="roundRect">
            <a:avLst>
              <a:gd name="adj" fmla="val 6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sz="1400">
              <a:latin typeface="游ゴシック" panose="020B0400000000000000" pitchFamily="50" charset="-128"/>
              <a:ea typeface="游ゴシック" panose="020B0400000000000000" pitchFamily="50" charset="-128"/>
            </a:endParaRPr>
          </a:p>
        </p:txBody>
      </p:sp>
      <p:sp>
        <p:nvSpPr>
          <p:cNvPr id="40" name="Rectangle 39"/>
          <p:cNvSpPr/>
          <p:nvPr/>
        </p:nvSpPr>
        <p:spPr>
          <a:xfrm>
            <a:off x="1600200" y="5556895"/>
            <a:ext cx="137160"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latin typeface="游ゴシック" panose="020B0400000000000000" pitchFamily="50" charset="-128"/>
              <a:ea typeface="游ゴシック" panose="020B0400000000000000" pitchFamily="50" charset="-128"/>
            </a:endParaRPr>
          </a:p>
        </p:txBody>
      </p:sp>
      <p:sp>
        <p:nvSpPr>
          <p:cNvPr id="41" name="TextBox 40"/>
          <p:cNvSpPr txBox="1"/>
          <p:nvPr/>
        </p:nvSpPr>
        <p:spPr>
          <a:xfrm>
            <a:off x="411479" y="5895022"/>
            <a:ext cx="1271016" cy="192425"/>
          </a:xfrm>
          <a:prstGeom prst="rect">
            <a:avLst/>
          </a:prstGeom>
          <a:noFill/>
        </p:spPr>
        <p:txBody>
          <a:bodyPr wrap="square" lIns="0" tIns="0" rIns="0" bIns="0" anchor="ctr">
            <a:spAutoFit/>
          </a:bodyPr>
          <a:lstStyle/>
          <a:p>
            <a:pPr algn="ctr">
              <a:lnSpc>
                <a:spcPct val="108000"/>
              </a:lnSpc>
            </a:pPr>
            <a:r>
              <a:rPr sz="1200" b="1">
                <a:solidFill>
                  <a:srgbClr val="FFFFFF"/>
                </a:solidFill>
                <a:latin typeface="游ゴシック" panose="020B0400000000000000" pitchFamily="50" charset="-128"/>
                <a:ea typeface="游ゴシック" panose="020B0400000000000000" pitchFamily="50" charset="-128"/>
              </a:rPr>
              <a:t>ポイント</a:t>
            </a:r>
          </a:p>
        </p:txBody>
      </p:sp>
      <p:sp>
        <p:nvSpPr>
          <p:cNvPr id="42" name="Oval 41"/>
          <p:cNvSpPr/>
          <p:nvPr/>
        </p:nvSpPr>
        <p:spPr>
          <a:xfrm>
            <a:off x="1883664" y="5872363"/>
            <a:ext cx="237744" cy="237744"/>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游ゴシック" panose="020B0400000000000000" pitchFamily="50" charset="-128"/>
                <a:ea typeface="游ゴシック" panose="020B0400000000000000" pitchFamily="50" charset="-128"/>
              </a:rPr>
              <a:t>✓</a:t>
            </a:r>
          </a:p>
        </p:txBody>
      </p:sp>
      <p:sp>
        <p:nvSpPr>
          <p:cNvPr id="43" name="TextBox 42"/>
          <p:cNvSpPr txBox="1"/>
          <p:nvPr/>
        </p:nvSpPr>
        <p:spPr>
          <a:xfrm>
            <a:off x="2212848" y="5827953"/>
            <a:ext cx="2304283" cy="326564"/>
          </a:xfrm>
          <a:prstGeom prst="rect">
            <a:avLst/>
          </a:prstGeom>
          <a:noFill/>
        </p:spPr>
        <p:txBody>
          <a:bodyPr wrap="square" lIns="0" tIns="0" rIns="0" bIns="0" anchor="ctr">
            <a:spAutoFit/>
          </a:bodyPr>
          <a:lstStyle/>
          <a:p>
            <a:pPr algn="l">
              <a:lnSpc>
                <a:spcPct val="108000"/>
              </a:lnSpc>
            </a:pPr>
            <a:r>
              <a:rPr sz="1000" b="1" dirty="0" err="1">
                <a:solidFill>
                  <a:srgbClr val="202020"/>
                </a:solidFill>
                <a:latin typeface="游ゴシック" panose="020B0400000000000000" pitchFamily="50" charset="-128"/>
                <a:ea typeface="游ゴシック" panose="020B0400000000000000" pitchFamily="50" charset="-128"/>
              </a:rPr>
              <a:t>FC店は歩合賃料でロイヤリティに含まれ、
固定費負担が軽い</a:t>
            </a:r>
            <a:endParaRPr sz="1000" b="1" dirty="0">
              <a:solidFill>
                <a:srgbClr val="202020"/>
              </a:solidFill>
              <a:latin typeface="游ゴシック" panose="020B0400000000000000" pitchFamily="50" charset="-128"/>
              <a:ea typeface="游ゴシック" panose="020B0400000000000000" pitchFamily="50" charset="-128"/>
            </a:endParaRPr>
          </a:p>
        </p:txBody>
      </p:sp>
      <p:sp>
        <p:nvSpPr>
          <p:cNvPr id="44" name="Oval 43"/>
          <p:cNvSpPr/>
          <p:nvPr/>
        </p:nvSpPr>
        <p:spPr>
          <a:xfrm>
            <a:off x="4718304" y="5872363"/>
            <a:ext cx="237744" cy="237744"/>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游ゴシック" panose="020B0400000000000000" pitchFamily="50" charset="-128"/>
                <a:ea typeface="游ゴシック" panose="020B0400000000000000" pitchFamily="50" charset="-128"/>
              </a:rPr>
              <a:t>✓</a:t>
            </a:r>
          </a:p>
        </p:txBody>
      </p:sp>
      <p:sp>
        <p:nvSpPr>
          <p:cNvPr id="45" name="TextBox 44"/>
          <p:cNvSpPr txBox="1"/>
          <p:nvPr/>
        </p:nvSpPr>
        <p:spPr>
          <a:xfrm>
            <a:off x="5047488" y="5827953"/>
            <a:ext cx="2304283" cy="326564"/>
          </a:xfrm>
          <a:prstGeom prst="rect">
            <a:avLst/>
          </a:prstGeom>
          <a:noFill/>
        </p:spPr>
        <p:txBody>
          <a:bodyPr wrap="square" lIns="0" tIns="0" rIns="0" bIns="0" anchor="ctr">
            <a:spAutoFit/>
          </a:bodyPr>
          <a:lstStyle/>
          <a:p>
            <a:pPr algn="l">
              <a:lnSpc>
                <a:spcPct val="108000"/>
              </a:lnSpc>
            </a:pPr>
            <a:r>
              <a:rPr sz="1000" b="1" dirty="0" err="1">
                <a:solidFill>
                  <a:srgbClr val="202020"/>
                </a:solidFill>
                <a:latin typeface="游ゴシック" panose="020B0400000000000000" pitchFamily="50" charset="-128"/>
                <a:ea typeface="游ゴシック" panose="020B0400000000000000" pitchFamily="50" charset="-128"/>
              </a:rPr>
              <a:t>路面店は固定賃料。損益分岐点は高いが、
超過分は利益に直結する</a:t>
            </a:r>
            <a:endParaRPr sz="1000" b="1" dirty="0">
              <a:solidFill>
                <a:srgbClr val="202020"/>
              </a:solidFill>
              <a:latin typeface="游ゴシック" panose="020B0400000000000000" pitchFamily="50" charset="-128"/>
              <a:ea typeface="游ゴシック" panose="020B0400000000000000" pitchFamily="50" charset="-128"/>
            </a:endParaRPr>
          </a:p>
        </p:txBody>
      </p:sp>
      <p:cxnSp>
        <p:nvCxnSpPr>
          <p:cNvPr id="46" name="Connector 45"/>
          <p:cNvCxnSpPr/>
          <p:nvPr/>
        </p:nvCxnSpPr>
        <p:spPr>
          <a:xfrm>
            <a:off x="4572000" y="5675767"/>
            <a:ext cx="0" cy="630936"/>
          </a:xfrm>
          <a:prstGeom prst="line">
            <a:avLst/>
          </a:prstGeom>
          <a:ln w="9525">
            <a:solidFill>
              <a:srgbClr val="C8D2E0"/>
            </a:solidFill>
            <a:prstDash val="dash"/>
          </a:ln>
        </p:spPr>
        <p:style>
          <a:lnRef idx="2">
            <a:schemeClr val="accent1"/>
          </a:lnRef>
          <a:fillRef idx="0">
            <a:schemeClr val="accent1"/>
          </a:fillRef>
          <a:effectRef idx="1">
            <a:schemeClr val="accent1"/>
          </a:effectRef>
          <a:fontRef idx="minor">
            <a:schemeClr val="tx1"/>
          </a:fontRef>
        </p:style>
      </p:cxnSp>
      <p:sp>
        <p:nvSpPr>
          <p:cNvPr id="47" name="Oval 46"/>
          <p:cNvSpPr/>
          <p:nvPr/>
        </p:nvSpPr>
        <p:spPr>
          <a:xfrm>
            <a:off x="7552944" y="5872363"/>
            <a:ext cx="237744" cy="237744"/>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游ゴシック" panose="020B0400000000000000" pitchFamily="50" charset="-128"/>
                <a:ea typeface="游ゴシック" panose="020B0400000000000000" pitchFamily="50" charset="-128"/>
              </a:rPr>
              <a:t>✓</a:t>
            </a:r>
          </a:p>
        </p:txBody>
      </p:sp>
      <p:sp>
        <p:nvSpPr>
          <p:cNvPr id="48" name="TextBox 47"/>
          <p:cNvSpPr txBox="1"/>
          <p:nvPr/>
        </p:nvSpPr>
        <p:spPr>
          <a:xfrm>
            <a:off x="7882127" y="5827953"/>
            <a:ext cx="2304283" cy="326564"/>
          </a:xfrm>
          <a:prstGeom prst="rect">
            <a:avLst/>
          </a:prstGeom>
          <a:noFill/>
        </p:spPr>
        <p:txBody>
          <a:bodyPr wrap="square" lIns="0" tIns="0" rIns="0" bIns="0" anchor="ctr">
            <a:spAutoFit/>
          </a:bodyPr>
          <a:lstStyle/>
          <a:p>
            <a:pPr algn="l">
              <a:lnSpc>
                <a:spcPct val="108000"/>
              </a:lnSpc>
            </a:pPr>
            <a:r>
              <a:rPr sz="1000" b="1" dirty="0">
                <a:solidFill>
                  <a:srgbClr val="202020"/>
                </a:solidFill>
                <a:latin typeface="游ゴシック" panose="020B0400000000000000" pitchFamily="50" charset="-128"/>
                <a:ea typeface="游ゴシック" panose="020B0400000000000000" pitchFamily="50" charset="-128"/>
              </a:rPr>
              <a:t>粗利率の低下は仕入価格の転嫁遅れが主因。
値付けの見直しが収益改善の鍵</a:t>
            </a:r>
          </a:p>
        </p:txBody>
      </p:sp>
      <p:cxnSp>
        <p:nvCxnSpPr>
          <p:cNvPr id="49" name="Connector 48"/>
          <p:cNvCxnSpPr/>
          <p:nvPr/>
        </p:nvCxnSpPr>
        <p:spPr>
          <a:xfrm>
            <a:off x="7406640" y="5675767"/>
            <a:ext cx="0" cy="630936"/>
          </a:xfrm>
          <a:prstGeom prst="line">
            <a:avLst/>
          </a:prstGeom>
          <a:ln w="9525">
            <a:solidFill>
              <a:srgbClr val="C8D2E0"/>
            </a:solidFill>
            <a:prstDash val="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908445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EAEF2-738C-97B3-4696-F3BB344E55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6C9D74-25B9-202B-100C-14E88F8A35B4}"/>
              </a:ext>
            </a:extLst>
          </p:cNvPr>
          <p:cNvSpPr>
            <a:spLocks noGrp="1"/>
          </p:cNvSpPr>
          <p:nvPr>
            <p:ph type="title"/>
          </p:nvPr>
        </p:nvSpPr>
        <p:spPr>
          <a:xfrm>
            <a:off x="989013" y="3656161"/>
            <a:ext cx="9221787" cy="615553"/>
          </a:xfrm>
        </p:spPr>
        <p:txBody>
          <a:bodyPr/>
          <a:lstStyle/>
          <a:p>
            <a:r>
              <a:rPr lang="ja-JP" altLang="en-US" dirty="0"/>
              <a:t>組織、拠点、設備等</a:t>
            </a:r>
            <a:endParaRPr lang="en-US" altLang="ja-JP" dirty="0"/>
          </a:p>
        </p:txBody>
      </p:sp>
      <p:pic>
        <p:nvPicPr>
          <p:cNvPr id="7" name="図 6">
            <a:extLst>
              <a:ext uri="{FF2B5EF4-FFF2-40B4-BE49-F238E27FC236}">
                <a16:creationId xmlns:a16="http://schemas.microsoft.com/office/drawing/2014/main" id="{C8D5CA77-B77E-EE25-04B7-23BDB60E0B2A}"/>
              </a:ext>
            </a:extLst>
          </p:cNvPr>
          <p:cNvPicPr>
            <a:picLocks noChangeAspect="1"/>
          </p:cNvPicPr>
          <p:nvPr/>
        </p:nvPicPr>
        <p:blipFill>
          <a:blip/>
          <a:stretch>
            <a:fillRect/>
          </a:stretch>
        </p:blipFill>
        <p:spPr>
          <a:xfrm>
            <a:off x="7776467" y="3981785"/>
            <a:ext cx="21" cy="20"/>
          </a:xfrm>
          <a:prstGeom prst="rect">
            <a:avLst/>
          </a:prstGeom>
        </p:spPr>
      </p:pic>
      <p:pic>
        <p:nvPicPr>
          <p:cNvPr id="9" name="図 8">
            <a:extLst>
              <a:ext uri="{FF2B5EF4-FFF2-40B4-BE49-F238E27FC236}">
                <a16:creationId xmlns:a16="http://schemas.microsoft.com/office/drawing/2014/main" id="{5841CF96-EF85-6F41-A092-6ED9083D3E7C}"/>
              </a:ext>
            </a:extLst>
          </p:cNvPr>
          <p:cNvPicPr>
            <a:picLocks noChangeAspect="1"/>
          </p:cNvPicPr>
          <p:nvPr/>
        </p:nvPicPr>
        <p:blipFill>
          <a:blip/>
          <a:stretch>
            <a:fillRect/>
          </a:stretch>
        </p:blipFill>
        <p:spPr>
          <a:xfrm>
            <a:off x="7776467" y="3981785"/>
            <a:ext cx="21" cy="20"/>
          </a:xfrm>
          <a:prstGeom prst="rect">
            <a:avLst/>
          </a:prstGeom>
        </p:spPr>
      </p:pic>
    </p:spTree>
    <p:extLst>
      <p:ext uri="{BB962C8B-B14F-4D97-AF65-F5344CB8AC3E}">
        <p14:creationId xmlns:p14="http://schemas.microsoft.com/office/powerpoint/2010/main" val="1797825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DBCD3-5A3B-2BD8-C28A-632388175E8D}"/>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59B21744-4533-BD30-603B-B8A7A98290C9}"/>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組織図</a:t>
            </a:r>
          </a:p>
        </p:txBody>
      </p:sp>
      <p:sp>
        <p:nvSpPr>
          <p:cNvPr id="5" name="タイトル 1">
            <a:extLst>
              <a:ext uri="{FF2B5EF4-FFF2-40B4-BE49-F238E27FC236}">
                <a16:creationId xmlns:a16="http://schemas.microsoft.com/office/drawing/2014/main" id="{804C58BE-3C7F-3F33-BB99-084C0822899F}"/>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組織、拠点、設備等</a:t>
            </a:r>
          </a:p>
        </p:txBody>
      </p:sp>
      <p:sp>
        <p:nvSpPr>
          <p:cNvPr id="14" name="Rounded Rectangle 13"/>
          <p:cNvSpPr/>
          <p:nvPr/>
        </p:nvSpPr>
        <p:spPr>
          <a:xfrm>
            <a:off x="4104000" y="1584000"/>
            <a:ext cx="2340000" cy="540000"/>
          </a:xfrm>
          <a:prstGeom prst="roundRect">
            <a:avLst/>
          </a:prstGeom>
          <a:solidFill>
            <a:srgbClr val="1F3B5B"/>
          </a:solidFill>
          <a:ln w="9525">
            <a:noFill/>
          </a:ln>
        </p:spPr>
        <p:style>
          <a:lnRef idx="1">
            <a:schemeClr val="accent1"/>
          </a:lnRef>
          <a:fillRef idx="3">
            <a:schemeClr val="accent1"/>
          </a:fillRef>
          <a:effectRef idx="2">
            <a:schemeClr val="accent1"/>
          </a:effectRef>
          <a:fontRef idx="minor">
            <a:schemeClr val="lt1"/>
          </a:fontRef>
        </p:style>
        <p:txBody>
          <a:bodyPr wrap="square" tIns="18000" bIns="18000" rtlCol="0" anchor="ctr"/>
          <a:lstStyle/>
          <a:p>
            <a:pPr algn="ctr"/>
            <a:r>
              <a:rPr sz="900" b="1" dirty="0" err="1">
                <a:solidFill>
                  <a:srgbClr val="FFFFFF"/>
                </a:solidFill>
                <a:latin typeface="游ゴシック" panose="020B0400000000000000" pitchFamily="50" charset="-128"/>
                <a:ea typeface="游ゴシック" panose="020B0400000000000000" pitchFamily="50" charset="-128"/>
              </a:rPr>
              <a:t>株主総会</a:t>
            </a:r>
            <a:endParaRPr sz="1400" b="1" dirty="0">
              <a:solidFill>
                <a:srgbClr val="FFFFFF"/>
              </a:solidFill>
              <a:latin typeface="游ゴシック" panose="020B0400000000000000" pitchFamily="50" charset="-128"/>
              <a:ea typeface="游ゴシック" panose="020B0400000000000000" pitchFamily="50" charset="-128"/>
            </a:endParaRPr>
          </a:p>
        </p:txBody>
      </p:sp>
      <p:sp>
        <p:nvSpPr>
          <p:cNvPr id="15" name="Rounded Rectangle 14"/>
          <p:cNvSpPr/>
          <p:nvPr/>
        </p:nvSpPr>
        <p:spPr>
          <a:xfrm>
            <a:off x="4104000" y="2463563"/>
            <a:ext cx="2340000" cy="576000"/>
          </a:xfrm>
          <a:prstGeom prst="roundRect">
            <a:avLst/>
          </a:prstGeom>
          <a:solidFill>
            <a:srgbClr val="2E5A88"/>
          </a:solidFill>
          <a:ln w="9525">
            <a:noFill/>
          </a:ln>
        </p:spPr>
        <p:style>
          <a:lnRef idx="1">
            <a:schemeClr val="accent1"/>
          </a:lnRef>
          <a:fillRef idx="3">
            <a:schemeClr val="accent1"/>
          </a:fillRef>
          <a:effectRef idx="2">
            <a:schemeClr val="accent1"/>
          </a:effectRef>
          <a:fontRef idx="minor">
            <a:schemeClr val="lt1"/>
          </a:fontRef>
        </p:style>
        <p:txBody>
          <a:bodyPr wrap="square" tIns="18000" bIns="18000" rtlCol="0" anchor="ctr"/>
          <a:lstStyle/>
          <a:p>
            <a:pPr algn="ctr"/>
            <a:r>
              <a:rPr sz="900" b="1">
                <a:solidFill>
                  <a:srgbClr val="FFFFFF"/>
                </a:solidFill>
                <a:latin typeface="游ゴシック" panose="020B0400000000000000" pitchFamily="50" charset="-128"/>
                <a:ea typeface="游ゴシック" panose="020B0400000000000000" pitchFamily="50" charset="-128"/>
              </a:rPr>
              <a:t>代表取締役　淺野 ゆう子
経理全般・金融機関対応</a:t>
            </a:r>
          </a:p>
        </p:txBody>
      </p:sp>
      <p:sp>
        <p:nvSpPr>
          <p:cNvPr id="16" name="Rounded Rectangle 15"/>
          <p:cNvSpPr/>
          <p:nvPr/>
        </p:nvSpPr>
        <p:spPr>
          <a:xfrm>
            <a:off x="7343906" y="2463563"/>
            <a:ext cx="1728000" cy="576000"/>
          </a:xfrm>
          <a:prstGeom prst="roundRect">
            <a:avLst/>
          </a:prstGeom>
          <a:solidFill>
            <a:srgbClr val="7A8A99"/>
          </a:solidFill>
          <a:ln w="9525">
            <a:noFill/>
          </a:ln>
        </p:spPr>
        <p:style>
          <a:lnRef idx="1">
            <a:schemeClr val="accent1"/>
          </a:lnRef>
          <a:fillRef idx="3">
            <a:schemeClr val="accent1"/>
          </a:fillRef>
          <a:effectRef idx="2">
            <a:schemeClr val="accent1"/>
          </a:effectRef>
          <a:fontRef idx="minor">
            <a:schemeClr val="lt1"/>
          </a:fontRef>
        </p:style>
        <p:txBody>
          <a:bodyPr wrap="square" tIns="18000" bIns="18000" rtlCol="0" anchor="ctr"/>
          <a:lstStyle/>
          <a:p>
            <a:pPr algn="ctr"/>
            <a:r>
              <a:rPr sz="900" b="1" dirty="0" err="1">
                <a:solidFill>
                  <a:srgbClr val="FFFFFF"/>
                </a:solidFill>
                <a:latin typeface="游ゴシック" panose="020B0400000000000000" pitchFamily="50" charset="-128"/>
                <a:ea typeface="游ゴシック" panose="020B0400000000000000" pitchFamily="50" charset="-128"/>
              </a:rPr>
              <a:t>顧問税理士
堀江将仁税理士事務所</a:t>
            </a:r>
            <a:endParaRPr sz="1200" b="1" dirty="0">
              <a:solidFill>
                <a:srgbClr val="FFFFFF"/>
              </a:solidFill>
              <a:latin typeface="游ゴシック" panose="020B0400000000000000" pitchFamily="50" charset="-128"/>
              <a:ea typeface="游ゴシック" panose="020B0400000000000000" pitchFamily="50" charset="-128"/>
            </a:endParaRPr>
          </a:p>
        </p:txBody>
      </p:sp>
      <p:sp>
        <p:nvSpPr>
          <p:cNvPr id="17" name="Rounded Rectangle 16"/>
          <p:cNvSpPr/>
          <p:nvPr/>
        </p:nvSpPr>
        <p:spPr>
          <a:xfrm>
            <a:off x="4302000" y="3379126"/>
            <a:ext cx="1944000" cy="720000"/>
          </a:xfrm>
          <a:prstGeom prst="roundRect">
            <a:avLst/>
          </a:prstGeom>
          <a:solidFill>
            <a:srgbClr val="3F6B99"/>
          </a:solidFill>
          <a:ln w="9525">
            <a:noFill/>
          </a:ln>
        </p:spPr>
        <p:style>
          <a:lnRef idx="1">
            <a:schemeClr val="accent1"/>
          </a:lnRef>
          <a:fillRef idx="3">
            <a:schemeClr val="accent1"/>
          </a:fillRef>
          <a:effectRef idx="2">
            <a:schemeClr val="accent1"/>
          </a:effectRef>
          <a:fontRef idx="minor">
            <a:schemeClr val="lt1"/>
          </a:fontRef>
        </p:style>
        <p:txBody>
          <a:bodyPr wrap="square" tIns="18000" bIns="18000" rtlCol="0" anchor="ctr"/>
          <a:lstStyle/>
          <a:p>
            <a:pPr algn="ctr"/>
            <a:r>
              <a:rPr sz="900" b="1" dirty="0" err="1">
                <a:solidFill>
                  <a:srgbClr val="FFFFFF"/>
                </a:solidFill>
                <a:latin typeface="游ゴシック" panose="020B0400000000000000" pitchFamily="50" charset="-128"/>
                <a:ea typeface="游ゴシック" panose="020B0400000000000000" pitchFamily="50" charset="-128"/>
              </a:rPr>
              <a:t>現場責任者　淺野 崇
経営業務・人材育成・店舗管理</a:t>
            </a:r>
          </a:p>
        </p:txBody>
      </p:sp>
      <p:sp>
        <p:nvSpPr>
          <p:cNvPr id="18" name="Rounded Rectangle 17"/>
          <p:cNvSpPr/>
          <p:nvPr/>
        </p:nvSpPr>
        <p:spPr>
          <a:xfrm>
            <a:off x="1682584" y="4644000"/>
            <a:ext cx="1944000" cy="720000"/>
          </a:xfrm>
          <a:prstGeom prst="roundRect">
            <a:avLst/>
          </a:prstGeom>
          <a:solidFill>
            <a:srgbClr val="3F6B99"/>
          </a:solidFill>
          <a:ln w="9525">
            <a:noFill/>
          </a:ln>
        </p:spPr>
        <p:style>
          <a:lnRef idx="1">
            <a:schemeClr val="accent1"/>
          </a:lnRef>
          <a:fillRef idx="3">
            <a:schemeClr val="accent1"/>
          </a:fillRef>
          <a:effectRef idx="2">
            <a:schemeClr val="accent1"/>
          </a:effectRef>
          <a:fontRef idx="minor">
            <a:schemeClr val="lt1"/>
          </a:fontRef>
        </p:style>
        <p:txBody>
          <a:bodyPr wrap="square" tIns="18000" bIns="18000" rtlCol="0" anchor="ctr"/>
          <a:lstStyle/>
          <a:p>
            <a:pPr algn="ctr"/>
            <a:r>
              <a:rPr sz="900" b="1" dirty="0" err="1">
                <a:solidFill>
                  <a:srgbClr val="FFFFFF"/>
                </a:solidFill>
                <a:latin typeface="游ゴシック" panose="020B0400000000000000" pitchFamily="50" charset="-128"/>
                <a:ea typeface="游ゴシック" panose="020B0400000000000000" pitchFamily="50" charset="-128"/>
              </a:rPr>
              <a:t>ワンラブFC店（4店舗）
正社員8名／アルバイト19名</a:t>
            </a:r>
          </a:p>
        </p:txBody>
      </p:sp>
      <p:grpSp>
        <p:nvGrpSpPr>
          <p:cNvPr id="35" name="グループ化 34">
            <a:extLst>
              <a:ext uri="{FF2B5EF4-FFF2-40B4-BE49-F238E27FC236}">
                <a16:creationId xmlns:a16="http://schemas.microsoft.com/office/drawing/2014/main" id="{AC1E647A-CD1D-78EE-4DB1-47F6152361A2}"/>
              </a:ext>
            </a:extLst>
          </p:cNvPr>
          <p:cNvGrpSpPr/>
          <p:nvPr/>
        </p:nvGrpSpPr>
        <p:grpSpPr>
          <a:xfrm>
            <a:off x="3072384" y="5760720"/>
            <a:ext cx="4410643" cy="720002"/>
            <a:chOff x="449263" y="5899125"/>
            <a:chExt cx="4410643" cy="720002"/>
          </a:xfrm>
        </p:grpSpPr>
        <p:sp>
          <p:nvSpPr>
            <p:cNvPr id="19" name="Rounded Rectangle 18"/>
            <p:cNvSpPr/>
            <p:nvPr/>
          </p:nvSpPr>
          <p:spPr>
            <a:xfrm>
              <a:off x="449263" y="5899127"/>
              <a:ext cx="1997921" cy="720000"/>
            </a:xfrm>
            <a:prstGeom prst="roundRect">
              <a:avLst/>
            </a:prstGeom>
            <a:solidFill>
              <a:srgbClr val="3F6B99"/>
            </a:solidFill>
            <a:ln w="9525">
              <a:noFill/>
            </a:ln>
          </p:spPr>
          <p:style>
            <a:lnRef idx="1">
              <a:schemeClr val="accent1"/>
            </a:lnRef>
            <a:fillRef idx="3">
              <a:schemeClr val="accent1"/>
            </a:fillRef>
            <a:effectRef idx="2">
              <a:schemeClr val="accent1"/>
            </a:effectRef>
            <a:fontRef idx="minor">
              <a:schemeClr val="lt1"/>
            </a:fontRef>
          </p:style>
          <p:txBody>
            <a:bodyPr wrap="square" tIns="18000" bIns="18000" rtlCol="0" anchor="ctr"/>
            <a:lstStyle/>
            <a:p>
              <a:pPr algn="ctr"/>
              <a:r>
                <a:rPr sz="900" b="1" dirty="0" err="1">
                  <a:solidFill>
                    <a:srgbClr val="FFFFFF"/>
                  </a:solidFill>
                  <a:latin typeface="游ゴシック" panose="020B0400000000000000" pitchFamily="50" charset="-128"/>
                  <a:ea typeface="游ゴシック" panose="020B0400000000000000" pitchFamily="50" charset="-128"/>
                </a:rPr>
                <a:t>松阪管理センター
正社員1名／アルバイト1名</a:t>
              </a:r>
            </a:p>
          </p:txBody>
        </p:sp>
        <p:sp>
          <p:nvSpPr>
            <p:cNvPr id="20" name="Rounded Rectangle 19"/>
            <p:cNvSpPr/>
            <p:nvPr/>
          </p:nvSpPr>
          <p:spPr>
            <a:xfrm>
              <a:off x="2861985" y="5899125"/>
              <a:ext cx="1997921" cy="720000"/>
            </a:xfrm>
            <a:prstGeom prst="roundRect">
              <a:avLst/>
            </a:prstGeom>
            <a:solidFill>
              <a:srgbClr val="3F6B99"/>
            </a:solidFill>
            <a:ln w="9525">
              <a:noFill/>
            </a:ln>
          </p:spPr>
          <p:style>
            <a:lnRef idx="1">
              <a:schemeClr val="accent1"/>
            </a:lnRef>
            <a:fillRef idx="3">
              <a:schemeClr val="accent1"/>
            </a:fillRef>
            <a:effectRef idx="2">
              <a:schemeClr val="accent1"/>
            </a:effectRef>
            <a:fontRef idx="minor">
              <a:schemeClr val="lt1"/>
            </a:fontRef>
          </p:style>
          <p:txBody>
            <a:bodyPr wrap="square" tIns="18000" bIns="18000" rtlCol="0" anchor="ctr"/>
            <a:lstStyle/>
            <a:p>
              <a:pPr algn="ctr"/>
              <a:r>
                <a:rPr sz="900" b="1">
                  <a:solidFill>
                    <a:srgbClr val="FFFFFF"/>
                  </a:solidFill>
                  <a:latin typeface="游ゴシック" panose="020B0400000000000000" pitchFamily="50" charset="-128"/>
                  <a:ea typeface="游ゴシック" panose="020B0400000000000000" pitchFamily="50" charset="-128"/>
                </a:rPr>
                <a:t>※大垣管理センターは
2026年2月に閉鎖</a:t>
              </a:r>
            </a:p>
          </p:txBody>
        </p:sp>
      </p:grpSp>
      <p:sp>
        <p:nvSpPr>
          <p:cNvPr id="21" name="Rounded Rectangle 20"/>
          <p:cNvSpPr/>
          <p:nvPr/>
        </p:nvSpPr>
        <p:spPr>
          <a:xfrm>
            <a:off x="6903720" y="4644000"/>
            <a:ext cx="2240280" cy="720000"/>
          </a:xfrm>
          <a:prstGeom prst="roundRect">
            <a:avLst/>
          </a:prstGeom>
          <a:solidFill>
            <a:srgbClr val="3F6B99"/>
          </a:solidFill>
          <a:ln w="9525">
            <a:noFill/>
          </a:ln>
        </p:spPr>
        <p:style>
          <a:lnRef idx="1">
            <a:schemeClr val="accent1"/>
          </a:lnRef>
          <a:fillRef idx="3">
            <a:schemeClr val="accent1"/>
          </a:fillRef>
          <a:effectRef idx="2">
            <a:schemeClr val="accent1"/>
          </a:effectRef>
          <a:fontRef idx="minor">
            <a:schemeClr val="lt1"/>
          </a:fontRef>
        </p:style>
        <p:txBody>
          <a:bodyPr wrap="square" tIns="18000" bIns="18000" rtlCol="0" anchor="ctr"/>
          <a:lstStyle/>
          <a:p>
            <a:pPr algn="ctr"/>
            <a:r>
              <a:rPr sz="900" b="1" dirty="0" err="1">
                <a:solidFill>
                  <a:srgbClr val="FFFFFF"/>
                </a:solidFill>
                <a:latin typeface="游ゴシック" panose="020B0400000000000000" pitchFamily="50" charset="-128"/>
                <a:ea typeface="游ゴシック" panose="020B0400000000000000" pitchFamily="50" charset="-128"/>
              </a:rPr>
              <a:t>おっきなもふもふ応援隊（2店舗）
正社員5名／アルバイト13名</a:t>
            </a:r>
            <a:endParaRPr lang="en-US" altLang="ja-JP" sz="1100" b="0" dirty="0">
              <a:solidFill>
                <a:srgbClr val="FFFFFF"/>
              </a:solidFill>
              <a:latin typeface="游ゴシック" panose="020B0400000000000000" pitchFamily="50" charset="-128"/>
              <a:ea typeface="游ゴシック" panose="020B0400000000000000" pitchFamily="50" charset="-128"/>
            </a:endParaRPr>
          </a:p>
        </p:txBody>
      </p:sp>
      <p:sp>
        <p:nvSpPr>
          <p:cNvPr id="30" name="TextBox 29"/>
          <p:cNvSpPr txBox="1"/>
          <p:nvPr/>
        </p:nvSpPr>
        <p:spPr>
          <a:xfrm>
            <a:off x="310896" y="1296002"/>
            <a:ext cx="3703320" cy="1062273"/>
          </a:xfrm>
          <a:prstGeom prst="rect">
            <a:avLst/>
          </a:prstGeom>
          <a:noFill/>
        </p:spPr>
        <p:txBody>
          <a:bodyPr wrap="square" lIns="36000" tIns="18000" rIns="36000" bIns="18000" anchor="t">
            <a:spAutoFit/>
          </a:bodyPr>
          <a:lstStyle/>
          <a:p>
            <a:pPr>
              <a:spcBef>
                <a:spcPts val="0"/>
              </a:spcBef>
              <a:spcAft>
                <a:spcPts val="200"/>
              </a:spcAft>
            </a:pPr>
            <a:r>
              <a:rPr sz="1200" b="0" dirty="0">
                <a:solidFill>
                  <a:sysClr val="windowText" lastClr="000000"/>
                </a:solidFill>
                <a:latin typeface="游ゴシック" panose="020B0400000000000000" pitchFamily="50" charset="-128"/>
                <a:ea typeface="游ゴシック" panose="020B0400000000000000" pitchFamily="50" charset="-128"/>
              </a:rPr>
              <a:t>【人員構成】（2026年9月時点）</a:t>
            </a:r>
          </a:p>
          <a:p>
            <a:pPr>
              <a:spcBef>
                <a:spcPts val="0"/>
              </a:spcBef>
              <a:spcAft>
                <a:spcPts val="200"/>
              </a:spcAft>
            </a:pPr>
            <a:r>
              <a:rPr sz="1200" b="0" dirty="0">
                <a:solidFill>
                  <a:sysClr val="windowText" lastClr="000000"/>
                </a:solidFill>
                <a:latin typeface="游ゴシック" panose="020B0400000000000000" pitchFamily="50" charset="-128"/>
                <a:ea typeface="游ゴシック" panose="020B0400000000000000" pitchFamily="50" charset="-128"/>
              </a:rPr>
              <a:t>　役員　　　：2名　　正社員　：14名</a:t>
            </a:r>
          </a:p>
          <a:p>
            <a:pPr>
              <a:spcBef>
                <a:spcPts val="0"/>
              </a:spcBef>
              <a:spcAft>
                <a:spcPts val="200"/>
              </a:spcAft>
            </a:pPr>
            <a:r>
              <a:rPr sz="1200" b="0" dirty="0">
                <a:solidFill>
                  <a:sysClr val="windowText" lastClr="000000"/>
                </a:solidFill>
                <a:latin typeface="游ゴシック" panose="020B0400000000000000" pitchFamily="50" charset="-128"/>
                <a:ea typeface="游ゴシック" panose="020B0400000000000000" pitchFamily="50" charset="-128"/>
              </a:rPr>
              <a:t>　アルバイト：33名　合計　　：49名</a:t>
            </a:r>
          </a:p>
          <a:p>
            <a:pPr>
              <a:spcBef>
                <a:spcPts val="0"/>
              </a:spcBef>
              <a:spcAft>
                <a:spcPts val="200"/>
              </a:spcAft>
            </a:pPr>
            <a:r>
              <a:rPr sz="1200" b="0" dirty="0">
                <a:solidFill>
                  <a:sysClr val="windowText" lastClr="000000"/>
                </a:solidFill>
                <a:latin typeface="游ゴシック" panose="020B0400000000000000" pitchFamily="50" charset="-128"/>
                <a:ea typeface="游ゴシック" panose="020B0400000000000000" pitchFamily="50" charset="-128"/>
              </a:rPr>
              <a:t>※取締役会・監査役はいずれも非設置</a:t>
            </a:r>
          </a:p>
          <a:p>
            <a:pPr>
              <a:spcBef>
                <a:spcPts val="0"/>
              </a:spcBef>
              <a:spcAft>
                <a:spcPts val="200"/>
              </a:spcAft>
            </a:pPr>
            <a:r>
              <a:rPr sz="1200" b="0" dirty="0">
                <a:solidFill>
                  <a:sysClr val="windowText" lastClr="000000"/>
                </a:solidFill>
                <a:latin typeface="游ゴシック" panose="020B0400000000000000" pitchFamily="50" charset="-128"/>
                <a:ea typeface="游ゴシック" panose="020B0400000000000000" pitchFamily="50" charset="-128"/>
              </a:rPr>
              <a:t>※従業員名簿の在籍者49名の内訳。撤退した</a:t>
            </a:r>
          </a:p>
          <a:p>
            <a:pPr>
              <a:spcBef>
                <a:spcPts val="0"/>
              </a:spcBef>
              <a:spcAft>
                <a:spcPts val="200"/>
              </a:spcAft>
            </a:pPr>
            <a:r>
              <a:rPr sz="1200" b="0" dirty="0">
                <a:solidFill>
                  <a:sysClr val="windowText" lastClr="000000"/>
                </a:solidFill>
                <a:latin typeface="游ゴシック" panose="020B0400000000000000" pitchFamily="50" charset="-128"/>
                <a:ea typeface="游ゴシック" panose="020B0400000000000000" pitchFamily="50" charset="-128"/>
              </a:rPr>
              <a:t>　大垣店・岐阜店および大垣管理センターに</a:t>
            </a:r>
          </a:p>
          <a:p>
            <a:pPr>
              <a:spcBef>
                <a:spcPts val="0"/>
              </a:spcBef>
              <a:spcAft>
                <a:spcPts val="200"/>
              </a:spcAft>
            </a:pPr>
            <a:r>
              <a:rPr sz="1200" b="0" dirty="0">
                <a:solidFill>
                  <a:sysClr val="windowText" lastClr="000000"/>
                </a:solidFill>
                <a:latin typeface="游ゴシック" panose="020B0400000000000000" pitchFamily="50" charset="-128"/>
                <a:ea typeface="游ゴシック" panose="020B0400000000000000" pitchFamily="50" charset="-128"/>
              </a:rPr>
              <a:t>　在籍者はいない</a:t>
            </a:r>
          </a:p>
          <a:p>
            <a:pPr>
              <a:spcBef>
                <a:spcPts val="0"/>
              </a:spcBef>
              <a:spcAft>
                <a:spcPts val="200"/>
              </a:spcAft>
            </a:pPr>
            <a:r>
              <a:rPr sz="1200" b="0" dirty="0">
                <a:solidFill>
                  <a:sysClr val="windowText" lastClr="000000"/>
                </a:solidFill>
                <a:latin typeface="游ゴシック" panose="020B0400000000000000" pitchFamily="50" charset="-128"/>
                <a:ea typeface="游ゴシック" panose="020B0400000000000000" pitchFamily="50" charset="-128"/>
              </a:rPr>
              <a:t>※図中の各ブロックはP.23「従業員構成」の</a:t>
            </a:r>
          </a:p>
          <a:p>
            <a:pPr>
              <a:spcBef>
                <a:spcPts val="0"/>
              </a:spcBef>
              <a:spcAft>
                <a:spcPts val="200"/>
              </a:spcAft>
            </a:pPr>
            <a:r>
              <a:rPr sz="1200" b="0" dirty="0">
                <a:solidFill>
                  <a:sysClr val="windowText" lastClr="000000"/>
                </a:solidFill>
                <a:latin typeface="游ゴシック" panose="020B0400000000000000" pitchFamily="50" charset="-128"/>
                <a:ea typeface="游ゴシック" panose="020B0400000000000000" pitchFamily="50" charset="-128"/>
              </a:rPr>
              <a:t>　部署・店舗と対応している</a:t>
            </a:r>
          </a:p>
        </p:txBody>
      </p:sp>
      <p:cxnSp>
        <p:nvCxnSpPr>
          <p:cNvPr id="4" name="直線コネクタ 3">
            <a:extLst>
              <a:ext uri="{FF2B5EF4-FFF2-40B4-BE49-F238E27FC236}">
                <a16:creationId xmlns:a16="http://schemas.microsoft.com/office/drawing/2014/main" id="{6910554C-A8F7-2E7B-2187-2EB8E4D6CD80}"/>
              </a:ext>
            </a:extLst>
          </p:cNvPr>
          <p:cNvCxnSpPr>
            <a:cxnSpLocks/>
            <a:stCxn id="14" idx="2"/>
            <a:endCxn id="15" idx="0"/>
          </p:cNvCxnSpPr>
          <p:nvPr/>
        </p:nvCxnSpPr>
        <p:spPr>
          <a:xfrm>
            <a:off x="5274000" y="2124000"/>
            <a:ext cx="0" cy="339563"/>
          </a:xfrm>
          <a:prstGeom prst="line">
            <a:avLst/>
          </a:prstGeom>
        </p:spPr>
        <p:style>
          <a:lnRef idx="2">
            <a:schemeClr val="accent1"/>
          </a:lnRef>
          <a:fillRef idx="0">
            <a:schemeClr val="accent1"/>
          </a:fillRef>
          <a:effectRef idx="1">
            <a:schemeClr val="accent1"/>
          </a:effectRef>
          <a:fontRef idx="minor">
            <a:schemeClr val="tx1"/>
          </a:fontRef>
        </p:style>
      </p:cxnSp>
      <p:cxnSp>
        <p:nvCxnSpPr>
          <p:cNvPr id="7" name="直線コネクタ 6">
            <a:extLst>
              <a:ext uri="{FF2B5EF4-FFF2-40B4-BE49-F238E27FC236}">
                <a16:creationId xmlns:a16="http://schemas.microsoft.com/office/drawing/2014/main" id="{8DB271CB-D244-AEE5-0208-F67269BCA98A}"/>
              </a:ext>
            </a:extLst>
          </p:cNvPr>
          <p:cNvCxnSpPr>
            <a:cxnSpLocks/>
            <a:stCxn id="15" idx="2"/>
            <a:endCxn id="17" idx="0"/>
          </p:cNvCxnSpPr>
          <p:nvPr/>
        </p:nvCxnSpPr>
        <p:spPr>
          <a:xfrm>
            <a:off x="5274000" y="3039563"/>
            <a:ext cx="0" cy="339563"/>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コネクタ: カギ線 10">
            <a:extLst>
              <a:ext uri="{FF2B5EF4-FFF2-40B4-BE49-F238E27FC236}">
                <a16:creationId xmlns:a16="http://schemas.microsoft.com/office/drawing/2014/main" id="{2136E07C-342C-3DF0-731D-7777EA98F187}"/>
              </a:ext>
            </a:extLst>
          </p:cNvPr>
          <p:cNvCxnSpPr>
            <a:cxnSpLocks/>
            <a:stCxn id="17" idx="2"/>
            <a:endCxn id="18" idx="0"/>
          </p:cNvCxnSpPr>
          <p:nvPr/>
        </p:nvCxnSpPr>
        <p:spPr>
          <a:xfrm rot="5400000">
            <a:off x="3691855" y="3061855"/>
            <a:ext cx="544874" cy="2619416"/>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37" name="コネクタ: カギ線 36">
            <a:extLst>
              <a:ext uri="{FF2B5EF4-FFF2-40B4-BE49-F238E27FC236}">
                <a16:creationId xmlns:a16="http://schemas.microsoft.com/office/drawing/2014/main" id="{A1C87416-FE65-6B10-1435-012AD1EB9084}"/>
              </a:ext>
            </a:extLst>
          </p:cNvPr>
          <p:cNvCxnSpPr>
            <a:cxnSpLocks/>
            <a:stCxn id="17" idx="2"/>
            <a:endCxn id="21" idx="0"/>
          </p:cNvCxnSpPr>
          <p:nvPr/>
        </p:nvCxnSpPr>
        <p:spPr>
          <a:xfrm rot="16200000" flipH="1">
            <a:off x="6383178" y="2989948"/>
            <a:ext cx="544874" cy="2763230"/>
          </a:xfrm>
          <a:prstGeom prst="bent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5276088" y="4105656"/>
            <a:ext cx="0" cy="1472184"/>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4069080" y="5577840"/>
            <a:ext cx="2414016" cy="0"/>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4069080" y="5577840"/>
            <a:ext cx="0" cy="182880"/>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6483096" y="5577840"/>
            <a:ext cx="0" cy="182880"/>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286124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12D40-6E48-E93D-4FC9-F10D333C1CB4}"/>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8F9793F7-DC5F-E269-D0AF-CEA1591E82A7}"/>
              </a:ext>
            </a:extLst>
          </p:cNvPr>
          <p:cNvSpPr>
            <a:spLocks noGrp="1"/>
          </p:cNvSpPr>
          <p:nvPr>
            <p:ph type="ctrTitle"/>
          </p:nvPr>
        </p:nvSpPr>
        <p:spPr>
          <a:xfrm>
            <a:off x="311150" y="180296"/>
            <a:ext cx="7799917" cy="339267"/>
          </a:xfrm>
        </p:spPr>
        <p:txBody>
          <a:bodyPr>
            <a:normAutofit/>
          </a:bodyPr>
          <a:lstStyle/>
          <a:p>
            <a:r>
              <a:rPr lang="ja-JP" altLang="en-US" dirty="0"/>
              <a:t>株主及び役員</a:t>
            </a:r>
          </a:p>
        </p:txBody>
      </p:sp>
      <p:sp>
        <p:nvSpPr>
          <p:cNvPr id="6" name="タイトル 1">
            <a:extLst>
              <a:ext uri="{FF2B5EF4-FFF2-40B4-BE49-F238E27FC236}">
                <a16:creationId xmlns:a16="http://schemas.microsoft.com/office/drawing/2014/main" id="{541F4B75-7B8F-E770-E8BD-648B0D9A1125}"/>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9" name="字幕 13">
            <a:extLst>
              <a:ext uri="{FF2B5EF4-FFF2-40B4-BE49-F238E27FC236}">
                <a16:creationId xmlns:a16="http://schemas.microsoft.com/office/drawing/2014/main" id="{C67BBAB2-F39C-2CF9-AEE1-8D09DEE08EBD}"/>
              </a:ext>
            </a:extLst>
          </p:cNvPr>
          <p:cNvSpPr>
            <a:spLocks noGrp="1"/>
          </p:cNvSpPr>
          <p:nvPr>
            <p:ph type="subTitle" idx="1"/>
          </p:nvPr>
        </p:nvSpPr>
        <p:spPr>
          <a:xfrm>
            <a:off x="460675" y="830046"/>
            <a:ext cx="9781875" cy="241861"/>
          </a:xfrm>
        </p:spPr>
        <p:txBody>
          <a:bodyPr>
            <a:noAutofit/>
          </a:bodyPr>
          <a:lstStyle/>
          <a:p>
            <a:r>
              <a:rPr lang="en-US" altLang="ja-JP" dirty="0">
                <a:latin typeface="+mj-ea"/>
              </a:rPr>
              <a:t>株主・役員はいずれも代表者の淺野ゆう子氏1名。現場を統括する淺野崇氏（代表者の配偶者）は役員ではなく従業員であり、2事業所の動物取扱責任者を兼務するキーパーソンである。</a:t>
            </a:r>
            <a:endParaRPr lang="en-US" altLang="ja-JP" dirty="0"/>
          </a:p>
        </p:txBody>
      </p:sp>
      <p:graphicFrame>
        <p:nvGraphicFramePr>
          <p:cNvPr id="4" name="表 3">
            <a:extLst>
              <a:ext uri="{FF2B5EF4-FFF2-40B4-BE49-F238E27FC236}">
                <a16:creationId xmlns:a16="http://schemas.microsoft.com/office/drawing/2014/main" id="{F3ABDE07-DA1F-17B4-3617-3A791BD82473}"/>
              </a:ext>
            </a:extLst>
          </p:cNvPr>
          <p:cNvGraphicFramePr>
            <a:graphicFrameLocks noGrp="1"/>
          </p:cNvGraphicFramePr>
          <p:nvPr>
            <p:extLst>
              <p:ext uri="{D42A27DB-BD31-4B8C-83A1-F6EECF244321}">
                <p14:modId xmlns:p14="http://schemas.microsoft.com/office/powerpoint/2010/main" val="3023556640"/>
              </p:ext>
            </p:extLst>
          </p:nvPr>
        </p:nvGraphicFramePr>
        <p:xfrm>
          <a:off x="310896" y="1783080"/>
          <a:ext cx="10021824" cy="1005840"/>
        </p:xfrm>
        <a:graphic>
          <a:graphicData uri="http://schemas.openxmlformats.org/drawingml/2006/table">
            <a:tbl>
              <a:tblPr/>
              <a:tblGrid>
                <a:gridCol w="411480">
                  <a:extLst>
                    <a:ext uri="{9D8B030D-6E8A-4147-A177-3AD203B41FA5}">
                      <a16:colId xmlns:a16="http://schemas.microsoft.com/office/drawing/2014/main" val="3048251594"/>
                    </a:ext>
                  </a:extLst>
                </a:gridCol>
                <a:gridCol w="1737360">
                  <a:extLst>
                    <a:ext uri="{9D8B030D-6E8A-4147-A177-3AD203B41FA5}">
                      <a16:colId xmlns:a16="http://schemas.microsoft.com/office/drawing/2014/main" val="3771399016"/>
                    </a:ext>
                  </a:extLst>
                </a:gridCol>
                <a:gridCol w="1280160">
                  <a:extLst>
                    <a:ext uri="{9D8B030D-6E8A-4147-A177-3AD203B41FA5}">
                      <a16:colId xmlns:a16="http://schemas.microsoft.com/office/drawing/2014/main" val="2907773081"/>
                    </a:ext>
                  </a:extLst>
                </a:gridCol>
                <a:gridCol w="1097280">
                  <a:extLst>
                    <a:ext uri="{9D8B030D-6E8A-4147-A177-3AD203B41FA5}">
                      <a16:colId xmlns:a16="http://schemas.microsoft.com/office/drawing/2014/main" val="1273101068"/>
                    </a:ext>
                  </a:extLst>
                </a:gridCol>
                <a:gridCol w="1005840">
                  <a:extLst>
                    <a:ext uri="{9D8B030D-6E8A-4147-A177-3AD203B41FA5}">
                      <a16:colId xmlns:a16="http://schemas.microsoft.com/office/drawing/2014/main" val="1948566837"/>
                    </a:ext>
                  </a:extLst>
                </a:gridCol>
                <a:gridCol w="4489704">
                  <a:extLst>
                    <a:ext uri="{9D8B030D-6E8A-4147-A177-3AD203B41FA5}">
                      <a16:colId xmlns:a16="http://schemas.microsoft.com/office/drawing/2014/main" val="2619928501"/>
                    </a:ext>
                  </a:extLst>
                </a:gridCol>
              </a:tblGrid>
              <a:tr h="310896">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a:t>
                      </a:r>
                    </a:p>
                  </a:txBody>
                  <a:tcPr marL="64008" marR="64008" marT="0" marB="0" anchor="ctr">
                    <a:lnL w="12700" cap="flat" cmpd="sng" algn="ctr">
                      <a:solidFill>
                        <a:srgbClr val="000000"/>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氏名</a:t>
                      </a:r>
                    </a:p>
                  </a:txBody>
                  <a:tcPr marL="64008" marR="64008"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役職</a:t>
                      </a:r>
                    </a:p>
                  </a:txBody>
                  <a:tcPr marL="64008" marR="64008"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保有株式数</a:t>
                      </a:r>
                    </a:p>
                  </a:txBody>
                  <a:tcPr marL="64008" marR="64008"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保有割合</a:t>
                      </a:r>
                    </a:p>
                  </a:txBody>
                  <a:tcPr marL="64008" marR="64008"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備考</a:t>
                      </a:r>
                      <a:endParaRPr lang="ja-JP" sz="105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64008" marR="64008" marT="0" marB="0" anchor="ctr">
                    <a:lnL w="6350" cap="flat" cmpd="sng" algn="ctr">
                      <a:solidFill>
                        <a:schemeClr val="bg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extLst>
                  <a:ext uri="{0D108BD9-81ED-4DB2-BD59-A6C34878D82A}">
                    <a16:rowId xmlns:a16="http://schemas.microsoft.com/office/drawing/2014/main" val="3581390043"/>
                  </a:ext>
                </a:extLst>
              </a:tr>
              <a:tr h="347472">
                <a:tc>
                  <a:txBody>
                    <a:bodyPr/>
                    <a:lstStyle/>
                    <a:p>
                      <a:pPr algn="ctr" fontAlgn="ctr">
                        <a:buNone/>
                      </a:pPr>
                      <a:r>
                        <a:rPr lang="ja-JP" sz="900" b="0" i="0" u="none" strike="noStrike" dirty="0">
                          <a:solidFill>
                            <a:sysClr val="windowText" lastClr="000000"/>
                          </a:solidFill>
                          <a:effectLst/>
                          <a:latin typeface="游ゴシック" panose="020B0400000000000000" pitchFamily="50" charset="-128"/>
                          <a:ea typeface="游ゴシック" panose="020B0400000000000000" pitchFamily="50" charset="-128"/>
                        </a:rPr>
                        <a:t>1</a:t>
                      </a:r>
                    </a:p>
                  </a:txBody>
                  <a:tcPr marL="64008" marR="64008"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900" b="0" i="0" u="none" strike="noStrike" dirty="0">
                          <a:solidFill>
                            <a:sysClr val="windowText" lastClr="000000"/>
                          </a:solidFill>
                          <a:effectLst/>
                          <a:latin typeface="游ゴシック" panose="020B0400000000000000" pitchFamily="50" charset="-128"/>
                          <a:ea typeface="游ゴシック" panose="020B0400000000000000" pitchFamily="50" charset="-128"/>
                        </a:rPr>
                        <a:t>淺野　ゆう子</a:t>
                      </a:r>
                    </a:p>
                  </a:txBody>
                  <a:tcPr marL="64008" marR="64008"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900" b="0" i="0" u="none" strike="noStrike" dirty="0">
                          <a:solidFill>
                            <a:sysClr val="windowText" lastClr="000000"/>
                          </a:solidFill>
                          <a:effectLst/>
                          <a:latin typeface="游ゴシック" panose="020B0400000000000000" pitchFamily="50" charset="-128"/>
                          <a:ea typeface="游ゴシック" panose="020B0400000000000000" pitchFamily="50" charset="-128"/>
                        </a:rPr>
                        <a:t>代表取締役</a:t>
                      </a:r>
                    </a:p>
                  </a:txBody>
                  <a:tcPr marL="64008" marR="64008"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900" b="0" i="0" u="none" strike="noStrike" dirty="0">
                          <a:solidFill>
                            <a:sysClr val="windowText" lastClr="000000"/>
                          </a:solidFill>
                          <a:effectLst/>
                          <a:latin typeface="游ゴシック" panose="020B0400000000000000" pitchFamily="50" charset="-128"/>
                          <a:ea typeface="游ゴシック" panose="020B0400000000000000" pitchFamily="50" charset="-128"/>
                        </a:rPr>
                        <a:t>100株</a:t>
                      </a:r>
                    </a:p>
                  </a:txBody>
                  <a:tcPr marL="64008" marR="64008"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900" b="0" i="0" u="none" strike="noStrike" dirty="0">
                          <a:solidFill>
                            <a:sysClr val="windowText" lastClr="000000"/>
                          </a:solidFill>
                          <a:effectLst/>
                          <a:latin typeface="游ゴシック" panose="020B0400000000000000" pitchFamily="50" charset="-128"/>
                          <a:ea typeface="游ゴシック" panose="020B0400000000000000" pitchFamily="50" charset="-128"/>
                        </a:rPr>
                        <a:t>100.0%</a:t>
                      </a:r>
                    </a:p>
                  </a:txBody>
                  <a:tcPr marL="64008" marR="64008"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900" b="0" i="0" u="none" strike="noStrike">
                          <a:solidFill>
                            <a:sysClr val="windowText" lastClr="000000"/>
                          </a:solidFill>
                          <a:effectLst/>
                          <a:latin typeface="游ゴシック" panose="020B0400000000000000" pitchFamily="50" charset="-128"/>
                          <a:ea typeface="游ゴシック" panose="020B0400000000000000" pitchFamily="50" charset="-128"/>
                        </a:rPr>
                        <a:t>本件依頼者。引継完了後、退任予定</a:t>
                      </a:r>
                    </a:p>
                  </a:txBody>
                  <a:tcPr marL="64008" marR="64008"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82367820"/>
                  </a:ext>
                </a:extLst>
              </a:tr>
              <a:tr h="347472">
                <a:tc>
                  <a:txBody>
                    <a:bodyPr/>
                    <a:lstStyle/>
                    <a:p>
                      <a:pPr algn="ctr" fontAlgn="ctr">
                        <a:buNone/>
                      </a:pPr>
                      <a:r>
                        <a:rPr lang="ja-JP" sz="900" b="1" i="0" u="none" strike="noStrike" dirty="0">
                          <a:solidFill>
                            <a:sysClr val="windowText" lastClr="000000"/>
                          </a:solidFill>
                          <a:effectLst/>
                          <a:latin typeface="游ゴシック" panose="020B0400000000000000" pitchFamily="50" charset="-128"/>
                          <a:ea typeface="游ゴシック" panose="020B0400000000000000" pitchFamily="50" charset="-128"/>
                        </a:rPr>
                        <a:t>　</a:t>
                      </a:r>
                    </a:p>
                  </a:txBody>
                  <a:tcPr marL="64008" marR="64008"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900" b="1" i="0" u="none" strike="noStrike" dirty="0">
                          <a:solidFill>
                            <a:sysClr val="windowText" lastClr="000000"/>
                          </a:solidFill>
                          <a:effectLst/>
                          <a:latin typeface="游ゴシック" panose="020B0400000000000000" pitchFamily="50" charset="-128"/>
                          <a:ea typeface="游ゴシック" panose="020B0400000000000000" pitchFamily="50" charset="-128"/>
                        </a:rPr>
                        <a:t>合計</a:t>
                      </a:r>
                    </a:p>
                  </a:txBody>
                  <a:tcPr marL="64008" marR="64008"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900" b="1" i="0" u="none" strike="noStrike" dirty="0">
                          <a:solidFill>
                            <a:sysClr val="windowText" lastClr="000000"/>
                          </a:solidFill>
                          <a:effectLst/>
                          <a:latin typeface="游ゴシック" panose="020B0400000000000000" pitchFamily="50" charset="-128"/>
                          <a:ea typeface="游ゴシック" panose="020B0400000000000000" pitchFamily="50" charset="-128"/>
                        </a:rPr>
                        <a:t>－</a:t>
                      </a:r>
                    </a:p>
                  </a:txBody>
                  <a:tcPr marL="64008" marR="64008"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900" b="1" i="0" u="none" strike="noStrike" dirty="0">
                          <a:solidFill>
                            <a:sysClr val="windowText" lastClr="000000"/>
                          </a:solidFill>
                          <a:effectLst/>
                          <a:latin typeface="游ゴシック" panose="020B0400000000000000" pitchFamily="50" charset="-128"/>
                          <a:ea typeface="游ゴシック" panose="020B0400000000000000" pitchFamily="50" charset="-128"/>
                        </a:rPr>
                        <a:t>100株</a:t>
                      </a:r>
                    </a:p>
                  </a:txBody>
                  <a:tcPr marL="64008" marR="64008"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900" b="1" i="0" u="none" strike="noStrike" dirty="0">
                          <a:solidFill>
                            <a:sysClr val="windowText" lastClr="000000"/>
                          </a:solidFill>
                          <a:effectLst/>
                          <a:latin typeface="游ゴシック" panose="020B0400000000000000" pitchFamily="50" charset="-128"/>
                          <a:ea typeface="游ゴシック" panose="020B0400000000000000" pitchFamily="50" charset="-128"/>
                        </a:rPr>
                        <a:t>100.0%</a:t>
                      </a:r>
                    </a:p>
                  </a:txBody>
                  <a:tcPr marL="64008" marR="64008"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900" b="1" i="0" u="none" strike="noStrike">
                          <a:solidFill>
                            <a:sysClr val="windowText" lastClr="000000"/>
                          </a:solidFill>
                          <a:effectLst/>
                          <a:latin typeface="游ゴシック" panose="020B0400000000000000" pitchFamily="50" charset="-128"/>
                          <a:ea typeface="游ゴシック" panose="020B0400000000000000" pitchFamily="50" charset="-128"/>
                        </a:rPr>
                        <a:t>　</a:t>
                      </a:r>
                    </a:p>
                  </a:txBody>
                  <a:tcPr marL="64008" marR="64008"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82367820"/>
                  </a:ext>
                </a:extLst>
              </a:tr>
            </a:tbl>
          </a:graphicData>
        </a:graphic>
      </p:graphicFrame>
      <p:graphicFrame>
        <p:nvGraphicFramePr>
          <p:cNvPr id="4" name="表 3">
            <a:extLst>
              <a:ext uri="{FF2B5EF4-FFF2-40B4-BE49-F238E27FC236}">
                <a16:creationId xmlns:a16="http://schemas.microsoft.com/office/drawing/2014/main" id="{F3ABDE07-DA1F-17B4-3617-3A791BD82473}"/>
              </a:ext>
            </a:extLst>
          </p:cNvPr>
          <p:cNvGraphicFramePr>
            <a:graphicFrameLocks noGrp="1"/>
          </p:cNvGraphicFramePr>
          <p:nvPr>
            <p:extLst>
              <p:ext uri="{D42A27DB-BD31-4B8C-83A1-F6EECF244321}">
                <p14:modId xmlns:p14="http://schemas.microsoft.com/office/powerpoint/2010/main" val="3023556640"/>
              </p:ext>
            </p:extLst>
          </p:nvPr>
        </p:nvGraphicFramePr>
        <p:xfrm>
          <a:off x="310896" y="3410712"/>
          <a:ext cx="10021824" cy="713232"/>
        </p:xfrm>
        <a:graphic>
          <a:graphicData uri="http://schemas.openxmlformats.org/drawingml/2006/table">
            <a:tbl>
              <a:tblPr/>
              <a:tblGrid>
                <a:gridCol w="411480">
                  <a:extLst>
                    <a:ext uri="{9D8B030D-6E8A-4147-A177-3AD203B41FA5}">
                      <a16:colId xmlns:a16="http://schemas.microsoft.com/office/drawing/2014/main" val="3048251594"/>
                    </a:ext>
                  </a:extLst>
                </a:gridCol>
                <a:gridCol w="1554480">
                  <a:extLst>
                    <a:ext uri="{9D8B030D-6E8A-4147-A177-3AD203B41FA5}">
                      <a16:colId xmlns:a16="http://schemas.microsoft.com/office/drawing/2014/main" val="3771399016"/>
                    </a:ext>
                  </a:extLst>
                </a:gridCol>
                <a:gridCol w="1143000">
                  <a:extLst>
                    <a:ext uri="{9D8B030D-6E8A-4147-A177-3AD203B41FA5}">
                      <a16:colId xmlns:a16="http://schemas.microsoft.com/office/drawing/2014/main" val="2907773081"/>
                    </a:ext>
                  </a:extLst>
                </a:gridCol>
                <a:gridCol w="1097280">
                  <a:extLst>
                    <a:ext uri="{9D8B030D-6E8A-4147-A177-3AD203B41FA5}">
                      <a16:colId xmlns:a16="http://schemas.microsoft.com/office/drawing/2014/main" val="1273101068"/>
                    </a:ext>
                  </a:extLst>
                </a:gridCol>
                <a:gridCol w="1143000">
                  <a:extLst>
                    <a:ext uri="{9D8B030D-6E8A-4147-A177-3AD203B41FA5}">
                      <a16:colId xmlns:a16="http://schemas.microsoft.com/office/drawing/2014/main" val="1948566837"/>
                    </a:ext>
                  </a:extLst>
                </a:gridCol>
                <a:gridCol w="2286000">
                  <a:extLst>
                    <a:ext uri="{9D8B030D-6E8A-4147-A177-3AD203B41FA5}">
                      <a16:colId xmlns:a16="http://schemas.microsoft.com/office/drawing/2014/main" val="2619928501"/>
                    </a:ext>
                  </a:extLst>
                </a:gridCol>
                <a:gridCol w="2386584">
                  <a:extLst>
                    <a:ext uri="{9D8B030D-6E8A-4147-A177-3AD203B41FA5}">
                      <a16:colId xmlns:a16="http://schemas.microsoft.com/office/drawing/2014/main" val="1948566837"/>
                    </a:ext>
                  </a:extLst>
                </a:gridCol>
              </a:tblGrid>
              <a:tr h="310896">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a:t>
                      </a:r>
                    </a:p>
                  </a:txBody>
                  <a:tcPr marL="64008" marR="64008" marT="0" marB="0" anchor="ctr">
                    <a:lnL w="12700" cap="flat" cmpd="sng" algn="ctr">
                      <a:solidFill>
                        <a:srgbClr val="000000"/>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氏名</a:t>
                      </a:r>
                    </a:p>
                  </a:txBody>
                  <a:tcPr marL="64008" marR="64008"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役職</a:t>
                      </a:r>
                    </a:p>
                  </a:txBody>
                  <a:tcPr marL="64008" marR="64008"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代表者との関係</a:t>
                      </a:r>
                    </a:p>
                  </a:txBody>
                  <a:tcPr marL="64008" marR="64008"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役員報酬
（25年11月期）</a:t>
                      </a:r>
                    </a:p>
                  </a:txBody>
                  <a:tcPr marL="64008" marR="64008"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業務範囲</a:t>
                      </a:r>
                      <a:endParaRPr lang="ja-JP" sz="105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64008" marR="64008" marT="0" marB="0" anchor="ctr">
                    <a:lnL w="6350" cap="flat" cmpd="sng" algn="ctr">
                      <a:solidFill>
                        <a:schemeClr val="bg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備考</a:t>
                      </a:r>
                    </a:p>
                  </a:txBody>
                  <a:tcPr marL="64008" marR="64008"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extLst>
                  <a:ext uri="{0D108BD9-81ED-4DB2-BD59-A6C34878D82A}">
                    <a16:rowId xmlns:a16="http://schemas.microsoft.com/office/drawing/2014/main" val="3581390043"/>
                  </a:ext>
                </a:extLst>
              </a:tr>
              <a:tr h="402336">
                <a:tc>
                  <a:txBody>
                    <a:bodyPr/>
                    <a:lstStyle/>
                    <a:p>
                      <a:pPr algn="ctr" fontAlgn="ctr">
                        <a:buNone/>
                      </a:pPr>
                      <a:r>
                        <a:rPr lang="ja-JP" sz="900" b="0" i="0" u="none" strike="noStrike" dirty="0">
                          <a:solidFill>
                            <a:sysClr val="windowText" lastClr="000000"/>
                          </a:solidFill>
                          <a:effectLst/>
                          <a:latin typeface="游ゴシック" panose="020B0400000000000000" pitchFamily="50" charset="-128"/>
                          <a:ea typeface="游ゴシック" panose="020B0400000000000000" pitchFamily="50" charset="-128"/>
                        </a:rPr>
                        <a:t>1</a:t>
                      </a:r>
                    </a:p>
                  </a:txBody>
                  <a:tcPr marL="64008" marR="64008"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900" b="0" i="0" u="none" strike="noStrike" dirty="0">
                          <a:solidFill>
                            <a:sysClr val="windowText" lastClr="000000"/>
                          </a:solidFill>
                          <a:effectLst/>
                          <a:latin typeface="游ゴシック" panose="020B0400000000000000" pitchFamily="50" charset="-128"/>
                          <a:ea typeface="游ゴシック" panose="020B0400000000000000" pitchFamily="50" charset="-128"/>
                        </a:rPr>
                        <a:t>淺野　ゆう子</a:t>
                      </a:r>
                    </a:p>
                  </a:txBody>
                  <a:tcPr marL="64008" marR="64008"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900" b="0" i="0" u="none" strike="noStrike" dirty="0">
                          <a:solidFill>
                            <a:sysClr val="windowText" lastClr="000000"/>
                          </a:solidFill>
                          <a:effectLst/>
                          <a:latin typeface="游ゴシック" panose="020B0400000000000000" pitchFamily="50" charset="-128"/>
                          <a:ea typeface="游ゴシック" panose="020B0400000000000000" pitchFamily="50" charset="-128"/>
                        </a:rPr>
                        <a:t>代表取締役</a:t>
                      </a:r>
                    </a:p>
                  </a:txBody>
                  <a:tcPr marL="64008" marR="64008"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900" b="0" i="0" u="none" strike="noStrike" dirty="0">
                          <a:solidFill>
                            <a:sysClr val="windowText" lastClr="000000"/>
                          </a:solidFill>
                          <a:effectLst/>
                          <a:latin typeface="游ゴシック" panose="020B0400000000000000" pitchFamily="50" charset="-128"/>
                          <a:ea typeface="游ゴシック" panose="020B0400000000000000" pitchFamily="50" charset="-128"/>
                        </a:rPr>
                        <a:t>本人</a:t>
                      </a:r>
                    </a:p>
                  </a:txBody>
                  <a:tcPr marL="64008" marR="64008"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900" b="0" i="0" u="none" strike="noStrike" dirty="0">
                          <a:solidFill>
                            <a:sysClr val="windowText" lastClr="000000"/>
                          </a:solidFill>
                          <a:effectLst/>
                          <a:latin typeface="游ゴシック" panose="020B0400000000000000" pitchFamily="50" charset="-128"/>
                          <a:ea typeface="游ゴシック" panose="020B0400000000000000" pitchFamily="50" charset="-128"/>
                        </a:rPr>
                        <a:t>14,400千円</a:t>
                      </a:r>
                    </a:p>
                  </a:txBody>
                  <a:tcPr marL="64008" marR="64008"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900" b="0" i="0" u="none" strike="noStrike">
                          <a:solidFill>
                            <a:sysClr val="windowText" lastClr="000000"/>
                          </a:solidFill>
                          <a:effectLst/>
                          <a:latin typeface="游ゴシック" panose="020B0400000000000000" pitchFamily="50" charset="-128"/>
                          <a:ea typeface="游ゴシック" panose="020B0400000000000000" pitchFamily="50" charset="-128"/>
                        </a:rPr>
                        <a:t>経理全般、金融機関対応</a:t>
                      </a:r>
                    </a:p>
                  </a:txBody>
                  <a:tcPr marL="64008" marR="64008"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900" b="0" i="0" u="none" strike="noStrike" dirty="0">
                          <a:solidFill>
                            <a:sysClr val="windowText" lastClr="000000"/>
                          </a:solidFill>
                          <a:effectLst/>
                          <a:latin typeface="游ゴシック" panose="020B0400000000000000" pitchFamily="50" charset="-128"/>
                          <a:ea typeface="游ゴシック" panose="020B0400000000000000" pitchFamily="50" charset="-128"/>
                        </a:rPr>
                        <a:t>引継完了後、退任予定</a:t>
                      </a:r>
                    </a:p>
                  </a:txBody>
                  <a:tcPr marL="64008" marR="64008"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82367820"/>
                  </a:ext>
                </a:extLst>
              </a:tr>
            </a:tbl>
          </a:graphicData>
        </a:graphic>
      </p:graphicFrame>
      <p:graphicFrame>
        <p:nvGraphicFramePr>
          <p:cNvPr id="4" name="表 3">
            <a:extLst>
              <a:ext uri="{FF2B5EF4-FFF2-40B4-BE49-F238E27FC236}">
                <a16:creationId xmlns:a16="http://schemas.microsoft.com/office/drawing/2014/main" id="{F3ABDE07-DA1F-17B4-3617-3A791BD82473}"/>
              </a:ext>
            </a:extLst>
          </p:cNvPr>
          <p:cNvGraphicFramePr>
            <a:graphicFrameLocks noGrp="1"/>
          </p:cNvGraphicFramePr>
          <p:nvPr>
            <p:extLst>
              <p:ext uri="{D42A27DB-BD31-4B8C-83A1-F6EECF244321}">
                <p14:modId xmlns:p14="http://schemas.microsoft.com/office/powerpoint/2010/main" val="3023556640"/>
              </p:ext>
            </p:extLst>
          </p:nvPr>
        </p:nvGraphicFramePr>
        <p:xfrm>
          <a:off x="310896" y="4828032"/>
          <a:ext cx="10021824" cy="713232"/>
        </p:xfrm>
        <a:graphic>
          <a:graphicData uri="http://schemas.openxmlformats.org/drawingml/2006/table">
            <a:tbl>
              <a:tblPr/>
              <a:tblGrid>
                <a:gridCol w="411480">
                  <a:extLst>
                    <a:ext uri="{9D8B030D-6E8A-4147-A177-3AD203B41FA5}">
                      <a16:colId xmlns:a16="http://schemas.microsoft.com/office/drawing/2014/main" val="3048251594"/>
                    </a:ext>
                  </a:extLst>
                </a:gridCol>
                <a:gridCol w="1554480">
                  <a:extLst>
                    <a:ext uri="{9D8B030D-6E8A-4147-A177-3AD203B41FA5}">
                      <a16:colId xmlns:a16="http://schemas.microsoft.com/office/drawing/2014/main" val="3771399016"/>
                    </a:ext>
                  </a:extLst>
                </a:gridCol>
                <a:gridCol w="1143000">
                  <a:extLst>
                    <a:ext uri="{9D8B030D-6E8A-4147-A177-3AD203B41FA5}">
                      <a16:colId xmlns:a16="http://schemas.microsoft.com/office/drawing/2014/main" val="2907773081"/>
                    </a:ext>
                  </a:extLst>
                </a:gridCol>
                <a:gridCol w="1097280">
                  <a:extLst>
                    <a:ext uri="{9D8B030D-6E8A-4147-A177-3AD203B41FA5}">
                      <a16:colId xmlns:a16="http://schemas.microsoft.com/office/drawing/2014/main" val="1273101068"/>
                    </a:ext>
                  </a:extLst>
                </a:gridCol>
                <a:gridCol w="1143000">
                  <a:extLst>
                    <a:ext uri="{9D8B030D-6E8A-4147-A177-3AD203B41FA5}">
                      <a16:colId xmlns:a16="http://schemas.microsoft.com/office/drawing/2014/main" val="1948566837"/>
                    </a:ext>
                  </a:extLst>
                </a:gridCol>
                <a:gridCol w="4672584">
                  <a:extLst>
                    <a:ext uri="{9D8B030D-6E8A-4147-A177-3AD203B41FA5}">
                      <a16:colId xmlns:a16="http://schemas.microsoft.com/office/drawing/2014/main" val="2619928501"/>
                    </a:ext>
                  </a:extLst>
                </a:gridCol>
              </a:tblGrid>
              <a:tr h="310896">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a:t>
                      </a:r>
                    </a:p>
                  </a:txBody>
                  <a:tcPr marL="64008" marR="64008" marT="0" marB="0" anchor="ctr">
                    <a:lnL w="12700" cap="flat" cmpd="sng" algn="ctr">
                      <a:solidFill>
                        <a:srgbClr val="000000"/>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氏名</a:t>
                      </a:r>
                    </a:p>
                  </a:txBody>
                  <a:tcPr marL="64008" marR="64008"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役職</a:t>
                      </a:r>
                    </a:p>
                  </a:txBody>
                  <a:tcPr marL="64008" marR="64008"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代表者との関係</a:t>
                      </a:r>
                    </a:p>
                  </a:txBody>
                  <a:tcPr marL="64008" marR="64008"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年間給与
（25年11月期）</a:t>
                      </a:r>
                    </a:p>
                  </a:txBody>
                  <a:tcPr marL="64008" marR="64008"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業務範囲・備考</a:t>
                      </a:r>
                      <a:endParaRPr lang="ja-JP" sz="105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64008" marR="64008" marT="0" marB="0" anchor="ctr">
                    <a:lnL w="6350" cap="flat" cmpd="sng" algn="ctr">
                      <a:solidFill>
                        <a:schemeClr val="bg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extLst>
                  <a:ext uri="{0D108BD9-81ED-4DB2-BD59-A6C34878D82A}">
                    <a16:rowId xmlns:a16="http://schemas.microsoft.com/office/drawing/2014/main" val="3581390043"/>
                  </a:ext>
                </a:extLst>
              </a:tr>
              <a:tr h="402336">
                <a:tc>
                  <a:txBody>
                    <a:bodyPr/>
                    <a:lstStyle/>
                    <a:p>
                      <a:pPr algn="ctr" fontAlgn="ctr">
                        <a:buNone/>
                      </a:pPr>
                      <a:r>
                        <a:rPr lang="ja-JP" sz="900" b="0" i="0" u="none" strike="noStrike" dirty="0">
                          <a:solidFill>
                            <a:sysClr val="windowText" lastClr="000000"/>
                          </a:solidFill>
                          <a:effectLst/>
                          <a:latin typeface="游ゴシック" panose="020B0400000000000000" pitchFamily="50" charset="-128"/>
                          <a:ea typeface="游ゴシック" panose="020B0400000000000000" pitchFamily="50" charset="-128"/>
                        </a:rPr>
                        <a:t>2</a:t>
                      </a:r>
                    </a:p>
                  </a:txBody>
                  <a:tcPr marL="64008" marR="64008"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900" b="0" i="0" u="none" strike="noStrike" dirty="0">
                          <a:solidFill>
                            <a:sysClr val="windowText" lastClr="000000"/>
                          </a:solidFill>
                          <a:effectLst/>
                          <a:latin typeface="游ゴシック" panose="020B0400000000000000" pitchFamily="50" charset="-128"/>
                          <a:ea typeface="游ゴシック" panose="020B0400000000000000" pitchFamily="50" charset="-128"/>
                        </a:rPr>
                        <a:t>淺野 崇</a:t>
                      </a:r>
                    </a:p>
                  </a:txBody>
                  <a:tcPr marL="64008" marR="64008"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900" b="0" i="0" u="none" strike="noStrike" dirty="0">
                          <a:solidFill>
                            <a:sysClr val="windowText" lastClr="000000"/>
                          </a:solidFill>
                          <a:effectLst/>
                          <a:latin typeface="游ゴシック" panose="020B0400000000000000" pitchFamily="50" charset="-128"/>
                          <a:ea typeface="游ゴシック" panose="020B0400000000000000" pitchFamily="50" charset="-128"/>
                        </a:rPr>
                        <a:t>現場責任者</a:t>
                      </a:r>
                    </a:p>
                  </a:txBody>
                  <a:tcPr marL="64008" marR="64008"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900" b="0" i="0" u="none" strike="noStrike" dirty="0">
                          <a:solidFill>
                            <a:sysClr val="windowText" lastClr="000000"/>
                          </a:solidFill>
                          <a:effectLst/>
                          <a:latin typeface="游ゴシック" panose="020B0400000000000000" pitchFamily="50" charset="-128"/>
                          <a:ea typeface="游ゴシック" panose="020B0400000000000000" pitchFamily="50" charset="-128"/>
                        </a:rPr>
                        <a:t>配偶者</a:t>
                      </a:r>
                    </a:p>
                  </a:txBody>
                  <a:tcPr marL="64008" marR="64008"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900" b="0" i="0" u="none" strike="noStrike" dirty="0">
                          <a:solidFill>
                            <a:sysClr val="windowText" lastClr="000000"/>
                          </a:solidFill>
                          <a:effectLst/>
                          <a:latin typeface="游ゴシック" panose="020B0400000000000000" pitchFamily="50" charset="-128"/>
                          <a:ea typeface="游ゴシック" panose="020B0400000000000000" pitchFamily="50" charset="-128"/>
                        </a:rPr>
                        <a:t>7,000千円</a:t>
                      </a:r>
                    </a:p>
                  </a:txBody>
                  <a:tcPr marL="64008" marR="64008"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900" b="0" i="0" u="none" strike="noStrike">
                          <a:solidFill>
                            <a:sysClr val="windowText" lastClr="000000"/>
                          </a:solidFill>
                          <a:effectLst/>
                          <a:latin typeface="游ゴシック" panose="020B0400000000000000" pitchFamily="50" charset="-128"/>
                          <a:ea typeface="游ゴシック" panose="020B0400000000000000" pitchFamily="50" charset="-128"/>
                        </a:rPr>
                        <a:t>経営業務・人材育成・店舗管理。緑店・大垣管理センターの動物取扱責任者を兼務</a:t>
                      </a:r>
                    </a:p>
                  </a:txBody>
                  <a:tcPr marL="64008" marR="64008"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82367820"/>
                  </a:ext>
                </a:extLst>
              </a:tr>
            </a:tbl>
          </a:graphicData>
        </a:graphic>
      </p:graphicFrame>
      <p:sp>
        <p:nvSpPr>
          <p:cNvPr id="2" name="正方形/長方形 1">
            <a:extLst>
              <a:ext uri="{FF2B5EF4-FFF2-40B4-BE49-F238E27FC236}">
                <a16:creationId xmlns:a16="http://schemas.microsoft.com/office/drawing/2014/main" id="{B911B5B5-26E9-D443-5D18-24CB337DC6C2}"/>
              </a:ext>
            </a:extLst>
          </p:cNvPr>
          <p:cNvSpPr/>
          <p:nvPr/>
        </p:nvSpPr>
        <p:spPr>
          <a:xfrm>
            <a:off x="310896" y="1389888"/>
            <a:ext cx="1737360" cy="31089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100" b="1" spc="70" dirty="0">
                <a:solidFill>
                  <a:schemeClr val="bg1"/>
                </a:solidFill>
                <a:latin typeface="游ゴシック" panose="020B0400000000000000" pitchFamily="50" charset="-128"/>
                <a:ea typeface="游ゴシック" panose="020B0400000000000000" pitchFamily="50" charset="-128"/>
              </a:rPr>
              <a:t>株主</a:t>
            </a:r>
          </a:p>
        </p:txBody>
      </p:sp>
      <p:sp>
        <p:nvSpPr>
          <p:cNvPr id="2" name="正方形/長方形 1">
            <a:extLst>
              <a:ext uri="{FF2B5EF4-FFF2-40B4-BE49-F238E27FC236}">
                <a16:creationId xmlns:a16="http://schemas.microsoft.com/office/drawing/2014/main" id="{B911B5B5-26E9-D443-5D18-24CB337DC6C2}"/>
              </a:ext>
            </a:extLst>
          </p:cNvPr>
          <p:cNvSpPr/>
          <p:nvPr/>
        </p:nvSpPr>
        <p:spPr>
          <a:xfrm>
            <a:off x="310896" y="3017520"/>
            <a:ext cx="1737360" cy="31089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100" b="1" spc="70" dirty="0">
                <a:solidFill>
                  <a:schemeClr val="bg1"/>
                </a:solidFill>
                <a:latin typeface="游ゴシック" panose="020B0400000000000000" pitchFamily="50" charset="-128"/>
                <a:ea typeface="游ゴシック" panose="020B0400000000000000" pitchFamily="50" charset="-128"/>
              </a:rPr>
              <a:t>役員</a:t>
            </a:r>
          </a:p>
        </p:txBody>
      </p:sp>
      <p:sp>
        <p:nvSpPr>
          <p:cNvPr id="2" name="正方形/長方形 1">
            <a:extLst>
              <a:ext uri="{FF2B5EF4-FFF2-40B4-BE49-F238E27FC236}">
                <a16:creationId xmlns:a16="http://schemas.microsoft.com/office/drawing/2014/main" id="{B911B5B5-26E9-D443-5D18-24CB337DC6C2}"/>
              </a:ext>
            </a:extLst>
          </p:cNvPr>
          <p:cNvSpPr/>
          <p:nvPr/>
        </p:nvSpPr>
        <p:spPr>
          <a:xfrm>
            <a:off x="310896" y="4434840"/>
            <a:ext cx="1737360" cy="31089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100" b="1" spc="70" dirty="0">
                <a:solidFill>
                  <a:schemeClr val="bg1"/>
                </a:solidFill>
                <a:latin typeface="游ゴシック" panose="020B0400000000000000" pitchFamily="50" charset="-128"/>
                <a:ea typeface="游ゴシック" panose="020B0400000000000000" pitchFamily="50" charset="-128"/>
              </a:rPr>
              <a:t>キーパーソン</a:t>
            </a:r>
          </a:p>
        </p:txBody>
      </p:sp>
      <p:sp>
        <p:nvSpPr>
          <p:cNvPr id="10" name="TextBox 14">
            <a:extLst>
              <a:ext uri="{FF2B5EF4-FFF2-40B4-BE49-F238E27FC236}">
                <a16:creationId xmlns:a16="http://schemas.microsoft.com/office/drawing/2014/main" id="{46A477A0-42E5-2D8F-DCCD-59CEEB8A741F}"/>
              </a:ext>
            </a:extLst>
          </p:cNvPr>
          <p:cNvSpPr txBox="1"/>
          <p:nvPr/>
        </p:nvSpPr>
        <p:spPr>
          <a:xfrm>
            <a:off x="310896" y="5715000"/>
            <a:ext cx="10021824" cy="1005840"/>
          </a:xfrm>
          <a:prstGeom prst="rect">
            <a:avLst/>
          </a:prstGeom>
          <a:noFill/>
        </p:spPr>
        <p:txBody>
          <a:bodyPr wrap="square" lIns="0" tIns="0" rIns="0" bIns="0" anchor="t">
            <a:spAutoFit/>
          </a:bodyPr>
          <a:lstStyle/>
          <a:p>
            <a:pPr algn="l">
              <a:lnSpc>
                <a:spcPct val="115000"/>
              </a:lnSpc>
            </a:pPr>
            <a:r>
              <a:rPr sz="850" b="0" dirty="0">
                <a:solidFill>
                  <a:schemeClr val="tx1"/>
                </a:solidFill>
                <a:latin typeface="游ゴシック" panose="020B0400000000000000" pitchFamily="50" charset="-128"/>
                <a:ea typeface="游ゴシック" panose="020B0400000000000000" pitchFamily="50" charset="-128"/>
              </a:rPr>
              <a:t>※株券不発行会社。譲渡制限規定あり（株主総会承認）。設立（2020年12月）以降、株主の変動なし。</a:t>
            </a:r>
          </a:p>
          <a:p>
            <a:pPr algn="l">
              <a:lnSpc>
                <a:spcPct val="115000"/>
              </a:lnSpc>
            </a:pPr>
            <a:r>
              <a:rPr sz="850" b="0" dirty="0">
                <a:solidFill>
                  <a:schemeClr val="tx1"/>
                </a:solidFill>
                <a:latin typeface="游ゴシック" panose="020B0400000000000000" pitchFamily="50" charset="-128"/>
                <a:ea typeface="游ゴシック" panose="020B0400000000000000" pitchFamily="50" charset="-128"/>
              </a:rPr>
              <a:t>※取締役会・監査役はいずれも非設置。役員は代表取締役1名のみ。</a:t>
            </a:r>
          </a:p>
          <a:p>
            <a:pPr algn="l">
              <a:lnSpc>
                <a:spcPct val="115000"/>
              </a:lnSpc>
            </a:pPr>
            <a:r>
              <a:rPr sz="850" b="0" dirty="0">
                <a:solidFill>
                  <a:schemeClr val="tx1"/>
                </a:solidFill>
                <a:latin typeface="游ゴシック" panose="020B0400000000000000" pitchFamily="50" charset="-128"/>
                <a:ea typeface="游ゴシック" panose="020B0400000000000000" pitchFamily="50" charset="-128"/>
              </a:rPr>
              <a:t>※現場責任者の淺野　崇氏（代表者の配偶者・1980年10月生）は役員ではなく従業員（2025年11月期 給与7,000千円）。経営業務・人材育成・店舗管理を担い、ドン・キホーテ緑店および大垣管理センターの動物取扱責任者を兼務するキーパーソン。本件は既知で、譲渡後の継続関与を前提としている（要確認）。</a:t>
            </a:r>
          </a:p>
        </p:txBody>
      </p:sp>
    </p:spTree>
    <p:extLst>
      <p:ext uri="{BB962C8B-B14F-4D97-AF65-F5344CB8AC3E}">
        <p14:creationId xmlns:p14="http://schemas.microsoft.com/office/powerpoint/2010/main" val="37072750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5D0D1-0787-475E-2A3A-4107DB8EC8C6}"/>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87057045-99B0-78F1-349A-A7BFEFFF27C9}"/>
              </a:ext>
            </a:extLst>
          </p:cNvPr>
          <p:cNvSpPr>
            <a:spLocks noGrp="1"/>
          </p:cNvSpPr>
          <p:nvPr>
            <p:ph type="ctrTitle"/>
          </p:nvPr>
        </p:nvSpPr>
        <p:spPr>
          <a:xfrm>
            <a:off x="311150" y="180296"/>
            <a:ext cx="7799917" cy="339267"/>
          </a:xfrm>
        </p:spPr>
        <p:txBody>
          <a:bodyPr>
            <a:normAutofit/>
          </a:bodyPr>
          <a:lstStyle/>
          <a:p>
            <a:r>
              <a:rPr lang="ja-JP" altLang="en-US" dirty="0"/>
              <a:t>従業員構成</a:t>
            </a:r>
          </a:p>
        </p:txBody>
      </p:sp>
      <p:sp>
        <p:nvSpPr>
          <p:cNvPr id="2" name="タイトル 1">
            <a:extLst>
              <a:ext uri="{FF2B5EF4-FFF2-40B4-BE49-F238E27FC236}">
                <a16:creationId xmlns:a16="http://schemas.microsoft.com/office/drawing/2014/main" id="{221C2F7A-197F-87B3-7293-77B559F8B532}"/>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6" name="字幕 13">
            <a:extLst>
              <a:ext uri="{FF2B5EF4-FFF2-40B4-BE49-F238E27FC236}">
                <a16:creationId xmlns:a16="http://schemas.microsoft.com/office/drawing/2014/main" id="{9F39F7D2-779F-1749-1B8E-9FCB51D635CB}"/>
              </a:ext>
            </a:extLst>
          </p:cNvPr>
          <p:cNvSpPr>
            <a:spLocks noGrp="1"/>
          </p:cNvSpPr>
          <p:nvPr>
            <p:ph type="subTitle" idx="1"/>
          </p:nvPr>
        </p:nvSpPr>
        <p:spPr>
          <a:xfrm>
            <a:off x="460675" y="830046"/>
            <a:ext cx="9781875" cy="241861"/>
          </a:xfrm>
        </p:spPr>
        <p:txBody>
          <a:bodyPr>
            <a:noAutofit/>
          </a:bodyPr>
          <a:lstStyle/>
          <a:p>
            <a:r>
              <a:rPr lang="ja-JP" altLang="en-US" dirty="0">
                <a:latin typeface="+mj-ea"/>
              </a:rPr>
              <a:t>2026年9月時点で在籍が確認できる従業員は49名（役員2名、正社員14名、アルバイト33名）。不採算2店舗の撤退に伴い、2025年12月以降に57名が退職している。</a:t>
            </a:r>
            <a:endParaRPr lang="en-US" altLang="ja-JP" dirty="0"/>
          </a:p>
        </p:txBody>
      </p:sp>
      <p:graphicFrame>
        <p:nvGraphicFramePr>
          <p:cNvPr id="4" name="表 3">
            <a:extLst>
              <a:ext uri="{FF2B5EF4-FFF2-40B4-BE49-F238E27FC236}">
                <a16:creationId xmlns:a16="http://schemas.microsoft.com/office/drawing/2014/main" id="{CC8F67C9-68E7-9BE5-E6D9-6B1766F63D86}"/>
              </a:ext>
            </a:extLst>
          </p:cNvPr>
          <p:cNvGraphicFramePr>
            <a:graphicFrameLocks noGrp="1"/>
          </p:cNvGraphicFramePr>
          <p:nvPr>
            <p:extLst>
              <p:ext uri="{D42A27DB-BD31-4B8C-83A1-F6EECF244321}">
                <p14:modId xmlns:p14="http://schemas.microsoft.com/office/powerpoint/2010/main" val="465018164"/>
              </p:ext>
            </p:extLst>
          </p:nvPr>
        </p:nvGraphicFramePr>
        <p:xfrm>
          <a:off x="311150" y="1465133"/>
          <a:ext cx="10040112" cy="3877056"/>
        </p:xfrm>
        <a:graphic>
          <a:graphicData uri="http://schemas.openxmlformats.org/drawingml/2006/table">
            <a:tbl>
              <a:tblPr/>
              <a:tblGrid>
                <a:gridCol w="274320">
                  <a:extLst>
                    <a:ext uri="{9D8B030D-6E8A-4147-A177-3AD203B41FA5}">
                      <a16:colId xmlns:a16="http://schemas.microsoft.com/office/drawing/2014/main" val="2009964781"/>
                    </a:ext>
                  </a:extLst>
                </a:gridCol>
                <a:gridCol w="2286000">
                  <a:extLst>
                    <a:ext uri="{9D8B030D-6E8A-4147-A177-3AD203B41FA5}">
                      <a16:colId xmlns:a16="http://schemas.microsoft.com/office/drawing/2014/main" val="2892268224"/>
                    </a:ext>
                  </a:extLst>
                </a:gridCol>
                <a:gridCol w="530352">
                  <a:extLst>
                    <a:ext uri="{9D8B030D-6E8A-4147-A177-3AD203B41FA5}">
                      <a16:colId xmlns:a16="http://schemas.microsoft.com/office/drawing/2014/main" val="1250532957"/>
                    </a:ext>
                  </a:extLst>
                </a:gridCol>
                <a:gridCol w="566928">
                  <a:extLst>
                    <a:ext uri="{9D8B030D-6E8A-4147-A177-3AD203B41FA5}">
                      <a16:colId xmlns:a16="http://schemas.microsoft.com/office/drawing/2014/main" val="2143222230"/>
                    </a:ext>
                  </a:extLst>
                </a:gridCol>
                <a:gridCol w="475488">
                  <a:extLst>
                    <a:ext uri="{9D8B030D-6E8A-4147-A177-3AD203B41FA5}">
                      <a16:colId xmlns:a16="http://schemas.microsoft.com/office/drawing/2014/main" val="781273896"/>
                    </a:ext>
                  </a:extLst>
                </a:gridCol>
                <a:gridCol w="640080">
                  <a:extLst>
                    <a:ext uri="{9D8B030D-6E8A-4147-A177-3AD203B41FA5}">
                      <a16:colId xmlns:a16="http://schemas.microsoft.com/office/drawing/2014/main" val="2143180587"/>
                    </a:ext>
                  </a:extLst>
                </a:gridCol>
                <a:gridCol w="658368">
                  <a:extLst>
                    <a:ext uri="{9D8B030D-6E8A-4147-A177-3AD203B41FA5}">
                      <a16:colId xmlns:a16="http://schemas.microsoft.com/office/drawing/2014/main" val="705162408"/>
                    </a:ext>
                  </a:extLst>
                </a:gridCol>
                <a:gridCol w="640080">
                  <a:extLst>
                    <a:ext uri="{9D8B030D-6E8A-4147-A177-3AD203B41FA5}">
                      <a16:colId xmlns:a16="http://schemas.microsoft.com/office/drawing/2014/main" val="1493568873"/>
                    </a:ext>
                  </a:extLst>
                </a:gridCol>
                <a:gridCol w="969264">
                  <a:extLst>
                    <a:ext uri="{9D8B030D-6E8A-4147-A177-3AD203B41FA5}">
                      <a16:colId xmlns:a16="http://schemas.microsoft.com/office/drawing/2014/main" val="2652574131"/>
                    </a:ext>
                  </a:extLst>
                </a:gridCol>
                <a:gridCol w="2999232">
                  <a:extLst>
                    <a:ext uri="{9D8B030D-6E8A-4147-A177-3AD203B41FA5}">
                      <a16:colId xmlns:a16="http://schemas.microsoft.com/office/drawing/2014/main" val="3699930150"/>
                    </a:ext>
                  </a:extLst>
                </a:gridCol>
                <a:gridCol w="0">
                  <a:extLst>
                    <a:ext uri="{9D8B030D-6E8A-4147-A177-3AD203B41FA5}">
                      <a16:colId xmlns:a16="http://schemas.microsoft.com/office/drawing/2014/main" val="3457569815"/>
                    </a:ext>
                  </a:extLst>
                </a:gridCol>
              </a:tblGrid>
              <a:tr h="146304">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3698" marR="3698" marT="3698" marB="0">
                    <a:lnL>
                      <a:noFill/>
                    </a:lnL>
                    <a:lnR>
                      <a:noFill/>
                    </a:lnR>
                    <a:lnT>
                      <a:noFill/>
                    </a:lnT>
                    <a:lnB>
                      <a:noFill/>
                    </a:lnB>
                    <a:no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3698" marR="3698" marT="3698" marB="0">
                    <a:lnL>
                      <a:noFill/>
                    </a:lnL>
                    <a:lnR>
                      <a:noFill/>
                    </a:lnR>
                    <a:lnT>
                      <a:noFill/>
                    </a:lnT>
                    <a:lnB>
                      <a:noFill/>
                    </a:lnB>
                    <a:no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3698" marR="3698" marT="3698" marB="0">
                    <a:lnL>
                      <a:noFill/>
                    </a:lnL>
                    <a:lnR>
                      <a:noFill/>
                    </a:lnR>
                    <a:lnT>
                      <a:noFill/>
                    </a:lnT>
                    <a:lnB>
                      <a:noFill/>
                    </a:lnB>
                    <a:no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3698" marR="3698" marT="3698" marB="0">
                    <a:lnL>
                      <a:noFill/>
                    </a:lnL>
                    <a:lnR>
                      <a:noFill/>
                    </a:lnR>
                    <a:lnT>
                      <a:noFill/>
                    </a:lnT>
                    <a:lnB>
                      <a:noFill/>
                    </a:lnB>
                    <a:no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3698" marR="3698" marT="3698" marB="0">
                    <a:lnL>
                      <a:noFill/>
                    </a:lnL>
                    <a:lnR>
                      <a:noFill/>
                    </a:lnR>
                    <a:lnT>
                      <a:noFill/>
                    </a:lnT>
                    <a:lnB>
                      <a:noFill/>
                    </a:lnB>
                    <a:no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3698" marR="3698" marT="3698" marB="0">
                    <a:lnL>
                      <a:noFill/>
                    </a:lnL>
                    <a:lnR>
                      <a:noFill/>
                    </a:lnR>
                    <a:lnT>
                      <a:noFill/>
                    </a:lnT>
                    <a:lnB>
                      <a:noFill/>
                    </a:lnB>
                    <a:no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3698" marR="3698" marT="3698" marB="0">
                    <a:lnL>
                      <a:noFill/>
                    </a:lnL>
                    <a:lnR>
                      <a:noFill/>
                    </a:lnR>
                    <a:lnT>
                      <a:noFill/>
                    </a:lnT>
                    <a:lnB>
                      <a:noFill/>
                    </a:lnB>
                    <a:noFill/>
                  </a:tcPr>
                </a:tc>
                <a:tc gridSpan="2">
                  <a:txBody>
                    <a:bodyPr/>
                    <a:lstStyle/>
                    <a:p>
                      <a:pPr algn="r" fontAlgn="ctr">
                        <a:buNone/>
                      </a:pPr>
                      <a:r>
                        <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3698" marR="3698" marT="3698" marB="0" anchor="b">
                    <a:lnL>
                      <a:noFill/>
                    </a:lnL>
                    <a:lnR>
                      <a:noFill/>
                    </a:lnR>
                    <a:lnT>
                      <a:noFill/>
                    </a:lnT>
                    <a:lnB>
                      <a:noFill/>
                    </a:lnB>
                    <a:noFill/>
                  </a:tcPr>
                </a:tc>
                <a:tc hMerge="1">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3698" marR="3698" marT="3698" marB="0" anchor="ctr">
                    <a:lnL>
                      <a:noFill/>
                    </a:lnL>
                    <a:lnR>
                      <a:noFill/>
                    </a:lnR>
                    <a:lnT>
                      <a:noFill/>
                    </a:lnT>
                    <a:lnB>
                      <a:noFill/>
                    </a:lnB>
                    <a:no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3698" marR="3698" marT="3698" marB="0">
                    <a:lnL>
                      <a:noFill/>
                    </a:lnL>
                    <a:lnR>
                      <a:noFill/>
                    </a:lnR>
                    <a:lnT>
                      <a:noFill/>
                    </a:lnT>
                    <a:lnB>
                      <a:noFill/>
                    </a:lnB>
                    <a:no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3698" marR="3698" marT="3698" marB="0">
                    <a:lnL>
                      <a:noFill/>
                    </a:lnL>
                    <a:lnR>
                      <a:noFill/>
                    </a:lnR>
                    <a:lnT>
                      <a:noFill/>
                    </a:lnT>
                    <a:lnB>
                      <a:noFill/>
                    </a:lnB>
                    <a:noFill/>
                  </a:tcPr>
                </a:tc>
                <a:extLst>
                  <a:ext uri="{0D108BD9-81ED-4DB2-BD59-A6C34878D82A}">
                    <a16:rowId xmlns:a16="http://schemas.microsoft.com/office/drawing/2014/main" val="3764227106"/>
                  </a:ext>
                </a:extLst>
              </a:tr>
              <a:tr h="475488">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a:t>
                      </a:r>
                    </a:p>
                  </a:txBody>
                  <a:tcPr marL="3698" marR="3698" marT="3698"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chemeClr val="bg1">
                          <a:lumMod val="75000"/>
                        </a:schemeClr>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部署・店舗</a:t>
                      </a:r>
                    </a:p>
                  </a:txBody>
                  <a:tcPr marL="3698" marR="3698" marT="369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chemeClr val="bg1">
                          <a:lumMod val="75000"/>
                        </a:schemeClr>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正社員
等(名)</a:t>
                      </a:r>
                    </a:p>
                  </a:txBody>
                  <a:tcPr marL="3698" marR="3698" marT="369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chemeClr val="bg1">
                          <a:lumMod val="75000"/>
                        </a:schemeClr>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アルバ
イト(名)</a:t>
                      </a:r>
                    </a:p>
                  </a:txBody>
                  <a:tcPr marL="3698" marR="3698" marT="369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chemeClr val="bg1">
                          <a:lumMod val="75000"/>
                        </a:schemeClr>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合計
(名)</a:t>
                      </a:r>
                    </a:p>
                  </a:txBody>
                  <a:tcPr marL="3698" marR="3698" marT="369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chemeClr val="bg1">
                          <a:lumMod val="75000"/>
                        </a:schemeClr>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平均年齢
(歳)</a:t>
                      </a:r>
                    </a:p>
                  </a:txBody>
                  <a:tcPr marL="3698" marR="3698" marT="369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chemeClr val="bg1">
                          <a:lumMod val="75000"/>
                        </a:schemeClr>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平均勤続
年数(年)</a:t>
                      </a:r>
                    </a:p>
                  </a:txBody>
                  <a:tcPr marL="3698" marR="3698" marT="369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chemeClr val="bg1">
                          <a:lumMod val="75000"/>
                        </a:schemeClr>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動物取扱
責任者</a:t>
                      </a:r>
                    </a:p>
                  </a:txBody>
                  <a:tcPr marL="3698" marR="3698" marT="369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chemeClr val="bg1">
                          <a:lumMod val="75000"/>
                        </a:schemeClr>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進行期7か月
売上高(千円)</a:t>
                      </a:r>
                    </a:p>
                  </a:txBody>
                  <a:tcPr marL="3698" marR="3698" marT="369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chemeClr val="bg1">
                          <a:lumMod val="75000"/>
                        </a:schemeClr>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備考</a:t>
                      </a:r>
                    </a:p>
                  </a:txBody>
                  <a:tcPr marL="3698" marR="3698" marT="369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chemeClr val="bg1">
                          <a:lumMod val="75000"/>
                        </a:schemeClr>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3698" marR="3698" marT="3698" marB="0" anchor="ctr">
                    <a:lnL w="12700" cap="flat" cmpd="sng" algn="ctr">
                      <a:solidFill>
                        <a:srgbClr val="FFFFFF"/>
                      </a:solidFill>
                      <a:prstDash val="solid"/>
                      <a:round/>
                      <a:headEnd type="none" w="med" len="med"/>
                      <a:tailEnd type="none" w="med" len="med"/>
                    </a:lnL>
                    <a:lnR>
                      <a:noFill/>
                    </a:lnR>
                    <a:lnT>
                      <a:noFill/>
                    </a:lnT>
                    <a:lnB w="12700" cap="flat" cmpd="sng" algn="ctr">
                      <a:solidFill>
                        <a:schemeClr val="bg1">
                          <a:lumMod val="75000"/>
                        </a:schemeClr>
                      </a:solidFill>
                      <a:prstDash val="solid"/>
                      <a:round/>
                      <a:headEnd type="none" w="med" len="med"/>
                      <a:tailEnd type="none" w="med" len="med"/>
                    </a:lnB>
                    <a:solidFill>
                      <a:srgbClr val="0B3041"/>
                    </a:solidFill>
                  </a:tcPr>
                </a:tc>
                <a:extLst>
                  <a:ext uri="{0D108BD9-81ED-4DB2-BD59-A6C34878D82A}">
                    <a16:rowId xmlns:a16="http://schemas.microsoft.com/office/drawing/2014/main" val="2361366934"/>
                  </a:ext>
                </a:extLst>
              </a:tr>
              <a:tr h="365760">
                <a:tc>
                  <a:txBody>
                    <a:bodyPr/>
                    <a:lstStyle/>
                    <a:p>
                      <a:pPr algn="ct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本社</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43.4</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代表取締役 淺野ゆう子氏および現場責任者 淺野崇氏。いずれも給与体系は「役員」</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801966053"/>
                  </a:ext>
                </a:extLst>
              </a:tr>
              <a:tr h="365760">
                <a:tc>
                  <a:txBody>
                    <a:bodyPr/>
                    <a:lstStyle/>
                    <a:p>
                      <a:pPr algn="ct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ワンラブ カインズホーム明和店</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3</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3</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6</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28.1</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1.1</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25,109</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松阪管理センターと一体で運営されていると推察</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747260770"/>
                  </a:ext>
                </a:extLst>
              </a:tr>
              <a:tr h="365760">
                <a:tc>
                  <a:txBody>
                    <a:bodyPr/>
                    <a:lstStyle/>
                    <a:p>
                      <a:pPr algn="ct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3</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ワンラブ バローミタス伊勢店</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7</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9</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33.7</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3.6</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40,221</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1857659668"/>
                  </a:ext>
                </a:extLst>
              </a:tr>
              <a:tr h="365760">
                <a:tc>
                  <a:txBody>
                    <a:bodyPr/>
                    <a:lstStyle/>
                    <a:p>
                      <a:pPr algn="ct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4</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ワンラブ ホームセンターバロー久居店</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3</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5</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32.9</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3.9</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33,840</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3099209033"/>
                  </a:ext>
                </a:extLst>
              </a:tr>
              <a:tr h="365760">
                <a:tc>
                  <a:txBody>
                    <a:bodyPr/>
                    <a:lstStyle/>
                    <a:p>
                      <a:pPr algn="ct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5</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ワンラブ ドン・キホーテ緑店</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6</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7</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39.9</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1.9</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36,963</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現場責任者 淺野崇氏が動物取扱責任者を兼務</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3424355270"/>
                  </a:ext>
                </a:extLst>
              </a:tr>
              <a:tr h="365760">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おっきなもふもふ応援隊 岐阜総本店</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9</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10</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34.5</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1.4</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60,023</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3563620634"/>
                  </a:ext>
                </a:extLst>
              </a:tr>
              <a:tr h="365760">
                <a:tc>
                  <a:txBody>
                    <a:bodyPr/>
                    <a:lstStyle/>
                    <a:p>
                      <a:pPr algn="ct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7</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おっきなもふもふ応援隊 大阪総本店</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8</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28.7</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1.8</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58,447</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53212797"/>
                  </a:ext>
                </a:extLst>
              </a:tr>
              <a:tr h="365760">
                <a:tc>
                  <a:txBody>
                    <a:bodyPr/>
                    <a:lstStyle/>
                    <a:p>
                      <a:pPr algn="ct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8</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松阪管理センター</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36.9</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3.3</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バックヤード管理／デザイナーズワン㈱の生体管理</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3724010098"/>
                  </a:ext>
                </a:extLst>
              </a:tr>
              <a:tr h="329184">
                <a:tc>
                  <a:txBody>
                    <a:bodyPr/>
                    <a:lstStyle/>
                    <a:p>
                      <a:pPr algn="ct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合計</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16</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33</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49</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254,603</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※稼働6店舗の合計。ほかに共通部門13,650千円・セキュリティ事業2,945千円</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960730710"/>
                  </a:ext>
                </a:extLst>
              </a:tr>
            </a:tbl>
          </a:graphicData>
        </a:graphic>
      </p:graphicFrame>
      <p:sp>
        <p:nvSpPr>
          <p:cNvPr id="14" name="TextBox 13"/>
          <p:cNvSpPr txBox="1"/>
          <p:nvPr/>
        </p:nvSpPr>
        <p:spPr>
          <a:xfrm>
            <a:off x="310896" y="5760720"/>
            <a:ext cx="10040112" cy="1097280"/>
          </a:xfrm>
          <a:prstGeom prst="rect">
            <a:avLst/>
          </a:prstGeom>
          <a:noFill/>
        </p:spPr>
        <p:txBody>
          <a:bodyPr wrap="square">
            <a:spAutoFit/>
          </a:bodyPr>
          <a:lstStyle/>
          <a:p>
            <a:r>
              <a:rPr sz="800">
                <a:latin typeface="游ゴシック Medium"/>
              </a:rPr>
              <a:t>※出所：対象会社提供「従業員名簿（全従業員195名）」。退職年月日が入力されていない49名を在籍者として集計。平均年齢・平均勤続年数は2026年9月23日時点。</a:t>
            </a:r>
          </a:p>
          <a:p>
            <a:r>
              <a:rPr sz="800">
                <a:latin typeface="游ゴシック Medium"/>
              </a:rPr>
              <a:t>※本名簿は2026年8月27日入社・同年8月31日退職までを収録しており、足元の異動を反映している。195名のうち146名が退職済（2025年12月以降の退職57名）。</a:t>
            </a:r>
          </a:p>
          <a:p>
            <a:r>
              <a:rPr sz="800">
                <a:latin typeface="游ゴシック Medium"/>
              </a:rPr>
              <a:t>※撤退したアクアウォーク大垣店・ペットプラザ岐阜店および大垣管理センターには在籍者がいない。店舗別試算表で両店の売上が2026年1月・2月で終了していることと整合する。</a:t>
            </a:r>
          </a:p>
          <a:p>
            <a:r>
              <a:rPr sz="800">
                <a:latin typeface="游ゴシック Medium"/>
              </a:rPr>
              <a:t>※役員2名（代表取締役 淺野ゆう子氏／現場責任者 淺野崇氏）は入社日の登録がないため、平均勤続年数の集計対象外。</a:t>
            </a:r>
          </a:p>
          <a:p>
            <a:r>
              <a:rPr sz="800">
                <a:latin typeface="游ゴシック Medium"/>
              </a:rPr>
              <a:t>※動物取扱責任者欄の「○」は各事業所に配置済、「※」は他事業所の責任者が兼務していると推察されるもの（要確認）。</a:t>
            </a:r>
          </a:p>
        </p:txBody>
      </p:sp>
    </p:spTree>
    <p:extLst>
      <p:ext uri="{BB962C8B-B14F-4D97-AF65-F5344CB8AC3E}">
        <p14:creationId xmlns:p14="http://schemas.microsoft.com/office/powerpoint/2010/main" val="453025931"/>
      </p:ext>
    </p:extLst>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タイトル 12">
            <a:extLst>
              <a:ext uri="{FF2B5EF4-FFF2-40B4-BE49-F238E27FC236}">
                <a16:creationId xmlns:a16="http://schemas.microsoft.com/office/drawing/2014/main" id="{87057045-99B0-78F1-349A-A7BFEFFF27C9}"/>
              </a:ext>
            </a:extLst>
          </p:cNvPr>
          <p:cNvSpPr>
            <a:spLocks noGrp="1"/>
          </p:cNvSpPr>
          <p:nvPr>
            <p:ph type="ctrTitle"/>
          </p:nvPr>
        </p:nvSpPr>
        <p:spPr>
          <a:xfrm>
            <a:off x="311150" y="180296"/>
            <a:ext cx="7799917" cy="339267"/>
          </a:xfrm>
        </p:spPr>
        <p:txBody>
          <a:bodyPr>
            <a:normAutofit/>
          </a:bodyPr>
          <a:lstStyle/>
          <a:p>
            <a:r>
              <a:rPr lang="ja-JP" altLang="en-US" dirty="0"/>
              <a:t>従業員一覧①</a:t>
            </a:r>
          </a:p>
        </p:txBody>
      </p:sp>
      <p:sp>
        <p:nvSpPr>
          <p:cNvPr id="2" name="タイトル 1">
            <a:extLst>
              <a:ext uri="{FF2B5EF4-FFF2-40B4-BE49-F238E27FC236}">
                <a16:creationId xmlns:a16="http://schemas.microsoft.com/office/drawing/2014/main" id="{221C2F7A-197F-87B3-7293-77B559F8B532}"/>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6" name="字幕 13">
            <a:extLst>
              <a:ext uri="{FF2B5EF4-FFF2-40B4-BE49-F238E27FC236}">
                <a16:creationId xmlns:a16="http://schemas.microsoft.com/office/drawing/2014/main" id="{9F39F7D2-779F-1749-1B8E-9FCB51D635CB}"/>
              </a:ext>
            </a:extLst>
          </p:cNvPr>
          <p:cNvSpPr>
            <a:spLocks noGrp="1"/>
          </p:cNvSpPr>
          <p:nvPr>
            <p:ph type="subTitle" idx="1"/>
          </p:nvPr>
        </p:nvSpPr>
        <p:spPr>
          <a:xfrm>
            <a:off x="460675" y="830046"/>
            <a:ext cx="9781875" cy="241861"/>
          </a:xfrm>
        </p:spPr>
        <p:txBody>
          <a:bodyPr>
            <a:noAutofit/>
          </a:bodyPr>
          <a:lstStyle/>
          <a:p>
            <a:r>
              <a:rPr lang="ja-JP" altLang="en-US" dirty="0">
                <a:latin typeface="+mj-ea"/>
              </a:rPr>
              <a:t>在籍49名（役員2名、正社員14名、アルバイト33名）の個人別一覧。氏名は役員2名を除きイニシャルへ匿名化している。部署・店舗別の集計はP.23を参照。</a:t>
            </a:r>
            <a:endParaRPr lang="en-US" altLang="ja-JP" dirty="0"/>
          </a:p>
        </p:txBody>
      </p:sp>
      <p:graphicFrame>
        <p:nvGraphicFramePr>
          <p:cNvPr id="4" name="表 3">
            <a:extLst>
              <a:ext uri="{FF2B5EF4-FFF2-40B4-BE49-F238E27FC236}">
                <a16:creationId xmlns:a16="http://schemas.microsoft.com/office/drawing/2014/main" id="{CC8F67C9-68E7-9BE5-E6D9-6B1766F63D86}"/>
              </a:ext>
            </a:extLst>
          </p:cNvPr>
          <p:cNvGraphicFramePr>
            <a:graphicFrameLocks noGrp="1"/>
          </p:cNvGraphicFramePr>
          <p:nvPr>
            <p:extLst>
              <p:ext uri="{D42A27DB-BD31-4B8C-83A1-F6EECF244321}">
                <p14:modId xmlns:p14="http://schemas.microsoft.com/office/powerpoint/2010/main" val="465018164"/>
              </p:ext>
            </p:extLst>
          </p:nvPr>
        </p:nvGraphicFramePr>
        <p:xfrm>
          <a:off x="311150" y="1389888"/>
          <a:ext cx="10040111" cy="5198364"/>
        </p:xfrm>
        <a:graphic>
          <a:graphicData uri="http://schemas.openxmlformats.org/drawingml/2006/table">
            <a:tbl>
              <a:tblPr/>
              <a:tblGrid>
                <a:gridCol w="347472">
                  <a:extLst>
                    <a:ext uri="{9D8B030D-6E8A-4147-A177-3AD203B41FA5}">
                      <a16:colId xmlns:a16="http://schemas.microsoft.com/office/drawing/2014/main" val="2009964781"/>
                    </a:ext>
                  </a:extLst>
                </a:gridCol>
                <a:gridCol w="868680">
                  <a:extLst>
                    <a:ext uri="{9D8B030D-6E8A-4147-A177-3AD203B41FA5}">
                      <a16:colId xmlns:a16="http://schemas.microsoft.com/office/drawing/2014/main" val="2892268224"/>
                    </a:ext>
                  </a:extLst>
                </a:gridCol>
                <a:gridCol w="868680">
                  <a:extLst>
                    <a:ext uri="{9D8B030D-6E8A-4147-A177-3AD203B41FA5}">
                      <a16:colId xmlns:a16="http://schemas.microsoft.com/office/drawing/2014/main" val="1250532957"/>
                    </a:ext>
                  </a:extLst>
                </a:gridCol>
                <a:gridCol w="457200">
                  <a:extLst>
                    <a:ext uri="{9D8B030D-6E8A-4147-A177-3AD203B41FA5}">
                      <a16:colId xmlns:a16="http://schemas.microsoft.com/office/drawing/2014/main" val="2143222230"/>
                    </a:ext>
                  </a:extLst>
                </a:gridCol>
                <a:gridCol w="512064">
                  <a:extLst>
                    <a:ext uri="{9D8B030D-6E8A-4147-A177-3AD203B41FA5}">
                      <a16:colId xmlns:a16="http://schemas.microsoft.com/office/drawing/2014/main" val="781273896"/>
                    </a:ext>
                  </a:extLst>
                </a:gridCol>
                <a:gridCol w="868680">
                  <a:extLst>
                    <a:ext uri="{9D8B030D-6E8A-4147-A177-3AD203B41FA5}">
                      <a16:colId xmlns:a16="http://schemas.microsoft.com/office/drawing/2014/main" val="2143180587"/>
                    </a:ext>
                  </a:extLst>
                </a:gridCol>
                <a:gridCol w="2560320">
                  <a:extLst>
                    <a:ext uri="{9D8B030D-6E8A-4147-A177-3AD203B41FA5}">
                      <a16:colId xmlns:a16="http://schemas.microsoft.com/office/drawing/2014/main" val="705162408"/>
                    </a:ext>
                  </a:extLst>
                </a:gridCol>
                <a:gridCol w="1042415">
                  <a:extLst>
                    <a:ext uri="{9D8B030D-6E8A-4147-A177-3AD203B41FA5}">
                      <a16:colId xmlns:a16="http://schemas.microsoft.com/office/drawing/2014/main" val="1493568873"/>
                    </a:ext>
                  </a:extLst>
                </a:gridCol>
                <a:gridCol w="2514600">
                  <a:extLst>
                    <a:ext uri="{9D8B030D-6E8A-4147-A177-3AD203B41FA5}">
                      <a16:colId xmlns:a16="http://schemas.microsoft.com/office/drawing/2014/main" val="2652574131"/>
                    </a:ext>
                  </a:extLst>
                </a:gridCol>
              </a:tblGrid>
              <a:tr h="128016">
                <a:tc>
                  <a:txBody>
                    <a:bodyPr/>
                    <a:lstStyle/>
                    <a:p>
                      <a:pPr algn="ctr" fontAlgn="ctr">
                        <a:buNone/>
                      </a:pPr>
                      <a:r>
                        <a:rPr lang="ja-JP" sz="85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3698" marR="3698" marT="3698" marB="0">
                    <a:lnL>
                      <a:noFill/>
                    </a:lnL>
                    <a:lnR>
                      <a:noFill/>
                    </a:lnR>
                    <a:lnT>
                      <a:noFill/>
                    </a:lnT>
                    <a:lnB>
                      <a:noFill/>
                    </a:lnB>
                    <a:noFill/>
                  </a:tcPr>
                </a:tc>
                <a:tc>
                  <a:txBody>
                    <a:bodyPr/>
                    <a:lstStyle/>
                    <a:p>
                      <a:pPr algn="ctr" fontAlgn="ctr">
                        <a:buNone/>
                      </a:pPr>
                      <a:r>
                        <a:rPr lang="ja-JP" sz="85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3698" marR="3698" marT="3698" marB="0">
                    <a:lnL>
                      <a:noFill/>
                    </a:lnL>
                    <a:lnR>
                      <a:noFill/>
                    </a:lnR>
                    <a:lnT>
                      <a:noFill/>
                    </a:lnT>
                    <a:lnB>
                      <a:noFill/>
                    </a:lnB>
                    <a:noFill/>
                  </a:tcPr>
                </a:tc>
                <a:tc>
                  <a:txBody>
                    <a:bodyPr/>
                    <a:lstStyle/>
                    <a:p>
                      <a:pPr algn="ctr" fontAlgn="ctr">
                        <a:buNone/>
                      </a:pPr>
                      <a:r>
                        <a:rPr lang="ja-JP" sz="85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3698" marR="3698" marT="3698" marB="0">
                    <a:lnL>
                      <a:noFill/>
                    </a:lnL>
                    <a:lnR>
                      <a:noFill/>
                    </a:lnR>
                    <a:lnT>
                      <a:noFill/>
                    </a:lnT>
                    <a:lnB>
                      <a:noFill/>
                    </a:lnB>
                    <a:noFill/>
                  </a:tcPr>
                </a:tc>
                <a:tc>
                  <a:txBody>
                    <a:bodyPr/>
                    <a:lstStyle/>
                    <a:p>
                      <a:pPr algn="ctr" fontAlgn="ctr">
                        <a:buNone/>
                      </a:pPr>
                      <a:r>
                        <a:rPr lang="ja-JP" sz="85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3698" marR="3698" marT="3698" marB="0">
                    <a:lnL>
                      <a:noFill/>
                    </a:lnL>
                    <a:lnR>
                      <a:noFill/>
                    </a:lnR>
                    <a:lnT>
                      <a:noFill/>
                    </a:lnT>
                    <a:lnB>
                      <a:noFill/>
                    </a:lnB>
                    <a:noFill/>
                  </a:tcPr>
                </a:tc>
                <a:tc>
                  <a:txBody>
                    <a:bodyPr/>
                    <a:lstStyle/>
                    <a:p>
                      <a:pPr algn="ctr" fontAlgn="ctr">
                        <a:buNone/>
                      </a:pPr>
                      <a:r>
                        <a:rPr lang="ja-JP" sz="85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3698" marR="3698" marT="3698" marB="0">
                    <a:lnL>
                      <a:noFill/>
                    </a:lnL>
                    <a:lnR>
                      <a:noFill/>
                    </a:lnR>
                    <a:lnT>
                      <a:noFill/>
                    </a:lnT>
                    <a:lnB>
                      <a:noFill/>
                    </a:lnB>
                    <a:noFill/>
                  </a:tcPr>
                </a:tc>
                <a:tc>
                  <a:txBody>
                    <a:bodyPr/>
                    <a:lstStyle/>
                    <a:p>
                      <a:pPr algn="ctr" fontAlgn="ctr">
                        <a:buNone/>
                      </a:pPr>
                      <a:r>
                        <a:rPr lang="ja-JP" sz="85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3698" marR="3698" marT="3698" marB="0">
                    <a:lnL>
                      <a:noFill/>
                    </a:lnL>
                    <a:lnR>
                      <a:noFill/>
                    </a:lnR>
                    <a:lnT>
                      <a:noFill/>
                    </a:lnT>
                    <a:lnB>
                      <a:noFill/>
                    </a:lnB>
                    <a:noFill/>
                  </a:tcPr>
                </a:tc>
                <a:tc>
                  <a:txBody>
                    <a:bodyPr/>
                    <a:lstStyle/>
                    <a:p>
                      <a:pPr algn="ctr" fontAlgn="ctr">
                        <a:buNone/>
                      </a:pPr>
                      <a:r>
                        <a:rPr lang="ja-JP" sz="85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64008" marR="3698" marT="3698" marB="0">
                    <a:lnL>
                      <a:noFill/>
                    </a:lnL>
                    <a:lnR>
                      <a:noFill/>
                    </a:lnR>
                    <a:lnT>
                      <a:noFill/>
                    </a:lnT>
                    <a:lnB>
                      <a:noFill/>
                    </a:lnB>
                    <a:noFill/>
                  </a:tcPr>
                </a:tc>
                <a:tc>
                  <a:txBody>
                    <a:bodyPr/>
                    <a:lstStyle/>
                    <a:p>
                      <a:pPr algn="r" fontAlgn="ctr">
                        <a:buNone/>
                      </a:pPr>
                      <a:r>
                        <a:rPr lang="ja-JP" altLang="en-US" sz="85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3698" marR="3698" marT="3698" marB="0" anchor="b">
                    <a:lnL>
                      <a:noFill/>
                    </a:lnL>
                    <a:lnR>
                      <a:noFill/>
                    </a:lnR>
                    <a:lnT>
                      <a:noFill/>
                    </a:lnT>
                    <a:lnB>
                      <a:noFill/>
                    </a:lnB>
                    <a:noFill/>
                  </a:tcPr>
                </a:tc>
                <a:tc>
                  <a:txBody>
                    <a:bodyPr/>
                    <a:lstStyle/>
                    <a:p>
                      <a:pPr algn="ctr" fontAlgn="ctr">
                        <a:buNone/>
                      </a:pPr>
                      <a:r>
                        <a:rPr lang="ja-JP" sz="85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64008" marR="3698" marT="3698" marB="0" anchor="ctr">
                    <a:lnL>
                      <a:noFill/>
                    </a:lnL>
                    <a:lnR>
                      <a:noFill/>
                    </a:lnR>
                    <a:lnT>
                      <a:noFill/>
                    </a:lnT>
                    <a:lnB>
                      <a:noFill/>
                    </a:lnB>
                    <a:noFill/>
                  </a:tcPr>
                </a:tc>
                <a:extLst>
                  <a:ext uri="{0D108BD9-81ED-4DB2-BD59-A6C34878D82A}">
                    <a16:rowId xmlns:a16="http://schemas.microsoft.com/office/drawing/2014/main" val="3764227106"/>
                  </a:ext>
                </a:extLst>
              </a:tr>
              <a:tr h="384048">
                <a:tc>
                  <a:txBody>
                    <a:bodyPr/>
                    <a:lstStyle/>
                    <a:p>
                      <a:pPr algn="ctr" fontAlgn="ctr">
                        <a:buNone/>
                      </a:pPr>
                      <a:r>
                        <a:rPr lang="ja-JP" sz="850" b="1" i="0" u="none" strike="noStrike" dirty="0">
                          <a:solidFill>
                            <a:srgbClr val="FFFFFF"/>
                          </a:solidFill>
                          <a:effectLst/>
                          <a:latin typeface="游ゴシック" panose="020B0400000000000000" pitchFamily="50" charset="-128"/>
                          <a:ea typeface="游ゴシック" panose="020B0400000000000000" pitchFamily="50" charset="-128"/>
                        </a:rPr>
                        <a:t>№</a:t>
                      </a:r>
                    </a:p>
                  </a:txBody>
                  <a:tcPr marL="3698" marR="3698" marT="3698"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chemeClr val="bg1">
                          <a:lumMod val="75000"/>
                        </a:schemeClr>
                      </a:solidFill>
                      <a:prstDash val="solid"/>
                      <a:round/>
                      <a:headEnd type="none" w="med" len="med"/>
                      <a:tailEnd type="none" w="med" len="med"/>
                    </a:lnB>
                    <a:solidFill>
                      <a:srgbClr val="0B3041"/>
                    </a:solidFill>
                  </a:tcPr>
                </a:tc>
                <a:tc>
                  <a:txBody>
                    <a:bodyPr/>
                    <a:lstStyle/>
                    <a:p>
                      <a:pPr algn="ctr" fontAlgn="ctr">
                        <a:buNone/>
                      </a:pPr>
                      <a:r>
                        <a:rPr lang="ja-JP" sz="850" b="1" i="0" u="none" strike="noStrike" dirty="0">
                          <a:solidFill>
                            <a:srgbClr val="FFFFFF"/>
                          </a:solidFill>
                          <a:effectLst/>
                          <a:latin typeface="游ゴシック" panose="020B0400000000000000" pitchFamily="50" charset="-128"/>
                          <a:ea typeface="游ゴシック" panose="020B0400000000000000" pitchFamily="50" charset="-128"/>
                        </a:rPr>
                        <a:t>イニシャル</a:t>
                      </a:r>
                    </a:p>
                  </a:txBody>
                  <a:tcPr marL="3698" marR="3698" marT="369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chemeClr val="bg1">
                          <a:lumMod val="75000"/>
                        </a:schemeClr>
                      </a:solidFill>
                      <a:prstDash val="solid"/>
                      <a:round/>
                      <a:headEnd type="none" w="med" len="med"/>
                      <a:tailEnd type="none" w="med" len="med"/>
                    </a:lnB>
                    <a:solidFill>
                      <a:srgbClr val="0B3041"/>
                    </a:solidFill>
                  </a:tcPr>
                </a:tc>
                <a:tc>
                  <a:txBody>
                    <a:bodyPr/>
                    <a:lstStyle/>
                    <a:p>
                      <a:pPr algn="ctr" fontAlgn="ctr">
                        <a:buNone/>
                      </a:pPr>
                      <a:r>
                        <a:rPr lang="ja-JP" sz="850" b="1" i="0" u="none" strike="noStrike" dirty="0">
                          <a:solidFill>
                            <a:srgbClr val="FFFFFF"/>
                          </a:solidFill>
                          <a:effectLst/>
                          <a:latin typeface="游ゴシック" panose="020B0400000000000000" pitchFamily="50" charset="-128"/>
                          <a:ea typeface="游ゴシック" panose="020B0400000000000000" pitchFamily="50" charset="-128"/>
                        </a:rPr>
                        <a:t>雇用形態</a:t>
                      </a:r>
                    </a:p>
                  </a:txBody>
                  <a:tcPr marL="3698" marR="3698" marT="369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chemeClr val="bg1">
                          <a:lumMod val="75000"/>
                        </a:schemeClr>
                      </a:solidFill>
                      <a:prstDash val="solid"/>
                      <a:round/>
                      <a:headEnd type="none" w="med" len="med"/>
                      <a:tailEnd type="none" w="med" len="med"/>
                    </a:lnB>
                    <a:solidFill>
                      <a:srgbClr val="0B3041"/>
                    </a:solidFill>
                  </a:tcPr>
                </a:tc>
                <a:tc>
                  <a:txBody>
                    <a:bodyPr/>
                    <a:lstStyle/>
                    <a:p>
                      <a:pPr algn="ctr" fontAlgn="ctr">
                        <a:buNone/>
                      </a:pPr>
                      <a:r>
                        <a:rPr lang="ja-JP" sz="850" b="1" i="0" u="none" strike="noStrike" dirty="0">
                          <a:solidFill>
                            <a:srgbClr val="FFFFFF"/>
                          </a:solidFill>
                          <a:effectLst/>
                          <a:latin typeface="游ゴシック" panose="020B0400000000000000" pitchFamily="50" charset="-128"/>
                          <a:ea typeface="游ゴシック" panose="020B0400000000000000" pitchFamily="50" charset="-128"/>
                        </a:rPr>
                        <a:t>性別</a:t>
                      </a:r>
                    </a:p>
                  </a:txBody>
                  <a:tcPr marL="3698" marR="3698" marT="369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chemeClr val="bg1">
                          <a:lumMod val="75000"/>
                        </a:schemeClr>
                      </a:solidFill>
                      <a:prstDash val="solid"/>
                      <a:round/>
                      <a:headEnd type="none" w="med" len="med"/>
                      <a:tailEnd type="none" w="med" len="med"/>
                    </a:lnB>
                    <a:solidFill>
                      <a:srgbClr val="0B3041"/>
                    </a:solidFill>
                  </a:tcPr>
                </a:tc>
                <a:tc>
                  <a:txBody>
                    <a:bodyPr/>
                    <a:lstStyle/>
                    <a:p>
                      <a:pPr algn="ctr" fontAlgn="ctr">
                        <a:buNone/>
                      </a:pPr>
                      <a:r>
                        <a:rPr lang="ja-JP" sz="850" b="1" i="0" u="none" strike="noStrike" dirty="0">
                          <a:solidFill>
                            <a:srgbClr val="FFFFFF"/>
                          </a:solidFill>
                          <a:effectLst/>
                          <a:latin typeface="游ゴシック" panose="020B0400000000000000" pitchFamily="50" charset="-128"/>
                          <a:ea typeface="游ゴシック" panose="020B0400000000000000" pitchFamily="50" charset="-128"/>
                        </a:rPr>
                        <a:t>年齢
（歳）</a:t>
                      </a:r>
                    </a:p>
                  </a:txBody>
                  <a:tcPr marL="3698" marR="3698" marT="369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chemeClr val="bg1">
                          <a:lumMod val="75000"/>
                        </a:schemeClr>
                      </a:solidFill>
                      <a:prstDash val="solid"/>
                      <a:round/>
                      <a:headEnd type="none" w="med" len="med"/>
                      <a:tailEnd type="none" w="med" len="med"/>
                    </a:lnB>
                    <a:solidFill>
                      <a:srgbClr val="0B3041"/>
                    </a:solidFill>
                  </a:tcPr>
                </a:tc>
                <a:tc>
                  <a:txBody>
                    <a:bodyPr/>
                    <a:lstStyle/>
                    <a:p>
                      <a:pPr algn="ctr" fontAlgn="ctr">
                        <a:buNone/>
                      </a:pPr>
                      <a:r>
                        <a:rPr lang="ja-JP" sz="850" b="1" i="0" u="none" strike="noStrike" dirty="0">
                          <a:solidFill>
                            <a:srgbClr val="FFFFFF"/>
                          </a:solidFill>
                          <a:effectLst/>
                          <a:latin typeface="游ゴシック" panose="020B0400000000000000" pitchFamily="50" charset="-128"/>
                          <a:ea typeface="游ゴシック" panose="020B0400000000000000" pitchFamily="50" charset="-128"/>
                        </a:rPr>
                        <a:t>勤続年数</a:t>
                      </a:r>
                    </a:p>
                  </a:txBody>
                  <a:tcPr marL="3698" marR="3698" marT="369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chemeClr val="bg1">
                          <a:lumMod val="75000"/>
                        </a:schemeClr>
                      </a:solidFill>
                      <a:prstDash val="solid"/>
                      <a:round/>
                      <a:headEnd type="none" w="med" len="med"/>
                      <a:tailEnd type="none" w="med" len="med"/>
                    </a:lnB>
                    <a:solidFill>
                      <a:srgbClr val="0B3041"/>
                    </a:solidFill>
                  </a:tcPr>
                </a:tc>
                <a:tc>
                  <a:txBody>
                    <a:bodyPr/>
                    <a:lstStyle/>
                    <a:p>
                      <a:pPr algn="ctr" fontAlgn="ctr">
                        <a:buNone/>
                      </a:pPr>
                      <a:r>
                        <a:rPr lang="ja-JP" sz="850" b="1" i="0" u="none" strike="noStrike" dirty="0">
                          <a:solidFill>
                            <a:srgbClr val="FFFFFF"/>
                          </a:solidFill>
                          <a:effectLst/>
                          <a:latin typeface="游ゴシック" panose="020B0400000000000000" pitchFamily="50" charset="-128"/>
                          <a:ea typeface="游ゴシック" panose="020B0400000000000000" pitchFamily="50" charset="-128"/>
                        </a:rPr>
                        <a:t>部署・店舗</a:t>
                      </a:r>
                    </a:p>
                  </a:txBody>
                  <a:tcPr marL="64008" marR="3698" marT="369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chemeClr val="bg1">
                          <a:lumMod val="75000"/>
                        </a:schemeClr>
                      </a:solidFill>
                      <a:prstDash val="solid"/>
                      <a:round/>
                      <a:headEnd type="none" w="med" len="med"/>
                      <a:tailEnd type="none" w="med" len="med"/>
                    </a:lnB>
                    <a:solidFill>
                      <a:srgbClr val="0B3041"/>
                    </a:solidFill>
                  </a:tcPr>
                </a:tc>
                <a:tc>
                  <a:txBody>
                    <a:bodyPr/>
                    <a:lstStyle/>
                    <a:p>
                      <a:pPr algn="ctr" fontAlgn="ctr">
                        <a:buNone/>
                      </a:pPr>
                      <a:r>
                        <a:rPr lang="ja-JP" sz="850" b="1" i="0" u="none" strike="noStrike" dirty="0">
                          <a:solidFill>
                            <a:srgbClr val="FFFFFF"/>
                          </a:solidFill>
                          <a:effectLst/>
                          <a:latin typeface="游ゴシック" panose="020B0400000000000000" pitchFamily="50" charset="-128"/>
                          <a:ea typeface="游ゴシック" panose="020B0400000000000000" pitchFamily="50" charset="-128"/>
                        </a:rPr>
                        <a:t>役職</a:t>
                      </a:r>
                    </a:p>
                  </a:txBody>
                  <a:tcPr marL="3698" marR="3698" marT="369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chemeClr val="bg1">
                          <a:lumMod val="75000"/>
                        </a:schemeClr>
                      </a:solidFill>
                      <a:prstDash val="solid"/>
                      <a:round/>
                      <a:headEnd type="none" w="med" len="med"/>
                      <a:tailEnd type="none" w="med" len="med"/>
                    </a:lnB>
                    <a:solidFill>
                      <a:srgbClr val="0B3041"/>
                    </a:solidFill>
                  </a:tcPr>
                </a:tc>
                <a:tc>
                  <a:txBody>
                    <a:bodyPr/>
                    <a:lstStyle/>
                    <a:p>
                      <a:pPr algn="ctr" fontAlgn="ctr">
                        <a:buNone/>
                      </a:pPr>
                      <a:r>
                        <a:rPr lang="ja-JP" sz="850" b="1" i="0" u="none" strike="noStrike" dirty="0">
                          <a:solidFill>
                            <a:srgbClr val="FFFFFF"/>
                          </a:solidFill>
                          <a:effectLst/>
                          <a:latin typeface="游ゴシック" panose="020B0400000000000000" pitchFamily="50" charset="-128"/>
                          <a:ea typeface="游ゴシック" panose="020B0400000000000000" pitchFamily="50" charset="-128"/>
                        </a:rPr>
                        <a:t>備考</a:t>
                      </a:r>
                    </a:p>
                  </a:txBody>
                  <a:tcPr marL="64008" marR="3698" marT="369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chemeClr val="bg1">
                          <a:lumMod val="75000"/>
                        </a:schemeClr>
                      </a:solidFill>
                      <a:prstDash val="solid"/>
                      <a:round/>
                      <a:headEnd type="none" w="med" len="med"/>
                      <a:tailEnd type="none" w="med" len="med"/>
                    </a:lnB>
                    <a:solidFill>
                      <a:srgbClr val="0B3041"/>
                    </a:solidFill>
                  </a:tcPr>
                </a:tc>
                <a:extLst>
                  <a:ext uri="{0D108BD9-81ED-4DB2-BD59-A6C34878D82A}">
                    <a16:rowId xmlns:a16="http://schemas.microsoft.com/office/drawing/2014/main" val="2361366934"/>
                  </a:ext>
                </a:extLst>
              </a:tr>
              <a:tr h="187452">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1</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淺野 ゆう子</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役員</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女</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40</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本社</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代表取締役</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経理全般・金融機関対応</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801966053"/>
                  </a:ext>
                </a:extLst>
              </a:tr>
              <a:tr h="187452">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2</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淺野 崇</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役員</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男</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45</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本社</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現場責任者</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経営業務・人材育成・店舗管理。緑店・大垣管理センターの動物取扱責任者を兼務</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47260770"/>
                  </a:ext>
                </a:extLst>
              </a:tr>
              <a:tr h="187452">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3</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H.Y</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正社員</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男</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26</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1年0か月</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ワンラブ カインズホーム明和店</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857659668"/>
                  </a:ext>
                </a:extLst>
              </a:tr>
              <a:tr h="187452">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4</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T.M</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正社員</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女</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23</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1年0か月</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ワンラブ カインズホーム明和店</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99209033"/>
                  </a:ext>
                </a:extLst>
              </a:tr>
              <a:tr h="187452">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5</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A.N</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正社員</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女</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21</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0年6か月</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ワンラブ カインズホーム明和店</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24355270"/>
                  </a:ext>
                </a:extLst>
              </a:tr>
              <a:tr h="187452">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6</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W.A</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アルバイト</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女</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29</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1年7か月</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ワンラブ カインズホーム明和店</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563620634"/>
                  </a:ext>
                </a:extLst>
              </a:tr>
              <a:tr h="187452">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7</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K.R</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アルバイト</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女</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25</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1年4か月</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ワンラブ カインズホーム明和店</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53212797"/>
                  </a:ext>
                </a:extLst>
              </a:tr>
              <a:tr h="187452">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8</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M.C</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アルバイト</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女</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41</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0年7か月</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ワンラブ カインズホーム明和店</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724010098"/>
                  </a:ext>
                </a:extLst>
              </a:tr>
              <a:tr h="187452">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9</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N.M</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正社員</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女</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31</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6年5か月</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ワンラブ バローミタス伊勢店</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960730710"/>
                  </a:ext>
                </a:extLst>
              </a:tr>
              <a:tr h="187452">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10</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O.T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正社員</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女</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63</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5年9か月</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ワンラブ バローミタス伊勢店</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865394923"/>
                  </a:ext>
                </a:extLst>
              </a:tr>
              <a:tr h="187452">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11</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O.M</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アルバイト</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女</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51</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6年5か月</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ワンラブ バローミタス伊勢店</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54871530"/>
                  </a:ext>
                </a:extLst>
              </a:tr>
              <a:tr h="187452">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12</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T.A</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アルバイト</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女</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32</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6年5か月</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ワンラブ バローミタス伊勢店</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574852530"/>
                  </a:ext>
                </a:extLst>
              </a:tr>
              <a:tr h="187452">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13</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N.M</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アルバイト</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女</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29</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3年4か月</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l"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ワンラブ バローミタス伊勢店</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17210612"/>
                  </a:ext>
                </a:extLst>
              </a:tr>
              <a:tr h="187452">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14</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O.H</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アルバイト</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女</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24</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2年2か月</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ワンラブ バローミタス伊勢店</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29177910"/>
                  </a:ext>
                </a:extLst>
              </a:tr>
              <a:tr h="187452">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15</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H.M</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アルバイト</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女</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20</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1年2か月</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ワンラブ バローミタス伊勢店</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480219905"/>
                  </a:ext>
                </a:extLst>
              </a:tr>
              <a:tr h="187452">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16</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K.K</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アルバイト</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男</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20</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0年5か月</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ワンラブ バローミタス伊勢店</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80504466"/>
                  </a:ext>
                </a:extLst>
              </a:tr>
              <a:tr h="187452">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17</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W.T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アルバイト</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男</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28</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0年4か月</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ワンラブ バローミタス伊勢店</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47260770"/>
                  </a:ext>
                </a:extLst>
              </a:tr>
              <a:tr h="187452">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18</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O.N</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正社員</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女</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43</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5年9か月</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ワンラブ ホームセンターバロー久居店</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47260770"/>
                  </a:ext>
                </a:extLst>
              </a:tr>
              <a:tr h="187452">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19</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N.M</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正社員</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女</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22</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0年10か月</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ワンラブ ホームセンターバロー久居店</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47260770"/>
                  </a:ext>
                </a:extLst>
              </a:tr>
              <a:tr h="187452">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20</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N.Y</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アルバイト</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女</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43</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5年9か月</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ワンラブ ホームセンターバロー久居店</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47260770"/>
                  </a:ext>
                </a:extLst>
              </a:tr>
              <a:tr h="187452">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21</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K.M</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アルバイト</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女</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33</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5年9か月</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ワンラブ ホームセンターバロー久居店</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47260770"/>
                  </a:ext>
                </a:extLst>
              </a:tr>
              <a:tr h="187452">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22</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K.Y</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アルバイト</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女</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21</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0年11か月</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ワンラブ ホームセンターバロー久居店</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47260770"/>
                  </a:ext>
                </a:extLst>
              </a:tr>
              <a:tr h="187452">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23</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K.A</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正社員</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女</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43</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2年8か月</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ワンラブ ドン・キホーテ緑店</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47260770"/>
                  </a:ext>
                </a:extLst>
              </a:tr>
              <a:tr h="187452">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24</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O.Y</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アルバイト</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女</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53</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5年3か月</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ワンラブ ドン・キホーテ緑店</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47260770"/>
                  </a:ext>
                </a:extLst>
              </a:tr>
              <a:tr h="187452">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25</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Y.Y</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アルバイト</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女</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40</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2年2か月</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ワンラブ ドン・キホーテ緑店</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47260770"/>
                  </a:ext>
                </a:extLst>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タイトル 12">
            <a:extLst>
              <a:ext uri="{FF2B5EF4-FFF2-40B4-BE49-F238E27FC236}">
                <a16:creationId xmlns:a16="http://schemas.microsoft.com/office/drawing/2014/main" id="{87057045-99B0-78F1-349A-A7BFEFFF27C9}"/>
              </a:ext>
            </a:extLst>
          </p:cNvPr>
          <p:cNvSpPr>
            <a:spLocks noGrp="1"/>
          </p:cNvSpPr>
          <p:nvPr>
            <p:ph type="ctrTitle"/>
          </p:nvPr>
        </p:nvSpPr>
        <p:spPr>
          <a:xfrm>
            <a:off x="311150" y="180296"/>
            <a:ext cx="7799917" cy="339267"/>
          </a:xfrm>
        </p:spPr>
        <p:txBody>
          <a:bodyPr>
            <a:normAutofit/>
          </a:bodyPr>
          <a:lstStyle/>
          <a:p>
            <a:r>
              <a:rPr lang="ja-JP" altLang="en-US" dirty="0"/>
              <a:t>従業員一覧②</a:t>
            </a:r>
          </a:p>
        </p:txBody>
      </p:sp>
      <p:sp>
        <p:nvSpPr>
          <p:cNvPr id="2" name="タイトル 1">
            <a:extLst>
              <a:ext uri="{FF2B5EF4-FFF2-40B4-BE49-F238E27FC236}">
                <a16:creationId xmlns:a16="http://schemas.microsoft.com/office/drawing/2014/main" id="{221C2F7A-197F-87B3-7293-77B559F8B532}"/>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6" name="字幕 13">
            <a:extLst>
              <a:ext uri="{FF2B5EF4-FFF2-40B4-BE49-F238E27FC236}">
                <a16:creationId xmlns:a16="http://schemas.microsoft.com/office/drawing/2014/main" id="{9F39F7D2-779F-1749-1B8E-9FCB51D635CB}"/>
              </a:ext>
            </a:extLst>
          </p:cNvPr>
          <p:cNvSpPr>
            <a:spLocks noGrp="1"/>
          </p:cNvSpPr>
          <p:nvPr>
            <p:ph type="subTitle" idx="1"/>
          </p:nvPr>
        </p:nvSpPr>
        <p:spPr>
          <a:xfrm>
            <a:off x="460675" y="830046"/>
            <a:ext cx="9781875" cy="241861"/>
          </a:xfrm>
        </p:spPr>
        <p:txBody>
          <a:bodyPr>
            <a:noAutofit/>
          </a:bodyPr>
          <a:lstStyle/>
          <a:p>
            <a:r>
              <a:rPr lang="ja-JP" altLang="en-US" dirty="0">
                <a:latin typeface="+mj-ea"/>
              </a:rPr>
              <a:t>前ページの続き。大型犬専門2店舗（岐阜総本店・大阪総本店）に18名、稼働6店舗全体で45名が配置されている。撤退2店舗および大垣管理センターの在籍者はいない。</a:t>
            </a:r>
            <a:endParaRPr lang="en-US" altLang="ja-JP" dirty="0"/>
          </a:p>
        </p:txBody>
      </p:sp>
      <p:graphicFrame>
        <p:nvGraphicFramePr>
          <p:cNvPr id="4" name="表 3">
            <a:extLst>
              <a:ext uri="{FF2B5EF4-FFF2-40B4-BE49-F238E27FC236}">
                <a16:creationId xmlns:a16="http://schemas.microsoft.com/office/drawing/2014/main" id="{CC8F67C9-68E7-9BE5-E6D9-6B1766F63D86}"/>
              </a:ext>
            </a:extLst>
          </p:cNvPr>
          <p:cNvGraphicFramePr>
            <a:graphicFrameLocks noGrp="1"/>
          </p:cNvGraphicFramePr>
          <p:nvPr>
            <p:extLst>
              <p:ext uri="{D42A27DB-BD31-4B8C-83A1-F6EECF244321}">
                <p14:modId xmlns:p14="http://schemas.microsoft.com/office/powerpoint/2010/main" val="465018164"/>
              </p:ext>
            </p:extLst>
          </p:nvPr>
        </p:nvGraphicFramePr>
        <p:xfrm>
          <a:off x="311150" y="1389888"/>
          <a:ext cx="10040111" cy="5010912"/>
        </p:xfrm>
        <a:graphic>
          <a:graphicData uri="http://schemas.openxmlformats.org/drawingml/2006/table">
            <a:tbl>
              <a:tblPr/>
              <a:tblGrid>
                <a:gridCol w="347472">
                  <a:extLst>
                    <a:ext uri="{9D8B030D-6E8A-4147-A177-3AD203B41FA5}">
                      <a16:colId xmlns:a16="http://schemas.microsoft.com/office/drawing/2014/main" val="2009964781"/>
                    </a:ext>
                  </a:extLst>
                </a:gridCol>
                <a:gridCol w="868680">
                  <a:extLst>
                    <a:ext uri="{9D8B030D-6E8A-4147-A177-3AD203B41FA5}">
                      <a16:colId xmlns:a16="http://schemas.microsoft.com/office/drawing/2014/main" val="2892268224"/>
                    </a:ext>
                  </a:extLst>
                </a:gridCol>
                <a:gridCol w="868680">
                  <a:extLst>
                    <a:ext uri="{9D8B030D-6E8A-4147-A177-3AD203B41FA5}">
                      <a16:colId xmlns:a16="http://schemas.microsoft.com/office/drawing/2014/main" val="1250532957"/>
                    </a:ext>
                  </a:extLst>
                </a:gridCol>
                <a:gridCol w="457200">
                  <a:extLst>
                    <a:ext uri="{9D8B030D-6E8A-4147-A177-3AD203B41FA5}">
                      <a16:colId xmlns:a16="http://schemas.microsoft.com/office/drawing/2014/main" val="2143222230"/>
                    </a:ext>
                  </a:extLst>
                </a:gridCol>
                <a:gridCol w="512064">
                  <a:extLst>
                    <a:ext uri="{9D8B030D-6E8A-4147-A177-3AD203B41FA5}">
                      <a16:colId xmlns:a16="http://schemas.microsoft.com/office/drawing/2014/main" val="781273896"/>
                    </a:ext>
                  </a:extLst>
                </a:gridCol>
                <a:gridCol w="868680">
                  <a:extLst>
                    <a:ext uri="{9D8B030D-6E8A-4147-A177-3AD203B41FA5}">
                      <a16:colId xmlns:a16="http://schemas.microsoft.com/office/drawing/2014/main" val="2143180587"/>
                    </a:ext>
                  </a:extLst>
                </a:gridCol>
                <a:gridCol w="2560320">
                  <a:extLst>
                    <a:ext uri="{9D8B030D-6E8A-4147-A177-3AD203B41FA5}">
                      <a16:colId xmlns:a16="http://schemas.microsoft.com/office/drawing/2014/main" val="705162408"/>
                    </a:ext>
                  </a:extLst>
                </a:gridCol>
                <a:gridCol w="1042415">
                  <a:extLst>
                    <a:ext uri="{9D8B030D-6E8A-4147-A177-3AD203B41FA5}">
                      <a16:colId xmlns:a16="http://schemas.microsoft.com/office/drawing/2014/main" val="1493568873"/>
                    </a:ext>
                  </a:extLst>
                </a:gridCol>
                <a:gridCol w="2514600">
                  <a:extLst>
                    <a:ext uri="{9D8B030D-6E8A-4147-A177-3AD203B41FA5}">
                      <a16:colId xmlns:a16="http://schemas.microsoft.com/office/drawing/2014/main" val="2652574131"/>
                    </a:ext>
                  </a:extLst>
                </a:gridCol>
              </a:tblGrid>
              <a:tr h="128016">
                <a:tc>
                  <a:txBody>
                    <a:bodyPr/>
                    <a:lstStyle/>
                    <a:p>
                      <a:pPr algn="ctr" fontAlgn="ctr">
                        <a:buNone/>
                      </a:pPr>
                      <a:r>
                        <a:rPr lang="ja-JP" sz="85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3698" marR="3698" marT="3698" marB="0">
                    <a:lnL>
                      <a:noFill/>
                    </a:lnL>
                    <a:lnR>
                      <a:noFill/>
                    </a:lnR>
                    <a:lnT>
                      <a:noFill/>
                    </a:lnT>
                    <a:lnB>
                      <a:noFill/>
                    </a:lnB>
                    <a:noFill/>
                  </a:tcPr>
                </a:tc>
                <a:tc>
                  <a:txBody>
                    <a:bodyPr/>
                    <a:lstStyle/>
                    <a:p>
                      <a:pPr algn="ctr" fontAlgn="ctr">
                        <a:buNone/>
                      </a:pPr>
                      <a:r>
                        <a:rPr lang="ja-JP" sz="85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3698" marR="3698" marT="3698" marB="0">
                    <a:lnL>
                      <a:noFill/>
                    </a:lnL>
                    <a:lnR>
                      <a:noFill/>
                    </a:lnR>
                    <a:lnT>
                      <a:noFill/>
                    </a:lnT>
                    <a:lnB>
                      <a:noFill/>
                    </a:lnB>
                    <a:noFill/>
                  </a:tcPr>
                </a:tc>
                <a:tc>
                  <a:txBody>
                    <a:bodyPr/>
                    <a:lstStyle/>
                    <a:p>
                      <a:pPr algn="ctr" fontAlgn="ctr">
                        <a:buNone/>
                      </a:pPr>
                      <a:r>
                        <a:rPr lang="ja-JP" sz="85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3698" marR="3698" marT="3698" marB="0">
                    <a:lnL>
                      <a:noFill/>
                    </a:lnL>
                    <a:lnR>
                      <a:noFill/>
                    </a:lnR>
                    <a:lnT>
                      <a:noFill/>
                    </a:lnT>
                    <a:lnB>
                      <a:noFill/>
                    </a:lnB>
                    <a:noFill/>
                  </a:tcPr>
                </a:tc>
                <a:tc>
                  <a:txBody>
                    <a:bodyPr/>
                    <a:lstStyle/>
                    <a:p>
                      <a:pPr algn="ctr" fontAlgn="ctr">
                        <a:buNone/>
                      </a:pPr>
                      <a:r>
                        <a:rPr lang="ja-JP" sz="85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3698" marR="3698" marT="3698" marB="0">
                    <a:lnL>
                      <a:noFill/>
                    </a:lnL>
                    <a:lnR>
                      <a:noFill/>
                    </a:lnR>
                    <a:lnT>
                      <a:noFill/>
                    </a:lnT>
                    <a:lnB>
                      <a:noFill/>
                    </a:lnB>
                    <a:noFill/>
                  </a:tcPr>
                </a:tc>
                <a:tc>
                  <a:txBody>
                    <a:bodyPr/>
                    <a:lstStyle/>
                    <a:p>
                      <a:pPr algn="ctr" fontAlgn="ctr">
                        <a:buNone/>
                      </a:pPr>
                      <a:r>
                        <a:rPr lang="ja-JP" sz="85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3698" marR="3698" marT="3698" marB="0">
                    <a:lnL>
                      <a:noFill/>
                    </a:lnL>
                    <a:lnR>
                      <a:noFill/>
                    </a:lnR>
                    <a:lnT>
                      <a:noFill/>
                    </a:lnT>
                    <a:lnB>
                      <a:noFill/>
                    </a:lnB>
                    <a:noFill/>
                  </a:tcPr>
                </a:tc>
                <a:tc>
                  <a:txBody>
                    <a:bodyPr/>
                    <a:lstStyle/>
                    <a:p>
                      <a:pPr algn="ctr" fontAlgn="ctr">
                        <a:buNone/>
                      </a:pPr>
                      <a:r>
                        <a:rPr lang="ja-JP" sz="85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3698" marR="3698" marT="3698" marB="0">
                    <a:lnL>
                      <a:noFill/>
                    </a:lnL>
                    <a:lnR>
                      <a:noFill/>
                    </a:lnR>
                    <a:lnT>
                      <a:noFill/>
                    </a:lnT>
                    <a:lnB>
                      <a:noFill/>
                    </a:lnB>
                    <a:noFill/>
                  </a:tcPr>
                </a:tc>
                <a:tc>
                  <a:txBody>
                    <a:bodyPr/>
                    <a:lstStyle/>
                    <a:p>
                      <a:pPr algn="ctr" fontAlgn="ctr">
                        <a:buNone/>
                      </a:pPr>
                      <a:r>
                        <a:rPr lang="ja-JP" sz="85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64008" marR="3698" marT="3698" marB="0">
                    <a:lnL>
                      <a:noFill/>
                    </a:lnL>
                    <a:lnR>
                      <a:noFill/>
                    </a:lnR>
                    <a:lnT>
                      <a:noFill/>
                    </a:lnT>
                    <a:lnB>
                      <a:noFill/>
                    </a:lnB>
                    <a:noFill/>
                  </a:tcPr>
                </a:tc>
                <a:tc>
                  <a:txBody>
                    <a:bodyPr/>
                    <a:lstStyle/>
                    <a:p>
                      <a:pPr algn="r" fontAlgn="ctr">
                        <a:buNone/>
                      </a:pPr>
                      <a:r>
                        <a:rPr lang="ja-JP" altLang="en-US" sz="85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3698" marR="3698" marT="3698" marB="0" anchor="b">
                    <a:lnL>
                      <a:noFill/>
                    </a:lnL>
                    <a:lnR>
                      <a:noFill/>
                    </a:lnR>
                    <a:lnT>
                      <a:noFill/>
                    </a:lnT>
                    <a:lnB>
                      <a:noFill/>
                    </a:lnB>
                    <a:noFill/>
                  </a:tcPr>
                </a:tc>
                <a:tc>
                  <a:txBody>
                    <a:bodyPr/>
                    <a:lstStyle/>
                    <a:p>
                      <a:pPr algn="ctr" fontAlgn="ctr">
                        <a:buNone/>
                      </a:pPr>
                      <a:r>
                        <a:rPr lang="ja-JP" sz="85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64008" marR="3698" marT="3698" marB="0" anchor="ctr">
                    <a:lnL>
                      <a:noFill/>
                    </a:lnL>
                    <a:lnR>
                      <a:noFill/>
                    </a:lnR>
                    <a:lnT>
                      <a:noFill/>
                    </a:lnT>
                    <a:lnB>
                      <a:noFill/>
                    </a:lnB>
                    <a:noFill/>
                  </a:tcPr>
                </a:tc>
                <a:extLst>
                  <a:ext uri="{0D108BD9-81ED-4DB2-BD59-A6C34878D82A}">
                    <a16:rowId xmlns:a16="http://schemas.microsoft.com/office/drawing/2014/main" val="3764227106"/>
                  </a:ext>
                </a:extLst>
              </a:tr>
              <a:tr h="384048">
                <a:tc>
                  <a:txBody>
                    <a:bodyPr/>
                    <a:lstStyle/>
                    <a:p>
                      <a:pPr algn="ctr" fontAlgn="ctr">
                        <a:buNone/>
                      </a:pPr>
                      <a:r>
                        <a:rPr lang="ja-JP" sz="850" b="1" i="0" u="none" strike="noStrike" dirty="0">
                          <a:solidFill>
                            <a:srgbClr val="FFFFFF"/>
                          </a:solidFill>
                          <a:effectLst/>
                          <a:latin typeface="游ゴシック" panose="020B0400000000000000" pitchFamily="50" charset="-128"/>
                          <a:ea typeface="游ゴシック" panose="020B0400000000000000" pitchFamily="50" charset="-128"/>
                        </a:rPr>
                        <a:t>№</a:t>
                      </a:r>
                    </a:p>
                  </a:txBody>
                  <a:tcPr marL="3698" marR="3698" marT="3698"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chemeClr val="bg1">
                          <a:lumMod val="75000"/>
                        </a:schemeClr>
                      </a:solidFill>
                      <a:prstDash val="solid"/>
                      <a:round/>
                      <a:headEnd type="none" w="med" len="med"/>
                      <a:tailEnd type="none" w="med" len="med"/>
                    </a:lnB>
                    <a:solidFill>
                      <a:srgbClr val="0B3041"/>
                    </a:solidFill>
                  </a:tcPr>
                </a:tc>
                <a:tc>
                  <a:txBody>
                    <a:bodyPr/>
                    <a:lstStyle/>
                    <a:p>
                      <a:pPr algn="ctr" fontAlgn="ctr">
                        <a:buNone/>
                      </a:pPr>
                      <a:r>
                        <a:rPr lang="ja-JP" sz="850" b="1" i="0" u="none" strike="noStrike" dirty="0">
                          <a:solidFill>
                            <a:srgbClr val="FFFFFF"/>
                          </a:solidFill>
                          <a:effectLst/>
                          <a:latin typeface="游ゴシック" panose="020B0400000000000000" pitchFamily="50" charset="-128"/>
                          <a:ea typeface="游ゴシック" panose="020B0400000000000000" pitchFamily="50" charset="-128"/>
                        </a:rPr>
                        <a:t>イニシャル</a:t>
                      </a:r>
                    </a:p>
                  </a:txBody>
                  <a:tcPr marL="3698" marR="3698" marT="369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chemeClr val="bg1">
                          <a:lumMod val="75000"/>
                        </a:schemeClr>
                      </a:solidFill>
                      <a:prstDash val="solid"/>
                      <a:round/>
                      <a:headEnd type="none" w="med" len="med"/>
                      <a:tailEnd type="none" w="med" len="med"/>
                    </a:lnB>
                    <a:solidFill>
                      <a:srgbClr val="0B3041"/>
                    </a:solidFill>
                  </a:tcPr>
                </a:tc>
                <a:tc>
                  <a:txBody>
                    <a:bodyPr/>
                    <a:lstStyle/>
                    <a:p>
                      <a:pPr algn="ctr" fontAlgn="ctr">
                        <a:buNone/>
                      </a:pPr>
                      <a:r>
                        <a:rPr lang="ja-JP" sz="850" b="1" i="0" u="none" strike="noStrike" dirty="0">
                          <a:solidFill>
                            <a:srgbClr val="FFFFFF"/>
                          </a:solidFill>
                          <a:effectLst/>
                          <a:latin typeface="游ゴシック" panose="020B0400000000000000" pitchFamily="50" charset="-128"/>
                          <a:ea typeface="游ゴシック" panose="020B0400000000000000" pitchFamily="50" charset="-128"/>
                        </a:rPr>
                        <a:t>雇用形態</a:t>
                      </a:r>
                    </a:p>
                  </a:txBody>
                  <a:tcPr marL="3698" marR="3698" marT="369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chemeClr val="bg1">
                          <a:lumMod val="75000"/>
                        </a:schemeClr>
                      </a:solidFill>
                      <a:prstDash val="solid"/>
                      <a:round/>
                      <a:headEnd type="none" w="med" len="med"/>
                      <a:tailEnd type="none" w="med" len="med"/>
                    </a:lnB>
                    <a:solidFill>
                      <a:srgbClr val="0B3041"/>
                    </a:solidFill>
                  </a:tcPr>
                </a:tc>
                <a:tc>
                  <a:txBody>
                    <a:bodyPr/>
                    <a:lstStyle/>
                    <a:p>
                      <a:pPr algn="ctr" fontAlgn="ctr">
                        <a:buNone/>
                      </a:pPr>
                      <a:r>
                        <a:rPr lang="ja-JP" sz="850" b="1" i="0" u="none" strike="noStrike" dirty="0">
                          <a:solidFill>
                            <a:srgbClr val="FFFFFF"/>
                          </a:solidFill>
                          <a:effectLst/>
                          <a:latin typeface="游ゴシック" panose="020B0400000000000000" pitchFamily="50" charset="-128"/>
                          <a:ea typeface="游ゴシック" panose="020B0400000000000000" pitchFamily="50" charset="-128"/>
                        </a:rPr>
                        <a:t>性別</a:t>
                      </a:r>
                    </a:p>
                  </a:txBody>
                  <a:tcPr marL="3698" marR="3698" marT="369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chemeClr val="bg1">
                          <a:lumMod val="75000"/>
                        </a:schemeClr>
                      </a:solidFill>
                      <a:prstDash val="solid"/>
                      <a:round/>
                      <a:headEnd type="none" w="med" len="med"/>
                      <a:tailEnd type="none" w="med" len="med"/>
                    </a:lnB>
                    <a:solidFill>
                      <a:srgbClr val="0B3041"/>
                    </a:solidFill>
                  </a:tcPr>
                </a:tc>
                <a:tc>
                  <a:txBody>
                    <a:bodyPr/>
                    <a:lstStyle/>
                    <a:p>
                      <a:pPr algn="ctr" fontAlgn="ctr">
                        <a:buNone/>
                      </a:pPr>
                      <a:r>
                        <a:rPr lang="ja-JP" sz="850" b="1" i="0" u="none" strike="noStrike" dirty="0">
                          <a:solidFill>
                            <a:srgbClr val="FFFFFF"/>
                          </a:solidFill>
                          <a:effectLst/>
                          <a:latin typeface="游ゴシック" panose="020B0400000000000000" pitchFamily="50" charset="-128"/>
                          <a:ea typeface="游ゴシック" panose="020B0400000000000000" pitchFamily="50" charset="-128"/>
                        </a:rPr>
                        <a:t>年齢
（歳）</a:t>
                      </a:r>
                    </a:p>
                  </a:txBody>
                  <a:tcPr marL="3698" marR="3698" marT="369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chemeClr val="bg1">
                          <a:lumMod val="75000"/>
                        </a:schemeClr>
                      </a:solidFill>
                      <a:prstDash val="solid"/>
                      <a:round/>
                      <a:headEnd type="none" w="med" len="med"/>
                      <a:tailEnd type="none" w="med" len="med"/>
                    </a:lnB>
                    <a:solidFill>
                      <a:srgbClr val="0B3041"/>
                    </a:solidFill>
                  </a:tcPr>
                </a:tc>
                <a:tc>
                  <a:txBody>
                    <a:bodyPr/>
                    <a:lstStyle/>
                    <a:p>
                      <a:pPr algn="ctr" fontAlgn="ctr">
                        <a:buNone/>
                      </a:pPr>
                      <a:r>
                        <a:rPr lang="ja-JP" sz="850" b="1" i="0" u="none" strike="noStrike" dirty="0">
                          <a:solidFill>
                            <a:srgbClr val="FFFFFF"/>
                          </a:solidFill>
                          <a:effectLst/>
                          <a:latin typeface="游ゴシック" panose="020B0400000000000000" pitchFamily="50" charset="-128"/>
                          <a:ea typeface="游ゴシック" panose="020B0400000000000000" pitchFamily="50" charset="-128"/>
                        </a:rPr>
                        <a:t>勤続年数</a:t>
                      </a:r>
                    </a:p>
                  </a:txBody>
                  <a:tcPr marL="3698" marR="3698" marT="369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chemeClr val="bg1">
                          <a:lumMod val="75000"/>
                        </a:schemeClr>
                      </a:solidFill>
                      <a:prstDash val="solid"/>
                      <a:round/>
                      <a:headEnd type="none" w="med" len="med"/>
                      <a:tailEnd type="none" w="med" len="med"/>
                    </a:lnB>
                    <a:solidFill>
                      <a:srgbClr val="0B3041"/>
                    </a:solidFill>
                  </a:tcPr>
                </a:tc>
                <a:tc>
                  <a:txBody>
                    <a:bodyPr/>
                    <a:lstStyle/>
                    <a:p>
                      <a:pPr algn="ctr" fontAlgn="ctr">
                        <a:buNone/>
                      </a:pPr>
                      <a:r>
                        <a:rPr lang="ja-JP" sz="850" b="1" i="0" u="none" strike="noStrike" dirty="0">
                          <a:solidFill>
                            <a:srgbClr val="FFFFFF"/>
                          </a:solidFill>
                          <a:effectLst/>
                          <a:latin typeface="游ゴシック" panose="020B0400000000000000" pitchFamily="50" charset="-128"/>
                          <a:ea typeface="游ゴシック" panose="020B0400000000000000" pitchFamily="50" charset="-128"/>
                        </a:rPr>
                        <a:t>部署・店舗</a:t>
                      </a:r>
                    </a:p>
                  </a:txBody>
                  <a:tcPr marL="64008" marR="3698" marT="369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chemeClr val="bg1">
                          <a:lumMod val="75000"/>
                        </a:schemeClr>
                      </a:solidFill>
                      <a:prstDash val="solid"/>
                      <a:round/>
                      <a:headEnd type="none" w="med" len="med"/>
                      <a:tailEnd type="none" w="med" len="med"/>
                    </a:lnB>
                    <a:solidFill>
                      <a:srgbClr val="0B3041"/>
                    </a:solidFill>
                  </a:tcPr>
                </a:tc>
                <a:tc>
                  <a:txBody>
                    <a:bodyPr/>
                    <a:lstStyle/>
                    <a:p>
                      <a:pPr algn="ctr" fontAlgn="ctr">
                        <a:buNone/>
                      </a:pPr>
                      <a:r>
                        <a:rPr lang="ja-JP" sz="850" b="1" i="0" u="none" strike="noStrike" dirty="0">
                          <a:solidFill>
                            <a:srgbClr val="FFFFFF"/>
                          </a:solidFill>
                          <a:effectLst/>
                          <a:latin typeface="游ゴシック" panose="020B0400000000000000" pitchFamily="50" charset="-128"/>
                          <a:ea typeface="游ゴシック" panose="020B0400000000000000" pitchFamily="50" charset="-128"/>
                        </a:rPr>
                        <a:t>役職</a:t>
                      </a:r>
                    </a:p>
                  </a:txBody>
                  <a:tcPr marL="3698" marR="3698" marT="369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chemeClr val="bg1">
                          <a:lumMod val="75000"/>
                        </a:schemeClr>
                      </a:solidFill>
                      <a:prstDash val="solid"/>
                      <a:round/>
                      <a:headEnd type="none" w="med" len="med"/>
                      <a:tailEnd type="none" w="med" len="med"/>
                    </a:lnB>
                    <a:solidFill>
                      <a:srgbClr val="0B3041"/>
                    </a:solidFill>
                  </a:tcPr>
                </a:tc>
                <a:tc>
                  <a:txBody>
                    <a:bodyPr/>
                    <a:lstStyle/>
                    <a:p>
                      <a:pPr algn="ctr" fontAlgn="ctr">
                        <a:buNone/>
                      </a:pPr>
                      <a:r>
                        <a:rPr lang="ja-JP" sz="850" b="1" i="0" u="none" strike="noStrike" dirty="0">
                          <a:solidFill>
                            <a:srgbClr val="FFFFFF"/>
                          </a:solidFill>
                          <a:effectLst/>
                          <a:latin typeface="游ゴシック" panose="020B0400000000000000" pitchFamily="50" charset="-128"/>
                          <a:ea typeface="游ゴシック" panose="020B0400000000000000" pitchFamily="50" charset="-128"/>
                        </a:rPr>
                        <a:t>備考</a:t>
                      </a:r>
                    </a:p>
                  </a:txBody>
                  <a:tcPr marL="64008" marR="3698" marT="369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chemeClr val="bg1">
                          <a:lumMod val="75000"/>
                        </a:schemeClr>
                      </a:solidFill>
                      <a:prstDash val="solid"/>
                      <a:round/>
                      <a:headEnd type="none" w="med" len="med"/>
                      <a:tailEnd type="none" w="med" len="med"/>
                    </a:lnB>
                    <a:solidFill>
                      <a:srgbClr val="0B3041"/>
                    </a:solidFill>
                  </a:tcPr>
                </a:tc>
                <a:extLst>
                  <a:ext uri="{0D108BD9-81ED-4DB2-BD59-A6C34878D82A}">
                    <a16:rowId xmlns:a16="http://schemas.microsoft.com/office/drawing/2014/main" val="2361366934"/>
                  </a:ext>
                </a:extLst>
              </a:tr>
              <a:tr h="187452">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26</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K.E</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アルバイト</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女</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32</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2年2か月</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ワンラブ ドン・キホーテ緑店</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801966053"/>
                  </a:ext>
                </a:extLst>
              </a:tr>
              <a:tr h="187452">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27</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S.K</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アルバイト</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女</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41</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0年5か月</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ワンラブ ドン・キホーテ緑店</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47260770"/>
                  </a:ext>
                </a:extLst>
              </a:tr>
              <a:tr h="187452">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28</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O.F</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アルバイト</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女</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22</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0年1か月</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ワンラブ ドン・キホーテ緑店</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857659668"/>
                  </a:ext>
                </a:extLst>
              </a:tr>
              <a:tr h="187452">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29</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T.K</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アルバイト</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男</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44</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0年0か月</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ワンラブ ドン・キホーテ緑店</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99209033"/>
                  </a:ext>
                </a:extLst>
              </a:tr>
              <a:tr h="187452">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30</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M.E</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正社員</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女</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57</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3年2か月</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おっきなもふもふ応援隊 岐阜総本店</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24355270"/>
                  </a:ext>
                </a:extLst>
              </a:tr>
              <a:tr h="187452">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31</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S.S</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アルバイト</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女</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25</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3年9か月</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おっきなもふもふ応援隊 岐阜総本店</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563620634"/>
                  </a:ext>
                </a:extLst>
              </a:tr>
              <a:tr h="187452">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32</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S.S</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アルバイト</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女</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24</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2年0か月</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おっきなもふもふ応援隊 岐阜総本店</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53212797"/>
                  </a:ext>
                </a:extLst>
              </a:tr>
              <a:tr h="187452">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33</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M.R</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アルバイト</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女</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21</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1年6か月</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おっきなもふもふ応援隊 岐阜総本店</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724010098"/>
                  </a:ext>
                </a:extLst>
              </a:tr>
              <a:tr h="187452">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34</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O.A</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アルバイト</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女</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44</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1年3か月</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おっきなもふもふ応援隊 岐阜総本店</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960730710"/>
                  </a:ext>
                </a:extLst>
              </a:tr>
              <a:tr h="187452">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35</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H.I</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アルバイト</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女</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39</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0年10か月</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おっきなもふもふ応援隊 岐阜総本店</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865394923"/>
                  </a:ext>
                </a:extLst>
              </a:tr>
              <a:tr h="187452">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36</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N.H</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アルバイト</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女</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43</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0年10か月</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おっきなもふもふ応援隊 岐阜総本店</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54871530"/>
                  </a:ext>
                </a:extLst>
              </a:tr>
              <a:tr h="187452">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37</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H.Y</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アルバイト</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女</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42</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0年4か月</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おっきなもふもふ応援隊 岐阜総本店</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574852530"/>
                  </a:ext>
                </a:extLst>
              </a:tr>
              <a:tr h="187452">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38</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N.Y</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アルバイト</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女</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24</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0年2か月</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l"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おっきなもふもふ応援隊 岐阜総本店</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17210612"/>
                  </a:ext>
                </a:extLst>
              </a:tr>
              <a:tr h="187452">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39</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O.A</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アルバイト</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女</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21</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0年0か月</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おっきなもふもふ応援隊 岐阜総本店</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29177910"/>
                  </a:ext>
                </a:extLst>
              </a:tr>
              <a:tr h="187452">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40</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S.S</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正社員</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女</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26</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4年9か月</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おっきなもふもふ応援隊 大阪総本店</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480219905"/>
                  </a:ext>
                </a:extLst>
              </a:tr>
              <a:tr h="187452">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41</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H.K</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正社員</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女</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36</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5年0か月</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おっきなもふもふ応援隊 大阪総本店</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80504466"/>
                  </a:ext>
                </a:extLst>
              </a:tr>
              <a:tr h="187452">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42</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M.R</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正社員</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女</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21</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0年11か月</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おっきなもふもふ応援隊 大阪総本店</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47260770"/>
                  </a:ext>
                </a:extLst>
              </a:tr>
              <a:tr h="187452">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43</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N.Y</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正社員</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女</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27</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0年5か月</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おっきなもふもふ応援隊 大阪総本店</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47260770"/>
                  </a:ext>
                </a:extLst>
              </a:tr>
              <a:tr h="187452">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44</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K.S</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アルバイト</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男</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23</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1年11か月</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おっきなもふもふ応援隊 大阪総本店</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47260770"/>
                  </a:ext>
                </a:extLst>
              </a:tr>
              <a:tr h="187452">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45</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K.M</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アルバイト</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女</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21</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0年5か月</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おっきなもふもふ応援隊 大阪総本店</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47260770"/>
                  </a:ext>
                </a:extLst>
              </a:tr>
              <a:tr h="187452">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46</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N.A</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アルバイト</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女</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19</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0年2か月</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おっきなもふもふ応援隊 大阪総本店</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47260770"/>
                  </a:ext>
                </a:extLst>
              </a:tr>
              <a:tr h="187452">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47</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I.K</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アルバイト</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女</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54</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0年2か月</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おっきなもふもふ応援隊 大阪総本店</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47260770"/>
                  </a:ext>
                </a:extLst>
              </a:tr>
              <a:tr h="187452">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48</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T.Y</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正社員</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女</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39</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5年0か月</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松阪管理センター</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47260770"/>
                  </a:ext>
                </a:extLst>
              </a:tr>
              <a:tr h="187452">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49</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I.M</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アルバイト</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女</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34</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1年7か月</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松阪管理センター</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850" b="0" i="0" u="none" strike="noStrike" dirty="0">
                          <a:solidFill>
                            <a:srgbClr val="000000"/>
                          </a:solidFill>
                          <a:effectLst/>
                          <a:latin typeface="游ゴシック" panose="020B0400000000000000" pitchFamily="50" charset="-128"/>
                          <a:ea typeface="游ゴシック" panose="020B0400000000000000" pitchFamily="50" charset="-128"/>
                        </a:rPr>
                        <a:t>－</a:t>
                      </a:r>
                    </a:p>
                  </a:txBody>
                  <a:tcPr marL="6400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47260770"/>
                  </a:ext>
                </a:extLst>
              </a:tr>
            </a:tbl>
          </a:graphicData>
        </a:graphic>
      </p:graphicFrame>
      <p:sp>
        <p:nvSpPr>
          <p:cNvPr id="14" name="TextBox 13"/>
          <p:cNvSpPr txBox="1"/>
          <p:nvPr/>
        </p:nvSpPr>
        <p:spPr>
          <a:xfrm>
            <a:off x="310896" y="6492240"/>
            <a:ext cx="10040112" cy="457200"/>
          </a:xfrm>
          <a:prstGeom prst="rect">
            <a:avLst/>
          </a:prstGeom>
          <a:noFill/>
        </p:spPr>
        <p:txBody>
          <a:bodyPr wrap="square">
            <a:spAutoFit/>
          </a:bodyPr>
          <a:lstStyle/>
          <a:p>
            <a:r>
              <a:rPr sz="800">
                <a:latin typeface="游ゴシック Medium"/>
              </a:rPr>
              <a:t>※出所：対象会社提供「従業員名簿（全従業員195名）」。退職年月日の入力がない49名を在籍者として集計。年齢・勤続年数は2026年9月23日時点。</a:t>
            </a:r>
          </a:p>
          <a:p>
            <a:r>
              <a:rPr sz="800">
                <a:latin typeface="游ゴシック Medium"/>
              </a:rPr>
              <a:t>※役員2名は入社日の登録がないため勤続年数の集計対象外。役職は代表取締役・現場責任者以外に登録がない（要確認）。個人別の給与情報は本ページには記載していない。</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03609-222B-9ED1-3971-FD74357068FF}"/>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A1341D04-ECAD-EC45-3E0F-0A6E48CF0055}"/>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拠点概要（本社・管理センター）</a:t>
            </a:r>
          </a:p>
        </p:txBody>
      </p:sp>
      <p:sp>
        <p:nvSpPr>
          <p:cNvPr id="2" name="正方形/長方形 1">
            <a:extLst>
              <a:ext uri="{FF2B5EF4-FFF2-40B4-BE49-F238E27FC236}">
                <a16:creationId xmlns:a16="http://schemas.microsoft.com/office/drawing/2014/main" id="{B911B5B5-26E9-D443-5D18-24CB337DC6C2}"/>
              </a:ext>
            </a:extLst>
          </p:cNvPr>
          <p:cNvSpPr/>
          <p:nvPr/>
        </p:nvSpPr>
        <p:spPr>
          <a:xfrm>
            <a:off x="311151" y="1517736"/>
            <a:ext cx="256032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游ゴシック" panose="020B0400000000000000" pitchFamily="50" charset="-128"/>
                <a:ea typeface="游ゴシック" panose="020B0400000000000000" pitchFamily="50" charset="-128"/>
              </a:rPr>
              <a:t>本社・管理センター</a:t>
            </a:r>
          </a:p>
        </p:txBody>
      </p:sp>
      <p:sp>
        <p:nvSpPr>
          <p:cNvPr id="6" name="タイトル 1">
            <a:extLst>
              <a:ext uri="{FF2B5EF4-FFF2-40B4-BE49-F238E27FC236}">
                <a16:creationId xmlns:a16="http://schemas.microsoft.com/office/drawing/2014/main" id="{4135B88D-7C29-09E2-3480-0C15210B5598}"/>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組織、拠点、設備等</a:t>
            </a:r>
          </a:p>
        </p:txBody>
      </p:sp>
      <p:sp>
        <p:nvSpPr>
          <p:cNvPr id="9" name="字幕 13">
            <a:extLst>
              <a:ext uri="{FF2B5EF4-FFF2-40B4-BE49-F238E27FC236}">
                <a16:creationId xmlns:a16="http://schemas.microsoft.com/office/drawing/2014/main" id="{FA3810D3-D283-20FC-70FC-01CAB5A3A25A}"/>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本社は岐阜県大垣市。登記上の本店であり、代表者の自宅を法人が賃借している。このほか、バックヤード管理と仕入先デザイナーズワン㈱の生体管理を担う管理センターを大垣・松阪の2箇所に置く。</a:t>
            </a:r>
            <a:endParaRPr lang="en-US" altLang="ja-JP" dirty="0">
              <a:latin typeface="游ゴシック" panose="020B0400000000000000" pitchFamily="50" charset="-128"/>
              <a:ea typeface="游ゴシック" panose="020B0400000000000000" pitchFamily="50" charset="-128"/>
            </a:endParaRPr>
          </a:p>
        </p:txBody>
      </p:sp>
      <p:graphicFrame>
        <p:nvGraphicFramePr>
          <p:cNvPr id="7" name="表 6">
            <a:extLst>
              <a:ext uri="{FF2B5EF4-FFF2-40B4-BE49-F238E27FC236}">
                <a16:creationId xmlns:a16="http://schemas.microsoft.com/office/drawing/2014/main" id="{243A9EB5-5D9C-4429-9545-A042FCFAE03D}"/>
              </a:ext>
            </a:extLst>
          </p:cNvPr>
          <p:cNvGraphicFramePr>
            <a:graphicFrameLocks noGrp="1"/>
          </p:cNvGraphicFramePr>
          <p:nvPr>
            <p:extLst>
              <p:ext uri="{D42A27DB-BD31-4B8C-83A1-F6EECF244321}">
                <p14:modId xmlns:p14="http://schemas.microsoft.com/office/powerpoint/2010/main" val="3161184044"/>
              </p:ext>
            </p:extLst>
          </p:nvPr>
        </p:nvGraphicFramePr>
        <p:xfrm>
          <a:off x="311150" y="2252849"/>
          <a:ext cx="9930384" cy="1591056"/>
        </p:xfrm>
        <a:graphic>
          <a:graphicData uri="http://schemas.openxmlformats.org/drawingml/2006/table">
            <a:tbl>
              <a:tblPr/>
              <a:tblGrid>
                <a:gridCol w="2926080">
                  <a:extLst>
                    <a:ext uri="{9D8B030D-6E8A-4147-A177-3AD203B41FA5}">
                      <a16:colId xmlns:a16="http://schemas.microsoft.com/office/drawing/2014/main" val="3476428286"/>
                    </a:ext>
                  </a:extLst>
                </a:gridCol>
                <a:gridCol w="1965960">
                  <a:extLst>
                    <a:ext uri="{9D8B030D-6E8A-4147-A177-3AD203B41FA5}">
                      <a16:colId xmlns:a16="http://schemas.microsoft.com/office/drawing/2014/main" val="2339241926"/>
                    </a:ext>
                  </a:extLst>
                </a:gridCol>
                <a:gridCol w="658368">
                  <a:extLst>
                    <a:ext uri="{9D8B030D-6E8A-4147-A177-3AD203B41FA5}">
                      <a16:colId xmlns:a16="http://schemas.microsoft.com/office/drawing/2014/main" val="493417906"/>
                    </a:ext>
                  </a:extLst>
                </a:gridCol>
                <a:gridCol w="658368">
                  <a:extLst>
                    <a:ext uri="{9D8B030D-6E8A-4147-A177-3AD203B41FA5}">
                      <a16:colId xmlns:a16="http://schemas.microsoft.com/office/drawing/2014/main" val="773435530"/>
                    </a:ext>
                  </a:extLst>
                </a:gridCol>
                <a:gridCol w="658368">
                  <a:extLst>
                    <a:ext uri="{9D8B030D-6E8A-4147-A177-3AD203B41FA5}">
                      <a16:colId xmlns:a16="http://schemas.microsoft.com/office/drawing/2014/main" val="1444742129"/>
                    </a:ext>
                  </a:extLst>
                </a:gridCol>
                <a:gridCol w="3063240">
                  <a:extLst>
                    <a:ext uri="{9D8B030D-6E8A-4147-A177-3AD203B41FA5}">
                      <a16:colId xmlns:a16="http://schemas.microsoft.com/office/drawing/2014/main" val="190350001"/>
                    </a:ext>
                  </a:extLst>
                </a:gridCol>
              </a:tblGrid>
              <a:tr h="384048">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所在地</a:t>
                      </a:r>
                    </a:p>
                  </a:txBody>
                  <a:tcPr marL="0" marR="0" marT="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契約形態</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延床面積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月間賃料
(千円)</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敷金
(千円)</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altLang="en-US" sz="1000" b="1" i="0" u="none" strike="noStrike" dirty="0">
                          <a:solidFill>
                            <a:srgbClr val="FFFFFF"/>
                          </a:solidFill>
                          <a:effectLst/>
                          <a:latin typeface="游ゴシック" panose="020B0400000000000000" pitchFamily="50" charset="-128"/>
                          <a:ea typeface="游ゴシック" panose="020B0400000000000000" pitchFamily="50" charset="-128"/>
                        </a:rPr>
                        <a:t>備考</a:t>
                      </a:r>
                      <a:endParaRPr lang="ja-JP" sz="100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0" marR="0" marT="0" marB="0" anchor="ctr">
                    <a:lnL w="12700" cap="flat" cmpd="sng" algn="ctr">
                      <a:solidFill>
                        <a:srgbClr val="FFFFFF"/>
                      </a:solidFill>
                      <a:prstDash val="solid"/>
                      <a:round/>
                      <a:headEnd type="none" w="med" len="med"/>
                      <a:tailEnd type="none" w="med" len="med"/>
                    </a:lnL>
                    <a:lnR>
                      <a:noFill/>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1437362628"/>
                  </a:ext>
                </a:extLst>
              </a:tr>
              <a:tr h="402336">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本社：岐阜県大垣市青柳町3丁目227番地2</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ct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賃貸借（貸主：個人）</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要確認</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altLang="en-US" sz="1000" b="0" i="0" u="none" strike="noStrike" dirty="0">
                          <a:solidFill>
                            <a:srgbClr val="000000"/>
                          </a:solidFill>
                          <a:effectLst/>
                          <a:latin typeface="Arial" panose="020B0604020202020204" pitchFamily="34" charset="0"/>
                          <a:ea typeface="游ゴシック Medium" panose="020B0500000000000000" pitchFamily="50" charset="-128"/>
                        </a:rPr>
                        <a:t>83</a:t>
                      </a:r>
                      <a:endParaRPr lang="ja-JP" sz="1000" b="0" i="0" u="none" strike="noStrike" dirty="0">
                        <a:solidFill>
                          <a:srgbClr val="000000"/>
                        </a:solidFill>
                        <a:effectLst/>
                        <a:latin typeface="Arial" panose="020B0604020202020204" pitchFamily="34" charset="0"/>
                        <a:ea typeface="游ゴシック Medium" panose="020B0500000000000000" pitchFamily="50" charset="-128"/>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altLang="en-US" sz="1000" b="0" i="0" u="none" strike="noStrike" dirty="0">
                          <a:solidFill>
                            <a:srgbClr val="000000"/>
                          </a:solidFill>
                          <a:effectLst/>
                          <a:latin typeface="Arial" panose="020B0604020202020204" pitchFamily="34" charset="0"/>
                          <a:ea typeface="游ゴシック Medium" panose="020B0500000000000000" pitchFamily="50" charset="-128"/>
                        </a:rPr>
                        <a:t>要確認</a:t>
                      </a:r>
                      <a:endParaRPr lang="ja-JP" sz="1000" b="0" i="0" u="none" strike="noStrike" dirty="0">
                        <a:solidFill>
                          <a:srgbClr val="000000"/>
                        </a:solidFill>
                        <a:effectLst/>
                        <a:latin typeface="Arial" panose="020B0604020202020204" pitchFamily="34" charset="0"/>
                        <a:ea typeface="游ゴシック Medium" panose="020B0500000000000000" pitchFamily="50" charset="-128"/>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登記上の本店。代表者自宅。2025年11月期の年間家賃1,000千円</a:t>
                      </a:r>
                      <a:endParaRPr lang="ja-JP" sz="10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100183313"/>
                  </a:ext>
                </a:extLst>
              </a:tr>
              <a:tr h="402336">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大垣管理センター：岐阜県大垣市上面4丁目17-1</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ct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賃貸借（大東建託パートナーズ㈱）</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要確認</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altLang="en-US" sz="1000" b="0" i="0" u="none" strike="noStrike" dirty="0">
                          <a:solidFill>
                            <a:srgbClr val="000000"/>
                          </a:solidFill>
                          <a:effectLst/>
                          <a:latin typeface="Arial" panose="020B0604020202020204" pitchFamily="34" charset="0"/>
                          <a:ea typeface="游ゴシック Medium" panose="020B0500000000000000" pitchFamily="50" charset="-128"/>
                        </a:rPr>
                        <a:t>48</a:t>
                      </a:r>
                      <a:endParaRPr lang="ja-JP" sz="1000" b="0" i="0" u="none" strike="noStrike" dirty="0">
                        <a:solidFill>
                          <a:srgbClr val="000000"/>
                        </a:solidFill>
                        <a:effectLst/>
                        <a:latin typeface="Arial" panose="020B0604020202020204" pitchFamily="34" charset="0"/>
                        <a:ea typeface="游ゴシック Medium" panose="020B0500000000000000" pitchFamily="50" charset="-128"/>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altLang="en-US" sz="1000" b="0" i="0" u="none" strike="noStrike" dirty="0">
                          <a:solidFill>
                            <a:srgbClr val="000000"/>
                          </a:solidFill>
                          <a:effectLst/>
                          <a:latin typeface="Arial" panose="020B0604020202020204" pitchFamily="34" charset="0"/>
                          <a:ea typeface="游ゴシック Medium" panose="020B0500000000000000" pitchFamily="50" charset="-128"/>
                        </a:rPr>
                        <a:t>要確認</a:t>
                      </a:r>
                      <a:endParaRPr lang="ja-JP" sz="1000" b="0" i="0" u="none" strike="noStrike" dirty="0">
                        <a:solidFill>
                          <a:srgbClr val="000000"/>
                        </a:solidFill>
                        <a:effectLst/>
                        <a:latin typeface="Arial" panose="020B0604020202020204" pitchFamily="34" charset="0"/>
                        <a:ea typeface="游ゴシック Medium" panose="020B0500000000000000" pitchFamily="50" charset="-128"/>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ペット出産用施設として計上。年間家賃574千円。所在地の特定は要確認</a:t>
                      </a:r>
                      <a:endParaRPr lang="ja-JP" sz="10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100183313"/>
                  </a:ext>
                </a:extLst>
              </a:tr>
              <a:tr h="402336">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松阪管理センター：三重県松阪市（要確認）</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ct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賃貸借（ジェイリース㈱）</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要確認</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altLang="en-US" sz="1000" b="0" i="0" u="none" strike="noStrike" dirty="0">
                          <a:solidFill>
                            <a:srgbClr val="000000"/>
                          </a:solidFill>
                          <a:effectLst/>
                          <a:latin typeface="Arial" panose="020B0604020202020204" pitchFamily="34" charset="0"/>
                          <a:ea typeface="游ゴシック Medium" panose="020B0500000000000000" pitchFamily="50" charset="-128"/>
                        </a:rPr>
                        <a:t>202</a:t>
                      </a:r>
                      <a:endParaRPr lang="ja-JP" sz="1000" b="0" i="0" u="none" strike="noStrike" dirty="0">
                        <a:solidFill>
                          <a:srgbClr val="000000"/>
                        </a:solidFill>
                        <a:effectLst/>
                        <a:latin typeface="Arial" panose="020B0604020202020204" pitchFamily="34" charset="0"/>
                        <a:ea typeface="游ゴシック Medium" panose="020B0500000000000000" pitchFamily="50" charset="-128"/>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altLang="en-US" sz="1000" b="0" i="0" u="none" strike="noStrike" dirty="0">
                          <a:solidFill>
                            <a:srgbClr val="000000"/>
                          </a:solidFill>
                          <a:effectLst/>
                          <a:latin typeface="Arial" panose="020B0604020202020204" pitchFamily="34" charset="0"/>
                          <a:ea typeface="游ゴシック Medium" panose="020B0500000000000000" pitchFamily="50" charset="-128"/>
                        </a:rPr>
                        <a:t>要確認</a:t>
                      </a:r>
                      <a:endParaRPr lang="ja-JP" sz="1000" b="0" i="0" u="none" strike="noStrike" dirty="0">
                        <a:solidFill>
                          <a:srgbClr val="000000"/>
                        </a:solidFill>
                        <a:effectLst/>
                        <a:latin typeface="Arial" panose="020B0604020202020204" pitchFamily="34" charset="0"/>
                        <a:ea typeface="游ゴシック Medium" panose="020B0500000000000000" pitchFamily="50" charset="-128"/>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決算書上は「明和店倉庫」として年間家賃2,420千円を計上。同一施設か要確認</a:t>
                      </a:r>
                      <a:endParaRPr lang="ja-JP" sz="10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100183313"/>
                  </a:ext>
                </a:extLst>
              </a:tr>
            </a:tbl>
          </a:graphicData>
        </a:graphic>
      </p:graphicFrame>
      <p:sp>
        <p:nvSpPr>
          <p:cNvPr id="10" name="正方形/長方形 9">
            <a:extLst>
              <a:ext uri="{FF2B5EF4-FFF2-40B4-BE49-F238E27FC236}">
                <a16:creationId xmlns:a16="http://schemas.microsoft.com/office/drawing/2014/main" id="{31921F09-68E7-1C7E-815D-C79453CBABBF}"/>
              </a:ext>
            </a:extLst>
          </p:cNvPr>
          <p:cNvSpPr/>
          <p:nvPr/>
        </p:nvSpPr>
        <p:spPr>
          <a:xfrm>
            <a:off x="310896" y="4023360"/>
            <a:ext cx="9930384" cy="265176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a:lnSpc>
                <a:spcPct val="120000"/>
              </a:lnSpc>
              <a:buClr>
                <a:schemeClr val="accent4"/>
              </a:buClr>
            </a:pPr>
            <a:r>
              <a:rPr kumimoji="1" lang="en-US" altLang="ja-JP" sz="1000" dirty="0">
                <a:solidFill>
                  <a:schemeClr val="tx1"/>
                </a:solidFill>
                <a:latin typeface="游ゴシック" panose="020B0400000000000000" pitchFamily="50" charset="-128"/>
                <a:ea typeface="游ゴシック" panose="020B0400000000000000" pitchFamily="50" charset="-128"/>
              </a:rPr>
              <a:t>【拠点の役割と留意点】</a:t>
            </a:r>
            <a:endParaRPr kumimoji="1" lang="en-US" altLang="ja-JP" sz="1000" dirty="0">
              <a:solidFill>
                <a:schemeClr val="tx1"/>
              </a:solidFill>
              <a:latin typeface="游ゴシック" panose="020B0400000000000000" pitchFamily="50" charset="-128"/>
              <a:ea typeface="游ゴシック" panose="020B0400000000000000" pitchFamily="50" charset="-128"/>
            </a:endParaRPr>
          </a:p>
          <a:p>
            <a:pPr>
              <a:lnSpc>
                <a:spcPct val="120000"/>
              </a:lnSpc>
              <a:buClr>
                <a:schemeClr val="accent4"/>
              </a:buClr>
            </a:pPr>
            <a:r>
              <a:rPr kumimoji="1" lang="en-US" altLang="ja-JP" sz="1000" dirty="0">
                <a:solidFill>
                  <a:schemeClr val="tx1"/>
                </a:solidFill>
                <a:latin typeface="游ゴシック" panose="020B0400000000000000" pitchFamily="50" charset="-128"/>
                <a:ea typeface="游ゴシック" panose="020B0400000000000000" pitchFamily="50" charset="-128"/>
              </a:rPr>
              <a:t>■ 本社（大垣市青柳町）：登記上の本店であり、代表者の自宅を法人が賃借している（貸主は個人、2025年11月期の年間家賃1,000千円）。経理・仕入管理等の管理機能を担う。譲渡後の賃貸借契約の継続または本店移転の要否は要確認。</a:t>
            </a:r>
            <a:endParaRPr kumimoji="1" lang="en-US" altLang="ja-JP" sz="1000" dirty="0">
              <a:solidFill>
                <a:schemeClr val="tx1"/>
              </a:solidFill>
              <a:latin typeface="游ゴシック" panose="020B0400000000000000" pitchFamily="50" charset="-128"/>
              <a:ea typeface="游ゴシック" panose="020B0400000000000000" pitchFamily="50" charset="-128"/>
            </a:endParaRPr>
          </a:p>
          <a:p>
            <a:pPr>
              <a:lnSpc>
                <a:spcPct val="120000"/>
              </a:lnSpc>
              <a:buClr>
                <a:schemeClr val="accent4"/>
              </a:buClr>
            </a:pPr>
            <a:r>
              <a:rPr kumimoji="1" lang="en-US" altLang="ja-JP" sz="1000" dirty="0">
                <a:solidFill>
                  <a:schemeClr val="tx1"/>
                </a:solidFill>
                <a:latin typeface="游ゴシック" panose="020B0400000000000000" pitchFamily="50" charset="-128"/>
                <a:ea typeface="游ゴシック" panose="020B0400000000000000" pitchFamily="50" charset="-128"/>
              </a:rPr>
              <a:t>■ 大垣管理センター／松阪管理センター：店舗のバックヤード管理（生体の一時預かり・健康管理）に加え、仕入先であるデザイナーズワン株式会社（代表者の親族が経営）の生体管理を受託している。2025年11月期末の棚卸資産のうち、本社管理分32,000千円・バックヤード管理分12,000千円・外部保管在庫10,000千円が両センター等で管理されている。</a:t>
            </a:r>
            <a:endParaRPr kumimoji="1" lang="en-US" altLang="ja-JP" sz="1000" dirty="0">
              <a:solidFill>
                <a:schemeClr val="tx1"/>
              </a:solidFill>
              <a:latin typeface="游ゴシック" panose="020B0400000000000000" pitchFamily="50" charset="-128"/>
              <a:ea typeface="游ゴシック" panose="020B0400000000000000" pitchFamily="50" charset="-128"/>
            </a:endParaRPr>
          </a:p>
          <a:p>
            <a:pPr>
              <a:lnSpc>
                <a:spcPct val="120000"/>
              </a:lnSpc>
              <a:buClr>
                <a:schemeClr val="accent4"/>
              </a:buClr>
            </a:pPr>
            <a:r>
              <a:rPr kumimoji="1" lang="en-US" altLang="ja-JP" sz="1000" dirty="0">
                <a:solidFill>
                  <a:schemeClr val="tx1"/>
                </a:solidFill>
                <a:latin typeface="游ゴシック" panose="020B0400000000000000" pitchFamily="50" charset="-128"/>
                <a:ea typeface="游ゴシック" panose="020B0400000000000000" pitchFamily="50" charset="-128"/>
              </a:rPr>
              <a:t>■ 上記のほか、従業員社宅（㈱エポスカード／年間家賃513千円）を賃借している。</a:t>
            </a:r>
            <a:endParaRPr kumimoji="1" lang="en-US" altLang="ja-JP" sz="1000" dirty="0">
              <a:solidFill>
                <a:schemeClr val="tx1"/>
              </a:solidFill>
              <a:latin typeface="游ゴシック" panose="020B0400000000000000" pitchFamily="50" charset="-128"/>
              <a:ea typeface="游ゴシック" panose="020B0400000000000000" pitchFamily="50" charset="-128"/>
            </a:endParaRPr>
          </a:p>
          <a:p>
            <a:pPr>
              <a:lnSpc>
                <a:spcPct val="120000"/>
              </a:lnSpc>
              <a:buClr>
                <a:schemeClr val="accent4"/>
              </a:buClr>
            </a:pPr>
            <a:r>
              <a:rPr kumimoji="1" lang="en-US" altLang="ja-JP" sz="1000" dirty="0">
                <a:solidFill>
                  <a:schemeClr val="tx1"/>
                </a:solidFill>
                <a:latin typeface="游ゴシック" panose="020B0400000000000000" pitchFamily="50" charset="-128"/>
                <a:ea typeface="游ゴシック" panose="020B0400000000000000" pitchFamily="50" charset="-128"/>
              </a:rPr>
              <a:t>■ 2025年11月期の地代家賃合計は33,249千円。うち店舗分（緑店・岐阜総本店・大阪総本店）が28,558千円、本社・管理センター・社宅分が4,507千円、大垣店駐車場地代が185千円。</a:t>
            </a:r>
            <a:endParaRPr kumimoji="1" lang="en-US" altLang="ja-JP" sz="1000" dirty="0">
              <a:solidFill>
                <a:schemeClr val="tx1"/>
              </a:solidFill>
              <a:latin typeface="游ゴシック" panose="020B0400000000000000" pitchFamily="50" charset="-128"/>
              <a:ea typeface="游ゴシック" panose="020B0400000000000000" pitchFamily="50" charset="-128"/>
            </a:endParaRPr>
          </a:p>
          <a:p>
            <a:pPr>
              <a:lnSpc>
                <a:spcPct val="120000"/>
              </a:lnSpc>
              <a:buClr>
                <a:schemeClr val="accent4"/>
              </a:buClr>
            </a:pPr>
            <a:r>
              <a:rPr kumimoji="1" lang="en-US" altLang="ja-JP" sz="1000" dirty="0">
                <a:solidFill>
                  <a:schemeClr val="tx1"/>
                </a:solidFill>
                <a:latin typeface="游ゴシック" panose="020B0400000000000000" pitchFamily="50" charset="-128"/>
                <a:ea typeface="游ゴシック" panose="020B0400000000000000" pitchFamily="50" charset="-128"/>
              </a:rPr>
              <a:t/>
            </a:r>
            <a:endParaRPr kumimoji="1" lang="en-US" altLang="ja-JP" sz="1000" dirty="0">
              <a:solidFill>
                <a:schemeClr val="tx1"/>
              </a:solidFill>
              <a:latin typeface="游ゴシック" panose="020B0400000000000000" pitchFamily="50" charset="-128"/>
              <a:ea typeface="游ゴシック" panose="020B0400000000000000" pitchFamily="50" charset="-128"/>
            </a:endParaRPr>
          </a:p>
          <a:p>
            <a:pPr>
              <a:lnSpc>
                <a:spcPct val="120000"/>
              </a:lnSpc>
              <a:buClr>
                <a:schemeClr val="accent4"/>
              </a:buClr>
            </a:pPr>
            <a:r>
              <a:rPr kumimoji="1" lang="en-US" altLang="ja-JP" sz="1000" dirty="0">
                <a:solidFill>
                  <a:schemeClr val="tx1"/>
                </a:solidFill>
                <a:latin typeface="游ゴシック" panose="020B0400000000000000" pitchFamily="50" charset="-128"/>
                <a:ea typeface="游ゴシック" panose="020B0400000000000000" pitchFamily="50" charset="-128"/>
              </a:rPr>
              <a:t>※出所：2025年11月期「地代家賃等の内訳書」。延床面積・敷金・契約期間は資料未受領のため要確認。月間賃料は年間支払賃借料を12で除した参考値。</a:t>
            </a:r>
            <a:endParaRPr kumimoji="1" lang="en-US" altLang="ja-JP" sz="1000" dirty="0">
              <a:solidFill>
                <a:schemeClr val="tx1"/>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36555198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12D40-6E48-E93D-4FC9-F10D333C1CB4}"/>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8F9793F7-DC5F-E269-D0AF-CEA1591E82A7}"/>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店舗一覧（賃貸借条件）</a:t>
            </a:r>
          </a:p>
        </p:txBody>
      </p:sp>
      <p:sp>
        <p:nvSpPr>
          <p:cNvPr id="6" name="タイトル 1">
            <a:extLst>
              <a:ext uri="{FF2B5EF4-FFF2-40B4-BE49-F238E27FC236}">
                <a16:creationId xmlns:a16="http://schemas.microsoft.com/office/drawing/2014/main" id="{541F4B75-7B8F-E770-E8BD-648B0D9A1125}"/>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組織、拠点、設備等</a:t>
            </a:r>
          </a:p>
        </p:txBody>
      </p:sp>
      <p:sp>
        <p:nvSpPr>
          <p:cNvPr id="9" name="字幕 13">
            <a:extLst>
              <a:ext uri="{FF2B5EF4-FFF2-40B4-BE49-F238E27FC236}">
                <a16:creationId xmlns:a16="http://schemas.microsoft.com/office/drawing/2014/main" id="{C67BBAB2-F39C-2CF9-AEE1-8D09DEE08EBD}"/>
              </a:ext>
            </a:extLst>
          </p:cNvPr>
          <p:cNvSpPr>
            <a:spLocks noGrp="1"/>
          </p:cNvSpPr>
          <p:nvPr>
            <p:ph type="subTitle" idx="1"/>
          </p:nvPr>
        </p:nvSpPr>
        <p:spPr>
          <a:xfrm>
            <a:off x="460675" y="830046"/>
            <a:ext cx="9781875" cy="241861"/>
          </a:xfrm>
        </p:spPr>
        <p:txBody>
          <a:bodyPr>
            <a:noAutofit/>
          </a:bodyPr>
          <a:lstStyle/>
          <a:p>
            <a:r>
              <a:rPr lang="en-US" altLang="ja-JP" dirty="0">
                <a:latin typeface="游ゴシック" panose="020B0400000000000000" pitchFamily="50" charset="-128"/>
                <a:ea typeface="游ゴシック" panose="020B0400000000000000" pitchFamily="50" charset="-128"/>
              </a:rPr>
              <a:t>稼働6店舗はすべて賃借。FC加盟の3店舗はFC本部から転借し店舗使用料は売上歩合、緑店と大型犬専門店2店舗は固定賃料である。大阪総本店は2027年11月に期間満了を迎えるため再契約の見通しが論点。</a:t>
            </a:r>
          </a:p>
        </p:txBody>
      </p:sp>
      <p:graphicFrame>
        <p:nvGraphicFramePr>
          <p:cNvPr id="4" name="表 3">
            <a:extLst>
              <a:ext uri="{FF2B5EF4-FFF2-40B4-BE49-F238E27FC236}">
                <a16:creationId xmlns:a16="http://schemas.microsoft.com/office/drawing/2014/main" id="{F3ABDE07-DA1F-17B4-3617-3A791BD82473}"/>
              </a:ext>
            </a:extLst>
          </p:cNvPr>
          <p:cNvGraphicFramePr>
            <a:graphicFrameLocks noGrp="1"/>
          </p:cNvGraphicFramePr>
          <p:nvPr/>
        </p:nvGraphicFramePr>
        <p:xfrm>
          <a:off x="310896" y="1408176"/>
          <a:ext cx="10021823" cy="3236976"/>
        </p:xfrm>
        <a:graphic>
          <a:graphicData uri="http://schemas.openxmlformats.org/drawingml/2006/table">
            <a:tbl>
              <a:tblPr/>
              <a:tblGrid>
                <a:gridCol w="256032">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1874519">
                  <a:extLst>
                    <a:ext uri="{9D8B030D-6E8A-4147-A177-3AD203B41FA5}">
                      <a16:colId xmlns:a16="http://schemas.microsoft.com/office/drawing/2014/main" val="20002"/>
                    </a:ext>
                  </a:extLst>
                </a:gridCol>
                <a:gridCol w="77724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1417320">
                  <a:extLst>
                    <a:ext uri="{9D8B030D-6E8A-4147-A177-3AD203B41FA5}">
                      <a16:colId xmlns:a16="http://schemas.microsoft.com/office/drawing/2014/main" val="20005"/>
                    </a:ext>
                  </a:extLst>
                </a:gridCol>
                <a:gridCol w="1508760">
                  <a:extLst>
                    <a:ext uri="{9D8B030D-6E8A-4147-A177-3AD203B41FA5}">
                      <a16:colId xmlns:a16="http://schemas.microsoft.com/office/drawing/2014/main" val="20006"/>
                    </a:ext>
                  </a:extLst>
                </a:gridCol>
                <a:gridCol w="804672">
                  <a:extLst>
                    <a:ext uri="{9D8B030D-6E8A-4147-A177-3AD203B41FA5}">
                      <a16:colId xmlns:a16="http://schemas.microsoft.com/office/drawing/2014/main" val="20007"/>
                    </a:ext>
                  </a:extLst>
                </a:gridCol>
              </a:tblGrid>
              <a:tr h="310896">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店舗名</a:t>
                      </a:r>
                    </a:p>
                  </a:txBody>
                  <a:tcPr marL="36576" marR="36576" marT="9144" marB="9144"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所在地</a:t>
                      </a:r>
                    </a:p>
                  </a:txBody>
                  <a:tcPr marL="36576" marR="36576" marT="9144" marB="9144"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業態</a:t>
                      </a:r>
                    </a:p>
                  </a:txBody>
                  <a:tcPr marL="36576" marR="36576" marT="9144" marB="9144"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賃貸人</a:t>
                      </a:r>
                    </a:p>
                  </a:txBody>
                  <a:tcPr marL="36576" marR="36576" marT="9144" marB="9144"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契約期間</a:t>
                      </a:r>
                      <a:endParaRPr lang="ja-JP" sz="105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36576" marR="36576" marT="9144" marB="9144" anchor="ctr">
                    <a:lnL w="6350" cap="flat" cmpd="sng" algn="ctr">
                      <a:solidFill>
                        <a:schemeClr val="bg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月額賃料／店舗使用料</a:t>
                      </a:r>
                      <a:endParaRPr lang="ja-JP" sz="105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敷金・保証金</a:t>
                      </a:r>
                      <a:endParaRPr lang="ja-JP" sz="105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extLst>
                  <a:ext uri="{0D108BD9-81ED-4DB2-BD59-A6C34878D82A}">
                    <a16:rowId xmlns:a16="http://schemas.microsoft.com/office/drawing/2014/main" val="10000"/>
                  </a:ext>
                </a:extLst>
              </a:tr>
              <a:tr h="365760">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①</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ワンラブ カインズホーム明和店</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三重県多気郡明和町中村1236</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FC／IS</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㈲ワンラブ（転借）</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要確認</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売上の約15%（歩合）</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要確認</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②</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ワンラブ バローミタス伊勢店</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三重県伊勢市船江1-10-190</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FC／IS</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㈲ワンラブ（転借）</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2020年4月〜2030年4月</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売上の11%（歩合）</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要確認</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extLst>
                  <a:ext uri="{0D108BD9-81ED-4DB2-BD59-A6C34878D82A}">
                    <a16:rowId xmlns:a16="http://schemas.microsoft.com/office/drawing/2014/main" val="10002"/>
                  </a:ext>
                </a:extLst>
              </a:tr>
              <a:tr h="365760">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③</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ワンラブ ホームセンターバロー久居店</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三重県津市戸木町7869-1</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FC／IS</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㈲ワンラブ（転借）</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2020年12月〜2030年11月</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売上の12%（歩合）</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要確認</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extLst>
                  <a:ext uri="{0D108BD9-81ED-4DB2-BD59-A6C34878D82A}">
                    <a16:rowId xmlns:a16="http://schemas.microsoft.com/office/drawing/2014/main" val="10003"/>
                  </a:ext>
                </a:extLst>
              </a:tr>
              <a:tr h="365760">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④</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ワンラブ ドン・キホーテ緑店</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愛知県名古屋市緑区鳥澄1-527</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FC／IS</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日本商業施設㈱</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要確認</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749千円／月（年9,285千円）</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2,700千円</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extLst>
                  <a:ext uri="{0D108BD9-81ED-4DB2-BD59-A6C34878D82A}">
                    <a16:rowId xmlns:a16="http://schemas.microsoft.com/office/drawing/2014/main" val="10004"/>
                  </a:ext>
                </a:extLst>
              </a:tr>
              <a:tr h="365760">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⑤</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おっきなもふもふ応援隊 岐阜総本店</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岐阜県羽島郡岐南町徳田3-182-1（395.38㎡）</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大型犬専門
／路面店</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㈱カムテイ</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2023年4月〜2033年1月
定期建物賃貸借</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640千円／月（年8,153千円）</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2,800千円</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extLst>
                  <a:ext uri="{0D108BD9-81ED-4DB2-BD59-A6C34878D82A}">
                    <a16:rowId xmlns:a16="http://schemas.microsoft.com/office/drawing/2014/main" val="10005"/>
                  </a:ext>
                </a:extLst>
              </a:tr>
              <a:tr h="365760">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⑥</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おっきなもふもふ応援隊 大阪総本店</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大阪府茨木市東太田1-4-48（421.10㎡）</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大型犬専門
／路面店</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㈱ドン・キホーテ</a:t>
                      </a:r>
                      <a:endParaRPr lang="en-US" altLang="ja-JP" sz="1000" b="0" i="0" u="none" strike="noStrike" dirty="0">
                        <a:solidFill>
                          <a:sysClr val="windowText" lastClr="000000"/>
                        </a:solidFill>
                        <a:effectLst/>
                        <a:latin typeface="游ゴシック" panose="020B0400000000000000" pitchFamily="50" charset="-128"/>
                        <a:ea typeface="游ゴシック" panose="020B0400000000000000" pitchFamily="50" charset="-128"/>
                      </a:endParaRP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2024年9月〜2027年11月
定期建物賃貸借</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920千円／月（年10,756千円）</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3,600千円</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65760">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ワンラブ アクアウォーク大垣店</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岐阜県大垣市林町6丁目80番21</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FC／IS</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㈲ワンラブ（転借）</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2026年2月に撤退</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歩合（料率は要確認）</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65760">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ワンラブ ペットプラザ岐阜店</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岐阜県岐阜市鶉町3丁目18</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FC／IS</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㈲ワンラブ（転借）</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2026年1月に撤退</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歩合（料率は要確認）</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14" name="Rounded Rectangle 13"/>
          <p:cNvSpPr/>
          <p:nvPr/>
        </p:nvSpPr>
        <p:spPr>
          <a:xfrm>
            <a:off x="310896" y="4956048"/>
            <a:ext cx="10021824" cy="566928"/>
          </a:xfrm>
          <a:prstGeom prst="roundRect">
            <a:avLst>
              <a:gd name="adj" fmla="val 12000"/>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游ゴシック" panose="020B0400000000000000" pitchFamily="50" charset="-128"/>
              <a:ea typeface="游ゴシック" panose="020B0400000000000000" pitchFamily="50" charset="-128"/>
            </a:endParaRPr>
          </a:p>
        </p:txBody>
      </p:sp>
      <p:sp>
        <p:nvSpPr>
          <p:cNvPr id="15" name="TextBox 14"/>
          <p:cNvSpPr txBox="1"/>
          <p:nvPr/>
        </p:nvSpPr>
        <p:spPr>
          <a:xfrm>
            <a:off x="475488" y="5047488"/>
            <a:ext cx="9692640" cy="402336"/>
          </a:xfrm>
          <a:prstGeom prst="rect">
            <a:avLst/>
          </a:prstGeom>
          <a:noFill/>
        </p:spPr>
        <p:txBody>
          <a:bodyPr wrap="square" lIns="0" tIns="0" rIns="0" bIns="0" anchor="ctr">
            <a:spAutoFit/>
          </a:bodyPr>
          <a:lstStyle/>
          <a:p>
            <a:pPr algn="l">
              <a:lnSpc>
                <a:spcPct val="115000"/>
              </a:lnSpc>
            </a:pPr>
            <a:r>
              <a:rPr sz="950" b="1" dirty="0">
                <a:solidFill>
                  <a:srgbClr val="0B3041"/>
                </a:solidFill>
                <a:latin typeface="游ゴシック" panose="020B0400000000000000" pitchFamily="50" charset="-128"/>
                <a:ea typeface="游ゴシック" panose="020B0400000000000000" pitchFamily="50" charset="-128"/>
              </a:rPr>
              <a:t>①〜③および撤退2店舗はFC本部である㈲ワンラブを経由して転借しており、店舗使用料は売上歩合として販管費の「ロイヤリティ」に計上されている。</a:t>
            </a:r>
          </a:p>
          <a:p>
            <a:pPr algn="l">
              <a:lnSpc>
                <a:spcPct val="115000"/>
              </a:lnSpc>
            </a:pPr>
            <a:r>
              <a:rPr sz="950" b="1" dirty="0">
                <a:solidFill>
                  <a:srgbClr val="0B3041"/>
                </a:solidFill>
                <a:latin typeface="游ゴシック" panose="020B0400000000000000" pitchFamily="50" charset="-128"/>
                <a:ea typeface="游ゴシック" panose="020B0400000000000000" pitchFamily="50" charset="-128"/>
              </a:rPr>
              <a:t>①〜③および⑤⑥の契約書にはCOC条項（会社組織の変更・資本構成の重大な変更時は書面による届出を要し、他法人に合併された場合は契約解除可）がある。④は確認中。</a:t>
            </a:r>
          </a:p>
        </p:txBody>
      </p:sp>
      <p:sp>
        <p:nvSpPr>
          <p:cNvPr id="16" name="TextBox 15"/>
          <p:cNvSpPr txBox="1"/>
          <p:nvPr/>
        </p:nvSpPr>
        <p:spPr>
          <a:xfrm>
            <a:off x="310896" y="5650992"/>
            <a:ext cx="10021824" cy="640080"/>
          </a:xfrm>
          <a:prstGeom prst="rect">
            <a:avLst/>
          </a:prstGeom>
          <a:noFill/>
        </p:spPr>
        <p:txBody>
          <a:bodyPr wrap="square" lIns="0" tIns="0" rIns="0" bIns="0" anchor="t">
            <a:spAutoFit/>
          </a:bodyPr>
          <a:lstStyle/>
          <a:p>
            <a:pPr algn="l">
              <a:lnSpc>
                <a:spcPct val="115000"/>
              </a:lnSpc>
            </a:pPr>
            <a:r>
              <a:rPr sz="840" b="0" dirty="0">
                <a:solidFill>
                  <a:sysClr val="windowText" lastClr="000000"/>
                </a:solidFill>
                <a:latin typeface="游ゴシック" panose="020B0400000000000000" pitchFamily="50" charset="-128"/>
                <a:ea typeface="游ゴシック" panose="020B0400000000000000" pitchFamily="50" charset="-128"/>
              </a:rPr>
              <a:t>※出所：2025年11月期「地代家賃等の内訳書」および対象会社提供の既存会社説明資料。面積・敷金・契約期間の「要確認」欄は資料未受領。</a:t>
            </a:r>
          </a:p>
          <a:p>
            <a:pPr algn="l">
              <a:lnSpc>
                <a:spcPct val="115000"/>
              </a:lnSpc>
            </a:pPr>
            <a:r>
              <a:rPr sz="840" b="0" dirty="0">
                <a:solidFill>
                  <a:sysClr val="windowText" lastClr="000000"/>
                </a:solidFill>
                <a:latin typeface="游ゴシック" panose="020B0400000000000000" pitchFamily="50" charset="-128"/>
                <a:ea typeface="游ゴシック" panose="020B0400000000000000" pitchFamily="50" charset="-128"/>
              </a:rPr>
              <a:t>※①明和店はカインズ明和 ペッツワンコーナー、②はバローホームセンター ミタス伊勢店内、③はバローメガストア久居インター店内、④はドン・キホーテ緑店ペット館、⑤はザ・ビッグ岐南店1階 区画No.1、⑥はドン・キホーテ茨木店1階に所在。</a:t>
            </a:r>
          </a:p>
          <a:p>
            <a:pPr algn="l">
              <a:lnSpc>
                <a:spcPct val="115000"/>
              </a:lnSpc>
            </a:pPr>
            <a:r>
              <a:rPr sz="840" b="0" dirty="0">
                <a:solidFill>
                  <a:sysClr val="windowText" lastClr="000000"/>
                </a:solidFill>
                <a:latin typeface="游ゴシック" panose="020B0400000000000000" pitchFamily="50" charset="-128"/>
                <a:ea typeface="游ゴシック" panose="020B0400000000000000" pitchFamily="50" charset="-128"/>
              </a:rPr>
              <a:t>※ペットプラザ岐阜店は2026年1月、アクアウォーク大垣店は2026年2月をもって撤退（店舗別試算表により確認）。撤退に伴う原状回復費用・違約金の有無は要確認。　なお進行期の差入保証金は2026年3月に2,024千円減少しており、うち2,000千円は撤退店舗の敷金返還と推察（仮説）。</a:t>
            </a:r>
          </a:p>
          <a:p>
            <a:pPr algn="l">
              <a:lnSpc>
                <a:spcPct val="115000"/>
              </a:lnSpc>
            </a:pPr>
            <a:r>
              <a:rPr sz="840" b="0" dirty="0">
                <a:solidFill>
                  <a:sysClr val="windowText" lastClr="000000"/>
                </a:solidFill>
                <a:latin typeface="游ゴシック" panose="020B0400000000000000" pitchFamily="50" charset="-128"/>
                <a:ea typeface="游ゴシック" panose="020B0400000000000000" pitchFamily="50" charset="-128"/>
              </a:rPr>
              <a:t>※上記のほか、本社（代表者自宅）・大垣／松阪の管理センター・従業員社宅を賃借している。2025年11月期の地代家賃合計は33,249千円。</a:t>
            </a:r>
          </a:p>
        </p:txBody>
      </p:sp>
    </p:spTree>
    <p:extLst>
      <p:ext uri="{BB962C8B-B14F-4D97-AF65-F5344CB8AC3E}">
        <p14:creationId xmlns:p14="http://schemas.microsoft.com/office/powerpoint/2010/main" val="21789426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12D40-6E48-E93D-4FC9-F10D333C1CB4}"/>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8F9793F7-DC5F-E269-D0AF-CEA1591E82A7}"/>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保有資産（不動産・設備・車両）</a:t>
            </a:r>
          </a:p>
        </p:txBody>
      </p:sp>
      <p:sp>
        <p:nvSpPr>
          <p:cNvPr id="6" name="タイトル 1">
            <a:extLst>
              <a:ext uri="{FF2B5EF4-FFF2-40B4-BE49-F238E27FC236}">
                <a16:creationId xmlns:a16="http://schemas.microsoft.com/office/drawing/2014/main" id="{541F4B75-7B8F-E770-E8BD-648B0D9A1125}"/>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組織、拠点、設備等</a:t>
            </a:r>
          </a:p>
        </p:txBody>
      </p:sp>
      <p:sp>
        <p:nvSpPr>
          <p:cNvPr id="9" name="字幕 13">
            <a:extLst>
              <a:ext uri="{FF2B5EF4-FFF2-40B4-BE49-F238E27FC236}">
                <a16:creationId xmlns:a16="http://schemas.microsoft.com/office/drawing/2014/main" id="{C67BBAB2-F39C-2CF9-AEE1-8D09DEE08EBD}"/>
              </a:ext>
            </a:extLst>
          </p:cNvPr>
          <p:cNvSpPr>
            <a:spLocks noGrp="1"/>
          </p:cNvSpPr>
          <p:nvPr>
            <p:ph type="subTitle" idx="1"/>
          </p:nvPr>
        </p:nvSpPr>
        <p:spPr>
          <a:xfrm>
            <a:off x="460675" y="830046"/>
            <a:ext cx="9781875" cy="241861"/>
          </a:xfrm>
        </p:spPr>
        <p:txBody>
          <a:bodyPr>
            <a:noAutofit/>
          </a:bodyPr>
          <a:lstStyle/>
          <a:p>
            <a:r>
              <a:rPr lang="en-US" altLang="ja-JP" dirty="0">
                <a:latin typeface="游ゴシック" panose="020B0400000000000000" pitchFamily="50" charset="-128"/>
                <a:ea typeface="游ゴシック" panose="020B0400000000000000" pitchFamily="50" charset="-128"/>
              </a:rPr>
              <a:t>法人所有の不動産は駐車場用地1筆（89.4㎡・簿価2,974千円）のみで、店舗はすべて賃借。有形固定資産の大宗は大型犬専門店2店舗と緑店の内装・設備投資である。</a:t>
            </a:r>
          </a:p>
        </p:txBody>
      </p:sp>
      <p:graphicFrame>
        <p:nvGraphicFramePr>
          <p:cNvPr id="4" name="表 3">
            <a:extLst>
              <a:ext uri="{FF2B5EF4-FFF2-40B4-BE49-F238E27FC236}">
                <a16:creationId xmlns:a16="http://schemas.microsoft.com/office/drawing/2014/main" id="{F3ABDE07-DA1F-17B4-3617-3A791BD82473}"/>
              </a:ext>
            </a:extLst>
          </p:cNvPr>
          <p:cNvGraphicFramePr>
            <a:graphicFrameLocks noGrp="1"/>
          </p:cNvGraphicFramePr>
          <p:nvPr/>
        </p:nvGraphicFramePr>
        <p:xfrm>
          <a:off x="310896" y="1408176"/>
          <a:ext cx="10021824" cy="3621024"/>
        </p:xfrm>
        <a:graphic>
          <a:graphicData uri="http://schemas.openxmlformats.org/drawingml/2006/table">
            <a:tbl>
              <a:tblPr/>
              <a:tblGrid>
                <a:gridCol w="1280160">
                  <a:extLst>
                    <a:ext uri="{9D8B030D-6E8A-4147-A177-3AD203B41FA5}">
                      <a16:colId xmlns:a16="http://schemas.microsoft.com/office/drawing/2014/main" val="20000"/>
                    </a:ext>
                  </a:extLst>
                </a:gridCol>
                <a:gridCol w="2615184">
                  <a:extLst>
                    <a:ext uri="{9D8B030D-6E8A-4147-A177-3AD203B41FA5}">
                      <a16:colId xmlns:a16="http://schemas.microsoft.com/office/drawing/2014/main" val="20001"/>
                    </a:ext>
                  </a:extLst>
                </a:gridCol>
                <a:gridCol w="1773936">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475488">
                  <a:extLst>
                    <a:ext uri="{9D8B030D-6E8A-4147-A177-3AD203B41FA5}">
                      <a16:colId xmlns:a16="http://schemas.microsoft.com/office/drawing/2014/main" val="20004"/>
                    </a:ext>
                  </a:extLst>
                </a:gridCol>
                <a:gridCol w="768096">
                  <a:extLst>
                    <a:ext uri="{9D8B030D-6E8A-4147-A177-3AD203B41FA5}">
                      <a16:colId xmlns:a16="http://schemas.microsoft.com/office/drawing/2014/main" val="20005"/>
                    </a:ext>
                  </a:extLst>
                </a:gridCol>
                <a:gridCol w="768096">
                  <a:extLst>
                    <a:ext uri="{9D8B030D-6E8A-4147-A177-3AD203B41FA5}">
                      <a16:colId xmlns:a16="http://schemas.microsoft.com/office/drawing/2014/main" val="20006"/>
                    </a:ext>
                  </a:extLst>
                </a:gridCol>
                <a:gridCol w="1426464">
                  <a:extLst>
                    <a:ext uri="{9D8B030D-6E8A-4147-A177-3AD203B41FA5}">
                      <a16:colId xmlns:a16="http://schemas.microsoft.com/office/drawing/2014/main" val="20007"/>
                    </a:ext>
                  </a:extLst>
                </a:gridCol>
              </a:tblGrid>
              <a:tr h="329184">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区分</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資産名</a:t>
                      </a:r>
                    </a:p>
                  </a:txBody>
                  <a:tcPr marL="36576" marR="36576" marT="9144" marB="9144"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内容・所在等</a:t>
                      </a:r>
                    </a:p>
                  </a:txBody>
                  <a:tcPr marL="36576" marR="36576" marT="9144" marB="9144"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取得時期</a:t>
                      </a:r>
                    </a:p>
                  </a:txBody>
                  <a:tcPr marL="36576" marR="36576" marT="9144" marB="9144"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耐用
年数</a:t>
                      </a:r>
                    </a:p>
                  </a:txBody>
                  <a:tcPr marL="36576" marR="36576" marT="9144" marB="9144"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取得原価
(千円)</a:t>
                      </a:r>
                      <a:endParaRPr lang="ja-JP" sz="105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36576" marR="36576" marT="9144" marB="9144" anchor="ctr">
                    <a:lnL w="6350" cap="flat" cmpd="sng" algn="ctr">
                      <a:solidFill>
                        <a:schemeClr val="bg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期末簿価
(千円)</a:t>
                      </a:r>
                      <a:endParaRPr lang="ja-JP" sz="105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備考</a:t>
                      </a:r>
                      <a:endParaRPr lang="ja-JP" sz="105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extLst>
                  <a:ext uri="{0D108BD9-81ED-4DB2-BD59-A6C34878D82A}">
                    <a16:rowId xmlns:a16="http://schemas.microsoft.com/office/drawing/2014/main" val="10000"/>
                  </a:ext>
                </a:extLst>
              </a:tr>
              <a:tr h="274320">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土地</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駐車場（89.4㎡）</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岐阜県大垣市南若森町字柳原227番3</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2025年11月期</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2,974</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2,974</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時価は要確認</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建物附属設備</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おっきなもふもふ大阪総本店 新装・内装工事</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大阪府茨木市</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2024年10月</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15年</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28,950</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25,334</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建物附属設備</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空調・照明設備、サイン、外装・消防設備 等</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主に大阪総本店</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2023〜2024年</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8〜18年</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13,123</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11,318</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建物附属設備</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ドン・キホーテ緑店 改装工事（電気・給排水等）</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愛知県名古屋市緑区</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2024年7〜8月</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15年</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6,211</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5,694</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74320">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建物附属設備</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水回り工事・外装工事</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2024年9月</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15年</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2,159</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2,050</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74320">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工具器具備品</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展示用什器・陳列ゲージ、冷蔵庫、複合機 等</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各店舗</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2022〜2024年</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5〜8年</a:t>
                      </a:r>
                      <a:endParaRPr lang="en-US" altLang="ja-JP" sz="1000" b="0" i="0" u="none" strike="noStrike" dirty="0">
                        <a:solidFill>
                          <a:sysClr val="windowText" lastClr="000000"/>
                        </a:solidFill>
                        <a:effectLst/>
                        <a:latin typeface="游ゴシック" panose="020B0400000000000000" pitchFamily="50" charset="-128"/>
                        <a:ea typeface="游ゴシック" panose="020B0400000000000000" pitchFamily="50" charset="-128"/>
                      </a:endParaRP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31,783</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6,045</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extLst>
                  <a:ext uri="{0D108BD9-81ED-4DB2-BD59-A6C34878D82A}">
                    <a16:rowId xmlns:a16="http://schemas.microsoft.com/office/drawing/2014/main" val="10006"/>
                  </a:ext>
                </a:extLst>
              </a:tr>
              <a:tr h="274320">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車両運搬具</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ハイエースバン（トヨタ自動車㈱）</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事業用</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2022年4月</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6年</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3,169</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732</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extLst>
                  <a:ext uri="{0D108BD9-81ED-4DB2-BD59-A6C34878D82A}">
                    <a16:rowId xmlns:a16="http://schemas.microsoft.com/office/drawing/2014/main" val="10007"/>
                  </a:ext>
                </a:extLst>
              </a:tr>
              <a:tr h="274320">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車両運搬具</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7FA"/>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ピクシスバン（トヨタ自動車㈱）</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7FA"/>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事業用</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7FA"/>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2023年7月</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4年</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1,647</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326</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7FA"/>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7FA"/>
                    </a:solidFill>
                  </a:tcPr>
                </a:tc>
                <a:extLst>
                  <a:ext uri="{0D108BD9-81ED-4DB2-BD59-A6C34878D82A}">
                    <a16:rowId xmlns:a16="http://schemas.microsoft.com/office/drawing/2014/main" val="10008"/>
                  </a:ext>
                </a:extLst>
              </a:tr>
              <a:tr h="274320">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車両運搬具</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プリウス（トヨタ自動車㈱）</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事業用</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2020年12月</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6年</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1,163</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備忘価額1円</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74320">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その他有形固定資産</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一括償却資産等（緑店 ゲージ改修 等）</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2025年6月 ほか</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3年</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276</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184</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74320">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合計（有形固定資産）</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91,455</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54,658</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274320">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（参考）営業権</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デザイナーズワン㈱に係る営業権</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1,500</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取得経緯・算定根拠は要確認</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extLst>
                  <a:ext uri="{0D108BD9-81ED-4DB2-BD59-A6C34878D82A}">
                    <a16:rowId xmlns:a16="http://schemas.microsoft.com/office/drawing/2014/main" val="10012"/>
                  </a:ext>
                </a:extLst>
              </a:tr>
            </a:tbl>
          </a:graphicData>
        </a:graphic>
      </p:graphicFrame>
      <p:sp>
        <p:nvSpPr>
          <p:cNvPr id="14" name="Rounded Rectangle 13"/>
          <p:cNvSpPr/>
          <p:nvPr/>
        </p:nvSpPr>
        <p:spPr>
          <a:xfrm>
            <a:off x="310896" y="5504688"/>
            <a:ext cx="10021824" cy="365760"/>
          </a:xfrm>
          <a:prstGeom prst="roundRect">
            <a:avLst>
              <a:gd name="adj" fmla="val 12000"/>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游ゴシック" panose="020B0400000000000000" pitchFamily="50" charset="-128"/>
              <a:ea typeface="游ゴシック" panose="020B0400000000000000" pitchFamily="50" charset="-128"/>
            </a:endParaRPr>
          </a:p>
        </p:txBody>
      </p:sp>
      <p:sp>
        <p:nvSpPr>
          <p:cNvPr id="15" name="TextBox 14"/>
          <p:cNvSpPr txBox="1"/>
          <p:nvPr/>
        </p:nvSpPr>
        <p:spPr>
          <a:xfrm>
            <a:off x="475488" y="5607546"/>
            <a:ext cx="9692640" cy="160044"/>
          </a:xfrm>
          <a:prstGeom prst="rect">
            <a:avLst/>
          </a:prstGeom>
          <a:noFill/>
        </p:spPr>
        <p:txBody>
          <a:bodyPr wrap="square" lIns="0" tIns="0" rIns="0" bIns="0" anchor="ctr">
            <a:spAutoFit/>
          </a:bodyPr>
          <a:lstStyle/>
          <a:p>
            <a:pPr algn="l">
              <a:lnSpc>
                <a:spcPct val="115000"/>
              </a:lnSpc>
            </a:pPr>
            <a:r>
              <a:rPr sz="950" b="1">
                <a:solidFill>
                  <a:srgbClr val="0B3041"/>
                </a:solidFill>
                <a:latin typeface="游ゴシック" panose="020B0400000000000000" pitchFamily="50" charset="-128"/>
                <a:ea typeface="游ゴシック" panose="020B0400000000000000" pitchFamily="50" charset="-128"/>
              </a:rPr>
              <a:t>リース車両3台を賃借（メルセデス・ベンツ GLE Coupe 月195千円／2024年9月〜60ヶ月、同 GLS 月212千円／2024年12月〜60ヶ月、日産オーラ 月60千円／2024年9月〜36ヶ月）。ベンツ2台は非事業用であり、本件実行後に解約予定。</a:t>
            </a:r>
          </a:p>
        </p:txBody>
      </p:sp>
      <p:sp>
        <p:nvSpPr>
          <p:cNvPr id="16" name="TextBox 15"/>
          <p:cNvSpPr txBox="1"/>
          <p:nvPr/>
        </p:nvSpPr>
        <p:spPr>
          <a:xfrm>
            <a:off x="310896" y="6108192"/>
            <a:ext cx="10021824" cy="457200"/>
          </a:xfrm>
          <a:prstGeom prst="rect">
            <a:avLst/>
          </a:prstGeom>
          <a:noFill/>
        </p:spPr>
        <p:txBody>
          <a:bodyPr wrap="square" lIns="0" tIns="0" rIns="0" bIns="0" anchor="t">
            <a:spAutoFit/>
          </a:bodyPr>
          <a:lstStyle/>
          <a:p>
            <a:pPr algn="l">
              <a:lnSpc>
                <a:spcPct val="115000"/>
              </a:lnSpc>
            </a:pPr>
            <a:r>
              <a:rPr sz="840" b="0" dirty="0">
                <a:solidFill>
                  <a:sysClr val="windowText" lastClr="000000"/>
                </a:solidFill>
                <a:latin typeface="游ゴシック" panose="020B0400000000000000" pitchFamily="50" charset="-128"/>
                <a:ea typeface="游ゴシック" panose="020B0400000000000000" pitchFamily="50" charset="-128"/>
              </a:rPr>
              <a:t>※出所：2025年11月期「旧定率法・定額法による固定資産減価償却内訳明細書」および「固定資産（土地・建物）の内訳書」。</a:t>
            </a:r>
          </a:p>
          <a:p>
            <a:pPr algn="l">
              <a:lnSpc>
                <a:spcPct val="115000"/>
              </a:lnSpc>
            </a:pPr>
            <a:r>
              <a:rPr sz="840" b="0" dirty="0">
                <a:solidFill>
                  <a:sysClr val="windowText" lastClr="000000"/>
                </a:solidFill>
                <a:latin typeface="游ゴシック" panose="020B0400000000000000" pitchFamily="50" charset="-128"/>
                <a:ea typeface="游ゴシック" panose="020B0400000000000000" pitchFamily="50" charset="-128"/>
              </a:rPr>
              <a:t>※BMW X7（取得原価13,541千円）は2025年11月期中に㈱Luck Autoへ7,562千円で売却し、固定資産売却損968千円を計上している（既存会社説明資料の「進行期に売却済」との記載とは相違。決算書ベースでは2025年11月期中の売却が正）。</a:t>
            </a:r>
          </a:p>
        </p:txBody>
      </p:sp>
    </p:spTree>
    <p:extLst>
      <p:ext uri="{BB962C8B-B14F-4D97-AF65-F5344CB8AC3E}">
        <p14:creationId xmlns:p14="http://schemas.microsoft.com/office/powerpoint/2010/main" val="3472027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576E1-4CA2-293A-375C-E82B2120C60F}"/>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DF72B822-F634-D170-9005-8B64C163518C}"/>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許認可一覧</a:t>
            </a:r>
          </a:p>
        </p:txBody>
      </p:sp>
      <p:sp>
        <p:nvSpPr>
          <p:cNvPr id="4" name="タイトル 1">
            <a:extLst>
              <a:ext uri="{FF2B5EF4-FFF2-40B4-BE49-F238E27FC236}">
                <a16:creationId xmlns:a16="http://schemas.microsoft.com/office/drawing/2014/main" id="{1B883D75-DF1B-E6E8-E329-BDF41BCB1618}"/>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組織、拠点、設備等</a:t>
            </a:r>
          </a:p>
        </p:txBody>
      </p:sp>
      <p:graphicFrame>
        <p:nvGraphicFramePr>
          <p:cNvPr id="3" name="表 2">
            <a:extLst>
              <a:ext uri="{FF2B5EF4-FFF2-40B4-BE49-F238E27FC236}">
                <a16:creationId xmlns:a16="http://schemas.microsoft.com/office/drawing/2014/main" id="{906F5ED1-443F-4DC0-AEC2-A15734FB921F}"/>
              </a:ext>
            </a:extLst>
          </p:cNvPr>
          <p:cNvGraphicFramePr>
            <a:graphicFrameLocks noGrp="1"/>
          </p:cNvGraphicFramePr>
          <p:nvPr>
            <p:extLst>
              <p:ext uri="{D42A27DB-BD31-4B8C-83A1-F6EECF244321}">
                <p14:modId xmlns:p14="http://schemas.microsoft.com/office/powerpoint/2010/main" val="511818016"/>
              </p:ext>
            </p:extLst>
          </p:nvPr>
        </p:nvGraphicFramePr>
        <p:xfrm>
          <a:off x="311150" y="1572768"/>
          <a:ext cx="7278624" cy="4736592"/>
        </p:xfrm>
        <a:graphic>
          <a:graphicData uri="http://schemas.openxmlformats.org/drawingml/2006/table">
            <a:tbl>
              <a:tblPr/>
              <a:tblGrid>
                <a:gridCol w="2331720">
                  <a:extLst>
                    <a:ext uri="{9D8B030D-6E8A-4147-A177-3AD203B41FA5}">
                      <a16:colId xmlns:a16="http://schemas.microsoft.com/office/drawing/2014/main" val="949900933"/>
                    </a:ext>
                  </a:extLst>
                </a:gridCol>
                <a:gridCol w="2697480">
                  <a:extLst>
                    <a:ext uri="{9D8B030D-6E8A-4147-A177-3AD203B41FA5}">
                      <a16:colId xmlns:a16="http://schemas.microsoft.com/office/drawing/2014/main" val="3765230895"/>
                    </a:ext>
                  </a:extLst>
                </a:gridCol>
                <a:gridCol w="2249424">
                  <a:extLst>
                    <a:ext uri="{9D8B030D-6E8A-4147-A177-3AD203B41FA5}">
                      <a16:colId xmlns:a16="http://schemas.microsoft.com/office/drawing/2014/main" val="2593979779"/>
                    </a:ext>
                  </a:extLst>
                </a:gridCol>
              </a:tblGrid>
              <a:tr h="256032">
                <a:tc gridSpan="3">
                  <a:txBody>
                    <a:bodyPr/>
                    <a:lstStyle/>
                    <a:p>
                      <a:pPr algn="l" fontAlgn="ctr">
                        <a:buNone/>
                      </a:pPr>
                      <a:r>
                        <a:rPr lang="ja-JP" sz="900" b="1" i="0" u="none" strike="noStrike">
                          <a:solidFill>
                            <a:srgbClr val="FFFFFF"/>
                          </a:solidFill>
                          <a:effectLst/>
                          <a:latin typeface="Yu Gothic" panose="020B0400000000000000" pitchFamily="50" charset="-128"/>
                          <a:ea typeface="Yu Gothic" panose="020B0400000000000000" pitchFamily="50" charset="-128"/>
                        </a:rPr>
                        <a:t>【第一種動物取扱業許可】</a:t>
                      </a:r>
                    </a:p>
                  </a:txBody>
                  <a:tcPr marL="0" marR="0" marT="0" marB="0" anchor="ctr">
                    <a:lnL>
                      <a:noFill/>
                    </a:lnL>
                    <a:lnR>
                      <a:noFill/>
                    </a:lnR>
                    <a:lnT>
                      <a:noFill/>
                    </a:lnT>
                    <a:lnB w="12700" cap="flat" cmpd="sng" algn="ctr">
                      <a:noFill/>
                      <a:prstDash val="solid"/>
                      <a:round/>
                      <a:headEnd type="none" w="med" len="med"/>
                      <a:tailEnd type="none" w="med" len="med"/>
                    </a:lnB>
                    <a:solidFill>
                      <a:srgbClr val="1F4E78"/>
                    </a:solidFill>
                  </a:tcPr>
                </a:tc>
                <a:tc hMerge="1">
                  <a:txBody>
                    <a:bodyPr/>
                    <a:lstStyle/>
                    <a:p>
                      <a:pPr algn="ctr" fontAlgn="ctr">
                        <a:buNone/>
                      </a:pPr>
                      <a:r>
                        <a:rPr lang="ja-JP" sz="900" b="1" i="0" u="none" strike="noStrike">
                          <a:solidFill>
                            <a:srgbClr val="000000"/>
                          </a:solidFill>
                          <a:effectLst/>
                          <a:latin typeface="Yu Gothic" panose="020B0400000000000000" pitchFamily="50" charset="-128"/>
                          <a:ea typeface="Yu Gothic" panose="020B0400000000000000" pitchFamily="50" charset="-128"/>
                        </a:rPr>
                        <a:t>　</a:t>
                      </a:r>
                    </a:p>
                  </a:txBody>
                  <a:tcPr/>
                </a:tc>
                <a:tc hMerge="1">
                  <a:txBody>
                    <a:bodyPr/>
                    <a:lstStyle/>
                    <a:p>
                      <a:pPr algn="ctr" fontAlgn="ctr">
                        <a:buNone/>
                      </a:pPr>
                      <a:r>
                        <a:rPr lang="ja-JP" sz="900" b="1" i="0" u="none" strike="noStrike">
                          <a:solidFill>
                            <a:srgbClr val="000000"/>
                          </a:solidFill>
                          <a:effectLst/>
                          <a:latin typeface="Yu Gothic" panose="020B0400000000000000" pitchFamily="50" charset="-128"/>
                          <a:ea typeface="Yu Gothic" panose="020B0400000000000000" pitchFamily="50" charset="-128"/>
                        </a:rPr>
                        <a:t>　</a:t>
                      </a:r>
                    </a:p>
                  </a:txBody>
                  <a:tcPr/>
                </a:tc>
                <a:extLst>
                  <a:ext uri="{0D108BD9-81ED-4DB2-BD59-A6C34878D82A}">
                    <a16:rowId xmlns:a16="http://schemas.microsoft.com/office/drawing/2014/main" val="96804639"/>
                  </a:ext>
                </a:extLst>
              </a:tr>
              <a:tr h="292608">
                <a:tc>
                  <a:txBody>
                    <a:bodyPr/>
                    <a:lstStyle/>
                    <a:p>
                      <a:pPr algn="ctr" fontAlgn="ctr">
                        <a:buNone/>
                      </a:pPr>
                      <a:r>
                        <a:rPr lang="ja-JP" sz="900" b="1" i="0" u="none" strike="noStrike" dirty="0">
                          <a:solidFill>
                            <a:srgbClr val="000000"/>
                          </a:solidFill>
                          <a:effectLst/>
                          <a:latin typeface="Yu Gothic" panose="020B0400000000000000" pitchFamily="50" charset="-128"/>
                          <a:ea typeface="Yu Gothic" panose="020B0400000000000000" pitchFamily="50" charset="-128"/>
                        </a:rPr>
                        <a:t>事業所</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D9EAF7"/>
                    </a:solidFill>
                  </a:tcPr>
                </a:tc>
                <a:tc>
                  <a:txBody>
                    <a:bodyPr/>
                    <a:lstStyle/>
                    <a:p>
                      <a:pPr algn="ctr" fontAlgn="ctr">
                        <a:buNone/>
                      </a:pPr>
                      <a:r>
                        <a:rPr lang="ja-JP" sz="900" b="1" i="0" u="none" strike="noStrike">
                          <a:solidFill>
                            <a:srgbClr val="000000"/>
                          </a:solidFill>
                          <a:effectLst/>
                          <a:latin typeface="Yu Gothic" panose="020B0400000000000000" pitchFamily="50" charset="-128"/>
                          <a:ea typeface="Yu Gothic" panose="020B0400000000000000" pitchFamily="50" charset="-128"/>
                        </a:rPr>
                        <a:t>種別・登録番号</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D9EAF7"/>
                    </a:solidFill>
                  </a:tcPr>
                </a:tc>
                <a:tc>
                  <a:txBody>
                    <a:bodyPr/>
                    <a:lstStyle/>
                    <a:p>
                      <a:pPr algn="ctr" fontAlgn="ctr">
                        <a:buNone/>
                      </a:pPr>
                      <a:r>
                        <a:rPr lang="ja-JP" sz="900" b="1" i="0" u="none" strike="noStrike">
                          <a:solidFill>
                            <a:srgbClr val="000000"/>
                          </a:solidFill>
                          <a:effectLst/>
                          <a:latin typeface="Yu Gothic" panose="020B0400000000000000" pitchFamily="50" charset="-128"/>
                          <a:ea typeface="Yu Gothic" panose="020B0400000000000000" pitchFamily="50" charset="-128"/>
                        </a:rPr>
                        <a:t>有効期間</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D9EAF7"/>
                    </a:solidFill>
                  </a:tcPr>
                </a:tc>
                <a:extLst>
                  <a:ext uri="{0D108BD9-81ED-4DB2-BD59-A6C34878D82A}">
                    <a16:rowId xmlns:a16="http://schemas.microsoft.com/office/drawing/2014/main" val="3741516062"/>
                  </a:ext>
                </a:extLst>
              </a:tr>
              <a:tr h="384048">
                <a:tc>
                  <a:txBody>
                    <a:bodyPr/>
                    <a:lstStyle/>
                    <a:p>
                      <a:pPr algn="ctr" fontAlgn="ctr">
                        <a:buNone/>
                      </a:pPr>
                      <a:r>
                        <a:rPr lang="ja-JP" sz="900" b="0" i="0" u="none" strike="noStrike" dirty="0">
                          <a:solidFill>
                            <a:srgbClr val="000000"/>
                          </a:solidFill>
                          <a:effectLst/>
                          <a:latin typeface="Yu Gothic" panose="020B0400000000000000" pitchFamily="50" charset="-128"/>
                          <a:ea typeface="Yu Gothic" panose="020B0400000000000000" pitchFamily="50" charset="-128"/>
                        </a:rPr>
                        <a:t>ワンラブ カインズホーム明和店</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a:solidFill>
                            <a:srgbClr val="000000"/>
                          </a:solidFill>
                          <a:effectLst/>
                          <a:latin typeface="Yu Gothic" panose="020B0400000000000000" pitchFamily="50" charset="-128"/>
                          <a:ea typeface="Yu Gothic" panose="020B0400000000000000" pitchFamily="50" charset="-128"/>
                        </a:rPr>
                        <a:t>販売：松販R3-3号／保管：松管R3-3号</a:t>
                      </a:r>
                    </a:p>
                  </a:txBody>
                  <a:tcPr marL="102894"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ja-JP" sz="900" b="0" i="0" u="none" strike="noStrike" dirty="0">
                          <a:solidFill>
                            <a:srgbClr val="000000"/>
                          </a:solidFill>
                          <a:effectLst/>
                          <a:latin typeface="Yu Gothic" panose="020B0400000000000000" pitchFamily="50" charset="-128"/>
                          <a:ea typeface="Yu Gothic" panose="020B0400000000000000" pitchFamily="50" charset="-128"/>
                        </a:rPr>
                        <a:t>2021年5月21日〜2026年5月20日</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8584039"/>
                  </a:ext>
                </a:extLst>
              </a:tr>
              <a:tr h="384048">
                <a:tc>
                  <a:txBody>
                    <a:bodyPr/>
                    <a:lstStyle/>
                    <a:p>
                      <a:pPr algn="ctr" fontAlgn="ctr">
                        <a:buNone/>
                      </a:pPr>
                      <a:r>
                        <a:rPr lang="ja-JP" sz="900" b="0" i="0" u="none" strike="noStrike" dirty="0">
                          <a:solidFill>
                            <a:srgbClr val="000000"/>
                          </a:solidFill>
                          <a:effectLst/>
                          <a:latin typeface="Yu Gothic" panose="020B0400000000000000" pitchFamily="50" charset="-128"/>
                          <a:ea typeface="Yu Gothic" panose="020B0400000000000000" pitchFamily="50" charset="-128"/>
                        </a:rPr>
                        <a:t>ワンラブ バローミタス伊勢店</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a:solidFill>
                            <a:srgbClr val="000000"/>
                          </a:solidFill>
                          <a:effectLst/>
                          <a:latin typeface="Yu Gothic" panose="020B0400000000000000" pitchFamily="50" charset="-128"/>
                          <a:ea typeface="Yu Gothic" panose="020B0400000000000000" pitchFamily="50" charset="-128"/>
                        </a:rPr>
                        <a:t>販売：伊販R第4-4号／保管：伊管R第4-3号</a:t>
                      </a:r>
                    </a:p>
                  </a:txBody>
                  <a:tcPr marL="102894"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ja-JP" sz="900" b="0" i="0" u="none" strike="noStrike" dirty="0">
                          <a:solidFill>
                            <a:srgbClr val="000000"/>
                          </a:solidFill>
                          <a:effectLst/>
                          <a:latin typeface="Yu Gothic" panose="020B0400000000000000" pitchFamily="50" charset="-128"/>
                          <a:ea typeface="Yu Gothic" panose="020B0400000000000000" pitchFamily="50" charset="-128"/>
                        </a:rPr>
                        <a:t>2023年3月8日〜2028年3月7日</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54887001"/>
                  </a:ext>
                </a:extLst>
              </a:tr>
              <a:tr h="384048">
                <a:tc>
                  <a:txBody>
                    <a:bodyPr/>
                    <a:lstStyle/>
                    <a:p>
                      <a:pPr algn="ctr" fontAlgn="ctr">
                        <a:buNone/>
                      </a:pPr>
                      <a:r>
                        <a:rPr lang="ja-JP" sz="900" b="0" i="0" u="none" strike="noStrike" dirty="0">
                          <a:solidFill>
                            <a:srgbClr val="000000"/>
                          </a:solidFill>
                          <a:effectLst/>
                          <a:latin typeface="Yu Gothic" panose="020B0400000000000000" pitchFamily="50" charset="-128"/>
                          <a:ea typeface="Yu Gothic" panose="020B0400000000000000" pitchFamily="50" charset="-128"/>
                        </a:rPr>
                        <a:t>ワンラブ ホームセンターバロー久居店</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dirty="0">
                          <a:solidFill>
                            <a:srgbClr val="000000"/>
                          </a:solidFill>
                          <a:effectLst/>
                          <a:latin typeface="Yu Gothic" panose="020B0400000000000000" pitchFamily="50" charset="-128"/>
                          <a:ea typeface="Yu Gothic" panose="020B0400000000000000" pitchFamily="50" charset="-128"/>
                        </a:rPr>
                        <a:t>販売：津販R第3-4号／保管：津管R第3-1号</a:t>
                      </a:r>
                    </a:p>
                  </a:txBody>
                  <a:tcPr marL="102894"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ja-JP" sz="900" b="0" i="0" u="none" strike="noStrike" dirty="0">
                          <a:solidFill>
                            <a:srgbClr val="000000"/>
                          </a:solidFill>
                          <a:effectLst/>
                          <a:latin typeface="Yu Gothic" panose="020B0400000000000000" pitchFamily="50" charset="-128"/>
                          <a:ea typeface="Yu Gothic" panose="020B0400000000000000" pitchFamily="50" charset="-128"/>
                        </a:rPr>
                        <a:t>2021年5月21日〜2026年5月20日</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3714912"/>
                  </a:ext>
                </a:extLst>
              </a:tr>
              <a:tr h="384048">
                <a:tc>
                  <a:txBody>
                    <a:bodyPr/>
                    <a:lstStyle/>
                    <a:p>
                      <a:pPr algn="ctr" fontAlgn="ctr">
                        <a:buNone/>
                      </a:pPr>
                      <a:r>
                        <a:rPr lang="ja-JP" sz="900" b="0" i="0" u="none" strike="noStrike" dirty="0">
                          <a:solidFill>
                            <a:srgbClr val="000000"/>
                          </a:solidFill>
                          <a:effectLst/>
                          <a:latin typeface="Yu Gothic" panose="020B0400000000000000" pitchFamily="50" charset="-128"/>
                          <a:ea typeface="Yu Gothic" panose="020B0400000000000000" pitchFamily="50" charset="-128"/>
                        </a:rPr>
                        <a:t>ワンラブ アクアウォーク大垣店 ※2026年2月撤退</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dirty="0">
                          <a:solidFill>
                            <a:srgbClr val="000000"/>
                          </a:solidFill>
                          <a:effectLst/>
                          <a:latin typeface="Yu Gothic" panose="020B0400000000000000" pitchFamily="50" charset="-128"/>
                          <a:ea typeface="Yu Gothic" panose="020B0400000000000000" pitchFamily="50" charset="-128"/>
                        </a:rPr>
                        <a:t>販売：第030253号／保管：第030254号</a:t>
                      </a:r>
                    </a:p>
                  </a:txBody>
                  <a:tcPr marL="102894"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ja-JP" sz="900" b="0" i="0" u="none" strike="noStrike" dirty="0">
                          <a:solidFill>
                            <a:srgbClr val="000000"/>
                          </a:solidFill>
                          <a:effectLst/>
                          <a:latin typeface="Yu Gothic" panose="020B0400000000000000" pitchFamily="50" charset="-128"/>
                          <a:ea typeface="Yu Gothic" panose="020B0400000000000000" pitchFamily="50" charset="-128"/>
                        </a:rPr>
                        <a:t>2021年11月30日〜2026年11月29日</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2721288"/>
                  </a:ext>
                </a:extLst>
              </a:tr>
              <a:tr h="384048">
                <a:tc>
                  <a:txBody>
                    <a:bodyPr/>
                    <a:lstStyle/>
                    <a:p>
                      <a:pPr algn="ctr" fontAlgn="ctr">
                        <a:buNone/>
                      </a:pPr>
                      <a:r>
                        <a:rPr lang="ja-JP" sz="900" b="0" i="0" u="none" strike="noStrike" dirty="0">
                          <a:solidFill>
                            <a:srgbClr val="000000"/>
                          </a:solidFill>
                          <a:effectLst/>
                          <a:latin typeface="Yu Gothic" panose="020B0400000000000000" pitchFamily="50" charset="-128"/>
                          <a:ea typeface="Yu Gothic" panose="020B0400000000000000" pitchFamily="50" charset="-128"/>
                        </a:rPr>
                        <a:t>ワンラブ ペットプラザ岐阜店 ※2026年1月撤退</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a:solidFill>
                            <a:srgbClr val="000000"/>
                          </a:solidFill>
                          <a:effectLst/>
                          <a:latin typeface="Yu Gothic" panose="020B0400000000000000" pitchFamily="50" charset="-128"/>
                          <a:ea typeface="Yu Gothic" panose="020B0400000000000000" pitchFamily="50" charset="-128"/>
                        </a:rPr>
                        <a:t>販売：第120349号／保管：第120350号</a:t>
                      </a:r>
                    </a:p>
                  </a:txBody>
                  <a:tcPr marL="102894"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ja-JP" sz="900" b="0" i="0" u="none" strike="noStrike" dirty="0">
                          <a:solidFill>
                            <a:srgbClr val="000000"/>
                          </a:solidFill>
                          <a:effectLst/>
                          <a:latin typeface="Yu Gothic" panose="020B0400000000000000" pitchFamily="50" charset="-128"/>
                          <a:ea typeface="Yu Gothic" panose="020B0400000000000000" pitchFamily="50" charset="-128"/>
                        </a:rPr>
                        <a:t>2022年2月1日〜2027年1月31日</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8584039"/>
                  </a:ext>
                </a:extLst>
              </a:tr>
              <a:tr h="384048">
                <a:tc>
                  <a:txBody>
                    <a:bodyPr/>
                    <a:lstStyle/>
                    <a:p>
                      <a:pPr algn="ctr" fontAlgn="ctr">
                        <a:buNone/>
                      </a:pPr>
                      <a:r>
                        <a:rPr lang="ja-JP" sz="900" b="0" i="0" u="none" strike="noStrike" dirty="0">
                          <a:solidFill>
                            <a:srgbClr val="000000"/>
                          </a:solidFill>
                          <a:effectLst/>
                          <a:latin typeface="Yu Gothic" panose="020B0400000000000000" pitchFamily="50" charset="-128"/>
                          <a:ea typeface="Yu Gothic" panose="020B0400000000000000" pitchFamily="50" charset="-128"/>
                        </a:rPr>
                        <a:t>ワンラブ ドン・キホーテ緑店</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a:solidFill>
                            <a:srgbClr val="000000"/>
                          </a:solidFill>
                          <a:effectLst/>
                          <a:latin typeface="Yu Gothic" panose="020B0400000000000000" pitchFamily="50" charset="-128"/>
                          <a:ea typeface="Yu Gothic" panose="020B0400000000000000" pitchFamily="50" charset="-128"/>
                        </a:rPr>
                        <a:t>販売：第061485号／保管：第061486号</a:t>
                      </a:r>
                    </a:p>
                  </a:txBody>
                  <a:tcPr marL="102894"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ja-JP" sz="900" b="0" i="0" u="none" strike="noStrike" dirty="0">
                          <a:solidFill>
                            <a:srgbClr val="000000"/>
                          </a:solidFill>
                          <a:effectLst/>
                          <a:latin typeface="Yu Gothic" panose="020B0400000000000000" pitchFamily="50" charset="-128"/>
                          <a:ea typeface="Yu Gothic" panose="020B0400000000000000" pitchFamily="50" charset="-128"/>
                        </a:rPr>
                        <a:t>2024年7月1日〜2029年6月30日</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8584039"/>
                  </a:ext>
                </a:extLst>
              </a:tr>
              <a:tr h="384048">
                <a:tc>
                  <a:txBody>
                    <a:bodyPr/>
                    <a:lstStyle/>
                    <a:p>
                      <a:pPr algn="ctr" fontAlgn="ctr">
                        <a:buNone/>
                      </a:pPr>
                      <a:r>
                        <a:rPr lang="ja-JP" sz="900" b="0" i="0" u="none" strike="noStrike" dirty="0">
                          <a:solidFill>
                            <a:srgbClr val="000000"/>
                          </a:solidFill>
                          <a:effectLst/>
                          <a:latin typeface="Yu Gothic" panose="020B0400000000000000" pitchFamily="50" charset="-128"/>
                          <a:ea typeface="Yu Gothic" panose="020B0400000000000000" pitchFamily="50" charset="-128"/>
                        </a:rPr>
                        <a:t>おっきなもふもふ応援隊 岐阜総本店</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a:solidFill>
                            <a:srgbClr val="000000"/>
                          </a:solidFill>
                          <a:effectLst/>
                          <a:latin typeface="Yu Gothic" panose="020B0400000000000000" pitchFamily="50" charset="-128"/>
                          <a:ea typeface="Yu Gothic" panose="020B0400000000000000" pitchFamily="50" charset="-128"/>
                        </a:rPr>
                        <a:t>販売：第010309号／保管：第010310号</a:t>
                      </a:r>
                    </a:p>
                  </a:txBody>
                  <a:tcPr marL="102894"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ja-JP" sz="900" b="0" i="0" u="none" strike="noStrike" dirty="0">
                          <a:solidFill>
                            <a:srgbClr val="000000"/>
                          </a:solidFill>
                          <a:effectLst/>
                          <a:latin typeface="Yu Gothic" panose="020B0400000000000000" pitchFamily="50" charset="-128"/>
                          <a:ea typeface="Yu Gothic" panose="020B0400000000000000" pitchFamily="50" charset="-128"/>
                        </a:rPr>
                        <a:t>2023年6月6日〜2028年6月5日</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8584039"/>
                  </a:ext>
                </a:extLst>
              </a:tr>
              <a:tr h="384048">
                <a:tc>
                  <a:txBody>
                    <a:bodyPr/>
                    <a:lstStyle/>
                    <a:p>
                      <a:pPr algn="ctr" fontAlgn="ctr">
                        <a:buNone/>
                      </a:pPr>
                      <a:r>
                        <a:rPr lang="ja-JP" sz="900" b="0" i="0" u="none" strike="noStrike" dirty="0">
                          <a:solidFill>
                            <a:srgbClr val="000000"/>
                          </a:solidFill>
                          <a:effectLst/>
                          <a:latin typeface="Yu Gothic" panose="020B0400000000000000" pitchFamily="50" charset="-128"/>
                          <a:ea typeface="Yu Gothic" panose="020B0400000000000000" pitchFamily="50" charset="-128"/>
                        </a:rPr>
                        <a:t>おっきなもふもふ応援隊 大阪総本店</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900" b="0" i="0" u="none" strike="noStrike">
                          <a:solidFill>
                            <a:srgbClr val="000000"/>
                          </a:solidFill>
                          <a:effectLst/>
                          <a:latin typeface="Yu Gothic" panose="020B0400000000000000" pitchFamily="50" charset="-128"/>
                          <a:ea typeface="Yu Gothic" panose="020B0400000000000000" pitchFamily="50" charset="-128"/>
                        </a:rPr>
                        <a:t>販売：第4805-1号／保管：第4805-2号</a:t>
                      </a:r>
                    </a:p>
                  </a:txBody>
                  <a:tcPr marL="102894"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ja-JP" sz="900" b="0" i="0" u="none" strike="noStrike" dirty="0">
                          <a:solidFill>
                            <a:srgbClr val="000000"/>
                          </a:solidFill>
                          <a:effectLst/>
                          <a:latin typeface="Yu Gothic" panose="020B0400000000000000" pitchFamily="50" charset="-128"/>
                          <a:ea typeface="Yu Gothic" panose="020B0400000000000000" pitchFamily="50" charset="-128"/>
                        </a:rPr>
                        <a:t>2024年10月8日〜2029年10月7日</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8584039"/>
                  </a:ext>
                </a:extLst>
              </a:tr>
              <a:tr h="182880">
                <a:tc>
                  <a:txBody>
                    <a:bodyPr/>
                    <a:lstStyle/>
                    <a:p>
                      <a:pPr algn="l" fontAlgn="ctr">
                        <a:buNone/>
                      </a:pPr>
                      <a:r>
                        <a:rPr lang="ja-JP" sz="900" b="1" i="0" u="none" strike="noStrike">
                          <a:solidFill>
                            <a:srgbClr val="FFFFFF"/>
                          </a:solidFill>
                          <a:effectLst/>
                          <a:latin typeface="Yu Gothic" panose="020B0400000000000000" pitchFamily="50" charset="-128"/>
                          <a:ea typeface="Yu Gothic" panose="020B0400000000000000" pitchFamily="50" charset="-128"/>
                        </a:rPr>
                        <a:t>　</a:t>
                      </a:r>
                    </a:p>
                  </a:txBody>
                  <a:tcPr marL="0" marR="0" marT="0" marB="0" anchor="b">
                    <a:lnL>
                      <a:noFill/>
                    </a:lnL>
                    <a:lnR>
                      <a:noFill/>
                    </a:lnR>
                    <a:lnT w="12700" cap="flat" cmpd="sng" algn="ctr">
                      <a:noFill/>
                      <a:prstDash val="solid"/>
                      <a:round/>
                      <a:headEnd type="none" w="med" len="med"/>
                      <a:tailEnd type="none" w="med" len="med"/>
                    </a:lnT>
                    <a:lnB>
                      <a:noFill/>
                    </a:lnB>
                    <a:noFill/>
                  </a:tcPr>
                </a:tc>
                <a:tc>
                  <a:txBody>
                    <a:bodyPr/>
                    <a:lstStyle/>
                    <a:p>
                      <a:pPr algn="l" fontAlgn="ctr">
                        <a:buNone/>
                      </a:pPr>
                      <a:r>
                        <a:rPr lang="ja-JP" sz="900" b="0" i="0" u="none" strike="noStrike">
                          <a:solidFill>
                            <a:srgbClr val="000000"/>
                          </a:solidFill>
                          <a:effectLst/>
                          <a:latin typeface="Yu Gothic" panose="020B0400000000000000" pitchFamily="50" charset="-128"/>
                          <a:ea typeface="Yu Gothic" panose="020B0400000000000000" pitchFamily="50" charset="-128"/>
                        </a:rPr>
                        <a:t>　</a:t>
                      </a:r>
                    </a:p>
                  </a:txBody>
                  <a:tcPr marL="0" marR="0" marT="0" marB="0" anchor="b">
                    <a:lnL>
                      <a:noFill/>
                    </a:lnL>
                    <a:lnR>
                      <a:noFill/>
                    </a:lnR>
                    <a:lnT w="12700" cap="flat" cmpd="sng" algn="ctr">
                      <a:noFill/>
                      <a:prstDash val="solid"/>
                      <a:round/>
                      <a:headEnd type="none" w="med" len="med"/>
                      <a:tailEnd type="none" w="med" len="med"/>
                    </a:lnT>
                    <a:lnB>
                      <a:noFill/>
                    </a:lnB>
                    <a:noFill/>
                  </a:tcPr>
                </a:tc>
                <a:tc>
                  <a:txBody>
                    <a:bodyPr/>
                    <a:lstStyle/>
                    <a:p>
                      <a:pPr algn="ctr" fontAlgn="ctr">
                        <a:buNone/>
                      </a:pPr>
                      <a:r>
                        <a:rPr lang="en-US" altLang="ja-JP" sz="900" b="0" i="0" u="none" strike="noStrike" dirty="0">
                          <a:solidFill>
                            <a:srgbClr val="000000"/>
                          </a:solidFill>
                          <a:effectLst/>
                          <a:latin typeface="Yu Gothic" panose="020B0400000000000000" pitchFamily="50" charset="-128"/>
                          <a:ea typeface="Yu Gothic" panose="020B0400000000000000" pitchFamily="50" charset="-128"/>
                        </a:rPr>
                        <a:t>　</a:t>
                      </a:r>
                    </a:p>
                  </a:txBody>
                  <a:tcPr marL="0" marR="0" marT="0" marB="0" anchor="b">
                    <a:lnL>
                      <a:noFill/>
                    </a:lnL>
                    <a:lnR>
                      <a:noFill/>
                    </a:lnR>
                    <a:lnT w="12700" cap="flat" cmpd="sng" algn="ctr">
                      <a:noFill/>
                      <a:prstDash val="solid"/>
                      <a:round/>
                      <a:headEnd type="none" w="med" len="med"/>
                      <a:tailEnd type="none" w="med" len="med"/>
                    </a:lnT>
                    <a:lnB>
                      <a:noFill/>
                    </a:lnB>
                    <a:noFill/>
                  </a:tcPr>
                </a:tc>
                <a:extLst>
                  <a:ext uri="{0D108BD9-81ED-4DB2-BD59-A6C34878D82A}">
                    <a16:rowId xmlns:a16="http://schemas.microsoft.com/office/drawing/2014/main" val="4187167268"/>
                  </a:ext>
                </a:extLst>
              </a:tr>
              <a:tr h="256032">
                <a:tc gridSpan="3">
                  <a:txBody>
                    <a:bodyPr/>
                    <a:lstStyle/>
                    <a:p>
                      <a:pPr algn="l" fontAlgn="ctr">
                        <a:buNone/>
                      </a:pPr>
                      <a:r>
                        <a:rPr lang="ja-JP" sz="900" b="1" i="0" u="none" strike="noStrike">
                          <a:solidFill>
                            <a:srgbClr val="FFFFFF"/>
                          </a:solidFill>
                          <a:effectLst/>
                          <a:latin typeface="Yu Gothic" panose="020B0400000000000000" pitchFamily="50" charset="-128"/>
                          <a:ea typeface="Yu Gothic" panose="020B0400000000000000" pitchFamily="50" charset="-128"/>
                        </a:rPr>
                        <a:t>【その他】</a:t>
                      </a:r>
                    </a:p>
                  </a:txBody>
                  <a:tcPr marL="0" marR="0" marT="0" marB="0" anchor="ctr">
                    <a:lnL>
                      <a:noFill/>
                    </a:lnL>
                    <a:lnR>
                      <a:noFill/>
                    </a:lnR>
                    <a:lnT>
                      <a:noFill/>
                    </a:lnT>
                    <a:lnB w="12700" cap="flat" cmpd="sng" algn="ctr">
                      <a:noFill/>
                      <a:prstDash val="solid"/>
                      <a:round/>
                      <a:headEnd type="none" w="med" len="med"/>
                      <a:tailEnd type="none" w="med" len="med"/>
                    </a:lnB>
                    <a:solidFill>
                      <a:srgbClr val="1F4E78"/>
                    </a:solidFill>
                  </a:tcPr>
                </a:tc>
                <a:tc hMerge="1">
                  <a:txBody>
                    <a:bodyPr/>
                    <a:lstStyle/>
                    <a:p>
                      <a:pPr algn="ctr" fontAlgn="ctr">
                        <a:buNone/>
                      </a:pPr>
                      <a:r>
                        <a:rPr lang="ja-JP" sz="900" b="1" i="0" u="none" strike="noStrike">
                          <a:solidFill>
                            <a:srgbClr val="000000"/>
                          </a:solidFill>
                          <a:effectLst/>
                          <a:latin typeface="Yu Gothic" panose="020B0400000000000000" pitchFamily="50" charset="-128"/>
                          <a:ea typeface="Yu Gothic" panose="020B0400000000000000" pitchFamily="50" charset="-128"/>
                        </a:rPr>
                        <a:t>　</a:t>
                      </a:r>
                    </a:p>
                  </a:txBody>
                  <a:tcPr/>
                </a:tc>
                <a:tc hMerge="1">
                  <a:txBody>
                    <a:bodyPr/>
                    <a:lstStyle/>
                    <a:p>
                      <a:pPr algn="ctr" fontAlgn="ctr">
                        <a:buNone/>
                      </a:pPr>
                      <a:r>
                        <a:rPr lang="ja-JP" sz="900" b="1" i="0" u="none" strike="noStrike">
                          <a:solidFill>
                            <a:srgbClr val="000000"/>
                          </a:solidFill>
                          <a:effectLst/>
                          <a:latin typeface="Yu Gothic" panose="020B0400000000000000" pitchFamily="50" charset="-128"/>
                          <a:ea typeface="Yu Gothic" panose="020B0400000000000000" pitchFamily="50" charset="-128"/>
                        </a:rPr>
                        <a:t>　</a:t>
                      </a:r>
                    </a:p>
                  </a:txBody>
                  <a:tcPr/>
                </a:tc>
                <a:extLst>
                  <a:ext uri="{0D108BD9-81ED-4DB2-BD59-A6C34878D82A}">
                    <a16:rowId xmlns:a16="http://schemas.microsoft.com/office/drawing/2014/main" val="3844147814"/>
                  </a:ext>
                </a:extLst>
              </a:tr>
              <a:tr h="292608">
                <a:tc>
                  <a:txBody>
                    <a:bodyPr/>
                    <a:lstStyle/>
                    <a:p>
                      <a:pPr algn="ctr" fontAlgn="ctr">
                        <a:buNone/>
                      </a:pPr>
                      <a:r>
                        <a:rPr lang="ja-JP" sz="900" b="1" i="0" u="none" strike="noStrike" dirty="0">
                          <a:solidFill>
                            <a:srgbClr val="000000"/>
                          </a:solidFill>
                          <a:effectLst/>
                          <a:latin typeface="Yu Gothic" panose="020B0400000000000000" pitchFamily="50" charset="-128"/>
                          <a:ea typeface="Yu Gothic" panose="020B0400000000000000" pitchFamily="50" charset="-128"/>
                        </a:rPr>
                        <a:t>名称</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D9EAF7"/>
                    </a:solidFill>
                  </a:tcPr>
                </a:tc>
                <a:tc>
                  <a:txBody>
                    <a:bodyPr/>
                    <a:lstStyle/>
                    <a:p>
                      <a:pPr algn="ctr" fontAlgn="ctr">
                        <a:buNone/>
                      </a:pPr>
                      <a:r>
                        <a:rPr lang="ja-JP" sz="900" b="1" i="0" u="none" strike="noStrike">
                          <a:solidFill>
                            <a:srgbClr val="000000"/>
                          </a:solidFill>
                          <a:effectLst/>
                          <a:latin typeface="Yu Gothic" panose="020B0400000000000000" pitchFamily="50" charset="-128"/>
                          <a:ea typeface="Yu Gothic" panose="020B0400000000000000" pitchFamily="50" charset="-128"/>
                        </a:rPr>
                        <a:t>内容</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D9EAF7"/>
                    </a:solidFill>
                  </a:tcPr>
                </a:tc>
                <a:tc>
                  <a:txBody>
                    <a:bodyPr/>
                    <a:lstStyle/>
                    <a:p>
                      <a:pPr algn="ctr" fontAlgn="ctr">
                        <a:buNone/>
                      </a:pPr>
                      <a:r>
                        <a:rPr lang="ja-JP" sz="900" b="1" i="0" u="none" strike="noStrike">
                          <a:solidFill>
                            <a:srgbClr val="000000"/>
                          </a:solidFill>
                          <a:effectLst/>
                          <a:latin typeface="Yu Gothic" panose="020B0400000000000000" pitchFamily="50" charset="-128"/>
                          <a:ea typeface="Yu Gothic" panose="020B0400000000000000" pitchFamily="50" charset="-128"/>
                        </a:rPr>
                        <a:t>取得・認定日</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D9EAF7"/>
                    </a:solidFill>
                  </a:tcPr>
                </a:tc>
                <a:extLst>
                  <a:ext uri="{0D108BD9-81ED-4DB2-BD59-A6C34878D82A}">
                    <a16:rowId xmlns:a16="http://schemas.microsoft.com/office/drawing/2014/main" val="2077243730"/>
                  </a:ext>
                </a:extLst>
              </a:tr>
              <a:tr h="384048">
                <a:tc>
                  <a:txBody>
                    <a:bodyPr/>
                    <a:lstStyle/>
                    <a:p>
                      <a:pPr algn="ctr" fontAlgn="ctr">
                        <a:buNone/>
                      </a:pPr>
                      <a:r>
                        <a:rPr lang="ja-JP" sz="900" b="0" i="0" u="none" strike="noStrike" dirty="0">
                          <a:solidFill>
                            <a:srgbClr val="000000"/>
                          </a:solidFill>
                          <a:effectLst/>
                          <a:latin typeface="Yu Gothic" panose="020B0400000000000000" pitchFamily="50" charset="-128"/>
                          <a:ea typeface="Yu Gothic" panose="020B0400000000000000" pitchFamily="50" charset="-128"/>
                        </a:rPr>
                        <a:t>認定</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900" b="0" i="0" u="none" strike="noStrike" dirty="0">
                          <a:solidFill>
                            <a:srgbClr val="000000"/>
                          </a:solidFill>
                          <a:effectLst/>
                          <a:latin typeface="Yu Gothic" panose="020B0400000000000000" pitchFamily="50" charset="-128"/>
                          <a:ea typeface="Yu Gothic" panose="020B0400000000000000" pitchFamily="50" charset="-128"/>
                        </a:rPr>
                        <a:t>「ぎふSDGs推進パートナー」ゴールドパートナー</a:t>
                      </a:r>
                    </a:p>
                  </a:txBody>
                  <a:tcPr marL="102894"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ctr">
                        <a:buNone/>
                      </a:pPr>
                      <a:r>
                        <a:rPr lang="en-US" altLang="ja-JP" sz="900" b="0" i="0" u="none" strike="noStrike" dirty="0">
                          <a:solidFill>
                            <a:srgbClr val="000000"/>
                          </a:solidFill>
                          <a:effectLst/>
                          <a:latin typeface="Yu Gothic" panose="020B0400000000000000" pitchFamily="50" charset="-128"/>
                          <a:ea typeface="Yu Gothic" panose="020B0400000000000000" pitchFamily="50" charset="-128"/>
                        </a:rPr>
                        <a:t>2023年12月</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536647393"/>
                  </a:ext>
                </a:extLst>
              </a:tr>
            </a:tbl>
          </a:graphicData>
        </a:graphic>
      </p:graphicFrame>
      <p:sp>
        <p:nvSpPr>
          <p:cNvPr id="9" name="字幕 13">
            <a:extLst>
              <a:ext uri="{FF2B5EF4-FFF2-40B4-BE49-F238E27FC236}">
                <a16:creationId xmlns:a16="http://schemas.microsoft.com/office/drawing/2014/main" id="{C67BBAB2-F39C-2CF9-AEE1-8D09DEE08EBD}"/>
              </a:ext>
            </a:extLst>
          </p:cNvPr>
          <p:cNvSpPr>
            <a:spLocks noGrp="1"/>
          </p:cNvSpPr>
          <p:nvPr>
            <p:ph type="subTitle" idx="1"/>
          </p:nvPr>
        </p:nvSpPr>
        <p:spPr>
          <a:xfrm>
            <a:off x="460675" y="830046"/>
            <a:ext cx="9781875" cy="241861"/>
          </a:xfrm>
        </p:spPr>
        <p:txBody>
          <a:bodyPr>
            <a:noAutofit/>
          </a:bodyPr>
          <a:lstStyle/>
          <a:p>
            <a:r>
              <a:rPr lang="en-US" altLang="ja-JP" dirty="0">
                <a:latin typeface="+mj-ea"/>
              </a:rPr>
              <a:t>第一種動物取扱業の許可は事業所ごとに「販売」「保管」の2種別を取得しており、撤退2店舗を含む8事業所分を記載している。明和店・久居店は2026年5月20日に有効期間が満了しており、更新手続の状況が論点。</a:t>
            </a:r>
            <a:endParaRPr lang="en-US" altLang="ja-JP" dirty="0"/>
          </a:p>
        </p:txBody>
      </p:sp>
      <p:sp>
        <p:nvSpPr>
          <p:cNvPr id="14" name="TextBox 13"/>
          <p:cNvSpPr txBox="1"/>
          <p:nvPr/>
        </p:nvSpPr>
        <p:spPr>
          <a:xfrm>
            <a:off x="7726679" y="1572768"/>
            <a:ext cx="2514600" cy="3291840"/>
          </a:xfrm>
          <a:prstGeom prst="rect">
            <a:avLst/>
          </a:prstGeom>
          <a:noFill/>
        </p:spPr>
        <p:txBody>
          <a:bodyPr wrap="square">
            <a:spAutoFit/>
          </a:bodyPr>
          <a:lstStyle/>
          <a:p>
            <a:pPr>
              <a:spcAft>
                <a:spcPts val="600"/>
              </a:spcAft>
            </a:pPr>
            <a:r>
              <a:rPr sz="900">
                <a:latin typeface="游ゴシック Medium"/>
              </a:rPr>
              <a:t>【留意点】</a:t>
            </a:r>
          </a:p>
          <a:p>
            <a:pPr>
              <a:spcAft>
                <a:spcPts val="600"/>
              </a:spcAft>
            </a:pPr>
            <a:r>
              <a:rPr sz="900">
                <a:latin typeface="游ゴシック Medium"/>
              </a:rPr>
              <a:t>■ 第一種動物取扱業許可は事業所ごとに「販売」「保管」の2種別を取得。2025年11月期末時点の8事業所分を記載している。</a:t>
            </a:r>
          </a:p>
          <a:p>
            <a:pPr>
              <a:spcAft>
                <a:spcPts val="600"/>
              </a:spcAft>
            </a:pPr>
            <a:r>
              <a:rPr sz="900">
                <a:latin typeface="游ゴシック Medium"/>
              </a:rPr>
              <a:t>■ 明和店・久居店は2026年5月20日に有効期間が満了しており、更新手続の状況を要確認。</a:t>
            </a:r>
          </a:p>
          <a:p>
            <a:pPr>
              <a:spcAft>
                <a:spcPts val="600"/>
              </a:spcAft>
            </a:pPr>
            <a:r>
              <a:rPr sz="900">
                <a:latin typeface="游ゴシック Medium"/>
              </a:rPr>
              <a:t>■ 撤退したアクアウォーク大垣店・ペットプラザ岐阜店について、廃業届の提出状況を要確認。</a:t>
            </a:r>
          </a:p>
          <a:p>
            <a:pPr>
              <a:spcAft>
                <a:spcPts val="600"/>
              </a:spcAft>
            </a:pPr>
            <a:r>
              <a:rPr sz="900">
                <a:latin typeface="游ゴシック Medium"/>
              </a:rPr>
              <a:t>■ 各事業所には動物取扱責任者が配置されている（緑店・大垣管理センターは現場責任者の淺野崇氏が兼務）。責任者の退職時における代替要員の確保は要確認。</a:t>
            </a:r>
          </a:p>
          <a:p>
            <a:pPr>
              <a:spcAft>
                <a:spcPts val="600"/>
              </a:spcAft>
            </a:pPr>
            <a:r>
              <a:rPr sz="900">
                <a:latin typeface="游ゴシック Medium"/>
              </a:rPr>
              <a:t>■ 上記のほか、就業規則の届出（10名以上の事業所ごと）があるが、内容は確認中。</a:t>
            </a:r>
          </a:p>
        </p:txBody>
      </p:sp>
    </p:spTree>
    <p:extLst>
      <p:ext uri="{BB962C8B-B14F-4D97-AF65-F5344CB8AC3E}">
        <p14:creationId xmlns:p14="http://schemas.microsoft.com/office/powerpoint/2010/main" val="19442777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7F8BB-F852-9D0D-47DC-B75AAADC3F2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2D80B5D-88ED-D63E-E6F8-E5830356F6CE}"/>
              </a:ext>
            </a:extLst>
          </p:cNvPr>
          <p:cNvSpPr>
            <a:spLocks noGrp="1"/>
          </p:cNvSpPr>
          <p:nvPr>
            <p:ph type="title"/>
          </p:nvPr>
        </p:nvSpPr>
        <p:spPr>
          <a:xfrm>
            <a:off x="989013" y="3656161"/>
            <a:ext cx="9221787" cy="615553"/>
          </a:xfrm>
        </p:spPr>
        <p:txBody>
          <a:bodyPr/>
          <a:lstStyle/>
          <a:p>
            <a:r>
              <a:rPr lang="ja-JP" altLang="en-US" dirty="0"/>
              <a:t>財務情報詳細</a:t>
            </a:r>
            <a:endParaRPr lang="en-US" altLang="ja-JP" dirty="0"/>
          </a:p>
        </p:txBody>
      </p:sp>
      <p:pic>
        <p:nvPicPr>
          <p:cNvPr id="7" name="図 6">
            <a:extLst>
              <a:ext uri="{FF2B5EF4-FFF2-40B4-BE49-F238E27FC236}">
                <a16:creationId xmlns:a16="http://schemas.microsoft.com/office/drawing/2014/main" id="{8C09C92A-09D2-050E-A69D-9DE4E20EEFE4}"/>
              </a:ext>
            </a:extLst>
          </p:cNvPr>
          <p:cNvPicPr>
            <a:picLocks noChangeAspect="1"/>
          </p:cNvPicPr>
          <p:nvPr/>
        </p:nvPicPr>
        <p:blipFill>
          <a:blip/>
          <a:stretch>
            <a:fillRect/>
          </a:stretch>
        </p:blipFill>
        <p:spPr>
          <a:xfrm>
            <a:off x="7776467" y="3981785"/>
            <a:ext cx="21" cy="20"/>
          </a:xfrm>
          <a:prstGeom prst="rect">
            <a:avLst/>
          </a:prstGeom>
        </p:spPr>
      </p:pic>
      <p:pic>
        <p:nvPicPr>
          <p:cNvPr id="9" name="図 8">
            <a:extLst>
              <a:ext uri="{FF2B5EF4-FFF2-40B4-BE49-F238E27FC236}">
                <a16:creationId xmlns:a16="http://schemas.microsoft.com/office/drawing/2014/main" id="{A963349D-952A-7D05-26B2-AC270183F230}"/>
              </a:ext>
            </a:extLst>
          </p:cNvPr>
          <p:cNvPicPr>
            <a:picLocks noChangeAspect="1"/>
          </p:cNvPicPr>
          <p:nvPr/>
        </p:nvPicPr>
        <p:blipFill>
          <a:blip/>
          <a:stretch>
            <a:fillRect/>
          </a:stretch>
        </p:blipFill>
        <p:spPr>
          <a:xfrm>
            <a:off x="7776467" y="3981785"/>
            <a:ext cx="21" cy="20"/>
          </a:xfrm>
          <a:prstGeom prst="rect">
            <a:avLst/>
          </a:prstGeom>
        </p:spPr>
      </p:pic>
    </p:spTree>
    <p:extLst>
      <p:ext uri="{BB962C8B-B14F-4D97-AF65-F5344CB8AC3E}">
        <p14:creationId xmlns:p14="http://schemas.microsoft.com/office/powerpoint/2010/main" val="15844496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B347B-E74F-2AA1-D695-C8F2C57E0D27}"/>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8AB158FB-2AD5-0994-A1DD-08907F35E57B}"/>
              </a:ext>
            </a:extLst>
          </p:cNvPr>
          <p:cNvSpPr>
            <a:spLocks noGrp="1"/>
          </p:cNvSpPr>
          <p:nvPr>
            <p:ph type="ctrTitle"/>
          </p:nvPr>
        </p:nvSpPr>
        <p:spPr>
          <a:xfrm>
            <a:off x="311150" y="180296"/>
            <a:ext cx="7799917" cy="339267"/>
          </a:xfrm>
        </p:spPr>
        <p:txBody>
          <a:bodyPr>
            <a:normAutofit/>
          </a:bodyPr>
          <a:lstStyle/>
          <a:p>
            <a:r>
              <a:rPr lang="ja-JP" altLang="en-US" dirty="0"/>
              <a:t>貸借対照表</a:t>
            </a:r>
          </a:p>
        </p:txBody>
      </p:sp>
      <p:sp>
        <p:nvSpPr>
          <p:cNvPr id="5" name="タイトル 1">
            <a:extLst>
              <a:ext uri="{FF2B5EF4-FFF2-40B4-BE49-F238E27FC236}">
                <a16:creationId xmlns:a16="http://schemas.microsoft.com/office/drawing/2014/main" id="{CB37C797-A02B-4ADD-85CA-EEB0AC88114E}"/>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財務情報詳細</a:t>
            </a:r>
          </a:p>
        </p:txBody>
      </p:sp>
      <p:sp>
        <p:nvSpPr>
          <p:cNvPr id="4" name="字幕 13">
            <a:extLst>
              <a:ext uri="{FF2B5EF4-FFF2-40B4-BE49-F238E27FC236}">
                <a16:creationId xmlns:a16="http://schemas.microsoft.com/office/drawing/2014/main" id="{9FB86E35-A8A4-6E80-826F-9FF288E82A13}"/>
              </a:ext>
            </a:extLst>
          </p:cNvPr>
          <p:cNvSpPr>
            <a:spLocks noGrp="1"/>
          </p:cNvSpPr>
          <p:nvPr>
            <p:ph type="subTitle" idx="1"/>
          </p:nvPr>
        </p:nvSpPr>
        <p:spPr>
          <a:xfrm>
            <a:off x="460675" y="830046"/>
            <a:ext cx="9781875" cy="241861"/>
          </a:xfrm>
        </p:spPr>
        <p:txBody>
          <a:bodyPr>
            <a:noAutofit/>
          </a:bodyPr>
          <a:lstStyle/>
          <a:p>
            <a:r>
              <a:rPr lang="ja-JP" altLang="en-US" dirty="0">
                <a:latin typeface="+mj-ea"/>
              </a:rPr>
              <a:t>2024年11月期に大型犬専門店2店舗の出店等で借入金が218,455千円まで増加。2025年11月期は当期純損失20,359千円により純資産が△14,057千円となり債務超過に転じている（進行期はP.7参照）。</a:t>
            </a:r>
            <a:endParaRPr lang="en-US" altLang="ja-JP" dirty="0"/>
          </a:p>
        </p:txBody>
      </p:sp>
      <p:graphicFrame>
        <p:nvGraphicFramePr>
          <p:cNvPr id="21" name="表 20">
            <a:extLst>
              <a:ext uri="{FF2B5EF4-FFF2-40B4-BE49-F238E27FC236}">
                <a16:creationId xmlns:a16="http://schemas.microsoft.com/office/drawing/2014/main" id="{9409AC18-DB96-6E55-A1EC-BFAC6D28FA8A}"/>
              </a:ext>
            </a:extLst>
          </p:cNvPr>
          <p:cNvGraphicFramePr>
            <a:graphicFrameLocks noGrp="1"/>
          </p:cNvGraphicFramePr>
          <p:nvPr>
            <p:extLst>
              <p:ext uri="{D42A27DB-BD31-4B8C-83A1-F6EECF244321}">
                <p14:modId xmlns:p14="http://schemas.microsoft.com/office/powerpoint/2010/main" val="2132406679"/>
              </p:ext>
            </p:extLst>
          </p:nvPr>
        </p:nvGraphicFramePr>
        <p:xfrm>
          <a:off x="338328" y="1444752"/>
          <a:ext cx="3364991" cy="5221224"/>
        </p:xfrm>
        <a:graphic>
          <a:graphicData uri="http://schemas.openxmlformats.org/drawingml/2006/table">
            <a:tbl>
              <a:tblPr/>
              <a:tblGrid>
                <a:gridCol w="1170432">
                  <a:extLst>
                    <a:ext uri="{9D8B030D-6E8A-4147-A177-3AD203B41FA5}">
                      <a16:colId xmlns:a16="http://schemas.microsoft.com/office/drawing/2014/main" val="822254377"/>
                    </a:ext>
                  </a:extLst>
                </a:gridCol>
                <a:gridCol w="731520">
                  <a:extLst>
                    <a:ext uri="{9D8B030D-6E8A-4147-A177-3AD203B41FA5}">
                      <a16:colId xmlns:a16="http://schemas.microsoft.com/office/drawing/2014/main" val="3061090460"/>
                    </a:ext>
                  </a:extLst>
                </a:gridCol>
                <a:gridCol w="731520">
                  <a:extLst>
                    <a:ext uri="{9D8B030D-6E8A-4147-A177-3AD203B41FA5}">
                      <a16:colId xmlns:a16="http://schemas.microsoft.com/office/drawing/2014/main" val="2032412681"/>
                    </a:ext>
                  </a:extLst>
                </a:gridCol>
                <a:gridCol w="731520">
                  <a:extLst>
                    <a:ext uri="{9D8B030D-6E8A-4147-A177-3AD203B41FA5}">
                      <a16:colId xmlns:a16="http://schemas.microsoft.com/office/drawing/2014/main" val="1235492032"/>
                    </a:ext>
                  </a:extLst>
                </a:gridCol>
              </a:tblGrid>
              <a:tr h="182880">
                <a:tc gridSpan="4">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資産の部</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945198501"/>
                  </a:ext>
                </a:extLst>
              </a:tr>
              <a:tr h="237744">
                <a:tc>
                  <a:txBody>
                    <a:bodyPr/>
                    <a:lstStyle/>
                    <a:p>
                      <a:pPr algn="ctr" fontAlgn="ctr">
                        <a:buNone/>
                      </a:pPr>
                      <a:r>
                        <a:rPr lang="ja-JP" sz="750" b="1" i="0" u="none" strike="noStrike" dirty="0">
                          <a:solidFill>
                            <a:srgbClr val="FFFFFF"/>
                          </a:solidFill>
                          <a:effectLst/>
                          <a:latin typeface="游ゴシック" panose="020B0400000000000000" pitchFamily="50" charset="-128"/>
                          <a:ea typeface="游ゴシック" panose="020B0400000000000000" pitchFamily="50" charset="-128"/>
                        </a:rPr>
                        <a:t>科目</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750" b="1" i="0" u="none" strike="noStrike" dirty="0">
                          <a:solidFill>
                            <a:srgbClr val="FFFFFF"/>
                          </a:solidFill>
                          <a:effectLst/>
                          <a:latin typeface="游ゴシック" panose="020B0400000000000000" pitchFamily="50" charset="-128"/>
                          <a:ea typeface="游ゴシック" panose="020B0400000000000000" pitchFamily="50" charset="-128"/>
                        </a:rPr>
                        <a:t>23年11月期</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750" b="1" i="0" u="none" strike="noStrike" dirty="0">
                          <a:solidFill>
                            <a:srgbClr val="FFFFFF"/>
                          </a:solidFill>
                          <a:effectLst/>
                          <a:latin typeface="游ゴシック" panose="020B0400000000000000" pitchFamily="50" charset="-128"/>
                          <a:ea typeface="游ゴシック" panose="020B0400000000000000" pitchFamily="50" charset="-128"/>
                        </a:rPr>
                        <a:t>24年11月期</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750" b="1" i="0" u="none" strike="noStrike" dirty="0">
                          <a:solidFill>
                            <a:srgbClr val="FFFFFF"/>
                          </a:solidFill>
                          <a:effectLst/>
                          <a:latin typeface="游ゴシック" panose="020B0400000000000000" pitchFamily="50" charset="-128"/>
                          <a:ea typeface="游ゴシック" panose="020B0400000000000000" pitchFamily="50" charset="-128"/>
                        </a:rPr>
                        <a:t>25年11月期</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extLst>
                  <a:ext uri="{0D108BD9-81ED-4DB2-BD59-A6C34878D82A}">
                    <a16:rowId xmlns:a16="http://schemas.microsoft.com/office/drawing/2014/main" val="1002658859"/>
                  </a:ext>
                </a:extLst>
              </a:tr>
              <a:tr h="192024">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【流動資産】</a:t>
                      </a:r>
                    </a:p>
                  </a:txBody>
                  <a:tcPr marL="47961"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116,931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188,786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150,113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517171900"/>
                  </a:ext>
                </a:extLst>
              </a:tr>
              <a:tr h="19202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現金及び預金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13,655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17,628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10,140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9202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売掛金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28,158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39,603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27,628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9202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商品</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70,918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127,081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106,017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9202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貯蔵品</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150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150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150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9202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前渡金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1,200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9202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前払費用</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2,837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4,237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3,992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9202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未収入金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9202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未収還付法人税等</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9202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仮払金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1,650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92024">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【固定資産】</a:t>
                      </a:r>
                    </a:p>
                  </a:txBody>
                  <a:tcPr marL="47961"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68,592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95,385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85,272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517171900"/>
                  </a:ext>
                </a:extLst>
              </a:tr>
              <a:tr h="192024">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［有形固定資産］</a:t>
                      </a:r>
                    </a:p>
                  </a:txBody>
                  <a:tcPr marL="47961"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42,883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63,570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54,658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517171900"/>
                  </a:ext>
                </a:extLst>
              </a:tr>
              <a:tr h="19202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建物</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25,513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45,558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44,397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9202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車両運搬具</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15,883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10,609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1,058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9202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工具器具及び備品</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1,247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7,403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6,045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9202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土地</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2,974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9202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その他の有形固定資産</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184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92024">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［無形固定資産］</a:t>
                      </a:r>
                    </a:p>
                  </a:txBody>
                  <a:tcPr marL="47961"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517171900"/>
                  </a:ext>
                </a:extLst>
              </a:tr>
              <a:tr h="192024">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［投資その他資産］</a:t>
                      </a:r>
                    </a:p>
                  </a:txBody>
                  <a:tcPr marL="47961"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25,709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31,815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30,614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517171900"/>
                  </a:ext>
                </a:extLst>
              </a:tr>
              <a:tr h="19202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リサイクル預託金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9202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長期前払費用</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3,336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2,513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1,712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9202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差入保証金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20,642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27,656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27,371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9202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営業権</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1,673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1,586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1,500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92024">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【繰延資産】</a:t>
                      </a:r>
                    </a:p>
                  </a:txBody>
                  <a:tcPr marL="47961"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517171900"/>
                  </a:ext>
                </a:extLst>
              </a:tr>
              <a:tr h="192024">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資産合計</a:t>
                      </a:r>
                    </a:p>
                  </a:txBody>
                  <a:tcPr marL="47961"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185,523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284,171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235,385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517171900"/>
                  </a:ext>
                </a:extLst>
              </a:tr>
            </a:tbl>
          </a:graphicData>
        </a:graphic>
      </p:graphicFrame>
      <p:graphicFrame>
        <p:nvGraphicFramePr>
          <p:cNvPr id="23" name="表 22">
            <a:extLst>
              <a:ext uri="{FF2B5EF4-FFF2-40B4-BE49-F238E27FC236}">
                <a16:creationId xmlns:a16="http://schemas.microsoft.com/office/drawing/2014/main" id="{59091B6A-EC0B-A82B-1BC9-EBB5149C2230}"/>
              </a:ext>
            </a:extLst>
          </p:cNvPr>
          <p:cNvGraphicFramePr>
            <a:graphicFrameLocks noGrp="1"/>
          </p:cNvGraphicFramePr>
          <p:nvPr>
            <p:extLst>
              <p:ext uri="{D42A27DB-BD31-4B8C-83A1-F6EECF244321}">
                <p14:modId xmlns:p14="http://schemas.microsoft.com/office/powerpoint/2010/main" val="509667498"/>
              </p:ext>
            </p:extLst>
          </p:nvPr>
        </p:nvGraphicFramePr>
        <p:xfrm>
          <a:off x="3730752" y="1444752"/>
          <a:ext cx="3364991" cy="3154680"/>
        </p:xfrm>
        <a:graphic>
          <a:graphicData uri="http://schemas.openxmlformats.org/drawingml/2006/table">
            <a:tbl>
              <a:tblPr/>
              <a:tblGrid>
                <a:gridCol w="1170432">
                  <a:extLst>
                    <a:ext uri="{9D8B030D-6E8A-4147-A177-3AD203B41FA5}">
                      <a16:colId xmlns:a16="http://schemas.microsoft.com/office/drawing/2014/main" val="140435893"/>
                    </a:ext>
                  </a:extLst>
                </a:gridCol>
                <a:gridCol w="731520">
                  <a:extLst>
                    <a:ext uri="{9D8B030D-6E8A-4147-A177-3AD203B41FA5}">
                      <a16:colId xmlns:a16="http://schemas.microsoft.com/office/drawing/2014/main" val="1469753659"/>
                    </a:ext>
                  </a:extLst>
                </a:gridCol>
                <a:gridCol w="731520">
                  <a:extLst>
                    <a:ext uri="{9D8B030D-6E8A-4147-A177-3AD203B41FA5}">
                      <a16:colId xmlns:a16="http://schemas.microsoft.com/office/drawing/2014/main" val="80575429"/>
                    </a:ext>
                  </a:extLst>
                </a:gridCol>
                <a:gridCol w="731520">
                  <a:extLst>
                    <a:ext uri="{9D8B030D-6E8A-4147-A177-3AD203B41FA5}">
                      <a16:colId xmlns:a16="http://schemas.microsoft.com/office/drawing/2014/main" val="2683263371"/>
                    </a:ext>
                  </a:extLst>
                </a:gridCol>
              </a:tblGrid>
              <a:tr h="182880">
                <a:tc gridSpan="4">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負債の部</a:t>
                      </a: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3333780944"/>
                  </a:ext>
                </a:extLst>
              </a:tr>
              <a:tr h="237744">
                <a:tc>
                  <a:txBody>
                    <a:bodyPr/>
                    <a:lstStyle/>
                    <a:p>
                      <a:pPr algn="ctr" fontAlgn="ctr">
                        <a:buNone/>
                      </a:pPr>
                      <a:r>
                        <a:rPr lang="ja-JP" sz="750" b="1" i="0" u="none" strike="noStrike">
                          <a:solidFill>
                            <a:srgbClr val="FFFFFF"/>
                          </a:solidFill>
                          <a:effectLst/>
                          <a:latin typeface="游ゴシック" panose="020B0400000000000000" pitchFamily="50" charset="-128"/>
                          <a:ea typeface="游ゴシック" panose="020B0400000000000000" pitchFamily="50" charset="-128"/>
                        </a:rPr>
                        <a:t>科目</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750" b="1" i="0" u="none" strike="noStrike">
                          <a:solidFill>
                            <a:srgbClr val="FFFFFF"/>
                          </a:solidFill>
                          <a:effectLst/>
                          <a:latin typeface="游ゴシック" panose="020B0400000000000000" pitchFamily="50" charset="-128"/>
                          <a:ea typeface="游ゴシック" panose="020B0400000000000000" pitchFamily="50" charset="-128"/>
                        </a:rPr>
                        <a:t>23年11月期</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750" b="1" i="0" u="none" strike="noStrike">
                          <a:solidFill>
                            <a:srgbClr val="FFFFFF"/>
                          </a:solidFill>
                          <a:effectLst/>
                          <a:latin typeface="游ゴシック" panose="020B0400000000000000" pitchFamily="50" charset="-128"/>
                          <a:ea typeface="游ゴシック" panose="020B0400000000000000" pitchFamily="50" charset="-128"/>
                        </a:rPr>
                        <a:t>24年11月期</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750" b="1" i="0" u="none" strike="noStrike">
                          <a:solidFill>
                            <a:srgbClr val="FFFFFF"/>
                          </a:solidFill>
                          <a:effectLst/>
                          <a:latin typeface="游ゴシック" panose="020B0400000000000000" pitchFamily="50" charset="-128"/>
                          <a:ea typeface="游ゴシック" panose="020B0400000000000000" pitchFamily="50" charset="-128"/>
                        </a:rPr>
                        <a:t>25年11月期</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extLst>
                  <a:ext uri="{0D108BD9-81ED-4DB2-BD59-A6C34878D82A}">
                    <a16:rowId xmlns:a16="http://schemas.microsoft.com/office/drawing/2014/main" val="3028628170"/>
                  </a:ext>
                </a:extLst>
              </a:tr>
              <a:tr h="21031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【流動負債】</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30,380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47,366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47,672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495575895"/>
                  </a:ext>
                </a:extLst>
              </a:tr>
              <a:tr h="21031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買掛金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10,176</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14,255</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9,202</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21031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未払金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714</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21031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未払費用</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12,571</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24,016</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20,114</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21031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未払法人税等</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230</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962</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243</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21031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未払消費税等</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3,645</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3,776</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11,784</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21031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預り金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614</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607</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2,392</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21031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カード未払金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3,144</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3,751</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3,224</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21031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【固定負債】</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149,816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230,503</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201,770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495575895"/>
                  </a:ext>
                </a:extLst>
              </a:tr>
              <a:tr h="21031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長期借入金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134,042</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218,455</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191,858</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21031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役員借入金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1,122</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7,566</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21031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長期未払金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14,652</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12,048</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2,346</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21031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負債合計</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180,196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277,869</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249,442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495575895"/>
                  </a:ext>
                </a:extLst>
              </a:tr>
            </a:tbl>
          </a:graphicData>
        </a:graphic>
      </p:graphicFrame>
      <p:graphicFrame>
        <p:nvGraphicFramePr>
          <p:cNvPr id="25" name="表 24">
            <a:extLst>
              <a:ext uri="{FF2B5EF4-FFF2-40B4-BE49-F238E27FC236}">
                <a16:creationId xmlns:a16="http://schemas.microsoft.com/office/drawing/2014/main" id="{464E22CB-ED12-DB3E-58BA-7434CA07B20D}"/>
              </a:ext>
            </a:extLst>
          </p:cNvPr>
          <p:cNvGraphicFramePr>
            <a:graphicFrameLocks noGrp="1"/>
          </p:cNvGraphicFramePr>
          <p:nvPr>
            <p:extLst>
              <p:ext uri="{D42A27DB-BD31-4B8C-83A1-F6EECF244321}">
                <p14:modId xmlns:p14="http://schemas.microsoft.com/office/powerpoint/2010/main" val="2702880926"/>
              </p:ext>
            </p:extLst>
          </p:nvPr>
        </p:nvGraphicFramePr>
        <p:xfrm>
          <a:off x="3730752" y="4937760"/>
          <a:ext cx="3364991" cy="1572768"/>
        </p:xfrm>
        <a:graphic>
          <a:graphicData uri="http://schemas.openxmlformats.org/drawingml/2006/table">
            <a:tbl>
              <a:tblPr/>
              <a:tblGrid>
                <a:gridCol w="1170432">
                  <a:extLst>
                    <a:ext uri="{9D8B030D-6E8A-4147-A177-3AD203B41FA5}">
                      <a16:colId xmlns:a16="http://schemas.microsoft.com/office/drawing/2014/main" val="4058629608"/>
                    </a:ext>
                  </a:extLst>
                </a:gridCol>
                <a:gridCol w="731520">
                  <a:extLst>
                    <a:ext uri="{9D8B030D-6E8A-4147-A177-3AD203B41FA5}">
                      <a16:colId xmlns:a16="http://schemas.microsoft.com/office/drawing/2014/main" val="2673297223"/>
                    </a:ext>
                  </a:extLst>
                </a:gridCol>
                <a:gridCol w="731520">
                  <a:extLst>
                    <a:ext uri="{9D8B030D-6E8A-4147-A177-3AD203B41FA5}">
                      <a16:colId xmlns:a16="http://schemas.microsoft.com/office/drawing/2014/main" val="756661618"/>
                    </a:ext>
                  </a:extLst>
                </a:gridCol>
                <a:gridCol w="731520">
                  <a:extLst>
                    <a:ext uri="{9D8B030D-6E8A-4147-A177-3AD203B41FA5}">
                      <a16:colId xmlns:a16="http://schemas.microsoft.com/office/drawing/2014/main" val="2152851366"/>
                    </a:ext>
                  </a:extLst>
                </a:gridCol>
              </a:tblGrid>
              <a:tr h="182880">
                <a:tc gridSpan="4">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純資産の部</a:t>
                      </a: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916277575"/>
                  </a:ext>
                </a:extLst>
              </a:tr>
              <a:tr h="17373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【資本金】</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077243336"/>
                  </a:ext>
                </a:extLst>
              </a:tr>
              <a:tr h="17373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資本金</a:t>
                      </a:r>
                    </a:p>
                  </a:txBody>
                  <a:tcPr marL="3429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41456255"/>
                  </a:ext>
                </a:extLst>
              </a:tr>
              <a:tr h="17373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【資本剰余金】</a:t>
                      </a:r>
                    </a:p>
                  </a:txBody>
                  <a:tcPr marL="114300" marR="6350" marT="6350" marB="0" anchor="ctr">
                    <a:lnL w="6350" cap="flat" cmpd="sng" algn="ctr">
                      <a:solidFill>
                        <a:srgbClr val="FFFFFF"/>
                      </a:solidFill>
                      <a:prstDash val="solid"/>
                      <a:round/>
                      <a:headEnd type="none" w="med" len="med"/>
                      <a:tailEnd type="none" w="med" len="med"/>
                    </a:lnL>
                    <a:lnR>
                      <a:noFill/>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6350" marR="114300" marT="635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081381393"/>
                  </a:ext>
                </a:extLst>
              </a:tr>
              <a:tr h="17373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【利益剰余金】</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4,327</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5,302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15,057</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164222422"/>
                  </a:ext>
                </a:extLst>
              </a:tr>
              <a:tr h="17373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繰越利益剰余金</a:t>
                      </a:r>
                    </a:p>
                  </a:txBody>
                  <a:tcPr marL="3429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4,327</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5,302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15,057</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776807753"/>
                  </a:ext>
                </a:extLst>
              </a:tr>
              <a:tr h="17373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【自己株式】</a:t>
                      </a:r>
                    </a:p>
                  </a:txBody>
                  <a:tcPr marL="342900" marR="6350" marT="6350" marB="0" anchor="ctr">
                    <a:lnL w="6350" cap="flat" cmpd="sng" algn="ctr">
                      <a:solidFill>
                        <a:srgbClr val="FFFFFF"/>
                      </a:solidFill>
                      <a:prstDash val="solid"/>
                      <a:round/>
                      <a:headEnd type="none" w="med" len="med"/>
                      <a:tailEnd type="none" w="med" len="med"/>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6350" marR="114300" marT="635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943967872"/>
                  </a:ext>
                </a:extLst>
              </a:tr>
              <a:tr h="17373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純資産合計</a:t>
                      </a:r>
                    </a:p>
                  </a:txBody>
                  <a:tcPr marL="114300" marR="6350" marT="6350" marB="0" anchor="ctr">
                    <a:lnL w="6350" cap="flat" cmpd="sng" algn="ctr">
                      <a:solidFill>
                        <a:srgbClr val="FFFFFF"/>
                      </a:solidFill>
                      <a:prstDash val="solid"/>
                      <a:round/>
                      <a:headEnd type="none" w="med" len="med"/>
                      <a:tailEnd type="none" w="med" len="med"/>
                    </a:lnL>
                    <a:lnR>
                      <a:noFill/>
                    </a:lnR>
                    <a:lnT>
                      <a:noFill/>
                    </a:lnT>
                    <a:lnB w="6350" cap="flat" cmpd="sng" algn="ctr">
                      <a:solidFill>
                        <a:srgbClr val="FFFFFF"/>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5,327</a:t>
                      </a:r>
                    </a:p>
                  </a:txBody>
                  <a:tcPr marL="6350" marR="114300" marT="6350" marB="0" anchor="ctr">
                    <a:lnL>
                      <a:noFill/>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6,302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14,057</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E1F3FB"/>
                    </a:solidFill>
                  </a:tcPr>
                </a:tc>
                <a:extLst>
                  <a:ext uri="{0D108BD9-81ED-4DB2-BD59-A6C34878D82A}">
                    <a16:rowId xmlns:a16="http://schemas.microsoft.com/office/drawing/2014/main" val="1359361426"/>
                  </a:ext>
                </a:extLst>
              </a:tr>
              <a:tr h="173736">
                <a:tc>
                  <a:txBody>
                    <a:bodyPr/>
                    <a:lstStyle/>
                    <a:p>
                      <a:pPr algn="l"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負債・純資産合計</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dirty="0">
                          <a:solidFill>
                            <a:srgbClr val="FFFFFF"/>
                          </a:solidFill>
                          <a:effectLst/>
                          <a:latin typeface="Arial" panose="020B0604020202020204" pitchFamily="34" charset="0"/>
                          <a:ea typeface="游ゴシック Medium" panose="020B0500000000000000" pitchFamily="50" charset="-128"/>
                        </a:rPr>
                        <a:t>185,523</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284,171</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235,385</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79988555"/>
                  </a:ext>
                </a:extLst>
              </a:tr>
            </a:tbl>
          </a:graphicData>
        </a:graphic>
      </p:graphicFrame>
      <p:sp>
        <p:nvSpPr>
          <p:cNvPr id="2" name="正方形/長方形 1">
            <a:extLst>
              <a:ext uri="{FF2B5EF4-FFF2-40B4-BE49-F238E27FC236}">
                <a16:creationId xmlns:a16="http://schemas.microsoft.com/office/drawing/2014/main" id="{612EABB3-CE7D-61AA-49A7-0C5A39CB2F7F}"/>
              </a:ext>
            </a:extLst>
          </p:cNvPr>
          <p:cNvSpPr/>
          <p:nvPr/>
        </p:nvSpPr>
        <p:spPr>
          <a:xfrm>
            <a:off x="7260336" y="1389888"/>
            <a:ext cx="2980943" cy="5422392"/>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游ゴシック" panose="020B0400000000000000" pitchFamily="50" charset="-128"/>
                <a:ea typeface="游ゴシック" panose="020B0400000000000000" pitchFamily="50" charset="-128"/>
              </a:rPr>
              <a:t>Comment</a:t>
            </a:r>
            <a:endParaRPr kumimoji="1" lang="ja-JP" altLang="en-US" sz="1600" b="1" dirty="0">
              <a:solidFill>
                <a:schemeClr val="tx2"/>
              </a:solidFill>
              <a:latin typeface="游ゴシック" panose="020B0400000000000000" pitchFamily="50" charset="-128"/>
              <a:ea typeface="游ゴシック" panose="020B0400000000000000" pitchFamily="50" charset="-128"/>
            </a:endParaRPr>
          </a:p>
        </p:txBody>
      </p:sp>
      <p:sp>
        <p:nvSpPr>
          <p:cNvPr id="16" name="テキスト ボックス 15">
            <a:extLst>
              <a:ext uri="{FF2B5EF4-FFF2-40B4-BE49-F238E27FC236}">
                <a16:creationId xmlns:a16="http://schemas.microsoft.com/office/drawing/2014/main" id="{628CFE76-679D-C90B-1E19-B26DADCE4A7F}"/>
              </a:ext>
            </a:extLst>
          </p:cNvPr>
          <p:cNvSpPr txBox="1"/>
          <p:nvPr/>
        </p:nvSpPr>
        <p:spPr>
          <a:xfrm>
            <a:off x="7397496" y="2011680"/>
            <a:ext cx="2706624" cy="4736592"/>
          </a:xfrm>
          <a:prstGeom prst="rect">
            <a:avLst/>
          </a:prstGeom>
          <a:noFill/>
        </p:spPr>
        <p:txBody>
          <a:bodyPr wrap="square" lIns="288000" tIns="0" rIns="252000" bIns="0" rtlCol="0">
            <a:spAutoFit/>
          </a:bodyPr>
          <a:lstStyle/>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50" b="1"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≪商品≫</a:t>
            </a:r>
            <a:endParaRPr kumimoji="1" lang="ja-JP" altLang="en-US" sz="12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5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・70,918→127,081→106,017千円。2024年11月期に大型犬専門店2店舗の出店へ向けて在庫を積み増した後、2025年11月期は減少。総資産の45%を占める（内訳はP.32参照）。</a:t>
            </a:r>
            <a:endParaRPr kumimoji="0" lang="en-US" altLang="ja-JP" sz="9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50" b="1"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≪差入保証金≫</a:t>
            </a:r>
            <a:endParaRPr kumimoji="1" lang="ja-JP" altLang="en-US" sz="12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5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・20,642→27,656→27,371千円。店舗の敷金・保証金。償却条項・契約解除時の返還条件は賃貸借契約書が未受領のため要確認。</a:t>
            </a:r>
            <a:endParaRPr kumimoji="0" lang="en-US" altLang="ja-JP" sz="9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50" b="1"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≪長期借入金≫</a:t>
            </a:r>
            <a:endParaRPr kumimoji="1" lang="ja-JP" altLang="en-US" sz="12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5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・134,042→218,455→191,858千円。2024年11月期に大型犬専門店2店舗の出店等で84,413千円増加。民間6本は代表者の連帯保証付き。</a:t>
            </a:r>
            <a:endParaRPr kumimoji="0" lang="en-US" altLang="ja-JP" sz="9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50" b="1"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≪役員借入金≫</a:t>
            </a:r>
            <a:endParaRPr kumimoji="1" lang="ja-JP" altLang="en-US" sz="12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5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・2025年11月期末7,566千円。譲渡時の返済を希望（進行期は2026年6月末で3,403千円へ減少）。</a:t>
            </a:r>
            <a:endParaRPr kumimoji="0" lang="en-US" altLang="ja-JP" sz="9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50" b="1"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≪純資産≫</a:t>
            </a:r>
            <a:endParaRPr kumimoji="1" lang="ja-JP" altLang="en-US" sz="12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5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・5,327→6,302→△14,057千円。2025年11月期の当期純損失20,359千円により債務超過に転じている。</a:t>
            </a:r>
            <a:endParaRPr kumimoji="0" lang="en-US" altLang="ja-JP" sz="9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p:txBody>
      </p:sp>
    </p:spTree>
    <p:extLst>
      <p:ext uri="{BB962C8B-B14F-4D97-AF65-F5344CB8AC3E}">
        <p14:creationId xmlns:p14="http://schemas.microsoft.com/office/powerpoint/2010/main" val="28778819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C82EF-8053-BAE5-C6BD-622F2C30CBFF}"/>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F5081F90-873F-6788-14E3-950832F30EFF}"/>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棚卸資産の内訳（2025年11月期末）</a:t>
            </a:r>
          </a:p>
        </p:txBody>
      </p:sp>
      <p:sp>
        <p:nvSpPr>
          <p:cNvPr id="4" name="タイトル 1">
            <a:extLst>
              <a:ext uri="{FF2B5EF4-FFF2-40B4-BE49-F238E27FC236}">
                <a16:creationId xmlns:a16="http://schemas.microsoft.com/office/drawing/2014/main" id="{487EAEC6-550C-CDEC-0657-1C231A4DB47D}"/>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財務情報詳細</a:t>
            </a:r>
          </a:p>
        </p:txBody>
      </p:sp>
      <p:graphicFrame>
        <p:nvGraphicFramePr>
          <p:cNvPr id="9" name="表 8">
            <a:extLst>
              <a:ext uri="{FF2B5EF4-FFF2-40B4-BE49-F238E27FC236}">
                <a16:creationId xmlns:a16="http://schemas.microsoft.com/office/drawing/2014/main" id="{4651616C-25FF-A6E7-109B-683B7065E9C1}"/>
              </a:ext>
            </a:extLst>
          </p:cNvPr>
          <p:cNvGraphicFramePr>
            <a:graphicFrameLocks noGrp="1"/>
          </p:cNvGraphicFramePr>
          <p:nvPr>
            <p:extLst>
              <p:ext uri="{D42A27DB-BD31-4B8C-83A1-F6EECF244321}">
                <p14:modId xmlns:p14="http://schemas.microsoft.com/office/powerpoint/2010/main" val="3352292201"/>
              </p:ext>
            </p:extLst>
          </p:nvPr>
        </p:nvGraphicFramePr>
        <p:xfrm>
          <a:off x="341313" y="1572768"/>
          <a:ext cx="9902952" cy="4206240"/>
        </p:xfrm>
        <a:graphic>
          <a:graphicData uri="http://schemas.openxmlformats.org/drawingml/2006/table">
            <a:tbl>
              <a:tblPr/>
              <a:tblGrid>
                <a:gridCol w="2331720">
                  <a:extLst>
                    <a:ext uri="{9D8B030D-6E8A-4147-A177-3AD203B41FA5}">
                      <a16:colId xmlns:a16="http://schemas.microsoft.com/office/drawing/2014/main" val="3316058797"/>
                    </a:ext>
                  </a:extLst>
                </a:gridCol>
                <a:gridCol w="566928">
                  <a:extLst>
                    <a:ext uri="{9D8B030D-6E8A-4147-A177-3AD203B41FA5}">
                      <a16:colId xmlns:a16="http://schemas.microsoft.com/office/drawing/2014/main" val="1380719249"/>
                    </a:ext>
                  </a:extLst>
                </a:gridCol>
                <a:gridCol w="621792">
                  <a:extLst>
                    <a:ext uri="{9D8B030D-6E8A-4147-A177-3AD203B41FA5}">
                      <a16:colId xmlns:a16="http://schemas.microsoft.com/office/drawing/2014/main" val="246846433"/>
                    </a:ext>
                  </a:extLst>
                </a:gridCol>
                <a:gridCol w="658368">
                  <a:extLst>
                    <a:ext uri="{9D8B030D-6E8A-4147-A177-3AD203B41FA5}">
                      <a16:colId xmlns:a16="http://schemas.microsoft.com/office/drawing/2014/main" val="3721573245"/>
                    </a:ext>
                  </a:extLst>
                </a:gridCol>
                <a:gridCol w="713232">
                  <a:extLst>
                    <a:ext uri="{9D8B030D-6E8A-4147-A177-3AD203B41FA5}">
                      <a16:colId xmlns:a16="http://schemas.microsoft.com/office/drawing/2014/main" val="25268631"/>
                    </a:ext>
                  </a:extLst>
                </a:gridCol>
                <a:gridCol w="658368">
                  <a:extLst>
                    <a:ext uri="{9D8B030D-6E8A-4147-A177-3AD203B41FA5}">
                      <a16:colId xmlns:a16="http://schemas.microsoft.com/office/drawing/2014/main" val="829825544"/>
                    </a:ext>
                  </a:extLst>
                </a:gridCol>
                <a:gridCol w="731520">
                  <a:extLst>
                    <a:ext uri="{9D8B030D-6E8A-4147-A177-3AD203B41FA5}">
                      <a16:colId xmlns:a16="http://schemas.microsoft.com/office/drawing/2014/main" val="1494183210"/>
                    </a:ext>
                  </a:extLst>
                </a:gridCol>
                <a:gridCol w="749808">
                  <a:extLst>
                    <a:ext uri="{9D8B030D-6E8A-4147-A177-3AD203B41FA5}">
                      <a16:colId xmlns:a16="http://schemas.microsoft.com/office/drawing/2014/main" val="3341255910"/>
                    </a:ext>
                  </a:extLst>
                </a:gridCol>
                <a:gridCol w="2871216">
                  <a:extLst>
                    <a:ext uri="{9D8B030D-6E8A-4147-A177-3AD203B41FA5}">
                      <a16:colId xmlns:a16="http://schemas.microsoft.com/office/drawing/2014/main" val="387513537"/>
                    </a:ext>
                  </a:extLst>
                </a:gridCol>
              </a:tblGrid>
              <a:tr h="365760">
                <a:tc>
                  <a:txBody>
                    <a:bodyPr/>
                    <a:lstStyle/>
                    <a:p>
                      <a:pPr algn="ctr" fontAlgn="ctr">
                        <a:buNone/>
                      </a:pPr>
                      <a:r>
                        <a:rPr lang="ja-JP" sz="800" b="1" i="0" u="none" strike="noStrike" dirty="0">
                          <a:solidFill>
                            <a:srgbClr val="FFFFFF"/>
                          </a:solidFill>
                          <a:effectLst/>
                          <a:latin typeface="游ゴシック" panose="020B0400000000000000" pitchFamily="50" charset="-128"/>
                          <a:ea typeface="游ゴシック" panose="020B0400000000000000" pitchFamily="50" charset="-128"/>
                        </a:rPr>
                        <a:t>拠点</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生体：
アクア</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生体：
小動物</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生体：犬猫</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生体 小計</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物販</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合計</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ctr" fontAlgn="ctr">
                        <a:buNone/>
                      </a:pPr>
                      <a:r>
                        <a:rPr lang="ja-JP" sz="800" b="1" i="0" u="none" strike="noStrike" dirty="0">
                          <a:solidFill>
                            <a:srgbClr val="FFFFFF"/>
                          </a:solidFill>
                          <a:effectLst/>
                          <a:latin typeface="游ゴシック" panose="020B0400000000000000" pitchFamily="50" charset="-128"/>
                          <a:ea typeface="游ゴシック" panose="020B0400000000000000" pitchFamily="50" charset="-128"/>
                        </a:rPr>
                        <a:t>決算書の
計上額</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ctr" fontAlgn="ctr">
                        <a:buNone/>
                      </a:pPr>
                      <a:r>
                        <a:rPr lang="ja-JP" sz="800" b="1" i="0" u="none" strike="noStrike" dirty="0">
                          <a:solidFill>
                            <a:srgbClr val="FFFFFF"/>
                          </a:solidFill>
                          <a:effectLst/>
                          <a:latin typeface="游ゴシック" panose="020B0400000000000000" pitchFamily="50" charset="-128"/>
                          <a:ea typeface="游ゴシック" panose="020B0400000000000000" pitchFamily="50" charset="-128"/>
                        </a:rPr>
                        <a:t>備考</a:t>
                      </a:r>
                    </a:p>
                  </a:txBody>
                  <a:tcPr marL="4674" marR="4674" marT="467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extLst>
                  <a:ext uri="{0D108BD9-81ED-4DB2-BD59-A6C34878D82A}">
                    <a16:rowId xmlns:a16="http://schemas.microsoft.com/office/drawing/2014/main" val="3150016470"/>
                  </a:ext>
                </a:extLst>
              </a:tr>
              <a:tr h="256032">
                <a:tc>
                  <a:txBody>
                    <a:bodyPr/>
                    <a:lstStyle/>
                    <a:p>
                      <a:pPr algn="ct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ワンラブ カインズホーム明和店</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140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48</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1,295</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1,483</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667</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2,150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21,819</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決算書上は松阪管理センター分19,669,000円を含めて計上</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056577972"/>
                  </a:ext>
                </a:extLst>
              </a:tr>
              <a:tr h="256032">
                <a:tc>
                  <a:txBody>
                    <a:bodyPr/>
                    <a:lstStyle/>
                    <a:p>
                      <a:pPr algn="ct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松阪管理センター</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19,669</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19,669</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明和店に含めて計上</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67627526"/>
                  </a:ext>
                </a:extLst>
              </a:tr>
              <a:tr h="256032">
                <a:tc>
                  <a:txBody>
                    <a:bodyPr/>
                    <a:lstStyle/>
                    <a:p>
                      <a:pPr algn="ct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ワンラブ バローミタス伊勢店</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58</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185</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1,645</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1,888</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1,097</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2,985</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2,985</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222888758"/>
                  </a:ext>
                </a:extLst>
              </a:tr>
              <a:tr h="256032">
                <a:tc>
                  <a:txBody>
                    <a:bodyPr/>
                    <a:lstStyle/>
                    <a:p>
                      <a:pPr algn="ct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ワンラブ ホームセンターバロー久居店</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1,860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1,860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955</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2,815</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2,815</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927963007"/>
                  </a:ext>
                </a:extLst>
              </a:tr>
              <a:tr h="256032">
                <a:tc>
                  <a:txBody>
                    <a:bodyPr/>
                    <a:lstStyle/>
                    <a:p>
                      <a:pPr algn="ct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ワンラブ アクアウォーク大垣店</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1,655</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1,655</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1,391</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3,046</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3,046</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2026年2月に撤退</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087551456"/>
                  </a:ext>
                </a:extLst>
              </a:tr>
              <a:tr h="256032">
                <a:tc>
                  <a:txBody>
                    <a:bodyPr/>
                    <a:lstStyle/>
                    <a:p>
                      <a:pPr algn="ct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ワンラブ ペットプラザ岐阜店</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1,152</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1,152</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1,307</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2,459</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2,459</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2026年1月に撤退</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961957651"/>
                  </a:ext>
                </a:extLst>
              </a:tr>
              <a:tr h="256032">
                <a:tc>
                  <a:txBody>
                    <a:bodyPr/>
                    <a:lstStyle/>
                    <a:p>
                      <a:pPr algn="ct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ワンラブ ドン・キホーテ緑店</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2,125</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2,125</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1,514</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3,639</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3,747</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決算書上は中志段味店分108,013円を含めて計上</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486727505"/>
                  </a:ext>
                </a:extLst>
              </a:tr>
              <a:tr h="256032">
                <a:tc>
                  <a:txBody>
                    <a:bodyPr/>
                    <a:lstStyle/>
                    <a:p>
                      <a:pPr algn="ct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ワンラブ コメリパワー中志段味店</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108</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108</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2024年6月に譲渡済</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693701439"/>
                  </a:ext>
                </a:extLst>
              </a:tr>
              <a:tr h="256032">
                <a:tc>
                  <a:txBody>
                    <a:bodyPr/>
                    <a:lstStyle/>
                    <a:p>
                      <a:pPr algn="ct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おっきなもふもふ応援隊 岐阜総本店</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1,620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1,620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4,946</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6,566</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6,566</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464820398"/>
                  </a:ext>
                </a:extLst>
              </a:tr>
              <a:tr h="256032">
                <a:tc>
                  <a:txBody>
                    <a:bodyPr/>
                    <a:lstStyle/>
                    <a:p>
                      <a:pPr algn="ct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おっきなもふもふ応援隊 大阪総本店</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1,818</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1,818</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6,762</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8,580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8,580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80445004"/>
                  </a:ext>
                </a:extLst>
              </a:tr>
              <a:tr h="256032">
                <a:tc>
                  <a:txBody>
                    <a:bodyPr/>
                    <a:lstStyle/>
                    <a:p>
                      <a:pPr algn="ct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【店舗合計】</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33,270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18,748</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52,017</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818873767"/>
                  </a:ext>
                </a:extLst>
              </a:tr>
              <a:tr h="256032">
                <a:tc>
                  <a:txBody>
                    <a:bodyPr/>
                    <a:lstStyle/>
                    <a:p>
                      <a:pPr algn="ct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本社</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24,000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8,000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32,000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2026年3月に廃棄損を計上</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455912933"/>
                  </a:ext>
                </a:extLst>
              </a:tr>
              <a:tr h="256032">
                <a:tc>
                  <a:txBody>
                    <a:bodyPr/>
                    <a:lstStyle/>
                    <a:p>
                      <a:pPr algn="ct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バックヤード</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12,000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12,000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2026年3月に廃棄損を計上</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145927038"/>
                  </a:ext>
                </a:extLst>
              </a:tr>
              <a:tr h="256032">
                <a:tc>
                  <a:txBody>
                    <a:bodyPr/>
                    <a:lstStyle/>
                    <a:p>
                      <a:pPr algn="ct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外部保管分</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10,000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10,000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10,000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仕入先デザイナーズワン㈱への預け在庫</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587109556"/>
                  </a:ext>
                </a:extLst>
              </a:tr>
              <a:tr h="256032">
                <a:tc>
                  <a:txBody>
                    <a:bodyPr/>
                    <a:lstStyle/>
                    <a:p>
                      <a:pPr algn="ct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【全社合計】</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67,270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38,748</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106,017</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794250216"/>
                  </a:ext>
                </a:extLst>
              </a:tr>
            </a:tbl>
          </a:graphicData>
        </a:graphic>
      </p:graphicFrame>
      <p:sp>
        <p:nvSpPr>
          <p:cNvPr id="7" name="字幕 13">
            <a:extLst>
              <a:ext uri="{FF2B5EF4-FFF2-40B4-BE49-F238E27FC236}">
                <a16:creationId xmlns:a16="http://schemas.microsoft.com/office/drawing/2014/main" id="{AF62B1A2-0C69-2A17-FF69-1256D98EBEC7}"/>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2025年11月期末の棚卸資産106,017千円のうち店舗在庫は52,017千円。残る本社32,000千円とバックヤード12,000千円の合計44,000千円は、進行期の2026年3月に全額を廃棄損として計上済。</a:t>
            </a:r>
            <a:endParaRPr lang="en-US" altLang="ja-JP" dirty="0">
              <a:latin typeface="游ゴシック" panose="020B0400000000000000" pitchFamily="50" charset="-128"/>
              <a:ea typeface="游ゴシック" panose="020B0400000000000000" pitchFamily="50" charset="-128"/>
            </a:endParaRPr>
          </a:p>
        </p:txBody>
      </p:sp>
      <p:sp>
        <p:nvSpPr>
          <p:cNvPr id="14" name="TextBox 13"/>
          <p:cNvSpPr txBox="1"/>
          <p:nvPr/>
        </p:nvSpPr>
        <p:spPr>
          <a:xfrm>
            <a:off x="338328" y="6035040"/>
            <a:ext cx="9902952" cy="914400"/>
          </a:xfrm>
          <a:prstGeom prst="rect">
            <a:avLst/>
          </a:prstGeom>
          <a:noFill/>
        </p:spPr>
        <p:txBody>
          <a:bodyPr wrap="square">
            <a:spAutoFit/>
          </a:bodyPr>
          <a:lstStyle/>
          <a:p>
            <a:r>
              <a:rPr sz="800">
                <a:latin typeface="游ゴシック Medium"/>
              </a:rPr>
              <a:t>（単位：千円／税抜）※出所：対象会社作成「棚卸表 2025年12月1日時点（最終版）」。全社合計106,017千円は第5期決算書の商品残高と一致する。</a:t>
            </a:r>
          </a:p>
          <a:p>
            <a:r>
              <a:rPr sz="800">
                <a:latin typeface="游ゴシック Medium"/>
              </a:rPr>
              <a:t>※「決算書の計上額」は第5期決算報告書「売上高等の事業所別内訳書」の期末棚卸高。松阪管理センターは明和店に、中志段味店は緑店に含めて計上されている。</a:t>
            </a:r>
          </a:p>
          <a:p>
            <a:r>
              <a:rPr sz="800">
                <a:latin typeface="游ゴシック Medium"/>
              </a:rPr>
              <a:t>※本社32,000千円＋バックヤード12,000千円＝44,000千円は、進行期の2026年3月に棚卸資産廃棄損として全額を特別損失に計上済。廃棄に至った理由・処分方法は要確認。</a:t>
            </a:r>
          </a:p>
          <a:p>
            <a:r>
              <a:rPr sz="800">
                <a:latin typeface="游ゴシック Medium"/>
              </a:rPr>
              <a:t>※外部保管分10,000千円は仕入先デザイナーズワン株式会社（代表者の親族が経営）への預け在庫。2026年6月末の商品残高58,446千円に同額が含まれているかは要確認。</a:t>
            </a:r>
          </a:p>
        </p:txBody>
      </p:sp>
    </p:spTree>
    <p:extLst>
      <p:ext uri="{BB962C8B-B14F-4D97-AF65-F5344CB8AC3E}">
        <p14:creationId xmlns:p14="http://schemas.microsoft.com/office/powerpoint/2010/main" val="4117604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83D88-B54F-0820-A617-759035C5FFCE}"/>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2C2D39CC-0147-8513-46F0-368EBE22D97C}"/>
              </a:ext>
            </a:extLst>
          </p:cNvPr>
          <p:cNvSpPr>
            <a:spLocks noGrp="1"/>
          </p:cNvSpPr>
          <p:nvPr>
            <p:ph type="ctrTitle"/>
          </p:nvPr>
        </p:nvSpPr>
        <p:spPr>
          <a:xfrm>
            <a:off x="311150" y="180296"/>
            <a:ext cx="7799917" cy="339267"/>
          </a:xfrm>
        </p:spPr>
        <p:txBody>
          <a:bodyPr>
            <a:normAutofit/>
          </a:bodyPr>
          <a:lstStyle/>
          <a:p>
            <a:r>
              <a:rPr lang="ja-JP" altLang="en-US" dirty="0"/>
              <a:t>損益計算書</a:t>
            </a:r>
          </a:p>
        </p:txBody>
      </p:sp>
      <p:sp>
        <p:nvSpPr>
          <p:cNvPr id="5" name="タイトル 1">
            <a:extLst>
              <a:ext uri="{FF2B5EF4-FFF2-40B4-BE49-F238E27FC236}">
                <a16:creationId xmlns:a16="http://schemas.microsoft.com/office/drawing/2014/main" id="{B1382B80-EF7F-718A-0685-302C41A8531B}"/>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財務情報詳細</a:t>
            </a:r>
          </a:p>
        </p:txBody>
      </p:sp>
      <p:sp>
        <p:nvSpPr>
          <p:cNvPr id="4" name="字幕 13">
            <a:extLst>
              <a:ext uri="{FF2B5EF4-FFF2-40B4-BE49-F238E27FC236}">
                <a16:creationId xmlns:a16="http://schemas.microsoft.com/office/drawing/2014/main" id="{C391002A-F61E-39B7-D75D-796D17928C17}"/>
              </a:ext>
            </a:extLst>
          </p:cNvPr>
          <p:cNvSpPr>
            <a:spLocks noGrp="1"/>
          </p:cNvSpPr>
          <p:nvPr>
            <p:ph type="subTitle" idx="1"/>
          </p:nvPr>
        </p:nvSpPr>
        <p:spPr>
          <a:xfrm>
            <a:off x="460675" y="830046"/>
            <a:ext cx="9781875" cy="241861"/>
          </a:xfrm>
        </p:spPr>
        <p:txBody>
          <a:bodyPr>
            <a:noAutofit/>
          </a:bodyPr>
          <a:lstStyle/>
          <a:p>
            <a:r>
              <a:rPr lang="ja-JP" altLang="en-US" dirty="0">
                <a:latin typeface="+mj-ea"/>
              </a:rPr>
              <a:t>生体売上が6割を占める構成は3期を通じて安定。2025年11月期は粗利率が59.1%へ低下する一方、販管費が349,576千円に膨らみ営業損失19,552千円を計上した（進行期の月次推移はP.8参照）。</a:t>
            </a:r>
            <a:endParaRPr lang="en-US" altLang="ja-JP" dirty="0"/>
          </a:p>
        </p:txBody>
      </p:sp>
      <p:graphicFrame>
        <p:nvGraphicFramePr>
          <p:cNvPr id="7" name="表 6">
            <a:extLst>
              <a:ext uri="{FF2B5EF4-FFF2-40B4-BE49-F238E27FC236}">
                <a16:creationId xmlns:a16="http://schemas.microsoft.com/office/drawing/2014/main" id="{C8A6EA4B-EF0E-6AD7-2FB5-4C0BD6DDD25B}"/>
              </a:ext>
            </a:extLst>
          </p:cNvPr>
          <p:cNvGraphicFramePr>
            <a:graphicFrameLocks noGrp="1"/>
          </p:cNvGraphicFramePr>
          <p:nvPr>
            <p:extLst>
              <p:ext uri="{D42A27DB-BD31-4B8C-83A1-F6EECF244321}">
                <p14:modId xmlns:p14="http://schemas.microsoft.com/office/powerpoint/2010/main" val="89227664"/>
              </p:ext>
            </p:extLst>
          </p:nvPr>
        </p:nvGraphicFramePr>
        <p:xfrm>
          <a:off x="341312" y="1371600"/>
          <a:ext cx="6473952" cy="5418729"/>
        </p:xfrm>
        <a:graphic>
          <a:graphicData uri="http://schemas.openxmlformats.org/drawingml/2006/table">
            <a:tbl>
              <a:tblPr/>
              <a:tblGrid>
                <a:gridCol w="1645920">
                  <a:extLst>
                    <a:ext uri="{9D8B030D-6E8A-4147-A177-3AD203B41FA5}">
                      <a16:colId xmlns:a16="http://schemas.microsoft.com/office/drawing/2014/main" val="1203225717"/>
                    </a:ext>
                  </a:extLst>
                </a:gridCol>
                <a:gridCol w="804672">
                  <a:extLst>
                    <a:ext uri="{9D8B030D-6E8A-4147-A177-3AD203B41FA5}">
                      <a16:colId xmlns:a16="http://schemas.microsoft.com/office/drawing/2014/main" val="757072105"/>
                    </a:ext>
                  </a:extLst>
                </a:gridCol>
                <a:gridCol w="804672">
                  <a:extLst>
                    <a:ext uri="{9D8B030D-6E8A-4147-A177-3AD203B41FA5}">
                      <a16:colId xmlns:a16="http://schemas.microsoft.com/office/drawing/2014/main" val="2934432485"/>
                    </a:ext>
                  </a:extLst>
                </a:gridCol>
                <a:gridCol w="804672">
                  <a:extLst>
                    <a:ext uri="{9D8B030D-6E8A-4147-A177-3AD203B41FA5}">
                      <a16:colId xmlns:a16="http://schemas.microsoft.com/office/drawing/2014/main" val="3085477051"/>
                    </a:ext>
                  </a:extLst>
                </a:gridCol>
                <a:gridCol w="804672">
                  <a:extLst>
                    <a:ext uri="{9D8B030D-6E8A-4147-A177-3AD203B41FA5}">
                      <a16:colId xmlns:a16="http://schemas.microsoft.com/office/drawing/2014/main" val="1904258578"/>
                    </a:ext>
                  </a:extLst>
                </a:gridCol>
                <a:gridCol w="804672">
                  <a:extLst>
                    <a:ext uri="{9D8B030D-6E8A-4147-A177-3AD203B41FA5}">
                      <a16:colId xmlns:a16="http://schemas.microsoft.com/office/drawing/2014/main" val="367188390"/>
                    </a:ext>
                  </a:extLst>
                </a:gridCol>
                <a:gridCol w="804672">
                  <a:extLst>
                    <a:ext uri="{9D8B030D-6E8A-4147-A177-3AD203B41FA5}">
                      <a16:colId xmlns:a16="http://schemas.microsoft.com/office/drawing/2014/main" val="1573539663"/>
                    </a:ext>
                  </a:extLst>
                </a:gridCol>
              </a:tblGrid>
              <a:tr h="137160">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3439" marR="3439" marT="3439"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9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3439" marR="3439" marT="34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l" fontAlgn="ctr">
                        <a:buNone/>
                      </a:pPr>
                      <a:r>
                        <a:rPr lang="ja-JP" sz="9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3439" marR="3439" marT="3439"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　</a:t>
                      </a:r>
                      <a:endParaRPr lang="ja-JP" altLang="en-US" sz="90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3439" marR="3439" marT="34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3439" marR="3439" marT="3439"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9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3439" marR="3439" marT="34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3439" marR="3439" marT="3439" marB="0" anchor="ctr">
                    <a:lnL>
                      <a:noFill/>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553608451"/>
                  </a:ext>
                </a:extLst>
              </a:tr>
              <a:tr h="237744">
                <a:tc rowSpan="2">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科目</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gridSpan="2">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23年11月期</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3439" marR="3439" marT="3439"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gridSpan="2">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24年11月期</a:t>
                      </a:r>
                      <a:endParaRPr lang="ja-JP" altLang="en-US" sz="90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3439" marR="3439" marT="3439"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gridSpan="2">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25年11月期</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3439" marR="3439" marT="3439"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316968241"/>
                  </a:ext>
                </a:extLst>
              </a:tr>
              <a:tr h="155448">
                <a:tc vMerge="1">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売上高比</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売上高比</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売上高比</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extLst>
                  <a:ext uri="{0D108BD9-81ED-4DB2-BD59-A6C34878D82A}">
                    <a16:rowId xmlns:a16="http://schemas.microsoft.com/office/drawing/2014/main" val="2121160983"/>
                  </a:ext>
                </a:extLst>
              </a:tr>
              <a:tr h="18105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生体売上高</a:t>
                      </a:r>
                    </a:p>
                  </a:txBody>
                  <a:tcPr marL="185699" marR="3439" marT="3439"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293,214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61.8%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333,090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61.8%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338,295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60.6%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216549668"/>
                  </a:ext>
                </a:extLst>
              </a:tr>
              <a:tr h="18105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サービス売上高</a:t>
                      </a:r>
                    </a:p>
                  </a:txBody>
                  <a:tcPr marL="185699" marR="3439" marT="3439"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65,656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60,897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52,699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216549668"/>
                  </a:ext>
                </a:extLst>
              </a:tr>
              <a:tr h="18105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物販売上高</a:t>
                      </a:r>
                    </a:p>
                  </a:txBody>
                  <a:tcPr marL="185699" marR="3439" marT="3439"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115,559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145,048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167,395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216549668"/>
                  </a:ext>
                </a:extLst>
              </a:tr>
              <a:tr h="181051">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売上高</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474,428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100.0%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539,035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100.0%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558,390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100.0%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049622854"/>
                  </a:ext>
                </a:extLst>
              </a:tr>
              <a:tr h="18105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期首棚卸高</a:t>
                      </a:r>
                    </a:p>
                  </a:txBody>
                  <a:tcPr marL="185699" marR="3439" marT="3439"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39,486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70,918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127,081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216549668"/>
                  </a:ext>
                </a:extLst>
              </a:tr>
              <a:tr h="18105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商品仕入高</a:t>
                      </a:r>
                    </a:p>
                  </a:txBody>
                  <a:tcPr marL="185699" marR="3439" marT="3439"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183,854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38.8%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220,801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41.0%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182,243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32.6%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216549668"/>
                  </a:ext>
                </a:extLst>
              </a:tr>
              <a:tr h="18105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外注費</a:t>
                      </a:r>
                    </a:p>
                  </a:txBody>
                  <a:tcPr marL="185699" marR="3439" marT="3439"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29,628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31,466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25,058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216549668"/>
                  </a:ext>
                </a:extLst>
              </a:tr>
              <a:tr h="18105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期末棚卸高</a:t>
                      </a:r>
                    </a:p>
                  </a:txBody>
                  <a:tcPr marL="185699" marR="3439" marT="3439"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70,918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127,081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106,017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216549668"/>
                  </a:ext>
                </a:extLst>
              </a:tr>
              <a:tr h="181051">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売上原価</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182,050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38.4%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196,104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36.4%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228,365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40.9%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049622854"/>
                  </a:ext>
                </a:extLst>
              </a:tr>
              <a:tr h="181051">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売上総利益</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292,379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61.6%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342,931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63.6%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330,024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59.1%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049622854"/>
                  </a:ext>
                </a:extLst>
              </a:tr>
              <a:tr h="181051">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販売費及び一般管理費</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290,037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61.1%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339,909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63.1%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349,576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62.6%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049622854"/>
                  </a:ext>
                </a:extLst>
              </a:tr>
              <a:tr h="181051">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営業利益</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2,341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3,022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19,552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049622854"/>
                  </a:ext>
                </a:extLst>
              </a:tr>
              <a:tr h="181051">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営業外収益</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1,321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2,383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3,632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049622854"/>
                  </a:ext>
                </a:extLst>
              </a:tr>
              <a:tr h="18105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受取利息</a:t>
                      </a:r>
                    </a:p>
                  </a:txBody>
                  <a:tcPr marL="185699" marR="3439" marT="3439"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216549668"/>
                  </a:ext>
                </a:extLst>
              </a:tr>
              <a:tr h="18105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受取配当金</a:t>
                      </a:r>
                    </a:p>
                  </a:txBody>
                  <a:tcPr marL="185699" marR="3439" marT="3439"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216549668"/>
                  </a:ext>
                </a:extLst>
              </a:tr>
              <a:tr h="18105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雑収入</a:t>
                      </a:r>
                    </a:p>
                  </a:txBody>
                  <a:tcPr marL="185699" marR="3439" marT="3439"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1,321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2,378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3,607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216549668"/>
                  </a:ext>
                </a:extLst>
              </a:tr>
              <a:tr h="181051">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営業外費用</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1,134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2,296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2,656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049622854"/>
                  </a:ext>
                </a:extLst>
              </a:tr>
              <a:tr h="18105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支払利息</a:t>
                      </a:r>
                    </a:p>
                  </a:txBody>
                  <a:tcPr marL="185699" marR="3439" marT="3439"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1,134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1,788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2,591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216549668"/>
                  </a:ext>
                </a:extLst>
              </a:tr>
              <a:tr h="18105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雑損失</a:t>
                      </a:r>
                    </a:p>
                  </a:txBody>
                  <a:tcPr marL="185699" marR="3439" marT="3439"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216549668"/>
                  </a:ext>
                </a:extLst>
              </a:tr>
              <a:tr h="181051">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経常利益</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2,528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3,110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18,575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049622854"/>
                  </a:ext>
                </a:extLst>
              </a:tr>
              <a:tr h="181051">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特別利益</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049622854"/>
                  </a:ext>
                </a:extLst>
              </a:tr>
              <a:tr h="181051">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特別損失</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1,298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049622854"/>
                  </a:ext>
                </a:extLst>
              </a:tr>
              <a:tr h="18105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固定資産売却損</a:t>
                      </a:r>
                    </a:p>
                  </a:txBody>
                  <a:tcPr marL="185699" marR="3439" marT="3439"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968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216549668"/>
                  </a:ext>
                </a:extLst>
              </a:tr>
              <a:tr h="18105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固定資産除却損</a:t>
                      </a:r>
                    </a:p>
                  </a:txBody>
                  <a:tcPr marL="185699" marR="3439" marT="3439"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330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216549668"/>
                  </a:ext>
                </a:extLst>
              </a:tr>
              <a:tr h="181051">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税引前当期純利益</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2,528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3,110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19,874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049622854"/>
                  </a:ext>
                </a:extLst>
              </a:tr>
              <a:tr h="18105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法人税等</a:t>
                      </a:r>
                    </a:p>
                  </a:txBody>
                  <a:tcPr marL="185699" marR="3439" marT="3439"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894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2,135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485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216549668"/>
                  </a:ext>
                </a:extLst>
              </a:tr>
              <a:tr h="181051">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税引後当期純利益</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1,634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974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20,359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049622854"/>
                  </a:ext>
                </a:extLst>
              </a:tr>
            </a:tbl>
          </a:graphicData>
        </a:graphic>
      </p:graphicFrame>
      <p:sp>
        <p:nvSpPr>
          <p:cNvPr id="2" name="正方形/長方形 1">
            <a:extLst>
              <a:ext uri="{FF2B5EF4-FFF2-40B4-BE49-F238E27FC236}">
                <a16:creationId xmlns:a16="http://schemas.microsoft.com/office/drawing/2014/main" id="{612EABB3-CE7D-61AA-49A7-0C5A39CB2F7F}"/>
              </a:ext>
            </a:extLst>
          </p:cNvPr>
          <p:cNvSpPr/>
          <p:nvPr/>
        </p:nvSpPr>
        <p:spPr>
          <a:xfrm>
            <a:off x="6949440" y="1389888"/>
            <a:ext cx="3291839" cy="5422392"/>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游ゴシック" panose="020B0400000000000000" pitchFamily="50" charset="-128"/>
                <a:ea typeface="游ゴシック" panose="020B0400000000000000" pitchFamily="50" charset="-128"/>
              </a:rPr>
              <a:t>Comment</a:t>
            </a:r>
            <a:endParaRPr kumimoji="1" lang="ja-JP" altLang="en-US" sz="1600" b="1" dirty="0">
              <a:solidFill>
                <a:schemeClr val="tx2"/>
              </a:solidFill>
              <a:latin typeface="游ゴシック" panose="020B0400000000000000" pitchFamily="50" charset="-128"/>
              <a:ea typeface="游ゴシック" panose="020B0400000000000000" pitchFamily="50" charset="-128"/>
            </a:endParaRPr>
          </a:p>
        </p:txBody>
      </p:sp>
      <p:sp>
        <p:nvSpPr>
          <p:cNvPr id="16" name="テキスト ボックス 15">
            <a:extLst>
              <a:ext uri="{FF2B5EF4-FFF2-40B4-BE49-F238E27FC236}">
                <a16:creationId xmlns:a16="http://schemas.microsoft.com/office/drawing/2014/main" id="{628CFE76-679D-C90B-1E19-B26DADCE4A7F}"/>
              </a:ext>
            </a:extLst>
          </p:cNvPr>
          <p:cNvSpPr txBox="1"/>
          <p:nvPr/>
        </p:nvSpPr>
        <p:spPr>
          <a:xfrm>
            <a:off x="7086600" y="2011680"/>
            <a:ext cx="3017520" cy="4736592"/>
          </a:xfrm>
          <a:prstGeom prst="rect">
            <a:avLst/>
          </a:prstGeom>
          <a:noFill/>
        </p:spPr>
        <p:txBody>
          <a:bodyPr wrap="square" lIns="288000" tIns="0" rIns="252000" bIns="0" rtlCol="0">
            <a:spAutoFit/>
          </a:bodyPr>
          <a:lstStyle/>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50" b="1"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≪売上高≫</a:t>
            </a:r>
            <a:endParaRPr kumimoji="1" lang="ja-JP" altLang="en-US" sz="12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5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・474,428→539,035→558,390千円と2期で17.7%成長。生体売上が6割を占める構成は3期を通じて安定。</a:t>
            </a:r>
            <a:endParaRPr kumimoji="0" lang="en-US" altLang="ja-JP" sz="9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50" b="1"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≪売上原価≫</a:t>
            </a:r>
            <a:endParaRPr kumimoji="1" lang="ja-JP" altLang="en-US" sz="12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5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・粗利率は61.6%→63.6%→59.1%。2025年11月期は小型犬中心の既存店で仕入価格の上昇を販売価格へ転嫁できなかったことが主因（ヒアリング）。</a:t>
            </a:r>
            <a:endParaRPr kumimoji="0" lang="en-US" altLang="ja-JP" sz="9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50" b="1"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≪販売費及び一般管理費≫</a:t>
            </a:r>
            <a:endParaRPr kumimoji="1" lang="ja-JP" altLang="en-US" sz="12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5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・290,037→339,909→349,576千円と2期で59,539千円増加。路面店2店舗の通期稼働により地代家賃が+25,019千円、人件費が+25,612千円（内訳はP.34参照）。</a:t>
            </a:r>
            <a:endParaRPr kumimoji="0" lang="en-US" altLang="ja-JP" sz="9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50" b="1"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≪特別損失≫</a:t>
            </a:r>
            <a:endParaRPr kumimoji="1" lang="ja-JP" altLang="en-US" sz="12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5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・2025年11月期の1,298千円は固定資産売却損968千円・固定資産除却損330千円であり、いずれも非経常。</a:t>
            </a:r>
            <a:endParaRPr kumimoji="0" lang="en-US" altLang="ja-JP" sz="9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p:txBody>
      </p:sp>
    </p:spTree>
    <p:extLst>
      <p:ext uri="{BB962C8B-B14F-4D97-AF65-F5344CB8AC3E}">
        <p14:creationId xmlns:p14="http://schemas.microsoft.com/office/powerpoint/2010/main" val="37409429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11451-02A5-56C7-8AF6-DBDAA7CFCC10}"/>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F326988B-EA79-EED8-C9CB-DD122747A00F}"/>
              </a:ext>
            </a:extLst>
          </p:cNvPr>
          <p:cNvSpPr>
            <a:spLocks noGrp="1"/>
          </p:cNvSpPr>
          <p:nvPr>
            <p:ph type="ctrTitle"/>
          </p:nvPr>
        </p:nvSpPr>
        <p:spPr>
          <a:xfrm>
            <a:off x="311150" y="180296"/>
            <a:ext cx="7799917" cy="339267"/>
          </a:xfrm>
        </p:spPr>
        <p:txBody>
          <a:bodyPr>
            <a:normAutofit/>
          </a:bodyPr>
          <a:lstStyle/>
          <a:p>
            <a:r>
              <a:rPr lang="ja-JP" altLang="en-US" dirty="0"/>
              <a:t>販売費及び一般管理費</a:t>
            </a:r>
          </a:p>
        </p:txBody>
      </p:sp>
      <p:sp>
        <p:nvSpPr>
          <p:cNvPr id="5" name="タイトル 1">
            <a:extLst>
              <a:ext uri="{FF2B5EF4-FFF2-40B4-BE49-F238E27FC236}">
                <a16:creationId xmlns:a16="http://schemas.microsoft.com/office/drawing/2014/main" id="{7691939A-6180-3920-2B7D-F305819429CD}"/>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財務情報詳細</a:t>
            </a:r>
          </a:p>
        </p:txBody>
      </p:sp>
      <p:sp>
        <p:nvSpPr>
          <p:cNvPr id="4" name="字幕 13">
            <a:extLst>
              <a:ext uri="{FF2B5EF4-FFF2-40B4-BE49-F238E27FC236}">
                <a16:creationId xmlns:a16="http://schemas.microsoft.com/office/drawing/2014/main" id="{7F8A1EE0-ADF4-993B-FF72-FBEC016B826B}"/>
              </a:ext>
            </a:extLst>
          </p:cNvPr>
          <p:cNvSpPr>
            <a:spLocks noGrp="1"/>
          </p:cNvSpPr>
          <p:nvPr>
            <p:ph type="subTitle" idx="1"/>
          </p:nvPr>
        </p:nvSpPr>
        <p:spPr>
          <a:xfrm>
            <a:off x="460675" y="830046"/>
            <a:ext cx="9781875" cy="241861"/>
          </a:xfrm>
        </p:spPr>
        <p:txBody>
          <a:bodyPr>
            <a:noAutofit/>
          </a:bodyPr>
          <a:lstStyle/>
          <a:p>
            <a:r>
              <a:rPr lang="ja-JP" altLang="en-US" dirty="0">
                <a:latin typeface="+mj-ea"/>
              </a:rPr>
              <a:t>人件費（役員報酬等の計160,575千円・売上高比28.8%）と地代家賃・ロイヤリティが中心。2025年11月期は路面店2店舗の通期稼働で地代家賃が+13,788千円、ロイヤリティが△9,866千円。</a:t>
            </a:r>
            <a:endParaRPr lang="en-US" altLang="ja-JP" dirty="0"/>
          </a:p>
        </p:txBody>
      </p:sp>
      <p:graphicFrame>
        <p:nvGraphicFramePr>
          <p:cNvPr id="7" name="表 6">
            <a:extLst>
              <a:ext uri="{FF2B5EF4-FFF2-40B4-BE49-F238E27FC236}">
                <a16:creationId xmlns:a16="http://schemas.microsoft.com/office/drawing/2014/main" id="{0A397644-9A3A-FA5D-2455-9CC6E28D33A6}"/>
              </a:ext>
            </a:extLst>
          </p:cNvPr>
          <p:cNvGraphicFramePr>
            <a:graphicFrameLocks noGrp="1"/>
          </p:cNvGraphicFramePr>
          <p:nvPr>
            <p:extLst>
              <p:ext uri="{D42A27DB-BD31-4B8C-83A1-F6EECF244321}">
                <p14:modId xmlns:p14="http://schemas.microsoft.com/office/powerpoint/2010/main" val="4189343934"/>
              </p:ext>
            </p:extLst>
          </p:nvPr>
        </p:nvGraphicFramePr>
        <p:xfrm>
          <a:off x="311150" y="1371600"/>
          <a:ext cx="6501384" cy="5207508"/>
        </p:xfrm>
        <a:graphic>
          <a:graphicData uri="http://schemas.openxmlformats.org/drawingml/2006/table">
            <a:tbl>
              <a:tblPr/>
              <a:tblGrid>
                <a:gridCol w="1783080">
                  <a:extLst>
                    <a:ext uri="{9D8B030D-6E8A-4147-A177-3AD203B41FA5}">
                      <a16:colId xmlns:a16="http://schemas.microsoft.com/office/drawing/2014/main" val="2251232663"/>
                    </a:ext>
                  </a:extLst>
                </a:gridCol>
                <a:gridCol w="786384">
                  <a:extLst>
                    <a:ext uri="{9D8B030D-6E8A-4147-A177-3AD203B41FA5}">
                      <a16:colId xmlns:a16="http://schemas.microsoft.com/office/drawing/2014/main" val="3949639850"/>
                    </a:ext>
                  </a:extLst>
                </a:gridCol>
                <a:gridCol w="786384">
                  <a:extLst>
                    <a:ext uri="{9D8B030D-6E8A-4147-A177-3AD203B41FA5}">
                      <a16:colId xmlns:a16="http://schemas.microsoft.com/office/drawing/2014/main" val="2364528844"/>
                    </a:ext>
                  </a:extLst>
                </a:gridCol>
                <a:gridCol w="786384">
                  <a:extLst>
                    <a:ext uri="{9D8B030D-6E8A-4147-A177-3AD203B41FA5}">
                      <a16:colId xmlns:a16="http://schemas.microsoft.com/office/drawing/2014/main" val="3459482142"/>
                    </a:ext>
                  </a:extLst>
                </a:gridCol>
                <a:gridCol w="786384">
                  <a:extLst>
                    <a:ext uri="{9D8B030D-6E8A-4147-A177-3AD203B41FA5}">
                      <a16:colId xmlns:a16="http://schemas.microsoft.com/office/drawing/2014/main" val="107788540"/>
                    </a:ext>
                  </a:extLst>
                </a:gridCol>
                <a:gridCol w="786384">
                  <a:extLst>
                    <a:ext uri="{9D8B030D-6E8A-4147-A177-3AD203B41FA5}">
                      <a16:colId xmlns:a16="http://schemas.microsoft.com/office/drawing/2014/main" val="2114395438"/>
                    </a:ext>
                  </a:extLst>
                </a:gridCol>
                <a:gridCol w="786384">
                  <a:extLst>
                    <a:ext uri="{9D8B030D-6E8A-4147-A177-3AD203B41FA5}">
                      <a16:colId xmlns:a16="http://schemas.microsoft.com/office/drawing/2014/main" val="3710098136"/>
                    </a:ext>
                  </a:extLst>
                </a:gridCol>
              </a:tblGrid>
              <a:tr h="118872">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2836" marR="2836"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9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2836" marR="2836" marT="2836"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l" fontAlgn="ctr">
                        <a:buNone/>
                      </a:pPr>
                      <a:r>
                        <a:rPr lang="ja-JP" sz="9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2836" marR="2836"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2836" marR="2836" marT="2836" marB="0" anchor="b">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2836" marR="2836" marT="2836" marB="0" anchor="b">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9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2836" marR="2836" marT="2836"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2836" marR="2836" marT="2836" marB="0" anchor="ctr">
                    <a:lnL>
                      <a:noFill/>
                    </a:lnL>
                    <a:lnR>
                      <a:noFill/>
                    </a:lnR>
                    <a:lnT>
                      <a:noFill/>
                    </a:lnT>
                    <a:lnB>
                      <a:noFill/>
                    </a:lnB>
                    <a:noFill/>
                  </a:tcPr>
                </a:tc>
                <a:extLst>
                  <a:ext uri="{0D108BD9-81ED-4DB2-BD59-A6C34878D82A}">
                    <a16:rowId xmlns:a16="http://schemas.microsoft.com/office/drawing/2014/main" val="2244378733"/>
                  </a:ext>
                </a:extLst>
              </a:tr>
              <a:tr h="137160">
                <a:tc rowSpan="2">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科目</a:t>
                      </a:r>
                    </a:p>
                  </a:txBody>
                  <a:tcPr marL="2836" marR="2836"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0B3041"/>
                    </a:solidFill>
                  </a:tcPr>
                </a:tc>
                <a:tc gridSpan="2">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23年11月期</a:t>
                      </a:r>
                    </a:p>
                  </a:txBody>
                  <a:tcPr marL="2836" marR="2836"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2836" marR="2836" marT="2836"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gridSpan="2">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24年11月期</a:t>
                      </a:r>
                    </a:p>
                  </a:txBody>
                  <a:tcPr marL="2836" marR="2836"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2836" marR="2836" marT="2836"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gridSpan="2">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25年11月期</a:t>
                      </a:r>
                    </a:p>
                  </a:txBody>
                  <a:tcPr marL="2836" marR="2836"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2836" marR="2836" marT="2836"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3469752856"/>
                  </a:ext>
                </a:extLst>
              </a:tr>
              <a:tr h="137160">
                <a:tc vMerge="1">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2836" marR="2836"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売上高比</a:t>
                      </a:r>
                    </a:p>
                  </a:txBody>
                  <a:tcPr marL="2836" marR="2836"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2836" marR="2836"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売上高比</a:t>
                      </a:r>
                    </a:p>
                  </a:txBody>
                  <a:tcPr marL="2836" marR="2836"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2836" marR="2836"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売上高比</a:t>
                      </a:r>
                    </a:p>
                  </a:txBody>
                  <a:tcPr marL="2836" marR="2836"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extLst>
                  <a:ext uri="{0D108BD9-81ED-4DB2-BD59-A6C34878D82A}">
                    <a16:rowId xmlns:a16="http://schemas.microsoft.com/office/drawing/2014/main" val="865433045"/>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役員報酬</a:t>
                      </a:r>
                    </a:p>
                  </a:txBody>
                  <a:tcPr marL="102099" marR="2836" marT="2836" marB="0" anchor="ctr">
                    <a:lnL w="6350" cap="flat" cmpd="sng" algn="ctr">
                      <a:solidFill>
                        <a:srgbClr val="FFFFFF"/>
                      </a:solidFill>
                      <a:prstDash val="solid"/>
                      <a:round/>
                      <a:headEnd type="none" w="med" len="med"/>
                      <a:tailEnd type="none" w="med" len="med"/>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9,600</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9,600</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1.8%</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14,400</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082702415"/>
                  </a:ext>
                </a:extLst>
              </a:tr>
              <a:tr h="178308">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従業員給与</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112,323</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23.7%</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115,962</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21.5%</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127,017</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22.7%</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4103263029"/>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法定福利費</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10,104</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22,242</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4.1%</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15,295</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2.7%</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734683586"/>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厚生費</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2,936</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0.6%</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3,946</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0.7%</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3,863</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0.7%</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1114092"/>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旅費交通費</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3,152</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0.7%</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4,978</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0.9%</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5,725</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619190109"/>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広告宣伝費</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24,335</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5.1%</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34,052</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6.3%</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26,651</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4.8%</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743200196"/>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発送配達費</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353</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281</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437</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208356641"/>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ロイヤリティ</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45,990</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9.7%</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39,848</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7.4%</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29,982</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5.4%</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721206240"/>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会議費</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190</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484</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dirty="0">
                          <a:solidFill>
                            <a:srgbClr val="000000"/>
                          </a:solidFill>
                          <a:effectLst/>
                          <a:latin typeface="Arial" panose="020B0604020202020204" pitchFamily="34" charset="0"/>
                          <a:ea typeface="游ゴシック Medium" panose="020B0500000000000000" pitchFamily="50" charset="-128"/>
                        </a:rPr>
                        <a:t>1,489</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0.3%</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4279926147"/>
                  </a:ext>
                </a:extLst>
              </a:tr>
              <a:tr h="178308">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減価償却費</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3,911</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0.8%</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9,295</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6,349</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311296025"/>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リース料</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4,295</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0.9%</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4,555</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0.8%</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7,250</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612394859"/>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地代家賃</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8,230</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19,460</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3.6%</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33,249</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6.0%</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275234632"/>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修繕費</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468</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1,088</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0.2%</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275</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292321822"/>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事務用消耗品費</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9,802</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6,407</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4,372</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0.8%</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821224855"/>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通信費</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2,456</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0.5%</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2,673</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0.5%</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3,045</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0.5%</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4015809075"/>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水道光熱費</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2,958</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0.6%</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3,149</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0.6%</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3,941</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0.7%</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4107171"/>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租税公課</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8,881</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10,506</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20,061</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3.6%</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258033232"/>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接待交際費</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8,453</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1.8%</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10,230</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8,218</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1.5%</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802856607"/>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保険料</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2,411</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0.5%</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4,218</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0.8%</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3,877</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0.7%</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71138110"/>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備品消耗品費</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12,485</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14,037</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8,462</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1.5%</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972454482"/>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管理諸費</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5,564</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5,027</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0.9%</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5,797</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4114772075"/>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支払手数料</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7,153</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1.5%</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11,861</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14,453</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59608223"/>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諸会費</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48781516"/>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車両費</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627</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447</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513</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365172073"/>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研修費</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103</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174</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278158404"/>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雑費</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3,334</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0.7%</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5,436</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4,667</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0.8%</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4013829628"/>
                  </a:ext>
                </a:extLst>
              </a:tr>
              <a:tr h="178308">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販売費および一般管理費合計</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290,037</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61.1%</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339,909</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63.1%</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349,576</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62.6%</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495505000"/>
                  </a:ext>
                </a:extLst>
              </a:tr>
            </a:tbl>
          </a:graphicData>
        </a:graphic>
      </p:graphicFrame>
      <p:sp>
        <p:nvSpPr>
          <p:cNvPr id="2" name="正方形/長方形 1">
            <a:extLst>
              <a:ext uri="{FF2B5EF4-FFF2-40B4-BE49-F238E27FC236}">
                <a16:creationId xmlns:a16="http://schemas.microsoft.com/office/drawing/2014/main" id="{612EABB3-CE7D-61AA-49A7-0C5A39CB2F7F}"/>
              </a:ext>
            </a:extLst>
          </p:cNvPr>
          <p:cNvSpPr/>
          <p:nvPr/>
        </p:nvSpPr>
        <p:spPr>
          <a:xfrm>
            <a:off x="6949440" y="1389888"/>
            <a:ext cx="3291839" cy="5422392"/>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游ゴシック" panose="020B0400000000000000" pitchFamily="50" charset="-128"/>
                <a:ea typeface="游ゴシック" panose="020B0400000000000000" pitchFamily="50" charset="-128"/>
              </a:rPr>
              <a:t>Comment</a:t>
            </a:r>
            <a:endParaRPr kumimoji="1" lang="ja-JP" altLang="en-US" sz="1600" b="1" dirty="0">
              <a:solidFill>
                <a:schemeClr val="tx2"/>
              </a:solidFill>
              <a:latin typeface="游ゴシック" panose="020B0400000000000000" pitchFamily="50" charset="-128"/>
              <a:ea typeface="游ゴシック" panose="020B0400000000000000" pitchFamily="50" charset="-128"/>
            </a:endParaRPr>
          </a:p>
        </p:txBody>
      </p:sp>
      <p:sp>
        <p:nvSpPr>
          <p:cNvPr id="16" name="テキスト ボックス 15">
            <a:extLst>
              <a:ext uri="{FF2B5EF4-FFF2-40B4-BE49-F238E27FC236}">
                <a16:creationId xmlns:a16="http://schemas.microsoft.com/office/drawing/2014/main" id="{628CFE76-679D-C90B-1E19-B26DADCE4A7F}"/>
              </a:ext>
            </a:extLst>
          </p:cNvPr>
          <p:cNvSpPr txBox="1"/>
          <p:nvPr/>
        </p:nvSpPr>
        <p:spPr>
          <a:xfrm>
            <a:off x="7086600" y="2011680"/>
            <a:ext cx="3017520" cy="4736592"/>
          </a:xfrm>
          <a:prstGeom prst="rect">
            <a:avLst/>
          </a:prstGeom>
          <a:noFill/>
        </p:spPr>
        <p:txBody>
          <a:bodyPr wrap="square" lIns="288000" tIns="0" rIns="252000" bIns="0" rtlCol="0">
            <a:spAutoFit/>
          </a:bodyPr>
          <a:lstStyle/>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50" b="1"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≪人件費≫</a:t>
            </a:r>
            <a:endParaRPr kumimoji="1" lang="ja-JP" altLang="en-US" sz="12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5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・役員報酬・従業員給与・法定福利費・厚生費の計は134,963→151,750→160,575千円、売上高比28.4%→28.2%→28.8%とほぼ一定。</a:t>
            </a:r>
            <a:endParaRPr kumimoji="0" lang="en-US" altLang="ja-JP" sz="9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50" b="1"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≪ロイヤリティ≫</a:t>
            </a:r>
            <a:endParaRPr kumimoji="1" lang="ja-JP" altLang="en-US" sz="12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5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・45,990→39,848→29,982千円、売上高比9.7%→7.4%→5.4%と低下。ロイヤリティを負担しないブランド店の売上構成比が高まった裏返しである（P.14参照）。</a:t>
            </a:r>
            <a:endParaRPr kumimoji="0" lang="en-US" altLang="ja-JP" sz="9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50" b="1"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≪地代家賃≫</a:t>
            </a:r>
            <a:endParaRPr kumimoji="1" lang="ja-JP" altLang="en-US" sz="12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5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・8,230→19,460→33,249千円。路面店2店舗の通期稼働による増加（内訳はP.27参照）。</a:t>
            </a:r>
            <a:endParaRPr kumimoji="0" lang="en-US" altLang="ja-JP" sz="9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50" b="1"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≪租税公課≫</a:t>
            </a:r>
            <a:endParaRPr kumimoji="1" lang="ja-JP" altLang="en-US" sz="12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85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・8,881→10,506→20,061千円。2025年11月期の増加要因は未確認（要確認）。</a:t>
            </a:r>
            <a:endParaRPr kumimoji="0" lang="en-US" altLang="ja-JP" sz="9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p:txBody>
      </p:sp>
    </p:spTree>
    <p:extLst>
      <p:ext uri="{BB962C8B-B14F-4D97-AF65-F5344CB8AC3E}">
        <p14:creationId xmlns:p14="http://schemas.microsoft.com/office/powerpoint/2010/main" val="19093800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12D40-6E48-E93D-4FC9-F10D333C1CB4}"/>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8F9793F7-DC5F-E269-D0AF-CEA1591E82A7}"/>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借入金一覧</a:t>
            </a:r>
          </a:p>
        </p:txBody>
      </p:sp>
      <p:sp>
        <p:nvSpPr>
          <p:cNvPr id="6" name="タイトル 1">
            <a:extLst>
              <a:ext uri="{FF2B5EF4-FFF2-40B4-BE49-F238E27FC236}">
                <a16:creationId xmlns:a16="http://schemas.microsoft.com/office/drawing/2014/main" id="{541F4B75-7B8F-E770-E8BD-648B0D9A1125}"/>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財務情報詳細</a:t>
            </a:r>
          </a:p>
        </p:txBody>
      </p:sp>
      <p:sp>
        <p:nvSpPr>
          <p:cNvPr id="9" name="字幕 13">
            <a:extLst>
              <a:ext uri="{FF2B5EF4-FFF2-40B4-BE49-F238E27FC236}">
                <a16:creationId xmlns:a16="http://schemas.microsoft.com/office/drawing/2014/main" id="{C67BBAB2-F39C-2CF9-AEE1-8D09DEE08EBD}"/>
              </a:ext>
            </a:extLst>
          </p:cNvPr>
          <p:cNvSpPr>
            <a:spLocks noGrp="1"/>
          </p:cNvSpPr>
          <p:nvPr>
            <p:ph type="subTitle" idx="1"/>
          </p:nvPr>
        </p:nvSpPr>
        <p:spPr>
          <a:xfrm>
            <a:off x="460675" y="830046"/>
            <a:ext cx="9781875" cy="241861"/>
          </a:xfrm>
        </p:spPr>
        <p:txBody>
          <a:bodyPr>
            <a:noAutofit/>
          </a:bodyPr>
          <a:lstStyle/>
          <a:p>
            <a:r>
              <a:rPr lang="en-US" altLang="ja-JP" dirty="0">
                <a:latin typeface="游ゴシック" panose="020B0400000000000000" pitchFamily="50" charset="-128"/>
                <a:ea typeface="游ゴシック" panose="020B0400000000000000" pitchFamily="50" charset="-128"/>
              </a:rPr>
              <a:t>2025年11月期末の長期借入金は191,858千円（9本）。岐阜信用金庫114,883千円、りそな銀行41,386千円、日本政策金融公庫35,589千円。民間6本は代表者の連帯保証および信用保証協会の保証付き。</a:t>
            </a:r>
          </a:p>
        </p:txBody>
      </p:sp>
      <p:graphicFrame>
        <p:nvGraphicFramePr>
          <p:cNvPr id="4" name="表 3">
            <a:extLst>
              <a:ext uri="{FF2B5EF4-FFF2-40B4-BE49-F238E27FC236}">
                <a16:creationId xmlns:a16="http://schemas.microsoft.com/office/drawing/2014/main" id="{F3ABDE07-DA1F-17B4-3617-3A791BD82473}"/>
              </a:ext>
            </a:extLst>
          </p:cNvPr>
          <p:cNvGraphicFramePr>
            <a:graphicFrameLocks noGrp="1"/>
          </p:cNvGraphicFramePr>
          <p:nvPr/>
        </p:nvGraphicFramePr>
        <p:xfrm>
          <a:off x="310896" y="1408176"/>
          <a:ext cx="10021824" cy="3621024"/>
        </p:xfrm>
        <a:graphic>
          <a:graphicData uri="http://schemas.openxmlformats.org/drawingml/2006/table">
            <a:tbl>
              <a:tblPr/>
              <a:tblGrid>
                <a:gridCol w="256032">
                  <a:extLst>
                    <a:ext uri="{9D8B030D-6E8A-4147-A177-3AD203B41FA5}">
                      <a16:colId xmlns:a16="http://schemas.microsoft.com/office/drawing/2014/main" val="20000"/>
                    </a:ext>
                  </a:extLst>
                </a:gridCol>
                <a:gridCol w="1755648">
                  <a:extLst>
                    <a:ext uri="{9D8B030D-6E8A-4147-A177-3AD203B41FA5}">
                      <a16:colId xmlns:a16="http://schemas.microsoft.com/office/drawing/2014/main" val="20001"/>
                    </a:ext>
                  </a:extLst>
                </a:gridCol>
                <a:gridCol w="1517904">
                  <a:extLst>
                    <a:ext uri="{9D8B030D-6E8A-4147-A177-3AD203B41FA5}">
                      <a16:colId xmlns:a16="http://schemas.microsoft.com/office/drawing/2014/main" val="20002"/>
                    </a:ext>
                  </a:extLst>
                </a:gridCol>
                <a:gridCol w="749808">
                  <a:extLst>
                    <a:ext uri="{9D8B030D-6E8A-4147-A177-3AD203B41FA5}">
                      <a16:colId xmlns:a16="http://schemas.microsoft.com/office/drawing/2014/main" val="20003"/>
                    </a:ext>
                  </a:extLst>
                </a:gridCol>
                <a:gridCol w="859536">
                  <a:extLst>
                    <a:ext uri="{9D8B030D-6E8A-4147-A177-3AD203B41FA5}">
                      <a16:colId xmlns:a16="http://schemas.microsoft.com/office/drawing/2014/main" val="20004"/>
                    </a:ext>
                  </a:extLst>
                </a:gridCol>
                <a:gridCol w="768096">
                  <a:extLst>
                    <a:ext uri="{9D8B030D-6E8A-4147-A177-3AD203B41FA5}">
                      <a16:colId xmlns:a16="http://schemas.microsoft.com/office/drawing/2014/main" val="20005"/>
                    </a:ext>
                  </a:extLst>
                </a:gridCol>
                <a:gridCol w="2212848">
                  <a:extLst>
                    <a:ext uri="{9D8B030D-6E8A-4147-A177-3AD203B41FA5}">
                      <a16:colId xmlns:a16="http://schemas.microsoft.com/office/drawing/2014/main" val="20006"/>
                    </a:ext>
                  </a:extLst>
                </a:gridCol>
                <a:gridCol w="1901952">
                  <a:extLst>
                    <a:ext uri="{9D8B030D-6E8A-4147-A177-3AD203B41FA5}">
                      <a16:colId xmlns:a16="http://schemas.microsoft.com/office/drawing/2014/main" val="20007"/>
                    </a:ext>
                  </a:extLst>
                </a:gridCol>
              </a:tblGrid>
              <a:tr h="402336">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借入先</a:t>
                      </a:r>
                    </a:p>
                  </a:txBody>
                  <a:tcPr marL="36576" marR="36576" marT="9144" marB="9144"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所在地</a:t>
                      </a:r>
                    </a:p>
                  </a:txBody>
                  <a:tcPr marL="36576" marR="36576" marT="9144" marB="9144"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当初借入額
(千円)</a:t>
                      </a:r>
                    </a:p>
                  </a:txBody>
                  <a:tcPr marL="36576" marR="36576" marT="9144" marB="9144"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25年11月末
残高(千円)</a:t>
                      </a:r>
                    </a:p>
                  </a:txBody>
                  <a:tcPr marL="36576" marR="36576" marT="9144" marB="9144"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期中支払
利息(千円)</a:t>
                      </a:r>
                      <a:endParaRPr lang="ja-JP" sz="105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36576" marR="36576" marT="9144" marB="9144" anchor="ctr">
                    <a:lnL w="6350" cap="flat" cmpd="sng" algn="ctr">
                      <a:solidFill>
                        <a:schemeClr val="bg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連帯保証・担保</a:t>
                      </a:r>
                      <a:endParaRPr lang="ja-JP" sz="105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借入期間・金利等</a:t>
                      </a:r>
                      <a:endParaRPr lang="ja-JP" sz="105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extLst>
                  <a:ext uri="{0D108BD9-81ED-4DB2-BD59-A6C34878D82A}">
                    <a16:rowId xmlns:a16="http://schemas.microsoft.com/office/drawing/2014/main" val="10000"/>
                  </a:ext>
                </a:extLst>
              </a:tr>
              <a:tr h="292608">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①</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㈱日本政策金融公庫</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岐阜市吉野町6-31</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10,000</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5,829</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82</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要確認</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借入日・完済日・金利は要確認</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②</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㈱日本政策金融公庫</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岐阜市吉野町6-31</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35,000</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26,040</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134</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要確認</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借入日・完済日・金利は要確認</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2608">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③</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㈱日本政策金融公庫</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岐阜市吉野町6-31</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5,000</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3,720</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27</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要確認</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借入日・完済日・金利は要確認</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2608">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④</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岐阜信用金庫（大垣支店）</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大垣市上面4-10-1</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15,000</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9,662</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169</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代表者連帯保証／岐阜県信用保証協会</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2020年8月〜2030年8月・1.800%（変動）／コロナ関連借入</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92608">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⑤</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岐阜信用金庫（大垣支店）</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大垣市上面4-10-1</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100,000</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89,171</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1,269</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代表者連帯保証／岐阜県信用保証協会</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2024年5月〜2034年5月・1.500%（変動）</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92608">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⑥</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岐阜信用金庫（大垣支店）</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大垣市上面4-10-1</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18,000</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16,050</a:t>
                      </a:r>
                      <a:endParaRPr lang="en-US" altLang="ja-JP" sz="1000" b="0" i="0" u="none" strike="noStrike" dirty="0">
                        <a:solidFill>
                          <a:sysClr val="windowText" lastClr="000000"/>
                        </a:solidFill>
                        <a:effectLst/>
                        <a:latin typeface="游ゴシック" panose="020B0400000000000000" pitchFamily="50" charset="-128"/>
                        <a:ea typeface="游ゴシック" panose="020B0400000000000000" pitchFamily="50" charset="-128"/>
                      </a:endParaRP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228</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代表者連帯保証／岐阜県信用保証協会</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2024年5月〜2034年5月・1.500%（変動）</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extLst>
                  <a:ext uri="{0D108BD9-81ED-4DB2-BD59-A6C34878D82A}">
                    <a16:rowId xmlns:a16="http://schemas.microsoft.com/office/drawing/2014/main" val="10006"/>
                  </a:ext>
                </a:extLst>
              </a:tr>
              <a:tr h="292608">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⑦</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㈱りそな銀行（名古屋支店）</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名古屋市中区錦2-14-19</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30,000</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9,096</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122</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代表者連帯保証／愛知県信用保証協会</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2021年12月〜2026年12月・0.875%（変動）</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extLst>
                  <a:ext uri="{0D108BD9-81ED-4DB2-BD59-A6C34878D82A}">
                    <a16:rowId xmlns:a16="http://schemas.microsoft.com/office/drawing/2014/main" val="10007"/>
                  </a:ext>
                </a:extLst>
              </a:tr>
              <a:tr h="292608">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⑧</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㈱りそな銀行（名古屋支店）</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名古屋市中区錦2-14-19</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30,000</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9,632</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128</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代表者連帯保証／岐阜県信用保証協会</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2021年12月〜2026年12月・0.875%（変動）</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92608">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⑨</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㈱りそな銀行（名古屋支店）</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名古屋市中区錦2-14-19</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40,000</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22,658</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431</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代表者連帯保証／岐阜県信用保証協会</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2023年4月〜2028年4月・1.475%</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74320">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　</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長期借入金 合計</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191,858</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2,591</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310896">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　</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（参考）役員借入金</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代表者</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7,566</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譲渡時の返済を希望。2026年6月末の残高は3,403千円へ減少</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
        <p:nvSpPr>
          <p:cNvPr id="14" name="Rounded Rectangle 13"/>
          <p:cNvSpPr/>
          <p:nvPr/>
        </p:nvSpPr>
        <p:spPr>
          <a:xfrm>
            <a:off x="310896" y="5650992"/>
            <a:ext cx="10021824" cy="566928"/>
          </a:xfrm>
          <a:prstGeom prst="roundRect">
            <a:avLst>
              <a:gd name="adj" fmla="val 12000"/>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游ゴシック" panose="020B0400000000000000" pitchFamily="50" charset="-128"/>
              <a:ea typeface="游ゴシック" panose="020B0400000000000000" pitchFamily="50" charset="-128"/>
            </a:endParaRPr>
          </a:p>
        </p:txBody>
      </p:sp>
      <p:sp>
        <p:nvSpPr>
          <p:cNvPr id="15" name="TextBox 14"/>
          <p:cNvSpPr txBox="1"/>
          <p:nvPr/>
        </p:nvSpPr>
        <p:spPr>
          <a:xfrm>
            <a:off x="475488" y="5724144"/>
            <a:ext cx="9692640" cy="457200"/>
          </a:xfrm>
          <a:prstGeom prst="rect">
            <a:avLst/>
          </a:prstGeom>
          <a:noFill/>
        </p:spPr>
        <p:txBody>
          <a:bodyPr wrap="square" lIns="0" tIns="0" rIns="0" bIns="0" anchor="ctr">
            <a:spAutoFit/>
          </a:bodyPr>
          <a:lstStyle/>
          <a:p>
            <a:pPr algn="l">
              <a:lnSpc>
                <a:spcPct val="115000"/>
              </a:lnSpc>
            </a:pPr>
            <a:r>
              <a:rPr sz="950" b="1">
                <a:solidFill>
                  <a:srgbClr val="0B3041"/>
                </a:solidFill>
                <a:latin typeface="游ゴシック" panose="020B0400000000000000" pitchFamily="50" charset="-128"/>
                <a:ea typeface="游ゴシック" panose="020B0400000000000000" pitchFamily="50" charset="-128"/>
              </a:rPr>
              <a:t>民間6本は信用保証協会の保証付き、公庫3本はプロパーであり、不動産担保の設定はない（法人が所有する不動産は駐車場用地1筆のみ）。</a:t>
            </a:r>
          </a:p>
          <a:p>
            <a:pPr algn="l">
              <a:lnSpc>
                <a:spcPct val="115000"/>
              </a:lnSpc>
            </a:pPr>
            <a:r>
              <a:rPr sz="950" b="1">
                <a:solidFill>
                  <a:srgbClr val="0B3041"/>
                </a:solidFill>
                <a:latin typeface="游ゴシック" panose="020B0400000000000000" pitchFamily="50" charset="-128"/>
                <a:ea typeface="游ゴシック" panose="020B0400000000000000" pitchFamily="50" charset="-128"/>
              </a:rPr>
              <a:t>進行期の月次試算表では長期借入金が期首残高（191,858千円）のまま据え置かれており、返済額は決算時に一括計上されていると推察（要確認）。</a:t>
            </a:r>
          </a:p>
        </p:txBody>
      </p:sp>
      <p:sp>
        <p:nvSpPr>
          <p:cNvPr id="16" name="TextBox 15"/>
          <p:cNvSpPr txBox="1"/>
          <p:nvPr/>
        </p:nvSpPr>
        <p:spPr>
          <a:xfrm>
            <a:off x="310896" y="6327648"/>
            <a:ext cx="10021824" cy="365760"/>
          </a:xfrm>
          <a:prstGeom prst="rect">
            <a:avLst/>
          </a:prstGeom>
          <a:noFill/>
        </p:spPr>
        <p:txBody>
          <a:bodyPr wrap="square" lIns="0" tIns="0" rIns="0" bIns="0" anchor="t">
            <a:spAutoFit/>
          </a:bodyPr>
          <a:lstStyle/>
          <a:p>
            <a:pPr algn="l">
              <a:lnSpc>
                <a:spcPct val="115000"/>
              </a:lnSpc>
            </a:pPr>
            <a:r>
              <a:rPr sz="840" b="0" dirty="0">
                <a:solidFill>
                  <a:sysClr val="windowText" lastClr="000000"/>
                </a:solidFill>
                <a:latin typeface="游ゴシック" panose="020B0400000000000000" pitchFamily="50" charset="-128"/>
                <a:ea typeface="游ゴシック" panose="020B0400000000000000" pitchFamily="50" charset="-128"/>
              </a:rPr>
              <a:t>※出所：2025年11月期「借入金及び支払利子の内訳書」。当初借入額・借入期間・金利は対象会社提供の既存会社説明資料（2024年11月末時点）に基づく。</a:t>
            </a:r>
            <a:endParaRPr lang="en-US" sz="840" b="0" dirty="0">
              <a:solidFill>
                <a:sysClr val="windowText" lastClr="000000"/>
              </a:solidFill>
              <a:latin typeface="游ゴシック" panose="020B0400000000000000" pitchFamily="50" charset="-128"/>
              <a:ea typeface="游ゴシック" panose="020B0400000000000000" pitchFamily="50" charset="-128"/>
            </a:endParaRPr>
          </a:p>
          <a:p>
            <a:pPr algn="l">
              <a:lnSpc>
                <a:spcPct val="115000"/>
              </a:lnSpc>
            </a:pPr>
            <a:r>
              <a:rPr sz="840" b="0" dirty="0">
                <a:solidFill>
                  <a:sysClr val="windowText" lastClr="000000"/>
                </a:solidFill>
                <a:latin typeface="游ゴシック" panose="020B0400000000000000" pitchFamily="50" charset="-128"/>
                <a:ea typeface="游ゴシック" panose="020B0400000000000000" pitchFamily="50" charset="-128"/>
              </a:rPr>
              <a:t>※日本政策金融公庫3本の借入日・完済日・金利は資料未受領のため要確認。</a:t>
            </a:r>
            <a:endParaRPr lang="en-US" sz="840" b="0" dirty="0">
              <a:solidFill>
                <a:sysClr val="windowText" lastClr="000000"/>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42618433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E9481-F171-6C11-CA74-858754CED30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1067C0B-FDBB-DAD1-C4BF-FB866758BEC6}"/>
              </a:ext>
            </a:extLst>
          </p:cNvPr>
          <p:cNvSpPr>
            <a:spLocks noGrp="1"/>
          </p:cNvSpPr>
          <p:nvPr>
            <p:ph type="title"/>
          </p:nvPr>
        </p:nvSpPr>
        <p:spPr>
          <a:xfrm>
            <a:off x="989013" y="3656161"/>
            <a:ext cx="9221787" cy="615553"/>
          </a:xfrm>
        </p:spPr>
        <p:txBody>
          <a:bodyPr/>
          <a:lstStyle/>
          <a:p>
            <a:r>
              <a:rPr lang="en-US" altLang="ja-JP" dirty="0"/>
              <a:t>Appendix</a:t>
            </a:r>
          </a:p>
        </p:txBody>
      </p:sp>
      <p:pic>
        <p:nvPicPr>
          <p:cNvPr id="7" name="図 6">
            <a:extLst>
              <a:ext uri="{FF2B5EF4-FFF2-40B4-BE49-F238E27FC236}">
                <a16:creationId xmlns:a16="http://schemas.microsoft.com/office/drawing/2014/main" id="{BE44F769-AF87-1EF8-CEAB-4A2DEB29EB7A}"/>
              </a:ext>
            </a:extLst>
          </p:cNvPr>
          <p:cNvPicPr>
            <a:picLocks noChangeAspect="1"/>
          </p:cNvPicPr>
          <p:nvPr/>
        </p:nvPicPr>
        <p:blipFill>
          <a:blip/>
          <a:stretch>
            <a:fillRect/>
          </a:stretch>
        </p:blipFill>
        <p:spPr>
          <a:xfrm>
            <a:off x="7776467" y="3981785"/>
            <a:ext cx="21" cy="20"/>
          </a:xfrm>
          <a:prstGeom prst="rect">
            <a:avLst/>
          </a:prstGeom>
        </p:spPr>
      </p:pic>
      <p:pic>
        <p:nvPicPr>
          <p:cNvPr id="9" name="図 8">
            <a:extLst>
              <a:ext uri="{FF2B5EF4-FFF2-40B4-BE49-F238E27FC236}">
                <a16:creationId xmlns:a16="http://schemas.microsoft.com/office/drawing/2014/main" id="{41B259AF-F3E6-3AB0-F8AA-FC2C3824ADE5}"/>
              </a:ext>
            </a:extLst>
          </p:cNvPr>
          <p:cNvPicPr>
            <a:picLocks noChangeAspect="1"/>
          </p:cNvPicPr>
          <p:nvPr/>
        </p:nvPicPr>
        <p:blipFill>
          <a:blip/>
          <a:stretch>
            <a:fillRect/>
          </a:stretch>
        </p:blipFill>
        <p:spPr>
          <a:xfrm>
            <a:off x="7776467" y="3981785"/>
            <a:ext cx="21" cy="20"/>
          </a:xfrm>
          <a:prstGeom prst="rect">
            <a:avLst/>
          </a:prstGeom>
        </p:spPr>
      </p:pic>
    </p:spTree>
    <p:extLst>
      <p:ext uri="{BB962C8B-B14F-4D97-AF65-F5344CB8AC3E}">
        <p14:creationId xmlns:p14="http://schemas.microsoft.com/office/powerpoint/2010/main" val="34130237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2E3EC-2048-079E-7643-70D2CF76772A}"/>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02E27983-8C8F-AAE9-9CF2-1036574B4BDE}"/>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沿革</a:t>
            </a:r>
          </a:p>
        </p:txBody>
      </p:sp>
      <p:sp>
        <p:nvSpPr>
          <p:cNvPr id="5" name="タイトル 1">
            <a:extLst>
              <a:ext uri="{FF2B5EF4-FFF2-40B4-BE49-F238E27FC236}">
                <a16:creationId xmlns:a16="http://schemas.microsoft.com/office/drawing/2014/main" id="{7C6D20B5-6E7B-D773-483A-3D3213A63C3D}"/>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en-US" altLang="ja-JP" sz="1200" b="1" spc="55" dirty="0">
                <a:solidFill>
                  <a:schemeClr val="bg1"/>
                </a:solidFill>
                <a:latin typeface="游ゴシック" panose="020B0400000000000000" pitchFamily="50" charset="-128"/>
                <a:ea typeface="游ゴシック" panose="020B0400000000000000" pitchFamily="50" charset="-128"/>
              </a:rPr>
              <a:t>Appendix</a:t>
            </a:r>
            <a:endParaRPr lang="ja-JP" altLang="en-US" sz="1200" b="1" spc="55" dirty="0">
              <a:solidFill>
                <a:schemeClr val="bg1"/>
              </a:solidFill>
              <a:latin typeface="游ゴシック" panose="020B0400000000000000" pitchFamily="50" charset="-128"/>
              <a:ea typeface="游ゴシック" panose="020B0400000000000000" pitchFamily="50" charset="-128"/>
            </a:endParaRPr>
          </a:p>
        </p:txBody>
      </p:sp>
      <p:sp>
        <p:nvSpPr>
          <p:cNvPr id="4" name="字幕 13">
            <a:extLst>
              <a:ext uri="{FF2B5EF4-FFF2-40B4-BE49-F238E27FC236}">
                <a16:creationId xmlns:a16="http://schemas.microsoft.com/office/drawing/2014/main" id="{16508C02-2E69-432A-5CCB-7583CED20D5E}"/>
              </a:ext>
            </a:extLst>
          </p:cNvPr>
          <p:cNvSpPr>
            <a:spLocks noGrp="1"/>
          </p:cNvSpPr>
          <p:nvPr>
            <p:ph type="subTitle" idx="1"/>
          </p:nvPr>
        </p:nvSpPr>
        <p:spPr>
          <a:xfrm>
            <a:off x="460675" y="830046"/>
            <a:ext cx="9781875" cy="241861"/>
          </a:xfrm>
        </p:spPr>
        <p:txBody>
          <a:bodyPr>
            <a:noAutofit/>
          </a:bodyPr>
          <a:lstStyle/>
          <a:p>
            <a:r>
              <a:rPr lang="en-US" altLang="ja-JP" dirty="0">
                <a:latin typeface="游ゴシック" panose="020B0400000000000000" pitchFamily="50" charset="-128"/>
                <a:ea typeface="游ゴシック" panose="020B0400000000000000" pitchFamily="50" charset="-128"/>
              </a:rPr>
              <a:t>2019年に個人事業として1号店を開店し、2020年の法人化以降、東海圏を中心に出店を重ねた。2022年の経営革新計画の承認を受けて大型犬専門店を展開し、2026年初に不採算のFC店2店舗を撤退。現在は直営6店舗で自社ブランド店の拡大に軸足を移している。</a:t>
            </a:r>
            <a:endParaRPr lang="en-US" altLang="ja-JP" dirty="0">
              <a:latin typeface="游ゴシック" panose="020B0400000000000000" pitchFamily="50" charset="-128"/>
              <a:ea typeface="游ゴシック" panose="020B0400000000000000" pitchFamily="50" charset="-128"/>
            </a:endParaRPr>
          </a:p>
        </p:txBody>
      </p:sp>
      <p:graphicFrame>
        <p:nvGraphicFramePr>
          <p:cNvPr id="14" name="Table 13"/>
          <p:cNvGraphicFramePr>
            <a:graphicFrameLocks noGrp="1"/>
          </p:cNvGraphicFramePr>
          <p:nvPr>
            <p:extLst>
              <p:ext uri="{D42A27DB-BD31-4B8C-83A1-F6EECF244321}">
                <p14:modId xmlns:p14="http://schemas.microsoft.com/office/powerpoint/2010/main" val="3551852391"/>
              </p:ext>
            </p:extLst>
          </p:nvPr>
        </p:nvGraphicFramePr>
        <p:xfrm>
          <a:off x="341907" y="1835837"/>
          <a:ext cx="10003536" cy="4663440"/>
        </p:xfrm>
        <a:graphic>
          <a:graphicData uri="http://schemas.openxmlformats.org/drawingml/2006/table">
            <a:tbl>
              <a:tblPr>
                <a:tableStyleId>{5C22544A-7EE6-4342-B048-85BDC9FD1C3A}</a:tableStyleId>
              </a:tblPr>
              <a:tblGrid>
                <a:gridCol w="1645920">
                  <a:extLst>
                    <a:ext uri="{9D8B030D-6E8A-4147-A177-3AD203B41FA5}">
                      <a16:colId xmlns:a16="http://schemas.microsoft.com/office/drawing/2014/main" val="20000"/>
                    </a:ext>
                  </a:extLst>
                </a:gridCol>
                <a:gridCol w="8357616">
                  <a:extLst>
                    <a:ext uri="{9D8B030D-6E8A-4147-A177-3AD203B41FA5}">
                      <a16:colId xmlns:a16="http://schemas.microsoft.com/office/drawing/2014/main" val="20001"/>
                    </a:ext>
                  </a:extLst>
                </a:gridCol>
              </a:tblGrid>
              <a:tr h="310896">
                <a:tc>
                  <a:txBody>
                    <a:bodyPr/>
                    <a:lstStyle/>
                    <a:p>
                      <a:pPr algn="l"/>
                      <a:r>
                        <a:rPr sz="950" b="1">
                          <a:solidFill>
                            <a:srgbClr val="FFFFFF"/>
                          </a:solidFill>
                          <a:latin typeface="游ゴシック" panose="020B0400000000000000" pitchFamily="50" charset="-128"/>
                          <a:ea typeface="游ゴシック" panose="020B0400000000000000" pitchFamily="50" charset="-128"/>
                        </a:rPr>
                        <a:t>年月</a:t>
                      </a:r>
                    </a:p>
                  </a:txBody>
                  <a:tcPr marL="43200" marR="43200" marT="7200" marB="7200" anchor="ctr">
                    <a:solidFill>
                      <a:srgbClr val="1F3B5B"/>
                    </a:solidFill>
                  </a:tcPr>
                </a:tc>
                <a:tc>
                  <a:txBody>
                    <a:bodyPr/>
                    <a:lstStyle/>
                    <a:p>
                      <a:pPr algn="ctr"/>
                      <a:r>
                        <a:rPr sz="950" b="1" dirty="0" err="1">
                          <a:solidFill>
                            <a:srgbClr val="FFFFFF"/>
                          </a:solidFill>
                          <a:latin typeface="游ゴシック" panose="020B0400000000000000" pitchFamily="50" charset="-128"/>
                          <a:ea typeface="游ゴシック" panose="020B0400000000000000" pitchFamily="50" charset="-128"/>
                        </a:rPr>
                        <a:t>主な出来事</a:t>
                      </a:r>
                      <a:endParaRPr sz="950" b="1" dirty="0">
                        <a:solidFill>
                          <a:srgbClr val="FFFFFF"/>
                        </a:solidFill>
                        <a:latin typeface="游ゴシック" panose="020B0400000000000000" pitchFamily="50" charset="-128"/>
                        <a:ea typeface="游ゴシック" panose="020B0400000000000000" pitchFamily="50" charset="-128"/>
                      </a:endParaRPr>
                    </a:p>
                  </a:txBody>
                  <a:tcPr marL="43200" marR="43200" marT="7200" marB="7200" anchor="ctr">
                    <a:solidFill>
                      <a:srgbClr val="1F3B5B"/>
                    </a:solidFill>
                  </a:tcPr>
                </a:tc>
                <a:extLst>
                  <a:ext uri="{0D108BD9-81ED-4DB2-BD59-A6C34878D82A}">
                    <a16:rowId xmlns:a16="http://schemas.microsoft.com/office/drawing/2014/main" val="10000"/>
                  </a:ext>
                </a:extLst>
              </a:tr>
              <a:tr h="310896">
                <a:tc>
                  <a:txBody>
                    <a:bodyPr/>
                    <a:lstStyle/>
                    <a:p>
                      <a:pPr algn="l"/>
                      <a:r>
                        <a:rPr sz="1000" b="0" dirty="0">
                          <a:solidFill>
                            <a:sysClr val="windowText" lastClr="000000"/>
                          </a:solidFill>
                          <a:latin typeface="游ゴシック" panose="020B0400000000000000" pitchFamily="50" charset="-128"/>
                          <a:ea typeface="游ゴシック" panose="020B0400000000000000" pitchFamily="50" charset="-128"/>
                        </a:rPr>
                        <a:t>2019年7月</a:t>
                      </a:r>
                    </a:p>
                  </a:txBody>
                  <a:tcPr marL="43200" marR="43200" marT="7200" marB="7200" anchor="ctr">
                    <a:solidFill>
                      <a:srgbClr val="FFFFFF"/>
                    </a:solidFill>
                  </a:tcPr>
                </a:tc>
                <a:tc>
                  <a:txBody>
                    <a:bodyPr/>
                    <a:lstStyle/>
                    <a:p>
                      <a:pPr algn="l"/>
                      <a:r>
                        <a:rPr lang="ja-JP" altLang="en-US" sz="1000" b="0" dirty="0">
                          <a:solidFill>
                            <a:sysClr val="windowText" lastClr="000000"/>
                          </a:solidFill>
                          <a:latin typeface="游ゴシック" panose="020B0400000000000000" pitchFamily="50" charset="-128"/>
                          <a:ea typeface="游ゴシック" panose="020B0400000000000000" pitchFamily="50" charset="-128"/>
                        </a:rPr>
                        <a:t>淺野　崇氏（現代表者の配偶者）が個人でセキュリティ事業を開始（現在は一部顧客にのみ対応し、実質休眠状態）</a:t>
                      </a:r>
                      <a:endParaRPr sz="100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FFFFF"/>
                    </a:solidFill>
                  </a:tcPr>
                </a:tc>
                <a:extLst>
                  <a:ext uri="{0D108BD9-81ED-4DB2-BD59-A6C34878D82A}">
                    <a16:rowId xmlns:a16="http://schemas.microsoft.com/office/drawing/2014/main" val="10001"/>
                  </a:ext>
                </a:extLst>
              </a:tr>
              <a:tr h="310896">
                <a:tc>
                  <a:txBody>
                    <a:bodyPr/>
                    <a:lstStyle/>
                    <a:p>
                      <a:pPr algn="l"/>
                      <a:r>
                        <a:rPr sz="1000" b="0" dirty="0">
                          <a:solidFill>
                            <a:sysClr val="windowText" lastClr="000000"/>
                          </a:solidFill>
                          <a:latin typeface="游ゴシック" panose="020B0400000000000000" pitchFamily="50" charset="-128"/>
                          <a:ea typeface="游ゴシック" panose="020B0400000000000000" pitchFamily="50" charset="-128"/>
                        </a:rPr>
                        <a:t>2019年8月</a:t>
                      </a:r>
                    </a:p>
                  </a:txBody>
                  <a:tcPr marL="43200" marR="43200" marT="7200" marB="7200" anchor="ctr">
                    <a:solidFill>
                      <a:srgbClr val="F5F8FB"/>
                    </a:solidFill>
                  </a:tcPr>
                </a:tc>
                <a:tc>
                  <a:txBody>
                    <a:bodyPr/>
                    <a:lstStyle/>
                    <a:p>
                      <a:pPr algn="l"/>
                      <a:r>
                        <a:rPr lang="ja-JP" altLang="en-US" sz="1000" b="0" dirty="0">
                          <a:solidFill>
                            <a:sysClr val="windowText" lastClr="000000"/>
                          </a:solidFill>
                          <a:latin typeface="游ゴシック" panose="020B0400000000000000" pitchFamily="50" charset="-128"/>
                          <a:ea typeface="游ゴシック" panose="020B0400000000000000" pitchFamily="50" charset="-128"/>
                        </a:rPr>
                        <a:t>淺野　ゆう子氏（現代表者）が個人事業として「ワンラブ カインズホーム明和店」を開店</a:t>
                      </a:r>
                      <a:endParaRPr sz="100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5F8FB"/>
                    </a:solidFill>
                  </a:tcPr>
                </a:tc>
                <a:extLst>
                  <a:ext uri="{0D108BD9-81ED-4DB2-BD59-A6C34878D82A}">
                    <a16:rowId xmlns:a16="http://schemas.microsoft.com/office/drawing/2014/main" val="10002"/>
                  </a:ext>
                </a:extLst>
              </a:tr>
              <a:tr h="310896">
                <a:tc>
                  <a:txBody>
                    <a:bodyPr/>
                    <a:lstStyle/>
                    <a:p>
                      <a:pPr algn="l"/>
                      <a:r>
                        <a:rPr sz="1000" b="0" dirty="0">
                          <a:solidFill>
                            <a:sysClr val="windowText" lastClr="000000"/>
                          </a:solidFill>
                          <a:latin typeface="游ゴシック" panose="020B0400000000000000" pitchFamily="50" charset="-128"/>
                          <a:ea typeface="游ゴシック" panose="020B0400000000000000" pitchFamily="50" charset="-128"/>
                        </a:rPr>
                        <a:t>2020年4月</a:t>
                      </a:r>
                    </a:p>
                  </a:txBody>
                  <a:tcPr marL="43200" marR="43200" marT="7200" marB="7200" anchor="ctr">
                    <a:solidFill>
                      <a:srgbClr val="FFFFFF"/>
                    </a:solidFill>
                  </a:tcPr>
                </a:tc>
                <a:tc>
                  <a:txBody>
                    <a:bodyPr/>
                    <a:lstStyle/>
                    <a:p>
                      <a:pPr algn="l"/>
                      <a:r>
                        <a:rPr lang="ja-JP" altLang="en-US" sz="1000" b="0" dirty="0">
                          <a:solidFill>
                            <a:sysClr val="windowText" lastClr="000000"/>
                          </a:solidFill>
                          <a:latin typeface="游ゴシック" panose="020B0400000000000000" pitchFamily="50" charset="-128"/>
                          <a:ea typeface="游ゴシック" panose="020B0400000000000000" pitchFamily="50" charset="-128"/>
                        </a:rPr>
                        <a:t>「ワンラブ バローミタス伊勢店」を開店</a:t>
                      </a:r>
                      <a:endParaRPr sz="100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FFFFF"/>
                    </a:solidFill>
                  </a:tcPr>
                </a:tc>
                <a:extLst>
                  <a:ext uri="{0D108BD9-81ED-4DB2-BD59-A6C34878D82A}">
                    <a16:rowId xmlns:a16="http://schemas.microsoft.com/office/drawing/2014/main" val="10003"/>
                  </a:ext>
                </a:extLst>
              </a:tr>
              <a:tr h="310896">
                <a:tc>
                  <a:txBody>
                    <a:bodyPr/>
                    <a:lstStyle/>
                    <a:p>
                      <a:pPr algn="l"/>
                      <a:r>
                        <a:rPr sz="1000" b="0" dirty="0">
                          <a:solidFill>
                            <a:sysClr val="windowText" lastClr="000000"/>
                          </a:solidFill>
                          <a:latin typeface="游ゴシック" panose="020B0400000000000000" pitchFamily="50" charset="-128"/>
                          <a:ea typeface="游ゴシック" panose="020B0400000000000000" pitchFamily="50" charset="-128"/>
                        </a:rPr>
                        <a:t>2020年12月</a:t>
                      </a:r>
                    </a:p>
                  </a:txBody>
                  <a:tcPr marL="43200" marR="43200" marT="7200" marB="7200" anchor="ctr">
                    <a:solidFill>
                      <a:srgbClr val="F5F8FB"/>
                    </a:solidFill>
                  </a:tcPr>
                </a:tc>
                <a:tc>
                  <a:txBody>
                    <a:bodyPr/>
                    <a:lstStyle/>
                    <a:p>
                      <a:pPr algn="l"/>
                      <a:r>
                        <a:rPr lang="ja-JP" altLang="en-US" sz="1000" b="0" dirty="0">
                          <a:solidFill>
                            <a:sysClr val="windowText" lastClr="000000"/>
                          </a:solidFill>
                          <a:latin typeface="游ゴシック" panose="020B0400000000000000" pitchFamily="50" charset="-128"/>
                          <a:ea typeface="游ゴシック" panose="020B0400000000000000" pitchFamily="50" charset="-128"/>
                        </a:rPr>
                        <a:t>LUXAS株式会社を設立し、淺野　ゆう子氏が代表取締役に就任。「ワンラブ ホームセンターバロー久居店」を開店</a:t>
                      </a:r>
                      <a:endParaRPr sz="100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5F8FB"/>
                    </a:solidFill>
                  </a:tcPr>
                </a:tc>
                <a:extLst>
                  <a:ext uri="{0D108BD9-81ED-4DB2-BD59-A6C34878D82A}">
                    <a16:rowId xmlns:a16="http://schemas.microsoft.com/office/drawing/2014/main" val="10004"/>
                  </a:ext>
                </a:extLst>
              </a:tr>
              <a:tr h="310896">
                <a:tc>
                  <a:txBody>
                    <a:bodyPr/>
                    <a:lstStyle/>
                    <a:p>
                      <a:pPr algn="l"/>
                      <a:r>
                        <a:rPr sz="1000" b="0">
                          <a:solidFill>
                            <a:sysClr val="windowText" lastClr="000000"/>
                          </a:solidFill>
                          <a:latin typeface="游ゴシック" panose="020B0400000000000000" pitchFamily="50" charset="-128"/>
                          <a:ea typeface="游ゴシック" panose="020B0400000000000000" pitchFamily="50" charset="-128"/>
                        </a:rPr>
                        <a:t>2021年3月</a:t>
                      </a:r>
                    </a:p>
                  </a:txBody>
                  <a:tcPr marL="43200" marR="43200" marT="7200" marB="7200" anchor="ctr">
                    <a:solidFill>
                      <a:srgbClr val="FFFFFF"/>
                    </a:solidFill>
                  </a:tcPr>
                </a:tc>
                <a:tc>
                  <a:txBody>
                    <a:bodyPr/>
                    <a:lstStyle/>
                    <a:p>
                      <a:pPr algn="l"/>
                      <a:r>
                        <a:rPr lang="ja-JP" altLang="en-US" sz="1000" b="0" dirty="0">
                          <a:solidFill>
                            <a:sysClr val="windowText" lastClr="000000"/>
                          </a:solidFill>
                          <a:latin typeface="游ゴシック" panose="020B0400000000000000" pitchFamily="50" charset="-128"/>
                          <a:ea typeface="游ゴシック" panose="020B0400000000000000" pitchFamily="50" charset="-128"/>
                        </a:rPr>
                        <a:t>「ワンラブ コメリパワー中志段味店」を開店（2024年6月に譲渡）</a:t>
                      </a:r>
                      <a:endParaRPr sz="100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FFFFF"/>
                    </a:solidFill>
                  </a:tcPr>
                </a:tc>
                <a:extLst>
                  <a:ext uri="{0D108BD9-81ED-4DB2-BD59-A6C34878D82A}">
                    <a16:rowId xmlns:a16="http://schemas.microsoft.com/office/drawing/2014/main" val="10005"/>
                  </a:ext>
                </a:extLst>
              </a:tr>
              <a:tr h="310896">
                <a:tc>
                  <a:txBody>
                    <a:bodyPr/>
                    <a:lstStyle/>
                    <a:p>
                      <a:pPr algn="l"/>
                      <a:r>
                        <a:rPr sz="1000" b="0" dirty="0">
                          <a:solidFill>
                            <a:sysClr val="windowText" lastClr="000000"/>
                          </a:solidFill>
                          <a:latin typeface="游ゴシック" panose="020B0400000000000000" pitchFamily="50" charset="-128"/>
                          <a:ea typeface="游ゴシック" panose="020B0400000000000000" pitchFamily="50" charset="-128"/>
                        </a:rPr>
                        <a:t>2021年12月</a:t>
                      </a:r>
                    </a:p>
                  </a:txBody>
                  <a:tcPr marL="43200" marR="43200" marT="7200" marB="7200" anchor="ctr">
                    <a:solidFill>
                      <a:srgbClr val="F5F8FB"/>
                    </a:solidFill>
                  </a:tcPr>
                </a:tc>
                <a:tc>
                  <a:txBody>
                    <a:bodyPr/>
                    <a:lstStyle/>
                    <a:p>
                      <a:pPr algn="l"/>
                      <a:r>
                        <a:rPr lang="ja-JP" altLang="en-US" sz="1000" b="0" dirty="0">
                          <a:solidFill>
                            <a:sysClr val="windowText" lastClr="000000"/>
                          </a:solidFill>
                          <a:latin typeface="游ゴシック" panose="020B0400000000000000" pitchFamily="50" charset="-128"/>
                          <a:ea typeface="游ゴシック" panose="020B0400000000000000" pitchFamily="50" charset="-128"/>
                        </a:rPr>
                        <a:t>「ワンラブ アクアウォーク大垣店」を開店</a:t>
                      </a:r>
                      <a:endParaRPr sz="100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5F8FB"/>
                    </a:solidFill>
                  </a:tcPr>
                </a:tc>
                <a:extLst>
                  <a:ext uri="{0D108BD9-81ED-4DB2-BD59-A6C34878D82A}">
                    <a16:rowId xmlns:a16="http://schemas.microsoft.com/office/drawing/2014/main" val="10006"/>
                  </a:ext>
                </a:extLst>
              </a:tr>
              <a:tr h="310896">
                <a:tc>
                  <a:txBody>
                    <a:bodyPr/>
                    <a:lstStyle/>
                    <a:p>
                      <a:pPr algn="l"/>
                      <a:r>
                        <a:rPr sz="1000" b="0" dirty="0">
                          <a:solidFill>
                            <a:sysClr val="windowText" lastClr="000000"/>
                          </a:solidFill>
                          <a:latin typeface="游ゴシック" panose="020B0400000000000000" pitchFamily="50" charset="-128"/>
                          <a:ea typeface="游ゴシック" panose="020B0400000000000000" pitchFamily="50" charset="-128"/>
                        </a:rPr>
                        <a:t>2022年2月</a:t>
                      </a:r>
                    </a:p>
                  </a:txBody>
                  <a:tcPr marL="43200" marR="43200" marT="7200" marB="7200" anchor="ctr">
                    <a:solidFill>
                      <a:srgbClr val="FFFFFF"/>
                    </a:solidFill>
                  </a:tcPr>
                </a:tc>
                <a:tc>
                  <a:txBody>
                    <a:bodyPr/>
                    <a:lstStyle/>
                    <a:p>
                      <a:pPr algn="l"/>
                      <a:r>
                        <a:rPr lang="ja-JP" altLang="en-US" sz="1000" b="0" dirty="0">
                          <a:solidFill>
                            <a:sysClr val="windowText" lastClr="000000"/>
                          </a:solidFill>
                          <a:latin typeface="游ゴシック" panose="020B0400000000000000" pitchFamily="50" charset="-128"/>
                          <a:ea typeface="游ゴシック" panose="020B0400000000000000" pitchFamily="50" charset="-128"/>
                        </a:rPr>
                        <a:t>「ワンラブ ペットプラザ岐阜店」を開店</a:t>
                      </a:r>
                      <a:endParaRPr sz="100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FFFFF"/>
                    </a:solidFill>
                  </a:tcPr>
                </a:tc>
                <a:extLst>
                  <a:ext uri="{0D108BD9-81ED-4DB2-BD59-A6C34878D82A}">
                    <a16:rowId xmlns:a16="http://schemas.microsoft.com/office/drawing/2014/main" val="10007"/>
                  </a:ext>
                </a:extLst>
              </a:tr>
              <a:tr h="310896">
                <a:tc>
                  <a:txBody>
                    <a:bodyPr/>
                    <a:lstStyle/>
                    <a:p>
                      <a:pPr algn="l"/>
                      <a:r>
                        <a:rPr lang="en-US" sz="1000" b="0" dirty="0">
                          <a:solidFill>
                            <a:sysClr val="windowText" lastClr="000000"/>
                          </a:solidFill>
                          <a:latin typeface="游ゴシック" panose="020B0400000000000000" pitchFamily="50" charset="-128"/>
                          <a:ea typeface="游ゴシック" panose="020B0400000000000000" pitchFamily="50" charset="-128"/>
                        </a:rPr>
                        <a:t>2022年10月</a:t>
                      </a:r>
                      <a:endParaRPr sz="100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FFFFF"/>
                    </a:solidFill>
                  </a:tcPr>
                </a:tc>
                <a:tc>
                  <a:txBody>
                    <a:bodyPr/>
                    <a:lstStyle/>
                    <a:p>
                      <a:pPr algn="l"/>
                      <a:r>
                        <a:rPr lang="ja-JP" altLang="en-US" sz="1000" b="0" dirty="0">
                          <a:solidFill>
                            <a:sysClr val="windowText" lastClr="000000"/>
                          </a:solidFill>
                          <a:latin typeface="游ゴシック" panose="020B0400000000000000" pitchFamily="50" charset="-128"/>
                          <a:ea typeface="游ゴシック" panose="020B0400000000000000" pitchFamily="50" charset="-128"/>
                        </a:rPr>
                        <a:t>経営革新計画の承認を受け、大型犬専門店の展開準備を開始</a:t>
                      </a:r>
                      <a:endParaRPr sz="100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FFFFF"/>
                    </a:solidFill>
                  </a:tcPr>
                </a:tc>
                <a:extLst>
                  <a:ext uri="{0D108BD9-81ED-4DB2-BD59-A6C34878D82A}">
                    <a16:rowId xmlns:a16="http://schemas.microsoft.com/office/drawing/2014/main" val="2939921570"/>
                  </a:ext>
                </a:extLst>
              </a:tr>
              <a:tr h="310896">
                <a:tc>
                  <a:txBody>
                    <a:bodyPr/>
                    <a:lstStyle/>
                    <a:p>
                      <a:pPr algn="l"/>
                      <a:r>
                        <a:rPr sz="1000" b="0" dirty="0">
                          <a:solidFill>
                            <a:sysClr val="windowText" lastClr="000000"/>
                          </a:solidFill>
                          <a:latin typeface="游ゴシック" panose="020B0400000000000000" pitchFamily="50" charset="-128"/>
                          <a:ea typeface="游ゴシック" panose="020B0400000000000000" pitchFamily="50" charset="-128"/>
                        </a:rPr>
                        <a:t>2023年6月</a:t>
                      </a:r>
                    </a:p>
                  </a:txBody>
                  <a:tcPr marL="43200" marR="43200" marT="7200" marB="7200" anchor="ctr">
                    <a:solidFill>
                      <a:srgbClr val="F5F8FB"/>
                    </a:solidFill>
                  </a:tcPr>
                </a:tc>
                <a:tc>
                  <a:txBody>
                    <a:bodyPr/>
                    <a:lstStyle/>
                    <a:p>
                      <a:pPr algn="l"/>
                      <a:r>
                        <a:rPr lang="ja-JP" altLang="en-US" sz="1000" b="0" dirty="0">
                          <a:solidFill>
                            <a:sysClr val="windowText" lastClr="000000"/>
                          </a:solidFill>
                          <a:latin typeface="游ゴシック" panose="020B0400000000000000" pitchFamily="50" charset="-128"/>
                          <a:ea typeface="游ゴシック" panose="020B0400000000000000" pitchFamily="50" charset="-128"/>
                        </a:rPr>
                        <a:t>初の大型犬専門店「おっきなもふもふ応援隊 岐阜総本店」を開店</a:t>
                      </a:r>
                      <a:endParaRPr lang="en-US" altLang="ja-JP" sz="100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5F8FB"/>
                    </a:solidFill>
                  </a:tcPr>
                </a:tc>
                <a:extLst>
                  <a:ext uri="{0D108BD9-81ED-4DB2-BD59-A6C34878D82A}">
                    <a16:rowId xmlns:a16="http://schemas.microsoft.com/office/drawing/2014/main" val="10008"/>
                  </a:ext>
                </a:extLst>
              </a:tr>
              <a:tr h="310896">
                <a:tc>
                  <a:txBody>
                    <a:bodyPr/>
                    <a:lstStyle/>
                    <a:p>
                      <a:pPr algn="l"/>
                      <a:r>
                        <a:rPr sz="1000" b="0" dirty="0">
                          <a:solidFill>
                            <a:sysClr val="windowText" lastClr="000000"/>
                          </a:solidFill>
                          <a:latin typeface="游ゴシック" panose="020B0400000000000000" pitchFamily="50" charset="-128"/>
                          <a:ea typeface="游ゴシック" panose="020B0400000000000000" pitchFamily="50" charset="-128"/>
                        </a:rPr>
                        <a:t>2023年12月</a:t>
                      </a:r>
                    </a:p>
                  </a:txBody>
                  <a:tcPr marL="43200" marR="43200" marT="7200" marB="7200" anchor="ctr">
                    <a:solidFill>
                      <a:srgbClr val="FFFFFF"/>
                    </a:solidFill>
                  </a:tcPr>
                </a:tc>
                <a:tc>
                  <a:txBody>
                    <a:bodyPr/>
                    <a:lstStyle/>
                    <a:p>
                      <a:pPr algn="l"/>
                      <a:r>
                        <a:rPr lang="ja-JP" altLang="en-US" sz="1000" b="0" dirty="0">
                          <a:solidFill>
                            <a:sysClr val="windowText" lastClr="000000"/>
                          </a:solidFill>
                          <a:latin typeface="游ゴシック" panose="020B0400000000000000" pitchFamily="50" charset="-128"/>
                          <a:ea typeface="游ゴシック" panose="020B0400000000000000" pitchFamily="50" charset="-128"/>
                        </a:rPr>
                        <a:t>「ぎふSDGs推進パートナー」ゴールドパートナーに認定</a:t>
                      </a:r>
                      <a:endParaRPr sz="100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FFFFF"/>
                    </a:solidFill>
                  </a:tcPr>
                </a:tc>
                <a:extLst>
                  <a:ext uri="{0D108BD9-81ED-4DB2-BD59-A6C34878D82A}">
                    <a16:rowId xmlns:a16="http://schemas.microsoft.com/office/drawing/2014/main" val="10009"/>
                  </a:ext>
                </a:extLst>
              </a:tr>
              <a:tr h="310896">
                <a:tc>
                  <a:txBody>
                    <a:bodyPr/>
                    <a:lstStyle/>
                    <a:p>
                      <a:pPr algn="l"/>
                      <a:r>
                        <a:rPr lang="en-US" sz="1000" b="0" dirty="0">
                          <a:solidFill>
                            <a:sysClr val="windowText" lastClr="000000"/>
                          </a:solidFill>
                          <a:latin typeface="游ゴシック" panose="020B0400000000000000" pitchFamily="50" charset="-128"/>
                          <a:ea typeface="游ゴシック" panose="020B0400000000000000" pitchFamily="50" charset="-128"/>
                        </a:rPr>
                        <a:t>2024年7月</a:t>
                      </a:r>
                      <a:endParaRPr sz="100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FFFFF"/>
                    </a:solidFill>
                  </a:tcPr>
                </a:tc>
                <a:tc>
                  <a:txBody>
                    <a:bodyPr/>
                    <a:lstStyle/>
                    <a:p>
                      <a:pPr algn="l"/>
                      <a:r>
                        <a:rPr lang="ja-JP" altLang="en-US" sz="1000" b="0" dirty="0">
                          <a:solidFill>
                            <a:sysClr val="windowText" lastClr="000000"/>
                          </a:solidFill>
                          <a:latin typeface="游ゴシック" panose="020B0400000000000000" pitchFamily="50" charset="-128"/>
                          <a:ea typeface="游ゴシック" panose="020B0400000000000000" pitchFamily="50" charset="-128"/>
                        </a:rPr>
                        <a:t>「ワンラブ ドン・キホーテ緑店」を開店</a:t>
                      </a:r>
                      <a:endParaRPr sz="100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FFFFF"/>
                    </a:solidFill>
                  </a:tcPr>
                </a:tc>
                <a:extLst>
                  <a:ext uri="{0D108BD9-81ED-4DB2-BD59-A6C34878D82A}">
                    <a16:rowId xmlns:a16="http://schemas.microsoft.com/office/drawing/2014/main" val="2412410317"/>
                  </a:ext>
                </a:extLst>
              </a:tr>
              <a:tr h="310896">
                <a:tc>
                  <a:txBody>
                    <a:bodyPr/>
                    <a:lstStyle/>
                    <a:p>
                      <a:pPr algn="l"/>
                      <a:r>
                        <a:rPr sz="1000" b="0" dirty="0">
                          <a:solidFill>
                            <a:sysClr val="windowText" lastClr="000000"/>
                          </a:solidFill>
                          <a:latin typeface="游ゴシック" panose="020B0400000000000000" pitchFamily="50" charset="-128"/>
                          <a:ea typeface="游ゴシック" panose="020B0400000000000000" pitchFamily="50" charset="-128"/>
                        </a:rPr>
                        <a:t>2024年10月</a:t>
                      </a:r>
                    </a:p>
                  </a:txBody>
                  <a:tcPr marL="43200" marR="43200" marT="7200" marB="7200" anchor="ctr">
                    <a:solidFill>
                      <a:srgbClr val="F5F8FB"/>
                    </a:solidFill>
                  </a:tcPr>
                </a:tc>
                <a:tc>
                  <a:txBody>
                    <a:bodyPr/>
                    <a:lstStyle/>
                    <a:p>
                      <a:pPr algn="l"/>
                      <a:r>
                        <a:rPr sz="1000" b="0" dirty="0" err="1">
                          <a:solidFill>
                            <a:sysClr val="windowText" lastClr="000000"/>
                          </a:solidFill>
                          <a:latin typeface="游ゴシック" panose="020B0400000000000000" pitchFamily="50" charset="-128"/>
                          <a:ea typeface="游ゴシック" panose="020B0400000000000000" pitchFamily="50" charset="-128"/>
                        </a:rPr>
                        <a:t>2店舗目の大型犬専門店「おっきなもふもふ応援隊 大阪総本店」を開店</a:t>
                      </a:r>
                      <a:endParaRPr sz="100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5F8FB"/>
                    </a:solidFill>
                  </a:tcPr>
                </a:tc>
                <a:extLst>
                  <a:ext uri="{0D108BD9-81ED-4DB2-BD59-A6C34878D82A}">
                    <a16:rowId xmlns:a16="http://schemas.microsoft.com/office/drawing/2014/main" val="10010"/>
                  </a:ext>
                </a:extLst>
              </a:tr>
              <a:tr h="310896">
                <a:tc>
                  <a:txBody>
                    <a:bodyPr/>
                    <a:lstStyle/>
                    <a:p>
                      <a:pPr algn="l"/>
                      <a:r>
                        <a:rPr sz="1000" b="0" dirty="0">
                          <a:solidFill>
                            <a:sysClr val="windowText" lastClr="000000"/>
                          </a:solidFill>
                          <a:latin typeface="游ゴシック" panose="020B0400000000000000" pitchFamily="50" charset="-128"/>
                          <a:ea typeface="游ゴシック" panose="020B0400000000000000" pitchFamily="50" charset="-128"/>
                        </a:rPr>
                        <a:t>2026年1月</a:t>
                      </a:r>
                    </a:p>
                  </a:txBody>
                  <a:tcPr marL="43200" marR="43200" marT="7200" marB="7200" anchor="ctr">
                    <a:solidFill>
                      <a:srgbClr val="FFFFFF"/>
                    </a:solidFill>
                  </a:tcPr>
                </a:tc>
                <a:tc>
                  <a:txBody>
                    <a:bodyPr/>
                    <a:lstStyle/>
                    <a:p>
                      <a:pPr algn="l"/>
                      <a:r>
                        <a:rPr lang="ja-JP" altLang="en-US" sz="1000" b="0" dirty="0">
                          <a:solidFill>
                            <a:sysClr val="windowText" lastClr="000000"/>
                          </a:solidFill>
                          <a:latin typeface="游ゴシック" panose="020B0400000000000000" pitchFamily="50" charset="-128"/>
                          <a:ea typeface="游ゴシック" panose="020B0400000000000000" pitchFamily="50" charset="-128"/>
                        </a:rPr>
                        <a:t>不採算の「ワンラブ ペットプラザ岐阜店」を撤退</a:t>
                      </a:r>
                      <a:endParaRPr sz="100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FFFFF"/>
                    </a:solidFill>
                  </a:tcPr>
                </a:tc>
                <a:extLst>
                  <a:ext uri="{0D108BD9-81ED-4DB2-BD59-A6C34878D82A}">
                    <a16:rowId xmlns:a16="http://schemas.microsoft.com/office/drawing/2014/main" val="10011"/>
                  </a:ext>
                </a:extLst>
              </a:tr>
              <a:tr h="310896">
                <a:tc>
                  <a:txBody>
                    <a:bodyPr/>
                    <a:lstStyle/>
                    <a:p>
                      <a:pPr algn="l"/>
                      <a:r>
                        <a:rPr sz="1000" b="0" dirty="0">
                          <a:solidFill>
                            <a:sysClr val="windowText" lastClr="000000"/>
                          </a:solidFill>
                          <a:latin typeface="游ゴシック" panose="020B0400000000000000" pitchFamily="50" charset="-128"/>
                          <a:ea typeface="游ゴシック" panose="020B0400000000000000" pitchFamily="50" charset="-128"/>
                        </a:rPr>
                        <a:t>2026年2月</a:t>
                      </a:r>
                    </a:p>
                  </a:txBody>
                  <a:tcPr marL="43200" marR="43200" marT="7200" marB="7200" anchor="ctr">
                    <a:solidFill>
                      <a:srgbClr val="F5F8FB"/>
                    </a:solidFill>
                  </a:tcPr>
                </a:tc>
                <a:tc>
                  <a:txBody>
                    <a:bodyPr/>
                    <a:lstStyle/>
                    <a:p>
                      <a:pPr algn="l"/>
                      <a:r>
                        <a:rPr lang="ja-JP" altLang="en-US" sz="1000" b="0" dirty="0">
                          <a:solidFill>
                            <a:sysClr val="windowText" lastClr="000000"/>
                          </a:solidFill>
                          <a:latin typeface="游ゴシック" panose="020B0400000000000000" pitchFamily="50" charset="-128"/>
                          <a:ea typeface="游ゴシック" panose="020B0400000000000000" pitchFamily="50" charset="-128"/>
                        </a:rPr>
                        <a:t>不採算の「ワンラブ アクアウォーク大垣店」を撤退し、直営6店舗体制となる</a:t>
                      </a:r>
                      <a:endParaRPr sz="100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5F8FB"/>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914015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C83CD-8F2B-A456-D63E-667BDA8864FE}"/>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6ECAC2D0-8CC0-B4C9-19B7-FFEA448BA129}"/>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代表者経歴</a:t>
            </a:r>
          </a:p>
        </p:txBody>
      </p:sp>
      <p:sp>
        <p:nvSpPr>
          <p:cNvPr id="5" name="タイトル 1">
            <a:extLst>
              <a:ext uri="{FF2B5EF4-FFF2-40B4-BE49-F238E27FC236}">
                <a16:creationId xmlns:a16="http://schemas.microsoft.com/office/drawing/2014/main" id="{B2954D03-DD0B-9909-BBC6-EB4264689F16}"/>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en-US" altLang="ja-JP" sz="1200" b="1" spc="55" dirty="0">
                <a:solidFill>
                  <a:schemeClr val="bg1"/>
                </a:solidFill>
                <a:latin typeface="游ゴシック" panose="020B0400000000000000" pitchFamily="50" charset="-128"/>
                <a:ea typeface="游ゴシック" panose="020B0400000000000000" pitchFamily="50" charset="-128"/>
              </a:rPr>
              <a:t>Appendix</a:t>
            </a:r>
            <a:endParaRPr lang="ja-JP" altLang="en-US" sz="1200" b="1" spc="55" dirty="0">
              <a:solidFill>
                <a:schemeClr val="bg1"/>
              </a:solidFill>
              <a:latin typeface="游ゴシック" panose="020B0400000000000000" pitchFamily="50" charset="-128"/>
              <a:ea typeface="游ゴシック" panose="020B0400000000000000" pitchFamily="50" charset="-128"/>
            </a:endParaRPr>
          </a:p>
        </p:txBody>
      </p:sp>
      <p:sp>
        <p:nvSpPr>
          <p:cNvPr id="4" name="字幕 13">
            <a:extLst>
              <a:ext uri="{FF2B5EF4-FFF2-40B4-BE49-F238E27FC236}">
                <a16:creationId xmlns:a16="http://schemas.microsoft.com/office/drawing/2014/main" id="{44A78BE3-8FEA-62DF-2E04-90B59A7097B8}"/>
              </a:ext>
            </a:extLst>
          </p:cNvPr>
          <p:cNvSpPr>
            <a:spLocks noGrp="1"/>
          </p:cNvSpPr>
          <p:nvPr>
            <p:ph type="subTitle" idx="1"/>
          </p:nvPr>
        </p:nvSpPr>
        <p:spPr>
          <a:xfrm>
            <a:off x="460675" y="830046"/>
            <a:ext cx="9781875" cy="241861"/>
          </a:xfrm>
        </p:spPr>
        <p:txBody>
          <a:bodyPr>
            <a:noAutofit/>
          </a:bodyPr>
          <a:lstStyle/>
          <a:p>
            <a:r>
              <a:rPr lang="en-US" altLang="ja-JP" dirty="0">
                <a:latin typeface="游ゴシック" panose="020B0400000000000000" pitchFamily="50" charset="-128"/>
                <a:ea typeface="游ゴシック" panose="020B0400000000000000" pitchFamily="50" charset="-128"/>
              </a:rPr>
              <a:t>2019年に個人事業としてペットショップ1号店を開店し、2020年の法人化以降、6年で売上558百万円・直営最大8店舗（現在6店舗）の規模へ育てた創業者。現在は経理全般および金融機関対応を担当し、店舗運営・人材育成は配偶者の淺野崇氏（現場責任者）が統括する分担体制をとる。</a:t>
            </a:r>
            <a:endParaRPr lang="en-US" altLang="ja-JP" dirty="0">
              <a:latin typeface="游ゴシック" panose="020B0400000000000000" pitchFamily="50" charset="-128"/>
              <a:ea typeface="游ゴシック" panose="020B0400000000000000" pitchFamily="50" charset="-128"/>
            </a:endParaRPr>
          </a:p>
        </p:txBody>
      </p:sp>
      <p:graphicFrame>
        <p:nvGraphicFramePr>
          <p:cNvPr id="14" name="Table 13"/>
          <p:cNvGraphicFramePr>
            <a:graphicFrameLocks noGrp="1"/>
          </p:cNvGraphicFramePr>
          <p:nvPr>
            <p:extLst>
              <p:ext uri="{D42A27DB-BD31-4B8C-83A1-F6EECF244321}">
                <p14:modId xmlns:p14="http://schemas.microsoft.com/office/powerpoint/2010/main" val="833759943"/>
              </p:ext>
            </p:extLst>
          </p:nvPr>
        </p:nvGraphicFramePr>
        <p:xfrm>
          <a:off x="324000" y="1976134"/>
          <a:ext cx="10003536" cy="2602440"/>
        </p:xfrm>
        <a:graphic>
          <a:graphicData uri="http://schemas.openxmlformats.org/drawingml/2006/table">
            <a:tbl>
              <a:tblPr>
                <a:tableStyleId>{5C22544A-7EE6-4342-B048-85BDC9FD1C3A}</a:tableStyleId>
              </a:tblPr>
              <a:tblGrid>
                <a:gridCol w="1664208">
                  <a:extLst>
                    <a:ext uri="{9D8B030D-6E8A-4147-A177-3AD203B41FA5}">
                      <a16:colId xmlns:a16="http://schemas.microsoft.com/office/drawing/2014/main" val="20000"/>
                    </a:ext>
                  </a:extLst>
                </a:gridCol>
                <a:gridCol w="8339327">
                  <a:extLst>
                    <a:ext uri="{9D8B030D-6E8A-4147-A177-3AD203B41FA5}">
                      <a16:colId xmlns:a16="http://schemas.microsoft.com/office/drawing/2014/main" val="20001"/>
                    </a:ext>
                  </a:extLst>
                </a:gridCol>
              </a:tblGrid>
              <a:tr h="324000">
                <a:tc>
                  <a:txBody>
                    <a:bodyPr/>
                    <a:lstStyle/>
                    <a:p>
                      <a:pPr algn="l"/>
                      <a:r>
                        <a:rPr sz="1050" b="1">
                          <a:solidFill>
                            <a:srgbClr val="FFFFFF"/>
                          </a:solidFill>
                          <a:latin typeface="游ゴシック" panose="020B0400000000000000" pitchFamily="50" charset="-128"/>
                          <a:ea typeface="游ゴシック" panose="020B0400000000000000" pitchFamily="50" charset="-128"/>
                        </a:rPr>
                        <a:t>項目</a:t>
                      </a:r>
                    </a:p>
                  </a:txBody>
                  <a:tcPr marL="43200" marR="43200" marT="7200" marB="7200" anchor="ctr">
                    <a:solidFill>
                      <a:srgbClr val="1F3B5B"/>
                    </a:solidFill>
                  </a:tcPr>
                </a:tc>
                <a:tc>
                  <a:txBody>
                    <a:bodyPr/>
                    <a:lstStyle/>
                    <a:p>
                      <a:pPr algn="ctr"/>
                      <a:r>
                        <a:rPr sz="1050" b="1">
                          <a:solidFill>
                            <a:srgbClr val="FFFFFF"/>
                          </a:solidFill>
                          <a:latin typeface="游ゴシック" panose="020B0400000000000000" pitchFamily="50" charset="-128"/>
                          <a:ea typeface="游ゴシック" panose="020B0400000000000000" pitchFamily="50" charset="-128"/>
                        </a:rPr>
                        <a:t>内容</a:t>
                      </a:r>
                    </a:p>
                  </a:txBody>
                  <a:tcPr marL="43200" marR="43200" marT="7200" marB="7200" anchor="ctr">
                    <a:solidFill>
                      <a:srgbClr val="1F3B5B"/>
                    </a:solidFill>
                  </a:tcPr>
                </a:tc>
                <a:extLst>
                  <a:ext uri="{0D108BD9-81ED-4DB2-BD59-A6C34878D82A}">
                    <a16:rowId xmlns:a16="http://schemas.microsoft.com/office/drawing/2014/main" val="10000"/>
                  </a:ext>
                </a:extLst>
              </a:tr>
              <a:tr h="324000">
                <a:tc>
                  <a:txBody>
                    <a:bodyPr/>
                    <a:lstStyle/>
                    <a:p>
                      <a:pPr algn="l"/>
                      <a:r>
                        <a:rPr sz="1050" b="0" dirty="0" err="1">
                          <a:solidFill>
                            <a:sysClr val="windowText" lastClr="000000"/>
                          </a:solidFill>
                          <a:latin typeface="游ゴシック" panose="020B0400000000000000" pitchFamily="50" charset="-128"/>
                          <a:ea typeface="游ゴシック" panose="020B0400000000000000" pitchFamily="50" charset="-128"/>
                        </a:rPr>
                        <a:t>氏名</a:t>
                      </a:r>
                      <a:endParaRPr sz="105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FFFFF"/>
                    </a:solidFill>
                  </a:tcPr>
                </a:tc>
                <a:tc>
                  <a:txBody>
                    <a:bodyPr/>
                    <a:lstStyle/>
                    <a:p>
                      <a:pPr algn="l"/>
                      <a:r>
                        <a:rPr sz="1050" b="0" dirty="0" err="1">
                          <a:solidFill>
                            <a:sysClr val="windowText" lastClr="000000"/>
                          </a:solidFill>
                          <a:latin typeface="游ゴシック" panose="020B0400000000000000" pitchFamily="50" charset="-128"/>
                          <a:ea typeface="游ゴシック" panose="020B0400000000000000" pitchFamily="50" charset="-128"/>
                        </a:rPr>
                        <a:t>淺野　ゆう子（1985年11月生）</a:t>
                      </a:r>
                      <a:endParaRPr sz="105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FFFFF"/>
                    </a:solidFill>
                  </a:tcPr>
                </a:tc>
                <a:extLst>
                  <a:ext uri="{0D108BD9-81ED-4DB2-BD59-A6C34878D82A}">
                    <a16:rowId xmlns:a16="http://schemas.microsoft.com/office/drawing/2014/main" val="10001"/>
                  </a:ext>
                </a:extLst>
              </a:tr>
              <a:tr h="324000">
                <a:tc>
                  <a:txBody>
                    <a:bodyPr/>
                    <a:lstStyle/>
                    <a:p>
                      <a:pPr algn="l"/>
                      <a:r>
                        <a:rPr sz="1050" b="0" dirty="0" err="1">
                          <a:solidFill>
                            <a:sysClr val="windowText" lastClr="000000"/>
                          </a:solidFill>
                          <a:latin typeface="游ゴシック" panose="020B0400000000000000" pitchFamily="50" charset="-128"/>
                          <a:ea typeface="游ゴシック" panose="020B0400000000000000" pitchFamily="50" charset="-128"/>
                        </a:rPr>
                        <a:t>役職</a:t>
                      </a:r>
                      <a:endParaRPr sz="105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5F8FB"/>
                    </a:solidFill>
                  </a:tcPr>
                </a:tc>
                <a:tc>
                  <a:txBody>
                    <a:bodyPr/>
                    <a:lstStyle/>
                    <a:p>
                      <a:pPr algn="l"/>
                      <a:r>
                        <a:rPr sz="1050" b="0" dirty="0">
                          <a:solidFill>
                            <a:sysClr val="windowText" lastClr="000000"/>
                          </a:solidFill>
                          <a:latin typeface="游ゴシック" panose="020B0400000000000000" pitchFamily="50" charset="-128"/>
                          <a:ea typeface="游ゴシック" panose="020B0400000000000000" pitchFamily="50" charset="-128"/>
                        </a:rPr>
                        <a:t>代表取締役（創業者）</a:t>
                      </a:r>
                    </a:p>
                  </a:txBody>
                  <a:tcPr marL="43200" marR="43200" marT="7200" marB="7200" anchor="ctr">
                    <a:solidFill>
                      <a:srgbClr val="F5F8FB"/>
                    </a:solidFill>
                  </a:tcPr>
                </a:tc>
                <a:extLst>
                  <a:ext uri="{0D108BD9-81ED-4DB2-BD59-A6C34878D82A}">
                    <a16:rowId xmlns:a16="http://schemas.microsoft.com/office/drawing/2014/main" val="10002"/>
                  </a:ext>
                </a:extLst>
              </a:tr>
              <a:tr h="324000">
                <a:tc>
                  <a:txBody>
                    <a:bodyPr/>
                    <a:lstStyle/>
                    <a:p>
                      <a:pPr algn="l"/>
                      <a:r>
                        <a:rPr sz="1050" b="0" dirty="0" err="1">
                          <a:solidFill>
                            <a:sysClr val="windowText" lastClr="000000"/>
                          </a:solidFill>
                          <a:latin typeface="游ゴシック" panose="020B0400000000000000" pitchFamily="50" charset="-128"/>
                          <a:ea typeface="游ゴシック" panose="020B0400000000000000" pitchFamily="50" charset="-128"/>
                        </a:rPr>
                        <a:t>就任</a:t>
                      </a:r>
                      <a:endParaRPr sz="105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FFFFF"/>
                    </a:solidFill>
                  </a:tcPr>
                </a:tc>
                <a:tc>
                  <a:txBody>
                    <a:bodyPr/>
                    <a:lstStyle/>
                    <a:p>
                      <a:pPr algn="l"/>
                      <a:r>
                        <a:rPr lang="en-US" altLang="ja-JP" sz="1050" b="0" dirty="0">
                          <a:solidFill>
                            <a:sysClr val="windowText" lastClr="000000"/>
                          </a:solidFill>
                          <a:latin typeface="游ゴシック" panose="020B0400000000000000" pitchFamily="50" charset="-128"/>
                          <a:ea typeface="游ゴシック" panose="020B0400000000000000" pitchFamily="50" charset="-128"/>
                        </a:rPr>
                        <a:t>2020年12月、LUXAS株式会社の設立に伴い代表取締役に就任</a:t>
                      </a:r>
                      <a:endParaRPr sz="105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FFFFF"/>
                    </a:solidFill>
                  </a:tcPr>
                </a:tc>
                <a:extLst>
                  <a:ext uri="{0D108BD9-81ED-4DB2-BD59-A6C34878D82A}">
                    <a16:rowId xmlns:a16="http://schemas.microsoft.com/office/drawing/2014/main" val="10003"/>
                  </a:ext>
                </a:extLst>
              </a:tr>
              <a:tr h="324000">
                <a:tc>
                  <a:txBody>
                    <a:bodyPr/>
                    <a:lstStyle/>
                    <a:p>
                      <a:pPr algn="l"/>
                      <a:r>
                        <a:rPr lang="ja-JP" altLang="en-US" sz="1050" b="0">
                          <a:solidFill>
                            <a:sysClr val="windowText" lastClr="000000"/>
                          </a:solidFill>
                          <a:latin typeface="游ゴシック" panose="020B0400000000000000" pitchFamily="50" charset="-128"/>
                          <a:ea typeface="游ゴシック" panose="020B0400000000000000" pitchFamily="50" charset="-128"/>
                        </a:rPr>
                        <a:t>主な経歴</a:t>
                      </a:r>
                      <a:endParaRPr sz="105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5F8FB"/>
                    </a:solidFill>
                  </a:tcPr>
                </a:tc>
                <a:tc>
                  <a:txBody>
                    <a:bodyPr/>
                    <a:lstStyle/>
                    <a:p>
                      <a:pPr algn="l"/>
                      <a:r>
                        <a:rPr lang="ja-JP" altLang="en-US" sz="1050" b="0" dirty="0">
                          <a:solidFill>
                            <a:sysClr val="windowText" lastClr="000000"/>
                          </a:solidFill>
                          <a:latin typeface="游ゴシック" panose="020B0400000000000000" pitchFamily="50" charset="-128"/>
                          <a:ea typeface="游ゴシック" panose="020B0400000000000000" pitchFamily="50" charset="-128"/>
                        </a:rPr>
                        <a:t>2019年8月、個人事業として「ワンラブ カインズホーム明和店」を開店／2020年12月、対象会社を設立</a:t>
                      </a:r>
                      <a:endParaRPr sz="105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5F8FB"/>
                    </a:solidFill>
                  </a:tcPr>
                </a:tc>
                <a:extLst>
                  <a:ext uri="{0D108BD9-81ED-4DB2-BD59-A6C34878D82A}">
                    <a16:rowId xmlns:a16="http://schemas.microsoft.com/office/drawing/2014/main" val="1673180334"/>
                  </a:ext>
                </a:extLst>
              </a:tr>
              <a:tr h="324000">
                <a:tc>
                  <a:txBody>
                    <a:bodyPr/>
                    <a:lstStyle/>
                    <a:p>
                      <a:pPr algn="l"/>
                      <a:r>
                        <a:rPr lang="ja-JP" altLang="en-US" sz="1050" b="0" dirty="0">
                          <a:solidFill>
                            <a:sysClr val="windowText" lastClr="000000"/>
                          </a:solidFill>
                          <a:latin typeface="游ゴシック" panose="020B0400000000000000" pitchFamily="50" charset="-128"/>
                          <a:ea typeface="游ゴシック" panose="020B0400000000000000" pitchFamily="50" charset="-128"/>
                        </a:rPr>
                        <a:t>創業の経緯</a:t>
                      </a:r>
                      <a:endParaRPr sz="105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FFFFF"/>
                    </a:solidFill>
                  </a:tcPr>
                </a:tc>
                <a:tc>
                  <a:txBody>
                    <a:bodyPr/>
                    <a:lstStyle/>
                    <a:p>
                      <a:pPr algn="l"/>
                      <a:r>
                        <a:rPr lang="ja-JP" altLang="en-US" sz="1050" b="0" dirty="0">
                          <a:solidFill>
                            <a:sysClr val="windowText" lastClr="000000"/>
                          </a:solidFill>
                          <a:latin typeface="游ゴシック" panose="020B0400000000000000" pitchFamily="50" charset="-128"/>
                          <a:ea typeface="游ゴシック" panose="020B0400000000000000" pitchFamily="50" charset="-128"/>
                        </a:rPr>
                        <a:t>昔から動物が好きで、ペット業界を変えたいという思いから創業</a:t>
                      </a:r>
                      <a:endParaRPr lang="en-US" altLang="ja-JP" sz="105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FFFFF"/>
                    </a:solidFill>
                  </a:tcPr>
                </a:tc>
                <a:extLst>
                  <a:ext uri="{0D108BD9-81ED-4DB2-BD59-A6C34878D82A}">
                    <a16:rowId xmlns:a16="http://schemas.microsoft.com/office/drawing/2014/main" val="3136073279"/>
                  </a:ext>
                </a:extLst>
              </a:tr>
              <a:tr h="324000">
                <a:tc>
                  <a:txBody>
                    <a:bodyPr/>
                    <a:lstStyle/>
                    <a:p>
                      <a:pPr algn="l"/>
                      <a:r>
                        <a:rPr lang="ja-JP" altLang="en-US" sz="1050" b="0" dirty="0">
                          <a:solidFill>
                            <a:sysClr val="windowText" lastClr="000000"/>
                          </a:solidFill>
                          <a:latin typeface="游ゴシック" panose="020B0400000000000000" pitchFamily="50" charset="-128"/>
                          <a:ea typeface="游ゴシック" panose="020B0400000000000000" pitchFamily="50" charset="-128"/>
                        </a:rPr>
                        <a:t>経営理念</a:t>
                      </a:r>
                      <a:endParaRPr sz="105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5F8FB"/>
                    </a:solidFill>
                  </a:tcPr>
                </a:tc>
                <a:tc>
                  <a:txBody>
                    <a:bodyPr/>
                    <a:lstStyle/>
                    <a:p>
                      <a:pPr algn="l"/>
                      <a:r>
                        <a:rPr lang="zh-TW" altLang="en-US" sz="1050" b="0" dirty="0">
                          <a:solidFill>
                            <a:sysClr val="windowText" lastClr="000000"/>
                          </a:solidFill>
                          <a:latin typeface="游ゴシック" panose="020B0400000000000000" pitchFamily="50" charset="-128"/>
                          <a:ea typeface="游ゴシック" panose="020B0400000000000000" pitchFamily="50" charset="-128"/>
                        </a:rPr>
                        <a:t>業界の改革</a:t>
                      </a:r>
                      <a:endParaRPr sz="105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5F8FB"/>
                    </a:solidFill>
                  </a:tcPr>
                </a:tc>
                <a:extLst>
                  <a:ext uri="{0D108BD9-81ED-4DB2-BD59-A6C34878D82A}">
                    <a16:rowId xmlns:a16="http://schemas.microsoft.com/office/drawing/2014/main" val="3829413901"/>
                  </a:ext>
                </a:extLst>
              </a:tr>
              <a:tr h="324000">
                <a:tc>
                  <a:txBody>
                    <a:bodyPr/>
                    <a:lstStyle/>
                    <a:p>
                      <a:pPr algn="l"/>
                      <a:r>
                        <a:rPr sz="1050" b="0" dirty="0" err="1">
                          <a:solidFill>
                            <a:sysClr val="windowText" lastClr="000000"/>
                          </a:solidFill>
                          <a:latin typeface="游ゴシック" panose="020B0400000000000000" pitchFamily="50" charset="-128"/>
                          <a:ea typeface="游ゴシック" panose="020B0400000000000000" pitchFamily="50" charset="-128"/>
                        </a:rPr>
                        <a:t>家族構成</a:t>
                      </a:r>
                      <a:endParaRPr sz="105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noFill/>
                  </a:tcPr>
                </a:tc>
                <a:tc>
                  <a:txBody>
                    <a:bodyPr/>
                    <a:lstStyle/>
                    <a:p>
                      <a:pPr algn="l"/>
                      <a:r>
                        <a:rPr sz="1050" b="0" dirty="0">
                          <a:solidFill>
                            <a:sysClr val="windowText" lastClr="000000"/>
                          </a:solidFill>
                          <a:latin typeface="游ゴシック" panose="020B0400000000000000" pitchFamily="50" charset="-128"/>
                          <a:ea typeface="游ゴシック" panose="020B0400000000000000" pitchFamily="50" charset="-128"/>
                        </a:rPr>
                        <a:t>配偶者：淺野　崇氏（1980年10月生／対象会社の現場責任者）、子4名（長女・次女・三女・長男）</a:t>
                      </a:r>
                    </a:p>
                  </a:txBody>
                  <a:tcPr marL="43200" marR="43200" marT="7200" marB="7200" anchor="ctr">
                    <a:noFill/>
                  </a:tcPr>
                </a:tc>
                <a:extLst>
                  <a:ext uri="{0D108BD9-81ED-4DB2-BD59-A6C34878D82A}">
                    <a16:rowId xmlns:a16="http://schemas.microsoft.com/office/drawing/2014/main" val="10004"/>
                  </a:ext>
                </a:extLst>
              </a:tr>
            </a:tbl>
          </a:graphicData>
        </a:graphic>
      </p:graphicFrame>
      <p:sp>
        <p:nvSpPr>
          <p:cNvPr id="15" name="TextBox 14"/>
          <p:cNvSpPr txBox="1"/>
          <p:nvPr/>
        </p:nvSpPr>
        <p:spPr>
          <a:xfrm>
            <a:off x="324000" y="4929756"/>
            <a:ext cx="10008000" cy="1462383"/>
          </a:xfrm>
          <a:prstGeom prst="rect">
            <a:avLst/>
          </a:prstGeom>
          <a:noFill/>
        </p:spPr>
        <p:txBody>
          <a:bodyPr wrap="square" lIns="36000" tIns="18000" rIns="36000" bIns="18000" anchor="t">
            <a:spAutoFit/>
          </a:bodyPr>
          <a:lstStyle/>
          <a:p>
            <a:pPr>
              <a:spcBef>
                <a:spcPts val="0"/>
              </a:spcBef>
              <a:spcAft>
                <a:spcPts val="200"/>
              </a:spcAft>
            </a:pPr>
            <a:r>
              <a:rPr sz="1100" b="1" dirty="0" err="1">
                <a:solidFill>
                  <a:sysClr val="windowText" lastClr="000000"/>
                </a:solidFill>
                <a:latin typeface="游ゴシック" panose="020B0400000000000000" pitchFamily="50" charset="-128"/>
                <a:ea typeface="游ゴシック" panose="020B0400000000000000" pitchFamily="50" charset="-128"/>
              </a:rPr>
              <a:t>経歴・経営姿勢</a:t>
            </a:r>
            <a:endParaRPr lang="en-US" sz="1100" b="1" dirty="0">
              <a:solidFill>
                <a:sysClr val="windowText" lastClr="000000"/>
              </a:solidFill>
              <a:latin typeface="游ゴシック" panose="020B0400000000000000" pitchFamily="50" charset="-128"/>
              <a:ea typeface="游ゴシック" panose="020B0400000000000000" pitchFamily="50" charset="-128"/>
            </a:endParaRPr>
          </a:p>
          <a:p>
            <a:pPr>
              <a:spcBef>
                <a:spcPts val="0"/>
              </a:spcBef>
              <a:spcAft>
                <a:spcPts val="200"/>
              </a:spcAft>
            </a:pPr>
            <a:r>
              <a:rPr sz="1100" b="1" dirty="0" err="1">
                <a:solidFill>
                  <a:sysClr val="windowText" lastClr="000000"/>
                </a:solidFill>
                <a:latin typeface="游ゴシック" panose="020B0400000000000000" pitchFamily="50" charset="-128"/>
                <a:ea typeface="游ゴシック" panose="020B0400000000000000" pitchFamily="50" charset="-128"/>
              </a:rPr>
              <a:t>・2019年8月、個人事業としてワンラブFCに加盟し、三重県多気郡明和町のカインズホーム内に1号店を開店。</a:t>
            </a:r>
            <a:endParaRPr lang="en-US" sz="1100" b="1" dirty="0">
              <a:solidFill>
                <a:sysClr val="windowText" lastClr="000000"/>
              </a:solidFill>
              <a:latin typeface="游ゴシック" panose="020B0400000000000000" pitchFamily="50" charset="-128"/>
              <a:ea typeface="游ゴシック" panose="020B0400000000000000" pitchFamily="50" charset="-128"/>
            </a:endParaRPr>
          </a:p>
          <a:p>
            <a:pPr>
              <a:spcBef>
                <a:spcPts val="0"/>
              </a:spcBef>
              <a:spcAft>
                <a:spcPts val="200"/>
              </a:spcAft>
            </a:pPr>
            <a:r>
              <a:rPr sz="1100" b="1" dirty="0" err="1">
                <a:solidFill>
                  <a:sysClr val="windowText" lastClr="000000"/>
                </a:solidFill>
                <a:latin typeface="游ゴシック" panose="020B0400000000000000" pitchFamily="50" charset="-128"/>
                <a:ea typeface="游ゴシック" panose="020B0400000000000000" pitchFamily="50" charset="-128"/>
              </a:rPr>
              <a:t>・2020年12月に法人化し、東海圏でFC店の出店を重ねる。2022年10月には経営革新計画の承認を受け、大型犬専門店という新業態の準備に着手。</a:t>
            </a:r>
            <a:endParaRPr lang="en-US" sz="1100" b="1" dirty="0">
              <a:solidFill>
                <a:sysClr val="windowText" lastClr="000000"/>
              </a:solidFill>
              <a:latin typeface="游ゴシック" panose="020B0400000000000000" pitchFamily="50" charset="-128"/>
              <a:ea typeface="游ゴシック" panose="020B0400000000000000" pitchFamily="50" charset="-128"/>
            </a:endParaRPr>
          </a:p>
          <a:p>
            <a:pPr>
              <a:spcBef>
                <a:spcPts val="0"/>
              </a:spcBef>
              <a:spcAft>
                <a:spcPts val="200"/>
              </a:spcAft>
            </a:pPr>
            <a:r>
              <a:rPr sz="1100" b="1" dirty="0" err="1">
                <a:solidFill>
                  <a:sysClr val="windowText" lastClr="000000"/>
                </a:solidFill>
                <a:latin typeface="游ゴシック" panose="020B0400000000000000" pitchFamily="50" charset="-128"/>
                <a:ea typeface="游ゴシック" panose="020B0400000000000000" pitchFamily="50" charset="-128"/>
              </a:rPr>
              <a:t>・2023年6月に「おっきなもふもふ応援隊 岐阜総本店」、2024年10月に同 大阪総本店を開店。2025年11月期には大型犬専門2店舗で売上の46.7%を占めるまでに成長させた。</a:t>
            </a:r>
            <a:endParaRPr lang="en-US" sz="1100" b="1" dirty="0">
              <a:solidFill>
                <a:sysClr val="windowText" lastClr="000000"/>
              </a:solidFill>
              <a:latin typeface="游ゴシック" panose="020B0400000000000000" pitchFamily="50" charset="-128"/>
              <a:ea typeface="游ゴシック" panose="020B0400000000000000" pitchFamily="50" charset="-128"/>
            </a:endParaRPr>
          </a:p>
          <a:p>
            <a:pPr>
              <a:spcBef>
                <a:spcPts val="0"/>
              </a:spcBef>
              <a:spcAft>
                <a:spcPts val="200"/>
              </a:spcAft>
            </a:pPr>
            <a:r>
              <a:rPr sz="1100" b="1" dirty="0" err="1">
                <a:solidFill>
                  <a:sysClr val="windowText" lastClr="000000"/>
                </a:solidFill>
                <a:latin typeface="游ゴシック" panose="020B0400000000000000" pitchFamily="50" charset="-128"/>
                <a:ea typeface="游ゴシック" panose="020B0400000000000000" pitchFamily="50" charset="-128"/>
              </a:rPr>
              <a:t>・現在は経理全般および金融機関対応を担当。店舗運営・人材育成・仕入は現場責任者である配偶者の淺野崇氏が統括している。</a:t>
            </a:r>
            <a:endParaRPr lang="en-US" sz="1100" b="1" dirty="0">
              <a:solidFill>
                <a:sysClr val="windowText" lastClr="000000"/>
              </a:solidFill>
              <a:latin typeface="游ゴシック" panose="020B0400000000000000" pitchFamily="50" charset="-128"/>
              <a:ea typeface="游ゴシック" panose="020B0400000000000000" pitchFamily="50" charset="-128"/>
            </a:endParaRPr>
          </a:p>
          <a:p>
            <a:pPr>
              <a:spcBef>
                <a:spcPts val="0"/>
              </a:spcBef>
              <a:spcAft>
                <a:spcPts val="200"/>
              </a:spcAft>
            </a:pPr>
            <a:r>
              <a:rPr sz="1100" b="1" dirty="0" err="1">
                <a:solidFill>
                  <a:sysClr val="windowText" lastClr="000000"/>
                </a:solidFill>
                <a:latin typeface="游ゴシック" panose="020B0400000000000000" pitchFamily="50" charset="-128"/>
                <a:ea typeface="游ゴシック" panose="020B0400000000000000" pitchFamily="50" charset="-128"/>
              </a:rPr>
              <a:t>・譲渡後は引継完了をもって退任する意向（要確認）。</a:t>
            </a:r>
            <a:endParaRPr lang="en-US" sz="1100" b="1" dirty="0">
              <a:solidFill>
                <a:sysClr val="windowText" lastClr="000000"/>
              </a:solidFill>
              <a:latin typeface="游ゴシック" panose="020B0400000000000000" pitchFamily="50" charset="-128"/>
              <a:ea typeface="游ゴシック" panose="020B0400000000000000" pitchFamily="50" charset="-128"/>
            </a:endParaRPr>
          </a:p>
          <a:p>
            <a:pPr>
              <a:spcBef>
                <a:spcPts val="0"/>
              </a:spcBef>
              <a:spcAft>
                <a:spcPts val="200"/>
              </a:spcAft>
            </a:pPr>
            <a:r>
              <a:rPr sz="1100" b="1" dirty="0" err="1">
                <a:solidFill>
                  <a:sysClr val="windowText" lastClr="000000"/>
                </a:solidFill>
                <a:latin typeface="游ゴシック" panose="020B0400000000000000" pitchFamily="50" charset="-128"/>
                <a:ea typeface="游ゴシック" panose="020B0400000000000000" pitchFamily="50" charset="-128"/>
              </a:rPr>
              <a:t/>
            </a:r>
            <a:endParaRPr lang="en-US" sz="1100" b="1" dirty="0">
              <a:solidFill>
                <a:sysClr val="windowText" lastClr="000000"/>
              </a:solidFill>
              <a:latin typeface="游ゴシック" panose="020B0400000000000000" pitchFamily="50" charset="-128"/>
              <a:ea typeface="游ゴシック" panose="020B0400000000000000" pitchFamily="50" charset="-128"/>
            </a:endParaRPr>
          </a:p>
          <a:p>
            <a:pPr>
              <a:spcBef>
                <a:spcPts val="0"/>
              </a:spcBef>
              <a:spcAft>
                <a:spcPts val="200"/>
              </a:spcAft>
            </a:pPr>
            <a:r>
              <a:rPr sz="1100" b="1" dirty="0" err="1">
                <a:solidFill>
                  <a:sysClr val="windowText" lastClr="000000"/>
                </a:solidFill>
                <a:latin typeface="游ゴシック" panose="020B0400000000000000" pitchFamily="50" charset="-128"/>
                <a:ea typeface="游ゴシック" panose="020B0400000000000000" pitchFamily="50" charset="-128"/>
              </a:rPr>
              <a:t>※本ページは対象会社提供の既存会社説明資料および決算書の記載に基づく。学歴・職歴・社外役職・保有資格は未受領（要確認）。</a:t>
            </a:r>
            <a:endParaRPr lang="en-US" sz="1100" b="1" dirty="0">
              <a:solidFill>
                <a:sysClr val="windowText" lastClr="000000"/>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31702895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75621-FF75-0C7B-591E-C5EBD950595B}"/>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7E874B4C-2D5E-166C-B8B9-0164D0AAEFB9}"/>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要確認事項・ネクストステップ</a:t>
            </a:r>
          </a:p>
        </p:txBody>
      </p:sp>
      <p:sp>
        <p:nvSpPr>
          <p:cNvPr id="5" name="タイトル 1">
            <a:extLst>
              <a:ext uri="{FF2B5EF4-FFF2-40B4-BE49-F238E27FC236}">
                <a16:creationId xmlns:a16="http://schemas.microsoft.com/office/drawing/2014/main" id="{8B300F08-EE1D-F462-B949-D3B040FD0277}"/>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en-US" altLang="ja-JP" sz="1200" b="1" spc="55" dirty="0">
                <a:solidFill>
                  <a:schemeClr val="bg1"/>
                </a:solidFill>
                <a:latin typeface="游ゴシック" panose="020B0400000000000000" pitchFamily="50" charset="-128"/>
                <a:ea typeface="游ゴシック" panose="020B0400000000000000" pitchFamily="50" charset="-128"/>
              </a:rPr>
              <a:t>Appendix</a:t>
            </a:r>
            <a:endParaRPr lang="ja-JP" altLang="en-US" sz="1200" b="1" spc="55" dirty="0">
              <a:solidFill>
                <a:schemeClr val="bg1"/>
              </a:solidFill>
              <a:latin typeface="游ゴシック" panose="020B0400000000000000" pitchFamily="50" charset="-128"/>
              <a:ea typeface="游ゴシック" panose="020B0400000000000000" pitchFamily="50" charset="-128"/>
            </a:endParaRPr>
          </a:p>
        </p:txBody>
      </p:sp>
      <p:sp>
        <p:nvSpPr>
          <p:cNvPr id="4" name="字幕 13">
            <a:extLst>
              <a:ext uri="{FF2B5EF4-FFF2-40B4-BE49-F238E27FC236}">
                <a16:creationId xmlns:a16="http://schemas.microsoft.com/office/drawing/2014/main" id="{FCA9575B-1240-BC5B-38CA-16FCB838E8D8}"/>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本概要書は、対象会社提供の既存会社説明資料、第3期〜第5期決算報告書一式、進行期試算表・店舗別試算表（2025年12月〜2026年6月）、棚卸表および従業員名簿に基づき作成している。2026年9月に追加資料を受領し、下表の「解決済」項目を確認した。残る事項はトップ面談およびデータルームにて順次開示を予定している。</a:t>
            </a:r>
            <a:endParaRPr lang="en-US" altLang="ja-JP" dirty="0">
              <a:latin typeface="游ゴシック" panose="020B0400000000000000" pitchFamily="50" charset="-128"/>
              <a:ea typeface="游ゴシック" panose="020B0400000000000000" pitchFamily="50" charset="-128"/>
            </a:endParaRPr>
          </a:p>
        </p:txBody>
      </p:sp>
      <p:graphicFrame>
        <p:nvGraphicFramePr>
          <p:cNvPr id="14" name="Table 13"/>
          <p:cNvGraphicFramePr>
            <a:graphicFrameLocks noGrp="1"/>
          </p:cNvGraphicFramePr>
          <p:nvPr>
            <p:extLst>
              <p:ext uri="{D42A27DB-BD31-4B8C-83A1-F6EECF244321}">
                <p14:modId xmlns:p14="http://schemas.microsoft.com/office/powerpoint/2010/main" val="2354946443"/>
              </p:ext>
            </p:extLst>
          </p:nvPr>
        </p:nvGraphicFramePr>
        <p:xfrm>
          <a:off x="324000" y="1874519"/>
          <a:ext cx="10003535" cy="4297680"/>
        </p:xfrm>
        <a:graphic>
          <a:graphicData uri="http://schemas.openxmlformats.org/drawingml/2006/table">
            <a:tbl>
              <a:tblPr>
                <a:tableStyleId>{5C22544A-7EE6-4342-B048-85BDC9FD1C3A}</a:tableStyleId>
              </a:tblPr>
              <a:tblGrid>
                <a:gridCol w="1737360">
                  <a:extLst>
                    <a:ext uri="{9D8B030D-6E8A-4147-A177-3AD203B41FA5}">
                      <a16:colId xmlns:a16="http://schemas.microsoft.com/office/drawing/2014/main" val="20000"/>
                    </a:ext>
                  </a:extLst>
                </a:gridCol>
                <a:gridCol w="8266175">
                  <a:extLst>
                    <a:ext uri="{9D8B030D-6E8A-4147-A177-3AD203B41FA5}">
                      <a16:colId xmlns:a16="http://schemas.microsoft.com/office/drawing/2014/main" val="20001"/>
                    </a:ext>
                  </a:extLst>
                </a:gridCol>
              </a:tblGrid>
              <a:tr h="329184">
                <a:tc>
                  <a:txBody>
                    <a:bodyPr/>
                    <a:lstStyle/>
                    <a:p>
                      <a:pPr algn="l"/>
                      <a:r>
                        <a:rPr sz="900" b="1">
                          <a:solidFill>
                            <a:srgbClr val="FFFFFF"/>
                          </a:solidFill>
                          <a:latin typeface="游ゴシック" panose="020B0400000000000000" pitchFamily="50" charset="-128"/>
                          <a:ea typeface="游ゴシック" panose="020B0400000000000000" pitchFamily="50" charset="-128"/>
                        </a:rPr>
                        <a:t>区分</a:t>
                      </a:r>
                    </a:p>
                  </a:txBody>
                  <a:tcPr marL="43200" marR="43200" marT="7200" marB="7200" anchor="ctr">
                    <a:solidFill>
                      <a:srgbClr val="1F3B5B"/>
                    </a:solidFill>
                  </a:tcPr>
                </a:tc>
                <a:tc>
                  <a:txBody>
                    <a:bodyPr/>
                    <a:lstStyle/>
                    <a:p>
                      <a:pPr algn="ctr"/>
                      <a:r>
                        <a:rPr sz="900" b="1">
                          <a:solidFill>
                            <a:srgbClr val="FFFFFF"/>
                          </a:solidFill>
                          <a:latin typeface="游ゴシック" panose="020B0400000000000000" pitchFamily="50" charset="-128"/>
                          <a:ea typeface="游ゴシック" panose="020B0400000000000000" pitchFamily="50" charset="-128"/>
                        </a:rPr>
                        <a:t>確認を要する事項</a:t>
                      </a:r>
                    </a:p>
                  </a:txBody>
                  <a:tcPr marL="43200" marR="43200" marT="7200" marB="7200" anchor="ctr">
                    <a:solidFill>
                      <a:srgbClr val="1F3B5B"/>
                    </a:solidFill>
                  </a:tcPr>
                </a:tc>
                <a:extLst>
                  <a:ext uri="{0D108BD9-81ED-4DB2-BD59-A6C34878D82A}">
                    <a16:rowId xmlns:a16="http://schemas.microsoft.com/office/drawing/2014/main" val="10000"/>
                  </a:ext>
                </a:extLst>
              </a:tr>
              <a:tr h="566928">
                <a:tc>
                  <a:txBody>
                    <a:bodyPr/>
                    <a:lstStyle/>
                    <a:p>
                      <a:pPr algn="l"/>
                      <a:r>
                        <a:rPr sz="900" b="0" dirty="0" err="1">
                          <a:solidFill>
                            <a:sysClr val="windowText" lastClr="000000"/>
                          </a:solidFill>
                          <a:latin typeface="游ゴシック" panose="020B0400000000000000" pitchFamily="50" charset="-128"/>
                          <a:ea typeface="游ゴシック" panose="020B0400000000000000" pitchFamily="50" charset="-128"/>
                        </a:rPr>
                        <a:t>【解決済】</a:t>
                      </a:r>
                      <a:endParaRPr sz="90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FFFFF"/>
                    </a:solidFill>
                  </a:tcPr>
                </a:tc>
                <a:tc>
                  <a:txBody>
                    <a:bodyPr/>
                    <a:lstStyle/>
                    <a:p>
                      <a:pPr algn="l"/>
                      <a:r>
                        <a:rPr sz="900" b="0" dirty="0">
                          <a:solidFill>
                            <a:sysClr val="windowText" lastClr="000000"/>
                          </a:solidFill>
                          <a:latin typeface="游ゴシック" panose="020B0400000000000000" pitchFamily="50" charset="-128"/>
                          <a:ea typeface="游ゴシック" panose="020B0400000000000000" pitchFamily="50" charset="-128"/>
                        </a:rPr>
                        <a:t>①撤退した2店舗の特定（ペットプラザ岐阜店＝2026年1月、アクアウォーク大垣店＝2026年2月）　②棚卸資産廃棄損44,000千円の内容（本社32,000千円＋バックヤード12,000千円）　③店舗別の売上・粗利（進行期7か月）　④従業員名簿（在籍49名／2026年8月までの異動を反映）</a:t>
                      </a:r>
                    </a:p>
                  </a:txBody>
                  <a:tcPr marL="43200" marR="43200" marT="7200" marB="7200" anchor="ctr">
                    <a:solidFill>
                      <a:srgbClr val="FFFFFF"/>
                    </a:solidFill>
                  </a:tcPr>
                </a:tc>
                <a:extLst>
                  <a:ext uri="{0D108BD9-81ED-4DB2-BD59-A6C34878D82A}">
                    <a16:rowId xmlns:a16="http://schemas.microsoft.com/office/drawing/2014/main" val="10001"/>
                  </a:ext>
                </a:extLst>
              </a:tr>
              <a:tr h="566928">
                <a:tc>
                  <a:txBody>
                    <a:bodyPr/>
                    <a:lstStyle/>
                    <a:p>
                      <a:pPr algn="l"/>
                      <a:r>
                        <a:rPr sz="900" b="0">
                          <a:solidFill>
                            <a:sysClr val="windowText" lastClr="000000"/>
                          </a:solidFill>
                          <a:latin typeface="游ゴシック" panose="020B0400000000000000" pitchFamily="50" charset="-128"/>
                          <a:ea typeface="游ゴシック" panose="020B0400000000000000" pitchFamily="50" charset="-128"/>
                        </a:rPr>
                        <a:t>収益性</a:t>
                      </a:r>
                    </a:p>
                  </a:txBody>
                  <a:tcPr marL="43200" marR="43200" marT="7200" marB="7200" anchor="ctr">
                    <a:solidFill>
                      <a:srgbClr val="F5F8FB"/>
                    </a:solidFill>
                  </a:tcPr>
                </a:tc>
                <a:tc>
                  <a:txBody>
                    <a:bodyPr/>
                    <a:lstStyle/>
                    <a:p>
                      <a:pPr algn="l"/>
                      <a:r>
                        <a:rPr sz="900" b="0" dirty="0" err="1">
                          <a:solidFill>
                            <a:sysClr val="windowText" lastClr="000000"/>
                          </a:solidFill>
                          <a:latin typeface="游ゴシック" panose="020B0400000000000000" pitchFamily="50" charset="-128"/>
                          <a:ea typeface="游ゴシック" panose="020B0400000000000000" pitchFamily="50" charset="-128"/>
                        </a:rPr>
                        <a:t>①2026年7月以降の月次試算表　②進行期に未計上の減価償却費（通期実績6,349千円）・法定福利費の通期見込み　③2026年5月の租税公課4,969千円の内容</a:t>
                      </a:r>
                      <a:endParaRPr sz="90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5F8FB"/>
                    </a:solidFill>
                  </a:tcPr>
                </a:tc>
                <a:extLst>
                  <a:ext uri="{0D108BD9-81ED-4DB2-BD59-A6C34878D82A}">
                    <a16:rowId xmlns:a16="http://schemas.microsoft.com/office/drawing/2014/main" val="10002"/>
                  </a:ext>
                </a:extLst>
              </a:tr>
              <a:tr h="566928">
                <a:tc>
                  <a:txBody>
                    <a:bodyPr/>
                    <a:lstStyle/>
                    <a:p>
                      <a:pPr algn="l"/>
                      <a:r>
                        <a:rPr sz="900" b="0">
                          <a:solidFill>
                            <a:sysClr val="windowText" lastClr="000000"/>
                          </a:solidFill>
                          <a:latin typeface="游ゴシック" panose="020B0400000000000000" pitchFamily="50" charset="-128"/>
                          <a:ea typeface="游ゴシック" panose="020B0400000000000000" pitchFamily="50" charset="-128"/>
                        </a:rPr>
                        <a:t>店舗別損益の解釈</a:t>
                      </a:r>
                    </a:p>
                  </a:txBody>
                  <a:tcPr marL="43200" marR="43200" marT="7200" marB="7200" anchor="ctr">
                    <a:solidFill>
                      <a:srgbClr val="FFFFFF"/>
                    </a:solidFill>
                  </a:tcPr>
                </a:tc>
                <a:tc>
                  <a:txBody>
                    <a:bodyPr/>
                    <a:lstStyle/>
                    <a:p>
                      <a:pPr algn="l"/>
                      <a:r>
                        <a:rPr sz="900" b="0" dirty="0" err="1">
                          <a:solidFill>
                            <a:sysClr val="windowText" lastClr="000000"/>
                          </a:solidFill>
                          <a:latin typeface="游ゴシック" panose="020B0400000000000000" pitchFamily="50" charset="-128"/>
                          <a:ea typeface="游ゴシック" panose="020B0400000000000000" pitchFamily="50" charset="-128"/>
                        </a:rPr>
                        <a:t>①共通部門に残る本社仕入40,994千円・外注費5,610千円の店舗への配賦方法　②明和店の販管費が売上高比75.6%と高い要因。科目別では従業員給与が売上高比44.1%と他のFC加盟店（18.1〜23.4%）の2倍前後であり、松阪管理センターの人件費が含まれていると推察（P.14参照）</a:t>
                      </a:r>
                    </a:p>
                  </a:txBody>
                  <a:tcPr marL="43200" marR="43200" marT="7200" marB="7200" anchor="ctr">
                    <a:solidFill>
                      <a:srgbClr val="FFFFFF"/>
                    </a:solidFill>
                  </a:tcPr>
                </a:tc>
                <a:extLst>
                  <a:ext uri="{0D108BD9-81ED-4DB2-BD59-A6C34878D82A}">
                    <a16:rowId xmlns:a16="http://schemas.microsoft.com/office/drawing/2014/main" val="10003"/>
                  </a:ext>
                </a:extLst>
              </a:tr>
              <a:tr h="566928">
                <a:tc>
                  <a:txBody>
                    <a:bodyPr/>
                    <a:lstStyle/>
                    <a:p>
                      <a:pPr algn="l"/>
                      <a:r>
                        <a:rPr sz="900" b="0">
                          <a:solidFill>
                            <a:sysClr val="windowText" lastClr="000000"/>
                          </a:solidFill>
                          <a:latin typeface="游ゴシック" panose="020B0400000000000000" pitchFamily="50" charset="-128"/>
                          <a:ea typeface="游ゴシック" panose="020B0400000000000000" pitchFamily="50" charset="-128"/>
                        </a:rPr>
                        <a:t>資産の実在性・評価</a:t>
                      </a:r>
                    </a:p>
                  </a:txBody>
                  <a:tcPr marL="43200" marR="43200" marT="7200" marB="7200" anchor="ctr">
                    <a:solidFill>
                      <a:srgbClr val="FFFFFF"/>
                    </a:solidFill>
                  </a:tcPr>
                </a:tc>
                <a:tc>
                  <a:txBody>
                    <a:bodyPr/>
                    <a:lstStyle/>
                    <a:p>
                      <a:pPr algn="l"/>
                      <a:r>
                        <a:rPr sz="900" b="0" dirty="0" err="1">
                          <a:solidFill>
                            <a:sysClr val="windowText" lastClr="000000"/>
                          </a:solidFill>
                          <a:latin typeface="游ゴシック" panose="020B0400000000000000" pitchFamily="50" charset="-128"/>
                          <a:ea typeface="游ゴシック" panose="020B0400000000000000" pitchFamily="50" charset="-128"/>
                        </a:rPr>
                        <a:t>①廃棄44,000千円に至った理由・処分方法・証憑　②外部保管在庫10,000千円の実在性　③営業権1,500千円の取得経緯・算定根拠　④2026年6月に取得した車両運搬具438千円の内容</a:t>
                      </a:r>
                    </a:p>
                  </a:txBody>
                  <a:tcPr marL="43200" marR="43200" marT="7200" marB="7200" anchor="ctr">
                    <a:solidFill>
                      <a:srgbClr val="FFFFFF"/>
                    </a:solidFill>
                  </a:tcPr>
                </a:tc>
                <a:extLst>
                  <a:ext uri="{0D108BD9-81ED-4DB2-BD59-A6C34878D82A}">
                    <a16:rowId xmlns:a16="http://schemas.microsoft.com/office/drawing/2014/main" val="10003"/>
                  </a:ext>
                </a:extLst>
              </a:tr>
              <a:tr h="566928">
                <a:tc>
                  <a:txBody>
                    <a:bodyPr/>
                    <a:lstStyle/>
                    <a:p>
                      <a:pPr algn="l"/>
                      <a:r>
                        <a:rPr sz="900" b="0">
                          <a:solidFill>
                            <a:sysClr val="windowText" lastClr="000000"/>
                          </a:solidFill>
                          <a:latin typeface="游ゴシック" panose="020B0400000000000000" pitchFamily="50" charset="-128"/>
                          <a:ea typeface="游ゴシック" panose="020B0400000000000000" pitchFamily="50" charset="-128"/>
                        </a:rPr>
                        <a:t>契約</a:t>
                      </a:r>
                    </a:p>
                  </a:txBody>
                  <a:tcPr marL="43200" marR="43200" marT="7200" marB="7200" anchor="ctr">
                    <a:solidFill>
                      <a:srgbClr val="F5F8FB"/>
                    </a:solidFill>
                  </a:tcPr>
                </a:tc>
                <a:tc>
                  <a:txBody>
                    <a:bodyPr/>
                    <a:lstStyle/>
                    <a:p>
                      <a:pPr algn="l"/>
                      <a:r>
                        <a:rPr sz="900" b="0" dirty="0" err="1">
                          <a:solidFill>
                            <a:sysClr val="windowText" lastClr="000000"/>
                          </a:solidFill>
                          <a:latin typeface="游ゴシック" panose="020B0400000000000000" pitchFamily="50" charset="-128"/>
                          <a:ea typeface="游ゴシック" panose="020B0400000000000000" pitchFamily="50" charset="-128"/>
                        </a:rPr>
                        <a:t>①フランチャイズ契約の内容とCOC条項への対応　②店舗賃貸借契約書および定期建物賃貸借（岐阜総本店2033年1月／大阪総本店2027年11月満了）の再契約見通し　③撤退2店舗の原状回復費用・違約金の有無　④ドン・キホーテ緑店のみロイヤリティの負担がなく地代家賃を負担している理由（FC本部からの転借か直接賃借かの別／P.14参照）</a:t>
                      </a:r>
                    </a:p>
                  </a:txBody>
                  <a:tcPr marL="43200" marR="43200" marT="7200" marB="7200" anchor="ctr">
                    <a:solidFill>
                      <a:srgbClr val="F5F8FB"/>
                    </a:solidFill>
                  </a:tcPr>
                </a:tc>
                <a:extLst>
                  <a:ext uri="{0D108BD9-81ED-4DB2-BD59-A6C34878D82A}">
                    <a16:rowId xmlns:a16="http://schemas.microsoft.com/office/drawing/2014/main" val="10004"/>
                  </a:ext>
                </a:extLst>
              </a:tr>
              <a:tr h="566928">
                <a:tc>
                  <a:txBody>
                    <a:bodyPr/>
                    <a:lstStyle/>
                    <a:p>
                      <a:pPr algn="l"/>
                      <a:r>
                        <a:rPr sz="900" b="0">
                          <a:solidFill>
                            <a:sysClr val="windowText" lastClr="000000"/>
                          </a:solidFill>
                          <a:latin typeface="游ゴシック" panose="020B0400000000000000" pitchFamily="50" charset="-128"/>
                          <a:ea typeface="游ゴシック" panose="020B0400000000000000" pitchFamily="50" charset="-128"/>
                        </a:rPr>
                        <a:t>組織・人材</a:t>
                      </a:r>
                    </a:p>
                  </a:txBody>
                  <a:tcPr marL="43200" marR="43200" marT="7200" marB="7200" anchor="ctr">
                    <a:solidFill>
                      <a:srgbClr val="FFFFFF"/>
                    </a:solidFill>
                  </a:tcPr>
                </a:tc>
                <a:tc>
                  <a:txBody>
                    <a:bodyPr/>
                    <a:lstStyle/>
                    <a:p>
                      <a:pPr algn="l"/>
                      <a:r>
                        <a:rPr sz="900" b="0" dirty="0" err="1">
                          <a:solidFill>
                            <a:sysClr val="windowText" lastClr="000000"/>
                          </a:solidFill>
                          <a:latin typeface="游ゴシック" panose="020B0400000000000000" pitchFamily="50" charset="-128"/>
                          <a:ea typeface="游ゴシック" panose="020B0400000000000000" pitchFamily="50" charset="-128"/>
                        </a:rPr>
                        <a:t>①現場責任者 淺野崇氏の譲渡後の継続関与および処遇　②各事業所の動物取扱責任者の配置と、明和店・久居店の許可更新（2026年5月20日満了）・撤退2店舗の廃業届の提出状況　③就業規則等の労務関係書類</a:t>
                      </a:r>
                      <a:endParaRPr sz="90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FFFFF"/>
                    </a:solidFill>
                  </a:tcPr>
                </a:tc>
                <a:extLst>
                  <a:ext uri="{0D108BD9-81ED-4DB2-BD59-A6C34878D82A}">
                    <a16:rowId xmlns:a16="http://schemas.microsoft.com/office/drawing/2014/main" val="10005"/>
                  </a:ext>
                </a:extLst>
              </a:tr>
              <a:tr h="566928">
                <a:tc>
                  <a:txBody>
                    <a:bodyPr/>
                    <a:lstStyle/>
                    <a:p>
                      <a:pPr algn="l"/>
                      <a:r>
                        <a:rPr sz="900" b="0" dirty="0" err="1">
                          <a:solidFill>
                            <a:sysClr val="windowText" lastClr="000000"/>
                          </a:solidFill>
                          <a:latin typeface="游ゴシック" panose="020B0400000000000000" pitchFamily="50" charset="-128"/>
                          <a:ea typeface="游ゴシック" panose="020B0400000000000000" pitchFamily="50" charset="-128"/>
                        </a:rPr>
                        <a:t>収益モデル</a:t>
                      </a:r>
                      <a:endParaRPr sz="90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5F8FB"/>
                    </a:solidFill>
                  </a:tcPr>
                </a:tc>
                <a:tc>
                  <a:txBody>
                    <a:bodyPr/>
                    <a:lstStyle/>
                    <a:p>
                      <a:pPr algn="l"/>
                      <a:r>
                        <a:rPr sz="900" b="0" dirty="0" err="1">
                          <a:solidFill>
                            <a:sysClr val="windowText" lastClr="000000"/>
                          </a:solidFill>
                          <a:latin typeface="游ゴシック" panose="020B0400000000000000" pitchFamily="50" charset="-128"/>
                          <a:ea typeface="游ゴシック" panose="020B0400000000000000" pitchFamily="50" charset="-128"/>
                        </a:rPr>
                        <a:t>ペット保険の代理店手数料の実額。共通部門のサービス売上高が月額約195万円（7か月13,650千円）で計上されており同手数料と推察されるが、内訳の確認が必要</a:t>
                      </a:r>
                      <a:endParaRPr sz="90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5F8FB"/>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8056887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正方形/長方形 12">
            <a:extLst>
              <a:ext uri="{FF2B5EF4-FFF2-40B4-BE49-F238E27FC236}">
                <a16:creationId xmlns:a16="http://schemas.microsoft.com/office/drawing/2014/main" id="{89F2FC56-6ADD-9704-B514-62FD74DE3ED5}"/>
              </a:ext>
            </a:extLst>
          </p:cNvPr>
          <p:cNvSpPr/>
          <p:nvPr/>
        </p:nvSpPr>
        <p:spPr>
          <a:xfrm>
            <a:off x="449263" y="1362266"/>
            <a:ext cx="3816000" cy="366383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360000" rIns="180000" bIns="0" rtlCol="0" anchor="t"/>
          <a:lstStyle/>
          <a:p>
            <a:pPr algn="ctr">
              <a:buClr>
                <a:schemeClr val="tx2"/>
              </a:buClr>
              <a:buSzPct val="80000"/>
            </a:pPr>
            <a:endParaRPr kumimoji="1" lang="zh-TW" altLang="en-US" sz="2000" b="1" spc="110" dirty="0">
              <a:solidFill>
                <a:schemeClr val="tx2"/>
              </a:solidFill>
              <a:latin typeface="+mj-ea"/>
              <a:ea typeface="+mj-ea"/>
            </a:endParaRPr>
          </a:p>
        </p:txBody>
      </p:sp>
      <p:sp>
        <p:nvSpPr>
          <p:cNvPr id="34" name="正方形/長方形 33">
            <a:extLst>
              <a:ext uri="{FF2B5EF4-FFF2-40B4-BE49-F238E27FC236}">
                <a16:creationId xmlns:a16="http://schemas.microsoft.com/office/drawing/2014/main" id="{F2057333-40C8-2D4A-60A4-202E9B7B444C}"/>
              </a:ext>
            </a:extLst>
          </p:cNvPr>
          <p:cNvSpPr/>
          <p:nvPr/>
        </p:nvSpPr>
        <p:spPr>
          <a:xfrm>
            <a:off x="4522064" y="1362266"/>
            <a:ext cx="5724000" cy="572432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0" rtlCol="0" anchor="t"/>
          <a:lstStyle/>
          <a:p>
            <a:pPr algn="ctr">
              <a:buClr>
                <a:schemeClr val="tx2"/>
              </a:buClr>
              <a:buSzPct val="80000"/>
            </a:pPr>
            <a:r>
              <a:rPr kumimoji="1" lang="ja-JP" altLang="en-US" sz="1800" b="1" spc="110" dirty="0">
                <a:solidFill>
                  <a:schemeClr val="tx1"/>
                </a:solidFill>
                <a:latin typeface="+mj-ea"/>
                <a:ea typeface="+mj-ea"/>
              </a:rPr>
              <a:t>成功報酬</a:t>
            </a:r>
            <a:r>
              <a:rPr kumimoji="1" lang="en-US" altLang="ja-JP" sz="1800" spc="110" baseline="30000" dirty="0">
                <a:solidFill>
                  <a:schemeClr val="tx1"/>
                </a:solidFill>
                <a:latin typeface="+mj-ea"/>
                <a:ea typeface="+mj-ea"/>
              </a:rPr>
              <a:t>※2</a:t>
            </a:r>
            <a:r>
              <a:rPr kumimoji="1" lang="ja-JP" altLang="en-US" sz="1800" b="1" spc="110" dirty="0">
                <a:solidFill>
                  <a:schemeClr val="tx1"/>
                </a:solidFill>
                <a:latin typeface="+mj-ea"/>
                <a:ea typeface="+mj-ea"/>
              </a:rPr>
              <a:t>の算定方法</a:t>
            </a:r>
          </a:p>
        </p:txBody>
      </p:sp>
      <p:sp>
        <p:nvSpPr>
          <p:cNvPr id="6" name="字幕 5">
            <a:extLst>
              <a:ext uri="{FF2B5EF4-FFF2-40B4-BE49-F238E27FC236}">
                <a16:creationId xmlns:a16="http://schemas.microsoft.com/office/drawing/2014/main" id="{8B635CAA-C777-BCBD-D6CB-D6FE9099ED6B}"/>
              </a:ext>
            </a:extLst>
          </p:cNvPr>
          <p:cNvSpPr>
            <a:spLocks noGrp="1"/>
          </p:cNvSpPr>
          <p:nvPr>
            <p:ph type="subTitle" idx="1"/>
          </p:nvPr>
        </p:nvSpPr>
        <p:spPr>
          <a:xfrm>
            <a:off x="460675" y="830046"/>
            <a:ext cx="9781875" cy="241861"/>
          </a:xfrm>
        </p:spPr>
        <p:txBody>
          <a:bodyPr/>
          <a:lstStyle/>
          <a:p>
            <a:r>
              <a:rPr lang="ja-JP" altLang="en-US" dirty="0"/>
              <a:t>時価総資産</a:t>
            </a:r>
            <a:r>
              <a:rPr lang="en-US" altLang="ja-JP" dirty="0"/>
              <a:t>(</a:t>
            </a:r>
            <a:r>
              <a:rPr lang="ja-JP" altLang="en-US" dirty="0"/>
              <a:t>営業権含む</a:t>
            </a:r>
            <a:r>
              <a:rPr lang="en-US" altLang="ja-JP" dirty="0"/>
              <a:t>)</a:t>
            </a:r>
            <a:r>
              <a:rPr lang="ja-JP" altLang="en-US" dirty="0"/>
              <a:t>を基準とした報酬体系であり、独占交渉権獲得の段階まで費用は発生しません</a:t>
            </a:r>
            <a:endParaRPr lang="en-US" altLang="ja-JP" dirty="0"/>
          </a:p>
        </p:txBody>
      </p:sp>
      <p:sp>
        <p:nvSpPr>
          <p:cNvPr id="2" name="タイトル 1">
            <a:extLst>
              <a:ext uri="{FF2B5EF4-FFF2-40B4-BE49-F238E27FC236}">
                <a16:creationId xmlns:a16="http://schemas.microsoft.com/office/drawing/2014/main" id="{D080ECA5-1EC6-E0DA-1045-7623DC8B0517}"/>
              </a:ext>
            </a:extLst>
          </p:cNvPr>
          <p:cNvSpPr>
            <a:spLocks noGrp="1"/>
          </p:cNvSpPr>
          <p:nvPr>
            <p:ph type="ctrTitle"/>
          </p:nvPr>
        </p:nvSpPr>
        <p:spPr/>
        <p:txBody>
          <a:bodyPr/>
          <a:lstStyle/>
          <a:p>
            <a:r>
              <a:rPr lang="ja-JP" altLang="en-US" dirty="0"/>
              <a:t>報酬体系</a:t>
            </a:r>
          </a:p>
        </p:txBody>
      </p:sp>
      <p:sp>
        <p:nvSpPr>
          <p:cNvPr id="7" name="タイトル 1">
            <a:extLst>
              <a:ext uri="{FF2B5EF4-FFF2-40B4-BE49-F238E27FC236}">
                <a16:creationId xmlns:a16="http://schemas.microsoft.com/office/drawing/2014/main" id="{0DF55F9A-C4D7-02A8-F804-D2CAF9784F10}"/>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dirty="0"/>
              <a:t>　</a:t>
            </a:r>
            <a:r>
              <a:rPr lang="en-US" altLang="ja-JP" dirty="0"/>
              <a:t>Appendix</a:t>
            </a:r>
            <a:endParaRPr lang="ja-JP" altLang="en-US" dirty="0"/>
          </a:p>
        </p:txBody>
      </p:sp>
      <p:cxnSp>
        <p:nvCxnSpPr>
          <p:cNvPr id="15" name="直線コネクタ 14">
            <a:extLst>
              <a:ext uri="{FF2B5EF4-FFF2-40B4-BE49-F238E27FC236}">
                <a16:creationId xmlns:a16="http://schemas.microsoft.com/office/drawing/2014/main" id="{CB8BC532-89AB-609B-2D65-2652067D6567}"/>
              </a:ext>
            </a:extLst>
          </p:cNvPr>
          <p:cNvCxnSpPr>
            <a:cxnSpLocks/>
          </p:cNvCxnSpPr>
          <p:nvPr/>
        </p:nvCxnSpPr>
        <p:spPr>
          <a:xfrm>
            <a:off x="449263" y="1362267"/>
            <a:ext cx="3816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18" name="正方形/長方形 17">
            <a:extLst>
              <a:ext uri="{FF2B5EF4-FFF2-40B4-BE49-F238E27FC236}">
                <a16:creationId xmlns:a16="http://schemas.microsoft.com/office/drawing/2014/main" id="{6E720941-89DA-5B24-F4D1-711BB1F814EF}"/>
              </a:ext>
            </a:extLst>
          </p:cNvPr>
          <p:cNvSpPr>
            <a:spLocks/>
          </p:cNvSpPr>
          <p:nvPr/>
        </p:nvSpPr>
        <p:spPr>
          <a:xfrm>
            <a:off x="768087" y="2452713"/>
            <a:ext cx="2412000" cy="612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288000" tIns="0" rIns="144000" bIns="0" rtlCol="0" anchor="ctr"/>
          <a:lstStyle/>
          <a:p>
            <a:pPr marL="180000" indent="-180000">
              <a:lnSpc>
                <a:spcPct val="120000"/>
              </a:lnSpc>
              <a:spcAft>
                <a:spcPts val="600"/>
              </a:spcAft>
              <a:buClr>
                <a:schemeClr val="tx2"/>
              </a:buClr>
              <a:buSzPct val="100000"/>
              <a:buFont typeface="游ゴシック" panose="020B0400000000000000" pitchFamily="50" charset="-128"/>
              <a:buChar char="▪"/>
            </a:pPr>
            <a:r>
              <a:rPr kumimoji="1" lang="zh-TW" altLang="en-US" sz="1600" b="1" spc="110" dirty="0">
                <a:solidFill>
                  <a:schemeClr val="tx2"/>
                </a:solidFill>
                <a:latin typeface="+mj-ea"/>
                <a:ea typeface="+mj-ea"/>
              </a:rPr>
              <a:t>着手金</a:t>
            </a:r>
            <a:endParaRPr kumimoji="1" lang="zh-TW" altLang="en-US" sz="1600" spc="110" baseline="30000" dirty="0">
              <a:solidFill>
                <a:schemeClr val="tx2"/>
              </a:solidFill>
              <a:latin typeface="+mj-ea"/>
              <a:ea typeface="+mj-ea"/>
            </a:endParaRPr>
          </a:p>
        </p:txBody>
      </p:sp>
      <p:sp>
        <p:nvSpPr>
          <p:cNvPr id="20" name="正方形/長方形 19">
            <a:extLst>
              <a:ext uri="{FF2B5EF4-FFF2-40B4-BE49-F238E27FC236}">
                <a16:creationId xmlns:a16="http://schemas.microsoft.com/office/drawing/2014/main" id="{C770662D-0186-159D-6B20-6AADFFE9CBBA}"/>
              </a:ext>
            </a:extLst>
          </p:cNvPr>
          <p:cNvSpPr>
            <a:spLocks/>
          </p:cNvSpPr>
          <p:nvPr/>
        </p:nvSpPr>
        <p:spPr>
          <a:xfrm>
            <a:off x="768087" y="3965025"/>
            <a:ext cx="2412000" cy="612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288000" tIns="0" rIns="144000" bIns="0" rtlCol="0" anchor="ctr"/>
          <a:lstStyle/>
          <a:p>
            <a:pPr marL="180000" indent="-180000">
              <a:lnSpc>
                <a:spcPct val="120000"/>
              </a:lnSpc>
              <a:spcAft>
                <a:spcPts val="600"/>
              </a:spcAft>
              <a:buClr>
                <a:schemeClr val="tx2"/>
              </a:buClr>
              <a:buSzPct val="100000"/>
              <a:buFont typeface="游ゴシック" panose="020B0400000000000000" pitchFamily="50" charset="-128"/>
              <a:buChar char="▪"/>
            </a:pPr>
            <a:r>
              <a:rPr kumimoji="1" lang="ja-JP" altLang="en-US" sz="1600" b="1" spc="110" dirty="0">
                <a:solidFill>
                  <a:schemeClr val="tx2"/>
                </a:solidFill>
                <a:latin typeface="+mj-ea"/>
                <a:ea typeface="+mj-ea"/>
              </a:rPr>
              <a:t>リテイナーフィー</a:t>
            </a:r>
            <a:endParaRPr kumimoji="1" lang="zh-TW" altLang="en-US" sz="1600" spc="110" baseline="30000" dirty="0">
              <a:solidFill>
                <a:schemeClr val="tx2"/>
              </a:solidFill>
              <a:latin typeface="+mj-ea"/>
              <a:ea typeface="+mj-ea"/>
            </a:endParaRPr>
          </a:p>
        </p:txBody>
      </p:sp>
      <p:sp>
        <p:nvSpPr>
          <p:cNvPr id="21" name="正方形/長方形 20">
            <a:extLst>
              <a:ext uri="{FF2B5EF4-FFF2-40B4-BE49-F238E27FC236}">
                <a16:creationId xmlns:a16="http://schemas.microsoft.com/office/drawing/2014/main" id="{E00098F5-AD27-787B-FFFF-9D575BB76654}"/>
              </a:ext>
            </a:extLst>
          </p:cNvPr>
          <p:cNvSpPr>
            <a:spLocks/>
          </p:cNvSpPr>
          <p:nvPr/>
        </p:nvSpPr>
        <p:spPr>
          <a:xfrm>
            <a:off x="768087" y="3208869"/>
            <a:ext cx="2412000" cy="612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288000" tIns="0" rIns="144000" bIns="0" rtlCol="0" anchor="ctr"/>
          <a:lstStyle/>
          <a:p>
            <a:pPr marL="180000" indent="-180000">
              <a:lnSpc>
                <a:spcPct val="120000"/>
              </a:lnSpc>
              <a:spcAft>
                <a:spcPts val="600"/>
              </a:spcAft>
              <a:buClr>
                <a:schemeClr val="tx2"/>
              </a:buClr>
              <a:buSzPct val="100000"/>
              <a:buFont typeface="游ゴシック" panose="020B0400000000000000" pitchFamily="50" charset="-128"/>
              <a:buChar char="▪"/>
            </a:pPr>
            <a:r>
              <a:rPr kumimoji="1" lang="ja-JP" altLang="en-US" sz="1600" b="1" spc="110" dirty="0">
                <a:solidFill>
                  <a:schemeClr val="tx2"/>
                </a:solidFill>
                <a:latin typeface="+mj-ea"/>
                <a:ea typeface="+mj-ea"/>
              </a:rPr>
              <a:t>情報提供料</a:t>
            </a:r>
            <a:endParaRPr kumimoji="1" lang="zh-TW" altLang="en-US" sz="1600" b="1" spc="110" dirty="0">
              <a:solidFill>
                <a:schemeClr val="tx2"/>
              </a:solidFill>
              <a:latin typeface="+mj-ea"/>
              <a:ea typeface="+mj-ea"/>
            </a:endParaRPr>
          </a:p>
        </p:txBody>
      </p:sp>
      <p:sp>
        <p:nvSpPr>
          <p:cNvPr id="24" name="テキスト ボックス 23">
            <a:extLst>
              <a:ext uri="{FF2B5EF4-FFF2-40B4-BE49-F238E27FC236}">
                <a16:creationId xmlns:a16="http://schemas.microsoft.com/office/drawing/2014/main" id="{732BB496-90B0-3CEC-6685-2DABCCD36309}"/>
              </a:ext>
            </a:extLst>
          </p:cNvPr>
          <p:cNvSpPr txBox="1"/>
          <p:nvPr/>
        </p:nvSpPr>
        <p:spPr>
          <a:xfrm>
            <a:off x="3604575" y="3422948"/>
            <a:ext cx="428323" cy="278731"/>
          </a:xfrm>
          <a:prstGeom prst="rect">
            <a:avLst/>
          </a:prstGeom>
          <a:noFill/>
        </p:spPr>
        <p:txBody>
          <a:bodyPr wrap="none" lIns="0" tIns="0" rIns="0" bIns="0" rtlCol="0">
            <a:spAutoFit/>
          </a:bodyPr>
          <a:lstStyle/>
          <a:p>
            <a:pPr algn="ctr">
              <a:lnSpc>
                <a:spcPct val="120000"/>
              </a:lnSpc>
              <a:buClr>
                <a:schemeClr val="tx2"/>
              </a:buClr>
              <a:buSzPct val="80000"/>
            </a:pPr>
            <a:r>
              <a:rPr lang="ja-JP" altLang="en-US" sz="1600" b="1" spc="70" dirty="0">
                <a:latin typeface="+mj-ea"/>
                <a:ea typeface="+mj-ea"/>
              </a:rPr>
              <a:t>無料</a:t>
            </a:r>
          </a:p>
        </p:txBody>
      </p:sp>
      <p:sp>
        <p:nvSpPr>
          <p:cNvPr id="30" name="右大かっこ 29">
            <a:extLst>
              <a:ext uri="{FF2B5EF4-FFF2-40B4-BE49-F238E27FC236}">
                <a16:creationId xmlns:a16="http://schemas.microsoft.com/office/drawing/2014/main" id="{3B1D8EBE-EC59-B246-AF6C-841872564D9C}"/>
              </a:ext>
            </a:extLst>
          </p:cNvPr>
          <p:cNvSpPr/>
          <p:nvPr/>
        </p:nvSpPr>
        <p:spPr>
          <a:xfrm>
            <a:off x="3324087" y="2479728"/>
            <a:ext cx="174824" cy="2097297"/>
          </a:xfrm>
          <a:prstGeom prst="rightBracket">
            <a:avLst>
              <a:gd name="adj" fmla="val 0"/>
            </a:avLst>
          </a:prstGeom>
          <a:ln w="12700">
            <a:solidFill>
              <a:schemeClr val="tx2"/>
            </a:solidFill>
            <a:prstDash val="sysDot"/>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
        <p:nvSpPr>
          <p:cNvPr id="36" name="正方形/長方形 35">
            <a:extLst>
              <a:ext uri="{FF2B5EF4-FFF2-40B4-BE49-F238E27FC236}">
                <a16:creationId xmlns:a16="http://schemas.microsoft.com/office/drawing/2014/main" id="{9AE04EFA-8A89-729B-C209-CDC92D8F408B}"/>
              </a:ext>
            </a:extLst>
          </p:cNvPr>
          <p:cNvSpPr/>
          <p:nvPr/>
        </p:nvSpPr>
        <p:spPr>
          <a:xfrm>
            <a:off x="4766690" y="6067960"/>
            <a:ext cx="4411464" cy="9425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spAutoFit/>
          </a:bodyPr>
          <a:lstStyle/>
          <a:p>
            <a:pPr>
              <a:lnSpc>
                <a:spcPct val="110000"/>
              </a:lnSpc>
            </a:pPr>
            <a:r>
              <a:rPr lang="en-US" altLang="ja-JP" sz="800" dirty="0">
                <a:solidFill>
                  <a:schemeClr val="tx1"/>
                </a:solidFill>
                <a:latin typeface="+mn-ea"/>
              </a:rPr>
              <a:t>※2</a:t>
            </a:r>
            <a:r>
              <a:rPr lang="ja-JP" altLang="en-US" sz="800" dirty="0">
                <a:solidFill>
                  <a:schemeClr val="tx1"/>
                </a:solidFill>
                <a:latin typeface="+mn-ea"/>
              </a:rPr>
              <a:t>　以下の項目については上記報酬には含まれておりません。</a:t>
            </a:r>
          </a:p>
          <a:p>
            <a:pPr>
              <a:lnSpc>
                <a:spcPct val="110000"/>
              </a:lnSpc>
            </a:pPr>
            <a:r>
              <a:rPr lang="ja-JP" altLang="en-US" sz="800" dirty="0">
                <a:solidFill>
                  <a:schemeClr val="tx1"/>
                </a:solidFill>
                <a:latin typeface="+mn-ea"/>
              </a:rPr>
              <a:t>　　・買収監査、特殊な市場調査や技術評価、経営計画作成のための費用</a:t>
            </a:r>
          </a:p>
          <a:p>
            <a:pPr>
              <a:lnSpc>
                <a:spcPct val="110000"/>
              </a:lnSpc>
            </a:pPr>
            <a:r>
              <a:rPr lang="ja-JP" altLang="en-US" sz="800" dirty="0">
                <a:solidFill>
                  <a:schemeClr val="tx1"/>
                </a:solidFill>
                <a:latin typeface="+mn-ea"/>
              </a:rPr>
              <a:t>　　・登記費用および公認会計士、税理士、弁護士、不動産鑑定士等の専門家費用の実費</a:t>
            </a:r>
          </a:p>
          <a:p>
            <a:pPr>
              <a:lnSpc>
                <a:spcPct val="110000"/>
              </a:lnSpc>
            </a:pPr>
            <a:r>
              <a:rPr lang="ja-JP" altLang="en-US" sz="800" dirty="0">
                <a:solidFill>
                  <a:schemeClr val="tx1"/>
                </a:solidFill>
                <a:latin typeface="+mn-ea"/>
              </a:rPr>
              <a:t>　　・譲渡企業の海外事業所等訪問時の通訳費、当社および貴社関係者の交通費、宿泊費、日当</a:t>
            </a:r>
            <a:endParaRPr lang="en-US" altLang="ja-JP" sz="800" dirty="0">
              <a:solidFill>
                <a:schemeClr val="tx1"/>
              </a:solidFill>
              <a:latin typeface="+mn-ea"/>
            </a:endParaRPr>
          </a:p>
          <a:p>
            <a:pPr>
              <a:lnSpc>
                <a:spcPct val="110000"/>
              </a:lnSpc>
            </a:pPr>
            <a:r>
              <a:rPr lang="ja-JP" altLang="en-US" sz="800" dirty="0">
                <a:solidFill>
                  <a:schemeClr val="tx1"/>
                </a:solidFill>
                <a:latin typeface="+mn-ea"/>
              </a:rPr>
              <a:t>　　以下の場合、上記の各種報酬について別途ご相談いたします。</a:t>
            </a:r>
          </a:p>
          <a:p>
            <a:pPr>
              <a:lnSpc>
                <a:spcPct val="110000"/>
              </a:lnSpc>
            </a:pPr>
            <a:r>
              <a:rPr lang="ja-JP" altLang="en-US" sz="800" dirty="0">
                <a:solidFill>
                  <a:schemeClr val="tx1"/>
                </a:solidFill>
                <a:latin typeface="+mn-ea"/>
              </a:rPr>
              <a:t>　　・譲渡企業が関係会社を保有する場合や事業所を複数持つ場合</a:t>
            </a:r>
          </a:p>
          <a:p>
            <a:pPr>
              <a:lnSpc>
                <a:spcPct val="110000"/>
              </a:lnSpc>
            </a:pPr>
            <a:r>
              <a:rPr lang="ja-JP" altLang="en-US" sz="800" dirty="0">
                <a:solidFill>
                  <a:schemeClr val="tx1"/>
                </a:solidFill>
                <a:latin typeface="+mn-ea"/>
              </a:rPr>
              <a:t>　　・譲渡企業が海外に関係会社・事業所・工場を保有する場合</a:t>
            </a:r>
          </a:p>
        </p:txBody>
      </p:sp>
      <p:sp>
        <p:nvSpPr>
          <p:cNvPr id="37" name="正方形/長方形 36">
            <a:extLst>
              <a:ext uri="{FF2B5EF4-FFF2-40B4-BE49-F238E27FC236}">
                <a16:creationId xmlns:a16="http://schemas.microsoft.com/office/drawing/2014/main" id="{F22E4C30-8FC3-B869-53BD-9D8860037344}"/>
              </a:ext>
            </a:extLst>
          </p:cNvPr>
          <p:cNvSpPr/>
          <p:nvPr/>
        </p:nvSpPr>
        <p:spPr>
          <a:xfrm>
            <a:off x="683263" y="1669542"/>
            <a:ext cx="3348000" cy="468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zh-TW" altLang="en-US" sz="1800" b="1" spc="70" dirty="0">
                <a:solidFill>
                  <a:schemeClr val="bg1"/>
                </a:solidFill>
                <a:latin typeface="+mj-ea"/>
                <a:ea typeface="+mj-ea"/>
              </a:rPr>
              <a:t>料金体系｜成功報酬型</a:t>
            </a:r>
          </a:p>
        </p:txBody>
      </p:sp>
      <p:sp>
        <p:nvSpPr>
          <p:cNvPr id="38" name="正方形/長方形 37">
            <a:extLst>
              <a:ext uri="{FF2B5EF4-FFF2-40B4-BE49-F238E27FC236}">
                <a16:creationId xmlns:a16="http://schemas.microsoft.com/office/drawing/2014/main" id="{A662A524-58DF-E539-7CF9-2CCAAD4E7CAF}"/>
              </a:ext>
            </a:extLst>
          </p:cNvPr>
          <p:cNvSpPr>
            <a:spLocks/>
          </p:cNvSpPr>
          <p:nvPr/>
        </p:nvSpPr>
        <p:spPr>
          <a:xfrm>
            <a:off x="4752550" y="1974789"/>
            <a:ext cx="5256000" cy="3051315"/>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08000" rIns="0" bIns="0" rtlCol="0" anchor="t">
            <a:noAutofit/>
          </a:bodyPr>
          <a:lstStyle/>
          <a:p>
            <a:r>
              <a:rPr kumimoji="1" lang="en-US" altLang="ja-JP" sz="1543" b="1">
                <a:solidFill>
                  <a:schemeClr val="tx2"/>
                </a:solidFill>
                <a:ea typeface="+mj-ea"/>
              </a:rPr>
              <a:t>1. M</a:t>
            </a:r>
            <a:r>
              <a:rPr kumimoji="1" lang="ja-JP" altLang="en-US" sz="1543" b="1">
                <a:solidFill>
                  <a:schemeClr val="tx2"/>
                </a:solidFill>
                <a:ea typeface="+mj-ea"/>
              </a:rPr>
              <a:t>＆</a:t>
            </a:r>
            <a:r>
              <a:rPr kumimoji="1" lang="en-US" altLang="ja-JP" sz="1543" b="1">
                <a:solidFill>
                  <a:schemeClr val="tx2"/>
                </a:solidFill>
                <a:ea typeface="+mj-ea"/>
              </a:rPr>
              <a:t>A</a:t>
            </a:r>
            <a:r>
              <a:rPr kumimoji="1" lang="ja-JP" altLang="en-US" sz="1543" b="1">
                <a:solidFill>
                  <a:schemeClr val="tx2"/>
                </a:solidFill>
                <a:ea typeface="+mj-ea"/>
              </a:rPr>
              <a:t>（株式・事業譲渡）の場合</a:t>
            </a:r>
            <a:endParaRPr kumimoji="1" lang="ja-JP" altLang="en-US" sz="1543" b="1" dirty="0">
              <a:solidFill>
                <a:schemeClr val="tx2"/>
              </a:solidFill>
              <a:ea typeface="+mj-ea"/>
            </a:endParaRPr>
          </a:p>
        </p:txBody>
      </p:sp>
      <p:sp>
        <p:nvSpPr>
          <p:cNvPr id="39" name="正方形/長方形 38">
            <a:extLst>
              <a:ext uri="{FF2B5EF4-FFF2-40B4-BE49-F238E27FC236}">
                <a16:creationId xmlns:a16="http://schemas.microsoft.com/office/drawing/2014/main" id="{3005CCDB-36FD-4152-9A26-F18CB327D833}"/>
              </a:ext>
            </a:extLst>
          </p:cNvPr>
          <p:cNvSpPr>
            <a:spLocks/>
          </p:cNvSpPr>
          <p:nvPr/>
        </p:nvSpPr>
        <p:spPr>
          <a:xfrm>
            <a:off x="4752550" y="5145149"/>
            <a:ext cx="5256000" cy="855016"/>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08000" rIns="0" bIns="0" rtlCol="0" anchor="t">
            <a:noAutofit/>
          </a:bodyPr>
          <a:lstStyle/>
          <a:p>
            <a:r>
              <a:rPr kumimoji="1" lang="en-US" altLang="ja-JP" sz="1543" b="1" dirty="0">
                <a:solidFill>
                  <a:schemeClr val="tx2"/>
                </a:solidFill>
                <a:ea typeface="+mj-ea"/>
              </a:rPr>
              <a:t>2. </a:t>
            </a:r>
            <a:r>
              <a:rPr kumimoji="1" lang="ja-JP" altLang="en-US" sz="1543" b="1" dirty="0">
                <a:solidFill>
                  <a:schemeClr val="tx2"/>
                </a:solidFill>
                <a:ea typeface="+mj-ea"/>
              </a:rPr>
              <a:t>合併・会社分割・業務提携などの場合</a:t>
            </a:r>
          </a:p>
        </p:txBody>
      </p:sp>
      <p:sp>
        <p:nvSpPr>
          <p:cNvPr id="43" name="正方形/長方形 42">
            <a:extLst>
              <a:ext uri="{FF2B5EF4-FFF2-40B4-BE49-F238E27FC236}">
                <a16:creationId xmlns:a16="http://schemas.microsoft.com/office/drawing/2014/main" id="{45F9569B-84C3-F6AA-8270-6F2A0C5A48FE}"/>
              </a:ext>
            </a:extLst>
          </p:cNvPr>
          <p:cNvSpPr/>
          <p:nvPr/>
        </p:nvSpPr>
        <p:spPr>
          <a:xfrm>
            <a:off x="4968550" y="5594330"/>
            <a:ext cx="4824000" cy="286791"/>
          </a:xfrm>
          <a:prstGeom prst="rect">
            <a:avLst/>
          </a:prstGeom>
          <a:solidFill>
            <a:schemeClr val="bg1"/>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kumimoji="1" lang="ja-JP" altLang="en-US" sz="1600" b="1" spc="30" dirty="0">
                <a:solidFill>
                  <a:schemeClr val="tx1"/>
                </a:solidFill>
                <a:latin typeface="+mj-ea"/>
                <a:ea typeface="+mj-ea"/>
              </a:rPr>
              <a:t>形態、規模に応じてお見積り</a:t>
            </a:r>
          </a:p>
        </p:txBody>
      </p:sp>
      <p:sp>
        <p:nvSpPr>
          <p:cNvPr id="44" name="テキスト ボックス 43">
            <a:extLst>
              <a:ext uri="{FF2B5EF4-FFF2-40B4-BE49-F238E27FC236}">
                <a16:creationId xmlns:a16="http://schemas.microsoft.com/office/drawing/2014/main" id="{1E78D870-E1BA-6FCD-62FA-37BB1F2E0B3D}"/>
              </a:ext>
            </a:extLst>
          </p:cNvPr>
          <p:cNvSpPr txBox="1"/>
          <p:nvPr/>
        </p:nvSpPr>
        <p:spPr>
          <a:xfrm>
            <a:off x="4968550" y="4554047"/>
            <a:ext cx="3546805" cy="191399"/>
          </a:xfrm>
          <a:prstGeom prst="rect">
            <a:avLst/>
          </a:prstGeom>
          <a:noFill/>
        </p:spPr>
        <p:txBody>
          <a:bodyPr wrap="none" lIns="0" tIns="0" rIns="0" bIns="0" rtlCol="0">
            <a:spAutoFit/>
          </a:bodyPr>
          <a:lstStyle/>
          <a:p>
            <a:pPr>
              <a:lnSpc>
                <a:spcPct val="120000"/>
              </a:lnSpc>
              <a:buClr>
                <a:schemeClr val="tx2"/>
              </a:buClr>
              <a:buSzPct val="80000"/>
            </a:pPr>
            <a:r>
              <a:rPr lang="ja-JP" altLang="en-US" sz="1100" spc="70" dirty="0">
                <a:latin typeface="+mn-ea"/>
              </a:rPr>
              <a:t>成功報酬の最低額は</a:t>
            </a:r>
            <a:r>
              <a:rPr lang="en-US" altLang="ja-JP" sz="1100" spc="70" dirty="0">
                <a:latin typeface="+mn-ea"/>
              </a:rPr>
              <a:t>1,500</a:t>
            </a:r>
            <a:r>
              <a:rPr lang="ja-JP" altLang="en-US" sz="1100" spc="70" dirty="0">
                <a:latin typeface="+mn-ea"/>
              </a:rPr>
              <a:t>万円を設定しております。</a:t>
            </a:r>
          </a:p>
        </p:txBody>
      </p:sp>
      <p:graphicFrame>
        <p:nvGraphicFramePr>
          <p:cNvPr id="45" name="表 44">
            <a:extLst>
              <a:ext uri="{FF2B5EF4-FFF2-40B4-BE49-F238E27FC236}">
                <a16:creationId xmlns:a16="http://schemas.microsoft.com/office/drawing/2014/main" id="{43BEAE47-9189-F306-0E9E-F73105167DC7}"/>
              </a:ext>
            </a:extLst>
          </p:cNvPr>
          <p:cNvGraphicFramePr>
            <a:graphicFrameLocks noGrp="1"/>
          </p:cNvGraphicFramePr>
          <p:nvPr/>
        </p:nvGraphicFramePr>
        <p:xfrm>
          <a:off x="4968550" y="2395845"/>
          <a:ext cx="4824000" cy="2448000"/>
        </p:xfrm>
        <a:graphic>
          <a:graphicData uri="http://schemas.openxmlformats.org/drawingml/2006/table">
            <a:tbl>
              <a:tblPr firstRow="1" bandRow="1">
                <a:tableStyleId>{F2DE63D5-997A-4646-A377-4702673A728D}</a:tableStyleId>
              </a:tblPr>
              <a:tblGrid>
                <a:gridCol w="2952000">
                  <a:extLst>
                    <a:ext uri="{9D8B030D-6E8A-4147-A177-3AD203B41FA5}">
                      <a16:colId xmlns:a16="http://schemas.microsoft.com/office/drawing/2014/main" val="4012313631"/>
                    </a:ext>
                  </a:extLst>
                </a:gridCol>
                <a:gridCol w="1872000">
                  <a:extLst>
                    <a:ext uri="{9D8B030D-6E8A-4147-A177-3AD203B41FA5}">
                      <a16:colId xmlns:a16="http://schemas.microsoft.com/office/drawing/2014/main" val="1332805218"/>
                    </a:ext>
                  </a:extLst>
                </a:gridCol>
              </a:tblGrid>
              <a:tr h="396000">
                <a:tc>
                  <a:txBody>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1" lang="ja-JP" altLang="en-US" sz="1100" b="1" i="0" u="none" strike="noStrike" kern="1200" cap="none" spc="50" normalizeH="0" baseline="0" noProof="0" dirty="0">
                          <a:ln>
                            <a:noFill/>
                          </a:ln>
                          <a:solidFill>
                            <a:schemeClr val="bg1"/>
                          </a:solidFill>
                          <a:effectLst/>
                          <a:uLnTx/>
                          <a:uFillTx/>
                          <a:latin typeface="+mj-ea"/>
                          <a:ea typeface="+mj-ea"/>
                        </a:rPr>
                        <a:t>譲渡企業の時価総資産額</a:t>
                      </a:r>
                      <a:endParaRPr kumimoji="1" lang="en-US" altLang="ja-JP" sz="1100" b="1" i="0" u="none" strike="noStrike" kern="1200" cap="none" spc="50" normalizeH="0" baseline="0" noProof="0" dirty="0">
                        <a:ln>
                          <a:noFill/>
                        </a:ln>
                        <a:solidFill>
                          <a:schemeClr val="bg1"/>
                        </a:solidFill>
                        <a:effectLst/>
                        <a:uLnTx/>
                        <a:uFillTx/>
                        <a:latin typeface="+mj-ea"/>
                        <a:ea typeface="+mj-ea"/>
                      </a:endParaRPr>
                    </a:p>
                    <a:p>
                      <a:pPr marL="0" marR="0" lvl="0" indent="0" algn="ctr" defTabSz="914400" rtl="0" eaLnBrk="1" fontAlgn="auto" latinLnBrk="0" hangingPunct="1">
                        <a:lnSpc>
                          <a:spcPct val="110000"/>
                        </a:lnSpc>
                        <a:spcBef>
                          <a:spcPts val="0"/>
                        </a:spcBef>
                        <a:spcAft>
                          <a:spcPts val="0"/>
                        </a:spcAft>
                        <a:buClrTx/>
                        <a:buSzTx/>
                        <a:buFontTx/>
                        <a:buNone/>
                        <a:tabLst/>
                        <a:defRPr/>
                      </a:pPr>
                      <a:r>
                        <a:rPr kumimoji="1" lang="ja-JP" altLang="en-US" sz="800" b="1" i="0" u="none" strike="noStrike" kern="1200" cap="none" spc="50" normalizeH="0" baseline="0" noProof="0" dirty="0">
                          <a:ln>
                            <a:noFill/>
                          </a:ln>
                          <a:solidFill>
                            <a:schemeClr val="bg1"/>
                          </a:solidFill>
                          <a:effectLst/>
                          <a:uLnTx/>
                          <a:uFillTx/>
                          <a:latin typeface="+mj-ea"/>
                          <a:ea typeface="+mj-ea"/>
                        </a:rPr>
                        <a:t>（営業権を含む）</a:t>
                      </a:r>
                    </a:p>
                  </a:txBody>
                  <a:tcPr marL="0" marR="0" marT="0" marB="0" anchor="ctr" anchorCtr="1">
                    <a:lnL w="3175"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nSpc>
                          <a:spcPct val="110000"/>
                        </a:lnSpc>
                      </a:pPr>
                      <a:r>
                        <a:rPr kumimoji="1" lang="ja-JP" altLang="en-US" sz="1100" b="1" spc="50" baseline="0" dirty="0">
                          <a:latin typeface="+mj-ea"/>
                          <a:ea typeface="+mj-ea"/>
                        </a:rPr>
                        <a:t>手数料率</a:t>
                      </a:r>
                    </a:p>
                  </a:txBody>
                  <a:tcPr marL="0" marR="0" marT="0" marB="0" anchor="ctr" anchorCtr="1">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3552892255"/>
                  </a:ext>
                </a:extLst>
              </a:tr>
              <a:tr h="342000">
                <a:tc>
                  <a:txBody>
                    <a:bodyPr/>
                    <a:lstStyle/>
                    <a:p>
                      <a:pPr algn="l">
                        <a:lnSpc>
                          <a:spcPct val="110000"/>
                        </a:lnSpc>
                      </a:pPr>
                      <a:r>
                        <a:rPr kumimoji="1" lang="en-US" altLang="ja-JP" sz="1200" b="1" spc="50" baseline="0" dirty="0">
                          <a:latin typeface="+mj-lt"/>
                          <a:ea typeface="+mj-ea"/>
                        </a:rPr>
                        <a:t>2</a:t>
                      </a:r>
                      <a:r>
                        <a:rPr kumimoji="1" lang="ja-JP" altLang="en-US" sz="1200" b="1" spc="50" baseline="0" dirty="0">
                          <a:latin typeface="+mj-lt"/>
                          <a:ea typeface="+mj-ea"/>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accent2">
                          <a:lumMod val="10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2,000</a:t>
                      </a:r>
                      <a:r>
                        <a:rPr kumimoji="1" lang="ja-JP" altLang="en-US" sz="1100" b="1" spc="50" baseline="0" dirty="0">
                          <a:solidFill>
                            <a:schemeClr val="tx1"/>
                          </a:solidFill>
                          <a:latin typeface="+mn-lt"/>
                          <a:ea typeface="+mn-ea"/>
                        </a:rPr>
                        <a:t>万円</a:t>
                      </a:r>
                      <a:endParaRPr kumimoji="1" lang="ja-JP" altLang="en-US" sz="1100" b="0" spc="50" baseline="0" dirty="0">
                        <a:solidFill>
                          <a:schemeClr val="tx1"/>
                        </a:solidFill>
                        <a:latin typeface="+mn-lt"/>
                        <a:ea typeface="+mn-ea"/>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accent2">
                          <a:lumMod val="1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21334838"/>
                  </a:ext>
                </a:extLst>
              </a:tr>
              <a:tr h="342000">
                <a:tc>
                  <a:txBody>
                    <a:bodyPr/>
                    <a:lstStyle/>
                    <a:p>
                      <a:pPr marL="0" marR="0" lvl="0" indent="0" algn="l" defTabSz="1007943" rtl="0" eaLnBrk="1" fontAlgn="auto" latinLnBrk="0" hangingPunct="1">
                        <a:lnSpc>
                          <a:spcPct val="110000"/>
                        </a:lnSpc>
                        <a:spcBef>
                          <a:spcPts val="0"/>
                        </a:spcBef>
                        <a:spcAft>
                          <a:spcPts val="0"/>
                        </a:spcAft>
                        <a:buClrTx/>
                        <a:buSzTx/>
                        <a:buFontTx/>
                        <a:buNone/>
                        <a:tabLst/>
                        <a:defRPr/>
                      </a:pPr>
                      <a:r>
                        <a:rPr kumimoji="1" lang="en-US" altLang="ja-JP" sz="1200" b="1" kern="1200" spc="50" baseline="0" dirty="0">
                          <a:solidFill>
                            <a:schemeClr val="tx1"/>
                          </a:solidFill>
                          <a:latin typeface="+mn-lt"/>
                          <a:ea typeface="+mn-ea"/>
                          <a:cs typeface="+mn-cs"/>
                        </a:rPr>
                        <a:t>2</a:t>
                      </a:r>
                      <a:r>
                        <a:rPr kumimoji="1" lang="ja-JP" altLang="en-US" sz="1200" b="1" kern="1200" spc="50" baseline="0" dirty="0">
                          <a:solidFill>
                            <a:schemeClr val="tx1"/>
                          </a:solidFill>
                          <a:latin typeface="+mn-lt"/>
                          <a:ea typeface="+mn-ea"/>
                          <a:cs typeface="+mn-cs"/>
                        </a:rPr>
                        <a:t>億円超　</a:t>
                      </a:r>
                      <a:r>
                        <a:rPr kumimoji="1" lang="en-US" altLang="ja-JP" sz="1200" b="1" kern="1200" spc="50" baseline="0" dirty="0">
                          <a:solidFill>
                            <a:schemeClr val="tx1"/>
                          </a:solidFill>
                          <a:latin typeface="+mn-lt"/>
                          <a:ea typeface="+mn-ea"/>
                          <a:cs typeface="+mn-cs"/>
                        </a:rPr>
                        <a:t>5</a:t>
                      </a:r>
                      <a:r>
                        <a:rPr kumimoji="1" lang="ja-JP" altLang="en-US" sz="1200" b="1" kern="1200" spc="50" baseline="0" dirty="0">
                          <a:solidFill>
                            <a:schemeClr val="tx1"/>
                          </a:solidFill>
                          <a:latin typeface="+mn-lt"/>
                          <a:ea typeface="+mn-ea"/>
                          <a:cs typeface="+mn-cs"/>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2">
                          <a:lumMod val="10000"/>
                        </a:schemeClr>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nSpc>
                          <a:spcPct val="110000"/>
                        </a:lnSpc>
                      </a:pPr>
                      <a:r>
                        <a:rPr kumimoji="1" lang="en-US" altLang="ja-JP" sz="1800" b="1" spc="50" baseline="0" dirty="0">
                          <a:solidFill>
                            <a:schemeClr val="tx1"/>
                          </a:solidFill>
                          <a:latin typeface="+mn-lt"/>
                          <a:ea typeface="+mn-ea"/>
                        </a:rPr>
                        <a:t>5</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2">
                          <a:lumMod val="10000"/>
                        </a:schemeClr>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0064655"/>
                  </a:ext>
                </a:extLst>
              </a:tr>
              <a:tr h="342000">
                <a:tc>
                  <a:txBody>
                    <a:bodyPr/>
                    <a:lstStyle/>
                    <a:p>
                      <a:pPr algn="l">
                        <a:lnSpc>
                          <a:spcPct val="110000"/>
                        </a:lnSpc>
                      </a:pPr>
                      <a:r>
                        <a:rPr kumimoji="1" lang="en-US" altLang="ja-JP" sz="1200" b="1" spc="50" baseline="0" dirty="0">
                          <a:latin typeface="+mj-lt"/>
                          <a:ea typeface="+mj-ea"/>
                        </a:rPr>
                        <a:t>5</a:t>
                      </a:r>
                      <a:r>
                        <a:rPr kumimoji="1" lang="ja-JP" altLang="en-US" sz="1200" b="1" spc="50" baseline="0" dirty="0">
                          <a:latin typeface="+mj-lt"/>
                          <a:ea typeface="+mj-ea"/>
                        </a:rPr>
                        <a:t>億円超　</a:t>
                      </a:r>
                      <a:r>
                        <a:rPr kumimoji="1" lang="en-US" altLang="ja-JP" sz="1200" b="1" spc="50" baseline="0" dirty="0">
                          <a:latin typeface="+mj-lt"/>
                          <a:ea typeface="+mj-ea"/>
                        </a:rPr>
                        <a:t>10</a:t>
                      </a:r>
                      <a:r>
                        <a:rPr kumimoji="1" lang="ja-JP" altLang="en-US" sz="1200" b="1" spc="50" baseline="0" dirty="0">
                          <a:latin typeface="+mj-lt"/>
                          <a:ea typeface="+mj-ea"/>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4</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45221436"/>
                  </a:ext>
                </a:extLst>
              </a:tr>
              <a:tr h="342000">
                <a:tc>
                  <a:txBody>
                    <a:bodyPr/>
                    <a:lstStyle/>
                    <a:p>
                      <a:pPr algn="l">
                        <a:lnSpc>
                          <a:spcPct val="110000"/>
                        </a:lnSpc>
                      </a:pPr>
                      <a:r>
                        <a:rPr kumimoji="1" lang="en-US" altLang="ja-JP" sz="1200" b="1" spc="50" baseline="0" dirty="0">
                          <a:latin typeface="+mj-lt"/>
                          <a:ea typeface="+mj-ea"/>
                        </a:rPr>
                        <a:t>10</a:t>
                      </a:r>
                      <a:r>
                        <a:rPr kumimoji="1" lang="ja-JP" altLang="en-US" sz="1200" b="1" spc="50" baseline="0" dirty="0">
                          <a:latin typeface="+mj-lt"/>
                          <a:ea typeface="+mj-ea"/>
                        </a:rPr>
                        <a:t>億円超　</a:t>
                      </a:r>
                      <a:r>
                        <a:rPr kumimoji="1" lang="en-US" altLang="ja-JP" sz="1200" b="1" spc="50" baseline="0" dirty="0">
                          <a:latin typeface="+mj-lt"/>
                          <a:ea typeface="+mj-ea"/>
                        </a:rPr>
                        <a:t>50</a:t>
                      </a:r>
                      <a:r>
                        <a:rPr kumimoji="1" lang="ja-JP" altLang="en-US" sz="1200" b="1" spc="50" baseline="0" dirty="0">
                          <a:latin typeface="+mj-lt"/>
                          <a:ea typeface="+mj-ea"/>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3</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54929017"/>
                  </a:ext>
                </a:extLst>
              </a:tr>
              <a:tr h="342000">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200" b="1" spc="50" baseline="0" dirty="0">
                          <a:latin typeface="+mj-lt"/>
                          <a:ea typeface="+mj-ea"/>
                        </a:rPr>
                        <a:t>50</a:t>
                      </a:r>
                      <a:r>
                        <a:rPr kumimoji="1" lang="ja-JP" altLang="en-US" sz="1200" b="1" spc="50" baseline="0" dirty="0">
                          <a:latin typeface="+mj-lt"/>
                          <a:ea typeface="+mj-ea"/>
                        </a:rPr>
                        <a:t>億円超　</a:t>
                      </a:r>
                      <a:r>
                        <a:rPr kumimoji="1" lang="en-US" altLang="ja-JP" sz="1200" b="1" spc="50" baseline="0" dirty="0">
                          <a:latin typeface="+mj-lt"/>
                          <a:ea typeface="+mj-ea"/>
                        </a:rPr>
                        <a:t>100</a:t>
                      </a:r>
                      <a:r>
                        <a:rPr kumimoji="1" lang="ja-JP" altLang="en-US" sz="1200" b="1" spc="50" baseline="0" dirty="0">
                          <a:latin typeface="+mj-lt"/>
                          <a:ea typeface="+mj-ea"/>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2</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96813135"/>
                  </a:ext>
                </a:extLst>
              </a:tr>
              <a:tr h="342000">
                <a:tc>
                  <a:txBody>
                    <a:bodyPr/>
                    <a:lstStyle/>
                    <a:p>
                      <a:pPr algn="l">
                        <a:lnSpc>
                          <a:spcPct val="110000"/>
                        </a:lnSpc>
                      </a:pPr>
                      <a:r>
                        <a:rPr kumimoji="1" lang="en-US" altLang="ja-JP" sz="1200" b="1" spc="50" baseline="0" dirty="0">
                          <a:latin typeface="+mj-lt"/>
                          <a:ea typeface="+mj-ea"/>
                        </a:rPr>
                        <a:t>100</a:t>
                      </a:r>
                      <a:r>
                        <a:rPr kumimoji="1" lang="ja-JP" altLang="en-US" sz="1200" b="1" spc="50" baseline="0" dirty="0">
                          <a:latin typeface="+mj-lt"/>
                          <a:ea typeface="+mj-ea"/>
                        </a:rPr>
                        <a:t>億円超の部分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1</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50759054"/>
                  </a:ext>
                </a:extLst>
              </a:tr>
            </a:tbl>
          </a:graphicData>
        </a:graphic>
      </p:graphicFrame>
      <p:sp>
        <p:nvSpPr>
          <p:cNvPr id="3" name="テキスト ボックス 2">
            <a:extLst>
              <a:ext uri="{FF2B5EF4-FFF2-40B4-BE49-F238E27FC236}">
                <a16:creationId xmlns:a16="http://schemas.microsoft.com/office/drawing/2014/main" id="{08F1693B-FFF1-ED80-7351-7BBDED97C92F}"/>
              </a:ext>
            </a:extLst>
          </p:cNvPr>
          <p:cNvSpPr txBox="1"/>
          <p:nvPr/>
        </p:nvSpPr>
        <p:spPr>
          <a:xfrm>
            <a:off x="8985126" y="2145278"/>
            <a:ext cx="788036" cy="209545"/>
          </a:xfrm>
          <a:prstGeom prst="rect">
            <a:avLst/>
          </a:prstGeom>
          <a:noFill/>
        </p:spPr>
        <p:txBody>
          <a:bodyPr wrap="none" lIns="0" tIns="0" rIns="0" bIns="0" rtlCol="0">
            <a:spAutoFit/>
          </a:bodyPr>
          <a:lstStyle/>
          <a:p>
            <a:pPr algn="ctr">
              <a:lnSpc>
                <a:spcPct val="120000"/>
              </a:lnSpc>
              <a:buClr>
                <a:schemeClr val="tx2"/>
              </a:buClr>
              <a:buSzPct val="80000"/>
            </a:pPr>
            <a:r>
              <a:rPr lang="en-US" altLang="ja-JP" sz="1200" spc="70" dirty="0">
                <a:latin typeface="+mj-ea"/>
                <a:ea typeface="+mj-ea"/>
              </a:rPr>
              <a:t>(</a:t>
            </a:r>
            <a:r>
              <a:rPr lang="ja-JP" altLang="en-US" sz="1200" spc="70" dirty="0">
                <a:latin typeface="+mj-ea"/>
                <a:ea typeface="+mj-ea"/>
              </a:rPr>
              <a:t>消費税別</a:t>
            </a:r>
            <a:r>
              <a:rPr lang="en-US" altLang="ja-JP" sz="1200" spc="70" dirty="0">
                <a:latin typeface="+mj-ea"/>
                <a:ea typeface="+mj-ea"/>
              </a:rPr>
              <a:t>)</a:t>
            </a:r>
            <a:endParaRPr lang="ja-JP" altLang="en-US" sz="1200" spc="70" dirty="0">
              <a:latin typeface="+mj-ea"/>
              <a:ea typeface="+mj-ea"/>
            </a:endParaRPr>
          </a:p>
        </p:txBody>
      </p:sp>
      <p:sp>
        <p:nvSpPr>
          <p:cNvPr id="4" name="正方形/長方形 3">
            <a:extLst>
              <a:ext uri="{FF2B5EF4-FFF2-40B4-BE49-F238E27FC236}">
                <a16:creationId xmlns:a16="http://schemas.microsoft.com/office/drawing/2014/main" id="{021EBBB3-E8D6-A883-4081-72409664F3A2}"/>
              </a:ext>
            </a:extLst>
          </p:cNvPr>
          <p:cNvSpPr/>
          <p:nvPr/>
        </p:nvSpPr>
        <p:spPr>
          <a:xfrm>
            <a:off x="449264" y="5224403"/>
            <a:ext cx="3816000" cy="186218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0" rtlCol="0" anchor="t"/>
          <a:lstStyle/>
          <a:p>
            <a:pPr algn="ctr">
              <a:buClr>
                <a:schemeClr val="tx2"/>
              </a:buClr>
              <a:buSzPct val="80000"/>
            </a:pPr>
            <a:r>
              <a:rPr kumimoji="1" lang="ja-JP" altLang="en-US" sz="1800" b="1" spc="110" dirty="0">
                <a:solidFill>
                  <a:schemeClr val="tx1"/>
                </a:solidFill>
                <a:latin typeface="+mj-ea"/>
                <a:ea typeface="+mj-ea"/>
              </a:rPr>
              <a:t>中間報酬</a:t>
            </a:r>
            <a:r>
              <a:rPr kumimoji="1" lang="en-US" altLang="ja-JP" sz="1800" spc="110" baseline="30000" dirty="0">
                <a:solidFill>
                  <a:schemeClr val="tx1"/>
                </a:solidFill>
                <a:latin typeface="+mj-ea"/>
                <a:ea typeface="+mj-ea"/>
              </a:rPr>
              <a:t>※1</a:t>
            </a:r>
            <a:r>
              <a:rPr kumimoji="1" lang="ja-JP" altLang="en-US" sz="1800" b="1" spc="110" dirty="0">
                <a:solidFill>
                  <a:schemeClr val="tx1"/>
                </a:solidFill>
                <a:latin typeface="+mj-ea"/>
                <a:ea typeface="+mj-ea"/>
              </a:rPr>
              <a:t>の算定方法</a:t>
            </a:r>
          </a:p>
        </p:txBody>
      </p:sp>
      <p:sp>
        <p:nvSpPr>
          <p:cNvPr id="5" name="正方形/長方形 4">
            <a:extLst>
              <a:ext uri="{FF2B5EF4-FFF2-40B4-BE49-F238E27FC236}">
                <a16:creationId xmlns:a16="http://schemas.microsoft.com/office/drawing/2014/main" id="{0A844F69-2E35-9611-A4E1-15256E6FA8E2}"/>
              </a:ext>
            </a:extLst>
          </p:cNvPr>
          <p:cNvSpPr/>
          <p:nvPr/>
        </p:nvSpPr>
        <p:spPr>
          <a:xfrm>
            <a:off x="615951" y="5812442"/>
            <a:ext cx="3482623" cy="916330"/>
          </a:xfrm>
          <a:prstGeom prst="rect">
            <a:avLst/>
          </a:prstGeom>
          <a:solidFill>
            <a:schemeClr val="bg1"/>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kumimoji="1" lang="ja-JP" altLang="en-US" sz="1600" b="1" spc="30" dirty="0">
                <a:solidFill>
                  <a:schemeClr val="tx1"/>
                </a:solidFill>
                <a:latin typeface="+mj-ea"/>
                <a:ea typeface="+mj-ea"/>
              </a:rPr>
              <a:t>成功報酬の</a:t>
            </a:r>
            <a:r>
              <a:rPr kumimoji="1" lang="en-US" altLang="ja-JP" sz="1600" b="1" spc="30" dirty="0">
                <a:solidFill>
                  <a:schemeClr val="tx1"/>
                </a:solidFill>
                <a:latin typeface="+mj-ea"/>
                <a:ea typeface="+mj-ea"/>
              </a:rPr>
              <a:t>10</a:t>
            </a:r>
            <a:r>
              <a:rPr kumimoji="1" lang="ja-JP" altLang="en-US" sz="1600" b="1" spc="30" dirty="0">
                <a:solidFill>
                  <a:schemeClr val="tx1"/>
                </a:solidFill>
                <a:latin typeface="+mj-ea"/>
                <a:ea typeface="+mj-ea"/>
              </a:rPr>
              <a:t>％</a:t>
            </a:r>
            <a:endParaRPr kumimoji="1" lang="en-US" altLang="ja-JP" sz="1600" b="1" spc="30" dirty="0">
              <a:solidFill>
                <a:schemeClr val="tx1"/>
              </a:solidFill>
              <a:latin typeface="+mj-ea"/>
              <a:ea typeface="+mj-ea"/>
            </a:endParaRPr>
          </a:p>
          <a:p>
            <a:pPr algn="ctr">
              <a:lnSpc>
                <a:spcPct val="120000"/>
              </a:lnSpc>
            </a:pPr>
            <a:r>
              <a:rPr kumimoji="1" lang="ja-JP" altLang="en-US" sz="1200" b="1" spc="30" dirty="0">
                <a:solidFill>
                  <a:schemeClr val="tx1"/>
                </a:solidFill>
                <a:latin typeface="+mj-ea"/>
                <a:ea typeface="+mj-ea"/>
              </a:rPr>
              <a:t>（但し最低額は</a:t>
            </a:r>
            <a:r>
              <a:rPr kumimoji="1" lang="en-US" altLang="ja-JP" sz="1200" b="1" spc="30" dirty="0">
                <a:solidFill>
                  <a:schemeClr val="tx1"/>
                </a:solidFill>
                <a:latin typeface="+mj-ea"/>
                <a:ea typeface="+mj-ea"/>
              </a:rPr>
              <a:t>300</a:t>
            </a:r>
            <a:r>
              <a:rPr kumimoji="1" lang="ja-JP" altLang="en-US" sz="1200" b="1" spc="30" dirty="0">
                <a:solidFill>
                  <a:schemeClr val="tx1"/>
                </a:solidFill>
                <a:latin typeface="+mj-ea"/>
                <a:ea typeface="+mj-ea"/>
              </a:rPr>
              <a:t>万円とします）</a:t>
            </a:r>
          </a:p>
        </p:txBody>
      </p:sp>
      <p:sp>
        <p:nvSpPr>
          <p:cNvPr id="8" name="正方形/長方形 7">
            <a:extLst>
              <a:ext uri="{FF2B5EF4-FFF2-40B4-BE49-F238E27FC236}">
                <a16:creationId xmlns:a16="http://schemas.microsoft.com/office/drawing/2014/main" id="{6EED8059-D8E2-0DAF-A350-928100484E14}"/>
              </a:ext>
            </a:extLst>
          </p:cNvPr>
          <p:cNvSpPr/>
          <p:nvPr/>
        </p:nvSpPr>
        <p:spPr>
          <a:xfrm>
            <a:off x="615951" y="6812925"/>
            <a:ext cx="3135474" cy="1299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spAutoFit/>
          </a:bodyPr>
          <a:lstStyle/>
          <a:p>
            <a:pPr>
              <a:lnSpc>
                <a:spcPct val="110000"/>
              </a:lnSpc>
            </a:pPr>
            <a:r>
              <a:rPr lang="en-US" altLang="ja-JP" sz="800" dirty="0">
                <a:solidFill>
                  <a:schemeClr val="tx1"/>
                </a:solidFill>
                <a:latin typeface="+mn-ea"/>
              </a:rPr>
              <a:t>※1</a:t>
            </a:r>
            <a:r>
              <a:rPr lang="ja-JP" altLang="en-US" sz="800" dirty="0">
                <a:solidFill>
                  <a:schemeClr val="tx1"/>
                </a:solidFill>
                <a:latin typeface="+mn-ea"/>
              </a:rPr>
              <a:t>　中間報酬は成約した場合、成功報酬に含め、充当いたします。</a:t>
            </a:r>
          </a:p>
        </p:txBody>
      </p:sp>
    </p:spTree>
    <p:extLst>
      <p:ext uri="{BB962C8B-B14F-4D97-AF65-F5344CB8AC3E}">
        <p14:creationId xmlns:p14="http://schemas.microsoft.com/office/powerpoint/2010/main" val="2577499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図 16" descr="背景パターン&#10;&#10;AI 生成コンテンツは誤りを含む可能性があります。">
            <a:extLst>
              <a:ext uri="{FF2B5EF4-FFF2-40B4-BE49-F238E27FC236}">
                <a16:creationId xmlns:a16="http://schemas.microsoft.com/office/drawing/2014/main" id="{38E11F1F-6089-6877-97F2-46DAB0493C3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8" name="テキスト ボックス 7">
            <a:extLst>
              <a:ext uri="{FF2B5EF4-FFF2-40B4-BE49-F238E27FC236}">
                <a16:creationId xmlns:a16="http://schemas.microsoft.com/office/drawing/2014/main" id="{9DC24A9B-5E33-B3B6-B79B-2D6D5E5AF179}"/>
              </a:ext>
            </a:extLst>
          </p:cNvPr>
          <p:cNvSpPr txBox="1"/>
          <p:nvPr/>
        </p:nvSpPr>
        <p:spPr>
          <a:xfrm>
            <a:off x="2626785" y="4635223"/>
            <a:ext cx="5604098" cy="276999"/>
          </a:xfrm>
          <a:prstGeom prst="rect">
            <a:avLst/>
          </a:prstGeom>
          <a:noFill/>
        </p:spPr>
        <p:txBody>
          <a:bodyPr wrap="none" lIns="0" tIns="0" rIns="0" bIns="0" rtlCol="0">
            <a:spAutoFit/>
          </a:bodyPr>
          <a:lstStyle/>
          <a:p>
            <a:pPr algn="ctr"/>
            <a:r>
              <a:rPr lang="ja-JP" altLang="en-US" b="1" spc="100" dirty="0">
                <a:latin typeface="+mj-ea"/>
                <a:ea typeface="+mj-ea"/>
              </a:rPr>
              <a:t>企業価値の最大化を通じて、経済に正しい循環を。</a:t>
            </a:r>
          </a:p>
        </p:txBody>
      </p:sp>
      <p:pic>
        <p:nvPicPr>
          <p:cNvPr id="4" name="グラフィックス 3">
            <a:extLst>
              <a:ext uri="{FF2B5EF4-FFF2-40B4-BE49-F238E27FC236}">
                <a16:creationId xmlns:a16="http://schemas.microsoft.com/office/drawing/2014/main" id="{549C4F39-0611-3D63-A333-95F8642EF8D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8588" y="3080873"/>
            <a:ext cx="5502236" cy="1090632"/>
          </a:xfrm>
          <a:prstGeom prst="rect">
            <a:avLst/>
          </a:prstGeom>
        </p:spPr>
      </p:pic>
    </p:spTree>
    <p:extLst>
      <p:ext uri="{BB962C8B-B14F-4D97-AF65-F5344CB8AC3E}">
        <p14:creationId xmlns:p14="http://schemas.microsoft.com/office/powerpoint/2010/main" val="3135229745"/>
      </p:ext>
    </p:extLst>
  </p:cSld>
  <p:clrMapOvr>
    <a:masterClrMapping/>
  </p:clrMapOvr>
</p:sld>
</file>

<file path=ppt/theme/theme1.xml><?xml version="1.0" encoding="utf-8"?>
<a:theme xmlns:a="http://schemas.openxmlformats.org/drawingml/2006/main" name="SL_2026">
  <a:themeElements>
    <a:clrScheme name="M&amp;A">
      <a:dk1>
        <a:srgbClr val="000000"/>
      </a:dk1>
      <a:lt1>
        <a:srgbClr val="FFFFFF"/>
      </a:lt1>
      <a:dk2>
        <a:srgbClr val="0B3041"/>
      </a:dk2>
      <a:lt2>
        <a:srgbClr val="E3E7E9"/>
      </a:lt2>
      <a:accent1>
        <a:srgbClr val="727F88"/>
      </a:accent1>
      <a:accent2>
        <a:srgbClr val="E1F3FB"/>
      </a:accent2>
      <a:accent3>
        <a:srgbClr val="54CCB3"/>
      </a:accent3>
      <a:accent4>
        <a:srgbClr val="0889C9"/>
      </a:accent4>
      <a:accent5>
        <a:srgbClr val="FFFFFF"/>
      </a:accent5>
      <a:accent6>
        <a:srgbClr val="FFFFFF"/>
      </a:accent6>
      <a:hlink>
        <a:srgbClr val="FFFFFF"/>
      </a:hlink>
      <a:folHlink>
        <a:srgbClr val="FFFFFF"/>
      </a:folHlink>
    </a:clrScheme>
    <a:fontScheme name="游ゴシック&amp;Arial">
      <a:majorFont>
        <a:latin typeface="Arial"/>
        <a:ea typeface="游ゴシック"/>
        <a:cs typeface=""/>
      </a:majorFont>
      <a:minorFont>
        <a:latin typeface="Arial"/>
        <a:ea typeface="游ゴシック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12916</TotalTime>
  <Words>17871</Words>
  <Application>Microsoft Office PowerPoint</Application>
  <PresentationFormat>ユーザー設定</PresentationFormat>
  <Paragraphs>7232</Paragraphs>
  <Slides>63</Slides>
  <Notes>52</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63</vt:i4>
      </vt:variant>
    </vt:vector>
  </HeadingPairs>
  <TitlesOfParts>
    <vt:vector size="69" baseType="lpstr">
      <vt:lpstr>ＭＳ Ｐゴシック</vt:lpstr>
      <vt:lpstr>Yu Gothic</vt:lpstr>
      <vt:lpstr>Yu Gothic</vt:lpstr>
      <vt:lpstr>游ゴシック Medium</vt:lpstr>
      <vt:lpstr>Arial</vt:lpstr>
      <vt:lpstr>SL_2026</vt:lpstr>
      <vt:lpstr>企業概要書  &lt;水産養殖業／関西&gt;</vt:lpstr>
      <vt:lpstr>はじめに</vt:lpstr>
      <vt:lpstr>PowerPoint プレゼンテーション</vt:lpstr>
      <vt:lpstr>エグゼクティブサマリー</vt:lpstr>
      <vt:lpstr>基本情報</vt:lpstr>
      <vt:lpstr>事業概要</vt:lpstr>
      <vt:lpstr>財務ハイライト（P/L）</vt:lpstr>
      <vt:lpstr>財務ハイライト（B/S）</vt:lpstr>
      <vt:lpstr>譲渡希望条件</vt:lpstr>
      <vt:lpstr>事業概要</vt:lpstr>
      <vt:lpstr>事業内容</vt:lpstr>
      <vt:lpstr>生産サイクル</vt:lpstr>
      <vt:lpstr>参考｜天然琵琶湖産鮎と人工種苗の特性・用途比較</vt:lpstr>
      <vt:lpstr>事業別売上高</vt:lpstr>
      <vt:lpstr>商品・用途別の顧客構成</vt:lpstr>
      <vt:lpstr>特徴</vt:lpstr>
      <vt:lpstr>主要得意先の3期推移</vt:lpstr>
      <vt:lpstr>主要仕入先の3期推移</vt:lpstr>
      <vt:lpstr>仕入・販売における価格形成の仕組み</vt:lpstr>
      <vt:lpstr>組織、拠点、設備等</vt:lpstr>
      <vt:lpstr>組織図</vt:lpstr>
      <vt:lpstr>株主及び役員</vt:lpstr>
      <vt:lpstr>従業員一覧</vt:lpstr>
      <vt:lpstr>拠点概要（本社）</vt:lpstr>
      <vt:lpstr>不動産概況</vt:lpstr>
      <vt:lpstr>不動産の担保設定・権利関係</vt:lpstr>
      <vt:lpstr>不動産詳細｜法人所有分①（土地）</vt:lpstr>
      <vt:lpstr>不動産詳細｜法人所有分②（建物）</vt:lpstr>
      <vt:lpstr>不動産詳細｜社長所有分①（土地・彦根市）</vt:lpstr>
      <vt:lpstr>不動産詳細｜社長所有分②（土地・長浜市／建物）</vt:lpstr>
      <vt:lpstr>拠点概要（養魚場一覧）</vt:lpstr>
      <vt:lpstr>拠点概要（養魚場所在地）</vt:lpstr>
      <vt:lpstr>拠点概要（養殖池の全景）</vt:lpstr>
      <vt:lpstr>拠点概要（養殖池概況｜写真①）</vt:lpstr>
      <vt:lpstr>拠点概要（養殖池概況｜写真②）</vt:lpstr>
      <vt:lpstr>拠点概要（養殖池概況｜写真③）</vt:lpstr>
      <vt:lpstr>拠点概要（養殖池概況｜写真③）</vt:lpstr>
      <vt:lpstr>保有設備一覧①</vt:lpstr>
      <vt:lpstr>保有設備一覧②</vt:lpstr>
      <vt:lpstr>保有設備一覧③</vt:lpstr>
      <vt:lpstr>保有設備一覧④</vt:lpstr>
      <vt:lpstr>保有設備一覧⑤</vt:lpstr>
      <vt:lpstr>保有設備一覧⑤</vt:lpstr>
      <vt:lpstr>保有設備一覧⑥</vt:lpstr>
      <vt:lpstr>保有設備一覧⑦</vt:lpstr>
      <vt:lpstr>保有設備一覧⑧</vt:lpstr>
      <vt:lpstr>保有設備一覧⑨</vt:lpstr>
      <vt:lpstr>保有設備一覧⑩</vt:lpstr>
      <vt:lpstr>保有設備一覧⑪</vt:lpstr>
      <vt:lpstr>保有設備一覧⑫</vt:lpstr>
      <vt:lpstr>保有設備一覧⑬</vt:lpstr>
      <vt:lpstr>保有設備一覧⑭</vt:lpstr>
      <vt:lpstr>許認可一覧</vt:lpstr>
      <vt:lpstr>財務情報詳細</vt:lpstr>
      <vt:lpstr>貸借対照表</vt:lpstr>
      <vt:lpstr>損益計算書</vt:lpstr>
      <vt:lpstr>販売費及び一般管理費</vt:lpstr>
      <vt:lpstr>Appendix</vt:lpstr>
      <vt:lpstr>沿革</vt:lpstr>
      <vt:lpstr>代表者経歴</vt:lpstr>
      <vt:lpstr>その他補足情報</vt:lpstr>
      <vt:lpstr>報酬体系</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宮本 健</dc:creator>
  <cp:lastModifiedBy>田垣内 啓介</cp:lastModifiedBy>
  <cp:revision>194</cp:revision>
  <cp:lastPrinted>2025-10-23T01:12:16Z</cp:lastPrinted>
  <dcterms:created xsi:type="dcterms:W3CDTF">2022-11-09T11:25:01Z</dcterms:created>
  <dcterms:modified xsi:type="dcterms:W3CDTF">2026-08-27T00:46:32Z</dcterms:modified>
</cp:coreProperties>
</file>