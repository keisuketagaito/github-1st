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6.svg" ContentType="image/svg+xml"/>
  <Override PartName="/ppt/media/image7.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7.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65"/>
  </p:notesMasterIdLst>
  <p:sldIdLst>
    <p:sldId id="770" r:id="rId2"/>
    <p:sldId id="269" r:id="rId3"/>
    <p:sldId id="693" r:id="rId4"/>
    <p:sldId id="749" r:id="rId5"/>
    <p:sldId id="748" r:id="rId6"/>
    <p:sldId id="774" r:id="rId8"/>
    <p:sldId id="775" r:id="rId9"/>
    <p:sldId id="795" r:id="rId39"/>
    <p:sldId id="266" r:id="rId10"/>
    <p:sldId id="772" r:id="rId11"/>
    <p:sldId id="776" r:id="rId12"/>
    <p:sldId id="810" r:id="rId15"/>
    <p:sldId id="811" r:id="rId40"/>
    <p:sldId id="827" r:id="rId16"/>
    <p:sldId id="835" r:id="rId14"/>
    <p:sldId id="796" r:id="rId17"/>
    <p:sldId id="838" r:id="rId26"/>
    <p:sldId id="831" r:id="rId20"/>
    <p:sldId id="771" r:id="rId21"/>
    <p:sldId id="780" r:id="rId22"/>
    <p:sldId id="793" r:id="rId32"/>
    <p:sldId id="781" r:id="rId24"/>
    <p:sldId id="836" r:id="rId25"/>
    <p:sldId id="841" r:id="rId28"/>
    <p:sldId id="842" r:id="rId30"/>
    <p:sldId id="802" r:id="rId54"/>
    <p:sldId id="773" r:id="rId55"/>
    <p:sldId id="784" r:id="rId56"/>
    <p:sldId id="812" r:id="rId41"/>
    <p:sldId id="785" r:id="rId57"/>
    <p:sldId id="787" r:id="rId58"/>
    <p:sldId id="843" r:id="rId31"/>
    <p:sldId id="782" r:id="rId59"/>
    <p:sldId id="783" r:id="rId60"/>
    <p:sldId id="794" r:id="rId61"/>
    <p:sldId id="788" r:id="rId62"/>
    <p:sldId id="801" r:id="rId63"/>
    <p:sldId id="277" r:id="rId64"/>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803"/>
            <p14:sldId id="774"/>
            <p14:sldId id="775"/>
            <p14:sldId id="266"/>
            <p14:sldId id="772"/>
            <p14:sldId id="776"/>
            <p14:sldId id="832"/>
            <p14:sldId id="835"/>
            <p14:sldId id="810"/>
            <p14:sldId id="827"/>
            <p14:sldId id="796"/>
            <p14:sldId id="833"/>
            <p14:sldId id="834"/>
            <p14:sldId id="831"/>
            <p14:sldId id="771"/>
            <p14:sldId id="780"/>
            <p14:sldId id="789"/>
            <p14:sldId id="781"/>
            <p14:sldId id="836"/>
            <p14:sldId id="838"/>
            <p14:sldId id="839"/>
            <p14:sldId id="841"/>
            <p14:sldId id="840"/>
            <p14:sldId id="842"/>
            <p14:sldId id="843"/>
            <p14:sldId id="793"/>
            <p14:sldId id="804"/>
            <p14:sldId id="805"/>
            <p14:sldId id="806"/>
            <p14:sldId id="808"/>
            <p14:sldId id="807"/>
            <p14:sldId id="809"/>
            <p14:sldId id="795"/>
            <p14:sldId id="811"/>
            <p14:sldId id="812"/>
            <p14:sldId id="813"/>
            <p14:sldId id="814"/>
            <p14:sldId id="815"/>
            <p14:sldId id="816"/>
            <p14:sldId id="817"/>
            <p14:sldId id="818"/>
            <p14:sldId id="819"/>
            <p14:sldId id="820"/>
            <p14:sldId id="821"/>
            <p14:sldId id="822"/>
            <p14:sldId id="823"/>
            <p14:sldId id="824"/>
            <p14:sldId id="802"/>
            <p14:sldId id="773"/>
            <p14:sldId id="784"/>
            <p14:sldId id="785"/>
            <p14:sldId id="787"/>
            <p14:sldId id="782"/>
            <p14:sldId id="783"/>
            <p14:sldId id="794"/>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6"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E7E9"/>
    <a:srgbClr val="1F3864"/>
    <a:srgbClr val="003574"/>
    <a:srgbClr val="003775"/>
    <a:srgbClr val="EBEFF8"/>
    <a:srgbClr val="FBFBFC"/>
    <a:srgbClr val="0B3041"/>
    <a:srgbClr val="ECF2FC"/>
    <a:srgbClr val="F5F8FB"/>
    <a:srgbClr val="0889C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218" autoAdjust="0"/>
    <p:restoredTop sz="94660"/>
  </p:normalViewPr>
  <p:slideViewPr>
    <p:cSldViewPr snapToGrid="0">
      <p:cViewPr>
        <p:scale>
          <a:sx n="75" d="100"/>
          <a:sy n="75" d="100"/>
        </p:scale>
        <p:origin x="676" y="-2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7.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customschemas.google.com/relationships/presentationmetadata" Target="metadata"/><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p:cNvSpPr>
            <a:spLocks noGrp="1"/>
          </p:cNvSpPr>
          <p:nvPr>
            <p:ph type="sldNum" sz="quarter" idx="5"/>
          </p:nvPr>
        </p:nvSpPr>
        <p:spPr/>
        <p:txBody>
          <a:bodyPr/>
          <a:lstStyle/>
          <a:p>
            <a:fld id="{30FF3BCC-1A43-4D25-8467-E40EF431E2F1}" type="slidenum">
              <a:rPr kumimoji="1" lang="ja-JP" altLang="en-US" smtClean="0"/>
              <a:t>4</a:t>
            </a:fld>
            <a:endParaRPr kumimoji="1" lang="ja-JP" altLang="en-US"/>
          </a:p>
        </p:txBody>
      </p:sp>
    </p:spTree>
    <p:extLst>
      <p:ext uri="{BB962C8B-B14F-4D97-AF65-F5344CB8AC3E}">
        <p14:creationId xmlns:p14="http://schemas.microsoft.com/office/powerpoint/2010/main" val="38172004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7</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268" name="Google Shape;268;p11: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10</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4B92B-944C-47BE-0F1E-89100E9FAA5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F02E50-5FFA-0141-FAFB-A20F9473655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8F8C6A0-F5BA-0A1D-3A6C-D386671861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9E8D2F0-659B-4A6E-4CE3-91D890A0A6DC}"/>
              </a:ext>
            </a:extLst>
          </p:cNvPr>
          <p:cNvSpPr>
            <a:spLocks noGrp="1"/>
          </p:cNvSpPr>
          <p:nvPr>
            <p:ph type="sldNum" sz="quarter" idx="5"/>
          </p:nvPr>
        </p:nvSpPr>
        <p:spPr/>
        <p:txBody>
          <a:bodyPr/>
          <a:lstStyle/>
          <a:p>
            <a:fld id="{CAF5A409-FE33-4202-B69D-8515A6FDCE7E}" type="slidenum">
              <a:rPr kumimoji="1" lang="ja-JP" altLang="en-US" smtClean="0"/>
              <a:t>12</a:t>
            </a:fld>
            <a:endParaRPr kumimoji="1" lang="ja-JP" altLang="en-US"/>
          </a:p>
        </p:txBody>
      </p:sp>
    </p:spTree>
    <p:extLst>
      <p:ext uri="{BB962C8B-B14F-4D97-AF65-F5344CB8AC3E}">
        <p14:creationId xmlns:p14="http://schemas.microsoft.com/office/powerpoint/2010/main" val="25098708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73305-98E7-9C39-4B5B-D423548721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D2FDFB1-2BF8-C4BB-A2BD-4892D74A45B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D5D1372-C60D-6808-D87A-773E0F3D997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E576281-9BBA-8477-DB8D-BB3D7D5770C0}"/>
              </a:ext>
            </a:extLst>
          </p:cNvPr>
          <p:cNvSpPr>
            <a:spLocks noGrp="1"/>
          </p:cNvSpPr>
          <p:nvPr>
            <p:ph type="sldNum" sz="quarter" idx="5"/>
          </p:nvPr>
        </p:nvSpPr>
        <p:spPr/>
        <p:txBody>
          <a:bodyPr/>
          <a:lstStyle/>
          <a:p>
            <a:fld id="{CAF5A409-FE33-4202-B69D-8515A6FDCE7E}" type="slidenum">
              <a:rPr kumimoji="1" lang="ja-JP" altLang="en-US" smtClean="0"/>
              <a:t>13</a:t>
            </a:fld>
            <a:endParaRPr kumimoji="1" lang="ja-JP" altLang="en-US"/>
          </a:p>
        </p:txBody>
      </p:sp>
    </p:spTree>
    <p:extLst>
      <p:ext uri="{BB962C8B-B14F-4D97-AF65-F5344CB8AC3E}">
        <p14:creationId xmlns:p14="http://schemas.microsoft.com/office/powerpoint/2010/main" val="35674260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90037-CCED-5EE3-0B10-592CC929811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7D4D1-50FE-51C7-B097-A9CE12C104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AE414B0-5AB7-644F-2021-E12E9A596F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87DC591-3706-A7D0-C036-675D42D50AA5}"/>
              </a:ext>
            </a:extLst>
          </p:cNvPr>
          <p:cNvSpPr>
            <a:spLocks noGrp="1"/>
          </p:cNvSpPr>
          <p:nvPr>
            <p:ph type="sldNum" sz="quarter" idx="5"/>
          </p:nvPr>
        </p:nvSpPr>
        <p:spPr/>
        <p:txBody>
          <a:bodyPr/>
          <a:lstStyle/>
          <a:p>
            <a:fld id="{CAF5A409-FE33-4202-B69D-8515A6FDCE7E}" type="slidenum">
              <a:rPr kumimoji="1" lang="ja-JP" altLang="en-US" smtClean="0"/>
              <a:t>14</a:t>
            </a:fld>
            <a:endParaRPr kumimoji="1" lang="ja-JP" altLang="en-US"/>
          </a:p>
        </p:txBody>
      </p:sp>
    </p:spTree>
    <p:extLst>
      <p:ext uri="{BB962C8B-B14F-4D97-AF65-F5344CB8AC3E}">
        <p14:creationId xmlns:p14="http://schemas.microsoft.com/office/powerpoint/2010/main" val="8545430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15</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60B1B-8967-EB16-F654-95E71A2167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F3223C-6CB5-B48E-4B27-2931302D029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3B0F29-3AAB-5E14-B4D9-A017F82CA42C}"/>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E8F4B38-0355-E574-CF5F-76C145B0E13C}"/>
              </a:ext>
            </a:extLst>
          </p:cNvPr>
          <p:cNvSpPr>
            <a:spLocks noGrp="1"/>
          </p:cNvSpPr>
          <p:nvPr>
            <p:ph type="sldNum" sz="quarter" idx="5"/>
          </p:nvPr>
        </p:nvSpPr>
        <p:spPr/>
        <p:txBody>
          <a:bodyPr/>
          <a:lstStyle/>
          <a:p>
            <a:fld id="{30FF3BCC-1A43-4D25-8467-E40EF431E2F1}" type="slidenum">
              <a:rPr kumimoji="1" lang="ja-JP" altLang="en-US" smtClean="0"/>
              <a:t>20</a:t>
            </a:fld>
            <a:endParaRPr kumimoji="1" lang="ja-JP" altLang="en-US"/>
          </a:p>
        </p:txBody>
      </p:sp>
    </p:spTree>
    <p:extLst>
      <p:ext uri="{BB962C8B-B14F-4D97-AF65-F5344CB8AC3E}">
        <p14:creationId xmlns:p14="http://schemas.microsoft.com/office/powerpoint/2010/main" val="40946642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2E725-D7D8-17E1-4745-D0791B9111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6A1D65-57DD-D413-2249-F85A5B42102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982E84-E980-EAEA-3AF3-155A001191D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35F2FC0-9ABA-38FB-BDED-E00320A10C7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17411098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0BBF8-9647-9334-F86F-D0709B5EC8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2097096-F2EA-17C6-FDB0-B0B48566D776}"/>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63FAEF2D-4EE8-AC43-4584-9174CFEBDCE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DD0C593-0612-A50B-3805-FCCEFBA2D102}"/>
              </a:ext>
            </a:extLst>
          </p:cNvPr>
          <p:cNvSpPr>
            <a:spLocks noGrp="1"/>
          </p:cNvSpPr>
          <p:nvPr>
            <p:ph type="sldNum" sz="quarter" idx="5"/>
          </p:nvPr>
        </p:nvSpPr>
        <p:spPr/>
        <p:txBody>
          <a:bodyPr/>
          <a:lstStyle/>
          <a:p>
            <a:fld id="{30FF3BCC-1A43-4D25-8467-E40EF431E2F1}" type="slidenum">
              <a:rPr kumimoji="1" lang="ja-JP" altLang="en-US" smtClean="0"/>
              <a:t>23</a:t>
            </a:fld>
            <a:endParaRPr kumimoji="1" lang="ja-JP" altLang="en-US"/>
          </a:p>
        </p:txBody>
      </p:sp>
    </p:spTree>
    <p:extLst>
      <p:ext uri="{BB962C8B-B14F-4D97-AF65-F5344CB8AC3E}">
        <p14:creationId xmlns:p14="http://schemas.microsoft.com/office/powerpoint/2010/main" val="1645791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C7B85-83C3-9DDE-4335-158CC42969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7E6BA9-F36D-604F-3499-7C87D66ABC5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45EFA15-1CDA-B8D1-0BAC-253999A0B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F28CD9B-652E-87FA-D240-FE835F6686E1}"/>
              </a:ext>
            </a:extLst>
          </p:cNvPr>
          <p:cNvSpPr>
            <a:spLocks noGrp="1"/>
          </p:cNvSpPr>
          <p:nvPr>
            <p:ph type="sldNum" sz="quarter" idx="5"/>
          </p:nvPr>
        </p:nvSpPr>
        <p:spPr/>
        <p:txBody>
          <a:bodyPr/>
          <a:lstStyle/>
          <a:p>
            <a:fld id="{30FF3BCC-1A43-4D25-8467-E40EF431E2F1}" type="slidenum">
              <a:rPr kumimoji="1" lang="ja-JP" altLang="en-US" smtClean="0"/>
              <a:t>24</a:t>
            </a:fld>
            <a:endParaRPr kumimoji="1" lang="ja-JP" altLang="en-US"/>
          </a:p>
        </p:txBody>
      </p:sp>
    </p:spTree>
    <p:extLst>
      <p:ext uri="{BB962C8B-B14F-4D97-AF65-F5344CB8AC3E}">
        <p14:creationId xmlns:p14="http://schemas.microsoft.com/office/powerpoint/2010/main" val="5849257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35142-7613-2F88-6DDF-0AA0B95CE3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A89B74-D534-CC5D-3603-B157866C912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2C5E7B25-D992-5558-9CAA-3A2BB05B7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540B3A9-5359-D1DF-207E-4945C3794197}"/>
              </a:ext>
            </a:extLst>
          </p:cNvPr>
          <p:cNvSpPr>
            <a:spLocks noGrp="1"/>
          </p:cNvSpPr>
          <p:nvPr>
            <p:ph type="sldNum" sz="quarter" idx="5"/>
          </p:nvPr>
        </p:nvSpPr>
        <p:spPr/>
        <p:txBody>
          <a:bodyPr/>
          <a:lstStyle/>
          <a:p>
            <a:fld id="{30FF3BCC-1A43-4D25-8467-E40EF431E2F1}" type="slidenum">
              <a:rPr kumimoji="1" lang="ja-JP" altLang="en-US" smtClean="0"/>
              <a:t>30</a:t>
            </a:fld>
            <a:endParaRPr kumimoji="1" lang="ja-JP" altLang="en-US"/>
          </a:p>
        </p:txBody>
      </p:sp>
    </p:spTree>
    <p:extLst>
      <p:ext uri="{BB962C8B-B14F-4D97-AF65-F5344CB8AC3E}">
        <p14:creationId xmlns:p14="http://schemas.microsoft.com/office/powerpoint/2010/main" val="4071856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37</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5E96C-CC6B-99A0-6474-94F8E39D1B4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E480EA-D907-F625-EA77-9A31C3C46378}"/>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145C8471-5CB1-E6AC-1722-ACC2D29DCD4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1946583-9637-7C28-6F6C-7AAA16F7BD66}"/>
              </a:ext>
            </a:extLst>
          </p:cNvPr>
          <p:cNvSpPr>
            <a:spLocks noGrp="1"/>
          </p:cNvSpPr>
          <p:nvPr>
            <p:ph type="sldNum" sz="quarter" idx="5"/>
          </p:nvPr>
        </p:nvSpPr>
        <p:spPr/>
        <p:txBody>
          <a:bodyPr/>
          <a:lstStyle/>
          <a:p>
            <a:fld id="{30FF3BCC-1A43-4D25-8467-E40EF431E2F1}" type="slidenum">
              <a:rPr kumimoji="1" lang="ja-JP" altLang="en-US" smtClean="0"/>
              <a:t>38</a:t>
            </a:fld>
            <a:endParaRPr kumimoji="1" lang="ja-JP" altLang="en-US"/>
          </a:p>
        </p:txBody>
      </p:sp>
    </p:spTree>
    <p:extLst>
      <p:ext uri="{BB962C8B-B14F-4D97-AF65-F5344CB8AC3E}">
        <p14:creationId xmlns:p14="http://schemas.microsoft.com/office/powerpoint/2010/main" val="23160945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5A3D9-AC05-6CFA-85F9-79E3D6B42C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EBCF0B3-3282-F1B3-53C4-E3506519CB09}"/>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457E92-9030-A260-6FB3-BEF990C00D26}"/>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71DE1B1D-40A4-9612-31B7-01DC52A31040}"/>
              </a:ext>
            </a:extLst>
          </p:cNvPr>
          <p:cNvSpPr>
            <a:spLocks noGrp="1"/>
          </p:cNvSpPr>
          <p:nvPr>
            <p:ph type="sldNum" sz="quarter" idx="5"/>
          </p:nvPr>
        </p:nvSpPr>
        <p:spPr/>
        <p:txBody>
          <a:bodyPr/>
          <a:lstStyle/>
          <a:p>
            <a:fld id="{30FF3BCC-1A43-4D25-8467-E40EF431E2F1}" type="slidenum">
              <a:rPr kumimoji="1" lang="ja-JP" altLang="en-US" smtClean="0"/>
              <a:t>39</a:t>
            </a:fld>
            <a:endParaRPr kumimoji="1" lang="ja-JP" altLang="en-US"/>
          </a:p>
        </p:txBody>
      </p:sp>
    </p:spTree>
    <p:extLst>
      <p:ext uri="{BB962C8B-B14F-4D97-AF65-F5344CB8AC3E}">
        <p14:creationId xmlns:p14="http://schemas.microsoft.com/office/powerpoint/2010/main" val="3373435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0B30E-2F45-B03F-63EA-7CC0D9829D2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6968CDD-94A7-72E4-171C-59BA82CF046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A9B728-686D-68E4-01BC-D5B734918885}"/>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171840CA-567F-E35D-4A27-A0BC17FCC8DF}"/>
              </a:ext>
            </a:extLst>
          </p:cNvPr>
          <p:cNvSpPr>
            <a:spLocks noGrp="1"/>
          </p:cNvSpPr>
          <p:nvPr>
            <p:ph type="sldNum" sz="quarter" idx="5"/>
          </p:nvPr>
        </p:nvSpPr>
        <p:spPr/>
        <p:txBody>
          <a:bodyPr/>
          <a:lstStyle/>
          <a:p>
            <a:fld id="{30FF3BCC-1A43-4D25-8467-E40EF431E2F1}" type="slidenum">
              <a:rPr kumimoji="1" lang="ja-JP" altLang="en-US" smtClean="0"/>
              <a:t>52</a:t>
            </a:fld>
            <a:endParaRPr kumimoji="1" lang="ja-JP" altLang="en-US"/>
          </a:p>
        </p:txBody>
      </p:sp>
    </p:spTree>
    <p:extLst>
      <p:ext uri="{BB962C8B-B14F-4D97-AF65-F5344CB8AC3E}">
        <p14:creationId xmlns:p14="http://schemas.microsoft.com/office/powerpoint/2010/main" val="413513710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54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55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56</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58</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6276C-84CC-C215-DACE-F6ADF0BA4C5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5F6E4CA-435F-061C-18DC-1F4E9AF81BF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60C6E64-2E0B-5929-5BC0-D5FAC2E44A2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B9BCA0D-59ED-2244-A45B-B24BCA184C3C}"/>
              </a:ext>
            </a:extLst>
          </p:cNvPr>
          <p:cNvSpPr>
            <a:spLocks noGrp="1"/>
          </p:cNvSpPr>
          <p:nvPr>
            <p:ph type="sldNum" sz="quarter" idx="5"/>
          </p:nvPr>
        </p:nvSpPr>
        <p:spPr/>
        <p:txBody>
          <a:bodyPr/>
          <a:lstStyle/>
          <a:p>
            <a:fld id="{30FF3BCC-1A43-4D25-8467-E40EF431E2F1}" type="slidenum">
              <a:rPr kumimoji="1" lang="ja-JP" altLang="en-US" smtClean="0"/>
              <a:t>59</a:t>
            </a:fld>
            <a:endParaRPr kumimoji="1" lang="ja-JP" altLang="en-US"/>
          </a:p>
        </p:txBody>
      </p:sp>
    </p:spTree>
    <p:extLst>
      <p:ext uri="{BB962C8B-B14F-4D97-AF65-F5344CB8AC3E}">
        <p14:creationId xmlns:p14="http://schemas.microsoft.com/office/powerpoint/2010/main" val="6535653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60</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61</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336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8.jpeg"/><Relationship Id="rId4" Type="http://schemas.openxmlformats.org/officeDocument/2006/relationships/image" Target="../media/image9.png"/><Relationship Id="rId5" Type="http://schemas.microsoft.com/office/2007/relationships/hdphoto" Target="../media/hdphoto1.wdp"/></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8.png"/><Relationship Id="rId5" Type="http://schemas.microsoft.com/office/2007/relationships/hdphoto" Target="../media/hdphoto2.wdp"/></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59.png"/><Relationship Id="rId4" Type="http://schemas.microsoft.com/office/2007/relationships/hdphoto" Target="../media/hdphoto3.wdp"/></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jpeg"/><Relationship Id="rId3" Type="http://schemas.openxmlformats.org/officeDocument/2006/relationships/image" Target="../media/image7.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a:xfrm>
            <a:off x="885526" y="3467606"/>
            <a:ext cx="9221787" cy="738664"/>
          </a:xfrm>
        </p:spPr>
        <p:txBody>
          <a:bodyPr/>
          <a:lstStyle/>
          <a:p>
            <a:r>
              <a:rPr lang="ja-JP" altLang="en-US" dirty="0"/>
              <a:t>企業概要書  </a:t>
            </a:r>
            <a:r>
              <a:rPr lang="ja-JP" altLang="en-US" sz="2400" dirty="0"/>
              <a:t>&lt;ペット小売／東海・関西&gt;</a:t>
            </a:r>
            <a:endParaRPr lang="ja-JP" altLang="en-US" dirty="0"/>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t>Information</a:t>
            </a:r>
            <a:r>
              <a:rPr lang="ja-JP" altLang="en-US" sz="1800" dirty="0"/>
              <a:t> </a:t>
            </a:r>
            <a:r>
              <a:rPr lang="en-US" altLang="ja-JP" sz="1800" dirty="0"/>
              <a:t>Memorandum</a:t>
            </a:r>
            <a:r>
              <a:rPr lang="zh-TW" altLang="en-US" dirty="0"/>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1416780746"/>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株式会社M&amp;A承継機構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altLang="ja-JP" sz="1200" b="1" u="none" strike="noStrike" cap="none" spc="30" baseline="0" dirty="0">
                          <a:latin typeface="+mj-ea"/>
                          <a:ea typeface="+mj-ea"/>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ea typeface="+mn-ea"/>
              </a:rPr>
              <a:t>当該企業概要書（以下、「本概要書」といいます）は、株式会社</a:t>
            </a:r>
            <a:r>
              <a:rPr lang="en-US" altLang="ja-JP" dirty="0">
                <a:ea typeface="+mn-ea"/>
              </a:rPr>
              <a:t>M&amp;A</a:t>
            </a:r>
            <a:r>
              <a:rPr lang="ja-JP" altLang="en-US" dirty="0">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財務情報詳細</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Appendix</a:t>
            </a:r>
            <a:endParaRPr lang="en-US" altLang="ja-JP" sz="2400" b="1" spc="70" dirty="0">
              <a:latin typeface="+mj-lt"/>
              <a:ea typeface="+mj-ea"/>
            </a:endParaRP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エグゼクティブサマリー</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54040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字幕 13">
            <a:extLst>
              <a:ext uri="{FF2B5EF4-FFF2-40B4-BE49-F238E27FC236}">
                <a16:creationId xmlns:a16="http://schemas.microsoft.com/office/drawing/2014/main" id="{79A14348-475C-CD64-9408-407529B44C13}"/>
              </a:ext>
            </a:extLst>
          </p:cNvPr>
          <p:cNvSpPr>
            <a:spLocks noGrp="1"/>
          </p:cNvSpPr>
          <p:nvPr>
            <p:ph type="subTitle" idx="1"/>
          </p:nvPr>
        </p:nvSpPr>
        <p:spPr>
          <a:xfrm>
            <a:off x="460675" y="830046"/>
            <a:ext cx="9781875" cy="241861"/>
          </a:xfrm>
        </p:spPr>
        <p:txBody>
          <a:bodyPr>
            <a:noAutofit/>
          </a:bodyPr>
          <a:lstStyle/>
          <a:p>
            <a:r>
              <a:rPr lang="en-US" altLang="ja-JP" dirty="0">
                <a:latin typeface="+mj-ea"/>
              </a:rPr>
              <a:t>2019年の創業以来、東海圏を中心にペットショップを展開。2026年初に不採算の2店舗を撤退し、現在は直営6店舗を運営する。フランチャイズ加盟のインショップ4店舗に加え、2023年からは自社ブランドの大型犬専門店「おっきなもふもふ応援隊」を2店舗開設し、進行期は同2店舗で売上の42.4%・店舗貢献利益の52.6%を占める。</a:t>
            </a:r>
            <a:endParaRPr lang="en-US" altLang="ja-JP" dirty="0"/>
          </a:p>
        </p:txBody>
      </p:sp>
      <p:sp>
        <p:nvSpPr>
          <p:cNvPr id="13" name="タイトル 12">
            <a:extLst>
              <a:ext uri="{FF2B5EF4-FFF2-40B4-BE49-F238E27FC236}">
                <a16:creationId xmlns:a16="http://schemas.microsoft.com/office/drawing/2014/main" id="{85E2D3B1-D668-47BF-7D76-2F8709456651}"/>
              </a:ext>
            </a:extLst>
          </p:cNvPr>
          <p:cNvSpPr>
            <a:spLocks noGrp="1"/>
          </p:cNvSpPr>
          <p:nvPr>
            <p:ph type="ctrTitle"/>
          </p:nvPr>
        </p:nvSpPr>
        <p:spPr>
          <a:xfrm>
            <a:off x="311150" y="180296"/>
            <a:ext cx="7799917" cy="339267"/>
          </a:xfrm>
        </p:spPr>
        <p:txBody>
          <a:bodyPr>
            <a:normAutofit/>
          </a:bodyPr>
          <a:lstStyle/>
          <a:p>
            <a:r>
              <a:rPr lang="ja-JP" altLang="en-US" dirty="0"/>
              <a:t>基本情報</a:t>
            </a:r>
          </a:p>
        </p:txBody>
      </p:sp>
      <p:sp>
        <p:nvSpPr>
          <p:cNvPr id="5" name="タイトル 1">
            <a:extLst>
              <a:ext uri="{FF2B5EF4-FFF2-40B4-BE49-F238E27FC236}">
                <a16:creationId xmlns:a16="http://schemas.microsoft.com/office/drawing/2014/main" id="{4F103961-B26C-39D9-FB80-02B45E98D11A}"/>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2" name="正方形/長方形 1">
            <a:extLst>
              <a:ext uri="{FF2B5EF4-FFF2-40B4-BE49-F238E27FC236}">
                <a16:creationId xmlns:a16="http://schemas.microsoft.com/office/drawing/2014/main" id="{A0EF9F9A-5414-64EC-48C3-D1A342DF89A8}"/>
              </a:ext>
            </a:extLst>
          </p:cNvPr>
          <p:cNvSpPr/>
          <p:nvPr/>
        </p:nvSpPr>
        <p:spPr>
          <a:xfrm>
            <a:off x="311150" y="1895888"/>
            <a:ext cx="993038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会社概要</a:t>
            </a:r>
          </a:p>
        </p:txBody>
      </p:sp>
      <p:graphicFrame>
        <p:nvGraphicFramePr>
          <p:cNvPr id="21" name="表 20">
            <a:extLst>
              <a:ext uri="{FF2B5EF4-FFF2-40B4-BE49-F238E27FC236}">
                <a16:creationId xmlns:a16="http://schemas.microsoft.com/office/drawing/2014/main" id="{CB1550B6-86BA-8688-2CFB-931E58845D33}"/>
              </a:ext>
            </a:extLst>
          </p:cNvPr>
          <p:cNvGraphicFramePr>
            <a:graphicFrameLocks noGrp="1"/>
          </p:cNvGraphicFramePr>
          <p:nvPr>
            <p:extLst>
              <p:ext uri="{D42A27DB-BD31-4B8C-83A1-F6EECF244321}">
                <p14:modId xmlns:p14="http://schemas.microsoft.com/office/powerpoint/2010/main" val="986417335"/>
              </p:ext>
            </p:extLst>
          </p:nvPr>
        </p:nvGraphicFramePr>
        <p:xfrm>
          <a:off x="311150" y="2448232"/>
          <a:ext cx="9930383" cy="4242816"/>
        </p:xfrm>
        <a:graphic>
          <a:graphicData uri="http://schemas.openxmlformats.org/drawingml/2006/table">
            <a:tbl>
              <a:tblPr/>
              <a:tblGrid>
                <a:gridCol w="1600200">
                  <a:extLst>
                    <a:ext uri="{9D8B030D-6E8A-4147-A177-3AD203B41FA5}">
                      <a16:colId xmlns:a16="http://schemas.microsoft.com/office/drawing/2014/main" val="2539626951"/>
                    </a:ext>
                  </a:extLst>
                </a:gridCol>
                <a:gridCol w="8330183">
                  <a:extLst>
                    <a:ext uri="{9D8B030D-6E8A-4147-A177-3AD203B41FA5}">
                      <a16:colId xmlns:a16="http://schemas.microsoft.com/office/drawing/2014/main" val="2394234266"/>
                    </a:ext>
                  </a:extLst>
                </a:gridCol>
              </a:tblGrid>
              <a:tr h="201168">
                <a:tc>
                  <a:txBody>
                    <a:bodyPr/>
                    <a:lstStyle/>
                    <a:p>
                      <a:pPr algn="l" fontAlgn="t">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項目</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l" fontAlgn="t">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内容</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2071670933"/>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会社名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LUXAS株式会社［ラクサス］（法人番号 4200001038172）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900266530"/>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本社所在地</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岐阜県大垣市青柳町3丁目227番地2　※代表者自宅を賃借（2025年11月期の年間家賃1,000千円）</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497372513"/>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店舗・拠点</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altLang="en-US" sz="1000" b="0" i="0" u="none" strike="noStrike" dirty="0">
                          <a:solidFill>
                            <a:srgbClr val="000000"/>
                          </a:solidFill>
                          <a:effectLst/>
                          <a:latin typeface="游ゴシック" panose="020B0400000000000000" pitchFamily="50" charset="-128"/>
                          <a:ea typeface="游ゴシック" panose="020B0400000000000000" pitchFamily="50" charset="-128"/>
                        </a:rPr>
                        <a:t>直営6店舗（三重県3／愛知県1／岐阜県1／大阪府1）、松阪管理センター　※2026年1月にペットプラザ岐阜店、2026年2月にアクアウォーク大垣店を撤退（2025年11月期末は8店舗）</a:t>
                      </a:r>
                      <a:endPar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169181494"/>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創業・設立</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2019年8月 個人事業として創業／2020年12月 法人設立（第5期）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946259682"/>
                  </a:ext>
                </a:extLst>
              </a:tr>
              <a:tr h="310896">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1,000千円</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359436894"/>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代表者</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代表取締役　淺野　ゆう子（1985年11月生）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63480803"/>
                  </a:ext>
                </a:extLst>
              </a:tr>
              <a:tr h="310896">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株主</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淺野　ゆう子（100株／100.0%）　※株券不発行会社、譲渡制限規定あり、設立時から変更なし</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88547174"/>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事業内容</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ペットショップ（生体販売・ペット用品販売）、トリミング、ペットホテル、ペット保険代理店、セキュリティ機器販売</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198329160"/>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従業員数</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49名（役員2名、正社員14名、アルバイト33名）　※2026年9月時点。詳細はP.22参照</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130286910"/>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許認可等</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第一種動物取扱業許可（種別：販売／保管）　8事業所で取得</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768104905"/>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売上高</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558,390千円（2025年11月期）　※調整後EBITDA 6,681千円、過去3期平均 18,185千円</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380813212"/>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進行期の状況</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2026年11月期の7か月累計（2025年12月〜2026年6月）で売上高279,153千円（前年同期比80.9%）、営業利益6,637千円。稼働6店舗の貢献利益は100,818千円　※詳細はP.8・P.13参照</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094010921"/>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譲渡理由</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成長戦略（資本力・経営基盤のある企業グループの下での多店舗展開の加速）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094010921"/>
                  </a:ext>
                </a:extLst>
              </a:tr>
            </a:tbl>
          </a:graphicData>
        </a:graphic>
      </p:graphicFrame>
    </p:spTree>
    <p:extLst>
      <p:ext uri="{BB962C8B-B14F-4D97-AF65-F5344CB8AC3E}">
        <p14:creationId xmlns:p14="http://schemas.microsoft.com/office/powerpoint/2010/main" val="28193464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財務ハイライト（P/L）</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売上高は2期で17.7%成長した一方、2025年11月期は仕入価格の転嫁が進まず粗利率が59.1%へ低下し、営業損失19,552千円を計上。進行期は不採算2店舗の撤退により粗利率が62.5%へ回復し、7か月累計で営業利益6,637千円と黒字転換している。</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22D7A017-71F2-4035-677D-AF49C1C280D6}"/>
              </a:ext>
            </a:extLst>
          </p:cNvPr>
          <p:cNvSpPr/>
          <p:nvPr/>
        </p:nvSpPr>
        <p:spPr>
          <a:xfrm>
            <a:off x="6455664" y="4956048"/>
            <a:ext cx="3924999" cy="2084831"/>
          </a:xfrm>
          <a:prstGeom prst="rect">
            <a:avLst/>
          </a:prstGeom>
          <a:solidFill>
            <a:schemeClr val="accent2"/>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endParaRPr kumimoji="1" lang="en-US" altLang="ja-JP" sz="1200" b="1" dirty="0">
              <a:solidFill>
                <a:schemeClr val="tx1"/>
              </a:solidFill>
              <a:latin typeface="游ゴシック" panose="020B0400000000000000" pitchFamily="50" charset="-128"/>
              <a:ea typeface="游ゴシック" panose="020B0400000000000000" pitchFamily="50" charset="-128"/>
            </a:endParaRPr>
          </a:p>
        </p:txBody>
      </p:sp>
      <p:sp>
        <p:nvSpPr>
          <p:cNvPr id="8" name="正方形/長方形 7">
            <a:extLst>
              <a:ext uri="{FF2B5EF4-FFF2-40B4-BE49-F238E27FC236}">
                <a16:creationId xmlns:a16="http://schemas.microsoft.com/office/drawing/2014/main" id="{CBD334A9-999C-ACD4-9DD2-EF961CBA0926}"/>
              </a:ext>
            </a:extLst>
          </p:cNvPr>
          <p:cNvSpPr/>
          <p:nvPr/>
        </p:nvSpPr>
        <p:spPr>
          <a:xfrm>
            <a:off x="6455664" y="1572768"/>
            <a:ext cx="3924999" cy="3346704"/>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sp>
        <p:nvSpPr>
          <p:cNvPr id="9" name="テキスト ボックス 8">
            <a:extLst>
              <a:ext uri="{FF2B5EF4-FFF2-40B4-BE49-F238E27FC236}">
                <a16:creationId xmlns:a16="http://schemas.microsoft.com/office/drawing/2014/main" id="{E5084622-1D6B-783F-80DE-6D9A498C7C12}"/>
              </a:ext>
            </a:extLst>
          </p:cNvPr>
          <p:cNvSpPr txBox="1"/>
          <p:nvPr/>
        </p:nvSpPr>
        <p:spPr>
          <a:xfrm>
            <a:off x="6455664" y="2066543"/>
            <a:ext cx="3912257" cy="2816352"/>
          </a:xfrm>
          <a:prstGeom prst="rect">
            <a:avLst/>
          </a:prstGeom>
          <a:noFill/>
        </p:spPr>
        <p:txBody>
          <a:bodyPr wrap="square" lIns="288000" tIns="0" rIns="252000" bIns="0" rtlCol="0">
            <a:spAutoFit/>
          </a:bodyPr>
          <a:lstStyle/>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≪売上高≫</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・大型犬専門2店舗（岐阜総本店・大阪総本店）で2025年11月期売上の46.7%を占める。</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・FC加盟のインショップ6店舗は269,879千円と横ばい。うち明和店は67,267→37,216千円（△44.7%）と大きく減少。</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≪売上総利益≫</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・粗利率は61.6%→63.6%→59.1%。小型犬中心の既存店で仕入価格の上昇を販売価格へ転嫁できなかったことが主因（ヒアリング）。</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≪営業利益≫</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・販管費が59,539千円増加（地代家賃+25,019千円、人件費+25,611千円）し、営業損失を計上。</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≪進行期≫</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・2026年1月にペットプラザ岐阜店、2月にアクアウォーク大垣店を撤退。7か月累計は売上279,153千円（前年同期比80.9%）、営業利益6,637千円と黒字転換。</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≪見通し≫</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・上記には撤退2店舗の営業損失4,087千円が含まれ、6店舗体制の通期化で解消が見込まれる。一方、月次では減価償却費（通期実績6,349千円）が未計上のため通期では減益要因（要確認）。</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p:txBody>
      </p:sp>
      <p:sp>
        <p:nvSpPr>
          <p:cNvPr id="18" name="TextBox 17"/>
          <p:cNvSpPr txBox="1"/>
          <p:nvPr/>
        </p:nvSpPr>
        <p:spPr>
          <a:xfrm>
            <a:off x="295285" y="6382512"/>
            <a:ext cx="5976000" cy="174851"/>
          </a:xfrm>
          <a:prstGeom prst="rect">
            <a:avLst/>
          </a:prstGeom>
          <a:noFill/>
        </p:spPr>
        <p:txBody>
          <a:bodyPr wrap="square" lIns="36000" tIns="18000" rIns="36000" bIns="18000" anchor="t">
            <a:spAutoFit/>
          </a:bodyPr>
          <a:lstStyle/>
          <a:p>
            <a:pPr>
              <a:spcBef>
                <a:spcPts val="0"/>
              </a:spcBef>
              <a:spcAft>
                <a:spcPts val="200"/>
              </a:spcAft>
            </a:pPr>
            <a:r>
              <a:rPr sz="900" b="0" dirty="0">
                <a:solidFill>
                  <a:sysClr val="windowText" lastClr="000000"/>
                </a:solidFill>
                <a:latin typeface="游ゴシック" panose="020B0400000000000000" pitchFamily="50" charset="-128"/>
                <a:ea typeface="游ゴシック" panose="020B0400000000000000" pitchFamily="50" charset="-128"/>
              </a:rPr>
              <a:t>※EBITDA＝営業利益＋減価償却費（販管費計上分）。調整項目の考え方は案件マスターに基づく。進行期は月次で減価償却費が未計上のため調整後EBITDAは算定していない。※千円未満の端数処理により合計が一致しない場合があります。</a:t>
            </a:r>
          </a:p>
        </p:txBody>
      </p:sp>
      <p:graphicFrame>
        <p:nvGraphicFramePr>
          <p:cNvPr id="4" name="表 3">
            <a:extLst>
              <a:ext uri="{FF2B5EF4-FFF2-40B4-BE49-F238E27FC236}">
                <a16:creationId xmlns:a16="http://schemas.microsoft.com/office/drawing/2014/main" id="{09B8E7CF-D8BA-70BB-75EB-6EC7F4B67D3D}"/>
              </a:ext>
            </a:extLst>
          </p:cNvPr>
          <p:cNvGraphicFramePr>
            <a:graphicFrameLocks noGrp="1"/>
          </p:cNvGraphicFramePr>
          <p:nvPr>
            <p:extLst>
              <p:ext uri="{D42A27DB-BD31-4B8C-83A1-F6EECF244321}">
                <p14:modId xmlns:p14="http://schemas.microsoft.com/office/powerpoint/2010/main" val="1779741811"/>
              </p:ext>
            </p:extLst>
          </p:nvPr>
        </p:nvGraphicFramePr>
        <p:xfrm>
          <a:off x="311150" y="1610807"/>
          <a:ext cx="5998464" cy="4270248"/>
        </p:xfrm>
        <a:graphic>
          <a:graphicData uri="http://schemas.openxmlformats.org/drawingml/2006/table">
            <a:tbl>
              <a:tblPr/>
              <a:tblGrid>
                <a:gridCol w="1975104">
                  <a:extLst>
                    <a:ext uri="{9D8B030D-6E8A-4147-A177-3AD203B41FA5}">
                      <a16:colId xmlns:a16="http://schemas.microsoft.com/office/drawing/2014/main" val="2315921538"/>
                    </a:ext>
                  </a:extLst>
                </a:gridCol>
                <a:gridCol w="969264">
                  <a:extLst>
                    <a:ext uri="{9D8B030D-6E8A-4147-A177-3AD203B41FA5}">
                      <a16:colId xmlns:a16="http://schemas.microsoft.com/office/drawing/2014/main" val="2930658936"/>
                    </a:ext>
                  </a:extLst>
                </a:gridCol>
                <a:gridCol w="969264">
                  <a:extLst>
                    <a:ext uri="{9D8B030D-6E8A-4147-A177-3AD203B41FA5}">
                      <a16:colId xmlns:a16="http://schemas.microsoft.com/office/drawing/2014/main" val="3282667626"/>
                    </a:ext>
                  </a:extLst>
                </a:gridCol>
                <a:gridCol w="969264">
                  <a:extLst>
                    <a:ext uri="{9D8B030D-6E8A-4147-A177-3AD203B41FA5}">
                      <a16:colId xmlns:a16="http://schemas.microsoft.com/office/drawing/2014/main" val="1985302225"/>
                    </a:ext>
                  </a:extLst>
                </a:gridCol>
                <a:gridCol w="1115568">
                  <a:extLst>
                    <a:ext uri="{9D8B030D-6E8A-4147-A177-3AD203B41FA5}">
                      <a16:colId xmlns:a16="http://schemas.microsoft.com/office/drawing/2014/main" val="1985302225"/>
                    </a:ext>
                  </a:extLst>
                </a:gridCol>
              </a:tblGrid>
              <a:tr h="164592">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1300146245"/>
                  </a:ext>
                </a:extLst>
              </a:tr>
              <a:tr h="237744">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進行期(7か月)</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41491395"/>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10375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474,428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539,035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558,390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279,153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extLst>
                  <a:ext uri="{0D108BD9-81ED-4DB2-BD59-A6C34878D82A}">
                    <a16:rowId xmlns:a16="http://schemas.microsoft.com/office/drawing/2014/main" val="724115484"/>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前期比</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113.6%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103.6%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80.9%</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292,379</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342,931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330,024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174,391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518423238"/>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61.6%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59.1%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62.5%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066104613"/>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dirty="0">
                          <a:solidFill>
                            <a:srgbClr val="000000"/>
                          </a:solidFill>
                          <a:effectLst/>
                          <a:latin typeface="Arial" panose="020B0604020202020204" pitchFamily="34" charset="0"/>
                          <a:ea typeface="游ゴシック Medium" panose="020B0500000000000000" pitchFamily="50" charset="-128"/>
                        </a:rPr>
                        <a:t>2,341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3,022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19,552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6,637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61764439"/>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748787460"/>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2,528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3,110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18,575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5,814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761077561"/>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055149150"/>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1,634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974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20,359</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38,187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85010701"/>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-13.7%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703587175"/>
                  </a:ext>
                </a:extLst>
              </a:tr>
              <a:tr h="9144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183187078"/>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減価償却費</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3,911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9,295</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6,349</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026811624"/>
                  </a:ext>
                </a:extLst>
              </a:tr>
              <a:tr h="91440">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998580123"/>
                  </a:ext>
                </a:extLst>
              </a:tr>
              <a:tr h="173736">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調整項目 合計</a:t>
                      </a:r>
                    </a:p>
                  </a:txBody>
                  <a:tcPr marL="103756"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8,856</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20,449</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19,884</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891433011"/>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役員報酬（退任予定）</a:t>
                      </a:r>
                    </a:p>
                  </a:txBody>
                  <a:tcPr marL="207512"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14,400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166449910"/>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役員報酬（派遣想定）</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14,400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現場責任者人件費の振替</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8,831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8,183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非事業用車両リース料</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2,386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3,154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5,604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接待交際費（超過分）</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4,453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6,230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4,218</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生命保険料（非事業性）</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696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1,599</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1,224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雑収入（社員割引）</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1,321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635</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655</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91440">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extLst>
                  <a:ext uri="{0D108BD9-81ED-4DB2-BD59-A6C34878D82A}">
                    <a16:rowId xmlns:a16="http://schemas.microsoft.com/office/drawing/2014/main" val="129666250"/>
                  </a:ext>
                </a:extLst>
              </a:tr>
              <a:tr h="192024">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調整後EBITDA</a:t>
                      </a:r>
                    </a:p>
                  </a:txBody>
                  <a:tcPr marL="103756" marR="0" marT="0" marB="0" anchor="ctr">
                    <a:lnL>
                      <a:noFill/>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15,108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32,766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6,681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extLst>
                  <a:ext uri="{0D108BD9-81ED-4DB2-BD59-A6C34878D82A}">
                    <a16:rowId xmlns:a16="http://schemas.microsoft.com/office/drawing/2014/main" val="3312068535"/>
                  </a:ext>
                </a:extLst>
              </a:tr>
            </a:tbl>
          </a:graphicData>
        </a:graphic>
      </p:graphicFrame>
      <p:sp>
        <p:nvSpPr>
          <p:cNvPr id="7" name="テキスト ボックス 6">
            <a:extLst>
              <a:ext uri="{FF2B5EF4-FFF2-40B4-BE49-F238E27FC236}">
                <a16:creationId xmlns:a16="http://schemas.microsoft.com/office/drawing/2014/main" id="{0F97EF78-0317-2D34-6B5B-762C46150F67}"/>
              </a:ext>
            </a:extLst>
          </p:cNvPr>
          <p:cNvSpPr txBox="1"/>
          <p:nvPr/>
        </p:nvSpPr>
        <p:spPr>
          <a:xfrm>
            <a:off x="6455664" y="5010912"/>
            <a:ext cx="3912257" cy="2011680"/>
          </a:xfrm>
          <a:prstGeom prst="rect">
            <a:avLst/>
          </a:prstGeom>
          <a:noFill/>
        </p:spPr>
        <p:txBody>
          <a:bodyPr wrap="square" lIns="288000" tIns="0" rIns="252000" bIns="0" rtlCol="0">
            <a:spAutoFit/>
          </a:bodyPr>
          <a:lstStyle/>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【調整項目】</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≪役員報酬≫代表者は引継完了後に退任、現場責任者が同水準（14,400千円）で役員就任する前提。退任分を戻し同額を後任分として控除</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≪現場責任者人件費≫上記に伴い従業員給与としての計上分を戻し入れ</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≪リース料・接待交際費・保険料≫本件実行後に発生しない費用を戻し入れ（接待交際費は適正水準4,000千円との差額）</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≪雑収入≫経常的に発生する社員割引分を加算</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 調整後EBITDA（3期平均）18,185千円／直近2期平均 19,724千円</a:t>
            </a:r>
          </a:p>
        </p:txBody>
      </p:sp>
    </p:spTree>
    <p:extLst>
      <p:ext uri="{BB962C8B-B14F-4D97-AF65-F5344CB8AC3E}">
        <p14:creationId xmlns:p14="http://schemas.microsoft.com/office/powerpoint/2010/main" val="30165897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財務ハイライト（B/S）</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801343"/>
          </a:xfrm>
        </p:spPr>
        <p:txBody>
          <a:bodyPr>
            <a:noAutofit/>
          </a:bodyPr>
          <a:lstStyle/>
          <a:p>
            <a:r>
              <a:rPr lang="ja-JP" altLang="en-US" dirty="0">
                <a:latin typeface="游ゴシック" panose="020B0400000000000000" pitchFamily="50" charset="-128"/>
                <a:ea typeface="游ゴシック" panose="020B0400000000000000" pitchFamily="50" charset="-128"/>
              </a:rPr>
              <a:t>2025年11月期末の純資産は△14,057千円と債務超過。進行期は2026年3月に棚卸資産廃棄損44,000千円を計上したことにより、2026年6月末の純資産は△52,244千円となっている。</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612EABB3-CE7D-61AA-49A7-0C5A39CB2F7F}"/>
              </a:ext>
            </a:extLst>
          </p:cNvPr>
          <p:cNvSpPr/>
          <p:nvPr/>
        </p:nvSpPr>
        <p:spPr>
          <a:xfrm>
            <a:off x="6263640" y="1714131"/>
            <a:ext cx="4087368" cy="5296269"/>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graphicFrame>
        <p:nvGraphicFramePr>
          <p:cNvPr id="10" name="表 9">
            <a:extLst>
              <a:ext uri="{FF2B5EF4-FFF2-40B4-BE49-F238E27FC236}">
                <a16:creationId xmlns:a16="http://schemas.microsoft.com/office/drawing/2014/main" id="{EC917954-C9CC-A8BB-CE8B-2313B621CAA9}"/>
              </a:ext>
            </a:extLst>
          </p:cNvPr>
          <p:cNvGraphicFramePr>
            <a:graphicFrameLocks noGrp="1"/>
          </p:cNvGraphicFramePr>
          <p:nvPr>
            <p:extLst>
              <p:ext uri="{D42A27DB-BD31-4B8C-83A1-F6EECF244321}">
                <p14:modId xmlns:p14="http://schemas.microsoft.com/office/powerpoint/2010/main" val="1651202635"/>
              </p:ext>
            </p:extLst>
          </p:nvPr>
        </p:nvGraphicFramePr>
        <p:xfrm>
          <a:off x="341312" y="1465132"/>
          <a:ext cx="5833872" cy="4882896"/>
        </p:xfrm>
        <a:graphic>
          <a:graphicData uri="http://schemas.openxmlformats.org/drawingml/2006/table">
            <a:tbl>
              <a:tblPr/>
              <a:tblGrid>
                <a:gridCol w="1207008">
                  <a:extLst>
                    <a:ext uri="{9D8B030D-6E8A-4147-A177-3AD203B41FA5}">
                      <a16:colId xmlns:a16="http://schemas.microsoft.com/office/drawing/2014/main" val="3288712095"/>
                    </a:ext>
                  </a:extLst>
                </a:gridCol>
                <a:gridCol w="822960">
                  <a:extLst>
                    <a:ext uri="{9D8B030D-6E8A-4147-A177-3AD203B41FA5}">
                      <a16:colId xmlns:a16="http://schemas.microsoft.com/office/drawing/2014/main" val="1763953894"/>
                    </a:ext>
                  </a:extLst>
                </a:gridCol>
                <a:gridCol w="822960">
                  <a:extLst>
                    <a:ext uri="{9D8B030D-6E8A-4147-A177-3AD203B41FA5}">
                      <a16:colId xmlns:a16="http://schemas.microsoft.com/office/drawing/2014/main" val="1763953894"/>
                    </a:ext>
                  </a:extLst>
                </a:gridCol>
                <a:gridCol w="128016">
                  <a:extLst>
                    <a:ext uri="{9D8B030D-6E8A-4147-A177-3AD203B41FA5}">
                      <a16:colId xmlns:a16="http://schemas.microsoft.com/office/drawing/2014/main" val="425085564"/>
                    </a:ext>
                  </a:extLst>
                </a:gridCol>
                <a:gridCol w="1207008">
                  <a:extLst>
                    <a:ext uri="{9D8B030D-6E8A-4147-A177-3AD203B41FA5}">
                      <a16:colId xmlns:a16="http://schemas.microsoft.com/office/drawing/2014/main" val="529330877"/>
                    </a:ext>
                  </a:extLst>
                </a:gridCol>
                <a:gridCol w="822960">
                  <a:extLst>
                    <a:ext uri="{9D8B030D-6E8A-4147-A177-3AD203B41FA5}">
                      <a16:colId xmlns:a16="http://schemas.microsoft.com/office/drawing/2014/main" val="1796373806"/>
                    </a:ext>
                  </a:extLst>
                </a:gridCol>
                <a:gridCol w="822960">
                  <a:extLst>
                    <a:ext uri="{9D8B030D-6E8A-4147-A177-3AD203B41FA5}">
                      <a16:colId xmlns:a16="http://schemas.microsoft.com/office/drawing/2014/main" val="1796373806"/>
                    </a:ext>
                  </a:extLst>
                </a:gridCol>
              </a:tblGrid>
              <a:tr h="164592">
                <a:tc>
                  <a:txBody>
                    <a:bodyPr/>
                    <a:lstStyle/>
                    <a:p>
                      <a:pPr algn="ctr" fontAlgn="ctr">
                        <a:buNone/>
                      </a:pPr>
                      <a:r>
                        <a:rPr lang="ja-JP" sz="80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2920009427"/>
                  </a:ext>
                </a:extLst>
              </a:tr>
              <a:tr h="365760">
                <a:tc>
                  <a:txBody>
                    <a:bodyPr/>
                    <a:lstStyle/>
                    <a:p>
                      <a:pPr algn="ctr" fontAlgn="ctr">
                        <a:buNone/>
                      </a:pPr>
                      <a:r>
                        <a:rPr lang="ja-JP" sz="80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25年11月期
（決算）</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26年6月末
（進行期TB）</a:t>
                      </a:r>
                    </a:p>
                  </a:txBody>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25年11月期
（決算）</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26年6月末
（進行期TB）</a:t>
                      </a:r>
                    </a:p>
                  </a:txBody>
                  <a:tcPr/>
                </a:tc>
                <a:extLst>
                  <a:ext uri="{0D108BD9-81ED-4DB2-BD59-A6C34878D82A}">
                    <a16:rowId xmlns:a16="http://schemas.microsoft.com/office/drawing/2014/main" val="149450412"/>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150,113</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92,091</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47,672</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33,414</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現預金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10,140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14,792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7,003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16,678</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9,579</a:t>
                      </a:r>
                    </a:p>
                  </a:txBody>
                  <a:tcPr marL="0" marR="0" marT="0" marB="0" anchor="ctr">
                    <a:lnL>
                      <a:noFill/>
                    </a:lnL>
                    <a:lnR>
                      <a:noFill/>
                    </a:lnR>
                    <a:lnT>
                      <a:noFill/>
                    </a:lnT>
                    <a:lnB>
                      <a:noFill/>
                    </a:lnB>
                    <a:noFill/>
                  </a:tcPr>
                </a:tc>
                <a:extLst>
                  <a:ext uri="{0D108BD9-81ED-4DB2-BD59-A6C34878D82A}">
                    <a16:rowId xmlns:a16="http://schemas.microsoft.com/office/drawing/2014/main" val="2741549184"/>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棚卸資産</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106,167</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58,596</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11,784</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7,438</a:t>
                      </a:r>
                    </a:p>
                  </a:txBody>
                  <a:tcPr marL="0" marR="0" marT="0" marB="0" anchor="ctr">
                    <a:lnL>
                      <a:noFill/>
                    </a:lnL>
                    <a:lnR>
                      <a:noFill/>
                    </a:lnR>
                    <a:lnT>
                      <a:noFill/>
                    </a:lnT>
                    <a:lnB>
                      <a:noFill/>
                    </a:lnB>
                    <a:noFill/>
                  </a:tcPr>
                </a:tc>
                <a:extLst>
                  <a:ext uri="{0D108BD9-81ED-4DB2-BD59-A6C34878D82A}">
                    <a16:rowId xmlns:a16="http://schemas.microsoft.com/office/drawing/2014/main" val="2447550602"/>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前払費用</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3,992</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393</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3,224</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7,791</a:t>
                      </a:r>
                    </a:p>
                  </a:txBody>
                  <a:tcPr marL="0" marR="0" marT="0" marB="0" anchor="ctr">
                    <a:lnL>
                      <a:noFill/>
                    </a:lnL>
                    <a:lnR>
                      <a:noFill/>
                    </a:lnR>
                    <a:lnT>
                      <a:noFill/>
                    </a:lnT>
                    <a:lnB>
                      <a:noFill/>
                    </a:lnB>
                    <a:noFill/>
                  </a:tcPr>
                </a:tc>
                <a:extLst>
                  <a:ext uri="{0D108BD9-81ED-4DB2-BD59-A6C34878D82A}">
                    <a16:rowId xmlns:a16="http://schemas.microsoft.com/office/drawing/2014/main" val="3539815537"/>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仮払金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1,650</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1,677</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2,392</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1,600</a:t>
                      </a:r>
                    </a:p>
                  </a:txBody>
                  <a:tcPr marL="0" marR="0" marT="0" marB="0" anchor="ctr">
                    <a:lnL>
                      <a:noFill/>
                    </a:lnL>
                    <a:lnR>
                      <a:noFill/>
                    </a:lnR>
                    <a:lnT>
                      <a:noFill/>
                    </a:lnT>
                    <a:lnB>
                      <a:noFill/>
                    </a:lnB>
                    <a:noFill/>
                  </a:tcPr>
                </a:tc>
                <a:extLst>
                  <a:ext uri="{0D108BD9-81ED-4DB2-BD59-A6C34878D82A}">
                    <a16:rowId xmlns:a16="http://schemas.microsoft.com/office/drawing/2014/main" val="285792898"/>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その他</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536</a:t>
                      </a:r>
                    </a:p>
                  </a:txBody>
                  <a:tcPr marL="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45</a:t>
                      </a:r>
                    </a:p>
                  </a:txBody>
                  <a:tcPr marL="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その他</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957</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75307486"/>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85,272</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86,018</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201,770</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196,939</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681567531"/>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建物（附属設備）</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70532494"/>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工具器具備品</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7,566</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3,403</a:t>
                      </a:r>
                    </a:p>
                  </a:txBody>
                  <a:tcPr marL="0" marR="0" marT="0" marB="0" anchor="ctr">
                    <a:lnL>
                      <a:noFill/>
                    </a:lnL>
                    <a:lnR>
                      <a:noFill/>
                    </a:lnR>
                    <a:lnT>
                      <a:noFill/>
                    </a:lnT>
                    <a:lnB>
                      <a:noFill/>
                    </a:lnB>
                    <a:noFill/>
                  </a:tcPr>
                </a:tc>
                <a:extLst>
                  <a:ext uri="{0D108BD9-81ED-4DB2-BD59-A6C34878D82A}">
                    <a16:rowId xmlns:a16="http://schemas.microsoft.com/office/drawing/2014/main" val="1334314230"/>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1,495</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0" marR="0" marT="0"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2,346</a:t>
                      </a:r>
                    </a:p>
                  </a:txBody>
                  <a:tcPr marL="0" marR="0" marT="0"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1,678</a:t>
                      </a:r>
                    </a:p>
                  </a:txBody>
                  <a:tcPr marL="0" marR="0" marT="0" marB="0" anchor="ctr">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90336650"/>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土地</a:t>
                      </a:r>
                    </a:p>
                  </a:txBody>
                  <a:tcPr marL="0" marR="0" marT="0" marB="0" anchor="ctr">
                    <a:lnL>
                      <a:noFill/>
                    </a:lnL>
                    <a:lnR>
                      <a:noFill/>
                    </a:lnR>
                    <a:lnT>
                      <a:noFill/>
                    </a:lnT>
                    <a:lnB>
                      <a:noFill/>
                    </a:lnB>
                    <a:noFill/>
                  </a:tcPr>
                </a:tc>
                <a:tc>
                  <a:txBody>
                    <a:bodyPr/>
                    <a:lstStyle/>
                    <a:p>
                      <a:pPr algn="r" fontAlgn="ctr">
                        <a:buNone/>
                      </a:pPr>
                      <a:r>
                        <a:rPr lang="ja-JP" sz="800" b="0" i="0" u="none" strike="noStrike" dirty="0">
                          <a:solidFill>
                            <a:srgbClr val="000000"/>
                          </a:solidFill>
                          <a:effectLst/>
                          <a:latin typeface="Arial" panose="020B0604020202020204" pitchFamily="34" charset="0"/>
                          <a:ea typeface="游ゴシック Medium" panose="020B0500000000000000" pitchFamily="50" charset="-128"/>
                        </a:rPr>
                        <a:t>2,974</a:t>
                      </a:r>
                    </a:p>
                  </a:txBody>
                  <a:tcPr marL="0" marR="0" marT="0" marB="0" anchor="ctr">
                    <a:lnL>
                      <a:noFill/>
                    </a:lnL>
                    <a:lnR>
                      <a:noFill/>
                    </a:lnR>
                    <a:lnT>
                      <a:noFill/>
                    </a:lnT>
                    <a:lnB>
                      <a:noFill/>
                    </a:lnB>
                    <a:noFill/>
                  </a:tcPr>
                </a:tc>
                <a:tc>
                  <a:txBody>
                    <a:bodyPr/>
                    <a:lstStyle/>
                    <a:p>
                      <a:pPr algn="r" fontAlgn="ctr">
                        <a:buNone/>
                      </a:pPr>
                      <a:r>
                        <a:rPr lang="ja-JP" sz="800" b="0" i="0" u="none" strike="noStrike" dirty="0">
                          <a:solidFill>
                            <a:srgbClr val="000000"/>
                          </a:solidFill>
                          <a:effectLst/>
                          <a:latin typeface="Arial" panose="020B0604020202020204" pitchFamily="34" charset="0"/>
                          <a:ea typeface="游ゴシック Medium" panose="020B0500000000000000" pitchFamily="50" charset="-128"/>
                        </a:rPr>
                        <a:t>2,974</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230,353</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846890720"/>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差入保証金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25,204</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28702615"/>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長期前払費用</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53,244</a:t>
                      </a:r>
                    </a:p>
                  </a:txBody>
                  <a:tcPr marL="0" marR="0" marT="0" marB="0" anchor="ctr">
                    <a:lnL>
                      <a:noFill/>
                    </a:lnL>
                    <a:lnR>
                      <a:noFill/>
                    </a:lnR>
                    <a:lnT>
                      <a:noFill/>
                    </a:lnT>
                    <a:lnB>
                      <a:noFill/>
                    </a:lnB>
                    <a:noFill/>
                  </a:tcPr>
                </a:tc>
                <a:extLst>
                  <a:ext uri="{0D108BD9-81ED-4DB2-BD59-A6C34878D82A}">
                    <a16:rowId xmlns:a16="http://schemas.microsoft.com/office/drawing/2014/main" val="2363906639"/>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133845884"/>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その他</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216</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2,691</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14,057</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52,244</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2864921436"/>
                  </a:ext>
                </a:extLst>
              </a:tr>
              <a:tr h="256032">
                <a:tc>
                  <a:txBody>
                    <a:bodyPr/>
                    <a:lstStyle/>
                    <a:p>
                      <a:pPr algn="l" fontAlgn="ctr">
                        <a:buNone/>
                      </a:pPr>
                      <a:r>
                        <a:rPr lang="ja-JP" sz="800" b="1" i="0" u="none" strike="noStrike" dirty="0">
                          <a:solidFill>
                            <a:srgbClr val="000000"/>
                          </a:solidFill>
                          <a:effectLst/>
                          <a:latin typeface="游ゴシック" panose="020B0400000000000000" pitchFamily="50" charset="-128"/>
                          <a:ea typeface="游ゴシック" panose="020B0400000000000000" pitchFamily="50" charset="-128"/>
                        </a:rPr>
                        <a:t>資産合計</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235,385</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178,109</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dirty="0">
                          <a:solidFill>
                            <a:srgbClr val="000000"/>
                          </a:solidFill>
                          <a:effectLst/>
                          <a:latin typeface="游ゴシック" panose="020B0400000000000000" pitchFamily="50" charset="-128"/>
                          <a:ea typeface="游ゴシック" panose="020B0400000000000000" pitchFamily="50" charset="-128"/>
                        </a:rPr>
                        <a:t>負債・純資産合計</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235,385</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178,109</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1773176798"/>
                  </a:ext>
                </a:extLst>
              </a:tr>
            </a:tbl>
          </a:graphicData>
        </a:graphic>
      </p:graphicFrame>
      <p:sp>
        <p:nvSpPr>
          <p:cNvPr id="16" name="テキスト ボックス 15">
            <a:extLst>
              <a:ext uri="{FF2B5EF4-FFF2-40B4-BE49-F238E27FC236}">
                <a16:creationId xmlns:a16="http://schemas.microsoft.com/office/drawing/2014/main" id="{628CFE76-679D-C90B-1E19-B26DADCE4A7F}"/>
              </a:ext>
            </a:extLst>
          </p:cNvPr>
          <p:cNvSpPr txBox="1"/>
          <p:nvPr/>
        </p:nvSpPr>
        <p:spPr>
          <a:xfrm>
            <a:off x="6400800" y="2329719"/>
            <a:ext cx="3840480" cy="4593565"/>
          </a:xfrm>
          <a:prstGeom prst="rect">
            <a:avLst/>
          </a:prstGeom>
          <a:noFill/>
        </p:spPr>
        <p:txBody>
          <a:bodyPr wrap="square" lIns="288000" tIns="0" rIns="252000" bIns="0" rtlCol="0">
            <a:spAutoFit/>
          </a:bodyPr>
          <a:lstStyle/>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≪棚卸資産≫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・2025年11月期末106,167千円（総資産の45%）。内訳は店舗8店52,017千円、本社32,000千円、バックヤード12,000千円、外部保管在庫10,000千円、貯蔵品150千円（P.29参照）。</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・2026年3月に本社分＋バックヤード分の44,000千円を全額廃棄損として計上し、2026年6月末は58,596千円まで減少。</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≪売掛金≫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・2025年11月期末27,628千円の内訳は㈲ワンラブ（FC本部）17,373千円、カード・PayPay等の決済会社10,255千円。滞留債権は認められない。</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≪差入保証金≫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・2026年3月に2,024千円減少しており、うち2,000千円は撤退店舗の敷金返還と推察（仮説・要確認）。</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≪営業権≫</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・1,500千円。仕入先デザイナーズワン㈱（代表者の親族が経営）に係るもの。取得経緯・算定根拠は要確認。</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≪借入金≫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・長期借入金191,858千円（9本）。民間6本は代表者の連帯保証および信用保証協会の保証付き（公庫3本は要確認）。月次では期首残高のまま据え置かれている。</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・役員借入金は7,566千円（2025年11月期末）から3,403千円（2026年6月末）へ減少している。譲渡時の返済を希望。</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≪純資産≫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・2025年11月期末△14,057千円の債務超過。進行期は棚卸資産廃棄損の計上により2026年6月末で△52,244千円。</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≪注記≫</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・進行期は試算表ベースであり、減価償却・棚卸評価等の決算整理は未了。千円未満の端数処理により内訳の合計が小計と一致しない場合があります。</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p:txBody>
      </p:sp>
    </p:spTree>
    <p:extLst>
      <p:ext uri="{BB962C8B-B14F-4D97-AF65-F5344CB8AC3E}">
        <p14:creationId xmlns:p14="http://schemas.microsoft.com/office/powerpoint/2010/main" val="40303346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lang="ja-JP" altLang="en-US" spc="0" dirty="0"/>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r>
              <a:rPr lang="ja-JP" altLang="en-US" sz="2200" b="1" spc="50" dirty="0">
                <a:solidFill>
                  <a:schemeClr val="dk1"/>
                </a:solidFill>
                <a:latin typeface="+mj-ea"/>
                <a:ea typeface="+mj-ea"/>
              </a:rPr>
              <a:t>発行済全株式の譲渡（100%）</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r>
              <a:rPr lang="ja-JP" altLang="en-US" spc="50" dirty="0"/>
              <a:t>応相談</a:t>
            </a:r>
            <a:endParaRPr lang="en-US" altLang="ja-JP" spc="50" dirty="0"/>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1380" y="4265966"/>
            <a:ext cx="7074659" cy="1025922"/>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spcAft>
                <a:spcPts val="200"/>
              </a:spcAft>
              <a:buClr>
                <a:schemeClr val="tx2"/>
              </a:buClr>
              <a:buFont typeface="游ゴシック" panose="020B0400000000000000" pitchFamily="50" charset="-128"/>
              <a:buChar char="▪"/>
            </a:pPr>
            <a:r>
              <a:rPr lang="ja-JP" altLang="en-US" sz="1200" spc="50" dirty="0"/>
              <a:t>代表者（淺野ゆう子氏）の連帯保証の解除</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役員借入金の返済（2025年11月期末7,566千円／2026年6月末3,403千円）</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従業員の継続雇用、および取引先（FC本部・仕入先）との取引継続</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引継期間は柔軟に対応可能。代表者は引継完了後に退任予定</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現場責任者の淺野崇氏（代表者の配偶者）は譲渡後も継続関与を想定（要確認）</a:t>
            </a:r>
            <a:endParaRPr lang="en-US" altLang="ja-JP" sz="1200" spc="50" dirty="0"/>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 name="テキスト ボックス 1">
            <a:extLst>
              <a:ext uri="{FF2B5EF4-FFF2-40B4-BE49-F238E27FC236}">
                <a16:creationId xmlns:a16="http://schemas.microsoft.com/office/drawing/2014/main" id="{ACA65C26-85FE-7632-463B-0FBA87B2AA4D}"/>
              </a:ext>
            </a:extLst>
          </p:cNvPr>
          <p:cNvSpPr txBox="1"/>
          <p:nvPr/>
        </p:nvSpPr>
        <p:spPr>
          <a:xfrm>
            <a:off x="3151380" y="6095259"/>
            <a:ext cx="7074659" cy="338554"/>
          </a:xfrm>
          <a:prstGeom prst="rect">
            <a:avLst/>
          </a:prstGeom>
          <a:noFill/>
        </p:spPr>
        <p:txBody>
          <a:bodyPr wrap="square" lIns="1440000" tIns="0" rIns="0" bIns="0" rtlCol="0" anchor="ctr">
            <a:spAutoFit/>
          </a:bodyPr>
          <a:lstStyle/>
          <a:p>
            <a:r>
              <a:rPr lang="ja-JP" altLang="en-US" sz="2200" b="1" spc="50" dirty="0">
                <a:solidFill>
                  <a:schemeClr val="dk1"/>
                </a:solidFill>
                <a:latin typeface="+mj-ea"/>
                <a:ea typeface="+mj-ea"/>
              </a:rPr>
              <a:t>成長戦略（資本力・経営基盤のある企業グループの下での多店舗展開の加速）</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事業概要</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40851993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E743677C-E154-B684-80CF-3F2817127171}"/>
              </a:ext>
            </a:extLst>
          </p:cNvPr>
          <p:cNvSpPr/>
          <p:nvPr/>
        </p:nvSpPr>
        <p:spPr>
          <a:xfrm>
            <a:off x="449262" y="1481694"/>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主要仕入先</a:t>
            </a:r>
          </a:p>
        </p:txBody>
      </p:sp>
      <p:sp>
        <p:nvSpPr>
          <p:cNvPr id="17" name="正方形/長方形 16">
            <a:extLst>
              <a:ext uri="{FF2B5EF4-FFF2-40B4-BE49-F238E27FC236}">
                <a16:creationId xmlns:a16="http://schemas.microsoft.com/office/drawing/2014/main" id="{6FD21BE9-2FB9-6DA0-CBB4-78D9B31143EA}"/>
              </a:ext>
            </a:extLst>
          </p:cNvPr>
          <p:cNvSpPr/>
          <p:nvPr/>
        </p:nvSpPr>
        <p:spPr>
          <a:xfrm>
            <a:off x="8082550" y="1463675"/>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a:solidFill>
                  <a:sysClr val="windowText" lastClr="000000"/>
                </a:solidFill>
                <a:latin typeface="游ゴシック" panose="020B0400000000000000" pitchFamily="50" charset="-128"/>
                <a:ea typeface="游ゴシック" panose="020B0400000000000000" pitchFamily="50" charset="-128"/>
              </a:rPr>
              <a:t>主要販売先</a:t>
            </a:r>
          </a:p>
        </p:txBody>
      </p:sp>
      <p:sp>
        <p:nvSpPr>
          <p:cNvPr id="21" name="正方形/長方形 20">
            <a:extLst>
              <a:ext uri="{FF2B5EF4-FFF2-40B4-BE49-F238E27FC236}">
                <a16:creationId xmlns:a16="http://schemas.microsoft.com/office/drawing/2014/main" id="{95D20CE9-562D-5FB0-80DD-F3BD3CE1D49C}"/>
              </a:ext>
            </a:extLst>
          </p:cNvPr>
          <p:cNvSpPr/>
          <p:nvPr/>
        </p:nvSpPr>
        <p:spPr>
          <a:xfrm>
            <a:off x="2933906" y="1487165"/>
            <a:ext cx="4824000" cy="4016481"/>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対象会社</a:t>
            </a:r>
          </a:p>
        </p:txBody>
      </p:sp>
      <p:cxnSp>
        <p:nvCxnSpPr>
          <p:cNvPr id="24" name="直線コネクタ 23">
            <a:extLst>
              <a:ext uri="{FF2B5EF4-FFF2-40B4-BE49-F238E27FC236}">
                <a16:creationId xmlns:a16="http://schemas.microsoft.com/office/drawing/2014/main" id="{F5D312B4-FD5F-5D39-501F-FA5FF893E938}"/>
              </a:ext>
            </a:extLst>
          </p:cNvPr>
          <p:cNvCxnSpPr>
            <a:cxnSpLocks/>
          </p:cNvCxnSpPr>
          <p:nvPr/>
        </p:nvCxnSpPr>
        <p:spPr>
          <a:xfrm>
            <a:off x="2933907" y="1467042"/>
            <a:ext cx="482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8" name="正方形/長方形 7">
            <a:extLst>
              <a:ext uri="{FF2B5EF4-FFF2-40B4-BE49-F238E27FC236}">
                <a16:creationId xmlns:a16="http://schemas.microsoft.com/office/drawing/2014/main" id="{46E42F7C-FE44-EBE8-0D30-C704D342DE1D}"/>
              </a:ext>
            </a:extLst>
          </p:cNvPr>
          <p:cNvSpPr/>
          <p:nvPr/>
        </p:nvSpPr>
        <p:spPr>
          <a:xfrm>
            <a:off x="297929" y="2184743"/>
            <a:ext cx="2267950" cy="12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ジャペル㈱（59%）</a:t>
            </a: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㈲ワンラブ（FC本部・16%）</a:t>
            </a: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個人ブリーダー（10%）</a:t>
            </a: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デザイナーズワン㈱（5%）</a:t>
            </a:r>
          </a:p>
        </p:txBody>
      </p:sp>
      <p:sp>
        <p:nvSpPr>
          <p:cNvPr id="13" name="正方形/長方形 12">
            <a:extLst>
              <a:ext uri="{FF2B5EF4-FFF2-40B4-BE49-F238E27FC236}">
                <a16:creationId xmlns:a16="http://schemas.microsoft.com/office/drawing/2014/main" id="{5CEF68BA-14D9-A2BB-9103-0A8466BCAE95}"/>
              </a:ext>
            </a:extLst>
          </p:cNvPr>
          <p:cNvSpPr/>
          <p:nvPr/>
        </p:nvSpPr>
        <p:spPr>
          <a:xfrm>
            <a:off x="8224441" y="2184743"/>
            <a:ext cx="2267950" cy="12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一般個人顧客（売上の99%）</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東海圏（岐阜・愛知・三重）</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関西圏（大阪）の来店客</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決済：現金・カード・PayPay</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商流</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cxnSp>
        <p:nvCxnSpPr>
          <p:cNvPr id="16" name="直線コネクタ 15">
            <a:extLst>
              <a:ext uri="{FF2B5EF4-FFF2-40B4-BE49-F238E27FC236}">
                <a16:creationId xmlns:a16="http://schemas.microsoft.com/office/drawing/2014/main" id="{FD5050F0-3C11-BC61-1EAA-56B714331E84}"/>
              </a:ext>
            </a:extLst>
          </p:cNvPr>
          <p:cNvCxnSpPr>
            <a:cxnSpLocks/>
          </p:cNvCxnSpPr>
          <p:nvPr/>
        </p:nvCxnSpPr>
        <p:spPr>
          <a:xfrm>
            <a:off x="449263"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9" name="直線コネクタ 18">
            <a:extLst>
              <a:ext uri="{FF2B5EF4-FFF2-40B4-BE49-F238E27FC236}">
                <a16:creationId xmlns:a16="http://schemas.microsoft.com/office/drawing/2014/main" id="{4E6E5648-22F1-DE1E-6020-D47989377CA9}"/>
              </a:ext>
            </a:extLst>
          </p:cNvPr>
          <p:cNvCxnSpPr>
            <a:cxnSpLocks/>
          </p:cNvCxnSpPr>
          <p:nvPr/>
        </p:nvCxnSpPr>
        <p:spPr>
          <a:xfrm>
            <a:off x="8082550"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46" name="正方形/長方形 45">
            <a:extLst>
              <a:ext uri="{FF2B5EF4-FFF2-40B4-BE49-F238E27FC236}">
                <a16:creationId xmlns:a16="http://schemas.microsoft.com/office/drawing/2014/main" id="{807BE902-CAE0-C2CD-4984-B11E293BA38A}"/>
              </a:ext>
            </a:extLst>
          </p:cNvPr>
          <p:cNvSpPr>
            <a:spLocks/>
          </p:cNvSpPr>
          <p:nvPr/>
        </p:nvSpPr>
        <p:spPr>
          <a:xfrm>
            <a:off x="3170404" y="4433281"/>
            <a:ext cx="4320000" cy="864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セキュリティ機器販売事業（実質休眠）</a:t>
            </a:r>
          </a:p>
        </p:txBody>
      </p:sp>
      <p:sp>
        <p:nvSpPr>
          <p:cNvPr id="49" name="正方形/長方形 48">
            <a:extLst>
              <a:ext uri="{FF2B5EF4-FFF2-40B4-BE49-F238E27FC236}">
                <a16:creationId xmlns:a16="http://schemas.microsoft.com/office/drawing/2014/main" id="{5003CAF4-56DA-63E6-9B55-231DF32CB689}"/>
              </a:ext>
            </a:extLst>
          </p:cNvPr>
          <p:cNvSpPr/>
          <p:nvPr/>
        </p:nvSpPr>
        <p:spPr>
          <a:xfrm>
            <a:off x="3347399" y="4799101"/>
            <a:ext cx="1944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セキュリティ機器の販売</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0" name="正方形/長方形 49">
            <a:extLst>
              <a:ext uri="{FF2B5EF4-FFF2-40B4-BE49-F238E27FC236}">
                <a16:creationId xmlns:a16="http://schemas.microsoft.com/office/drawing/2014/main" id="{E5DD003F-2AD9-A9D3-1FD8-654750A0A7AD}"/>
              </a:ext>
            </a:extLst>
          </p:cNvPr>
          <p:cNvSpPr/>
          <p:nvPr/>
        </p:nvSpPr>
        <p:spPr>
          <a:xfrm>
            <a:off x="5375849" y="4799101"/>
            <a:ext cx="1944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保守・メンテナンス</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grpSp>
        <p:nvGrpSpPr>
          <p:cNvPr id="7" name="グループ化 6">
            <a:extLst>
              <a:ext uri="{FF2B5EF4-FFF2-40B4-BE49-F238E27FC236}">
                <a16:creationId xmlns:a16="http://schemas.microsoft.com/office/drawing/2014/main" id="{E37EF5B6-E17E-6EAE-90CA-1B881E6D8AAE}"/>
              </a:ext>
            </a:extLst>
          </p:cNvPr>
          <p:cNvGrpSpPr/>
          <p:nvPr/>
        </p:nvGrpSpPr>
        <p:grpSpPr>
          <a:xfrm>
            <a:off x="3185906" y="2095628"/>
            <a:ext cx="4320000" cy="1126755"/>
            <a:chOff x="3185906" y="2095628"/>
            <a:chExt cx="4320000" cy="1126755"/>
          </a:xfrm>
        </p:grpSpPr>
        <p:sp>
          <p:nvSpPr>
            <p:cNvPr id="39" name="正方形/長方形 38">
              <a:extLst>
                <a:ext uri="{FF2B5EF4-FFF2-40B4-BE49-F238E27FC236}">
                  <a16:creationId xmlns:a16="http://schemas.microsoft.com/office/drawing/2014/main" id="{B655DFB4-3E4B-DFE0-1927-1F0AF192973F}"/>
                </a:ext>
              </a:extLst>
            </p:cNvPr>
            <p:cNvSpPr>
              <a:spLocks/>
            </p:cNvSpPr>
            <p:nvPr/>
          </p:nvSpPr>
          <p:spPr>
            <a:xfrm>
              <a:off x="3185906" y="2095628"/>
              <a:ext cx="4320000" cy="112675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ペットショップ事業（主業）｜直営6店舗</a:t>
              </a:r>
            </a:p>
          </p:txBody>
        </p:sp>
        <p:sp>
          <p:nvSpPr>
            <p:cNvPr id="51" name="正方形/長方形 50">
              <a:extLst>
                <a:ext uri="{FF2B5EF4-FFF2-40B4-BE49-F238E27FC236}">
                  <a16:creationId xmlns:a16="http://schemas.microsoft.com/office/drawing/2014/main" id="{E6C0282B-CCAA-5FBD-D527-4720B8D3CD68}"/>
                </a:ext>
              </a:extLst>
            </p:cNvPr>
            <p:cNvSpPr/>
            <p:nvPr/>
          </p:nvSpPr>
          <p:spPr>
            <a:xfrm>
              <a:off x="3362901" y="2466383"/>
              <a:ext cx="1944000" cy="75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ワンラブFC店
（インショップ4店舗）</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2" name="正方形/長方形 51">
              <a:extLst>
                <a:ext uri="{FF2B5EF4-FFF2-40B4-BE49-F238E27FC236}">
                  <a16:creationId xmlns:a16="http://schemas.microsoft.com/office/drawing/2014/main" id="{88997CF3-6104-5500-60EB-0DDACA45AE6F}"/>
                </a:ext>
              </a:extLst>
            </p:cNvPr>
            <p:cNvSpPr/>
            <p:nvPr/>
          </p:nvSpPr>
          <p:spPr>
            <a:xfrm>
              <a:off x="5391351" y="2466383"/>
              <a:ext cx="1944000" cy="75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おっきなもふもふ応援隊
（大型犬専門・路面店2店舗）</a:t>
              </a:r>
            </a:p>
          </p:txBody>
        </p:sp>
      </p:grpSp>
      <p:grpSp>
        <p:nvGrpSpPr>
          <p:cNvPr id="6" name="グループ化 5">
            <a:extLst>
              <a:ext uri="{FF2B5EF4-FFF2-40B4-BE49-F238E27FC236}">
                <a16:creationId xmlns:a16="http://schemas.microsoft.com/office/drawing/2014/main" id="{9F35CA69-48F5-2495-E72E-A4DEA4CE2B8C}"/>
              </a:ext>
            </a:extLst>
          </p:cNvPr>
          <p:cNvGrpSpPr/>
          <p:nvPr/>
        </p:nvGrpSpPr>
        <p:grpSpPr>
          <a:xfrm>
            <a:off x="3185906" y="3382270"/>
            <a:ext cx="4320000" cy="891123"/>
            <a:chOff x="3185906" y="3471891"/>
            <a:chExt cx="4320000" cy="891123"/>
          </a:xfrm>
        </p:grpSpPr>
        <p:sp>
          <p:nvSpPr>
            <p:cNvPr id="47" name="正方形/長方形 46">
              <a:extLst>
                <a:ext uri="{FF2B5EF4-FFF2-40B4-BE49-F238E27FC236}">
                  <a16:creationId xmlns:a16="http://schemas.microsoft.com/office/drawing/2014/main" id="{A3FF10E9-0F90-E0AE-DF08-37E610F0395E}"/>
                </a:ext>
              </a:extLst>
            </p:cNvPr>
            <p:cNvSpPr>
              <a:spLocks/>
            </p:cNvSpPr>
            <p:nvPr/>
          </p:nvSpPr>
          <p:spPr>
            <a:xfrm>
              <a:off x="3185906" y="3471891"/>
              <a:ext cx="4320000" cy="891123"/>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店舗付帯サービス</a:t>
              </a:r>
            </a:p>
          </p:txBody>
        </p:sp>
        <p:sp>
          <p:nvSpPr>
            <p:cNvPr id="55" name="正方形/長方形 54">
              <a:extLst>
                <a:ext uri="{FF2B5EF4-FFF2-40B4-BE49-F238E27FC236}">
                  <a16:creationId xmlns:a16="http://schemas.microsoft.com/office/drawing/2014/main" id="{D2B70813-B617-004E-DE79-557C34BE9081}"/>
                </a:ext>
              </a:extLst>
            </p:cNvPr>
            <p:cNvSpPr/>
            <p:nvPr/>
          </p:nvSpPr>
          <p:spPr>
            <a:xfrm>
              <a:off x="3362901" y="3859014"/>
              <a:ext cx="1944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トリミング
ペットホテル</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6" name="正方形/長方形 55">
              <a:extLst>
                <a:ext uri="{FF2B5EF4-FFF2-40B4-BE49-F238E27FC236}">
                  <a16:creationId xmlns:a16="http://schemas.microsoft.com/office/drawing/2014/main" id="{139CC8E2-2131-C209-701F-F234CABA26CF}"/>
                </a:ext>
              </a:extLst>
            </p:cNvPr>
            <p:cNvSpPr/>
            <p:nvPr/>
          </p:nvSpPr>
          <p:spPr>
            <a:xfrm>
              <a:off x="5391351" y="3859014"/>
              <a:ext cx="1944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ペット保険
（代理店手数料）</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grpSp>
      <p:sp>
        <p:nvSpPr>
          <p:cNvPr id="3" name="二等辺三角形 2">
            <a:extLst>
              <a:ext uri="{FF2B5EF4-FFF2-40B4-BE49-F238E27FC236}">
                <a16:creationId xmlns:a16="http://schemas.microsoft.com/office/drawing/2014/main" id="{B557BBBE-1218-1342-7E2D-CD72F7B39D2F}"/>
              </a:ext>
            </a:extLst>
          </p:cNvPr>
          <p:cNvSpPr/>
          <p:nvPr/>
        </p:nvSpPr>
        <p:spPr>
          <a:xfrm rot="5400000">
            <a:off x="7612581"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9" name="二等辺三角形 8">
            <a:extLst>
              <a:ext uri="{FF2B5EF4-FFF2-40B4-BE49-F238E27FC236}">
                <a16:creationId xmlns:a16="http://schemas.microsoft.com/office/drawing/2014/main" id="{91745C76-6270-D9EC-0862-A4072EDFED90}"/>
              </a:ext>
            </a:extLst>
          </p:cNvPr>
          <p:cNvSpPr/>
          <p:nvPr/>
        </p:nvSpPr>
        <p:spPr>
          <a:xfrm rot="5400000">
            <a:off x="2470990"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12" name="正方形/長方形 11">
            <a:extLst>
              <a:ext uri="{FF2B5EF4-FFF2-40B4-BE49-F238E27FC236}">
                <a16:creationId xmlns:a16="http://schemas.microsoft.com/office/drawing/2014/main" id="{29C58FFC-1A01-A8F0-166D-D51C0B6A2C66}"/>
              </a:ext>
            </a:extLst>
          </p:cNvPr>
          <p:cNvSpPr/>
          <p:nvPr/>
        </p:nvSpPr>
        <p:spPr>
          <a:xfrm>
            <a:off x="2933906" y="5890769"/>
            <a:ext cx="4824000" cy="103282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主要外注先</a:t>
            </a:r>
          </a:p>
        </p:txBody>
      </p:sp>
      <p:cxnSp>
        <p:nvCxnSpPr>
          <p:cNvPr id="14" name="直線コネクタ 13">
            <a:extLst>
              <a:ext uri="{FF2B5EF4-FFF2-40B4-BE49-F238E27FC236}">
                <a16:creationId xmlns:a16="http://schemas.microsoft.com/office/drawing/2014/main" id="{0FD3DDF0-DCBD-CE14-F158-968514C4BE62}"/>
              </a:ext>
            </a:extLst>
          </p:cNvPr>
          <p:cNvCxnSpPr>
            <a:cxnSpLocks/>
          </p:cNvCxnSpPr>
          <p:nvPr/>
        </p:nvCxnSpPr>
        <p:spPr>
          <a:xfrm>
            <a:off x="2933906" y="5890769"/>
            <a:ext cx="4862558"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2" name="二等辺三角形 21">
            <a:extLst>
              <a:ext uri="{FF2B5EF4-FFF2-40B4-BE49-F238E27FC236}">
                <a16:creationId xmlns:a16="http://schemas.microsoft.com/office/drawing/2014/main" id="{E5D47B62-2C55-3FE5-A074-85C434EA220E}"/>
              </a:ext>
            </a:extLst>
          </p:cNvPr>
          <p:cNvSpPr/>
          <p:nvPr/>
        </p:nvSpPr>
        <p:spPr>
          <a:xfrm>
            <a:off x="5039253" y="5569697"/>
            <a:ext cx="613305" cy="148933"/>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25" name="正方形/長方形 24">
            <a:extLst>
              <a:ext uri="{FF2B5EF4-FFF2-40B4-BE49-F238E27FC236}">
                <a16:creationId xmlns:a16="http://schemas.microsoft.com/office/drawing/2014/main" id="{54EC9FE9-AADB-81BC-6DCA-F5354A701162}"/>
              </a:ext>
            </a:extLst>
          </p:cNvPr>
          <p:cNvSpPr/>
          <p:nvPr/>
        </p:nvSpPr>
        <p:spPr>
          <a:xfrm>
            <a:off x="3170404" y="6386624"/>
            <a:ext cx="4335502" cy="53696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外注費25,058千円（2025年11月期）。トリミング・生体管理等の外部委託と推察されるが、取引先別の内訳は未受領（要確認）。</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31" name="二等辺三角形 30">
            <a:extLst>
              <a:ext uri="{FF2B5EF4-FFF2-40B4-BE49-F238E27FC236}">
                <a16:creationId xmlns:a16="http://schemas.microsoft.com/office/drawing/2014/main" id="{64633052-A79E-B34E-462F-300E6FAF9F36}"/>
              </a:ext>
            </a:extLst>
          </p:cNvPr>
          <p:cNvSpPr/>
          <p:nvPr/>
        </p:nvSpPr>
        <p:spPr>
          <a:xfrm rot="10800000">
            <a:off x="5039252" y="5720533"/>
            <a:ext cx="613305" cy="148933"/>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生体はFC本部（㈲ワンラブ）とジャペル㈱を中心に調達し、大型犬専門店の展開に伴い個人ブリーダーからの直接仕入も拡大。販売は店頭での個人向けが99%を占める（下図は撤退後の6店舗体制）。</a:t>
            </a:r>
            <a:endParaRPr lang="en-US" altLang="ja-JP" dirty="0">
              <a:latin typeface="游ゴシック" panose="020B0400000000000000" pitchFamily="50" charset="-128"/>
              <a:ea typeface="游ゴシック" panose="020B0400000000000000" pitchFamily="50" charset="-128"/>
            </a:endParaRPr>
          </a:p>
        </p:txBody>
      </p:sp>
      <p:sp>
        <p:nvSpPr>
          <p:cNvPr id="11" name="正方形/長方形 10">
            <a:extLst>
              <a:ext uri="{FF2B5EF4-FFF2-40B4-BE49-F238E27FC236}">
                <a16:creationId xmlns:a16="http://schemas.microsoft.com/office/drawing/2014/main" id="{E71AE244-435B-F519-E8F8-BFC5ADAAC61F}"/>
              </a:ext>
            </a:extLst>
          </p:cNvPr>
          <p:cNvSpPr/>
          <p:nvPr/>
        </p:nvSpPr>
        <p:spPr>
          <a:xfrm>
            <a:off x="7947797" y="3943450"/>
            <a:ext cx="2267950" cy="19473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a:lnSpc>
                <a:spcPct val="120000"/>
              </a:lnSpc>
              <a:spcAft>
                <a:spcPts val="500"/>
              </a:spcAft>
              <a:buClr>
                <a:schemeClr val="tx2"/>
              </a:buClr>
            </a:pPr>
            <a:r>
              <a:rPr kumimoji="1" lang="en-US" altLang="ja-JP" sz="800" u="sng" spc="50" dirty="0">
                <a:solidFill>
                  <a:sysClr val="windowText" lastClr="000000"/>
                </a:solidFill>
                <a:latin typeface="游ゴシック" panose="020B0400000000000000" pitchFamily="50" charset="-128"/>
                <a:ea typeface="游ゴシック" panose="020B0400000000000000" pitchFamily="50" charset="-128"/>
              </a:rPr>
              <a:t>※ペット保険（アイペット損保）は初年度に掛金の40%、次年度以降も10%が継続手数料として入る仕組み。手術特約の加入率は約75%（全国平均約50%）と高く、年間約19,000千円の保険収入があるとのヒアリング（要確認）。</a:t>
            </a:r>
            <a:endParaRPr kumimoji="1" lang="en-US" altLang="ja-JP" sz="1100" u="sng"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28" name="正方形/長方形 27">
            <a:extLst>
              <a:ext uri="{FF2B5EF4-FFF2-40B4-BE49-F238E27FC236}">
                <a16:creationId xmlns:a16="http://schemas.microsoft.com/office/drawing/2014/main" id="{9DEE9467-1895-B486-68EB-F54F2BACDAD0}"/>
              </a:ext>
            </a:extLst>
          </p:cNvPr>
          <p:cNvSpPr/>
          <p:nvPr/>
        </p:nvSpPr>
        <p:spPr>
          <a:xfrm>
            <a:off x="7418644" y="3301135"/>
            <a:ext cx="970998"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ja-JP" altLang="en-US" sz="900" dirty="0">
                <a:solidFill>
                  <a:schemeClr val="tx1"/>
                </a:solidFill>
                <a:latin typeface="游ゴシック" panose="020B0400000000000000" pitchFamily="50" charset="-128"/>
                <a:ea typeface="游ゴシック" panose="020B0400000000000000" pitchFamily="50" charset="-128"/>
              </a:rPr>
              <a:t>店頭販売
個人向け</a:t>
            </a:r>
            <a:endParaRPr kumimoji="1" lang="en-US" altLang="ja-JP" sz="1100" dirty="0">
              <a:solidFill>
                <a:schemeClr val="tx1"/>
              </a:solidFill>
              <a:latin typeface="游ゴシック" panose="020B0400000000000000" pitchFamily="50" charset="-128"/>
              <a:ea typeface="游ゴシック" panose="020B0400000000000000" pitchFamily="50" charset="-128"/>
            </a:endParaRPr>
          </a:p>
        </p:txBody>
      </p:sp>
      <p:sp>
        <p:nvSpPr>
          <p:cNvPr id="29" name="正方形/長方形 28">
            <a:extLst>
              <a:ext uri="{FF2B5EF4-FFF2-40B4-BE49-F238E27FC236}">
                <a16:creationId xmlns:a16="http://schemas.microsoft.com/office/drawing/2014/main" id="{66CEEE74-B8BD-04D5-25B2-B52A1D04D1BA}"/>
              </a:ext>
            </a:extLst>
          </p:cNvPr>
          <p:cNvSpPr/>
          <p:nvPr/>
        </p:nvSpPr>
        <p:spPr>
          <a:xfrm>
            <a:off x="297929" y="3943450"/>
            <a:ext cx="2267950" cy="19473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a:lnSpc>
                <a:spcPct val="120000"/>
              </a:lnSpc>
              <a:spcAft>
                <a:spcPts val="500"/>
              </a:spcAft>
              <a:buClr>
                <a:schemeClr val="tx2"/>
              </a:buClr>
            </a:pPr>
            <a:r>
              <a:rPr kumimoji="1" lang="en-US" altLang="ja-JP" sz="800" u="sng" spc="50" dirty="0">
                <a:solidFill>
                  <a:sysClr val="windowText" lastClr="000000"/>
                </a:solidFill>
                <a:latin typeface="游ゴシック" panose="020B0400000000000000" pitchFamily="50" charset="-128"/>
                <a:ea typeface="游ゴシック" panose="020B0400000000000000" pitchFamily="50" charset="-128"/>
              </a:rPr>
              <a:t>※FC本部（㈲ワンラブ）とはフランチャイズ契約を締結。生体・用品の仕入、店舗の転借、ロイヤリティの支払が一体となった契約構造と推察（要確認）。生体はワンラブがオークション会場で仕入れ、マイクロチップ埋込・ワクチン接種等の処理を済ませたうえで当社へ供給される。</a:t>
            </a:r>
            <a:endParaRPr kumimoji="1" lang="en-US" altLang="ja-JP" sz="1100" u="sng"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30" name="正方形/長方形 29">
            <a:extLst>
              <a:ext uri="{FF2B5EF4-FFF2-40B4-BE49-F238E27FC236}">
                <a16:creationId xmlns:a16="http://schemas.microsoft.com/office/drawing/2014/main" id="{50DBF169-4DDE-5DF4-7743-E7F49E149174}"/>
              </a:ext>
            </a:extLst>
          </p:cNvPr>
          <p:cNvSpPr/>
          <p:nvPr/>
        </p:nvSpPr>
        <p:spPr>
          <a:xfrm>
            <a:off x="2141784" y="2768889"/>
            <a:ext cx="1271716"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en-US" altLang="ja-JP" sz="900" u="sng" dirty="0">
                <a:solidFill>
                  <a:schemeClr val="tx1"/>
                </a:solidFill>
                <a:latin typeface="游ゴシック" panose="020B0400000000000000" pitchFamily="50" charset="-128"/>
                <a:ea typeface="游ゴシック" panose="020B0400000000000000" pitchFamily="50" charset="-128"/>
              </a:rPr>
              <a:t>【仕入】</a:t>
            </a:r>
          </a:p>
        </p:txBody>
      </p:sp>
      <p:sp>
        <p:nvSpPr>
          <p:cNvPr id="32" name="正方形/長方形 31">
            <a:extLst>
              <a:ext uri="{FF2B5EF4-FFF2-40B4-BE49-F238E27FC236}">
                <a16:creationId xmlns:a16="http://schemas.microsoft.com/office/drawing/2014/main" id="{66329092-D510-4728-D662-B5277E41F113}"/>
              </a:ext>
            </a:extLst>
          </p:cNvPr>
          <p:cNvSpPr/>
          <p:nvPr/>
        </p:nvSpPr>
        <p:spPr>
          <a:xfrm>
            <a:off x="7291666" y="2768889"/>
            <a:ext cx="1271716"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en-US" altLang="ja-JP" sz="900" u="sng" dirty="0">
                <a:solidFill>
                  <a:schemeClr val="tx1"/>
                </a:solidFill>
                <a:latin typeface="游ゴシック" panose="020B0400000000000000" pitchFamily="50" charset="-128"/>
                <a:ea typeface="游ゴシック" panose="020B0400000000000000" pitchFamily="50" charset="-128"/>
              </a:rPr>
              <a:t>【販売】</a:t>
            </a:r>
          </a:p>
        </p:txBody>
      </p:sp>
    </p:spTree>
    <p:extLst>
      <p:ext uri="{BB962C8B-B14F-4D97-AF65-F5344CB8AC3E}">
        <p14:creationId xmlns:p14="http://schemas.microsoft.com/office/powerpoint/2010/main" val="5383831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D0BF3-8862-6D38-707C-2714A6B2BD1A}"/>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A9FDB77-6848-BC40-4BDD-831ED9D8D792}"/>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参考｜2つの業態の比較</a:t>
            </a:r>
          </a:p>
        </p:txBody>
      </p:sp>
      <p:sp>
        <p:nvSpPr>
          <p:cNvPr id="20" name="タイトル 1">
            <a:extLst>
              <a:ext uri="{FF2B5EF4-FFF2-40B4-BE49-F238E27FC236}">
                <a16:creationId xmlns:a16="http://schemas.microsoft.com/office/drawing/2014/main" id="{A91FA19B-8223-DC47-9BD3-2C555B089FC4}"/>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sp>
        <p:nvSpPr>
          <p:cNvPr id="35" name="字幕 13">
            <a:extLst>
              <a:ext uri="{FF2B5EF4-FFF2-40B4-BE49-F238E27FC236}">
                <a16:creationId xmlns:a16="http://schemas.microsoft.com/office/drawing/2014/main" id="{95C74D80-92DD-4745-F4D1-A8B1B082B2A9}"/>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不採算2店舗の撤退を経て、FC加盟のインショップ4店舗と自社ブランドの大型犬専門店2店舗を併営。進行期はいずれの業態も店舗貢献利益を確保しており、両者は補完関係にある。</a:t>
            </a:r>
          </a:p>
        </p:txBody>
      </p:sp>
      <p:graphicFrame>
        <p:nvGraphicFramePr>
          <p:cNvPr id="2" name="表 1">
            <a:extLst>
              <a:ext uri="{FF2B5EF4-FFF2-40B4-BE49-F238E27FC236}">
                <a16:creationId xmlns:a16="http://schemas.microsoft.com/office/drawing/2014/main" id="{932E9EF1-CE56-DEC3-277F-E2D3E2F48ECE}"/>
              </a:ext>
            </a:extLst>
          </p:cNvPr>
          <p:cNvGraphicFramePr>
            <a:graphicFrameLocks noGrp="1"/>
          </p:cNvGraphicFramePr>
          <p:nvPr>
            <p:extLst>
              <p:ext uri="{D42A27DB-BD31-4B8C-83A1-F6EECF244321}">
                <p14:modId xmlns:p14="http://schemas.microsoft.com/office/powerpoint/2010/main" val="2080391777"/>
              </p:ext>
            </p:extLst>
          </p:nvPr>
        </p:nvGraphicFramePr>
        <p:xfrm>
          <a:off x="320040" y="1417320"/>
          <a:ext cx="9921240" cy="2286000"/>
        </p:xfrm>
        <a:graphic>
          <a:graphicData uri="http://schemas.openxmlformats.org/drawingml/2006/table">
            <a:tbl>
              <a:tblPr/>
              <a:tblGrid>
                <a:gridCol w="1600200">
                  <a:extLst>
                    <a:ext uri="{9D8B030D-6E8A-4147-A177-3AD203B41FA5}">
                      <a16:colId xmlns:a16="http://schemas.microsoft.com/office/drawing/2014/main" val="2226821946"/>
                    </a:ext>
                  </a:extLst>
                </a:gridCol>
                <a:gridCol w="4160520">
                  <a:extLst>
                    <a:ext uri="{9D8B030D-6E8A-4147-A177-3AD203B41FA5}">
                      <a16:colId xmlns:a16="http://schemas.microsoft.com/office/drawing/2014/main" val="394351917"/>
                    </a:ext>
                  </a:extLst>
                </a:gridCol>
                <a:gridCol w="4160520">
                  <a:extLst>
                    <a:ext uri="{9D8B030D-6E8A-4147-A177-3AD203B41FA5}">
                      <a16:colId xmlns:a16="http://schemas.microsoft.com/office/drawing/2014/main" val="2273061486"/>
                    </a:ext>
                  </a:extLst>
                </a:gridCol>
              </a:tblGrid>
              <a:tr h="237744">
                <a:tc>
                  <a:txBody>
                    <a:bodyPr/>
                    <a:lstStyle/>
                    <a:p>
                      <a:pPr algn="ctr" fontAlgn="ctr">
                        <a:lnSpc>
                          <a:spcPct val="106000"/>
                        </a:lnSpc>
                        <a:buNone/>
                      </a:pPr>
                      <a:r>
                        <a:rPr sz="1100" b="1">
                          <a:solidFill>
                            <a:srgbClr val="FFFFFF"/>
                          </a:solidFill>
                          <a:latin typeface="游ゴシック" panose="020B0400000000000000" pitchFamily="50" charset="-128"/>
                          <a:ea typeface="游ゴシック" panose="020B0400000000000000" pitchFamily="50" charset="-128"/>
                        </a:rPr>
                        <a:t>比較項目</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lnSpc>
                          <a:spcPct val="106000"/>
                        </a:lnSpc>
                        <a:buNone/>
                      </a:pPr>
                      <a:r>
                        <a:rPr sz="1100" b="1">
                          <a:solidFill>
                            <a:srgbClr val="FFFFFF"/>
                          </a:solidFill>
                          <a:latin typeface="游ゴシック" panose="020B0400000000000000" pitchFamily="50" charset="-128"/>
                          <a:ea typeface="游ゴシック" panose="020B0400000000000000" pitchFamily="50" charset="-128"/>
                        </a:rPr>
                        <a:t>ワンラブFC店（インショップ4店舗）</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8C6D1F"/>
                    </a:solidFill>
                  </a:tcPr>
                </a:tc>
                <a:tc>
                  <a:txBody>
                    <a:bodyPr/>
                    <a:lstStyle/>
                    <a:p>
                      <a:pPr algn="ctr" fontAlgn="ctr">
                        <a:lnSpc>
                          <a:spcPct val="106000"/>
                        </a:lnSpc>
                        <a:buNone/>
                      </a:pPr>
                      <a:r>
                        <a:rPr sz="1100" b="1" dirty="0" err="1">
                          <a:solidFill>
                            <a:srgbClr val="FFFFFF"/>
                          </a:solidFill>
                          <a:latin typeface="游ゴシック" panose="020B0400000000000000" pitchFamily="50" charset="-128"/>
                          <a:ea typeface="游ゴシック" panose="020B0400000000000000" pitchFamily="50" charset="-128"/>
                        </a:rPr>
                        <a:t>おっきなもふもふ応援隊（大型犬専門・路面店2店舗）</a:t>
                      </a:r>
                      <a:endParaRPr sz="1100" b="1" dirty="0">
                        <a:solidFill>
                          <a:srgbClr val="FFFFFF"/>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5688F"/>
                    </a:solidFill>
                  </a:tcPr>
                </a:tc>
                <a:extLst>
                  <a:ext uri="{0D108BD9-81ED-4DB2-BD59-A6C34878D82A}">
                    <a16:rowId xmlns:a16="http://schemas.microsoft.com/office/drawing/2014/main" val="2136583368"/>
                  </a:ext>
                </a:extLst>
              </a:tr>
              <a:tr h="256032">
                <a:tc>
                  <a:txBody>
                    <a:bodyPr/>
                    <a:lstStyle/>
                    <a:p>
                      <a:pPr algn="ctr" fontAlgn="b">
                        <a:lnSpc>
                          <a:spcPct val="106000"/>
                        </a:lnSpc>
                        <a:buNone/>
                      </a:pPr>
                      <a:r>
                        <a:rPr sz="1000" b="1" dirty="0" err="1">
                          <a:solidFill>
                            <a:srgbClr val="1F3864"/>
                          </a:solidFill>
                          <a:latin typeface="游ゴシック" panose="020B0400000000000000" pitchFamily="50" charset="-128"/>
                          <a:ea typeface="游ゴシック" panose="020B0400000000000000" pitchFamily="50" charset="-128"/>
                        </a:rPr>
                        <a:t>店舗数</a:t>
                      </a:r>
                      <a:endParaRPr sz="1000" b="1" dirty="0">
                        <a:solidFill>
                          <a:srgbClr val="1F3864"/>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4店舗（三重県3・愛知県1）　※2026年初に岐阜県2店舗を撤退</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2店舗（岐阜県1・大阪府1）</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1710604957"/>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売上高（進行期7か月）</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136,133千円（構成比48.8%）</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118,470千円（構成比42.4%）</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4169350144"/>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店舗貢献利益（同）</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47,760千円（売上高比35.1%）</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53,058千円（売上高比44.8%）</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4169350144"/>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出店形態</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dirty="0">
                          <a:solidFill>
                            <a:srgbClr val="202020"/>
                          </a:solidFill>
                          <a:latin typeface="游ゴシック" panose="020B0400000000000000" pitchFamily="50" charset="-128"/>
                          <a:ea typeface="游ゴシック" panose="020B0400000000000000" pitchFamily="50" charset="-128"/>
                        </a:rPr>
                        <a:t>ホームセンター等の店内インショップ。FC本部から転借</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路面店・大型商業施設内の独立区画（395〜421㎡）。当社が直接賃借</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1755084407"/>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店舗使用料</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dirty="0" err="1">
                          <a:solidFill>
                            <a:srgbClr val="202020"/>
                          </a:solidFill>
                          <a:latin typeface="游ゴシック" panose="020B0400000000000000" pitchFamily="50" charset="-128"/>
                          <a:ea typeface="游ゴシック" panose="020B0400000000000000" pitchFamily="50" charset="-128"/>
                        </a:rPr>
                        <a:t>売上歩合（11〜15%）。販管費上は「ロイヤリティ」に計上</a:t>
                      </a:r>
                      <a:endParaRPr sz="1000" b="0" dirty="0">
                        <a:solidFill>
                          <a:srgbClr val="202020"/>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固定賃料（月額640〜920千円）。地代家賃に計上</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3954073247"/>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取扱い・顧客層</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小型犬・猫中心の一般的な品揃え。商業施設の集客に依存</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大型犬に特化。高所得層が中心で単価・保険加入率が高い</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2137578284"/>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足元の状況</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不採算2店舗を撤退し4店舗体制。伊勢・久居・緑の3店は高い収益性</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岐阜は開店4期目、大阪は3期目。2店舗で店舗貢献利益の52.6%</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870541768"/>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主な論点</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FC契約・転借契約にCOC条項あり。実行時の届出・協議が必要</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dirty="0" err="1">
                          <a:solidFill>
                            <a:srgbClr val="202020"/>
                          </a:solidFill>
                          <a:latin typeface="游ゴシック" panose="020B0400000000000000" pitchFamily="50" charset="-128"/>
                          <a:ea typeface="游ゴシック" panose="020B0400000000000000" pitchFamily="50" charset="-128"/>
                        </a:rPr>
                        <a:t>定期建物賃貸借で更新なし（岐阜2033年1月／大阪2027年11月）</a:t>
                      </a:r>
                      <a:endParaRPr sz="1000" b="0" dirty="0">
                        <a:solidFill>
                          <a:srgbClr val="202020"/>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2706507175"/>
                  </a:ext>
                </a:extLst>
              </a:tr>
            </a:tbl>
          </a:graphicData>
        </a:graphic>
      </p:graphicFrame>
      <p:sp>
        <p:nvSpPr>
          <p:cNvPr id="3" name="Rounded Rectangle 35">
            <a:extLst>
              <a:ext uri="{FF2B5EF4-FFF2-40B4-BE49-F238E27FC236}">
                <a16:creationId xmlns:a16="http://schemas.microsoft.com/office/drawing/2014/main" id="{C462A77D-B33F-B820-3A72-13CB97FB6487}"/>
              </a:ext>
            </a:extLst>
          </p:cNvPr>
          <p:cNvSpPr/>
          <p:nvPr/>
        </p:nvSpPr>
        <p:spPr>
          <a:xfrm>
            <a:off x="320040" y="4224528"/>
            <a:ext cx="9921240" cy="1700784"/>
          </a:xfrm>
          <a:prstGeom prst="roundRect">
            <a:avLst>
              <a:gd name="adj" fmla="val 3500"/>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5" name="Rounded Rectangle 36">
            <a:extLst>
              <a:ext uri="{FF2B5EF4-FFF2-40B4-BE49-F238E27FC236}">
                <a16:creationId xmlns:a16="http://schemas.microsoft.com/office/drawing/2014/main" id="{706C6035-2BDA-E9D4-635E-4A1FCC9623D6}"/>
              </a:ext>
            </a:extLst>
          </p:cNvPr>
          <p:cNvSpPr/>
          <p:nvPr/>
        </p:nvSpPr>
        <p:spPr>
          <a:xfrm>
            <a:off x="320040" y="4224528"/>
            <a:ext cx="9921240" cy="29260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6" name="TextBox 37">
            <a:extLst>
              <a:ext uri="{FF2B5EF4-FFF2-40B4-BE49-F238E27FC236}">
                <a16:creationId xmlns:a16="http://schemas.microsoft.com/office/drawing/2014/main" id="{E16B6D57-F147-9916-FC23-D32A1089191A}"/>
              </a:ext>
            </a:extLst>
          </p:cNvPr>
          <p:cNvSpPr txBox="1"/>
          <p:nvPr/>
        </p:nvSpPr>
        <p:spPr>
          <a:xfrm>
            <a:off x="484632" y="4273241"/>
            <a:ext cx="9592056" cy="195182"/>
          </a:xfrm>
          <a:prstGeom prst="rect">
            <a:avLst/>
          </a:prstGeom>
          <a:noFill/>
        </p:spPr>
        <p:txBody>
          <a:bodyPr wrap="square" lIns="0" tIns="0" rIns="0" bIns="0" anchor="ctr">
            <a:spAutoFit/>
          </a:bodyPr>
          <a:lstStyle/>
          <a:p>
            <a:pPr algn="l">
              <a:lnSpc>
                <a:spcPct val="110000"/>
              </a:lnSpc>
            </a:pPr>
            <a:r>
              <a:rPr sz="1200" b="1">
                <a:solidFill>
                  <a:srgbClr val="FFFFFF"/>
                </a:solidFill>
                <a:latin typeface="游ゴシック" panose="020B0400000000000000" pitchFamily="50" charset="-128"/>
                <a:ea typeface="游ゴシック" panose="020B0400000000000000" pitchFamily="50" charset="-128"/>
              </a:rPr>
              <a:t>同社における位置づけ　―　FCの安定基盤 × 自社ブランドの成長エンジン</a:t>
            </a:r>
          </a:p>
        </p:txBody>
      </p:sp>
      <p:sp>
        <p:nvSpPr>
          <p:cNvPr id="7" name="Rounded Rectangle 38">
            <a:extLst>
              <a:ext uri="{FF2B5EF4-FFF2-40B4-BE49-F238E27FC236}">
                <a16:creationId xmlns:a16="http://schemas.microsoft.com/office/drawing/2014/main" id="{96FF3115-4F8F-C6E7-30A2-3681C1AE751C}"/>
              </a:ext>
            </a:extLst>
          </p:cNvPr>
          <p:cNvSpPr/>
          <p:nvPr/>
        </p:nvSpPr>
        <p:spPr>
          <a:xfrm>
            <a:off x="484632" y="4590288"/>
            <a:ext cx="91440" cy="201168"/>
          </a:xfrm>
          <a:prstGeom prst="roundRect">
            <a:avLst>
              <a:gd name="adj" fmla="val 30000"/>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1" name="TextBox 39">
            <a:extLst>
              <a:ext uri="{FF2B5EF4-FFF2-40B4-BE49-F238E27FC236}">
                <a16:creationId xmlns:a16="http://schemas.microsoft.com/office/drawing/2014/main" id="{90AC6A11-C144-6C79-D1B8-92EA1FC4EB1C}"/>
              </a:ext>
            </a:extLst>
          </p:cNvPr>
          <p:cNvSpPr txBox="1"/>
          <p:nvPr/>
        </p:nvSpPr>
        <p:spPr>
          <a:xfrm>
            <a:off x="649224" y="4610100"/>
            <a:ext cx="4549140" cy="170816"/>
          </a:xfrm>
          <a:prstGeom prst="rect">
            <a:avLst/>
          </a:prstGeom>
          <a:noFill/>
        </p:spPr>
        <p:txBody>
          <a:bodyPr wrap="square" lIns="0" tIns="0" rIns="0" bIns="0" anchor="t">
            <a:spAutoFit/>
          </a:bodyPr>
          <a:lstStyle/>
          <a:p>
            <a:pPr algn="l">
              <a:lnSpc>
                <a:spcPct val="110000"/>
              </a:lnSpc>
            </a:pPr>
            <a:r>
              <a:rPr sz="1050" b="1" dirty="0" err="1">
                <a:solidFill>
                  <a:srgbClr val="8C6D1F"/>
                </a:solidFill>
                <a:latin typeface="游ゴシック" panose="020B0400000000000000" pitchFamily="50" charset="-128"/>
                <a:ea typeface="游ゴシック" panose="020B0400000000000000" pitchFamily="50" charset="-128"/>
              </a:rPr>
              <a:t>ワンラブFC店（インショップ4店舗）</a:t>
            </a:r>
            <a:endParaRPr sz="1050" b="1" dirty="0">
              <a:solidFill>
                <a:srgbClr val="8C6D1F"/>
              </a:solidFill>
              <a:latin typeface="游ゴシック" panose="020B0400000000000000" pitchFamily="50" charset="-128"/>
              <a:ea typeface="游ゴシック" panose="020B0400000000000000" pitchFamily="50" charset="-128"/>
            </a:endParaRPr>
          </a:p>
        </p:txBody>
      </p:sp>
      <p:sp>
        <p:nvSpPr>
          <p:cNvPr id="12" name="Oval 40">
            <a:extLst>
              <a:ext uri="{FF2B5EF4-FFF2-40B4-BE49-F238E27FC236}">
                <a16:creationId xmlns:a16="http://schemas.microsoft.com/office/drawing/2014/main" id="{8DEB51BE-3680-D1AE-7919-C594307A4E19}"/>
              </a:ext>
            </a:extLst>
          </p:cNvPr>
          <p:cNvSpPr/>
          <p:nvPr/>
        </p:nvSpPr>
        <p:spPr>
          <a:xfrm>
            <a:off x="502920" y="4860036"/>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41">
            <a:extLst>
              <a:ext uri="{FF2B5EF4-FFF2-40B4-BE49-F238E27FC236}">
                <a16:creationId xmlns:a16="http://schemas.microsoft.com/office/drawing/2014/main" id="{57E21949-3E46-F996-C081-2DF194FDCB48}"/>
              </a:ext>
            </a:extLst>
          </p:cNvPr>
          <p:cNvSpPr txBox="1"/>
          <p:nvPr/>
        </p:nvSpPr>
        <p:spPr>
          <a:xfrm>
            <a:off x="685800" y="4828032"/>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FC本部の仕入・販促ノウハウを活用した安定運営</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16" name="Oval 42">
            <a:extLst>
              <a:ext uri="{FF2B5EF4-FFF2-40B4-BE49-F238E27FC236}">
                <a16:creationId xmlns:a16="http://schemas.microsoft.com/office/drawing/2014/main" id="{98E069C5-603E-A4BF-8389-F6BAFCA19D59}"/>
              </a:ext>
            </a:extLst>
          </p:cNvPr>
          <p:cNvSpPr/>
          <p:nvPr/>
        </p:nvSpPr>
        <p:spPr>
          <a:xfrm>
            <a:off x="502920" y="5074920"/>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9" name="TextBox 43">
            <a:extLst>
              <a:ext uri="{FF2B5EF4-FFF2-40B4-BE49-F238E27FC236}">
                <a16:creationId xmlns:a16="http://schemas.microsoft.com/office/drawing/2014/main" id="{EEE56CA0-E2F3-17C4-59B0-604E31992743}"/>
              </a:ext>
            </a:extLst>
          </p:cNvPr>
          <p:cNvSpPr txBox="1"/>
          <p:nvPr/>
        </p:nvSpPr>
        <p:spPr>
          <a:xfrm>
            <a:off x="685800" y="5042916"/>
            <a:ext cx="4494275" cy="146771"/>
          </a:xfrm>
          <a:prstGeom prst="rect">
            <a:avLst/>
          </a:prstGeom>
          <a:noFill/>
        </p:spPr>
        <p:txBody>
          <a:bodyPr wrap="square" lIns="0" tIns="0" rIns="0" bIns="0" anchor="t">
            <a:spAutoFit/>
          </a:bodyPr>
          <a:lstStyle/>
          <a:p>
            <a:pPr algn="l">
              <a:lnSpc>
                <a:spcPct val="110000"/>
              </a:lnSpc>
            </a:pPr>
            <a:r>
              <a:rPr sz="900" b="0">
                <a:solidFill>
                  <a:srgbClr val="202020"/>
                </a:solidFill>
                <a:latin typeface="游ゴシック" panose="020B0400000000000000" pitchFamily="50" charset="-128"/>
                <a:ea typeface="游ゴシック" panose="020B0400000000000000" pitchFamily="50" charset="-128"/>
              </a:rPr>
              <a:t>歩合賃料のため固定費負担が小さく、損益分岐点が低い</a:t>
            </a:r>
          </a:p>
        </p:txBody>
      </p:sp>
      <p:sp>
        <p:nvSpPr>
          <p:cNvPr id="24" name="Oval 44">
            <a:extLst>
              <a:ext uri="{FF2B5EF4-FFF2-40B4-BE49-F238E27FC236}">
                <a16:creationId xmlns:a16="http://schemas.microsoft.com/office/drawing/2014/main" id="{B34C533D-8263-968E-559C-2F326720C8BB}"/>
              </a:ext>
            </a:extLst>
          </p:cNvPr>
          <p:cNvSpPr/>
          <p:nvPr/>
        </p:nvSpPr>
        <p:spPr>
          <a:xfrm>
            <a:off x="502920" y="5289804"/>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5" name="TextBox 45">
            <a:extLst>
              <a:ext uri="{FF2B5EF4-FFF2-40B4-BE49-F238E27FC236}">
                <a16:creationId xmlns:a16="http://schemas.microsoft.com/office/drawing/2014/main" id="{E2A879C3-4FFC-AF48-94E4-CE9E288EF308}"/>
              </a:ext>
            </a:extLst>
          </p:cNvPr>
          <p:cNvSpPr txBox="1"/>
          <p:nvPr/>
        </p:nvSpPr>
        <p:spPr>
          <a:xfrm>
            <a:off x="685800" y="5257800"/>
            <a:ext cx="4494275" cy="146771"/>
          </a:xfrm>
          <a:prstGeom prst="rect">
            <a:avLst/>
          </a:prstGeom>
          <a:noFill/>
        </p:spPr>
        <p:txBody>
          <a:bodyPr wrap="square" lIns="0" tIns="0" rIns="0" bIns="0" anchor="t">
            <a:spAutoFit/>
          </a:bodyPr>
          <a:lstStyle/>
          <a:p>
            <a:pPr algn="l">
              <a:lnSpc>
                <a:spcPct val="110000"/>
              </a:lnSpc>
            </a:pPr>
            <a:r>
              <a:rPr sz="900" b="0">
                <a:solidFill>
                  <a:srgbClr val="202020"/>
                </a:solidFill>
                <a:latin typeface="游ゴシック" panose="020B0400000000000000" pitchFamily="50" charset="-128"/>
                <a:ea typeface="游ゴシック" panose="020B0400000000000000" pitchFamily="50" charset="-128"/>
              </a:rPr>
              <a:t>商業施設の集客に依存し、売上が施設の動向に左右される</a:t>
            </a:r>
          </a:p>
        </p:txBody>
      </p:sp>
      <p:sp>
        <p:nvSpPr>
          <p:cNvPr id="26" name="Rounded Rectangle 46">
            <a:extLst>
              <a:ext uri="{FF2B5EF4-FFF2-40B4-BE49-F238E27FC236}">
                <a16:creationId xmlns:a16="http://schemas.microsoft.com/office/drawing/2014/main" id="{5335FD71-18A3-F824-F503-8F2853A254E3}"/>
              </a:ext>
            </a:extLst>
          </p:cNvPr>
          <p:cNvSpPr/>
          <p:nvPr/>
        </p:nvSpPr>
        <p:spPr>
          <a:xfrm>
            <a:off x="5362955" y="4590288"/>
            <a:ext cx="91440" cy="201168"/>
          </a:xfrm>
          <a:prstGeom prst="roundRect">
            <a:avLst>
              <a:gd name="adj" fmla="val 30000"/>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7" name="TextBox 47">
            <a:extLst>
              <a:ext uri="{FF2B5EF4-FFF2-40B4-BE49-F238E27FC236}">
                <a16:creationId xmlns:a16="http://schemas.microsoft.com/office/drawing/2014/main" id="{FBC57924-8675-5547-DABC-25828DD8CC81}"/>
              </a:ext>
            </a:extLst>
          </p:cNvPr>
          <p:cNvSpPr txBox="1"/>
          <p:nvPr/>
        </p:nvSpPr>
        <p:spPr>
          <a:xfrm>
            <a:off x="5527547" y="4604004"/>
            <a:ext cx="4549140" cy="170816"/>
          </a:xfrm>
          <a:prstGeom prst="rect">
            <a:avLst/>
          </a:prstGeom>
          <a:noFill/>
        </p:spPr>
        <p:txBody>
          <a:bodyPr wrap="square" lIns="0" tIns="0" rIns="0" bIns="0" anchor="t">
            <a:spAutoFit/>
          </a:bodyPr>
          <a:lstStyle/>
          <a:p>
            <a:pPr algn="l">
              <a:lnSpc>
                <a:spcPct val="110000"/>
              </a:lnSpc>
            </a:pPr>
            <a:r>
              <a:rPr sz="1050" b="1">
                <a:solidFill>
                  <a:srgbClr val="45688F"/>
                </a:solidFill>
                <a:latin typeface="游ゴシック" panose="020B0400000000000000" pitchFamily="50" charset="-128"/>
                <a:ea typeface="游ゴシック" panose="020B0400000000000000" pitchFamily="50" charset="-128"/>
              </a:rPr>
              <a:t>おっきなもふもふ応援隊（大型犬専門・路面店2店舗）</a:t>
            </a:r>
          </a:p>
        </p:txBody>
      </p:sp>
      <p:sp>
        <p:nvSpPr>
          <p:cNvPr id="28" name="Oval 48">
            <a:extLst>
              <a:ext uri="{FF2B5EF4-FFF2-40B4-BE49-F238E27FC236}">
                <a16:creationId xmlns:a16="http://schemas.microsoft.com/office/drawing/2014/main" id="{8F31C366-DA0F-D824-F8E8-446A91205D67}"/>
              </a:ext>
            </a:extLst>
          </p:cNvPr>
          <p:cNvSpPr/>
          <p:nvPr/>
        </p:nvSpPr>
        <p:spPr>
          <a:xfrm>
            <a:off x="5381243" y="4860036"/>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9" name="TextBox 49">
            <a:extLst>
              <a:ext uri="{FF2B5EF4-FFF2-40B4-BE49-F238E27FC236}">
                <a16:creationId xmlns:a16="http://schemas.microsoft.com/office/drawing/2014/main" id="{E74629B7-9A67-611B-D956-1E6B1F4A5977}"/>
              </a:ext>
            </a:extLst>
          </p:cNvPr>
          <p:cNvSpPr txBox="1"/>
          <p:nvPr/>
        </p:nvSpPr>
        <p:spPr>
          <a:xfrm>
            <a:off x="5564123" y="4828032"/>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大型犬専門という差別化により価格競争を回避</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0" name="Oval 50">
            <a:extLst>
              <a:ext uri="{FF2B5EF4-FFF2-40B4-BE49-F238E27FC236}">
                <a16:creationId xmlns:a16="http://schemas.microsoft.com/office/drawing/2014/main" id="{720DEF93-6A39-F6DC-F0BF-83BF83B2F8EA}"/>
              </a:ext>
            </a:extLst>
          </p:cNvPr>
          <p:cNvSpPr/>
          <p:nvPr/>
        </p:nvSpPr>
        <p:spPr>
          <a:xfrm>
            <a:off x="5381243" y="5074920"/>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1" name="TextBox 51">
            <a:extLst>
              <a:ext uri="{FF2B5EF4-FFF2-40B4-BE49-F238E27FC236}">
                <a16:creationId xmlns:a16="http://schemas.microsoft.com/office/drawing/2014/main" id="{026AD4A1-8945-559A-A69C-1FECA8EFD7B7}"/>
              </a:ext>
            </a:extLst>
          </p:cNvPr>
          <p:cNvSpPr txBox="1"/>
          <p:nvPr/>
        </p:nvSpPr>
        <p:spPr>
          <a:xfrm>
            <a:off x="5564123" y="5042916"/>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固定賃料のため損益分岐点は高いが、超過分は利益に直結</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2" name="Oval 52">
            <a:extLst>
              <a:ext uri="{FF2B5EF4-FFF2-40B4-BE49-F238E27FC236}">
                <a16:creationId xmlns:a16="http://schemas.microsoft.com/office/drawing/2014/main" id="{CA2BB05A-7128-4211-CE64-94054AE15BEF}"/>
              </a:ext>
            </a:extLst>
          </p:cNvPr>
          <p:cNvSpPr/>
          <p:nvPr/>
        </p:nvSpPr>
        <p:spPr>
          <a:xfrm>
            <a:off x="5381243" y="5289804"/>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3" name="TextBox 53">
            <a:extLst>
              <a:ext uri="{FF2B5EF4-FFF2-40B4-BE49-F238E27FC236}">
                <a16:creationId xmlns:a16="http://schemas.microsoft.com/office/drawing/2014/main" id="{318FBD4F-0805-AA2E-CE43-1D1CC4B21896}"/>
              </a:ext>
            </a:extLst>
          </p:cNvPr>
          <p:cNvSpPr txBox="1"/>
          <p:nvPr/>
        </p:nvSpPr>
        <p:spPr>
          <a:xfrm>
            <a:off x="5564123" y="5257800"/>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ワンラブFC加盟店で大型犬専門店を運営するのは当社のみ</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4" name="Rounded Rectangle 54">
            <a:extLst>
              <a:ext uri="{FF2B5EF4-FFF2-40B4-BE49-F238E27FC236}">
                <a16:creationId xmlns:a16="http://schemas.microsoft.com/office/drawing/2014/main" id="{E150036B-D23E-794A-D996-32B9511B5CC3}"/>
              </a:ext>
            </a:extLst>
          </p:cNvPr>
          <p:cNvSpPr/>
          <p:nvPr/>
        </p:nvSpPr>
        <p:spPr>
          <a:xfrm>
            <a:off x="484632" y="5468112"/>
            <a:ext cx="9592056" cy="402336"/>
          </a:xfrm>
          <a:prstGeom prst="roundRect">
            <a:avLst>
              <a:gd name="adj" fmla="val 10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6" name="TextBox 55">
            <a:extLst>
              <a:ext uri="{FF2B5EF4-FFF2-40B4-BE49-F238E27FC236}">
                <a16:creationId xmlns:a16="http://schemas.microsoft.com/office/drawing/2014/main" id="{36EBAA10-3303-6F78-F802-F25ABD66B499}"/>
              </a:ext>
            </a:extLst>
          </p:cNvPr>
          <p:cNvSpPr txBox="1"/>
          <p:nvPr/>
        </p:nvSpPr>
        <p:spPr>
          <a:xfrm>
            <a:off x="630936" y="5514879"/>
            <a:ext cx="9299448" cy="308802"/>
          </a:xfrm>
          <a:prstGeom prst="rect">
            <a:avLst/>
          </a:prstGeom>
          <a:noFill/>
        </p:spPr>
        <p:txBody>
          <a:bodyPr wrap="square" lIns="0" tIns="0" rIns="0" bIns="0" anchor="ctr">
            <a:spAutoFit/>
          </a:bodyPr>
          <a:lstStyle/>
          <a:p>
            <a:pPr algn="l">
              <a:lnSpc>
                <a:spcPct val="114000"/>
              </a:lnSpc>
            </a:pPr>
            <a:r>
              <a:rPr sz="900" b="0" dirty="0">
                <a:solidFill>
                  <a:srgbClr val="1F3864"/>
                </a:solidFill>
                <a:latin typeface="游ゴシック" panose="020B0400000000000000" pitchFamily="50" charset="-128"/>
                <a:ea typeface="游ゴシック" panose="020B0400000000000000" pitchFamily="50" charset="-128"/>
              </a:rPr>
              <a:t>2つの業態は代替関係ではなく、FC店で安定的な基盤を確保しつつ、自社ブランドの大型犬専門店で成長を取りに行く補完関係にある。進行期は不採算のFC店2店舗を撤退し、残る4店舗はいずれも店舗貢献利益を確保している。</a:t>
            </a:r>
          </a:p>
        </p:txBody>
      </p:sp>
      <p:sp>
        <p:nvSpPr>
          <p:cNvPr id="37" name="Rounded Rectangle 56">
            <a:extLst>
              <a:ext uri="{FF2B5EF4-FFF2-40B4-BE49-F238E27FC236}">
                <a16:creationId xmlns:a16="http://schemas.microsoft.com/office/drawing/2014/main" id="{83C69019-50CA-ED75-8099-0B4963A8A8BF}"/>
              </a:ext>
            </a:extLst>
          </p:cNvPr>
          <p:cNvSpPr/>
          <p:nvPr/>
        </p:nvSpPr>
        <p:spPr>
          <a:xfrm>
            <a:off x="320040" y="6053328"/>
            <a:ext cx="9921240" cy="841248"/>
          </a:xfrm>
          <a:prstGeom prst="roundRect">
            <a:avLst>
              <a:gd name="adj" fmla="val 6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8" name="Rounded Rectangle 57">
            <a:extLst>
              <a:ext uri="{FF2B5EF4-FFF2-40B4-BE49-F238E27FC236}">
                <a16:creationId xmlns:a16="http://schemas.microsoft.com/office/drawing/2014/main" id="{66FA17BA-D5DF-6C2E-C518-8FB15E1075A8}"/>
              </a:ext>
            </a:extLst>
          </p:cNvPr>
          <p:cNvSpPr/>
          <p:nvPr/>
        </p:nvSpPr>
        <p:spPr>
          <a:xfrm>
            <a:off x="320040" y="6053328"/>
            <a:ext cx="1417320" cy="841248"/>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9" name="Rectangle 58">
            <a:extLst>
              <a:ext uri="{FF2B5EF4-FFF2-40B4-BE49-F238E27FC236}">
                <a16:creationId xmlns:a16="http://schemas.microsoft.com/office/drawing/2014/main" id="{2B3003D2-9472-9753-B838-77024EE065B8}"/>
              </a:ext>
            </a:extLst>
          </p:cNvPr>
          <p:cNvSpPr/>
          <p:nvPr/>
        </p:nvSpPr>
        <p:spPr>
          <a:xfrm>
            <a:off x="1600200" y="6053328"/>
            <a:ext cx="137160" cy="84124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40" name="TextBox 59">
            <a:extLst>
              <a:ext uri="{FF2B5EF4-FFF2-40B4-BE49-F238E27FC236}">
                <a16:creationId xmlns:a16="http://schemas.microsoft.com/office/drawing/2014/main" id="{8D96FFF6-6050-9068-0324-2359CE35C74F}"/>
              </a:ext>
            </a:extLst>
          </p:cNvPr>
          <p:cNvSpPr txBox="1"/>
          <p:nvPr/>
        </p:nvSpPr>
        <p:spPr>
          <a:xfrm>
            <a:off x="411479" y="6368218"/>
            <a:ext cx="1271016" cy="211468"/>
          </a:xfrm>
          <a:prstGeom prst="rect">
            <a:avLst/>
          </a:prstGeom>
          <a:noFill/>
        </p:spPr>
        <p:txBody>
          <a:bodyPr wrap="square" lIns="0" tIns="0" rIns="0" bIns="0" anchor="ctr">
            <a:spAutoFit/>
          </a:bodyPr>
          <a:lstStyle/>
          <a:p>
            <a:pPr algn="ctr">
              <a:lnSpc>
                <a:spcPct val="110000"/>
              </a:lnSpc>
            </a:pPr>
            <a:r>
              <a:rPr sz="1300" b="1">
                <a:solidFill>
                  <a:srgbClr val="FFFFFF"/>
                </a:solidFill>
                <a:latin typeface="游ゴシック" panose="020B0400000000000000" pitchFamily="50" charset="-128"/>
                <a:ea typeface="游ゴシック" panose="020B0400000000000000" pitchFamily="50" charset="-128"/>
              </a:rPr>
              <a:t>ポイント</a:t>
            </a:r>
          </a:p>
        </p:txBody>
      </p:sp>
      <p:sp>
        <p:nvSpPr>
          <p:cNvPr id="41" name="Oval 60">
            <a:extLst>
              <a:ext uri="{FF2B5EF4-FFF2-40B4-BE49-F238E27FC236}">
                <a16:creationId xmlns:a16="http://schemas.microsoft.com/office/drawing/2014/main" id="{8016429C-7314-45F3-F0A9-6686F6C91103}"/>
              </a:ext>
            </a:extLst>
          </p:cNvPr>
          <p:cNvSpPr/>
          <p:nvPr/>
        </p:nvSpPr>
        <p:spPr>
          <a:xfrm>
            <a:off x="188366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2" name="TextBox 61">
            <a:extLst>
              <a:ext uri="{FF2B5EF4-FFF2-40B4-BE49-F238E27FC236}">
                <a16:creationId xmlns:a16="http://schemas.microsoft.com/office/drawing/2014/main" id="{C35530C5-E555-7AE5-C9FF-0747E7314549}"/>
              </a:ext>
            </a:extLst>
          </p:cNvPr>
          <p:cNvSpPr txBox="1"/>
          <p:nvPr/>
        </p:nvSpPr>
        <p:spPr>
          <a:xfrm>
            <a:off x="219456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FC店4店舗の店舗貢献利益率は35.1%。
歩合賃料で固定費負担が軽い</a:t>
            </a:r>
          </a:p>
        </p:txBody>
      </p:sp>
      <p:sp>
        <p:nvSpPr>
          <p:cNvPr id="43" name="Oval 62">
            <a:extLst>
              <a:ext uri="{FF2B5EF4-FFF2-40B4-BE49-F238E27FC236}">
                <a16:creationId xmlns:a16="http://schemas.microsoft.com/office/drawing/2014/main" id="{BD6F58C2-3984-2CA7-FF48-CAFEA40424CA}"/>
              </a:ext>
            </a:extLst>
          </p:cNvPr>
          <p:cNvSpPr/>
          <p:nvPr/>
        </p:nvSpPr>
        <p:spPr>
          <a:xfrm>
            <a:off x="471830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4" name="TextBox 63">
            <a:extLst>
              <a:ext uri="{FF2B5EF4-FFF2-40B4-BE49-F238E27FC236}">
                <a16:creationId xmlns:a16="http://schemas.microsoft.com/office/drawing/2014/main" id="{81B3B557-23D3-8F18-2F97-30A34D909D0B}"/>
              </a:ext>
            </a:extLst>
          </p:cNvPr>
          <p:cNvSpPr txBox="1"/>
          <p:nvPr/>
        </p:nvSpPr>
        <p:spPr>
          <a:xfrm>
            <a:off x="502920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大型犬専門2店舗の店舗貢献利益率は
44.8%と高く、成長の牽引役</a:t>
            </a:r>
          </a:p>
        </p:txBody>
      </p:sp>
      <p:cxnSp>
        <p:nvCxnSpPr>
          <p:cNvPr id="45" name="Connector 64">
            <a:extLst>
              <a:ext uri="{FF2B5EF4-FFF2-40B4-BE49-F238E27FC236}">
                <a16:creationId xmlns:a16="http://schemas.microsoft.com/office/drawing/2014/main" id="{5E5E6452-2E67-5655-FF63-784F5F275FE4}"/>
              </a:ext>
            </a:extLst>
          </p:cNvPr>
          <p:cNvCxnSpPr/>
          <p:nvPr/>
        </p:nvCxnSpPr>
        <p:spPr>
          <a:xfrm>
            <a:off x="4572000" y="6172200"/>
            <a:ext cx="0" cy="603504"/>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
        <p:nvSpPr>
          <p:cNvPr id="46" name="Oval 65">
            <a:extLst>
              <a:ext uri="{FF2B5EF4-FFF2-40B4-BE49-F238E27FC236}">
                <a16:creationId xmlns:a16="http://schemas.microsoft.com/office/drawing/2014/main" id="{7366481F-2D76-A1AC-9531-E59FF08F3A2F}"/>
              </a:ext>
            </a:extLst>
          </p:cNvPr>
          <p:cNvSpPr/>
          <p:nvPr/>
        </p:nvSpPr>
        <p:spPr>
          <a:xfrm>
            <a:off x="755294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7" name="TextBox 66">
            <a:extLst>
              <a:ext uri="{FF2B5EF4-FFF2-40B4-BE49-F238E27FC236}">
                <a16:creationId xmlns:a16="http://schemas.microsoft.com/office/drawing/2014/main" id="{C943CBED-9BB5-78AC-8AAA-C3B6EC64B0C8}"/>
              </a:ext>
            </a:extLst>
          </p:cNvPr>
          <p:cNvSpPr txBox="1"/>
          <p:nvPr/>
        </p:nvSpPr>
        <p:spPr>
          <a:xfrm>
            <a:off x="786384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ワンラブFC加盟店で大型犬専門店を
運営するのは当社のみ（ヒアリング）</a:t>
            </a:r>
          </a:p>
        </p:txBody>
      </p:sp>
      <p:cxnSp>
        <p:nvCxnSpPr>
          <p:cNvPr id="48" name="Connector 67">
            <a:extLst>
              <a:ext uri="{FF2B5EF4-FFF2-40B4-BE49-F238E27FC236}">
                <a16:creationId xmlns:a16="http://schemas.microsoft.com/office/drawing/2014/main" id="{2AD97C75-BC44-BF99-6DCE-43556C2B9203}"/>
              </a:ext>
            </a:extLst>
          </p:cNvPr>
          <p:cNvCxnSpPr/>
          <p:nvPr/>
        </p:nvCxnSpPr>
        <p:spPr>
          <a:xfrm>
            <a:off x="7406640" y="6172200"/>
            <a:ext cx="0" cy="603504"/>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14113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371DA-C25D-7F01-0C28-2B43B1B33564}"/>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7412CA0-F3EF-4734-CC49-C786E0300145}"/>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店舗別売上高（3期推移＋進行期）</a:t>
            </a:r>
          </a:p>
        </p:txBody>
      </p:sp>
      <p:sp>
        <p:nvSpPr>
          <p:cNvPr id="20" name="タイトル 1">
            <a:extLst>
              <a:ext uri="{FF2B5EF4-FFF2-40B4-BE49-F238E27FC236}">
                <a16:creationId xmlns:a16="http://schemas.microsoft.com/office/drawing/2014/main" id="{49CDD4F0-E0CB-9196-B467-1A9DD0FE74A5}"/>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sp>
        <p:nvSpPr>
          <p:cNvPr id="35" name="字幕 13">
            <a:extLst>
              <a:ext uri="{FF2B5EF4-FFF2-40B4-BE49-F238E27FC236}">
                <a16:creationId xmlns:a16="http://schemas.microsoft.com/office/drawing/2014/main" id="{A9732D9E-8C9D-B414-798C-01440721FFFF}"/>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大型犬専門2店舗で2025年11月期売上の46.7%を占める。不採算のペットプラザ岐阜店は2026年1月、アクアウォーク大垣店は2026年2月をもって撤退しており、進行期3月以降は6店舗体制。</a:t>
            </a:r>
            <a:endParaRPr lang="en-US" altLang="ja-JP" dirty="0">
              <a:latin typeface="游ゴシック" panose="020B0400000000000000" pitchFamily="50" charset="-128"/>
              <a:ea typeface="游ゴシック" panose="020B0400000000000000" pitchFamily="50" charset="-128"/>
            </a:endParaRPr>
          </a:p>
        </p:txBody>
      </p:sp>
      <p:graphicFrame>
        <p:nvGraphicFramePr>
          <p:cNvPr id="11" name="表 10">
            <a:extLst>
              <a:ext uri="{FF2B5EF4-FFF2-40B4-BE49-F238E27FC236}">
                <a16:creationId xmlns:a16="http://schemas.microsoft.com/office/drawing/2014/main" id="{8D1A8F18-47A8-882C-04F3-7274BE8DFA21}"/>
              </a:ext>
            </a:extLst>
          </p:cNvPr>
          <p:cNvGraphicFramePr>
            <a:graphicFrameLocks noGrp="1"/>
          </p:cNvGraphicFramePr>
          <p:nvPr>
            <p:extLst>
              <p:ext uri="{D42A27DB-BD31-4B8C-83A1-F6EECF244321}">
                <p14:modId xmlns:p14="http://schemas.microsoft.com/office/powerpoint/2010/main" val="777190556"/>
              </p:ext>
            </p:extLst>
          </p:nvPr>
        </p:nvGraphicFramePr>
        <p:xfrm>
          <a:off x="341313" y="1775208"/>
          <a:ext cx="9930384" cy="3364992"/>
        </p:xfrm>
        <a:graphic>
          <a:graphicData uri="http://schemas.openxmlformats.org/drawingml/2006/table">
            <a:tbl>
              <a:tblPr/>
              <a:tblGrid>
                <a:gridCol w="2487168">
                  <a:extLst>
                    <a:ext uri="{9D8B030D-6E8A-4147-A177-3AD203B41FA5}">
                      <a16:colId xmlns:a16="http://schemas.microsoft.com/office/drawing/2014/main" val="2226821946"/>
                    </a:ext>
                  </a:extLst>
                </a:gridCol>
                <a:gridCol w="1078992">
                  <a:extLst>
                    <a:ext uri="{9D8B030D-6E8A-4147-A177-3AD203B41FA5}">
                      <a16:colId xmlns:a16="http://schemas.microsoft.com/office/drawing/2014/main" val="394351917"/>
                    </a:ext>
                  </a:extLst>
                </a:gridCol>
                <a:gridCol w="731520">
                  <a:extLst>
                    <a:ext uri="{9D8B030D-6E8A-4147-A177-3AD203B41FA5}">
                      <a16:colId xmlns:a16="http://schemas.microsoft.com/office/drawing/2014/main" val="2273061486"/>
                    </a:ext>
                  </a:extLst>
                </a:gridCol>
                <a:gridCol w="1078992">
                  <a:extLst>
                    <a:ext uri="{9D8B030D-6E8A-4147-A177-3AD203B41FA5}">
                      <a16:colId xmlns:a16="http://schemas.microsoft.com/office/drawing/2014/main" val="3147415530"/>
                    </a:ext>
                  </a:extLst>
                </a:gridCol>
                <a:gridCol w="731520">
                  <a:extLst>
                    <a:ext uri="{9D8B030D-6E8A-4147-A177-3AD203B41FA5}">
                      <a16:colId xmlns:a16="http://schemas.microsoft.com/office/drawing/2014/main" val="2884797882"/>
                    </a:ext>
                  </a:extLst>
                </a:gridCol>
                <a:gridCol w="1078992">
                  <a:extLst>
                    <a:ext uri="{9D8B030D-6E8A-4147-A177-3AD203B41FA5}">
                      <a16:colId xmlns:a16="http://schemas.microsoft.com/office/drawing/2014/main" val="878939645"/>
                    </a:ext>
                  </a:extLst>
                </a:gridCol>
                <a:gridCol w="731520">
                  <a:extLst>
                    <a:ext uri="{9D8B030D-6E8A-4147-A177-3AD203B41FA5}">
                      <a16:colId xmlns:a16="http://schemas.microsoft.com/office/drawing/2014/main" val="878939645"/>
                    </a:ext>
                  </a:extLst>
                </a:gridCol>
                <a:gridCol w="1152144">
                  <a:extLst>
                    <a:ext uri="{9D8B030D-6E8A-4147-A177-3AD203B41FA5}">
                      <a16:colId xmlns:a16="http://schemas.microsoft.com/office/drawing/2014/main" val="878939645"/>
                    </a:ext>
                  </a:extLst>
                </a:gridCol>
                <a:gridCol w="859536">
                  <a:extLst>
                    <a:ext uri="{9D8B030D-6E8A-4147-A177-3AD203B41FA5}">
                      <a16:colId xmlns:a16="http://schemas.microsoft.com/office/drawing/2014/main" val="2604138394"/>
                    </a:ext>
                  </a:extLst>
                </a:gridCol>
              </a:tblGrid>
              <a:tr h="402336">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事業所名</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進行期7か月
(25/12〜26/6)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extLst>
                  <a:ext uri="{0D108BD9-81ED-4DB2-BD59-A6C34878D82A}">
                    <a16:rowId xmlns:a16="http://schemas.microsoft.com/office/drawing/2014/main" val="2136583368"/>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34,655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142,385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58,447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10604957"/>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98,527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157,756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118,491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60,023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169350144"/>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88,527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75,571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66,609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40,221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55084407"/>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66,887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62,981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57,327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10.3%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33,840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54073247"/>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19,793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51,761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36,963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137578284"/>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アクアウォーク大垣店 ※2026年2月撤退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50,138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10.6%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43,305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38,021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6,112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870541768"/>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65,416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67,267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37,216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25,109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9.0%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706507175"/>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ペットプラザ岐阜店 ※2026年1月撤退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32,770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20,636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18,945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1,843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873200470"/>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コメリパワー中志段味店 ※2024年6月譲渡</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43,555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9.2%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29,765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520482"/>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本社（サービス・物販）</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15,611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18,397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22,126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13,650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970990274"/>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本社（セキュリティ事業）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12,996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8,909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5,508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970990274"/>
                  </a:ext>
                </a:extLst>
              </a:tr>
              <a:tr h="246888">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474,428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539,035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558,390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279,153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extLst>
                  <a:ext uri="{0D108BD9-81ED-4DB2-BD59-A6C34878D82A}">
                    <a16:rowId xmlns:a16="http://schemas.microsoft.com/office/drawing/2014/main" val="3872327840"/>
                  </a:ext>
                </a:extLst>
              </a:tr>
            </a:tbl>
          </a:graphicData>
        </a:graphic>
      </p:graphicFrame>
      <p:sp>
        <p:nvSpPr>
          <p:cNvPr id="18" name="TextBox 14">
            <a:extLst>
              <a:ext uri="{FF2B5EF4-FFF2-40B4-BE49-F238E27FC236}">
                <a16:creationId xmlns:a16="http://schemas.microsoft.com/office/drawing/2014/main" id="{DB0F0585-36DA-5BC2-3EF1-1F38A9D84311}"/>
              </a:ext>
            </a:extLst>
          </p:cNvPr>
          <p:cNvSpPr txBox="1"/>
          <p:nvPr/>
        </p:nvSpPr>
        <p:spPr>
          <a:xfrm>
            <a:off x="8463216" y="1550358"/>
            <a:ext cx="933300" cy="167700"/>
          </a:xfrm>
          <a:prstGeom prst="rect">
            <a:avLst/>
          </a:prstGeom>
          <a:noFill/>
        </p:spPr>
        <p:txBody>
          <a:bodyPr wrap="square" lIns="36000" tIns="18000" rIns="36000" bIns="18000" anchor="t">
            <a:spAutoFit/>
          </a:bodyPr>
          <a:lstStyle/>
          <a:p>
            <a:pPr>
              <a:spcBef>
                <a:spcPts val="0"/>
              </a:spcBef>
              <a:spcAft>
                <a:spcPts val="200"/>
              </a:spcAft>
            </a:pPr>
            <a:r>
              <a:rPr lang="ja-JP" altLang="en-US" sz="850" b="0" dirty="0">
                <a:solidFill>
                  <a:schemeClr val="tx1"/>
                </a:solidFill>
                <a:latin typeface="游ゴシック" panose="020B0400000000000000" pitchFamily="50" charset="-128"/>
                <a:ea typeface="游ゴシック" panose="020B0400000000000000" pitchFamily="50" charset="-128"/>
              </a:rPr>
              <a:t>（単位：千円）</a:t>
            </a:r>
            <a:endParaRPr sz="900" b="0" dirty="0">
              <a:solidFill>
                <a:schemeClr val="tx1"/>
              </a:solidFill>
              <a:latin typeface="游ゴシック" panose="020B0400000000000000" pitchFamily="50" charset="-128"/>
              <a:ea typeface="游ゴシック" panose="020B0400000000000000" pitchFamily="50" charset="-128"/>
            </a:endParaRPr>
          </a:p>
        </p:txBody>
      </p:sp>
      <p:sp>
        <p:nvSpPr>
          <p:cNvPr id="36" name="TextBox 35"/>
          <p:cNvSpPr txBox="1"/>
          <p:nvPr/>
        </p:nvSpPr>
        <p:spPr>
          <a:xfrm>
            <a:off x="338328" y="5303520"/>
            <a:ext cx="9902952" cy="1005840"/>
          </a:xfrm>
          <a:prstGeom prst="rect">
            <a:avLst/>
          </a:prstGeom>
          <a:noFill/>
        </p:spPr>
        <p:txBody>
          <a:bodyPr wrap="square">
            <a:spAutoFit/>
          </a:bodyPr>
          <a:lstStyle/>
          <a:p>
            <a:r>
              <a:rPr sz="900">
                <a:latin typeface="游ゴシック Medium"/>
              </a:rPr>
              <a:t>※出所：第3期〜第5期 決算報告書「売上高等の事業所別内訳書」および店舗別試算表 2025年12月〜2026年6月。各期のPL売上高と一致することを確認済。</a:t>
            </a:r>
          </a:p>
          <a:p>
            <a:r>
              <a:rPr sz="900">
                <a:latin typeface="游ゴシック Medium"/>
              </a:rPr>
              <a:t>※対象会社の既存会社説明資料には「店舗6箇所」および2024年11月期の店舗別売上高が記載されているが、2025年11月期時点の稼働店舗は8店舗である。</a:t>
            </a:r>
          </a:p>
          <a:p>
            <a:r>
              <a:rPr sz="900">
                <a:latin typeface="游ゴシック Medium"/>
              </a:rPr>
              <a:t>※店舗別試算表および従業員名簿により、撤退した2店舗はペットプラザ岐阜店（2026年1月まで）とアクアウォーク大垣店（2026年2月まで）であることを確認した。</a:t>
            </a:r>
          </a:p>
          <a:p>
            <a:r>
              <a:rPr sz="900">
                <a:latin typeface="游ゴシック Medium"/>
              </a:rPr>
              <a:t>※本社（サービス・物販）の進行期13,650千円は月額約195万円で計上されており、ペット保険の代理店手数料と推察される（仮説・要確認）。</a:t>
            </a:r>
          </a:p>
        </p:txBody>
      </p:sp>
    </p:spTree>
    <p:extLst>
      <p:ext uri="{BB962C8B-B14F-4D97-AF65-F5344CB8AC3E}">
        <p14:creationId xmlns:p14="http://schemas.microsoft.com/office/powerpoint/2010/main" val="31981612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FDEB-F9F2-96DC-838A-7FDC0146B98E}"/>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539E11E6-6AFA-CA56-713C-06699CFF2ADC}"/>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売上区分別の収益構成</a:t>
            </a:r>
          </a:p>
        </p:txBody>
      </p:sp>
      <p:sp>
        <p:nvSpPr>
          <p:cNvPr id="20" name="タイトル 1">
            <a:extLst>
              <a:ext uri="{FF2B5EF4-FFF2-40B4-BE49-F238E27FC236}">
                <a16:creationId xmlns:a16="http://schemas.microsoft.com/office/drawing/2014/main" id="{A4B1CA18-DAF6-3992-876F-0856A71C687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sp>
        <p:nvSpPr>
          <p:cNvPr id="35" name="字幕 13">
            <a:extLst>
              <a:ext uri="{FF2B5EF4-FFF2-40B4-BE49-F238E27FC236}">
                <a16:creationId xmlns:a16="http://schemas.microsoft.com/office/drawing/2014/main" id="{79E2C05E-6C1C-4A67-87BE-BE66A1BDA40B}"/>
              </a:ext>
            </a:extLst>
          </p:cNvPr>
          <p:cNvSpPr>
            <a:spLocks noGrp="1"/>
          </p:cNvSpPr>
          <p:nvPr>
            <p:ph type="subTitle" idx="1"/>
          </p:nvPr>
        </p:nvSpPr>
        <p:spPr>
          <a:xfrm>
            <a:off x="460675" y="830046"/>
            <a:ext cx="9781875" cy="761026"/>
          </a:xfrm>
        </p:spPr>
        <p:txBody>
          <a:bodyPr>
            <a:noAutofit/>
          </a:bodyPr>
          <a:lstStyle/>
          <a:p>
            <a:r>
              <a:rPr lang="ja-JP" altLang="en-US" dirty="0">
                <a:latin typeface="游ゴシック" panose="020B0400000000000000" pitchFamily="50" charset="-128"/>
                <a:ea typeface="游ゴシック" panose="020B0400000000000000" pitchFamily="50" charset="-128"/>
              </a:rPr>
              <a:t>生体売上が6割を占める一方、フード・用品等の物販は構成比24.4%→30.0%と着実に拡大。トリミング・ペットホテル・ペット保険からなるサービス売上はストック性が高く、進行期は前年同期比106.4%と3区分で唯一増加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3" name="表 2">
            <a:extLst>
              <a:ext uri="{FF2B5EF4-FFF2-40B4-BE49-F238E27FC236}">
                <a16:creationId xmlns:a16="http://schemas.microsoft.com/office/drawing/2014/main" id="{E566131D-1FDA-971E-8275-99BAA4785941}"/>
              </a:ext>
            </a:extLst>
          </p:cNvPr>
          <p:cNvGraphicFramePr>
            <a:graphicFrameLocks noGrp="1"/>
          </p:cNvGraphicFramePr>
          <p:nvPr>
            <p:extLst>
              <p:ext uri="{D42A27DB-BD31-4B8C-83A1-F6EECF244321}">
                <p14:modId xmlns:p14="http://schemas.microsoft.com/office/powerpoint/2010/main" val="764819747"/>
              </p:ext>
            </p:extLst>
          </p:nvPr>
        </p:nvGraphicFramePr>
        <p:xfrm>
          <a:off x="341312" y="1760471"/>
          <a:ext cx="10012680" cy="4617720"/>
        </p:xfrm>
        <a:graphic>
          <a:graphicData uri="http://schemas.openxmlformats.org/drawingml/2006/table">
            <a:tbl>
              <a:tblPr/>
              <a:tblGrid>
                <a:gridCol w="1417320">
                  <a:extLst>
                    <a:ext uri="{9D8B030D-6E8A-4147-A177-3AD203B41FA5}">
                      <a16:colId xmlns:a16="http://schemas.microsoft.com/office/drawing/2014/main" val="3669490461"/>
                    </a:ext>
                  </a:extLst>
                </a:gridCol>
                <a:gridCol w="1920240">
                  <a:extLst>
                    <a:ext uri="{9D8B030D-6E8A-4147-A177-3AD203B41FA5}">
                      <a16:colId xmlns:a16="http://schemas.microsoft.com/office/drawing/2014/main" val="2793615800"/>
                    </a:ext>
                  </a:extLst>
                </a:gridCol>
                <a:gridCol w="3063240">
                  <a:extLst>
                    <a:ext uri="{9D8B030D-6E8A-4147-A177-3AD203B41FA5}">
                      <a16:colId xmlns:a16="http://schemas.microsoft.com/office/drawing/2014/main" val="1996097912"/>
                    </a:ext>
                  </a:extLst>
                </a:gridCol>
                <a:gridCol w="3611880">
                  <a:extLst>
                    <a:ext uri="{9D8B030D-6E8A-4147-A177-3AD203B41FA5}">
                      <a16:colId xmlns:a16="http://schemas.microsoft.com/office/drawing/2014/main" val="583706970"/>
                    </a:ext>
                  </a:extLst>
                </a:gridCol>
              </a:tblGrid>
              <a:tr h="365760">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売上区分</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主な内容</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収益の特性</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3期推移＋進行期7か月（千円）／構成比</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extLst>
                  <a:ext uri="{0D108BD9-81ED-4DB2-BD59-A6C34878D82A}">
                    <a16:rowId xmlns:a16="http://schemas.microsoft.com/office/drawing/2014/main" val="2124648568"/>
                  </a:ext>
                </a:extLst>
              </a:tr>
              <a:tr h="109728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生体売上高</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犬・猫等の生体販売</a:t>
                      </a:r>
                      <a:endPar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仕入相場の変動を受けやすい。
大型犬は単価・粗利ともに高い</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293,214 → 333,090 → 338,295　｜進行期 165,116
（61.8% → 61.8% → 60.6%　｜59.1%）</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extLst>
                  <a:ext uri="{0D108BD9-81ED-4DB2-BD59-A6C34878D82A}">
                    <a16:rowId xmlns:a16="http://schemas.microsoft.com/office/drawing/2014/main" val="3559026932"/>
                  </a:ext>
                </a:extLst>
              </a:tr>
              <a:tr h="118872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サービス売上高</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トリミング、ペットホテル、
ペット保険の代理店手数料</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ストック性が高い。ペット保険は初年度に掛金の40%、次年度以降も10%が継続手数料として入る</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65,656 → 60,897 → 52,699　｜進行期 32,791
（13.8% → 11.3% → 9.4%　｜11.7%）</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1624083827"/>
                  </a:ext>
                </a:extLst>
              </a:tr>
              <a:tr h="105156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物販売上高</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フード、ペット用品、ケージ等</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生体販売に付随し、購入後の継続購買につながる</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115,559 → 145,048 → 167,395　｜進行期 81,244
（24.4% → 26.9% → 30.0%　｜29.1%）</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extLst>
                  <a:ext uri="{0D108BD9-81ED-4DB2-BD59-A6C34878D82A}">
                    <a16:rowId xmlns:a16="http://schemas.microsoft.com/office/drawing/2014/main" val="3129277040"/>
                  </a:ext>
                </a:extLst>
              </a:tr>
              <a:tr h="91440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合計</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altLang="ja-JP" sz="10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474,428 → 539,035 → 558,390　｜進行期 279,153
（100.0% → 100.0% → 100.0%　｜100.0%）</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4215961394"/>
                  </a:ext>
                </a:extLst>
              </a:tr>
            </a:tbl>
          </a:graphicData>
        </a:graphic>
      </p:graphicFrame>
    </p:spTree>
    <p:extLst>
      <p:ext uri="{BB962C8B-B14F-4D97-AF65-F5344CB8AC3E}">
        <p14:creationId xmlns:p14="http://schemas.microsoft.com/office/powerpoint/2010/main" val="5400013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C40E5E72-4BCD-E861-A1A2-154E947EEC6C}"/>
              </a:ext>
            </a:extLst>
          </p:cNvPr>
          <p:cNvSpPr/>
          <p:nvPr/>
        </p:nvSpPr>
        <p:spPr>
          <a:xfrm>
            <a:off x="449262" y="112768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14" name="テキスト ボックス 13">
            <a:extLst>
              <a:ext uri="{FF2B5EF4-FFF2-40B4-BE49-F238E27FC236}">
                <a16:creationId xmlns:a16="http://schemas.microsoft.com/office/drawing/2014/main" id="{E4EAC5C5-4B19-168C-44C3-D63B9FCB0292}"/>
              </a:ext>
            </a:extLst>
          </p:cNvPr>
          <p:cNvSpPr txBox="1"/>
          <p:nvPr/>
        </p:nvSpPr>
        <p:spPr>
          <a:xfrm>
            <a:off x="2114550" y="1404897"/>
            <a:ext cx="7768831" cy="1101584"/>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ysClr val="windowText" lastClr="000000"/>
                </a:solidFill>
                <a:latin typeface="+mj-ea"/>
                <a:ea typeface="+mj-ea"/>
              </a:rPr>
              <a:t>大型犬専門店という差別化ポジション</a:t>
            </a:r>
            <a:endParaRPr lang="en-US" altLang="ja-JP" sz="1600" b="1" spc="30" dirty="0">
              <a:solidFill>
                <a:sysClr val="windowText" lastClr="000000"/>
              </a:solidFill>
              <a:latin typeface="+mj-ea"/>
              <a:ea typeface="+mj-ea"/>
            </a:endParaRPr>
          </a:p>
          <a:p>
            <a:pPr>
              <a:lnSpc>
                <a:spcPct val="120000"/>
              </a:lnSpc>
              <a:spcAft>
                <a:spcPts val="600"/>
              </a:spcAft>
            </a:pPr>
            <a:r>
              <a:rPr lang="ja-JP" altLang="en-US" sz="1600" b="1" spc="30" dirty="0">
                <a:solidFill>
                  <a:sysClr val="windowText" lastClr="000000"/>
                </a:solidFill>
                <a:latin typeface="+mj-ea"/>
                <a:ea typeface="+mj-ea"/>
              </a:rPr>
              <a:t>ワンラブFC加盟店の中で大型犬専門店を運営するのは当社のみ（ヒアリング）。大型犬は生体単価が高く、購買層も景気変動の影響を受けにくい高所得層が中心。進行期7か月の店舗貢献利益率は大型犬専門2店舗で44.8%と、FC加盟4店舗の35.1%を上回る。</a:t>
            </a:r>
            <a:endParaRPr lang="en-US" altLang="ja-JP" sz="1600" b="1" spc="30" dirty="0">
              <a:solidFill>
                <a:sysClr val="windowText" lastClr="000000"/>
              </a:solidFill>
              <a:latin typeface="+mj-ea"/>
              <a:ea typeface="+mj-ea"/>
            </a:endParaRPr>
          </a:p>
        </p:txBody>
      </p:sp>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lang="ja-JP" altLang="en-US" dirty="0"/>
              <a:t>特徴、強み、成長性</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cxnSp>
        <p:nvCxnSpPr>
          <p:cNvPr id="4" name="直線コネクタ 3">
            <a:extLst>
              <a:ext uri="{FF2B5EF4-FFF2-40B4-BE49-F238E27FC236}">
                <a16:creationId xmlns:a16="http://schemas.microsoft.com/office/drawing/2014/main" id="{15777771-F922-A7C4-D3CB-74B58B03FF57}"/>
              </a:ext>
            </a:extLst>
          </p:cNvPr>
          <p:cNvCxnSpPr>
            <a:cxnSpLocks/>
          </p:cNvCxnSpPr>
          <p:nvPr/>
        </p:nvCxnSpPr>
        <p:spPr>
          <a:xfrm>
            <a:off x="449263" y="112311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2" name="正方形/長方形 11">
            <a:extLst>
              <a:ext uri="{FF2B5EF4-FFF2-40B4-BE49-F238E27FC236}">
                <a16:creationId xmlns:a16="http://schemas.microsoft.com/office/drawing/2014/main" id="{4D234CEC-3A04-0F25-446A-5400388CA526}"/>
              </a:ext>
            </a:extLst>
          </p:cNvPr>
          <p:cNvSpPr/>
          <p:nvPr/>
        </p:nvSpPr>
        <p:spPr>
          <a:xfrm>
            <a:off x="647115" y="146968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特徴</a:t>
            </a:r>
            <a:endParaRPr lang="en-US" altLang="ja-JP" b="1" spc="70" dirty="0">
              <a:solidFill>
                <a:schemeClr val="bg1"/>
              </a:solidFill>
              <a:latin typeface="+mj-ea"/>
              <a:ea typeface="+mj-ea"/>
            </a:endParaRPr>
          </a:p>
        </p:txBody>
      </p:sp>
      <p:sp>
        <p:nvSpPr>
          <p:cNvPr id="18" name="正方形/長方形 17">
            <a:extLst>
              <a:ext uri="{FF2B5EF4-FFF2-40B4-BE49-F238E27FC236}">
                <a16:creationId xmlns:a16="http://schemas.microsoft.com/office/drawing/2014/main" id="{0C864657-FFF0-FA13-5524-DC1F4F22D1C8}"/>
              </a:ext>
            </a:extLst>
          </p:cNvPr>
          <p:cNvSpPr/>
          <p:nvPr/>
        </p:nvSpPr>
        <p:spPr>
          <a:xfrm>
            <a:off x="449262" y="312455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0" name="テキスト ボックス 19">
            <a:extLst>
              <a:ext uri="{FF2B5EF4-FFF2-40B4-BE49-F238E27FC236}">
                <a16:creationId xmlns:a16="http://schemas.microsoft.com/office/drawing/2014/main" id="{48644844-8906-9AF0-5D0D-98648174194F}"/>
              </a:ext>
            </a:extLst>
          </p:cNvPr>
          <p:cNvSpPr txBox="1"/>
          <p:nvPr/>
        </p:nvSpPr>
        <p:spPr>
          <a:xfrm>
            <a:off x="2114550" y="3551039"/>
            <a:ext cx="7768831" cy="803040"/>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ysClr val="windowText" lastClr="000000"/>
                </a:solidFill>
                <a:latin typeface="+mj-ea"/>
                <a:ea typeface="+mj-ea"/>
              </a:rPr>
              <a:t>ペット関連サービスの一体提供とストック収益</a:t>
            </a:r>
            <a:endParaRPr lang="en-US" altLang="ja-JP" sz="1600" b="1" spc="30" dirty="0">
              <a:solidFill>
                <a:sysClr val="windowText" lastClr="000000"/>
              </a:solidFill>
              <a:latin typeface="+mj-ea"/>
              <a:ea typeface="+mj-ea"/>
            </a:endParaRPr>
          </a:p>
          <a:p>
            <a:pPr>
              <a:lnSpc>
                <a:spcPct val="120000"/>
              </a:lnSpc>
              <a:spcAft>
                <a:spcPts val="600"/>
              </a:spcAft>
            </a:pPr>
            <a:r>
              <a:rPr lang="ja-JP" altLang="en-US" sz="1600" b="1" spc="30" dirty="0">
                <a:solidFill>
                  <a:sysClr val="windowText" lastClr="000000"/>
                </a:solidFill>
                <a:latin typeface="+mj-ea"/>
                <a:ea typeface="+mj-ea"/>
              </a:rPr>
              <a:t>生体販売を起点に、フード・用品、トリミング、ペットホテル、ペット保険まで一体で提供。特にペット保険は手術特約の加入率が約75%（全国平均約50%）と高く、初年度に掛金の40%、次年度以降も10%が継続手数料として入る。進行期は共通部門のサービス売上が月額約195万円（7か月13,650千円）で安定計上されており、同手数料と推察される（仮説・要確認）。</a:t>
            </a:r>
            <a:endParaRPr lang="en-US" altLang="ja-JP" sz="1600" b="1" spc="30" dirty="0">
              <a:solidFill>
                <a:sysClr val="windowText" lastClr="000000"/>
              </a:solidFill>
              <a:latin typeface="+mj-ea"/>
              <a:ea typeface="+mj-ea"/>
            </a:endParaRPr>
          </a:p>
        </p:txBody>
      </p:sp>
      <p:cxnSp>
        <p:nvCxnSpPr>
          <p:cNvPr id="21" name="直線コネクタ 20">
            <a:extLst>
              <a:ext uri="{FF2B5EF4-FFF2-40B4-BE49-F238E27FC236}">
                <a16:creationId xmlns:a16="http://schemas.microsoft.com/office/drawing/2014/main" id="{3CCDB214-2D0E-0EEE-88F8-7201AB775BEA}"/>
              </a:ext>
            </a:extLst>
          </p:cNvPr>
          <p:cNvCxnSpPr>
            <a:cxnSpLocks/>
          </p:cNvCxnSpPr>
          <p:nvPr/>
        </p:nvCxnSpPr>
        <p:spPr>
          <a:xfrm>
            <a:off x="449263" y="311998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7" name="正方形/長方形 26">
            <a:extLst>
              <a:ext uri="{FF2B5EF4-FFF2-40B4-BE49-F238E27FC236}">
                <a16:creationId xmlns:a16="http://schemas.microsoft.com/office/drawing/2014/main" id="{8C7E43AC-FD21-D8FF-812C-F486F11E9CD0}"/>
              </a:ext>
            </a:extLst>
          </p:cNvPr>
          <p:cNvSpPr/>
          <p:nvPr/>
        </p:nvSpPr>
        <p:spPr>
          <a:xfrm>
            <a:off x="647115" y="346655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強み</a:t>
            </a:r>
            <a:endParaRPr lang="en-US" altLang="ja-JP" b="1" spc="70" dirty="0">
              <a:solidFill>
                <a:schemeClr val="bg1"/>
              </a:solidFill>
              <a:latin typeface="+mj-ea"/>
              <a:ea typeface="+mj-ea"/>
            </a:endParaRPr>
          </a:p>
        </p:txBody>
      </p:sp>
      <p:sp>
        <p:nvSpPr>
          <p:cNvPr id="28" name="正方形/長方形 27">
            <a:extLst>
              <a:ext uri="{FF2B5EF4-FFF2-40B4-BE49-F238E27FC236}">
                <a16:creationId xmlns:a16="http://schemas.microsoft.com/office/drawing/2014/main" id="{0BB6E073-4046-E1C0-AB4F-403D39FF250A}"/>
              </a:ext>
            </a:extLst>
          </p:cNvPr>
          <p:cNvSpPr/>
          <p:nvPr/>
        </p:nvSpPr>
        <p:spPr>
          <a:xfrm>
            <a:off x="449262" y="5112286"/>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9" name="テキスト ボックス 28">
            <a:extLst>
              <a:ext uri="{FF2B5EF4-FFF2-40B4-BE49-F238E27FC236}">
                <a16:creationId xmlns:a16="http://schemas.microsoft.com/office/drawing/2014/main" id="{91275261-EC0D-E601-4242-EE2F20F981A2}"/>
              </a:ext>
            </a:extLst>
          </p:cNvPr>
          <p:cNvSpPr txBox="1"/>
          <p:nvPr/>
        </p:nvSpPr>
        <p:spPr>
          <a:xfrm>
            <a:off x="2114550" y="5538767"/>
            <a:ext cx="7768831" cy="803040"/>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ysClr val="windowText" lastClr="000000"/>
                </a:solidFill>
                <a:latin typeface="+mj-ea"/>
                <a:ea typeface="+mj-ea"/>
              </a:rPr>
              <a:t>出店余地と実証済みの立ち上げノウハウ</a:t>
            </a:r>
            <a:endParaRPr lang="en-US" altLang="ja-JP" sz="1600" b="1" spc="30" dirty="0">
              <a:solidFill>
                <a:sysClr val="windowText" lastClr="000000"/>
              </a:solidFill>
              <a:latin typeface="+mj-ea"/>
              <a:ea typeface="+mj-ea"/>
            </a:endParaRPr>
          </a:p>
          <a:p>
            <a:pPr>
              <a:lnSpc>
                <a:spcPct val="120000"/>
              </a:lnSpc>
              <a:spcAft>
                <a:spcPts val="600"/>
              </a:spcAft>
            </a:pPr>
            <a:r>
              <a:rPr lang="ja-JP" altLang="en-US" sz="1600" b="1" spc="30" dirty="0">
                <a:solidFill>
                  <a:sysClr val="windowText" lastClr="000000"/>
                </a:solidFill>
                <a:latin typeface="+mj-ea"/>
                <a:ea typeface="+mj-ea"/>
              </a:rPr>
              <a:t>大型犬専門店は市場にまだ少なく、平均所得の高いエリアを選別して出店する余地が大きい。岐阜総本店は開店3期目で118,491千円、大阪総本店は開店2期目で142,385千円といずれも短期間で立ち上がり、進行期7か月でも2店舗合計53,058千円の店舗貢献利益を計上している。出店ノウハウは実証済みであり、資本力のある企業グループの下では出店ペースの加速が期待できる。</a:t>
            </a:r>
            <a:endParaRPr lang="en-US" altLang="ja-JP" sz="1600" b="1" spc="30" dirty="0">
              <a:solidFill>
                <a:sysClr val="windowText" lastClr="000000"/>
              </a:solidFill>
              <a:latin typeface="+mj-ea"/>
              <a:ea typeface="+mj-ea"/>
            </a:endParaRPr>
          </a:p>
        </p:txBody>
      </p:sp>
      <p:cxnSp>
        <p:nvCxnSpPr>
          <p:cNvPr id="30" name="直線コネクタ 29">
            <a:extLst>
              <a:ext uri="{FF2B5EF4-FFF2-40B4-BE49-F238E27FC236}">
                <a16:creationId xmlns:a16="http://schemas.microsoft.com/office/drawing/2014/main" id="{9E59F759-029D-ACD7-2E8B-82D0E894FB13}"/>
              </a:ext>
            </a:extLst>
          </p:cNvPr>
          <p:cNvCxnSpPr>
            <a:cxnSpLocks/>
          </p:cNvCxnSpPr>
          <p:nvPr/>
        </p:nvCxnSpPr>
        <p:spPr>
          <a:xfrm>
            <a:off x="449263" y="5107715"/>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9F97658D-62E2-B46F-7C6B-A887412B79A8}"/>
              </a:ext>
            </a:extLst>
          </p:cNvPr>
          <p:cNvSpPr/>
          <p:nvPr/>
        </p:nvSpPr>
        <p:spPr>
          <a:xfrm>
            <a:off x="647115" y="5454286"/>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成長性</a:t>
            </a:r>
            <a:endParaRPr lang="en-US" altLang="ja-JP" b="1" spc="70" dirty="0">
              <a:solidFill>
                <a:schemeClr val="bg1"/>
              </a:solidFill>
              <a:latin typeface="+mj-ea"/>
              <a:ea typeface="+mj-ea"/>
            </a:endParaRPr>
          </a:p>
        </p:txBody>
      </p:sp>
    </p:spTree>
    <p:extLst>
      <p:ext uri="{BB962C8B-B14F-4D97-AF65-F5344CB8AC3E}">
        <p14:creationId xmlns:p14="http://schemas.microsoft.com/office/powerpoint/2010/main" val="27210844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8F80-D630-2549-01F8-FD24A474441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仕入・店舗コストの構造</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530765"/>
          </a:xfrm>
        </p:spPr>
        <p:txBody>
          <a:bodyPr>
            <a:noAutofit/>
          </a:bodyPr>
          <a:lstStyle/>
          <a:p>
            <a:r>
              <a:rPr lang="ja-JP" altLang="en-US" dirty="0">
                <a:latin typeface="游ゴシック" panose="020B0400000000000000" pitchFamily="50" charset="-128"/>
                <a:ea typeface="游ゴシック" panose="020B0400000000000000" pitchFamily="50" charset="-128"/>
              </a:rPr>
              <a:t>FC加盟のインショップは店舗使用料が売上歩合、大型犬専門の路面店は固定賃料と、費用構造は業態により大きく異なる。2025年11月期の地代家賃増加とロイヤリティ減少は、売上構成のシフトの裏返しである。</a:t>
            </a:r>
            <a:endParaRPr lang="en-US" altLang="ja-JP" dirty="0">
              <a:latin typeface="游ゴシック" panose="020B0400000000000000" pitchFamily="50" charset="-128"/>
              <a:ea typeface="游ゴシック" panose="020B0400000000000000" pitchFamily="50" charset="-128"/>
            </a:endParaRPr>
          </a:p>
        </p:txBody>
      </p:sp>
      <p:sp>
        <p:nvSpPr>
          <p:cNvPr id="14" name="Rounded Rectangle 13"/>
          <p:cNvSpPr/>
          <p:nvPr/>
        </p:nvSpPr>
        <p:spPr>
          <a:xfrm>
            <a:off x="320040" y="1766142"/>
            <a:ext cx="4823459" cy="3353614"/>
          </a:xfrm>
          <a:prstGeom prst="roundRect">
            <a:avLst>
              <a:gd name="adj" fmla="val 3500"/>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15" name="Rounded Rectangle 14"/>
          <p:cNvSpPr/>
          <p:nvPr/>
        </p:nvSpPr>
        <p:spPr>
          <a:xfrm>
            <a:off x="320040" y="1599316"/>
            <a:ext cx="4823459" cy="329184"/>
          </a:xfrm>
          <a:prstGeom prst="roundRect">
            <a:avLst>
              <a:gd name="adj" fmla="val 10000"/>
            </a:avLst>
          </a:prstGeom>
          <a:solidFill>
            <a:srgbClr val="1F3864"/>
          </a:solidFill>
          <a:ln w="285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16" name="TextBox 15"/>
          <p:cNvSpPr txBox="1"/>
          <p:nvPr/>
        </p:nvSpPr>
        <p:spPr>
          <a:xfrm>
            <a:off x="484632" y="1651633"/>
            <a:ext cx="4549140" cy="224549"/>
          </a:xfrm>
          <a:prstGeom prst="rect">
            <a:avLst/>
          </a:prstGeom>
          <a:noFill/>
        </p:spPr>
        <p:txBody>
          <a:bodyPr wrap="square" lIns="0" tIns="0" rIns="0" bIns="0" anchor="ctr">
            <a:spAutoFit/>
          </a:bodyPr>
          <a:lstStyle/>
          <a:p>
            <a:pPr algn="l">
              <a:lnSpc>
                <a:spcPct val="108000"/>
              </a:lnSpc>
            </a:pPr>
            <a:r>
              <a:rPr sz="1400" b="1" dirty="0" err="1">
                <a:solidFill>
                  <a:srgbClr val="FFFFFF"/>
                </a:solidFill>
                <a:latin typeface="游ゴシック" panose="020B0400000000000000" pitchFamily="50" charset="-128"/>
                <a:ea typeface="游ゴシック" panose="020B0400000000000000" pitchFamily="50" charset="-128"/>
              </a:rPr>
              <a:t>仕入　～生体・ペット用品～</a:t>
            </a:r>
          </a:p>
        </p:txBody>
      </p:sp>
      <p:sp>
        <p:nvSpPr>
          <p:cNvPr id="17" name="Oval 16"/>
          <p:cNvSpPr/>
          <p:nvPr/>
        </p:nvSpPr>
        <p:spPr>
          <a:xfrm>
            <a:off x="484632" y="2093273"/>
            <a:ext cx="256032" cy="256032"/>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FFFFFF"/>
                </a:solidFill>
                <a:latin typeface="游ゴシック" panose="020B0400000000000000" pitchFamily="50" charset="-128"/>
                <a:ea typeface="游ゴシック" panose="020B0400000000000000" pitchFamily="50" charset="-128"/>
              </a:rPr>
              <a:t>①</a:t>
            </a:r>
          </a:p>
        </p:txBody>
      </p:sp>
      <p:sp>
        <p:nvSpPr>
          <p:cNvPr id="18" name="TextBox 17"/>
          <p:cNvSpPr txBox="1"/>
          <p:nvPr/>
        </p:nvSpPr>
        <p:spPr>
          <a:xfrm>
            <a:off x="832104" y="2128605"/>
            <a:ext cx="4146803" cy="192425"/>
          </a:xfrm>
          <a:prstGeom prst="rect">
            <a:avLst/>
          </a:prstGeom>
          <a:noFill/>
        </p:spPr>
        <p:txBody>
          <a:bodyPr wrap="square" lIns="0" tIns="0" rIns="0" bIns="0" anchor="t">
            <a:spAutoFit/>
          </a:bodyPr>
          <a:lstStyle/>
          <a:p>
            <a:pPr algn="l">
              <a:lnSpc>
                <a:spcPct val="108000"/>
              </a:lnSpc>
            </a:pPr>
            <a:r>
              <a:rPr sz="1200" b="1">
                <a:solidFill>
                  <a:srgbClr val="1F3864"/>
                </a:solidFill>
                <a:latin typeface="游ゴシック" panose="020B0400000000000000" pitchFamily="50" charset="-128"/>
                <a:ea typeface="游ゴシック" panose="020B0400000000000000" pitchFamily="50" charset="-128"/>
              </a:rPr>
              <a:t>価格の決まり方</a:t>
            </a:r>
          </a:p>
        </p:txBody>
      </p:sp>
      <p:sp>
        <p:nvSpPr>
          <p:cNvPr id="19" name="TextBox 18"/>
          <p:cNvSpPr txBox="1"/>
          <p:nvPr/>
        </p:nvSpPr>
        <p:spPr>
          <a:xfrm>
            <a:off x="832104" y="2402925"/>
            <a:ext cx="4146803" cy="337721"/>
          </a:xfrm>
          <a:prstGeom prst="rect">
            <a:avLst/>
          </a:prstGeom>
          <a:noFill/>
        </p:spPr>
        <p:txBody>
          <a:bodyPr wrap="square" lIns="0" tIns="0" rIns="0" bIns="0" anchor="t">
            <a:spAutoFit/>
          </a:bodyPr>
          <a:lstStyle/>
          <a:p>
            <a:pPr>
              <a:lnSpc>
                <a:spcPct val="112000"/>
              </a:lnSpc>
            </a:pPr>
            <a:r>
              <a:rPr sz="1000" b="0" dirty="0" err="1">
                <a:solidFill>
                  <a:srgbClr val="202020"/>
                </a:solidFill>
                <a:latin typeface="游ゴシック" panose="020B0400000000000000" pitchFamily="50" charset="-128"/>
                <a:ea typeface="游ゴシック" panose="020B0400000000000000" pitchFamily="50" charset="-128"/>
              </a:rPr>
              <a:t>ペット用品はジャペル㈱等の卸売価格。生体はオークション相場に連動し、FC本部（㈲ワンラブ）経由の仕入と個人ブリーダー等からの直接仕入を併用する。</a:t>
            </a:r>
          </a:p>
        </p:txBody>
      </p:sp>
      <p:sp>
        <p:nvSpPr>
          <p:cNvPr id="20" name="Oval 19"/>
          <p:cNvSpPr/>
          <p:nvPr/>
        </p:nvSpPr>
        <p:spPr>
          <a:xfrm>
            <a:off x="484632" y="3025089"/>
            <a:ext cx="256032" cy="256032"/>
          </a:xfrm>
          <a:prstGeom prst="ellipse">
            <a:avLst/>
          </a:prstGeom>
          <a:solidFill>
            <a:srgbClr val="00377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FFFFFF"/>
                </a:solidFill>
                <a:latin typeface="游ゴシック" panose="020B0400000000000000" pitchFamily="50" charset="-128"/>
                <a:ea typeface="游ゴシック" panose="020B0400000000000000" pitchFamily="50" charset="-128"/>
              </a:rPr>
              <a:t>②</a:t>
            </a:r>
          </a:p>
        </p:txBody>
      </p:sp>
      <p:sp>
        <p:nvSpPr>
          <p:cNvPr id="21" name="TextBox 20"/>
          <p:cNvSpPr txBox="1"/>
          <p:nvPr/>
        </p:nvSpPr>
        <p:spPr>
          <a:xfrm>
            <a:off x="832104" y="3066237"/>
            <a:ext cx="4146803" cy="192425"/>
          </a:xfrm>
          <a:prstGeom prst="rect">
            <a:avLst/>
          </a:prstGeom>
          <a:noFill/>
        </p:spPr>
        <p:txBody>
          <a:bodyPr wrap="square" lIns="0" tIns="0" rIns="0" bIns="0" anchor="t">
            <a:spAutoFit/>
          </a:bodyPr>
          <a:lstStyle/>
          <a:p>
            <a:pPr algn="l">
              <a:lnSpc>
                <a:spcPct val="108000"/>
              </a:lnSpc>
            </a:pPr>
            <a:r>
              <a:rPr sz="1200" b="1" dirty="0" err="1">
                <a:solidFill>
                  <a:srgbClr val="1F3864"/>
                </a:solidFill>
                <a:latin typeface="游ゴシック" panose="020B0400000000000000" pitchFamily="50" charset="-128"/>
                <a:ea typeface="游ゴシック" panose="020B0400000000000000" pitchFamily="50" charset="-128"/>
              </a:rPr>
              <a:t>同社の実質的な強み</a:t>
            </a:r>
            <a:endParaRPr sz="1200" b="1" dirty="0">
              <a:solidFill>
                <a:srgbClr val="1F3864"/>
              </a:solidFill>
              <a:latin typeface="游ゴシック" panose="020B0400000000000000" pitchFamily="50" charset="-128"/>
              <a:ea typeface="游ゴシック" panose="020B0400000000000000" pitchFamily="50" charset="-128"/>
            </a:endParaRPr>
          </a:p>
        </p:txBody>
      </p:sp>
      <p:sp>
        <p:nvSpPr>
          <p:cNvPr id="22" name="TextBox 21"/>
          <p:cNvSpPr txBox="1"/>
          <p:nvPr/>
        </p:nvSpPr>
        <p:spPr>
          <a:xfrm>
            <a:off x="832104" y="3340557"/>
            <a:ext cx="4146803" cy="337721"/>
          </a:xfrm>
          <a:prstGeom prst="rect">
            <a:avLst/>
          </a:prstGeom>
          <a:noFill/>
        </p:spPr>
        <p:txBody>
          <a:bodyPr wrap="square" lIns="0" tIns="0" rIns="0" bIns="0" anchor="t">
            <a:spAutoFit/>
          </a:bodyPr>
          <a:lstStyle/>
          <a:p>
            <a:pPr algn="l">
              <a:lnSpc>
                <a:spcPct val="112000"/>
              </a:lnSpc>
            </a:pPr>
            <a:r>
              <a:rPr sz="1000" b="0" dirty="0" err="1">
                <a:solidFill>
                  <a:srgbClr val="202020"/>
                </a:solidFill>
                <a:latin typeface="游ゴシック" panose="020B0400000000000000" pitchFamily="50" charset="-128"/>
                <a:ea typeface="游ゴシック" panose="020B0400000000000000" pitchFamily="50" charset="-128"/>
              </a:rPr>
              <a:t>大型犬専門店の展開に伴い、個人ブリーダーからの直接仕入を拡大（2024年11月期9,184千円→2025年11月期17,561千円）。仕入ルートの複線化が進んでいる。</a:t>
            </a:r>
          </a:p>
        </p:txBody>
      </p:sp>
      <p:sp>
        <p:nvSpPr>
          <p:cNvPr id="23" name="Rounded Rectangle 22"/>
          <p:cNvSpPr/>
          <p:nvPr/>
        </p:nvSpPr>
        <p:spPr>
          <a:xfrm>
            <a:off x="484632" y="4127040"/>
            <a:ext cx="4494275" cy="592372"/>
          </a:xfrm>
          <a:prstGeom prst="roundRect">
            <a:avLst>
              <a:gd name="adj" fmla="val 8000"/>
            </a:avLst>
          </a:prstGeom>
          <a:solidFill>
            <a:srgbClr val="EAF3E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24" name="Oval 23"/>
          <p:cNvSpPr/>
          <p:nvPr/>
        </p:nvSpPr>
        <p:spPr>
          <a:xfrm>
            <a:off x="594359" y="4245912"/>
            <a:ext cx="219456" cy="219456"/>
          </a:xfrm>
          <a:prstGeom prst="ellipse">
            <a:avLst/>
          </a:prstGeom>
          <a:solidFill>
            <a:schemeClr val="accent3">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25" name="TextBox 24"/>
          <p:cNvSpPr txBox="1"/>
          <p:nvPr/>
        </p:nvSpPr>
        <p:spPr>
          <a:xfrm>
            <a:off x="886969" y="4201683"/>
            <a:ext cx="3989832" cy="337721"/>
          </a:xfrm>
          <a:prstGeom prst="rect">
            <a:avLst/>
          </a:prstGeom>
          <a:noFill/>
        </p:spPr>
        <p:txBody>
          <a:bodyPr wrap="square" lIns="0" tIns="0" rIns="0" bIns="0" anchor="t">
            <a:spAutoFit/>
          </a:bodyPr>
          <a:lstStyle/>
          <a:p>
            <a:pPr algn="l">
              <a:lnSpc>
                <a:spcPct val="112000"/>
              </a:lnSpc>
            </a:pPr>
            <a:r>
              <a:rPr sz="1000" b="0" dirty="0">
                <a:solidFill>
                  <a:srgbClr val="1E6B3F"/>
                </a:solidFill>
                <a:latin typeface="游ゴシック" panose="020B0400000000000000" pitchFamily="50" charset="-128"/>
                <a:ea typeface="游ゴシック" panose="020B0400000000000000" pitchFamily="50" charset="-128"/>
              </a:rPr>
              <a:t>2025年11月期は小型犬を中心に仕入価格の上昇を販売価格へ転嫁できず、粗利率が63.6%→59.1%へ低下した。</a:t>
            </a:r>
            <a:endParaRPr sz="1000" b="0" dirty="0">
              <a:solidFill>
                <a:srgbClr val="1E6B3F"/>
              </a:solidFill>
              <a:latin typeface="游ゴシック" panose="020B0400000000000000" pitchFamily="50" charset="-128"/>
              <a:ea typeface="游ゴシック" panose="020B0400000000000000" pitchFamily="50" charset="-128"/>
            </a:endParaRPr>
          </a:p>
        </p:txBody>
      </p:sp>
      <p:sp>
        <p:nvSpPr>
          <p:cNvPr id="26" name="Rounded Rectangle 25"/>
          <p:cNvSpPr/>
          <p:nvPr/>
        </p:nvSpPr>
        <p:spPr>
          <a:xfrm>
            <a:off x="5417819" y="1766142"/>
            <a:ext cx="4823459" cy="3353613"/>
          </a:xfrm>
          <a:prstGeom prst="roundRect">
            <a:avLst>
              <a:gd name="adj" fmla="val 3500"/>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27" name="Rounded Rectangle 26"/>
          <p:cNvSpPr/>
          <p:nvPr/>
        </p:nvSpPr>
        <p:spPr>
          <a:xfrm>
            <a:off x="5417819" y="1599316"/>
            <a:ext cx="4823459" cy="329184"/>
          </a:xfrm>
          <a:prstGeom prst="roundRect">
            <a:avLst>
              <a:gd name="adj" fmla="val 10000"/>
            </a:avLst>
          </a:prstGeom>
          <a:solidFill>
            <a:srgbClr val="1F3864"/>
          </a:solidFill>
          <a:ln w="285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28" name="TextBox 27"/>
          <p:cNvSpPr txBox="1"/>
          <p:nvPr/>
        </p:nvSpPr>
        <p:spPr>
          <a:xfrm>
            <a:off x="5582411" y="1651633"/>
            <a:ext cx="4549140" cy="224549"/>
          </a:xfrm>
          <a:prstGeom prst="rect">
            <a:avLst/>
          </a:prstGeom>
          <a:noFill/>
        </p:spPr>
        <p:txBody>
          <a:bodyPr wrap="square" lIns="0" tIns="0" rIns="0" bIns="0" anchor="ctr">
            <a:spAutoFit/>
          </a:bodyPr>
          <a:lstStyle/>
          <a:p>
            <a:pPr algn="l">
              <a:lnSpc>
                <a:spcPct val="108000"/>
              </a:lnSpc>
            </a:pPr>
            <a:r>
              <a:rPr sz="1400" b="1">
                <a:solidFill>
                  <a:srgbClr val="FFFFFF"/>
                </a:solidFill>
                <a:latin typeface="游ゴシック" panose="020B0400000000000000" pitchFamily="50" charset="-128"/>
                <a:ea typeface="游ゴシック" panose="020B0400000000000000" pitchFamily="50" charset="-128"/>
              </a:rPr>
              <a:t>店舗コスト　～FC店と路面店～</a:t>
            </a:r>
          </a:p>
        </p:txBody>
      </p:sp>
      <p:sp>
        <p:nvSpPr>
          <p:cNvPr id="29" name="Oval 28"/>
          <p:cNvSpPr/>
          <p:nvPr/>
        </p:nvSpPr>
        <p:spPr>
          <a:xfrm>
            <a:off x="5582411" y="2093092"/>
            <a:ext cx="256032" cy="256032"/>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游ゴシック" panose="020B0400000000000000" pitchFamily="50" charset="-128"/>
                <a:ea typeface="游ゴシック" panose="020B0400000000000000" pitchFamily="50" charset="-128"/>
              </a:rPr>
              <a:t>①</a:t>
            </a:r>
          </a:p>
        </p:txBody>
      </p:sp>
      <p:sp>
        <p:nvSpPr>
          <p:cNvPr id="30" name="TextBox 29"/>
          <p:cNvSpPr txBox="1"/>
          <p:nvPr/>
        </p:nvSpPr>
        <p:spPr>
          <a:xfrm>
            <a:off x="5929883" y="2128605"/>
            <a:ext cx="4146803" cy="192425"/>
          </a:xfrm>
          <a:prstGeom prst="rect">
            <a:avLst/>
          </a:prstGeom>
          <a:noFill/>
        </p:spPr>
        <p:txBody>
          <a:bodyPr wrap="square" lIns="0" tIns="0" rIns="0" bIns="0" anchor="t">
            <a:spAutoFit/>
          </a:bodyPr>
          <a:lstStyle/>
          <a:p>
            <a:pPr algn="l">
              <a:lnSpc>
                <a:spcPct val="108000"/>
              </a:lnSpc>
            </a:pPr>
            <a:r>
              <a:rPr sz="1200" b="1" dirty="0" err="1">
                <a:solidFill>
                  <a:srgbClr val="1F3864"/>
                </a:solidFill>
                <a:latin typeface="游ゴシック" panose="020B0400000000000000" pitchFamily="50" charset="-128"/>
                <a:ea typeface="游ゴシック" panose="020B0400000000000000" pitchFamily="50" charset="-128"/>
              </a:rPr>
              <a:t>費用構造</a:t>
            </a:r>
            <a:endParaRPr sz="1200" b="1" dirty="0">
              <a:solidFill>
                <a:srgbClr val="1F3864"/>
              </a:solidFill>
              <a:latin typeface="游ゴシック" panose="020B0400000000000000" pitchFamily="50" charset="-128"/>
              <a:ea typeface="游ゴシック" panose="020B0400000000000000" pitchFamily="50" charset="-128"/>
            </a:endParaRPr>
          </a:p>
        </p:txBody>
      </p:sp>
      <p:sp>
        <p:nvSpPr>
          <p:cNvPr id="31" name="TextBox 30"/>
          <p:cNvSpPr txBox="1"/>
          <p:nvPr/>
        </p:nvSpPr>
        <p:spPr>
          <a:xfrm>
            <a:off x="5929883" y="2402925"/>
            <a:ext cx="4146803" cy="510076"/>
          </a:xfrm>
          <a:prstGeom prst="rect">
            <a:avLst/>
          </a:prstGeom>
          <a:noFill/>
        </p:spPr>
        <p:txBody>
          <a:bodyPr wrap="square" lIns="0" tIns="0" rIns="0" bIns="0" anchor="t">
            <a:spAutoFit/>
          </a:bodyPr>
          <a:lstStyle/>
          <a:p>
            <a:pPr algn="l">
              <a:lnSpc>
                <a:spcPct val="112000"/>
              </a:lnSpc>
            </a:pPr>
            <a:r>
              <a:rPr sz="1000" b="0" dirty="0">
                <a:solidFill>
                  <a:srgbClr val="202020"/>
                </a:solidFill>
                <a:latin typeface="游ゴシック" panose="020B0400000000000000" pitchFamily="50" charset="-128"/>
                <a:ea typeface="游ゴシック" panose="020B0400000000000000" pitchFamily="50" charset="-128"/>
              </a:rPr>
              <a:t>FC加盟のインショップは店舗使用料が売上歩合（売上の11〜15%）であり、販管費上は「ロイヤリティ」に含まれる。路面店（大型犬専門店2店舗）と緑店は月額640〜920千円の固定賃料。</a:t>
            </a:r>
          </a:p>
        </p:txBody>
      </p:sp>
      <p:sp>
        <p:nvSpPr>
          <p:cNvPr id="32" name="Oval 31"/>
          <p:cNvSpPr/>
          <p:nvPr/>
        </p:nvSpPr>
        <p:spPr>
          <a:xfrm>
            <a:off x="5582411" y="3053212"/>
            <a:ext cx="256032" cy="256032"/>
          </a:xfrm>
          <a:prstGeom prst="ellipse">
            <a:avLst/>
          </a:prstGeom>
          <a:solidFill>
            <a:srgbClr val="00357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FFFFFF"/>
                </a:solidFill>
                <a:latin typeface="游ゴシック" panose="020B0400000000000000" pitchFamily="50" charset="-128"/>
                <a:ea typeface="游ゴシック" panose="020B0400000000000000" pitchFamily="50" charset="-128"/>
              </a:rPr>
              <a:t>②</a:t>
            </a:r>
          </a:p>
        </p:txBody>
      </p:sp>
      <p:sp>
        <p:nvSpPr>
          <p:cNvPr id="33" name="TextBox 32"/>
          <p:cNvSpPr txBox="1"/>
          <p:nvPr/>
        </p:nvSpPr>
        <p:spPr>
          <a:xfrm>
            <a:off x="5929883" y="3066236"/>
            <a:ext cx="4146803" cy="192425"/>
          </a:xfrm>
          <a:prstGeom prst="rect">
            <a:avLst/>
          </a:prstGeom>
          <a:noFill/>
        </p:spPr>
        <p:txBody>
          <a:bodyPr wrap="square" lIns="0" tIns="0" rIns="0" bIns="0" anchor="t">
            <a:spAutoFit/>
          </a:bodyPr>
          <a:lstStyle/>
          <a:p>
            <a:pPr algn="l">
              <a:lnSpc>
                <a:spcPct val="108000"/>
              </a:lnSpc>
            </a:pPr>
            <a:r>
              <a:rPr sz="1200" b="1" dirty="0" err="1">
                <a:solidFill>
                  <a:srgbClr val="1F3864"/>
                </a:solidFill>
                <a:latin typeface="游ゴシック" panose="020B0400000000000000" pitchFamily="50" charset="-128"/>
                <a:ea typeface="游ゴシック" panose="020B0400000000000000" pitchFamily="50" charset="-128"/>
              </a:rPr>
              <a:t>同社の実質的な強み</a:t>
            </a:r>
            <a:endParaRPr sz="1200" b="1" dirty="0">
              <a:solidFill>
                <a:srgbClr val="1F3864"/>
              </a:solidFill>
              <a:latin typeface="游ゴシック" panose="020B0400000000000000" pitchFamily="50" charset="-128"/>
              <a:ea typeface="游ゴシック" panose="020B0400000000000000" pitchFamily="50" charset="-128"/>
            </a:endParaRPr>
          </a:p>
        </p:txBody>
      </p:sp>
      <p:sp>
        <p:nvSpPr>
          <p:cNvPr id="34" name="TextBox 33"/>
          <p:cNvSpPr txBox="1"/>
          <p:nvPr/>
        </p:nvSpPr>
        <p:spPr>
          <a:xfrm>
            <a:off x="5929883" y="3340557"/>
            <a:ext cx="4146803" cy="510076"/>
          </a:xfrm>
          <a:prstGeom prst="rect">
            <a:avLst/>
          </a:prstGeom>
          <a:noFill/>
        </p:spPr>
        <p:txBody>
          <a:bodyPr wrap="square" lIns="0" tIns="0" rIns="0" bIns="0" anchor="t">
            <a:spAutoFit/>
          </a:bodyPr>
          <a:lstStyle/>
          <a:p>
            <a:pPr algn="l">
              <a:lnSpc>
                <a:spcPct val="112000"/>
              </a:lnSpc>
            </a:pPr>
            <a:r>
              <a:rPr sz="1000" b="0" dirty="0">
                <a:solidFill>
                  <a:srgbClr val="202020"/>
                </a:solidFill>
                <a:latin typeface="游ゴシック" panose="020B0400000000000000" pitchFamily="50" charset="-128"/>
                <a:ea typeface="游ゴシック" panose="020B0400000000000000" pitchFamily="50" charset="-128"/>
              </a:rPr>
              <a:t>大型犬専門店は高所得層をターゲットとし、生体単価・保険加入率がともに高い。固定賃料のため損益分岐点は高いが、超過分は利益に直結する。</a:t>
            </a:r>
          </a:p>
        </p:txBody>
      </p:sp>
      <p:sp>
        <p:nvSpPr>
          <p:cNvPr id="35" name="Rounded Rectangle 34"/>
          <p:cNvSpPr/>
          <p:nvPr/>
        </p:nvSpPr>
        <p:spPr>
          <a:xfrm>
            <a:off x="5582411" y="4127040"/>
            <a:ext cx="4494275" cy="588198"/>
          </a:xfrm>
          <a:prstGeom prst="roundRect">
            <a:avLst>
              <a:gd name="adj" fmla="val 8000"/>
            </a:avLst>
          </a:prstGeom>
          <a:solidFill>
            <a:srgbClr val="EAF3E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36" name="Oval 35"/>
          <p:cNvSpPr/>
          <p:nvPr/>
        </p:nvSpPr>
        <p:spPr>
          <a:xfrm>
            <a:off x="5692139" y="4201683"/>
            <a:ext cx="219456" cy="219456"/>
          </a:xfrm>
          <a:prstGeom prst="ellipse">
            <a:avLst/>
          </a:prstGeom>
          <a:solidFill>
            <a:srgbClr val="1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37" name="TextBox 36"/>
          <p:cNvSpPr txBox="1"/>
          <p:nvPr/>
        </p:nvSpPr>
        <p:spPr>
          <a:xfrm>
            <a:off x="5984747" y="4166101"/>
            <a:ext cx="4091939" cy="510076"/>
          </a:xfrm>
          <a:prstGeom prst="rect">
            <a:avLst/>
          </a:prstGeom>
          <a:noFill/>
        </p:spPr>
        <p:txBody>
          <a:bodyPr wrap="square" lIns="0" tIns="0" rIns="0" bIns="0" anchor="t">
            <a:spAutoFit/>
          </a:bodyPr>
          <a:lstStyle/>
          <a:p>
            <a:pPr algn="l">
              <a:lnSpc>
                <a:spcPct val="112000"/>
              </a:lnSpc>
            </a:pPr>
            <a:r>
              <a:rPr sz="1000" b="0" dirty="0">
                <a:solidFill>
                  <a:srgbClr val="1E6B3F"/>
                </a:solidFill>
                <a:latin typeface="游ゴシック" panose="020B0400000000000000" pitchFamily="50" charset="-128"/>
                <a:ea typeface="游ゴシック" panose="020B0400000000000000" pitchFamily="50" charset="-128"/>
              </a:rPr>
              <a:t>2025年11月期の地代家賃33,249千円（前期19,460千円）は路面店2店舗の通期稼働による増加。一方ロイヤリティは45,990→29,982千円と減少しており、売上構成の変化が費用構造に表れている。</a:t>
            </a:r>
            <a:endParaRPr sz="1000" b="0" dirty="0">
              <a:solidFill>
                <a:srgbClr val="1E6B3F"/>
              </a:solidFill>
              <a:latin typeface="游ゴシック" panose="020B0400000000000000" pitchFamily="50" charset="-128"/>
              <a:ea typeface="游ゴシック" panose="020B0400000000000000" pitchFamily="50" charset="-128"/>
            </a:endParaRPr>
          </a:p>
        </p:txBody>
      </p:sp>
      <p:sp>
        <p:nvSpPr>
          <p:cNvPr id="38" name="Rounded Rectangle 37"/>
          <p:cNvSpPr/>
          <p:nvPr/>
        </p:nvSpPr>
        <p:spPr>
          <a:xfrm>
            <a:off x="320040" y="5556895"/>
            <a:ext cx="9921240" cy="868680"/>
          </a:xfrm>
          <a:prstGeom prst="roundRect">
            <a:avLst>
              <a:gd name="adj" fmla="val 6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400">
              <a:latin typeface="游ゴシック" panose="020B0400000000000000" pitchFamily="50" charset="-128"/>
              <a:ea typeface="游ゴシック" panose="020B0400000000000000" pitchFamily="50" charset="-128"/>
            </a:endParaRPr>
          </a:p>
        </p:txBody>
      </p:sp>
      <p:sp>
        <p:nvSpPr>
          <p:cNvPr id="39" name="Rounded Rectangle 38"/>
          <p:cNvSpPr/>
          <p:nvPr/>
        </p:nvSpPr>
        <p:spPr>
          <a:xfrm>
            <a:off x="320040" y="5556895"/>
            <a:ext cx="1417320" cy="868680"/>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400">
              <a:latin typeface="游ゴシック" panose="020B0400000000000000" pitchFamily="50" charset="-128"/>
              <a:ea typeface="游ゴシック" panose="020B0400000000000000" pitchFamily="50" charset="-128"/>
            </a:endParaRPr>
          </a:p>
        </p:txBody>
      </p:sp>
      <p:sp>
        <p:nvSpPr>
          <p:cNvPr id="40" name="Rectangle 39"/>
          <p:cNvSpPr/>
          <p:nvPr/>
        </p:nvSpPr>
        <p:spPr>
          <a:xfrm>
            <a:off x="1600200" y="5556895"/>
            <a:ext cx="137160"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游ゴシック" panose="020B0400000000000000" pitchFamily="50" charset="-128"/>
              <a:ea typeface="游ゴシック" panose="020B0400000000000000" pitchFamily="50" charset="-128"/>
            </a:endParaRPr>
          </a:p>
        </p:txBody>
      </p:sp>
      <p:sp>
        <p:nvSpPr>
          <p:cNvPr id="41" name="TextBox 40"/>
          <p:cNvSpPr txBox="1"/>
          <p:nvPr/>
        </p:nvSpPr>
        <p:spPr>
          <a:xfrm>
            <a:off x="411479" y="5895022"/>
            <a:ext cx="1271016" cy="192425"/>
          </a:xfrm>
          <a:prstGeom prst="rect">
            <a:avLst/>
          </a:prstGeom>
          <a:noFill/>
        </p:spPr>
        <p:txBody>
          <a:bodyPr wrap="square" lIns="0" tIns="0" rIns="0" bIns="0" anchor="ctr">
            <a:spAutoFit/>
          </a:bodyPr>
          <a:lstStyle/>
          <a:p>
            <a:pPr algn="ctr">
              <a:lnSpc>
                <a:spcPct val="108000"/>
              </a:lnSpc>
            </a:pPr>
            <a:r>
              <a:rPr sz="1200" b="1">
                <a:solidFill>
                  <a:srgbClr val="FFFFFF"/>
                </a:solidFill>
                <a:latin typeface="游ゴシック" panose="020B0400000000000000" pitchFamily="50" charset="-128"/>
                <a:ea typeface="游ゴシック" panose="020B0400000000000000" pitchFamily="50" charset="-128"/>
              </a:rPr>
              <a:t>ポイント</a:t>
            </a:r>
          </a:p>
        </p:txBody>
      </p:sp>
      <p:sp>
        <p:nvSpPr>
          <p:cNvPr id="42" name="Oval 41"/>
          <p:cNvSpPr/>
          <p:nvPr/>
        </p:nvSpPr>
        <p:spPr>
          <a:xfrm>
            <a:off x="1883664" y="5872363"/>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3" name="TextBox 42"/>
          <p:cNvSpPr txBox="1"/>
          <p:nvPr/>
        </p:nvSpPr>
        <p:spPr>
          <a:xfrm>
            <a:off x="2212848" y="5827953"/>
            <a:ext cx="2304283" cy="326564"/>
          </a:xfrm>
          <a:prstGeom prst="rect">
            <a:avLst/>
          </a:prstGeom>
          <a:noFill/>
        </p:spPr>
        <p:txBody>
          <a:bodyPr wrap="square" lIns="0" tIns="0" rIns="0" bIns="0" anchor="ctr">
            <a:spAutoFit/>
          </a:bodyPr>
          <a:lstStyle/>
          <a:p>
            <a:pPr algn="l">
              <a:lnSpc>
                <a:spcPct val="108000"/>
              </a:lnSpc>
            </a:pPr>
            <a:r>
              <a:rPr sz="1000" b="1" dirty="0" err="1">
                <a:solidFill>
                  <a:srgbClr val="202020"/>
                </a:solidFill>
                <a:latin typeface="游ゴシック" panose="020B0400000000000000" pitchFamily="50" charset="-128"/>
                <a:ea typeface="游ゴシック" panose="020B0400000000000000" pitchFamily="50" charset="-128"/>
              </a:rPr>
              <a:t>FC店は歩合賃料でロイヤリティに含まれ、
固定費負担が軽い</a:t>
            </a:r>
            <a:endParaRPr sz="1000" b="1" dirty="0">
              <a:solidFill>
                <a:srgbClr val="202020"/>
              </a:solidFill>
              <a:latin typeface="游ゴシック" panose="020B0400000000000000" pitchFamily="50" charset="-128"/>
              <a:ea typeface="游ゴシック" panose="020B0400000000000000" pitchFamily="50" charset="-128"/>
            </a:endParaRPr>
          </a:p>
        </p:txBody>
      </p:sp>
      <p:sp>
        <p:nvSpPr>
          <p:cNvPr id="44" name="Oval 43"/>
          <p:cNvSpPr/>
          <p:nvPr/>
        </p:nvSpPr>
        <p:spPr>
          <a:xfrm>
            <a:off x="4718304" y="5872363"/>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5" name="TextBox 44"/>
          <p:cNvSpPr txBox="1"/>
          <p:nvPr/>
        </p:nvSpPr>
        <p:spPr>
          <a:xfrm>
            <a:off x="5047488" y="5827953"/>
            <a:ext cx="2304283" cy="326564"/>
          </a:xfrm>
          <a:prstGeom prst="rect">
            <a:avLst/>
          </a:prstGeom>
          <a:noFill/>
        </p:spPr>
        <p:txBody>
          <a:bodyPr wrap="square" lIns="0" tIns="0" rIns="0" bIns="0" anchor="ctr">
            <a:spAutoFit/>
          </a:bodyPr>
          <a:lstStyle/>
          <a:p>
            <a:pPr algn="l">
              <a:lnSpc>
                <a:spcPct val="108000"/>
              </a:lnSpc>
            </a:pPr>
            <a:r>
              <a:rPr sz="1000" b="1" dirty="0" err="1">
                <a:solidFill>
                  <a:srgbClr val="202020"/>
                </a:solidFill>
                <a:latin typeface="游ゴシック" panose="020B0400000000000000" pitchFamily="50" charset="-128"/>
                <a:ea typeface="游ゴシック" panose="020B0400000000000000" pitchFamily="50" charset="-128"/>
              </a:rPr>
              <a:t>路面店は固定賃料。損益分岐点は高いが、
超過分は利益に直結する</a:t>
            </a:r>
            <a:endParaRPr sz="1000" b="1" dirty="0">
              <a:solidFill>
                <a:srgbClr val="202020"/>
              </a:solidFill>
              <a:latin typeface="游ゴシック" panose="020B0400000000000000" pitchFamily="50" charset="-128"/>
              <a:ea typeface="游ゴシック" panose="020B0400000000000000" pitchFamily="50" charset="-128"/>
            </a:endParaRPr>
          </a:p>
        </p:txBody>
      </p:sp>
      <p:cxnSp>
        <p:nvCxnSpPr>
          <p:cNvPr id="46" name="Connector 45"/>
          <p:cNvCxnSpPr/>
          <p:nvPr/>
        </p:nvCxnSpPr>
        <p:spPr>
          <a:xfrm>
            <a:off x="4572000" y="5675767"/>
            <a:ext cx="0" cy="630936"/>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7552944" y="5872363"/>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8" name="TextBox 47"/>
          <p:cNvSpPr txBox="1"/>
          <p:nvPr/>
        </p:nvSpPr>
        <p:spPr>
          <a:xfrm>
            <a:off x="7882127" y="5827953"/>
            <a:ext cx="2304283" cy="326564"/>
          </a:xfrm>
          <a:prstGeom prst="rect">
            <a:avLst/>
          </a:prstGeom>
          <a:noFill/>
        </p:spPr>
        <p:txBody>
          <a:bodyPr wrap="square" lIns="0" tIns="0" rIns="0" bIns="0" anchor="ctr">
            <a:spAutoFit/>
          </a:bodyPr>
          <a:lstStyle/>
          <a:p>
            <a:pPr algn="l">
              <a:lnSpc>
                <a:spcPct val="108000"/>
              </a:lnSpc>
            </a:pPr>
            <a:r>
              <a:rPr sz="1000" b="1" dirty="0">
                <a:solidFill>
                  <a:srgbClr val="202020"/>
                </a:solidFill>
                <a:latin typeface="游ゴシック" panose="020B0400000000000000" pitchFamily="50" charset="-128"/>
                <a:ea typeface="游ゴシック" panose="020B0400000000000000" pitchFamily="50" charset="-128"/>
              </a:rPr>
              <a:t>粗利率の低下は仕入価格の転嫁遅れが主因。
値付けの見直しが収益改善の鍵</a:t>
            </a:r>
          </a:p>
        </p:txBody>
      </p:sp>
      <p:cxnSp>
        <p:nvCxnSpPr>
          <p:cNvPr id="49" name="Connector 48"/>
          <p:cNvCxnSpPr/>
          <p:nvPr/>
        </p:nvCxnSpPr>
        <p:spPr>
          <a:xfrm>
            <a:off x="7406640" y="5675767"/>
            <a:ext cx="0" cy="630936"/>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08445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組織、拠点、設備等</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797825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DBCD3-5A3B-2BD8-C28A-632388175E8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59B21744-4533-BD30-603B-B8A7A98290C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組織図</a:t>
            </a:r>
          </a:p>
        </p:txBody>
      </p:sp>
      <p:sp>
        <p:nvSpPr>
          <p:cNvPr id="5" name="タイトル 1">
            <a:extLst>
              <a:ext uri="{FF2B5EF4-FFF2-40B4-BE49-F238E27FC236}">
                <a16:creationId xmlns:a16="http://schemas.microsoft.com/office/drawing/2014/main" id="{804C58BE-3C7F-3F33-BB99-084C0822899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14" name="Rounded Rectangle 13"/>
          <p:cNvSpPr/>
          <p:nvPr/>
        </p:nvSpPr>
        <p:spPr>
          <a:xfrm>
            <a:off x="4104000" y="1584000"/>
            <a:ext cx="2340000" cy="540000"/>
          </a:xfrm>
          <a:prstGeom prst="roundRect">
            <a:avLst/>
          </a:prstGeom>
          <a:solidFill>
            <a:srgbClr val="1F3B5B"/>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株主総会</a:t>
            </a:r>
            <a:endParaRPr sz="1400" b="1" dirty="0">
              <a:solidFill>
                <a:srgbClr val="FFFFFF"/>
              </a:solidFill>
              <a:latin typeface="游ゴシック" panose="020B0400000000000000" pitchFamily="50" charset="-128"/>
              <a:ea typeface="游ゴシック" panose="020B0400000000000000" pitchFamily="50" charset="-128"/>
            </a:endParaRPr>
          </a:p>
        </p:txBody>
      </p:sp>
      <p:sp>
        <p:nvSpPr>
          <p:cNvPr id="15" name="Rounded Rectangle 14"/>
          <p:cNvSpPr/>
          <p:nvPr/>
        </p:nvSpPr>
        <p:spPr>
          <a:xfrm>
            <a:off x="4104000" y="2463563"/>
            <a:ext cx="2340000" cy="576000"/>
          </a:xfrm>
          <a:prstGeom prst="roundRect">
            <a:avLst/>
          </a:prstGeom>
          <a:solidFill>
            <a:srgbClr val="2E5A88"/>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a:solidFill>
                  <a:srgbClr val="FFFFFF"/>
                </a:solidFill>
                <a:latin typeface="游ゴシック" panose="020B0400000000000000" pitchFamily="50" charset="-128"/>
                <a:ea typeface="游ゴシック" panose="020B0400000000000000" pitchFamily="50" charset="-128"/>
              </a:rPr>
              <a:t>代表取締役　淺野 ゆう子
経理全般・金融機関対応</a:t>
            </a:r>
          </a:p>
        </p:txBody>
      </p:sp>
      <p:sp>
        <p:nvSpPr>
          <p:cNvPr id="16" name="Rounded Rectangle 15"/>
          <p:cNvSpPr/>
          <p:nvPr/>
        </p:nvSpPr>
        <p:spPr>
          <a:xfrm>
            <a:off x="7343906" y="2463563"/>
            <a:ext cx="1728000" cy="576000"/>
          </a:xfrm>
          <a:prstGeom prst="roundRect">
            <a:avLst/>
          </a:prstGeom>
          <a:solidFill>
            <a:srgbClr val="7A8A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顧問税理士
堀江将仁税理士事務所</a:t>
            </a:r>
            <a:endParaRPr sz="1200" b="1" dirty="0">
              <a:solidFill>
                <a:srgbClr val="FFFFFF"/>
              </a:solidFill>
              <a:latin typeface="游ゴシック" panose="020B0400000000000000" pitchFamily="50" charset="-128"/>
              <a:ea typeface="游ゴシック" panose="020B0400000000000000" pitchFamily="50" charset="-128"/>
            </a:endParaRPr>
          </a:p>
        </p:txBody>
      </p:sp>
      <p:sp>
        <p:nvSpPr>
          <p:cNvPr id="17" name="Rounded Rectangle 16"/>
          <p:cNvSpPr/>
          <p:nvPr/>
        </p:nvSpPr>
        <p:spPr>
          <a:xfrm>
            <a:off x="4302000" y="3379126"/>
            <a:ext cx="1944000"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現場責任者　淺野 崇
経営業務・人材育成・店舗管理</a:t>
            </a:r>
          </a:p>
        </p:txBody>
      </p:sp>
      <p:sp>
        <p:nvSpPr>
          <p:cNvPr id="18" name="Rounded Rectangle 17"/>
          <p:cNvSpPr/>
          <p:nvPr/>
        </p:nvSpPr>
        <p:spPr>
          <a:xfrm>
            <a:off x="1682584" y="4644000"/>
            <a:ext cx="1944000"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ワンラブFC店（4店舗）
正社員8名／アルバイト19名</a:t>
            </a:r>
          </a:p>
        </p:txBody>
      </p:sp>
      <p:grpSp>
        <p:nvGrpSpPr>
          <p:cNvPr id="35" name="グループ化 34">
            <a:extLst>
              <a:ext uri="{FF2B5EF4-FFF2-40B4-BE49-F238E27FC236}">
                <a16:creationId xmlns:a16="http://schemas.microsoft.com/office/drawing/2014/main" id="{AC1E647A-CD1D-78EE-4DB1-47F6152361A2}"/>
              </a:ext>
            </a:extLst>
          </p:cNvPr>
          <p:cNvGrpSpPr/>
          <p:nvPr/>
        </p:nvGrpSpPr>
        <p:grpSpPr>
          <a:xfrm>
            <a:off x="3072384" y="5760720"/>
            <a:ext cx="4410643" cy="720002"/>
            <a:chOff x="449263" y="5899125"/>
            <a:chExt cx="4410643" cy="720002"/>
          </a:xfrm>
        </p:grpSpPr>
        <p:sp>
          <p:nvSpPr>
            <p:cNvPr id="19" name="Rounded Rectangle 18"/>
            <p:cNvSpPr/>
            <p:nvPr/>
          </p:nvSpPr>
          <p:spPr>
            <a:xfrm>
              <a:off x="449263" y="5899127"/>
              <a:ext cx="1997921"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松阪管理センター
正社員1名／アルバイト1名</a:t>
              </a:r>
            </a:p>
          </p:txBody>
        </p:sp>
        <p:sp>
          <p:nvSpPr>
            <p:cNvPr id="20" name="Rounded Rectangle 19"/>
            <p:cNvSpPr/>
            <p:nvPr/>
          </p:nvSpPr>
          <p:spPr>
            <a:xfrm>
              <a:off x="2861985" y="5899125"/>
              <a:ext cx="1997921"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a:solidFill>
                    <a:srgbClr val="FFFFFF"/>
                  </a:solidFill>
                  <a:latin typeface="游ゴシック" panose="020B0400000000000000" pitchFamily="50" charset="-128"/>
                  <a:ea typeface="游ゴシック" panose="020B0400000000000000" pitchFamily="50" charset="-128"/>
                </a:rPr>
                <a:t>※大垣管理センターは
2026年2月に閉鎖</a:t>
              </a:r>
            </a:p>
          </p:txBody>
        </p:sp>
      </p:grpSp>
      <p:sp>
        <p:nvSpPr>
          <p:cNvPr id="21" name="Rounded Rectangle 20"/>
          <p:cNvSpPr/>
          <p:nvPr/>
        </p:nvSpPr>
        <p:spPr>
          <a:xfrm>
            <a:off x="6903720" y="4644000"/>
            <a:ext cx="2240280"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おっきなもふもふ応援隊（2店舗）
正社員5名／アルバイト13名</a:t>
            </a:r>
            <a:endParaRPr lang="en-US" altLang="ja-JP" sz="1100" b="0" dirty="0">
              <a:solidFill>
                <a:srgbClr val="FFFFFF"/>
              </a:solidFill>
              <a:latin typeface="游ゴシック" panose="020B0400000000000000" pitchFamily="50" charset="-128"/>
              <a:ea typeface="游ゴシック" panose="020B0400000000000000" pitchFamily="50" charset="-128"/>
            </a:endParaRPr>
          </a:p>
        </p:txBody>
      </p:sp>
      <p:sp>
        <p:nvSpPr>
          <p:cNvPr id="30" name="TextBox 29"/>
          <p:cNvSpPr txBox="1"/>
          <p:nvPr/>
        </p:nvSpPr>
        <p:spPr>
          <a:xfrm>
            <a:off x="310896" y="1296002"/>
            <a:ext cx="3703320" cy="1062273"/>
          </a:xfrm>
          <a:prstGeom prst="rect">
            <a:avLst/>
          </a:prstGeom>
          <a:noFill/>
        </p:spPr>
        <p:txBody>
          <a:bodyPr wrap="square" lIns="36000" tIns="18000" rIns="36000" bIns="18000" anchor="t">
            <a:spAutoFit/>
          </a:bodyPr>
          <a:lstStyle/>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【人員構成】（2026年9月時点）</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役員　　　：2名　　正社員　：14名</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アルバイト：33名　合計　　：49名</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※取締役会・監査役はいずれも非設置</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※従業員名簿の在籍者49名の内訳。撤退した</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大垣店・岐阜店および大垣管理センターに</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在籍者はいない</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※図中の各ブロックはP.22「従業員構成」の</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部署・店舗と対応している</a:t>
            </a:r>
          </a:p>
        </p:txBody>
      </p:sp>
      <p:cxnSp>
        <p:nvCxnSpPr>
          <p:cNvPr id="4" name="直線コネクタ 3">
            <a:extLst>
              <a:ext uri="{FF2B5EF4-FFF2-40B4-BE49-F238E27FC236}">
                <a16:creationId xmlns:a16="http://schemas.microsoft.com/office/drawing/2014/main" id="{6910554C-A8F7-2E7B-2187-2EB8E4D6CD80}"/>
              </a:ext>
            </a:extLst>
          </p:cNvPr>
          <p:cNvCxnSpPr>
            <a:cxnSpLocks/>
            <a:stCxn id="14" idx="2"/>
            <a:endCxn id="15" idx="0"/>
          </p:cNvCxnSpPr>
          <p:nvPr/>
        </p:nvCxnSpPr>
        <p:spPr>
          <a:xfrm>
            <a:off x="5274000" y="2124000"/>
            <a:ext cx="0" cy="339563"/>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直線コネクタ 6">
            <a:extLst>
              <a:ext uri="{FF2B5EF4-FFF2-40B4-BE49-F238E27FC236}">
                <a16:creationId xmlns:a16="http://schemas.microsoft.com/office/drawing/2014/main" id="{8DB271CB-D244-AEE5-0208-F67269BCA98A}"/>
              </a:ext>
            </a:extLst>
          </p:cNvPr>
          <p:cNvCxnSpPr>
            <a:cxnSpLocks/>
            <a:stCxn id="15" idx="2"/>
            <a:endCxn id="17" idx="0"/>
          </p:cNvCxnSpPr>
          <p:nvPr/>
        </p:nvCxnSpPr>
        <p:spPr>
          <a:xfrm>
            <a:off x="5274000" y="3039563"/>
            <a:ext cx="0" cy="339563"/>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コネクタ: カギ線 10">
            <a:extLst>
              <a:ext uri="{FF2B5EF4-FFF2-40B4-BE49-F238E27FC236}">
                <a16:creationId xmlns:a16="http://schemas.microsoft.com/office/drawing/2014/main" id="{2136E07C-342C-3DF0-731D-7777EA98F187}"/>
              </a:ext>
            </a:extLst>
          </p:cNvPr>
          <p:cNvCxnSpPr>
            <a:cxnSpLocks/>
            <a:stCxn id="17" idx="2"/>
            <a:endCxn id="18" idx="0"/>
          </p:cNvCxnSpPr>
          <p:nvPr/>
        </p:nvCxnSpPr>
        <p:spPr>
          <a:xfrm rot="5400000">
            <a:off x="3691855" y="3061855"/>
            <a:ext cx="544874" cy="2619416"/>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37" name="コネクタ: カギ線 36">
            <a:extLst>
              <a:ext uri="{FF2B5EF4-FFF2-40B4-BE49-F238E27FC236}">
                <a16:creationId xmlns:a16="http://schemas.microsoft.com/office/drawing/2014/main" id="{A1C87416-FE65-6B10-1435-012AD1EB9084}"/>
              </a:ext>
            </a:extLst>
          </p:cNvPr>
          <p:cNvCxnSpPr>
            <a:cxnSpLocks/>
            <a:stCxn id="17" idx="2"/>
            <a:endCxn id="21" idx="0"/>
          </p:cNvCxnSpPr>
          <p:nvPr/>
        </p:nvCxnSpPr>
        <p:spPr>
          <a:xfrm rot="16200000" flipH="1">
            <a:off x="6383178" y="2989948"/>
            <a:ext cx="544874" cy="2763230"/>
          </a:xfrm>
          <a:prstGeom prst="bentConnector3">
            <a:avLst>
              <a:gd name="adj1" fmla="val 50000"/>
            </a:avLst>
          </a:prstGeom>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276088" y="4105656"/>
            <a:ext cx="0" cy="1472184"/>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69080" y="5577840"/>
            <a:ext cx="2414016" cy="0"/>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069080" y="5577840"/>
            <a:ext cx="0" cy="182880"/>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483096" y="5577840"/>
            <a:ext cx="0" cy="182880"/>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286124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5D0D1-0787-475E-2A3A-4107DB8EC8C6}"/>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7057045-99B0-78F1-349A-A7BFEFFF27C9}"/>
              </a:ext>
            </a:extLst>
          </p:cNvPr>
          <p:cNvSpPr>
            <a:spLocks noGrp="1"/>
          </p:cNvSpPr>
          <p:nvPr>
            <p:ph type="ctrTitle"/>
          </p:nvPr>
        </p:nvSpPr>
        <p:spPr>
          <a:xfrm>
            <a:off x="311150" y="180296"/>
            <a:ext cx="7799917" cy="339267"/>
          </a:xfrm>
        </p:spPr>
        <p:txBody>
          <a:bodyPr>
            <a:normAutofit/>
          </a:bodyPr>
          <a:lstStyle/>
          <a:p>
            <a:r>
              <a:rPr lang="ja-JP" altLang="en-US" dirty="0"/>
              <a:t>従業員構成</a:t>
            </a:r>
          </a:p>
        </p:txBody>
      </p:sp>
      <p:sp>
        <p:nvSpPr>
          <p:cNvPr id="2" name="タイトル 1">
            <a:extLst>
              <a:ext uri="{FF2B5EF4-FFF2-40B4-BE49-F238E27FC236}">
                <a16:creationId xmlns:a16="http://schemas.microsoft.com/office/drawing/2014/main" id="{221C2F7A-197F-87B3-7293-77B559F8B532}"/>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6" name="字幕 13">
            <a:extLst>
              <a:ext uri="{FF2B5EF4-FFF2-40B4-BE49-F238E27FC236}">
                <a16:creationId xmlns:a16="http://schemas.microsoft.com/office/drawing/2014/main" id="{9F39F7D2-779F-1749-1B8E-9FCB51D635CB}"/>
              </a:ext>
            </a:extLst>
          </p:cNvPr>
          <p:cNvSpPr>
            <a:spLocks noGrp="1"/>
          </p:cNvSpPr>
          <p:nvPr>
            <p:ph type="subTitle" idx="1"/>
          </p:nvPr>
        </p:nvSpPr>
        <p:spPr>
          <a:xfrm>
            <a:off x="460675" y="830046"/>
            <a:ext cx="9781875" cy="241861"/>
          </a:xfrm>
        </p:spPr>
        <p:txBody>
          <a:bodyPr>
            <a:noAutofit/>
          </a:bodyPr>
          <a:lstStyle/>
          <a:p>
            <a:r>
              <a:rPr lang="ja-JP" altLang="en-US" dirty="0">
                <a:latin typeface="+mj-ea"/>
              </a:rPr>
              <a:t>2026年9月時点で在籍が確認できる従業員は49名（役員2名、正社員14名、アルバイト33名）。不採算2店舗の撤退に伴い、2025年12月以降に57名が退職している。</a:t>
            </a:r>
            <a:endParaRPr lang="en-US" altLang="ja-JP" dirty="0"/>
          </a:p>
        </p:txBody>
      </p:sp>
      <p:graphicFrame>
        <p:nvGraphicFramePr>
          <p:cNvPr id="4" name="表 3">
            <a:extLst>
              <a:ext uri="{FF2B5EF4-FFF2-40B4-BE49-F238E27FC236}">
                <a16:creationId xmlns:a16="http://schemas.microsoft.com/office/drawing/2014/main" id="{CC8F67C9-68E7-9BE5-E6D9-6B1766F63D86}"/>
              </a:ext>
            </a:extLst>
          </p:cNvPr>
          <p:cNvGraphicFramePr>
            <a:graphicFrameLocks noGrp="1"/>
          </p:cNvGraphicFramePr>
          <p:nvPr>
            <p:extLst>
              <p:ext uri="{D42A27DB-BD31-4B8C-83A1-F6EECF244321}">
                <p14:modId xmlns:p14="http://schemas.microsoft.com/office/powerpoint/2010/main" val="465018164"/>
              </p:ext>
            </p:extLst>
          </p:nvPr>
        </p:nvGraphicFramePr>
        <p:xfrm>
          <a:off x="311150" y="1465133"/>
          <a:ext cx="10040112" cy="3877056"/>
        </p:xfrm>
        <a:graphic>
          <a:graphicData uri="http://schemas.openxmlformats.org/drawingml/2006/table">
            <a:tbl>
              <a:tblPr/>
              <a:tblGrid>
                <a:gridCol w="274320">
                  <a:extLst>
                    <a:ext uri="{9D8B030D-6E8A-4147-A177-3AD203B41FA5}">
                      <a16:colId xmlns:a16="http://schemas.microsoft.com/office/drawing/2014/main" val="2009964781"/>
                    </a:ext>
                  </a:extLst>
                </a:gridCol>
                <a:gridCol w="2286000">
                  <a:extLst>
                    <a:ext uri="{9D8B030D-6E8A-4147-A177-3AD203B41FA5}">
                      <a16:colId xmlns:a16="http://schemas.microsoft.com/office/drawing/2014/main" val="2892268224"/>
                    </a:ext>
                  </a:extLst>
                </a:gridCol>
                <a:gridCol w="530352">
                  <a:extLst>
                    <a:ext uri="{9D8B030D-6E8A-4147-A177-3AD203B41FA5}">
                      <a16:colId xmlns:a16="http://schemas.microsoft.com/office/drawing/2014/main" val="1250532957"/>
                    </a:ext>
                  </a:extLst>
                </a:gridCol>
                <a:gridCol w="566928">
                  <a:extLst>
                    <a:ext uri="{9D8B030D-6E8A-4147-A177-3AD203B41FA5}">
                      <a16:colId xmlns:a16="http://schemas.microsoft.com/office/drawing/2014/main" val="2143222230"/>
                    </a:ext>
                  </a:extLst>
                </a:gridCol>
                <a:gridCol w="475488">
                  <a:extLst>
                    <a:ext uri="{9D8B030D-6E8A-4147-A177-3AD203B41FA5}">
                      <a16:colId xmlns:a16="http://schemas.microsoft.com/office/drawing/2014/main" val="781273896"/>
                    </a:ext>
                  </a:extLst>
                </a:gridCol>
                <a:gridCol w="640080">
                  <a:extLst>
                    <a:ext uri="{9D8B030D-6E8A-4147-A177-3AD203B41FA5}">
                      <a16:colId xmlns:a16="http://schemas.microsoft.com/office/drawing/2014/main" val="2143180587"/>
                    </a:ext>
                  </a:extLst>
                </a:gridCol>
                <a:gridCol w="658368">
                  <a:extLst>
                    <a:ext uri="{9D8B030D-6E8A-4147-A177-3AD203B41FA5}">
                      <a16:colId xmlns:a16="http://schemas.microsoft.com/office/drawing/2014/main" val="705162408"/>
                    </a:ext>
                  </a:extLst>
                </a:gridCol>
                <a:gridCol w="640080">
                  <a:extLst>
                    <a:ext uri="{9D8B030D-6E8A-4147-A177-3AD203B41FA5}">
                      <a16:colId xmlns:a16="http://schemas.microsoft.com/office/drawing/2014/main" val="1493568873"/>
                    </a:ext>
                  </a:extLst>
                </a:gridCol>
                <a:gridCol w="969264">
                  <a:extLst>
                    <a:ext uri="{9D8B030D-6E8A-4147-A177-3AD203B41FA5}">
                      <a16:colId xmlns:a16="http://schemas.microsoft.com/office/drawing/2014/main" val="2652574131"/>
                    </a:ext>
                  </a:extLst>
                </a:gridCol>
                <a:gridCol w="2999232">
                  <a:extLst>
                    <a:ext uri="{9D8B030D-6E8A-4147-A177-3AD203B41FA5}">
                      <a16:colId xmlns:a16="http://schemas.microsoft.com/office/drawing/2014/main" val="3699930150"/>
                    </a:ext>
                  </a:extLst>
                </a:gridCol>
                <a:gridCol w="0">
                  <a:extLst>
                    <a:ext uri="{9D8B030D-6E8A-4147-A177-3AD203B41FA5}">
                      <a16:colId xmlns:a16="http://schemas.microsoft.com/office/drawing/2014/main" val="3457569815"/>
                    </a:ext>
                  </a:extLst>
                </a:gridCol>
              </a:tblGrid>
              <a:tr h="146304">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gridSpan="2">
                  <a:txBody>
                    <a:bodyPr/>
                    <a:lstStyle/>
                    <a:p>
                      <a:pPr algn="r" fontAlgn="ctr">
                        <a:buNone/>
                      </a:pPr>
                      <a:r>
                        <a:rPr lang="ja-JP" altLang="en-US"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b">
                    <a:lnL>
                      <a:noFill/>
                    </a:lnL>
                    <a:lnR>
                      <a:noFill/>
                    </a:lnR>
                    <a:lnT>
                      <a:noFill/>
                    </a:lnT>
                    <a:lnB>
                      <a:noFill/>
                    </a:lnB>
                    <a:no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nchor="ctr">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extLst>
                  <a:ext uri="{0D108BD9-81ED-4DB2-BD59-A6C34878D82A}">
                    <a16:rowId xmlns:a16="http://schemas.microsoft.com/office/drawing/2014/main" val="3764227106"/>
                  </a:ext>
                </a:extLst>
              </a:tr>
              <a:tr h="475488">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98" marR="3698" marT="3698"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部署・店舗</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正社員
等(名)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アルバ
イト(名)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合計
(名)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平均年齢
(歳)</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平均勤続
年数(年)</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動物取扱
責任者</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進行期7か月
売上高(千円)</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備考</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rgbClr val="FFFFFF"/>
                      </a:solidFill>
                      <a:prstDash val="solid"/>
                      <a:round/>
                      <a:headEnd type="none" w="med" len="med"/>
                      <a:tailEnd type="none" w="med" len="med"/>
                    </a:lnL>
                    <a:lnR>
                      <a:noFill/>
                    </a:lnR>
                    <a:lnT>
                      <a:noFill/>
                    </a:lnT>
                    <a:lnB w="12700" cap="flat" cmpd="sng" algn="ctr">
                      <a:solidFill>
                        <a:schemeClr val="bg1">
                          <a:lumMod val="75000"/>
                        </a:schemeClr>
                      </a:solidFill>
                      <a:prstDash val="solid"/>
                      <a:round/>
                      <a:headEnd type="none" w="med" len="med"/>
                      <a:tailEnd type="none" w="med" len="med"/>
                    </a:lnB>
                    <a:solidFill>
                      <a:srgbClr val="0B3041"/>
                    </a:solidFill>
                  </a:tcPr>
                </a:tc>
                <a:extLst>
                  <a:ext uri="{0D108BD9-81ED-4DB2-BD59-A6C34878D82A}">
                    <a16:rowId xmlns:a16="http://schemas.microsoft.com/office/drawing/2014/main" val="2361366934"/>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本社</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43.4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代表取締役 淺野ゆう子氏および現場責任者 淺野崇氏。いずれも給与体系は「役員」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801966053"/>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28.1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25,109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松阪管理センターと一体で運営されていると推察</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747260770"/>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33.7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40,221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857659668"/>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32.9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33,840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099209033"/>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39.9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36,963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現場責任者 淺野崇氏が動物取扱責任者を兼務</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424355270"/>
                  </a:ext>
                </a:extLst>
              </a:tr>
              <a:tr h="365760">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10</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34.5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60,023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563620634"/>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8</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28.7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58,447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53212797"/>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松阪管理センター</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36.9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バックヤード管理／デザイナーズワン㈱の生体管理</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724010098"/>
                  </a:ext>
                </a:extLst>
              </a:tr>
              <a:tr h="329184">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合計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254,603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※稼働6店舗の合計。ほかに共通部門13,650千円・セキュリティ事業2,945千円</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960730710"/>
                  </a:ext>
                </a:extLst>
              </a:tr>
            </a:tbl>
          </a:graphicData>
        </a:graphic>
      </p:graphicFrame>
      <p:sp>
        <p:nvSpPr>
          <p:cNvPr id="14" name="TextBox 13"/>
          <p:cNvSpPr txBox="1"/>
          <p:nvPr/>
        </p:nvSpPr>
        <p:spPr>
          <a:xfrm>
            <a:off x="310896" y="5760720"/>
            <a:ext cx="10040112" cy="1097280"/>
          </a:xfrm>
          <a:prstGeom prst="rect">
            <a:avLst/>
          </a:prstGeom>
          <a:noFill/>
        </p:spPr>
        <p:txBody>
          <a:bodyPr wrap="square">
            <a:spAutoFit/>
          </a:bodyPr>
          <a:lstStyle/>
          <a:p>
            <a:r>
              <a:rPr sz="800">
                <a:latin typeface="游ゴシック Medium"/>
              </a:rPr>
              <a:t>※出所：対象会社提供「従業員名簿（全従業員195名）」。退職年月日が入力されていない49名を在籍者として集計。平均年齢・平均勤続年数は2026年9月23日時点。</a:t>
            </a:r>
          </a:p>
          <a:p>
            <a:r>
              <a:rPr sz="800">
                <a:latin typeface="游ゴシック Medium"/>
              </a:rPr>
              <a:t>※本名簿は2026年8月27日入社・同年8月31日退職までを収録しており、足元の異動を反映している。195名のうち146名が退職済（2025年12月以降の退職57名）。</a:t>
            </a:r>
          </a:p>
          <a:p>
            <a:r>
              <a:rPr sz="800">
                <a:latin typeface="游ゴシック Medium"/>
              </a:rPr>
              <a:t>※撤退したアクアウォーク大垣店・ペットプラザ岐阜店および大垣管理センターには在籍者がいない。店舗別試算表で両店の売上が2026年1月・2月で終了していることと整合する。</a:t>
            </a:r>
          </a:p>
          <a:p>
            <a:r>
              <a:rPr sz="800">
                <a:latin typeface="游ゴシック Medium"/>
              </a:rPr>
              <a:t>※役員2名（代表取締役 淺野ゆう子氏／現場責任者 淺野崇氏）は入社日の登録がないため、平均勤続年数の集計対象外。</a:t>
            </a:r>
          </a:p>
          <a:p>
            <a:r>
              <a:rPr sz="800">
                <a:latin typeface="游ゴシック Medium"/>
              </a:rPr>
              <a:t>※動物取扱責任者欄の「○」は各事業所に配置済、「※」は他事業所の責任者が兼務していると推察されるもの（要確認）。</a:t>
            </a:r>
          </a:p>
        </p:txBody>
      </p:sp>
    </p:spTree>
    <p:extLst>
      <p:ext uri="{BB962C8B-B14F-4D97-AF65-F5344CB8AC3E}">
        <p14:creationId xmlns:p14="http://schemas.microsoft.com/office/powerpoint/2010/main" val="4530259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03609-222B-9ED1-3971-FD74357068F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A1341D04-ECAD-EC45-3E0F-0A6E48CF0055}"/>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拠点概要（本社・管理センター）</a:t>
            </a:r>
          </a:p>
        </p:txBody>
      </p:sp>
      <p:sp>
        <p:nvSpPr>
          <p:cNvPr id="2" name="正方形/長方形 1">
            <a:extLst>
              <a:ext uri="{FF2B5EF4-FFF2-40B4-BE49-F238E27FC236}">
                <a16:creationId xmlns:a16="http://schemas.microsoft.com/office/drawing/2014/main" id="{B911B5B5-26E9-D443-5D18-24CB337DC6C2}"/>
              </a:ext>
            </a:extLst>
          </p:cNvPr>
          <p:cNvSpPr/>
          <p:nvPr/>
        </p:nvSpPr>
        <p:spPr>
          <a:xfrm>
            <a:off x="311151" y="1517736"/>
            <a:ext cx="256032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游ゴシック" panose="020B0400000000000000" pitchFamily="50" charset="-128"/>
                <a:ea typeface="游ゴシック" panose="020B0400000000000000" pitchFamily="50" charset="-128"/>
              </a:rPr>
              <a:t>本社・管理センター</a:t>
            </a:r>
          </a:p>
        </p:txBody>
      </p:sp>
      <p:sp>
        <p:nvSpPr>
          <p:cNvPr id="6" name="タイトル 1">
            <a:extLst>
              <a:ext uri="{FF2B5EF4-FFF2-40B4-BE49-F238E27FC236}">
                <a16:creationId xmlns:a16="http://schemas.microsoft.com/office/drawing/2014/main" id="{4135B88D-7C29-09E2-3480-0C15210B5598}"/>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9" name="字幕 13">
            <a:extLst>
              <a:ext uri="{FF2B5EF4-FFF2-40B4-BE49-F238E27FC236}">
                <a16:creationId xmlns:a16="http://schemas.microsoft.com/office/drawing/2014/main" id="{FA3810D3-D283-20FC-70FC-01CAB5A3A25A}"/>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本社は岐阜県大垣市。登記上の本店であり、代表者の自宅を法人が賃借している。このほか、バックヤード管理と仕入先デザイナーズワン㈱の生体管理を担う管理センターを大垣・松阪の2箇所に置く。</a:t>
            </a:r>
            <a:endParaRPr lang="en-US" altLang="ja-JP" dirty="0">
              <a:latin typeface="游ゴシック" panose="020B0400000000000000" pitchFamily="50" charset="-128"/>
              <a:ea typeface="游ゴシック" panose="020B0400000000000000" pitchFamily="50" charset="-128"/>
            </a:endParaRPr>
          </a:p>
        </p:txBody>
      </p:sp>
      <p:graphicFrame>
        <p:nvGraphicFramePr>
          <p:cNvPr id="7" name="表 6">
            <a:extLst>
              <a:ext uri="{FF2B5EF4-FFF2-40B4-BE49-F238E27FC236}">
                <a16:creationId xmlns:a16="http://schemas.microsoft.com/office/drawing/2014/main" id="{243A9EB5-5D9C-4429-9545-A042FCFAE03D}"/>
              </a:ext>
            </a:extLst>
          </p:cNvPr>
          <p:cNvGraphicFramePr>
            <a:graphicFrameLocks noGrp="1"/>
          </p:cNvGraphicFramePr>
          <p:nvPr>
            <p:extLst>
              <p:ext uri="{D42A27DB-BD31-4B8C-83A1-F6EECF244321}">
                <p14:modId xmlns:p14="http://schemas.microsoft.com/office/powerpoint/2010/main" val="3161184044"/>
              </p:ext>
            </p:extLst>
          </p:nvPr>
        </p:nvGraphicFramePr>
        <p:xfrm>
          <a:off x="311150" y="2252849"/>
          <a:ext cx="9930384" cy="1591056"/>
        </p:xfrm>
        <a:graphic>
          <a:graphicData uri="http://schemas.openxmlformats.org/drawingml/2006/table">
            <a:tbl>
              <a:tblPr/>
              <a:tblGrid>
                <a:gridCol w="2926080">
                  <a:extLst>
                    <a:ext uri="{9D8B030D-6E8A-4147-A177-3AD203B41FA5}">
                      <a16:colId xmlns:a16="http://schemas.microsoft.com/office/drawing/2014/main" val="3476428286"/>
                    </a:ext>
                  </a:extLst>
                </a:gridCol>
                <a:gridCol w="1965960">
                  <a:extLst>
                    <a:ext uri="{9D8B030D-6E8A-4147-A177-3AD203B41FA5}">
                      <a16:colId xmlns:a16="http://schemas.microsoft.com/office/drawing/2014/main" val="2339241926"/>
                    </a:ext>
                  </a:extLst>
                </a:gridCol>
                <a:gridCol w="658368">
                  <a:extLst>
                    <a:ext uri="{9D8B030D-6E8A-4147-A177-3AD203B41FA5}">
                      <a16:colId xmlns:a16="http://schemas.microsoft.com/office/drawing/2014/main" val="493417906"/>
                    </a:ext>
                  </a:extLst>
                </a:gridCol>
                <a:gridCol w="658368">
                  <a:extLst>
                    <a:ext uri="{9D8B030D-6E8A-4147-A177-3AD203B41FA5}">
                      <a16:colId xmlns:a16="http://schemas.microsoft.com/office/drawing/2014/main" val="773435530"/>
                    </a:ext>
                  </a:extLst>
                </a:gridCol>
                <a:gridCol w="658368">
                  <a:extLst>
                    <a:ext uri="{9D8B030D-6E8A-4147-A177-3AD203B41FA5}">
                      <a16:colId xmlns:a16="http://schemas.microsoft.com/office/drawing/2014/main" val="1444742129"/>
                    </a:ext>
                  </a:extLst>
                </a:gridCol>
                <a:gridCol w="3063240">
                  <a:extLst>
                    <a:ext uri="{9D8B030D-6E8A-4147-A177-3AD203B41FA5}">
                      <a16:colId xmlns:a16="http://schemas.microsoft.com/office/drawing/2014/main" val="190350001"/>
                    </a:ext>
                  </a:extLst>
                </a:gridCol>
              </a:tblGrid>
              <a:tr h="384048">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所在地</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契約形態</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延床面積
(㎡)</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月間賃料
(千円)</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敷金
(千円)</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0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1270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1437362628"/>
                  </a:ext>
                </a:extLst>
              </a:tr>
              <a:tr h="40233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本社：岐阜県大垣市青柳町3丁目227番地2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賃貸借（貸主：個人）</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83</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要確認</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rPr>
                        <a:t>登記上の本店。代表者自宅。2025年11月期の年間家賃1,000千円</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00183313"/>
                  </a:ext>
                </a:extLst>
              </a:tr>
              <a:tr h="40233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大垣管理センター：岐阜県大垣市上面4丁目17-1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賃貸借（大東建託パートナーズ㈱）</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48</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要確認</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rPr>
                        <a:t>ペット出産用施設として計上。年間家賃574千円。所在地の特定は要確認</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00183313"/>
                  </a:ext>
                </a:extLst>
              </a:tr>
              <a:tr h="40233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松阪管理センター：三重県松阪市（要確認）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賃貸借（ジェイリース㈱）</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202</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要確認</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rPr>
                        <a:t>決算書上は「明和店倉庫」として年間家賃2,420千円を計上。同一施設か要確認</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00183313"/>
                  </a:ext>
                </a:extLst>
              </a:tr>
            </a:tbl>
          </a:graphicData>
        </a:graphic>
      </p:graphicFrame>
      <p:sp>
        <p:nvSpPr>
          <p:cNvPr id="10" name="正方形/長方形 9">
            <a:extLst>
              <a:ext uri="{FF2B5EF4-FFF2-40B4-BE49-F238E27FC236}">
                <a16:creationId xmlns:a16="http://schemas.microsoft.com/office/drawing/2014/main" id="{31921F09-68E7-1C7E-815D-C79453CBABBF}"/>
              </a:ext>
            </a:extLst>
          </p:cNvPr>
          <p:cNvSpPr/>
          <p:nvPr/>
        </p:nvSpPr>
        <p:spPr>
          <a:xfrm>
            <a:off x="310896" y="4023360"/>
            <a:ext cx="9930384" cy="265176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【拠点の役割と留意点】</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本社（大垣市青柳町）：登記上の本店であり、代表者の自宅を法人が賃借している（貸主は個人、2025年11月期の年間家賃1,000千円）。経理・仕入管理等の管理機能を担う。譲渡後の賃貸借契約の継続または本店移転の要否は要確認。</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大垣管理センター／松阪管理センター：店舗のバックヤード管理（生体の一時預かり・健康管理）に加え、仕入先であるデザイナーズワン株式会社（代表者の親族が経営）の生体管理を受託している。2025年11月期末の棚卸資産のうち、本社管理分32,000千円・バックヤード管理分12,000千円・外部保管在庫10,000千円が両センター等で管理されている。</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上記のほか、従業員社宅（㈱エポスカード／年間家賃513千円）を賃借している。</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2025年11月期の地代家賃合計は33,249千円。うち店舗分（緑店・岐阜総本店・大阪総本店）が28,558千円、本社・管理センター・社宅分が4,507千円、大垣店駐車場地代が185千円。</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※出所：2025年11月期「地代家賃等の内訳書」。延床面積・敷金・契約期間は資料未受領のため要確認。月間賃料は年間支払賃借料を12で除した参考値。</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p:txBody>
      </p:sp>
    </p:spTree>
    <p:extLst>
      <p:ext uri="{BB962C8B-B14F-4D97-AF65-F5344CB8AC3E}">
        <p14:creationId xmlns:p14="http://schemas.microsoft.com/office/powerpoint/2010/main" val="36555198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BC0-753C-033E-F6BF-1E996308297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33F37850-AD52-3D13-0C74-E00196D01FCC}"/>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主要仕入先の3期推移</a:t>
            </a:r>
          </a:p>
        </p:txBody>
      </p:sp>
      <p:sp>
        <p:nvSpPr>
          <p:cNvPr id="6" name="タイトル 1">
            <a:extLst>
              <a:ext uri="{FF2B5EF4-FFF2-40B4-BE49-F238E27FC236}">
                <a16:creationId xmlns:a16="http://schemas.microsoft.com/office/drawing/2014/main" id="{C94241A7-8BCE-A268-9079-8C5AF9CFCFB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sp>
        <p:nvSpPr>
          <p:cNvPr id="9" name="字幕 13">
            <a:extLst>
              <a:ext uri="{FF2B5EF4-FFF2-40B4-BE49-F238E27FC236}">
                <a16:creationId xmlns:a16="http://schemas.microsoft.com/office/drawing/2014/main" id="{B8D00A9D-DB7C-195B-A6F7-0DBDF4FF728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ジャペル㈱とFC本部の㈲ワンラブの2社で仕入高の約75%を構成。2024年11月期以降は個人ブリーダーからの直接仕入を拡大し、大型犬専門店の商品調達を多様化している。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7" name="表 3">
            <a:extLst>
              <a:ext uri="{FF2B5EF4-FFF2-40B4-BE49-F238E27FC236}">
                <a16:creationId xmlns:a16="http://schemas.microsoft.com/office/drawing/2014/main" id="{AF5ABF4B-AE9A-2816-EAD7-AAB16BC7FF1F}"/>
              </a:ext>
            </a:extLst>
          </p:cNvPr>
          <p:cNvGraphicFramePr>
            <a:graphicFrameLocks noGrp="1"/>
          </p:cNvGraphicFramePr>
          <p:nvPr>
            <p:extLst>
              <p:ext uri="{D42A27DB-BD31-4B8C-83A1-F6EECF244321}">
                <p14:modId xmlns:p14="http://schemas.microsoft.com/office/powerpoint/2010/main" val="1737593560"/>
              </p:ext>
            </p:extLst>
          </p:nvPr>
        </p:nvGraphicFramePr>
        <p:xfrm>
          <a:off x="310896" y="1517305"/>
          <a:ext cx="10241280" cy="2377440"/>
        </p:xfrm>
        <a:graphic>
          <a:graphicData uri="http://schemas.openxmlformats.org/drawingml/2006/table">
            <a:tbl>
              <a:tblPr/>
              <a:tblGrid>
                <a:gridCol w="19202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gridCol w="1078992">
                  <a:extLst>
                    <a:ext uri="{9D8B030D-6E8A-4147-A177-3AD203B41FA5}">
                      <a16:colId xmlns:a16="http://schemas.microsoft.com/office/drawing/2014/main" val="20004"/>
                    </a:ext>
                  </a:extLst>
                </a:gridCol>
                <a:gridCol w="1078992">
                  <a:extLst>
                    <a:ext uri="{9D8B030D-6E8A-4147-A177-3AD203B41FA5}">
                      <a16:colId xmlns:a16="http://schemas.microsoft.com/office/drawing/2014/main" val="20005"/>
                    </a:ext>
                  </a:extLst>
                </a:gridCol>
                <a:gridCol w="786384">
                  <a:extLst>
                    <a:ext uri="{9D8B030D-6E8A-4147-A177-3AD203B41FA5}">
                      <a16:colId xmlns:a16="http://schemas.microsoft.com/office/drawing/2014/main" val="20006"/>
                    </a:ext>
                  </a:extLst>
                </a:gridCol>
              </a:tblGrid>
              <a:tr h="420624">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仕入先</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所在地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業種／仕入内容</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25年11月期</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構成比
(25年11月期)</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ジャペル株式会社</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愛知県春日井市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肥料・飼料卸売業／生体・飼育用品等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91,166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109,451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107,140</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58.8%</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有限会社ワンラブ</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愛知県名古屋市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ペット・ペット用品小売業（FC本部）／生体・飼育用品等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44,927</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50,158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29,244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16.0%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extLst>
                  <a:ext uri="{0D108BD9-81ED-4DB2-BD59-A6C34878D82A}">
                    <a16:rowId xmlns:a16="http://schemas.microsoft.com/office/drawing/2014/main" val="10002"/>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個人ブリーダー（複数）</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生体</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9,184</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17,561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9.6%</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デザイナーズワン株式会社</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愛知県一宮市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ペット生育業／生体</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10,500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12,280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9,400</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5.2%</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extLst>
                  <a:ext uri="{0D108BD9-81ED-4DB2-BD59-A6C34878D82A}">
                    <a16:rowId xmlns:a16="http://schemas.microsoft.com/office/drawing/2014/main" val="10004"/>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その他約50社（個人含む）</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37,261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39,728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18,899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合計</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183,854</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220,801</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182,244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100.0%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extLst>
                  <a:ext uri="{0D108BD9-81ED-4DB2-BD59-A6C34878D82A}">
                    <a16:rowId xmlns:a16="http://schemas.microsoft.com/office/drawing/2014/main" val="10006"/>
                  </a:ext>
                </a:extLst>
              </a:tr>
            </a:tbl>
          </a:graphicData>
        </a:graphic>
      </p:graphicFrame>
      <p:sp>
        <p:nvSpPr>
          <p:cNvPr id="10" name="TextBox 14">
            <a:extLst>
              <a:ext uri="{FF2B5EF4-FFF2-40B4-BE49-F238E27FC236}">
                <a16:creationId xmlns:a16="http://schemas.microsoft.com/office/drawing/2014/main" id="{46A477A0-42E5-2D8F-DCCD-59CEEB8A741F}"/>
              </a:ext>
            </a:extLst>
          </p:cNvPr>
          <p:cNvSpPr txBox="1"/>
          <p:nvPr/>
        </p:nvSpPr>
        <p:spPr>
          <a:xfrm>
            <a:off x="310896" y="4096512"/>
            <a:ext cx="10021824" cy="640080"/>
          </a:xfrm>
          <a:prstGeom prst="rect">
            <a:avLst/>
          </a:prstGeom>
          <a:noFill/>
        </p:spPr>
        <p:txBody>
          <a:bodyPr wrap="square" lIns="0" tIns="0" rIns="0" bIns="0" anchor="t">
            <a:spAutoFit/>
          </a:bodyPr>
          <a:lstStyle/>
          <a:p>
            <a:pPr algn="l">
              <a:lnSpc>
                <a:spcPct val="115000"/>
              </a:lnSpc>
            </a:pPr>
            <a:r>
              <a:rPr sz="800" b="0" dirty="0">
                <a:solidFill>
                  <a:schemeClr val="tx1"/>
                </a:solidFill>
                <a:latin typeface="游ゴシック" panose="020B0400000000000000" pitchFamily="50" charset="-128"/>
                <a:ea typeface="游ゴシック" panose="020B0400000000000000" pitchFamily="50" charset="-128"/>
              </a:rPr>
              <a:t>（単位：千円／税込）</a:t>
            </a:r>
          </a:p>
          <a:p>
            <a:pPr algn="l">
              <a:lnSpc>
                <a:spcPct val="115000"/>
              </a:lnSpc>
            </a:pPr>
            <a:r>
              <a:rPr sz="800" b="0" dirty="0">
                <a:solidFill>
                  <a:schemeClr val="tx1"/>
                </a:solidFill>
                <a:latin typeface="游ゴシック" panose="020B0400000000000000" pitchFamily="50" charset="-128"/>
                <a:ea typeface="游ゴシック" panose="020B0400000000000000" pitchFamily="50" charset="-128"/>
              </a:rPr>
              <a:t>※出所：対象会社提供の総勘定元帳より「商品仕入高」を集計。各期のPL上の商品仕入高と概ね一致することを確認済。</a:t>
            </a:r>
          </a:p>
          <a:p>
            <a:pPr algn="l">
              <a:lnSpc>
                <a:spcPct val="115000"/>
              </a:lnSpc>
            </a:pPr>
            <a:r>
              <a:rPr sz="800" b="0" dirty="0">
                <a:solidFill>
                  <a:schemeClr val="tx1"/>
                </a:solidFill>
                <a:latin typeface="游ゴシック" panose="020B0400000000000000" pitchFamily="50" charset="-128"/>
                <a:ea typeface="游ゴシック" panose="020B0400000000000000" pitchFamily="50" charset="-128"/>
              </a:rPr>
              <a:t>※仕入先別の内訳は内部管理資料に基づくため、決算書数値と細部が異なる可能性がある。</a:t>
            </a:r>
          </a:p>
        </p:txBody>
      </p:sp>
      <p:sp>
        <p:nvSpPr>
          <p:cNvPr id="12" name="Rounded Rectangle 15">
            <a:extLst>
              <a:ext uri="{FF2B5EF4-FFF2-40B4-BE49-F238E27FC236}">
                <a16:creationId xmlns:a16="http://schemas.microsoft.com/office/drawing/2014/main" id="{CED272E0-2312-464F-D8F1-085CD0BBE0F2}"/>
              </a:ext>
            </a:extLst>
          </p:cNvPr>
          <p:cNvSpPr/>
          <p:nvPr/>
        </p:nvSpPr>
        <p:spPr>
          <a:xfrm>
            <a:off x="310896" y="4663440"/>
            <a:ext cx="10021824" cy="1463040"/>
          </a:xfrm>
          <a:prstGeom prst="roundRect">
            <a:avLst>
              <a:gd name="adj" fmla="val 6000"/>
            </a:avLst>
          </a:prstGeom>
          <a:solidFill>
            <a:srgbClr val="E1F3FB"/>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22" name="Rounded Rectangle 16">
            <a:extLst>
              <a:ext uri="{FF2B5EF4-FFF2-40B4-BE49-F238E27FC236}">
                <a16:creationId xmlns:a16="http://schemas.microsoft.com/office/drawing/2014/main" id="{3DFEBA6A-6E1C-D020-DAF2-81F2E9C35743}"/>
              </a:ext>
            </a:extLst>
          </p:cNvPr>
          <p:cNvSpPr/>
          <p:nvPr/>
        </p:nvSpPr>
        <p:spPr>
          <a:xfrm>
            <a:off x="310896" y="4663440"/>
            <a:ext cx="1325880" cy="1463040"/>
          </a:xfrm>
          <a:prstGeom prst="roundRect">
            <a:avLst>
              <a:gd name="adj" fmla="val 6000"/>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24" name="Rectangle 17">
            <a:extLst>
              <a:ext uri="{FF2B5EF4-FFF2-40B4-BE49-F238E27FC236}">
                <a16:creationId xmlns:a16="http://schemas.microsoft.com/office/drawing/2014/main" id="{4814532B-18AB-618F-5F72-0173E5D6D6F8}"/>
              </a:ext>
            </a:extLst>
          </p:cNvPr>
          <p:cNvSpPr/>
          <p:nvPr/>
        </p:nvSpPr>
        <p:spPr>
          <a:xfrm>
            <a:off x="1499616" y="4663440"/>
            <a:ext cx="137160" cy="146304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26" name="TextBox 18">
            <a:extLst>
              <a:ext uri="{FF2B5EF4-FFF2-40B4-BE49-F238E27FC236}">
                <a16:creationId xmlns:a16="http://schemas.microsoft.com/office/drawing/2014/main" id="{841EFDCB-6A37-96B6-940C-10B7B272E93B}"/>
              </a:ext>
            </a:extLst>
          </p:cNvPr>
          <p:cNvSpPr txBox="1"/>
          <p:nvPr/>
        </p:nvSpPr>
        <p:spPr>
          <a:xfrm>
            <a:off x="365760" y="5074920"/>
            <a:ext cx="1216152" cy="210312"/>
          </a:xfrm>
          <a:prstGeom prst="rect">
            <a:avLst/>
          </a:prstGeom>
          <a:noFill/>
        </p:spPr>
        <p:txBody>
          <a:bodyPr wrap="square" lIns="0" tIns="0" rIns="0" bIns="0" anchor="ctr">
            <a:spAutoFit/>
          </a:bodyPr>
          <a:lstStyle/>
          <a:p>
            <a:pPr algn="ctr">
              <a:lnSpc>
                <a:spcPct val="115000"/>
              </a:lnSpc>
            </a:pPr>
            <a:r>
              <a:rPr sz="1250" b="1">
                <a:solidFill>
                  <a:srgbClr val="FFFFFF"/>
                </a:solidFill>
                <a:latin typeface="游ゴシック" panose="020B0400000000000000" pitchFamily="50" charset="-128"/>
                <a:ea typeface="游ゴシック" panose="020B0400000000000000" pitchFamily="50" charset="-128"/>
              </a:rPr>
              <a:t>ポイント</a:t>
            </a:r>
          </a:p>
        </p:txBody>
      </p:sp>
      <p:sp>
        <p:nvSpPr>
          <p:cNvPr id="28" name="TextBox 19">
            <a:extLst>
              <a:ext uri="{FF2B5EF4-FFF2-40B4-BE49-F238E27FC236}">
                <a16:creationId xmlns:a16="http://schemas.microsoft.com/office/drawing/2014/main" id="{8AE6C81F-DDA0-25BA-BF55-5FF73D4BD39C}"/>
              </a:ext>
            </a:extLst>
          </p:cNvPr>
          <p:cNvSpPr txBox="1"/>
          <p:nvPr/>
        </p:nvSpPr>
        <p:spPr>
          <a:xfrm>
            <a:off x="1783080" y="4828032"/>
            <a:ext cx="8458200" cy="1133856"/>
          </a:xfrm>
          <a:prstGeom prst="rect">
            <a:avLst/>
          </a:prstGeom>
          <a:noFill/>
        </p:spPr>
        <p:txBody>
          <a:bodyPr wrap="square" lIns="0" tIns="0" rIns="0" bIns="0" anchor="t">
            <a:spAutoFit/>
          </a:bodyPr>
          <a:lstStyle/>
          <a:p>
            <a:pPr algn="l">
              <a:lnSpc>
                <a:spcPct val="132000"/>
              </a:lnSpc>
            </a:pPr>
            <a:r>
              <a:rPr sz="1050" b="0" dirty="0">
                <a:solidFill>
                  <a:srgbClr val="202020"/>
                </a:solidFill>
                <a:latin typeface="游ゴシック" panose="020B0400000000000000" pitchFamily="50" charset="-128"/>
                <a:ea typeface="游ゴシック" panose="020B0400000000000000" pitchFamily="50" charset="-128"/>
              </a:rPr>
              <a:t>■ ジャペル㈱・㈲ワンラブの上位2社で仕入高の約75%。いずれも創業来の継続取引であり、供給の安定性は高い。</a:t>
            </a:r>
          </a:p>
          <a:p>
            <a:pPr algn="l">
              <a:lnSpc>
                <a:spcPct val="132000"/>
              </a:lnSpc>
            </a:pPr>
            <a:r>
              <a:rPr sz="1050" b="0" dirty="0">
                <a:solidFill>
                  <a:srgbClr val="202020"/>
                </a:solidFill>
                <a:latin typeface="游ゴシック" panose="020B0400000000000000" pitchFamily="50" charset="-128"/>
                <a:ea typeface="游ゴシック" panose="020B0400000000000000" pitchFamily="50" charset="-128"/>
              </a:rPr>
              <a:t>■ デザイナーズワン㈱は代表者の親族が経営する会社。当社は同社の営業権（簿価1,500千円）を保有し、松阪管理センターで同社の生体を管理している（大垣管理センターは2026年2月に閉鎖）。取引条件の妥当性は要確認。</a:t>
            </a:r>
          </a:p>
          <a:p>
            <a:pPr algn="l">
              <a:lnSpc>
                <a:spcPct val="132000"/>
              </a:lnSpc>
            </a:pPr>
            <a:r>
              <a:rPr sz="1050" b="0" dirty="0">
                <a:solidFill>
                  <a:srgbClr val="202020"/>
                </a:solidFill>
                <a:latin typeface="游ゴシック" panose="020B0400000000000000" pitchFamily="50" charset="-128"/>
                <a:ea typeface="游ゴシック" panose="020B0400000000000000" pitchFamily="50" charset="-128"/>
              </a:rPr>
              <a:t>■ 生体はFC本部がオークション会場で仕入れ、マイクロチップ埋込・ワクチン接種等の処理を済ませたうえで当社へ供給される。</a:t>
            </a:r>
          </a:p>
        </p:txBody>
      </p:sp>
    </p:spTree>
    <p:extLst>
      <p:ext uri="{BB962C8B-B14F-4D97-AF65-F5344CB8AC3E}">
        <p14:creationId xmlns:p14="http://schemas.microsoft.com/office/powerpoint/2010/main" val="25677483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店舗一覧（賃貸借条件）</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稼働6店舗はすべて賃借。FC加盟の3店舗はFC本部から転借し店舗使用料は売上歩合、緑店と大型犬専門店2店舗は固定賃料である。大阪総本店は2027年11月に期間満了を迎えるため再契約の見通しが論点。</a:t>
            </a:r>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nvGraphicFramePr>
        <p:xfrm>
          <a:off x="310896" y="1408176"/>
          <a:ext cx="10021823" cy="3236976"/>
        </p:xfrm>
        <a:graphic>
          <a:graphicData uri="http://schemas.openxmlformats.org/drawingml/2006/table">
            <a:tbl>
              <a:tblPr/>
              <a:tblGrid>
                <a:gridCol w="256032">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874519">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1417320">
                  <a:extLst>
                    <a:ext uri="{9D8B030D-6E8A-4147-A177-3AD203B41FA5}">
                      <a16:colId xmlns:a16="http://schemas.microsoft.com/office/drawing/2014/main" val="20005"/>
                    </a:ext>
                  </a:extLst>
                </a:gridCol>
                <a:gridCol w="1508760">
                  <a:extLst>
                    <a:ext uri="{9D8B030D-6E8A-4147-A177-3AD203B41FA5}">
                      <a16:colId xmlns:a16="http://schemas.microsoft.com/office/drawing/2014/main" val="20006"/>
                    </a:ext>
                  </a:extLst>
                </a:gridCol>
                <a:gridCol w="804672">
                  <a:extLst>
                    <a:ext uri="{9D8B030D-6E8A-4147-A177-3AD203B41FA5}">
                      <a16:colId xmlns:a16="http://schemas.microsoft.com/office/drawing/2014/main" val="20007"/>
                    </a:ext>
                  </a:extLst>
                </a:gridCol>
              </a:tblGrid>
              <a:tr h="310896">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店舗名</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所在地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業態</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賃貸人</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契約期間</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月額賃料／店舗使用料</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敷金・保証金</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①</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カインズホーム明和店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三重県多気郡明和町中村1236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売上の約15%（歩合）</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②</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バローミタス伊勢店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三重県伊勢市船江1-10-190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2020年4月〜2030年4月</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売上の11%（歩合）</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2"/>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③</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ワンラブ ホームセンターバロー久居店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三重県津市戸木町7869-1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2020年12月〜2030年11月</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売上の12%（歩合）</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3"/>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ワンラブ ドン・キホーテ緑店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愛知県名古屋市緑区鳥澄1-527</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日本商業施設㈱</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749千円／月（年9,285千円）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2,700千円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4"/>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⑤</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おっきなもふもふ応援隊 岐阜総本店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岐阜県羽島郡岐南町徳田3-182-1（395.38㎡）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大型犬専門
／路面店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㈱カムテイ</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2023年4月〜2033年1月
定期建物賃貸借</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640千円／月（年8,153千円）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2,800千円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5"/>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⑥</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おっきなもふもふ応援隊 大阪総本店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大阪府茨木市東太田1-4-48（421.10㎡）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大型犬専門
／路面店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㈱ドン・キホーテ</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2024年9月〜2027年11月
定期建物賃貸借</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920千円／月（年10,756千円）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3,600千円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アクアウォーク大垣店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岐阜県大垣市林町6丁目80番21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2026年2月に撤退</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歩合（料率は要確認）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ペットプラザ岐阜店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岐阜県岐阜市鶉町3丁目18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2026年1月に撤退</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歩合（料率は要確認）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14" name="Rounded Rectangle 13"/>
          <p:cNvSpPr/>
          <p:nvPr/>
        </p:nvSpPr>
        <p:spPr>
          <a:xfrm>
            <a:off x="310896" y="4956048"/>
            <a:ext cx="10021824" cy="566928"/>
          </a:xfrm>
          <a:prstGeom prst="roundRect">
            <a:avLst>
              <a:gd name="adj" fmla="val 12000"/>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14"/>
          <p:cNvSpPr txBox="1"/>
          <p:nvPr/>
        </p:nvSpPr>
        <p:spPr>
          <a:xfrm>
            <a:off x="475488" y="5047488"/>
            <a:ext cx="9692640" cy="402336"/>
          </a:xfrm>
          <a:prstGeom prst="rect">
            <a:avLst/>
          </a:prstGeom>
          <a:noFill/>
        </p:spPr>
        <p:txBody>
          <a:bodyPr wrap="square" lIns="0" tIns="0" rIns="0" bIns="0" anchor="ctr">
            <a:spAutoFit/>
          </a:bodyPr>
          <a:lstStyle/>
          <a:p>
            <a:pPr algn="l">
              <a:lnSpc>
                <a:spcPct val="115000"/>
              </a:lnSpc>
            </a:pPr>
            <a:r>
              <a:rPr sz="950" b="1" dirty="0">
                <a:solidFill>
                  <a:srgbClr val="0B3041"/>
                </a:solidFill>
                <a:latin typeface="游ゴシック" panose="020B0400000000000000" pitchFamily="50" charset="-128"/>
                <a:ea typeface="游ゴシック" panose="020B0400000000000000" pitchFamily="50" charset="-128"/>
              </a:rPr>
              <a:t>①〜③および撤退2店舗はFC本部である㈲ワンラブを経由して転借しており、店舗使用料は売上歩合として販管費の「ロイヤリティ」に計上されている。</a:t>
            </a:r>
          </a:p>
          <a:p>
            <a:pPr algn="l">
              <a:lnSpc>
                <a:spcPct val="115000"/>
              </a:lnSpc>
            </a:pPr>
            <a:r>
              <a:rPr sz="950" b="1" dirty="0">
                <a:solidFill>
                  <a:srgbClr val="0B3041"/>
                </a:solidFill>
                <a:latin typeface="游ゴシック" panose="020B0400000000000000" pitchFamily="50" charset="-128"/>
                <a:ea typeface="游ゴシック" panose="020B0400000000000000" pitchFamily="50" charset="-128"/>
              </a:rPr>
              <a:t>①〜③および⑤⑥の契約書にはCOC条項（会社組織の変更・資本構成の重大な変更時は書面による届出を要し、他法人に合併された場合は契約解除可）がある。④は確認中。</a:t>
            </a:r>
          </a:p>
        </p:txBody>
      </p:sp>
      <p:sp>
        <p:nvSpPr>
          <p:cNvPr id="16" name="TextBox 15"/>
          <p:cNvSpPr txBox="1"/>
          <p:nvPr/>
        </p:nvSpPr>
        <p:spPr>
          <a:xfrm>
            <a:off x="310896" y="5650992"/>
            <a:ext cx="10021824" cy="640080"/>
          </a:xfrm>
          <a:prstGeom prst="rect">
            <a:avLst/>
          </a:prstGeom>
          <a:noFill/>
        </p:spPr>
        <p:txBody>
          <a:bodyPr wrap="square" lIns="0" tIns="0" rIns="0" bIns="0" anchor="t">
            <a:spAutoFit/>
          </a:bodyPr>
          <a:lstStyle/>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※出所：2025年11月期「地代家賃等の内訳書」および対象会社提供の既存会社説明資料。面積・敷金・契約期間の「要確認」欄は資料未受領。</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※①明和店はカインズ明和 ペッツワンコーナー、②はバローホームセンター ミタス伊勢店内、③はバローメガストア久居インター店内、④はドン・キホーテ緑店ペット館、⑤はザ・ビッグ岐南店1階 区画No.1、⑥はドン・キホーテ茨木店1階に所在。</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※ペットプラザ岐阜店は2026年1月、アクアウォーク大垣店は2026年2月をもって撤退（店舗別試算表により確認）。撤退に伴う原状回復費用・違約金の有無は要確認。　なお進行期の差入保証金は2026年3月に2,024千円減少しており、うち2,000千円は撤退店舗の敷金返還と推察（仮説）。</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※上記のほか、本社（代表者自宅）・大垣／松阪の管理センター・従業員社宅を賃借している。2025年11月期の地代家賃合計は33,249千円。</a:t>
            </a:r>
          </a:p>
        </p:txBody>
      </p:sp>
    </p:spTree>
    <p:extLst>
      <p:ext uri="{BB962C8B-B14F-4D97-AF65-F5344CB8AC3E}">
        <p14:creationId xmlns:p14="http://schemas.microsoft.com/office/powerpoint/2010/main" val="21789426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保有資産（不動産・設備・車両）</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法人所有の不動産は駐車場用地1筆（89.4㎡・簿価2,974千円）のみで、店舗はすべて賃借。有形固定資産の大宗は大型犬専門店2店舗と緑店の内装・設備投資である。</a:t>
            </a:r>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nvGraphicFramePr>
        <p:xfrm>
          <a:off x="310896" y="1408176"/>
          <a:ext cx="10021824" cy="3621024"/>
        </p:xfrm>
        <a:graphic>
          <a:graphicData uri="http://schemas.openxmlformats.org/drawingml/2006/table">
            <a:tbl>
              <a:tblPr/>
              <a:tblGrid>
                <a:gridCol w="1280160">
                  <a:extLst>
                    <a:ext uri="{9D8B030D-6E8A-4147-A177-3AD203B41FA5}">
                      <a16:colId xmlns:a16="http://schemas.microsoft.com/office/drawing/2014/main" val="20000"/>
                    </a:ext>
                  </a:extLst>
                </a:gridCol>
                <a:gridCol w="2615184">
                  <a:extLst>
                    <a:ext uri="{9D8B030D-6E8A-4147-A177-3AD203B41FA5}">
                      <a16:colId xmlns:a16="http://schemas.microsoft.com/office/drawing/2014/main" val="20001"/>
                    </a:ext>
                  </a:extLst>
                </a:gridCol>
                <a:gridCol w="1773936">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475488">
                  <a:extLst>
                    <a:ext uri="{9D8B030D-6E8A-4147-A177-3AD203B41FA5}">
                      <a16:colId xmlns:a16="http://schemas.microsoft.com/office/drawing/2014/main" val="20004"/>
                    </a:ext>
                  </a:extLst>
                </a:gridCol>
                <a:gridCol w="768096">
                  <a:extLst>
                    <a:ext uri="{9D8B030D-6E8A-4147-A177-3AD203B41FA5}">
                      <a16:colId xmlns:a16="http://schemas.microsoft.com/office/drawing/2014/main" val="20005"/>
                    </a:ext>
                  </a:extLst>
                </a:gridCol>
                <a:gridCol w="768096">
                  <a:extLst>
                    <a:ext uri="{9D8B030D-6E8A-4147-A177-3AD203B41FA5}">
                      <a16:colId xmlns:a16="http://schemas.microsoft.com/office/drawing/2014/main" val="20006"/>
                    </a:ext>
                  </a:extLst>
                </a:gridCol>
                <a:gridCol w="1426464">
                  <a:extLst>
                    <a:ext uri="{9D8B030D-6E8A-4147-A177-3AD203B41FA5}">
                      <a16:colId xmlns:a16="http://schemas.microsoft.com/office/drawing/2014/main" val="20007"/>
                    </a:ext>
                  </a:extLst>
                </a:gridCol>
              </a:tblGrid>
              <a:tr h="329184">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区分</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資産名</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内容・所在等</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取得時期</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耐用
年数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取得原価
(千円)</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期末簿価
(千円)</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土地</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駐車場（89.4㎡）</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岐阜県大垣市南若森町字柳原227番3</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2025年11月期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2,974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2,974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時価は要確認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おっきなもふもふ大阪総本店 新装・内装工事</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大阪府茨木市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2024年10月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15年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28,950</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25,334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空調・照明設備、サイン、外装・消防設備 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主に大阪総本店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2023〜2024年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8〜18年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13,123</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11,318</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ドン・キホーテ緑店 改装工事（電気・給排水等）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愛知県名古屋市緑区</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2024年7〜8月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15年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6,211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5,694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水回り工事・外装工事</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2024年9月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15年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2,159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2,050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工具器具備品</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展示用什器・陳列ゲージ、冷蔵庫、複合機 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各店舗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2022〜2024年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5〜8年</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31,783</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6,045</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6"/>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車両運搬具</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ハイエースバン（トヨタ自動車㈱）</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事業用</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2022年4月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6年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3,169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732</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7"/>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車両運搬具</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ピクシスバン（トヨタ自動車㈱）</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事業用</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2023年7月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4年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1,647</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326</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8"/>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車両運搬具</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プリウス（トヨタ自動車㈱）</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事業用</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2020年12月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6年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1,163</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備忘価額1円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その他有形固定資産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一括償却資産等（緑店 ゲージ改修 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2025年6月 ほか</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276</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184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合計（有形固定資産）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91,455</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54,658</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（参考）営業権</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デザイナーズワン㈱に係る営業権</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1,500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取得経緯・算定根拠は要確認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12"/>
                  </a:ext>
                </a:extLst>
              </a:tr>
            </a:tbl>
          </a:graphicData>
        </a:graphic>
      </p:graphicFrame>
      <p:sp>
        <p:nvSpPr>
          <p:cNvPr id="14" name="Rounded Rectangle 13"/>
          <p:cNvSpPr/>
          <p:nvPr/>
        </p:nvSpPr>
        <p:spPr>
          <a:xfrm>
            <a:off x="310896" y="5504688"/>
            <a:ext cx="10021824" cy="365760"/>
          </a:xfrm>
          <a:prstGeom prst="roundRect">
            <a:avLst>
              <a:gd name="adj" fmla="val 12000"/>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14"/>
          <p:cNvSpPr txBox="1"/>
          <p:nvPr/>
        </p:nvSpPr>
        <p:spPr>
          <a:xfrm>
            <a:off x="475488" y="5607546"/>
            <a:ext cx="9692640" cy="160044"/>
          </a:xfrm>
          <a:prstGeom prst="rect">
            <a:avLst/>
          </a:prstGeom>
          <a:noFill/>
        </p:spPr>
        <p:txBody>
          <a:bodyPr wrap="square" lIns="0" tIns="0" rIns="0" bIns="0" anchor="ctr">
            <a:spAutoFit/>
          </a:bodyPr>
          <a:lstStyle/>
          <a:p>
            <a:pPr algn="l">
              <a:lnSpc>
                <a:spcPct val="115000"/>
              </a:lnSpc>
            </a:pPr>
            <a:r>
              <a:rPr sz="950" b="1">
                <a:solidFill>
                  <a:srgbClr val="0B3041"/>
                </a:solidFill>
                <a:latin typeface="游ゴシック" panose="020B0400000000000000" pitchFamily="50" charset="-128"/>
                <a:ea typeface="游ゴシック" panose="020B0400000000000000" pitchFamily="50" charset="-128"/>
              </a:rPr>
              <a:t>リース車両3台を賃借（メルセデス・ベンツ GLE Coupe 月195千円／2024年9月〜60ヶ月、同 GLS 月212千円／2024年12月〜60ヶ月、日産オーラ 月60千円／2024年9月〜36ヶ月）。ベンツ2台は非事業用であり、本件実行後に解約予定。</a:t>
            </a:r>
          </a:p>
        </p:txBody>
      </p:sp>
      <p:sp>
        <p:nvSpPr>
          <p:cNvPr id="16" name="TextBox 15"/>
          <p:cNvSpPr txBox="1"/>
          <p:nvPr/>
        </p:nvSpPr>
        <p:spPr>
          <a:xfrm>
            <a:off x="310896" y="6108192"/>
            <a:ext cx="10021824" cy="457200"/>
          </a:xfrm>
          <a:prstGeom prst="rect">
            <a:avLst/>
          </a:prstGeom>
          <a:noFill/>
        </p:spPr>
        <p:txBody>
          <a:bodyPr wrap="square" lIns="0" tIns="0" rIns="0" bIns="0" anchor="t">
            <a:spAutoFit/>
          </a:bodyPr>
          <a:lstStyle/>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※出所：2025年11月期「旧定率法・定額法による固定資産減価償却内訳明細書」および「固定資産（土地・建物）の内訳書」。</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※BMW X7（取得原価13,541千円）は2025年11月期中に㈱Luck Autoへ7,562千円で売却し、固定資産売却損968千円を計上している（既存会社説明資料の「進行期に売却済」との記載とは相違。決算書ベースでは2025年11月期中の売却が正）。</a:t>
            </a:r>
          </a:p>
        </p:txBody>
      </p:sp>
    </p:spTree>
    <p:extLst>
      <p:ext uri="{BB962C8B-B14F-4D97-AF65-F5344CB8AC3E}">
        <p14:creationId xmlns:p14="http://schemas.microsoft.com/office/powerpoint/2010/main" val="3472027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借入金一覧</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2025年11月期末の長期借入金は191,858千円（9本）。岐阜信用金庫114,883千円、りそな銀行41,386千円、日本政策金融公庫35,589千円。民間6本は代表者の連帯保証および信用保証協会の保証付き。</a:t>
            </a:r>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nvGraphicFramePr>
        <p:xfrm>
          <a:off x="310896" y="1408176"/>
          <a:ext cx="10021824" cy="3621024"/>
        </p:xfrm>
        <a:graphic>
          <a:graphicData uri="http://schemas.openxmlformats.org/drawingml/2006/table">
            <a:tbl>
              <a:tblPr/>
              <a:tblGrid>
                <a:gridCol w="256032">
                  <a:extLst>
                    <a:ext uri="{9D8B030D-6E8A-4147-A177-3AD203B41FA5}">
                      <a16:colId xmlns:a16="http://schemas.microsoft.com/office/drawing/2014/main" val="20000"/>
                    </a:ext>
                  </a:extLst>
                </a:gridCol>
                <a:gridCol w="1755648">
                  <a:extLst>
                    <a:ext uri="{9D8B030D-6E8A-4147-A177-3AD203B41FA5}">
                      <a16:colId xmlns:a16="http://schemas.microsoft.com/office/drawing/2014/main" val="20001"/>
                    </a:ext>
                  </a:extLst>
                </a:gridCol>
                <a:gridCol w="1517904">
                  <a:extLst>
                    <a:ext uri="{9D8B030D-6E8A-4147-A177-3AD203B41FA5}">
                      <a16:colId xmlns:a16="http://schemas.microsoft.com/office/drawing/2014/main" val="20002"/>
                    </a:ext>
                  </a:extLst>
                </a:gridCol>
                <a:gridCol w="749808">
                  <a:extLst>
                    <a:ext uri="{9D8B030D-6E8A-4147-A177-3AD203B41FA5}">
                      <a16:colId xmlns:a16="http://schemas.microsoft.com/office/drawing/2014/main" val="20003"/>
                    </a:ext>
                  </a:extLst>
                </a:gridCol>
                <a:gridCol w="859536">
                  <a:extLst>
                    <a:ext uri="{9D8B030D-6E8A-4147-A177-3AD203B41FA5}">
                      <a16:colId xmlns:a16="http://schemas.microsoft.com/office/drawing/2014/main" val="20004"/>
                    </a:ext>
                  </a:extLst>
                </a:gridCol>
                <a:gridCol w="768096">
                  <a:extLst>
                    <a:ext uri="{9D8B030D-6E8A-4147-A177-3AD203B41FA5}">
                      <a16:colId xmlns:a16="http://schemas.microsoft.com/office/drawing/2014/main" val="20005"/>
                    </a:ext>
                  </a:extLst>
                </a:gridCol>
                <a:gridCol w="2212848">
                  <a:extLst>
                    <a:ext uri="{9D8B030D-6E8A-4147-A177-3AD203B41FA5}">
                      <a16:colId xmlns:a16="http://schemas.microsoft.com/office/drawing/2014/main" val="20006"/>
                    </a:ext>
                  </a:extLst>
                </a:gridCol>
                <a:gridCol w="1901952">
                  <a:extLst>
                    <a:ext uri="{9D8B030D-6E8A-4147-A177-3AD203B41FA5}">
                      <a16:colId xmlns:a16="http://schemas.microsoft.com/office/drawing/2014/main" val="20007"/>
                    </a:ext>
                  </a:extLst>
                </a:gridCol>
              </a:tblGrid>
              <a:tr h="402336">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借入先</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所在地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当初借入額
(千円)</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25年11月末
残高(千円)</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期中支払
利息(千円)</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連帯保証・担保</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借入期間・金利等</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①</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㈱日本政策金融公庫</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岐阜市吉野町6-31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5,829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82</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借入日・完済日・金利は要確認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②</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㈱日本政策金融公庫</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岐阜市吉野町6-31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35,000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26,040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134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借入日・完済日・金利は要確認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③</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㈱日本政策金融公庫</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岐阜市吉野町6-31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5,000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3,720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27</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借入日・完済日・金利は要確認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岐阜信用金庫（大垣支店）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大垣市上面4-10-1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15,000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9,662</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169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2020年8月〜2030年8月・1.800%（変動）／コロナ関連借入</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⑤</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岐阜信用金庫（大垣支店）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大垣市上面4-10-1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100,000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89,171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1,269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2024年5月〜2034年5月・1.500%（変動）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⑥</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岐阜信用金庫（大垣支店）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大垣市上面4-10-1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18,000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16,050</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228</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2024年5月〜2034年5月・1.500%（変動）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6"/>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⑦</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㈱りそな銀行（名古屋支店）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名古屋市中区錦2-14-19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30,000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9,096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122</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代表者連帯保証／愛知県信用保証協会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2021年12月〜2026年12月・0.875%（変動）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7"/>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⑧</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㈱りそな銀行（名古屋支店）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名古屋市中区錦2-14-19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9,632</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128</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2021年12月〜2026年12月・0.875%（変動）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⑨</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㈱りそな銀行（名古屋支店）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名古屋市中区錦2-14-19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40,000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22,658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431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2023年4月〜2028年4月・1.475%</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　</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長期借入金 合計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191,858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2,591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10896">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　</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（参考）役員借入金</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7,566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譲渡時の返済を希望。2026年6月末の残高は3,403千円へ減少</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14" name="Rounded Rectangle 13"/>
          <p:cNvSpPr/>
          <p:nvPr/>
        </p:nvSpPr>
        <p:spPr>
          <a:xfrm>
            <a:off x="310896" y="5650992"/>
            <a:ext cx="10021824" cy="566928"/>
          </a:xfrm>
          <a:prstGeom prst="roundRect">
            <a:avLst>
              <a:gd name="adj" fmla="val 12000"/>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14"/>
          <p:cNvSpPr txBox="1"/>
          <p:nvPr/>
        </p:nvSpPr>
        <p:spPr>
          <a:xfrm>
            <a:off x="475488" y="5724144"/>
            <a:ext cx="9692640" cy="457200"/>
          </a:xfrm>
          <a:prstGeom prst="rect">
            <a:avLst/>
          </a:prstGeom>
          <a:noFill/>
        </p:spPr>
        <p:txBody>
          <a:bodyPr wrap="square" lIns="0" tIns="0" rIns="0" bIns="0" anchor="ctr">
            <a:spAutoFit/>
          </a:bodyPr>
          <a:lstStyle/>
          <a:p>
            <a:pPr algn="l">
              <a:lnSpc>
                <a:spcPct val="115000"/>
              </a:lnSpc>
            </a:pPr>
            <a:r>
              <a:rPr sz="950" b="1">
                <a:solidFill>
                  <a:srgbClr val="0B3041"/>
                </a:solidFill>
                <a:latin typeface="游ゴシック" panose="020B0400000000000000" pitchFamily="50" charset="-128"/>
                <a:ea typeface="游ゴシック" panose="020B0400000000000000" pitchFamily="50" charset="-128"/>
              </a:rPr>
              <a:t>民間6本は信用保証協会の保証付き、公庫3本はプロパーであり、不動産担保の設定はない（法人が所有する不動産は駐車場用地1筆のみ）。</a:t>
            </a:r>
          </a:p>
          <a:p>
            <a:pPr algn="l">
              <a:lnSpc>
                <a:spcPct val="115000"/>
              </a:lnSpc>
            </a:pPr>
            <a:r>
              <a:rPr sz="950" b="1">
                <a:solidFill>
                  <a:srgbClr val="0B3041"/>
                </a:solidFill>
                <a:latin typeface="游ゴシック" panose="020B0400000000000000" pitchFamily="50" charset="-128"/>
                <a:ea typeface="游ゴシック" panose="020B0400000000000000" pitchFamily="50" charset="-128"/>
              </a:rPr>
              <a:t>進行期の月次試算表では長期借入金が期首残高（191,858千円）のまま据え置かれており、返済額は決算時に一括計上されていると推察（要確認）。</a:t>
            </a:r>
          </a:p>
        </p:txBody>
      </p:sp>
      <p:sp>
        <p:nvSpPr>
          <p:cNvPr id="16" name="TextBox 15"/>
          <p:cNvSpPr txBox="1"/>
          <p:nvPr/>
        </p:nvSpPr>
        <p:spPr>
          <a:xfrm>
            <a:off x="310896" y="6327648"/>
            <a:ext cx="10021824" cy="365760"/>
          </a:xfrm>
          <a:prstGeom prst="rect">
            <a:avLst/>
          </a:prstGeom>
          <a:noFill/>
        </p:spPr>
        <p:txBody>
          <a:bodyPr wrap="square" lIns="0" tIns="0" rIns="0" bIns="0" anchor="t">
            <a:spAutoFit/>
          </a:bodyPr>
          <a:lstStyle/>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※出所：2025年11月期「借入金及び支払利子の内訳書」。当初借入額・借入期間・金利は対象会社提供の既存会社説明資料（2024年11月末時点）に基づく。</a:t>
            </a:r>
            <a:endParaRPr lang="en-US" sz="840" b="0" dirty="0">
              <a:solidFill>
                <a:sysClr val="windowText" lastClr="000000"/>
              </a:solidFill>
              <a:latin typeface="游ゴシック" panose="020B0400000000000000" pitchFamily="50" charset="-128"/>
              <a:ea typeface="游ゴシック" panose="020B0400000000000000" pitchFamily="50" charset="-128"/>
            </a:endParaRP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※日本政策金融公庫3本の借入日・完済日・金利は資料未受領のため要確認。</a:t>
            </a:r>
            <a:endParaRPr lang="en-US" sz="840" b="0" dirty="0">
              <a:solidFill>
                <a:sysClr val="windowText" lastClr="000000"/>
              </a:solidFill>
              <a:latin typeface="游ゴシック" panose="020B0400000000000000" pitchFamily="50" charset="-128"/>
              <a:ea typeface="游ゴシック" panose="020B0400000000000000" pitchFamily="50" charset="-128"/>
            </a:endParaRPr>
          </a:p>
        </p:txBody>
      </p:sp>
    </p:spTree>
    <p:extLst>
      <p:ext uri="{BB962C8B-B14F-4D97-AF65-F5344CB8AC3E}">
        <p14:creationId xmlns:p14="http://schemas.microsoft.com/office/powerpoint/2010/main" val="42618433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t>株主及び役員</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mj-ea"/>
              </a:rPr>
              <a:t>株主・役員はいずれも代表者の淺野ゆう子氏1名。現場を統括する淺野崇氏（代表者の配偶者）は役員ではなく従業員であり、2事業所の動物取扱責任者を兼務するキーパーソンである。</a:t>
            </a:r>
            <a:endParaRPr lang="en-US" altLang="ja-JP" dirty="0"/>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extLst>
              <p:ext uri="{D42A27DB-BD31-4B8C-83A1-F6EECF244321}">
                <p14:modId xmlns:p14="http://schemas.microsoft.com/office/powerpoint/2010/main" val="3023556640"/>
              </p:ext>
            </p:extLst>
          </p:nvPr>
        </p:nvGraphicFramePr>
        <p:xfrm>
          <a:off x="311150" y="1465133"/>
          <a:ext cx="10021824" cy="4315968"/>
        </p:xfrm>
        <a:graphic>
          <a:graphicData uri="http://schemas.openxmlformats.org/drawingml/2006/table">
            <a:tbl>
              <a:tblPr/>
              <a:tblGrid>
                <a:gridCol w="1280160">
                  <a:extLst>
                    <a:ext uri="{9D8B030D-6E8A-4147-A177-3AD203B41FA5}">
                      <a16:colId xmlns:a16="http://schemas.microsoft.com/office/drawing/2014/main" val="3048251594"/>
                    </a:ext>
                  </a:extLst>
                </a:gridCol>
                <a:gridCol w="1207008">
                  <a:extLst>
                    <a:ext uri="{9D8B030D-6E8A-4147-A177-3AD203B41FA5}">
                      <a16:colId xmlns:a16="http://schemas.microsoft.com/office/drawing/2014/main" val="3771399016"/>
                    </a:ext>
                  </a:extLst>
                </a:gridCol>
                <a:gridCol w="1005840">
                  <a:extLst>
                    <a:ext uri="{9D8B030D-6E8A-4147-A177-3AD203B41FA5}">
                      <a16:colId xmlns:a16="http://schemas.microsoft.com/office/drawing/2014/main" val="2907773081"/>
                    </a:ext>
                  </a:extLst>
                </a:gridCol>
                <a:gridCol w="1005840">
                  <a:extLst>
                    <a:ext uri="{9D8B030D-6E8A-4147-A177-3AD203B41FA5}">
                      <a16:colId xmlns:a16="http://schemas.microsoft.com/office/drawing/2014/main" val="1273101068"/>
                    </a:ext>
                  </a:extLst>
                </a:gridCol>
                <a:gridCol w="1517904">
                  <a:extLst>
                    <a:ext uri="{9D8B030D-6E8A-4147-A177-3AD203B41FA5}">
                      <a16:colId xmlns:a16="http://schemas.microsoft.com/office/drawing/2014/main" val="1948566837"/>
                    </a:ext>
                  </a:extLst>
                </a:gridCol>
                <a:gridCol w="4005072">
                  <a:extLst>
                    <a:ext uri="{9D8B030D-6E8A-4147-A177-3AD203B41FA5}">
                      <a16:colId xmlns:a16="http://schemas.microsoft.com/office/drawing/2014/main" val="2619928501"/>
                    </a:ext>
                  </a:extLst>
                </a:gridCol>
              </a:tblGrid>
              <a:tr h="329184">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【株主】</a:t>
                      </a:r>
                    </a:p>
                  </a:txBody>
                  <a:tcPr marL="0" marR="0" marT="0" marB="0"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氏名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代表者との関係</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保有株式数／議決権割合</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3581390043"/>
                  </a:ext>
                </a:extLst>
              </a:tr>
              <a:tr h="822960">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株主</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淺野　ゆう子</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代表取締役</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本人</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100株／100.0%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本件依頼者。株券不発行会社、譲渡制限規定あり（株主総会承認）。設立（2020年12月）以降、株主の変動なし</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82367820"/>
                  </a:ext>
                </a:extLst>
              </a:tr>
              <a:tr h="182880">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329184">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【役員】</a:t>
                      </a:r>
                    </a:p>
                  </a:txBody>
                  <a:tcPr marL="0" marR="0" marT="0" marB="0"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氏名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代表者との関係</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年間役員報酬（25年11月期）</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3581390043"/>
                  </a:ext>
                </a:extLst>
              </a:tr>
              <a:tr h="658368">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役員</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淺野　ゆう子</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代表取締役</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本人</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14,400千円</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経理全般・金融機関対応を担当。引継完了後、退任予定</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19493594"/>
                  </a:ext>
                </a:extLst>
              </a:tr>
              <a:tr h="566928">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取締役会・監査役はいずれも非設置。役員は代表取締役1名のみ</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379993"/>
                  </a:ext>
                </a:extLst>
              </a:tr>
              <a:tr h="182880">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6608184"/>
                  </a:ext>
                </a:extLst>
              </a:tr>
              <a:tr h="329184">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【キーパーソン】</a:t>
                      </a:r>
                    </a:p>
                  </a:txBody>
                  <a:tcPr marL="0" marR="0" marT="0" marB="0"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氏名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代表者との関係</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年間給与（2025年1〜12月）</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3581390043"/>
                  </a:ext>
                </a:extLst>
              </a:tr>
              <a:tr h="914400">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従業員</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淺野　崇
（1980年10月生）</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現場責任者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配偶者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7,000千円</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経営業務・人材育成・店舗管理を担当。ドン・キホーテ緑店および大垣管理センターの動物取扱責任者。本件は既知であり、譲渡後の継続関与を前提としている（要確認）</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7255041"/>
                  </a:ext>
                </a:extLst>
              </a:tr>
            </a:tbl>
          </a:graphicData>
        </a:graphic>
      </p:graphicFrame>
    </p:spTree>
    <p:extLst>
      <p:ext uri="{BB962C8B-B14F-4D97-AF65-F5344CB8AC3E}">
        <p14:creationId xmlns:p14="http://schemas.microsoft.com/office/powerpoint/2010/main" val="37072750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進行期の月次推移（2025年12月〜2026年6月）</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進行期7か月の売上高は279,153千円（前年同期比80.9%）と減収の一方、粗利率は62.5%へ回復し営業利益6,637千円を確保。12月〜1月が最需要期であり、1月単月で営業利益13,407千円を計上している。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9" name="表 8">
            <a:extLst>
              <a:ext uri="{FF2B5EF4-FFF2-40B4-BE49-F238E27FC236}">
                <a16:creationId xmlns:a16="http://schemas.microsoft.com/office/drawing/2014/main" id="{BDBFD0C1-1E26-C190-B7D0-F16AC8348D43}"/>
              </a:ext>
            </a:extLst>
          </p:cNvPr>
          <p:cNvGraphicFramePr>
            <a:graphicFrameLocks noGrp="1"/>
          </p:cNvGraphicFramePr>
          <p:nvPr>
            <p:extLst>
              <p:ext uri="{D42A27DB-BD31-4B8C-83A1-F6EECF244321}">
                <p14:modId xmlns:p14="http://schemas.microsoft.com/office/powerpoint/2010/main" val="2509094929"/>
              </p:ext>
            </p:extLst>
          </p:nvPr>
        </p:nvGraphicFramePr>
        <p:xfrm>
          <a:off x="341313" y="1465133"/>
          <a:ext cx="9902952" cy="4658868"/>
        </p:xfrm>
        <a:graphic>
          <a:graphicData uri="http://schemas.openxmlformats.org/drawingml/2006/table">
            <a:tbl>
              <a:tblPr/>
              <a:tblGrid>
                <a:gridCol w="1828800">
                  <a:extLst>
                    <a:ext uri="{9D8B030D-6E8A-4147-A177-3AD203B41FA5}">
                      <a16:colId xmlns:a16="http://schemas.microsoft.com/office/drawing/2014/main" val="3316058797"/>
                    </a:ext>
                  </a:extLst>
                </a:gridCol>
                <a:gridCol w="731520">
                  <a:extLst>
                    <a:ext uri="{9D8B030D-6E8A-4147-A177-3AD203B41FA5}">
                      <a16:colId xmlns:a16="http://schemas.microsoft.com/office/drawing/2014/main" val="1380719249"/>
                    </a:ext>
                  </a:extLst>
                </a:gridCol>
                <a:gridCol w="731520">
                  <a:extLst>
                    <a:ext uri="{9D8B030D-6E8A-4147-A177-3AD203B41FA5}">
                      <a16:colId xmlns:a16="http://schemas.microsoft.com/office/drawing/2014/main" val="246846433"/>
                    </a:ext>
                  </a:extLst>
                </a:gridCol>
                <a:gridCol w="731520">
                  <a:extLst>
                    <a:ext uri="{9D8B030D-6E8A-4147-A177-3AD203B41FA5}">
                      <a16:colId xmlns:a16="http://schemas.microsoft.com/office/drawing/2014/main" val="3721573245"/>
                    </a:ext>
                  </a:extLst>
                </a:gridCol>
                <a:gridCol w="731520">
                  <a:extLst>
                    <a:ext uri="{9D8B030D-6E8A-4147-A177-3AD203B41FA5}">
                      <a16:colId xmlns:a16="http://schemas.microsoft.com/office/drawing/2014/main" val="25268631"/>
                    </a:ext>
                  </a:extLst>
                </a:gridCol>
                <a:gridCol w="731520">
                  <a:extLst>
                    <a:ext uri="{9D8B030D-6E8A-4147-A177-3AD203B41FA5}">
                      <a16:colId xmlns:a16="http://schemas.microsoft.com/office/drawing/2014/main" val="829825544"/>
                    </a:ext>
                  </a:extLst>
                </a:gridCol>
                <a:gridCol w="731520">
                  <a:extLst>
                    <a:ext uri="{9D8B030D-6E8A-4147-A177-3AD203B41FA5}">
                      <a16:colId xmlns:a16="http://schemas.microsoft.com/office/drawing/2014/main" val="829825544"/>
                    </a:ext>
                  </a:extLst>
                </a:gridCol>
                <a:gridCol w="731520">
                  <a:extLst>
                    <a:ext uri="{9D8B030D-6E8A-4147-A177-3AD203B41FA5}">
                      <a16:colId xmlns:a16="http://schemas.microsoft.com/office/drawing/2014/main" val="829825544"/>
                    </a:ext>
                  </a:extLst>
                </a:gridCol>
                <a:gridCol w="950976">
                  <a:extLst>
                    <a:ext uri="{9D8B030D-6E8A-4147-A177-3AD203B41FA5}">
                      <a16:colId xmlns:a16="http://schemas.microsoft.com/office/drawing/2014/main" val="1494183210"/>
                    </a:ext>
                  </a:extLst>
                </a:gridCol>
                <a:gridCol w="685800">
                  <a:extLst>
                    <a:ext uri="{9D8B030D-6E8A-4147-A177-3AD203B41FA5}">
                      <a16:colId xmlns:a16="http://schemas.microsoft.com/office/drawing/2014/main" val="3341255910"/>
                    </a:ext>
                  </a:extLst>
                </a:gridCol>
                <a:gridCol w="1316736">
                  <a:extLst>
                    <a:ext uri="{9D8B030D-6E8A-4147-A177-3AD203B41FA5}">
                      <a16:colId xmlns:a16="http://schemas.microsoft.com/office/drawing/2014/main" val="387513537"/>
                    </a:ext>
                  </a:extLst>
                </a:gridCol>
              </a:tblGrid>
              <a:tr h="384048">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2025年
12月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1月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2月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3月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4月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5月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6月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7か月累計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dirty="0">
                          <a:solidFill>
                            <a:srgbClr val="FFFFFF"/>
                          </a:solidFill>
                          <a:effectLst/>
                          <a:latin typeface="游ゴシック" panose="020B0400000000000000" pitchFamily="50" charset="-128"/>
                          <a:ea typeface="游ゴシック" panose="020B0400000000000000" pitchFamily="50" charset="-128"/>
                        </a:rPr>
                        <a:t>前年
同期比</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参考：25年11月期
（通期実績）</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150016470"/>
                  </a:ext>
                </a:extLst>
              </a:tr>
              <a:tr h="251460">
                <a:tc>
                  <a:txBody>
                    <a:bodyPr/>
                    <a:lstStyle/>
                    <a:p>
                      <a:pPr algn="ct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生体売上高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22,575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33,442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22,793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19,020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28,992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21,085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17,210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165,117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76.6%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338,295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056577972"/>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サービス売上高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4,714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3,832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4,171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6,225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4,480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4,229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5,140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32,792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106.4%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52,699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物販売上高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14,288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13,883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10,195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10,658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11,250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11,823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9,148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81,245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82.3%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167,395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22888758"/>
                  </a:ext>
                </a:extLst>
              </a:tr>
              <a:tr h="251460">
                <a:tc>
                  <a:txBody>
                    <a:bodyPr/>
                    <a:lstStyle/>
                    <a:p>
                      <a:pPr algn="ct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41,577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51,158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37,159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35,902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44,722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37,136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31,498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279,153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558,390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27963007"/>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17,900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14,912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11,807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12,609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18,701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13,951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14,883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104,762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77.6%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228,365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87551456"/>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23,677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36,246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25,353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23,294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26,021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23,186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16,615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174,391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83.0%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330,024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61957651"/>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25,194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22,839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24,296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21,910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23,404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28,338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21,773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167,754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85.4%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349,576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86727505"/>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従業員給与</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10,068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9,790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8,676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8,542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9,024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9,411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8,668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64,180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127,017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93701439"/>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広告宣伝費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5,535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1,646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1,498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15,163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75.7%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26,651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64820398"/>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ロイヤリティ</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2,405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2,515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1,953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1,562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2,086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1,964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1,708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14,193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77.0%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29,982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0445004"/>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地代家賃</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3,930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2,860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2,731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2,775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2,621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2,517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2,446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19,879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93.8%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33,249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818873767"/>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役員報酬</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6,300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14,400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55912933"/>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法定福利費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2,240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 1,018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1,800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899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1,564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925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849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2,779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15,295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45927038"/>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1,517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13,407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1,057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1,384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2,617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5,152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5,159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6,637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48.2%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19,552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87109556"/>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1,740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13,600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844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1,090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2,409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5,309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5,080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5,814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45.6%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18,575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794250216"/>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44,000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44,000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1,298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790303744"/>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当期純利益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1,740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13,600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843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42,910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2,409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5,309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5,080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38,187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20,359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83919144"/>
                  </a:ext>
                </a:extLst>
              </a:tr>
            </a:tbl>
          </a:graphicData>
        </a:graphic>
      </p:graphicFrame>
      <p:sp>
        <p:nvSpPr>
          <p:cNvPr id="14" name="TextBox 13"/>
          <p:cNvSpPr txBox="1"/>
          <p:nvPr/>
        </p:nvSpPr>
        <p:spPr>
          <a:xfrm>
            <a:off x="338328" y="6272784"/>
            <a:ext cx="9902952" cy="868680"/>
          </a:xfrm>
          <a:prstGeom prst="rect">
            <a:avLst/>
          </a:prstGeom>
          <a:noFill/>
        </p:spPr>
        <p:txBody>
          <a:bodyPr wrap="square">
            <a:spAutoFit/>
          </a:bodyPr>
          <a:lstStyle/>
          <a:p>
            <a:r>
              <a:rPr sz="800">
                <a:latin typeface="游ゴシック Medium"/>
              </a:rPr>
              <a:t>（単位：千円）※出所：勘定科目残高推移表 2025年12月〜2026年6月（2026年9月18日出力）。「参考」列は第5期決算報告書。</a:t>
            </a:r>
          </a:p>
          <a:p>
            <a:r>
              <a:rPr sz="800">
                <a:latin typeface="游ゴシック Medium"/>
              </a:rPr>
              <a:t>※進行期の月次には減価償却費が計上されていない（2025年11月期の通期実績は6,349千円）。通期ではその分だけ営業利益が減少する見込み（要確認）。</a:t>
            </a:r>
          </a:p>
          <a:p>
            <a:r>
              <a:rPr sz="800">
                <a:latin typeface="游ゴシック Medium"/>
              </a:rPr>
              <a:t>※法定福利費は2025年12月・2026年1月がマイナス計上であり、年末調整・社会保険料の精算処理の影響と推察（仮説）。7か月累計2,779千円は通期実績15,295千円に比して低く、期中未計上分が下期に乗る可能性がある。</a:t>
            </a:r>
          </a:p>
          <a:p>
            <a:r>
              <a:rPr sz="800">
                <a:latin typeface="游ゴシック Medium"/>
              </a:rPr>
              <a:t>※2026年5月の租税公課4,969千円は自動車税・固定資産税等の年次課税と推察（仮説）。同月の営業損失の主因。※2026年3月の特別損失44,000千円は棚卸資産廃棄損（P.29参照）。</a:t>
            </a:r>
          </a:p>
        </p:txBody>
      </p:sp>
    </p:spTree>
    <p:extLst>
      <p:ext uri="{BB962C8B-B14F-4D97-AF65-F5344CB8AC3E}">
        <p14:creationId xmlns:p14="http://schemas.microsoft.com/office/powerpoint/2010/main" val="9155409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891F8-DC9B-0C7A-5AA5-FC421CDA878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4823C4F2-FDE2-2A7A-88F4-14757C781840}"/>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店舗別損益（進行期7か月）</a:t>
            </a:r>
          </a:p>
        </p:txBody>
      </p:sp>
      <p:sp>
        <p:nvSpPr>
          <p:cNvPr id="4" name="タイトル 1">
            <a:extLst>
              <a:ext uri="{FF2B5EF4-FFF2-40B4-BE49-F238E27FC236}">
                <a16:creationId xmlns:a16="http://schemas.microsoft.com/office/drawing/2014/main" id="{D44DDE09-7FAA-EAAC-AE8C-414FEC9219B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graphicFrame>
        <p:nvGraphicFramePr>
          <p:cNvPr id="9" name="表 8">
            <a:extLst>
              <a:ext uri="{FF2B5EF4-FFF2-40B4-BE49-F238E27FC236}">
                <a16:creationId xmlns:a16="http://schemas.microsoft.com/office/drawing/2014/main" id="{CCA9EF7E-7CE7-5EF8-7F12-B433D524792F}"/>
              </a:ext>
            </a:extLst>
          </p:cNvPr>
          <p:cNvGraphicFramePr>
            <a:graphicFrameLocks noGrp="1"/>
          </p:cNvGraphicFramePr>
          <p:nvPr>
            <p:extLst>
              <p:ext uri="{D42A27DB-BD31-4B8C-83A1-F6EECF244321}">
                <p14:modId xmlns:p14="http://schemas.microsoft.com/office/powerpoint/2010/main" val="3029468883"/>
              </p:ext>
            </p:extLst>
          </p:nvPr>
        </p:nvGraphicFramePr>
        <p:xfrm>
          <a:off x="341313" y="1572768"/>
          <a:ext cx="9902952" cy="3973068"/>
        </p:xfrm>
        <a:graphic>
          <a:graphicData uri="http://schemas.openxmlformats.org/drawingml/2006/table">
            <a:tbl>
              <a:tblPr/>
              <a:tblGrid>
                <a:gridCol w="256032">
                  <a:extLst>
                    <a:ext uri="{9D8B030D-6E8A-4147-A177-3AD203B41FA5}">
                      <a16:colId xmlns:a16="http://schemas.microsoft.com/office/drawing/2014/main" val="3316058797"/>
                    </a:ext>
                  </a:extLst>
                </a:gridCol>
                <a:gridCol w="2606040">
                  <a:extLst>
                    <a:ext uri="{9D8B030D-6E8A-4147-A177-3AD203B41FA5}">
                      <a16:colId xmlns:a16="http://schemas.microsoft.com/office/drawing/2014/main" val="1380719249"/>
                    </a:ext>
                  </a:extLst>
                </a:gridCol>
                <a:gridCol w="1234440">
                  <a:extLst>
                    <a:ext uri="{9D8B030D-6E8A-4147-A177-3AD203B41FA5}">
                      <a16:colId xmlns:a16="http://schemas.microsoft.com/office/drawing/2014/main" val="246846433"/>
                    </a:ext>
                  </a:extLst>
                </a:gridCol>
                <a:gridCol w="1234440">
                  <a:extLst>
                    <a:ext uri="{9D8B030D-6E8A-4147-A177-3AD203B41FA5}">
                      <a16:colId xmlns:a16="http://schemas.microsoft.com/office/drawing/2014/main" val="3721573245"/>
                    </a:ext>
                  </a:extLst>
                </a:gridCol>
                <a:gridCol w="914400">
                  <a:extLst>
                    <a:ext uri="{9D8B030D-6E8A-4147-A177-3AD203B41FA5}">
                      <a16:colId xmlns:a16="http://schemas.microsoft.com/office/drawing/2014/main" val="25268631"/>
                    </a:ext>
                  </a:extLst>
                </a:gridCol>
                <a:gridCol w="640080">
                  <a:extLst>
                    <a:ext uri="{9D8B030D-6E8A-4147-A177-3AD203B41FA5}">
                      <a16:colId xmlns:a16="http://schemas.microsoft.com/office/drawing/2014/main" val="829825544"/>
                    </a:ext>
                  </a:extLst>
                </a:gridCol>
                <a:gridCol w="987552">
                  <a:extLst>
                    <a:ext uri="{9D8B030D-6E8A-4147-A177-3AD203B41FA5}">
                      <a16:colId xmlns:a16="http://schemas.microsoft.com/office/drawing/2014/main" val="1494183210"/>
                    </a:ext>
                  </a:extLst>
                </a:gridCol>
                <a:gridCol w="932688">
                  <a:extLst>
                    <a:ext uri="{9D8B030D-6E8A-4147-A177-3AD203B41FA5}">
                      <a16:colId xmlns:a16="http://schemas.microsoft.com/office/drawing/2014/main" val="3341255910"/>
                    </a:ext>
                  </a:extLst>
                </a:gridCol>
                <a:gridCol w="1097280">
                  <a:extLst>
                    <a:ext uri="{9D8B030D-6E8A-4147-A177-3AD203B41FA5}">
                      <a16:colId xmlns:a16="http://schemas.microsoft.com/office/drawing/2014/main" val="387513537"/>
                    </a:ext>
                  </a:extLst>
                </a:gridCol>
              </a:tblGrid>
              <a:tr h="347472">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部門</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業態</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状況</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構成比</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売上総利益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販管費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営業利益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150016470"/>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25,109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9.0%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18,583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18,977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394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056577972"/>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40,221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31,468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14,171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17,296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33,840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26,675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13,333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13,342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22888758"/>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36,963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31,416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13,900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17,516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27963007"/>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大型犬専門／路面店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60,023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48,926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22,724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26,202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87551456"/>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大型犬専門／路面店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58,447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49,078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22,222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26,856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61957651"/>
                  </a:ext>
                </a:extLst>
              </a:tr>
              <a:tr h="278892">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【稼働6店舗 小計】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254,603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91.2%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206,145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105,327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100,818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86727505"/>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アクアウォーク大垣店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2026年2月に撤退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6,112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859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1,915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1,056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93701439"/>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ペットプラザ岐阜店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2026年1月に撤退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1,843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0.7%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1,275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3,031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64820398"/>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セキュリティ事業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非店舗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1,615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1,615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0445004"/>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大垣管理センター</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非店舗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2026年2月に閉鎖</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113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818873767"/>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共通部門（本社）</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非店舗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13,650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32,954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58,643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91,597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55912933"/>
                  </a:ext>
                </a:extLst>
              </a:tr>
              <a:tr h="278892">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279,153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174,391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167,754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6,637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45927038"/>
                  </a:ext>
                </a:extLst>
              </a:tr>
            </a:tbl>
          </a:graphicData>
        </a:graphic>
      </p:graphicFrame>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不採算2店舗の撤退により、進行期は稼働6店舗で100,818千円の店舗貢献利益を計上。大型犬専門2店舗が貢献利益の52.6%を占める一方、明和店は損益均衡にとどまる。</a:t>
            </a:r>
            <a:endParaRPr lang="en-US" altLang="ja-JP" dirty="0">
              <a:latin typeface="游ゴシック" panose="020B0400000000000000" pitchFamily="50" charset="-128"/>
              <a:ea typeface="游ゴシック" panose="020B0400000000000000" pitchFamily="50" charset="-128"/>
            </a:endParaRPr>
          </a:p>
        </p:txBody>
      </p:sp>
      <p:sp>
        <p:nvSpPr>
          <p:cNvPr id="14" name="TextBox 13"/>
          <p:cNvSpPr txBox="1"/>
          <p:nvPr/>
        </p:nvSpPr>
        <p:spPr>
          <a:xfrm>
            <a:off x="338328" y="5852160"/>
            <a:ext cx="9902952" cy="1143000"/>
          </a:xfrm>
          <a:prstGeom prst="rect">
            <a:avLst/>
          </a:prstGeom>
          <a:noFill/>
        </p:spPr>
        <p:txBody>
          <a:bodyPr wrap="square">
            <a:spAutoFit/>
          </a:bodyPr>
          <a:lstStyle/>
          <a:p>
            <a:r>
              <a:rPr sz="800">
                <a:latin typeface="游ゴシック Medium"/>
              </a:rPr>
              <a:t>（単位：千円）※出所：店舗別（部門別）勘定科目残高推移表 2025年12月〜2026年6月（2026年9月18日出力）。部門別の合計は全社の試算表と一致することを確認済。</a:t>
            </a:r>
          </a:p>
          <a:p>
            <a:r>
              <a:rPr sz="800">
                <a:latin typeface="游ゴシック Medium"/>
              </a:rPr>
              <a:t>※店舗別の営業利益は本社費を配賦する前の「店舗貢献利益」であり、役員報酬・本社家賃・広告宣伝費等の本社費は共通部門に一括計上されている。</a:t>
            </a:r>
          </a:p>
          <a:p>
            <a:r>
              <a:rPr sz="800">
                <a:latin typeface="游ゴシック Medium"/>
              </a:rPr>
              <a:t>※共通部門の売上原価46,604千円は、本社で仕入れた商品40,994千円および外注費5,610千円が各店舗へ振り替えられずに共通部門に残っているものと推察される（仮説・要確認）。このため店舗別の粗利・営業利益は実力値より過大に表示されている可能性があり、解釈には留意を要する。</a:t>
            </a:r>
          </a:p>
          <a:p>
            <a:r>
              <a:rPr sz="800">
                <a:latin typeface="游ゴシック Medium"/>
              </a:rPr>
              <a:t>※明和店の販管費は売上高比75.6%と他のFC加盟店（伊勢35.2%・久居39.4%・緑37.6%）に比して高く、松阪管理センターの人件費が含まれていると推察される（仮説・要確認）。</a:t>
            </a:r>
          </a:p>
          <a:p>
            <a:r>
              <a:rPr sz="800">
                <a:latin typeface="游ゴシック Medium"/>
              </a:rPr>
              <a:t>※共通部門の売上13,650千円は月額約195万円で計上されているサービス売上高であり、ペット保険の代理店手数料と推察される（仮説・要確認）。</a:t>
            </a:r>
          </a:p>
        </p:txBody>
      </p:sp>
    </p:spTree>
    <p:extLst>
      <p:ext uri="{BB962C8B-B14F-4D97-AF65-F5344CB8AC3E}">
        <p14:creationId xmlns:p14="http://schemas.microsoft.com/office/powerpoint/2010/main" val="4529294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C82EF-8053-BAE5-C6BD-622F2C30CBF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5081F90-873F-6788-14E3-950832F30EFF}"/>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棚卸資産の内訳（2025年11月期末）</a:t>
            </a:r>
          </a:p>
        </p:txBody>
      </p:sp>
      <p:sp>
        <p:nvSpPr>
          <p:cNvPr id="4" name="タイトル 1">
            <a:extLst>
              <a:ext uri="{FF2B5EF4-FFF2-40B4-BE49-F238E27FC236}">
                <a16:creationId xmlns:a16="http://schemas.microsoft.com/office/drawing/2014/main" id="{487EAEC6-550C-CDEC-0657-1C231A4DB47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graphicFrame>
        <p:nvGraphicFramePr>
          <p:cNvPr id="9" name="表 8">
            <a:extLst>
              <a:ext uri="{FF2B5EF4-FFF2-40B4-BE49-F238E27FC236}">
                <a16:creationId xmlns:a16="http://schemas.microsoft.com/office/drawing/2014/main" id="{4651616C-25FF-A6E7-109B-683B7065E9C1}"/>
              </a:ext>
            </a:extLst>
          </p:cNvPr>
          <p:cNvGraphicFramePr>
            <a:graphicFrameLocks noGrp="1"/>
          </p:cNvGraphicFramePr>
          <p:nvPr>
            <p:extLst>
              <p:ext uri="{D42A27DB-BD31-4B8C-83A1-F6EECF244321}">
                <p14:modId xmlns:p14="http://schemas.microsoft.com/office/powerpoint/2010/main" val="3352292201"/>
              </p:ext>
            </p:extLst>
          </p:nvPr>
        </p:nvGraphicFramePr>
        <p:xfrm>
          <a:off x="341313" y="1572768"/>
          <a:ext cx="9902952" cy="4206240"/>
        </p:xfrm>
        <a:graphic>
          <a:graphicData uri="http://schemas.openxmlformats.org/drawingml/2006/table">
            <a:tbl>
              <a:tblPr/>
              <a:tblGrid>
                <a:gridCol w="2331720">
                  <a:extLst>
                    <a:ext uri="{9D8B030D-6E8A-4147-A177-3AD203B41FA5}">
                      <a16:colId xmlns:a16="http://schemas.microsoft.com/office/drawing/2014/main" val="3316058797"/>
                    </a:ext>
                  </a:extLst>
                </a:gridCol>
                <a:gridCol w="566928">
                  <a:extLst>
                    <a:ext uri="{9D8B030D-6E8A-4147-A177-3AD203B41FA5}">
                      <a16:colId xmlns:a16="http://schemas.microsoft.com/office/drawing/2014/main" val="1380719249"/>
                    </a:ext>
                  </a:extLst>
                </a:gridCol>
                <a:gridCol w="621792">
                  <a:extLst>
                    <a:ext uri="{9D8B030D-6E8A-4147-A177-3AD203B41FA5}">
                      <a16:colId xmlns:a16="http://schemas.microsoft.com/office/drawing/2014/main" val="246846433"/>
                    </a:ext>
                  </a:extLst>
                </a:gridCol>
                <a:gridCol w="658368">
                  <a:extLst>
                    <a:ext uri="{9D8B030D-6E8A-4147-A177-3AD203B41FA5}">
                      <a16:colId xmlns:a16="http://schemas.microsoft.com/office/drawing/2014/main" val="3721573245"/>
                    </a:ext>
                  </a:extLst>
                </a:gridCol>
                <a:gridCol w="713232">
                  <a:extLst>
                    <a:ext uri="{9D8B030D-6E8A-4147-A177-3AD203B41FA5}">
                      <a16:colId xmlns:a16="http://schemas.microsoft.com/office/drawing/2014/main" val="25268631"/>
                    </a:ext>
                  </a:extLst>
                </a:gridCol>
                <a:gridCol w="658368">
                  <a:extLst>
                    <a:ext uri="{9D8B030D-6E8A-4147-A177-3AD203B41FA5}">
                      <a16:colId xmlns:a16="http://schemas.microsoft.com/office/drawing/2014/main" val="829825544"/>
                    </a:ext>
                  </a:extLst>
                </a:gridCol>
                <a:gridCol w="731520">
                  <a:extLst>
                    <a:ext uri="{9D8B030D-6E8A-4147-A177-3AD203B41FA5}">
                      <a16:colId xmlns:a16="http://schemas.microsoft.com/office/drawing/2014/main" val="1494183210"/>
                    </a:ext>
                  </a:extLst>
                </a:gridCol>
                <a:gridCol w="749808">
                  <a:extLst>
                    <a:ext uri="{9D8B030D-6E8A-4147-A177-3AD203B41FA5}">
                      <a16:colId xmlns:a16="http://schemas.microsoft.com/office/drawing/2014/main" val="3341255910"/>
                    </a:ext>
                  </a:extLst>
                </a:gridCol>
                <a:gridCol w="2871216">
                  <a:extLst>
                    <a:ext uri="{9D8B030D-6E8A-4147-A177-3AD203B41FA5}">
                      <a16:colId xmlns:a16="http://schemas.microsoft.com/office/drawing/2014/main" val="387513537"/>
                    </a:ext>
                  </a:extLst>
                </a:gridCol>
              </a:tblGrid>
              <a:tr h="365760">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拠点</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
アクア</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
小動物</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生体：犬猫</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 小計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物販</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合計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決算書の
計上額</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備考</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150016470"/>
                  </a:ext>
                </a:extLst>
              </a:tr>
              <a:tr h="256032">
                <a:tc>
                  <a:txBody>
                    <a:bodyPr/>
                    <a:lstStyle/>
                    <a:p>
                      <a:pPr algn="ct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1,295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1,483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667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2,150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21,819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決算書上は松阪管理センター分19,669,000円を含めて計上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056577972"/>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松阪管理センター</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19,669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19,669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明和店に含めて計上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1,888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1,097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2,985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2,985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22888758"/>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1,860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1,860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955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2,815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2,815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27963007"/>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アクアウォーク大垣店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1,391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3,046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3,046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2026年2月に撤退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87551456"/>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ペットプラザ岐阜店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1,152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1,152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1,307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2,459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2,459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2026年1月に撤退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61957651"/>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2,125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2,125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1,514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3,639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3,747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決算書上は中志段味店分108,013円を含めて計上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86727505"/>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ワンラブ コメリパワー中志段味店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2024年6月に譲渡済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93701439"/>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1,620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1,620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4,946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6,566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6,566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64820398"/>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1,818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1,818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6,762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8,580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8,580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0445004"/>
                  </a:ext>
                </a:extLst>
              </a:tr>
              <a:tr h="256032">
                <a:tc>
                  <a:txBody>
                    <a:bodyPr/>
                    <a:lstStyle/>
                    <a:p>
                      <a:pPr algn="ct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【店舗合計】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33,270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18,748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52,017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818873767"/>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本社</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24,000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32,000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2026年3月に廃棄損を計上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55912933"/>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バックヤード</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12,000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12,000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2026年3月に廃棄損を計上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45927038"/>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外部保管分</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仕入先デザイナーズワン㈱への預け在庫</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87109556"/>
                  </a:ext>
                </a:extLst>
              </a:tr>
              <a:tr h="256032">
                <a:tc>
                  <a:txBody>
                    <a:bodyPr/>
                    <a:lstStyle/>
                    <a:p>
                      <a:pPr algn="ct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【全社合計】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67,270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38,748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106,017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794250216"/>
                  </a:ext>
                </a:extLst>
              </a:tr>
            </a:tbl>
          </a:graphicData>
        </a:graphic>
      </p:graphicFrame>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2025年11月期末の棚卸資産106,017千円のうち店舗在庫は52,017千円。残る本社32,000千円とバックヤード12,000千円の合計44,000千円は、進行期の2026年3月に全額を廃棄損として計上済。</a:t>
            </a:r>
            <a:endParaRPr lang="en-US" altLang="ja-JP" dirty="0">
              <a:latin typeface="游ゴシック" panose="020B0400000000000000" pitchFamily="50" charset="-128"/>
              <a:ea typeface="游ゴシック" panose="020B0400000000000000" pitchFamily="50" charset="-128"/>
            </a:endParaRPr>
          </a:p>
        </p:txBody>
      </p:sp>
      <p:sp>
        <p:nvSpPr>
          <p:cNvPr id="14" name="TextBox 13"/>
          <p:cNvSpPr txBox="1"/>
          <p:nvPr/>
        </p:nvSpPr>
        <p:spPr>
          <a:xfrm>
            <a:off x="338328" y="6035040"/>
            <a:ext cx="9902952" cy="914400"/>
          </a:xfrm>
          <a:prstGeom prst="rect">
            <a:avLst/>
          </a:prstGeom>
          <a:noFill/>
        </p:spPr>
        <p:txBody>
          <a:bodyPr wrap="square">
            <a:spAutoFit/>
          </a:bodyPr>
          <a:lstStyle/>
          <a:p>
            <a:r>
              <a:rPr sz="800">
                <a:latin typeface="游ゴシック Medium"/>
              </a:rPr>
              <a:t>（単位：千円／税抜）※出所：対象会社作成「棚卸表 2025年12月1日時点（最終版）」。全社合計106,017千円は第5期決算書の商品残高と一致する。</a:t>
            </a:r>
          </a:p>
          <a:p>
            <a:r>
              <a:rPr sz="800">
                <a:latin typeface="游ゴシック Medium"/>
              </a:rPr>
              <a:t>※「決算書の計上額」は第5期決算報告書「売上高等の事業所別内訳書」の期末棚卸高。松阪管理センターは明和店に、中志段味店は緑店に含めて計上されている。</a:t>
            </a:r>
          </a:p>
          <a:p>
            <a:r>
              <a:rPr sz="800">
                <a:latin typeface="游ゴシック Medium"/>
              </a:rPr>
              <a:t>※本社32,000千円＋バックヤード12,000千円＝44,000千円は、進行期の2026年3月に棚卸資産廃棄損として全額を特別損失に計上済。廃棄に至った理由・処分方法は要確認。</a:t>
            </a:r>
          </a:p>
          <a:p>
            <a:r>
              <a:rPr sz="800">
                <a:latin typeface="游ゴシック Medium"/>
              </a:rPr>
              <a:t>※外部保管分10,000千円は仕入先デザイナーズワン株式会社（代表者の親族が経営）への預け在庫。2026年6月末の商品残高58,446千円に同額が含まれているかは要確認。</a:t>
            </a:r>
          </a:p>
        </p:txBody>
      </p:sp>
    </p:spTree>
    <p:extLst>
      <p:ext uri="{BB962C8B-B14F-4D97-AF65-F5344CB8AC3E}">
        <p14:creationId xmlns:p14="http://schemas.microsoft.com/office/powerpoint/2010/main" val="41176041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576E1-4CA2-293A-375C-E82B2120C60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DF72B822-F634-D170-9005-8B64C163518C}"/>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許認可一覧</a:t>
            </a:r>
          </a:p>
        </p:txBody>
      </p:sp>
      <p:sp>
        <p:nvSpPr>
          <p:cNvPr id="4" name="タイトル 1">
            <a:extLst>
              <a:ext uri="{FF2B5EF4-FFF2-40B4-BE49-F238E27FC236}">
                <a16:creationId xmlns:a16="http://schemas.microsoft.com/office/drawing/2014/main" id="{1B883D75-DF1B-E6E8-E329-BDF41BCB1618}"/>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graphicFrame>
        <p:nvGraphicFramePr>
          <p:cNvPr id="3" name="表 2">
            <a:extLst>
              <a:ext uri="{FF2B5EF4-FFF2-40B4-BE49-F238E27FC236}">
                <a16:creationId xmlns:a16="http://schemas.microsoft.com/office/drawing/2014/main" id="{906F5ED1-443F-4DC0-AEC2-A15734FB921F}"/>
              </a:ext>
            </a:extLst>
          </p:cNvPr>
          <p:cNvGraphicFramePr>
            <a:graphicFrameLocks noGrp="1"/>
          </p:cNvGraphicFramePr>
          <p:nvPr>
            <p:extLst>
              <p:ext uri="{D42A27DB-BD31-4B8C-83A1-F6EECF244321}">
                <p14:modId xmlns:p14="http://schemas.microsoft.com/office/powerpoint/2010/main" val="511818016"/>
              </p:ext>
            </p:extLst>
          </p:nvPr>
        </p:nvGraphicFramePr>
        <p:xfrm>
          <a:off x="311150" y="1572768"/>
          <a:ext cx="7278624" cy="4736592"/>
        </p:xfrm>
        <a:graphic>
          <a:graphicData uri="http://schemas.openxmlformats.org/drawingml/2006/table">
            <a:tbl>
              <a:tblPr/>
              <a:tblGrid>
                <a:gridCol w="2331720">
                  <a:extLst>
                    <a:ext uri="{9D8B030D-6E8A-4147-A177-3AD203B41FA5}">
                      <a16:colId xmlns:a16="http://schemas.microsoft.com/office/drawing/2014/main" val="949900933"/>
                    </a:ext>
                  </a:extLst>
                </a:gridCol>
                <a:gridCol w="2697480">
                  <a:extLst>
                    <a:ext uri="{9D8B030D-6E8A-4147-A177-3AD203B41FA5}">
                      <a16:colId xmlns:a16="http://schemas.microsoft.com/office/drawing/2014/main" val="3765230895"/>
                    </a:ext>
                  </a:extLst>
                </a:gridCol>
                <a:gridCol w="2249424">
                  <a:extLst>
                    <a:ext uri="{9D8B030D-6E8A-4147-A177-3AD203B41FA5}">
                      <a16:colId xmlns:a16="http://schemas.microsoft.com/office/drawing/2014/main" val="2593979779"/>
                    </a:ext>
                  </a:extLst>
                </a:gridCol>
              </a:tblGrid>
              <a:tr h="256032">
                <a:tc gridSpan="3">
                  <a:txBody>
                    <a:bodyPr/>
                    <a:lstStyle/>
                    <a:p>
                      <a:pPr algn="l"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【第一種動物取扱業許可】</a:t>
                      </a:r>
                    </a:p>
                  </a:txBody>
                  <a:tcPr marL="0" marR="0" marT="0" marB="0" anchor="ctr">
                    <a:lnL>
                      <a:noFill/>
                    </a:lnL>
                    <a:lnR>
                      <a:noFill/>
                    </a:lnR>
                    <a:lnT>
                      <a:noFill/>
                    </a:lnT>
                    <a:lnB w="12700" cap="flat" cmpd="sng" algn="ctr">
                      <a:noFill/>
                      <a:prstDash val="solid"/>
                      <a:round/>
                      <a:headEnd type="none" w="med" len="med"/>
                      <a:tailEnd type="none" w="med" len="med"/>
                    </a:lnB>
                    <a:solidFill>
                      <a:srgbClr val="1F4E78"/>
                    </a:solidFill>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extLst>
                  <a:ext uri="{0D108BD9-81ED-4DB2-BD59-A6C34878D82A}">
                    <a16:rowId xmlns:a16="http://schemas.microsoft.com/office/drawing/2014/main" val="96804639"/>
                  </a:ext>
                </a:extLst>
              </a:tr>
              <a:tr h="292608">
                <a:tc>
                  <a:txBody>
                    <a:bodyPr/>
                    <a:lstStyle/>
                    <a:p>
                      <a:pPr algn="ctr" fontAlgn="ctr">
                        <a:buNone/>
                      </a:pPr>
                      <a:r>
                        <a:rPr lang="ja-JP" sz="900" b="1" i="0" u="none" strike="noStrike" dirty="0">
                          <a:solidFill>
                            <a:srgbClr val="000000"/>
                          </a:solidFill>
                          <a:effectLst/>
                          <a:latin typeface="Yu Gothic" panose="020B0400000000000000" pitchFamily="50" charset="-128"/>
                          <a:ea typeface="Yu Gothic" panose="020B0400000000000000" pitchFamily="50" charset="-128"/>
                        </a:rPr>
                        <a:t>事業所</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種別・登録番号</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有効期間</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extLst>
                  <a:ext uri="{0D108BD9-81ED-4DB2-BD59-A6C34878D82A}">
                    <a16:rowId xmlns:a16="http://schemas.microsoft.com/office/drawing/2014/main" val="3741516062"/>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カインズホーム明和店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販売：松販R3-3号／保管：松管R3-3号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2021年5月21日〜2026年5月20日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バローミタス伊勢店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販売：伊販R第4-4号／保管：伊管R第4-3号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2023年3月8日〜2028年3月7日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4887001"/>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ホームセンターバロー久居店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販売：津販R第3-4号／保管：津管R第3-1号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2021年5月21日〜2026年5月20日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714912"/>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アクアウォーク大垣店 ※2026年2月撤退</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販売：第030253号／保管：第030254号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2021年11月30日〜2026年11月29日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2721288"/>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ペットプラザ岐阜店 ※2026年1月撤退</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販売：第120349号／保管：第120350号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2022年2月1日〜2027年1月31日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ドン・キホーテ緑店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販売：第061485号／保管：第061486号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2024年7月1日〜2029年6月30日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おっきなもふもふ応援隊 岐阜総本店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販売：第010309号／保管：第010310号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2023年6月6日〜2028年6月5日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おっきなもふもふ応援隊 大阪総本店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販売：第4805-1号／保管：第4805-2号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2024年10月8日〜2029年10月7日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182880">
                <a:tc>
                  <a:txBody>
                    <a:bodyPr/>
                    <a:lstStyle/>
                    <a:p>
                      <a:pPr algn="l"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　</a:t>
                      </a:r>
                    </a:p>
                  </a:txBody>
                  <a:tcPr marL="0" marR="0" marT="0" marB="0" anchor="b">
                    <a:lnL>
                      <a:noFill/>
                    </a:lnL>
                    <a:lnR>
                      <a:noFill/>
                    </a:lnR>
                    <a:lnT w="12700" cap="flat" cmpd="sng" algn="ctr">
                      <a:noFill/>
                      <a:prstDash val="solid"/>
                      <a:round/>
                      <a:headEnd type="none" w="med" len="med"/>
                      <a:tailEnd type="none" w="med" len="med"/>
                    </a:lnT>
                    <a:lnB>
                      <a:noFill/>
                    </a:lnB>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　</a:t>
                      </a:r>
                    </a:p>
                  </a:txBody>
                  <a:tcPr marL="0" marR="0" marT="0" marB="0" anchor="b">
                    <a:lnL>
                      <a:noFill/>
                    </a:lnL>
                    <a:lnR>
                      <a:noFill/>
                    </a:lnR>
                    <a:lnT w="12700" cap="flat" cmpd="sng" algn="ctr">
                      <a:noFill/>
                      <a:prstDash val="solid"/>
                      <a:round/>
                      <a:headEnd type="none" w="med" len="med"/>
                      <a:tailEnd type="none" w="med" len="med"/>
                    </a:lnT>
                    <a:lnB>
                      <a:noFill/>
                    </a:lnB>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　</a:t>
                      </a:r>
                    </a:p>
                  </a:txBody>
                  <a:tcPr marL="0" marR="0" marT="0" marB="0" anchor="b">
                    <a:lnL>
                      <a:noFill/>
                    </a:lnL>
                    <a:lnR>
                      <a:noFill/>
                    </a:lnR>
                    <a:lnT w="12700" cap="flat" cmpd="sng" algn="ctr">
                      <a:noFill/>
                      <a:prstDash val="solid"/>
                      <a:round/>
                      <a:headEnd type="none" w="med" len="med"/>
                      <a:tailEnd type="none" w="med" len="med"/>
                    </a:lnT>
                    <a:lnB>
                      <a:noFill/>
                    </a:lnB>
                    <a:noFill/>
                  </a:tcPr>
                </a:tc>
                <a:extLst>
                  <a:ext uri="{0D108BD9-81ED-4DB2-BD59-A6C34878D82A}">
                    <a16:rowId xmlns:a16="http://schemas.microsoft.com/office/drawing/2014/main" val="4187167268"/>
                  </a:ext>
                </a:extLst>
              </a:tr>
              <a:tr h="256032">
                <a:tc gridSpan="3">
                  <a:txBody>
                    <a:bodyPr/>
                    <a:lstStyle/>
                    <a:p>
                      <a:pPr algn="l"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【その他】</a:t>
                      </a:r>
                    </a:p>
                  </a:txBody>
                  <a:tcPr marL="0" marR="0" marT="0" marB="0" anchor="ctr">
                    <a:lnL>
                      <a:noFill/>
                    </a:lnL>
                    <a:lnR>
                      <a:noFill/>
                    </a:lnR>
                    <a:lnT>
                      <a:noFill/>
                    </a:lnT>
                    <a:lnB w="12700" cap="flat" cmpd="sng" algn="ctr">
                      <a:noFill/>
                      <a:prstDash val="solid"/>
                      <a:round/>
                      <a:headEnd type="none" w="med" len="med"/>
                      <a:tailEnd type="none" w="med" len="med"/>
                    </a:lnB>
                    <a:solidFill>
                      <a:srgbClr val="1F4E78"/>
                    </a:solidFill>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extLst>
                  <a:ext uri="{0D108BD9-81ED-4DB2-BD59-A6C34878D82A}">
                    <a16:rowId xmlns:a16="http://schemas.microsoft.com/office/drawing/2014/main" val="3844147814"/>
                  </a:ext>
                </a:extLst>
              </a:tr>
              <a:tr h="292608">
                <a:tc>
                  <a:txBody>
                    <a:bodyPr/>
                    <a:lstStyle/>
                    <a:p>
                      <a:pPr algn="ctr" fontAlgn="ctr">
                        <a:buNone/>
                      </a:pPr>
                      <a:r>
                        <a:rPr lang="ja-JP" sz="900" b="1" i="0" u="none" strike="noStrike" dirty="0">
                          <a:solidFill>
                            <a:srgbClr val="000000"/>
                          </a:solidFill>
                          <a:effectLst/>
                          <a:latin typeface="Yu Gothic" panose="020B0400000000000000" pitchFamily="50" charset="-128"/>
                          <a:ea typeface="Yu Gothic" panose="020B0400000000000000" pitchFamily="50" charset="-128"/>
                        </a:rPr>
                        <a:t>名称</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内容</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取得・認定日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extLst>
                  <a:ext uri="{0D108BD9-81ED-4DB2-BD59-A6C34878D82A}">
                    <a16:rowId xmlns:a16="http://schemas.microsoft.com/office/drawing/2014/main" val="2077243730"/>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認定</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「ぎふSDGs推進パートナー」ゴールドパートナー</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2023年12月</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536647393"/>
                  </a:ext>
                </a:extLst>
              </a:tr>
            </a:tbl>
          </a:graphicData>
        </a:graphic>
      </p:graphicFrame>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mj-ea"/>
              </a:rPr>
              <a:t>第一種動物取扱業の許可は事業所ごとに「販売」「保管」の2種別を取得しており、撤退2店舗を含む8事業所分を記載している。明和店・久居店は2026年5月20日に有効期間が満了しており、更新手続の状況が論点。</a:t>
            </a:r>
            <a:endParaRPr lang="en-US" altLang="ja-JP" dirty="0"/>
          </a:p>
        </p:txBody>
      </p:sp>
      <p:sp>
        <p:nvSpPr>
          <p:cNvPr id="14" name="TextBox 13"/>
          <p:cNvSpPr txBox="1"/>
          <p:nvPr/>
        </p:nvSpPr>
        <p:spPr>
          <a:xfrm>
            <a:off x="7726679" y="1572768"/>
            <a:ext cx="2514600" cy="3291840"/>
          </a:xfrm>
          <a:prstGeom prst="rect">
            <a:avLst/>
          </a:prstGeom>
          <a:noFill/>
        </p:spPr>
        <p:txBody>
          <a:bodyPr wrap="square">
            <a:spAutoFit/>
          </a:bodyPr>
          <a:lstStyle/>
          <a:p>
            <a:pPr>
              <a:spcAft>
                <a:spcPts val="600"/>
              </a:spcAft>
            </a:pPr>
            <a:r>
              <a:rPr sz="900">
                <a:latin typeface="游ゴシック Medium"/>
              </a:rPr>
              <a:t>【留意点】</a:t>
            </a:r>
          </a:p>
          <a:p>
            <a:pPr>
              <a:spcAft>
                <a:spcPts val="600"/>
              </a:spcAft>
            </a:pPr>
            <a:r>
              <a:rPr sz="900">
                <a:latin typeface="游ゴシック Medium"/>
              </a:rPr>
              <a:t>■ 第一種動物取扱業許可は事業所ごとに「販売」「保管」の2種別を取得。2025年11月期末時点の8事業所分を記載している。</a:t>
            </a:r>
          </a:p>
          <a:p>
            <a:pPr>
              <a:spcAft>
                <a:spcPts val="600"/>
              </a:spcAft>
            </a:pPr>
            <a:r>
              <a:rPr sz="900">
                <a:latin typeface="游ゴシック Medium"/>
              </a:rPr>
              <a:t>■ 明和店・久居店は2026年5月20日に有効期間が満了しており、更新手続の状況を要確認。</a:t>
            </a:r>
          </a:p>
          <a:p>
            <a:pPr>
              <a:spcAft>
                <a:spcPts val="600"/>
              </a:spcAft>
            </a:pPr>
            <a:r>
              <a:rPr sz="900">
                <a:latin typeface="游ゴシック Medium"/>
              </a:rPr>
              <a:t>■ 撤退したアクアウォーク大垣店・ペットプラザ岐阜店について、廃業届の提出状況を要確認。</a:t>
            </a:r>
          </a:p>
          <a:p>
            <a:pPr>
              <a:spcAft>
                <a:spcPts val="600"/>
              </a:spcAft>
            </a:pPr>
            <a:r>
              <a:rPr sz="900">
                <a:latin typeface="游ゴシック Medium"/>
              </a:rPr>
              <a:t>■ 各事業所には動物取扱責任者が配置されている（緑店・大垣管理センターは現場責任者の淺野崇氏が兼務）。責任者の退職時における代替要員の確保は要確認。</a:t>
            </a:r>
          </a:p>
          <a:p>
            <a:pPr>
              <a:spcAft>
                <a:spcPts val="600"/>
              </a:spcAft>
            </a:pPr>
            <a:r>
              <a:rPr sz="900">
                <a:latin typeface="游ゴシック Medium"/>
              </a:rPr>
              <a:t>■ 上記のほか、就業規則の届出（10名以上の事業所ごと）があるが、内容は確認中。</a:t>
            </a:r>
          </a:p>
        </p:txBody>
      </p:sp>
    </p:spTree>
    <p:extLst>
      <p:ext uri="{BB962C8B-B14F-4D97-AF65-F5344CB8AC3E}">
        <p14:creationId xmlns:p14="http://schemas.microsoft.com/office/powerpoint/2010/main" val="19442777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t>財務情報詳細</a:t>
            </a:r>
            <a:endParaRPr lang="en-US" altLang="ja-JP" dirty="0"/>
          </a:p>
        </p:txBody>
      </p:sp>
      <p:pic>
        <p:nvPicPr>
          <p:cNvPr id="7" name="図 6">
            <a:extLst>
              <a:ext uri="{FF2B5EF4-FFF2-40B4-BE49-F238E27FC236}">
                <a16:creationId xmlns:a16="http://schemas.microsoft.com/office/drawing/2014/main" id="{8C09C92A-09D2-050E-A69D-9DE4E20EEFE4}"/>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A963349D-952A-7D05-26B2-AC270183F230}"/>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5844496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lang="ja-JP" altLang="en-US" dirty="0"/>
              <a:t>貸借対照表</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lang="ja-JP" altLang="en-US" dirty="0">
                <a:latin typeface="+mj-ea"/>
              </a:rPr>
              <a:t>2024年11月期に大型犬専門店2店舗の出店等で借入金が218,455千円まで増加。2025年11月期は当期純損失20,359千円により純資産が△14,057千円となり債務超過に転じている（進行期はP.7参照）。</a:t>
            </a:r>
            <a:endParaRPr lang="en-US" altLang="ja-JP" dirty="0"/>
          </a:p>
        </p:txBody>
      </p:sp>
      <p:graphicFrame>
        <p:nvGraphicFramePr>
          <p:cNvPr id="21" name="表 20">
            <a:extLst>
              <a:ext uri="{FF2B5EF4-FFF2-40B4-BE49-F238E27FC236}">
                <a16:creationId xmlns:a16="http://schemas.microsoft.com/office/drawing/2014/main" id="{9409AC18-DB96-6E55-A1EC-BFAC6D28FA8A}"/>
              </a:ext>
            </a:extLst>
          </p:cNvPr>
          <p:cNvGraphicFramePr>
            <a:graphicFrameLocks noGrp="1"/>
          </p:cNvGraphicFramePr>
          <p:nvPr>
            <p:extLst>
              <p:ext uri="{D42A27DB-BD31-4B8C-83A1-F6EECF244321}">
                <p14:modId xmlns:p14="http://schemas.microsoft.com/office/powerpoint/2010/main" val="2132406679"/>
              </p:ext>
            </p:extLst>
          </p:nvPr>
        </p:nvGraphicFramePr>
        <p:xfrm>
          <a:off x="449263" y="1444752"/>
          <a:ext cx="4114800" cy="5221224"/>
        </p:xfrm>
        <a:graphic>
          <a:graphicData uri="http://schemas.openxmlformats.org/drawingml/2006/table">
            <a:tbl>
              <a:tblPr/>
              <a:tblGrid>
                <a:gridCol w="1508760">
                  <a:extLst>
                    <a:ext uri="{9D8B030D-6E8A-4147-A177-3AD203B41FA5}">
                      <a16:colId xmlns:a16="http://schemas.microsoft.com/office/drawing/2014/main" val="822254377"/>
                    </a:ext>
                  </a:extLst>
                </a:gridCol>
                <a:gridCol w="868680">
                  <a:extLst>
                    <a:ext uri="{9D8B030D-6E8A-4147-A177-3AD203B41FA5}">
                      <a16:colId xmlns:a16="http://schemas.microsoft.com/office/drawing/2014/main" val="3061090460"/>
                    </a:ext>
                  </a:extLst>
                </a:gridCol>
                <a:gridCol w="868680">
                  <a:extLst>
                    <a:ext uri="{9D8B030D-6E8A-4147-A177-3AD203B41FA5}">
                      <a16:colId xmlns:a16="http://schemas.microsoft.com/office/drawing/2014/main" val="2032412681"/>
                    </a:ext>
                  </a:extLst>
                </a:gridCol>
                <a:gridCol w="868680">
                  <a:extLst>
                    <a:ext uri="{9D8B030D-6E8A-4147-A177-3AD203B41FA5}">
                      <a16:colId xmlns:a16="http://schemas.microsoft.com/office/drawing/2014/main" val="1235492032"/>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945198501"/>
                  </a:ext>
                </a:extLst>
              </a:tr>
              <a:tr h="237744">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002658859"/>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116,931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188,786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150,113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13,655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28,158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39,603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商品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70,918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106,017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前渡金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未収入金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505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68,592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85,272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42,883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63,570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54,658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建物</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45,558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10,609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工具器具及び備品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土地</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その他の有形固定資産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25,709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31,815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30,614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リサイクル預託金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1,712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20,642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27,656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27,371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1,673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185,523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284,171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bl>
          </a:graphicData>
        </a:graphic>
      </p:graphicFrame>
      <p:graphicFrame>
        <p:nvGraphicFramePr>
          <p:cNvPr id="23" name="表 22">
            <a:extLst>
              <a:ext uri="{FF2B5EF4-FFF2-40B4-BE49-F238E27FC236}">
                <a16:creationId xmlns:a16="http://schemas.microsoft.com/office/drawing/2014/main" id="{59091B6A-EC0B-A82B-1BC9-EBB5149C2230}"/>
              </a:ext>
            </a:extLst>
          </p:cNvPr>
          <p:cNvGraphicFramePr>
            <a:graphicFrameLocks noGrp="1"/>
          </p:cNvGraphicFramePr>
          <p:nvPr>
            <p:extLst>
              <p:ext uri="{D42A27DB-BD31-4B8C-83A1-F6EECF244321}">
                <p14:modId xmlns:p14="http://schemas.microsoft.com/office/powerpoint/2010/main" val="509667498"/>
              </p:ext>
            </p:extLst>
          </p:nvPr>
        </p:nvGraphicFramePr>
        <p:xfrm>
          <a:off x="4580099" y="1444752"/>
          <a:ext cx="4114800" cy="3154680"/>
        </p:xfrm>
        <a:graphic>
          <a:graphicData uri="http://schemas.openxmlformats.org/drawingml/2006/table">
            <a:tbl>
              <a:tblPr/>
              <a:tblGrid>
                <a:gridCol w="1508760">
                  <a:extLst>
                    <a:ext uri="{9D8B030D-6E8A-4147-A177-3AD203B41FA5}">
                      <a16:colId xmlns:a16="http://schemas.microsoft.com/office/drawing/2014/main" val="140435893"/>
                    </a:ext>
                  </a:extLst>
                </a:gridCol>
                <a:gridCol w="868680">
                  <a:extLst>
                    <a:ext uri="{9D8B030D-6E8A-4147-A177-3AD203B41FA5}">
                      <a16:colId xmlns:a16="http://schemas.microsoft.com/office/drawing/2014/main" val="1469753659"/>
                    </a:ext>
                  </a:extLst>
                </a:gridCol>
                <a:gridCol w="868680">
                  <a:extLst>
                    <a:ext uri="{9D8B030D-6E8A-4147-A177-3AD203B41FA5}">
                      <a16:colId xmlns:a16="http://schemas.microsoft.com/office/drawing/2014/main" val="80575429"/>
                    </a:ext>
                  </a:extLst>
                </a:gridCol>
                <a:gridCol w="868680">
                  <a:extLst>
                    <a:ext uri="{9D8B030D-6E8A-4147-A177-3AD203B41FA5}">
                      <a16:colId xmlns:a16="http://schemas.microsoft.com/office/drawing/2014/main" val="2683263371"/>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333780944"/>
                  </a:ext>
                </a:extLst>
              </a:tr>
              <a:tr h="237744">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3028628170"/>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30,380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47,366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47,672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10,176</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14,255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9,202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12,571</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24,016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20,114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3,645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3,776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11,784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607</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2,392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3,144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3,751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3,224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149,816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230,503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201,770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134,042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218,455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1,122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7,566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14,652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12,048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2,346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180,196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277,869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bl>
          </a:graphicData>
        </a:graphic>
      </p:graphicFrame>
      <p:graphicFrame>
        <p:nvGraphicFramePr>
          <p:cNvPr id="25" name="表 24">
            <a:extLst>
              <a:ext uri="{FF2B5EF4-FFF2-40B4-BE49-F238E27FC236}">
                <a16:creationId xmlns:a16="http://schemas.microsoft.com/office/drawing/2014/main" id="{464E22CB-ED12-DB3E-58BA-7434CA07B20D}"/>
              </a:ext>
            </a:extLst>
          </p:cNvPr>
          <p:cNvGraphicFramePr>
            <a:graphicFrameLocks noGrp="1"/>
          </p:cNvGraphicFramePr>
          <p:nvPr>
            <p:extLst>
              <p:ext uri="{D42A27DB-BD31-4B8C-83A1-F6EECF244321}">
                <p14:modId xmlns:p14="http://schemas.microsoft.com/office/powerpoint/2010/main" val="2702880926"/>
              </p:ext>
            </p:extLst>
          </p:nvPr>
        </p:nvGraphicFramePr>
        <p:xfrm>
          <a:off x="4580099" y="4937760"/>
          <a:ext cx="4114800" cy="1572768"/>
        </p:xfrm>
        <a:graphic>
          <a:graphicData uri="http://schemas.openxmlformats.org/drawingml/2006/table">
            <a:tbl>
              <a:tblPr/>
              <a:tblGrid>
                <a:gridCol w="1508760">
                  <a:extLst>
                    <a:ext uri="{9D8B030D-6E8A-4147-A177-3AD203B41FA5}">
                      <a16:colId xmlns:a16="http://schemas.microsoft.com/office/drawing/2014/main" val="4058629608"/>
                    </a:ext>
                  </a:extLst>
                </a:gridCol>
                <a:gridCol w="868680">
                  <a:extLst>
                    <a:ext uri="{9D8B030D-6E8A-4147-A177-3AD203B41FA5}">
                      <a16:colId xmlns:a16="http://schemas.microsoft.com/office/drawing/2014/main" val="2673297223"/>
                    </a:ext>
                  </a:extLst>
                </a:gridCol>
                <a:gridCol w="868680">
                  <a:extLst>
                    <a:ext uri="{9D8B030D-6E8A-4147-A177-3AD203B41FA5}">
                      <a16:colId xmlns:a16="http://schemas.microsoft.com/office/drawing/2014/main" val="756661618"/>
                    </a:ext>
                  </a:extLst>
                </a:gridCol>
                <a:gridCol w="868680">
                  <a:extLst>
                    <a:ext uri="{9D8B030D-6E8A-4147-A177-3AD203B41FA5}">
                      <a16:colId xmlns:a16="http://schemas.microsoft.com/office/drawing/2014/main" val="2152851366"/>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916277575"/>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3429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41456255"/>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114300" marR="635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164222422"/>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3429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776807753"/>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342900" marR="6350" marT="6350" marB="0" anchor="ctr">
                    <a:lnL w="6350" cap="flat" cmpd="sng" algn="ctr">
                      <a:solidFill>
                        <a:srgbClr val="FFFFFF"/>
                      </a:solidFill>
                      <a:prstDash val="solid"/>
                      <a:round/>
                      <a:headEnd type="none" w="med" len="med"/>
                      <a:tailEnd type="none" w="med" len="med"/>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943967872"/>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114300" marR="635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5,327</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14,057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extLst>
                  <a:ext uri="{0D108BD9-81ED-4DB2-BD59-A6C34878D82A}">
                    <a16:rowId xmlns:a16="http://schemas.microsoft.com/office/drawing/2014/main" val="1359361426"/>
                  </a:ext>
                </a:extLst>
              </a:tr>
              <a:tr h="173736">
                <a:tc>
                  <a:txBody>
                    <a:bodyPr/>
                    <a:lstStyle/>
                    <a:p>
                      <a:pPr algn="l"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負債・純資産合計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dirty="0">
                          <a:solidFill>
                            <a:srgbClr val="FFFFFF"/>
                          </a:solidFill>
                          <a:effectLst/>
                          <a:latin typeface="Arial" panose="020B0604020202020204" pitchFamily="34" charset="0"/>
                          <a:ea typeface="游ゴシック Medium" panose="020B0500000000000000" pitchFamily="50" charset="-128"/>
                        </a:rPr>
                        <a:t>185,523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284,171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235,385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79988555"/>
                  </a:ext>
                </a:extLst>
              </a:tr>
            </a:tbl>
          </a:graphicData>
        </a:graphic>
      </p:graphicFrame>
    </p:spTree>
    <p:extLst>
      <p:ext uri="{BB962C8B-B14F-4D97-AF65-F5344CB8AC3E}">
        <p14:creationId xmlns:p14="http://schemas.microsoft.com/office/powerpoint/2010/main" val="28778819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lang="ja-JP" altLang="en-US" dirty="0"/>
              <a:t>損益計算書</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lang="ja-JP" altLang="en-US" dirty="0">
                <a:latin typeface="+mj-ea"/>
              </a:rPr>
              <a:t>生体売上が6割を占める構成は3期を通じて安定。2025年11月期は粗利率が59.1%へ低下する一方、販管費が349,576千円に膨らみ営業損失19,552千円を計上した（進行期の月次推移はP.8参照）。</a:t>
            </a:r>
            <a:endParaRPr lang="en-US" altLang="ja-JP" dirty="0"/>
          </a:p>
        </p:txBody>
      </p:sp>
      <p:graphicFrame>
        <p:nvGraphicFramePr>
          <p:cNvPr id="7" name="表 6">
            <a:extLst>
              <a:ext uri="{FF2B5EF4-FFF2-40B4-BE49-F238E27FC236}">
                <a16:creationId xmlns:a16="http://schemas.microsoft.com/office/drawing/2014/main" id="{C8A6EA4B-EF0E-6AD7-2FB5-4C0BD6DDD25B}"/>
              </a:ext>
            </a:extLst>
          </p:cNvPr>
          <p:cNvGraphicFramePr>
            <a:graphicFrameLocks noGrp="1"/>
          </p:cNvGraphicFramePr>
          <p:nvPr>
            <p:extLst>
              <p:ext uri="{D42A27DB-BD31-4B8C-83A1-F6EECF244321}">
                <p14:modId xmlns:p14="http://schemas.microsoft.com/office/powerpoint/2010/main" val="89227664"/>
              </p:ext>
            </p:extLst>
          </p:nvPr>
        </p:nvGraphicFramePr>
        <p:xfrm>
          <a:off x="341312" y="1371600"/>
          <a:ext cx="7909559" cy="5418729"/>
        </p:xfrm>
        <a:graphic>
          <a:graphicData uri="http://schemas.openxmlformats.org/drawingml/2006/table">
            <a:tbl>
              <a:tblPr/>
              <a:tblGrid>
                <a:gridCol w="1874519">
                  <a:extLst>
                    <a:ext uri="{9D8B030D-6E8A-4147-A177-3AD203B41FA5}">
                      <a16:colId xmlns:a16="http://schemas.microsoft.com/office/drawing/2014/main" val="1203225717"/>
                    </a:ext>
                  </a:extLst>
                </a:gridCol>
                <a:gridCol w="1005840">
                  <a:extLst>
                    <a:ext uri="{9D8B030D-6E8A-4147-A177-3AD203B41FA5}">
                      <a16:colId xmlns:a16="http://schemas.microsoft.com/office/drawing/2014/main" val="757072105"/>
                    </a:ext>
                  </a:extLst>
                </a:gridCol>
                <a:gridCol w="1005840">
                  <a:extLst>
                    <a:ext uri="{9D8B030D-6E8A-4147-A177-3AD203B41FA5}">
                      <a16:colId xmlns:a16="http://schemas.microsoft.com/office/drawing/2014/main" val="2934432485"/>
                    </a:ext>
                  </a:extLst>
                </a:gridCol>
                <a:gridCol w="1005840">
                  <a:extLst>
                    <a:ext uri="{9D8B030D-6E8A-4147-A177-3AD203B41FA5}">
                      <a16:colId xmlns:a16="http://schemas.microsoft.com/office/drawing/2014/main" val="3085477051"/>
                    </a:ext>
                  </a:extLst>
                </a:gridCol>
                <a:gridCol w="1005840">
                  <a:extLst>
                    <a:ext uri="{9D8B030D-6E8A-4147-A177-3AD203B41FA5}">
                      <a16:colId xmlns:a16="http://schemas.microsoft.com/office/drawing/2014/main" val="1904258578"/>
                    </a:ext>
                  </a:extLst>
                </a:gridCol>
                <a:gridCol w="1005840">
                  <a:extLst>
                    <a:ext uri="{9D8B030D-6E8A-4147-A177-3AD203B41FA5}">
                      <a16:colId xmlns:a16="http://schemas.microsoft.com/office/drawing/2014/main" val="367188390"/>
                    </a:ext>
                  </a:extLst>
                </a:gridCol>
                <a:gridCol w="1005840">
                  <a:extLst>
                    <a:ext uri="{9D8B030D-6E8A-4147-A177-3AD203B41FA5}">
                      <a16:colId xmlns:a16="http://schemas.microsoft.com/office/drawing/2014/main" val="1573539663"/>
                    </a:ext>
                  </a:extLst>
                </a:gridCol>
              </a:tblGrid>
              <a:tr h="137160">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553608451"/>
                  </a:ext>
                </a:extLst>
              </a:tr>
              <a:tr h="237744">
                <a:tc rowSpan="2">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24年11月期</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16968241"/>
                  </a:ext>
                </a:extLst>
              </a:tr>
              <a:tr h="155448">
                <a:tc vMerge="1">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2121160983"/>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生体売上高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293,214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333,090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338,295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サービス売上高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60,897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52,699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物販売上高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115,559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145,048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167,395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474,428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539,035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558,390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期首棚卸高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39,486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70,918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商品仕入高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183,854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220,801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182,243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外注費</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29,628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31,466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25,058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期末棚卸高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70,918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127,081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106,017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182,050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38.4%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196,104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228,365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292,379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61.6%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342,931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330,024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290,037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61.1%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339,909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349,576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62.6%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2,341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3,022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19,552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営業外収益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2,383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受取利息</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受取配当金</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雑収入</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2,378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営業外費用</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2,296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支払利息</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雑損失</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508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18,575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特別利益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1,298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固定資産売却損</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固定資産除却損</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税引前当期純利益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19,874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法人税等</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894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1,634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20,359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bl>
          </a:graphicData>
        </a:graphic>
      </p:graphicFrame>
    </p:spTree>
    <p:extLst>
      <p:ext uri="{BB962C8B-B14F-4D97-AF65-F5344CB8AC3E}">
        <p14:creationId xmlns:p14="http://schemas.microsoft.com/office/powerpoint/2010/main" val="37409429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lang="ja-JP" altLang="en-US" dirty="0"/>
              <a:t>販売費及び一般管理費</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lang="ja-JP" altLang="en-US" dirty="0">
                <a:latin typeface="+mj-ea"/>
              </a:rPr>
              <a:t>人件費（役員報酬等の計160,575千円・売上高比28.8%）と地代家賃・ロイヤリティが中心。2025年11月期は路面店2店舗の通期稼働で地代家賃が+13,788千円、ロイヤリティが△9,866千円。</a:t>
            </a:r>
            <a:endParaRPr lang="en-US" altLang="ja-JP" dirty="0"/>
          </a:p>
        </p:txBody>
      </p:sp>
      <p:graphicFrame>
        <p:nvGraphicFramePr>
          <p:cNvPr id="7" name="表 6">
            <a:extLst>
              <a:ext uri="{FF2B5EF4-FFF2-40B4-BE49-F238E27FC236}">
                <a16:creationId xmlns:a16="http://schemas.microsoft.com/office/drawing/2014/main" id="{0A397644-9A3A-FA5D-2455-9CC6E28D33A6}"/>
              </a:ext>
            </a:extLst>
          </p:cNvPr>
          <p:cNvGraphicFramePr>
            <a:graphicFrameLocks noGrp="1"/>
          </p:cNvGraphicFramePr>
          <p:nvPr>
            <p:extLst>
              <p:ext uri="{D42A27DB-BD31-4B8C-83A1-F6EECF244321}">
                <p14:modId xmlns:p14="http://schemas.microsoft.com/office/powerpoint/2010/main" val="4189343934"/>
              </p:ext>
            </p:extLst>
          </p:nvPr>
        </p:nvGraphicFramePr>
        <p:xfrm>
          <a:off x="311150" y="1371600"/>
          <a:ext cx="7196328" cy="5207508"/>
        </p:xfrm>
        <a:graphic>
          <a:graphicData uri="http://schemas.openxmlformats.org/drawingml/2006/table">
            <a:tbl>
              <a:tblPr/>
              <a:tblGrid>
                <a:gridCol w="1709928">
                  <a:extLst>
                    <a:ext uri="{9D8B030D-6E8A-4147-A177-3AD203B41FA5}">
                      <a16:colId xmlns:a16="http://schemas.microsoft.com/office/drawing/2014/main" val="2251232663"/>
                    </a:ext>
                  </a:extLst>
                </a:gridCol>
                <a:gridCol w="914400">
                  <a:extLst>
                    <a:ext uri="{9D8B030D-6E8A-4147-A177-3AD203B41FA5}">
                      <a16:colId xmlns:a16="http://schemas.microsoft.com/office/drawing/2014/main" val="3949639850"/>
                    </a:ext>
                  </a:extLst>
                </a:gridCol>
                <a:gridCol w="914400">
                  <a:extLst>
                    <a:ext uri="{9D8B030D-6E8A-4147-A177-3AD203B41FA5}">
                      <a16:colId xmlns:a16="http://schemas.microsoft.com/office/drawing/2014/main" val="2364528844"/>
                    </a:ext>
                  </a:extLst>
                </a:gridCol>
                <a:gridCol w="914400">
                  <a:extLst>
                    <a:ext uri="{9D8B030D-6E8A-4147-A177-3AD203B41FA5}">
                      <a16:colId xmlns:a16="http://schemas.microsoft.com/office/drawing/2014/main" val="3459482142"/>
                    </a:ext>
                  </a:extLst>
                </a:gridCol>
                <a:gridCol w="914400">
                  <a:extLst>
                    <a:ext uri="{9D8B030D-6E8A-4147-A177-3AD203B41FA5}">
                      <a16:colId xmlns:a16="http://schemas.microsoft.com/office/drawing/2014/main" val="107788540"/>
                    </a:ext>
                  </a:extLst>
                </a:gridCol>
                <a:gridCol w="914400">
                  <a:extLst>
                    <a:ext uri="{9D8B030D-6E8A-4147-A177-3AD203B41FA5}">
                      <a16:colId xmlns:a16="http://schemas.microsoft.com/office/drawing/2014/main" val="2114395438"/>
                    </a:ext>
                  </a:extLst>
                </a:gridCol>
                <a:gridCol w="914400">
                  <a:extLst>
                    <a:ext uri="{9D8B030D-6E8A-4147-A177-3AD203B41FA5}">
                      <a16:colId xmlns:a16="http://schemas.microsoft.com/office/drawing/2014/main" val="3710098136"/>
                    </a:ext>
                  </a:extLst>
                </a:gridCol>
              </a:tblGrid>
              <a:tr h="118872">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836" marR="2836" marT="2836"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836" marR="2836"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b">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836" marR="2836" marT="2836"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2836" marR="2836" marT="2836" marB="0" anchor="ctr">
                    <a:lnL>
                      <a:noFill/>
                    </a:lnL>
                    <a:lnR>
                      <a:noFill/>
                    </a:lnR>
                    <a:lnT>
                      <a:noFill/>
                    </a:lnT>
                    <a:lnB>
                      <a:noFill/>
                    </a:lnB>
                    <a:noFill/>
                  </a:tcPr>
                </a:tc>
                <a:extLst>
                  <a:ext uri="{0D108BD9-81ED-4DB2-BD59-A6C34878D82A}">
                    <a16:rowId xmlns:a16="http://schemas.microsoft.com/office/drawing/2014/main" val="2244378733"/>
                  </a:ext>
                </a:extLst>
              </a:tr>
              <a:tr h="137160">
                <a:tc row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469752856"/>
                  </a:ext>
                </a:extLst>
              </a:tr>
              <a:tr h="137160">
                <a:tc vMerge="1">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86543304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役員報酬</a:t>
                      </a:r>
                    </a:p>
                  </a:txBody>
                  <a:tcPr marL="102099" marR="2836" marT="2836" marB="0" anchor="ctr">
                    <a:lnL w="6350" cap="flat" cmpd="sng" algn="ctr">
                      <a:solidFill>
                        <a:srgbClr val="FFFFFF"/>
                      </a:solidFill>
                      <a:prstDash val="solid"/>
                      <a:round/>
                      <a:headEnd type="none" w="med" len="med"/>
                      <a:tailEnd type="none" w="med" len="med"/>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9,600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14,400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082702415"/>
                  </a:ext>
                </a:extLst>
              </a:tr>
              <a:tr h="178308">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従業員給与</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112,323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115,962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127,017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103263029"/>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法定福利費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10,104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22,242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15,295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734683586"/>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厚生費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2,936</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3,946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3,863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111409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旅費交通費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3,152</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4,978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5,725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19190109"/>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広告宣伝費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24,335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34,052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26,651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743200196"/>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発送配達費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353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08356641"/>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ロイヤリティ</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45,990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39,848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29,982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721206240"/>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会議費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1,489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279926147"/>
                  </a:ext>
                </a:extLst>
              </a:tr>
              <a:tr h="178308">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減価償却費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3,911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9,295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31129602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リース料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4,295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4,555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7,250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612394859"/>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地代家賃</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8,230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19,460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33,249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27523463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修繕費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468</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1,088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9232182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事務用消耗品費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9,802</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6,407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4,372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82122485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通信費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2,456</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2,673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3,045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1580907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水道光熱費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2,958</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3,941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4107171"/>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租税公課</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8,881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10,506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20,061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25803323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接待交際費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8,453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10,230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8,218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802856607"/>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保険料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2,411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3,877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71138110"/>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備品消耗品費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12,485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14,037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8,462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97245448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管理諸費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5,564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5,027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5,797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11477207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支払手数料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7,153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11,861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14,453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59608223"/>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諸会費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48781516"/>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車両費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513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365172073"/>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研修費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78158404"/>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5,436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4,667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13829628"/>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販売費および一般管理費合計</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290,037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339,909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349,576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95505000"/>
                  </a:ext>
                </a:extLst>
              </a:tr>
            </a:tbl>
          </a:graphicData>
        </a:graphic>
      </p:graphicFrame>
    </p:spTree>
    <p:extLst>
      <p:ext uri="{BB962C8B-B14F-4D97-AF65-F5344CB8AC3E}">
        <p14:creationId xmlns:p14="http://schemas.microsoft.com/office/powerpoint/2010/main" val="190938000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t>Appendix</a:t>
            </a:r>
          </a:p>
        </p:txBody>
      </p:sp>
      <p:pic>
        <p:nvPicPr>
          <p:cNvPr id="7" name="図 6">
            <a:extLst>
              <a:ext uri="{FF2B5EF4-FFF2-40B4-BE49-F238E27FC236}">
                <a16:creationId xmlns:a16="http://schemas.microsoft.com/office/drawing/2014/main" id="{BE44F769-AF87-1EF8-CEAB-4A2DEB29EB7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41B259AF-F3E6-3AB0-F8AA-FC2C3824ADE5}"/>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341302377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沿革</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Appendix</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2019年に個人事業として1号店を開店し、2020年の法人化以降、東海圏を中心に出店を重ねた。2022年の経営革新計画の承認を受けて大型犬専門店を展開し、2026年初に不採算のFC店2店舗を撤退。現在は直営6店舗で自社ブランド店の拡大に軸足を移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3551852391"/>
              </p:ext>
            </p:extLst>
          </p:nvPr>
        </p:nvGraphicFramePr>
        <p:xfrm>
          <a:off x="341907" y="1835837"/>
          <a:ext cx="10003536" cy="4663440"/>
        </p:xfrm>
        <a:graphic>
          <a:graphicData uri="http://schemas.openxmlformats.org/drawingml/2006/table">
            <a:tbl>
              <a:tblPr>
                <a:tableStyleId>{5C22544A-7EE6-4342-B048-85BDC9FD1C3A}</a:tableStyleId>
              </a:tblPr>
              <a:tblGrid>
                <a:gridCol w="1645920">
                  <a:extLst>
                    <a:ext uri="{9D8B030D-6E8A-4147-A177-3AD203B41FA5}">
                      <a16:colId xmlns:a16="http://schemas.microsoft.com/office/drawing/2014/main" val="20000"/>
                    </a:ext>
                  </a:extLst>
                </a:gridCol>
                <a:gridCol w="8357616">
                  <a:extLst>
                    <a:ext uri="{9D8B030D-6E8A-4147-A177-3AD203B41FA5}">
                      <a16:colId xmlns:a16="http://schemas.microsoft.com/office/drawing/2014/main" val="20001"/>
                    </a:ext>
                  </a:extLst>
                </a:gridCol>
              </a:tblGrid>
              <a:tr h="310896">
                <a:tc>
                  <a:txBody>
                    <a:bodyPr/>
                    <a:lstStyle/>
                    <a:p>
                      <a:pPr algn="l"/>
                      <a:r>
                        <a:rPr sz="950" b="1">
                          <a:solidFill>
                            <a:srgbClr val="FFFFFF"/>
                          </a:solidFill>
                          <a:latin typeface="游ゴシック" panose="020B0400000000000000" pitchFamily="50" charset="-128"/>
                          <a:ea typeface="游ゴシック" panose="020B0400000000000000" pitchFamily="50" charset="-128"/>
                        </a:rPr>
                        <a:t>年月</a:t>
                      </a:r>
                    </a:p>
                  </a:txBody>
                  <a:tcPr marL="43200" marR="43200" marT="7200" marB="7200" anchor="ctr">
                    <a:solidFill>
                      <a:srgbClr val="1F3B5B"/>
                    </a:solidFill>
                  </a:tcPr>
                </a:tc>
                <a:tc>
                  <a:txBody>
                    <a:bodyPr/>
                    <a:lstStyle/>
                    <a:p>
                      <a:pPr algn="ctr"/>
                      <a:r>
                        <a:rPr sz="950" b="1" dirty="0" err="1">
                          <a:solidFill>
                            <a:srgbClr val="FFFFFF"/>
                          </a:solidFill>
                          <a:latin typeface="游ゴシック" panose="020B0400000000000000" pitchFamily="50" charset="-128"/>
                          <a:ea typeface="游ゴシック" panose="020B0400000000000000" pitchFamily="50" charset="-128"/>
                        </a:rPr>
                        <a:t>主な出来事</a:t>
                      </a:r>
                      <a:endParaRPr sz="950" b="1" dirty="0">
                        <a:solidFill>
                          <a:srgbClr val="FFFFFF"/>
                        </a:solidFill>
                        <a:latin typeface="游ゴシック" panose="020B0400000000000000" pitchFamily="50" charset="-128"/>
                        <a:ea typeface="游ゴシック" panose="020B0400000000000000" pitchFamily="50" charset="-128"/>
                      </a:endParaRPr>
                    </a:p>
                  </a:txBody>
                  <a:tcPr marL="43200" marR="43200" marT="7200" marB="7200" anchor="ctr">
                    <a:solidFill>
                      <a:srgbClr val="1F3B5B"/>
                    </a:solidFill>
                  </a:tcPr>
                </a:tc>
                <a:extLst>
                  <a:ext uri="{0D108BD9-81ED-4DB2-BD59-A6C34878D82A}">
                    <a16:rowId xmlns:a16="http://schemas.microsoft.com/office/drawing/2014/main" val="10000"/>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2019年7月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淺野　崇氏（現代表者の配偶者）が個人でセキュリティ事業を開始（現在は一部顧客にのみ対応し、実質休眠状態）</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1"/>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2019年8月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淺野　ゆう子氏（現代表者）が個人事業として「ワンラブ カインズホーム明和店」を開店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2020年4月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バローミタス伊勢店」を開店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3"/>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2020年12月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LUXAS株式会社を設立し、淺野　ゆう子氏が代表取締役に就任。「ワンラブ ホームセンターバロー久居店」を開店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4"/>
                  </a:ext>
                </a:extLst>
              </a:tr>
              <a:tr h="310896">
                <a:tc>
                  <a:txBody>
                    <a:bodyPr/>
                    <a:lstStyle/>
                    <a:p>
                      <a:pPr algn="l"/>
                      <a:r>
                        <a:rPr sz="1000" b="0">
                          <a:solidFill>
                            <a:sysClr val="windowText" lastClr="000000"/>
                          </a:solidFill>
                          <a:latin typeface="游ゴシック" panose="020B0400000000000000" pitchFamily="50" charset="-128"/>
                          <a:ea typeface="游ゴシック" panose="020B0400000000000000" pitchFamily="50" charset="-128"/>
                        </a:rPr>
                        <a:t>2021年3月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コメリパワー中志段味店」を開店（2024年6月に譲渡）</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5"/>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2021年12月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アクアウォーク大垣店」を開店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6"/>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2022年2月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ペットプラザ岐阜店」を開店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7"/>
                  </a:ext>
                </a:extLst>
              </a:tr>
              <a:tr h="310896">
                <a:tc>
                  <a:txBody>
                    <a:bodyPr/>
                    <a:lstStyle/>
                    <a:p>
                      <a:pPr algn="l"/>
                      <a:r>
                        <a:rPr lang="en-US" sz="1000" b="0" dirty="0">
                          <a:solidFill>
                            <a:sysClr val="windowText" lastClr="000000"/>
                          </a:solidFill>
                          <a:latin typeface="游ゴシック" panose="020B0400000000000000" pitchFamily="50" charset="-128"/>
                          <a:ea typeface="游ゴシック" panose="020B0400000000000000" pitchFamily="50" charset="-128"/>
                        </a:rPr>
                        <a:t>2022年10月</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経営革新計画の承認を受け、大型犬専門店の展開準備を開始</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2939921570"/>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2023年6月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初の大型犬専門店「おっきなもふもふ応援隊 岐阜総本店」を開店</a:t>
                      </a:r>
                      <a:endParaRPr lang="en-US" altLang="ja-JP"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8"/>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2023年12月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「ぎふSDGs推進パートナー」ゴールドパートナーに認定</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9"/>
                  </a:ext>
                </a:extLst>
              </a:tr>
              <a:tr h="310896">
                <a:tc>
                  <a:txBody>
                    <a:bodyPr/>
                    <a:lstStyle/>
                    <a:p>
                      <a:pPr algn="l"/>
                      <a:r>
                        <a:rPr lang="en-US" sz="1000" b="0" dirty="0">
                          <a:solidFill>
                            <a:sysClr val="windowText" lastClr="000000"/>
                          </a:solidFill>
                          <a:latin typeface="游ゴシック" panose="020B0400000000000000" pitchFamily="50" charset="-128"/>
                          <a:ea typeface="游ゴシック" panose="020B0400000000000000" pitchFamily="50" charset="-128"/>
                        </a:rPr>
                        <a:t>2024年7月</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ドン・キホーテ緑店」を開店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2412410317"/>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2024年10月</a:t>
                      </a:r>
                    </a:p>
                  </a:txBody>
                  <a:tcPr marL="43200" marR="43200" marT="7200" marB="7200" anchor="ctr">
                    <a:solidFill>
                      <a:srgbClr val="F5F8FB"/>
                    </a:solidFill>
                  </a:tcPr>
                </a:tc>
                <a:tc>
                  <a:txBody>
                    <a:bodyPr/>
                    <a:lstStyle/>
                    <a:p>
                      <a:pPr algn="l"/>
                      <a:r>
                        <a:rPr sz="1000" b="0" dirty="0" err="1">
                          <a:solidFill>
                            <a:sysClr val="windowText" lastClr="000000"/>
                          </a:solidFill>
                          <a:latin typeface="游ゴシック" panose="020B0400000000000000" pitchFamily="50" charset="-128"/>
                          <a:ea typeface="游ゴシック" panose="020B0400000000000000" pitchFamily="50" charset="-128"/>
                        </a:rPr>
                        <a:t>2店舗目の大型犬専門店「おっきなもふもふ応援隊 大阪総本店」を開店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10"/>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2026年1月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不採算の「ワンラブ ペットプラザ岐阜店」を撤退</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11"/>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2026年2月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不採算の「ワンラブ アクアウォーク大垣店」を撤退し、直営6店舗体制となる</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9140159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C83CD-8F2B-A456-D63E-667BDA8864F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ECAC2D0-8CC0-B4C9-19B7-FFEA448BA12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代表者経歴</a:t>
            </a:r>
          </a:p>
        </p:txBody>
      </p:sp>
      <p:sp>
        <p:nvSpPr>
          <p:cNvPr id="5" name="タイトル 1">
            <a:extLst>
              <a:ext uri="{FF2B5EF4-FFF2-40B4-BE49-F238E27FC236}">
                <a16:creationId xmlns:a16="http://schemas.microsoft.com/office/drawing/2014/main" id="{B2954D03-DD0B-9909-BBC6-EB4264689F1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Appendix</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44A78BE3-8FEA-62DF-2E04-90B59A7097B8}"/>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2019年に個人事業としてペットショップ1号店を開店し、2020年の法人化以降、6年で売上558百万円・直営最大8店舗（現在6店舗）の規模へ育てた創業者。現在は経理全般および金融機関対応を担当し、店舗運営・人材育成は配偶者の淺野崇氏（現場責任者）が統括する分担体制をと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833759943"/>
              </p:ext>
            </p:extLst>
          </p:nvPr>
        </p:nvGraphicFramePr>
        <p:xfrm>
          <a:off x="324000" y="1976134"/>
          <a:ext cx="10003536" cy="2602440"/>
        </p:xfrm>
        <a:graphic>
          <a:graphicData uri="http://schemas.openxmlformats.org/drawingml/2006/table">
            <a:tbl>
              <a:tblPr>
                <a:tableStyleId>{5C22544A-7EE6-4342-B048-85BDC9FD1C3A}</a:tableStyleId>
              </a:tblPr>
              <a:tblGrid>
                <a:gridCol w="1664208">
                  <a:extLst>
                    <a:ext uri="{9D8B030D-6E8A-4147-A177-3AD203B41FA5}">
                      <a16:colId xmlns:a16="http://schemas.microsoft.com/office/drawing/2014/main" val="20000"/>
                    </a:ext>
                  </a:extLst>
                </a:gridCol>
                <a:gridCol w="8339327">
                  <a:extLst>
                    <a:ext uri="{9D8B030D-6E8A-4147-A177-3AD203B41FA5}">
                      <a16:colId xmlns:a16="http://schemas.microsoft.com/office/drawing/2014/main" val="20001"/>
                    </a:ext>
                  </a:extLst>
                </a:gridCol>
              </a:tblGrid>
              <a:tr h="324000">
                <a:tc>
                  <a:txBody>
                    <a:bodyPr/>
                    <a:lstStyle/>
                    <a:p>
                      <a:pPr algn="l"/>
                      <a:r>
                        <a:rPr sz="1050" b="1">
                          <a:solidFill>
                            <a:srgbClr val="FFFFFF"/>
                          </a:solidFill>
                          <a:latin typeface="游ゴシック" panose="020B0400000000000000" pitchFamily="50" charset="-128"/>
                          <a:ea typeface="游ゴシック" panose="020B0400000000000000" pitchFamily="50" charset="-128"/>
                        </a:rPr>
                        <a:t>項目</a:t>
                      </a:r>
                    </a:p>
                  </a:txBody>
                  <a:tcPr marL="43200" marR="43200" marT="7200" marB="7200" anchor="ctr">
                    <a:solidFill>
                      <a:srgbClr val="1F3B5B"/>
                    </a:solidFill>
                  </a:tcPr>
                </a:tc>
                <a:tc>
                  <a:txBody>
                    <a:bodyPr/>
                    <a:lstStyle/>
                    <a:p>
                      <a:pPr algn="ctr"/>
                      <a:r>
                        <a:rPr sz="1050" b="1">
                          <a:solidFill>
                            <a:srgbClr val="FFFFFF"/>
                          </a:solidFill>
                          <a:latin typeface="游ゴシック" panose="020B0400000000000000" pitchFamily="50" charset="-128"/>
                          <a:ea typeface="游ゴシック" panose="020B0400000000000000" pitchFamily="50" charset="-128"/>
                        </a:rPr>
                        <a:t>内容</a:t>
                      </a:r>
                    </a:p>
                  </a:txBody>
                  <a:tcPr marL="43200" marR="43200" marT="7200" marB="7200" anchor="ctr">
                    <a:solidFill>
                      <a:srgbClr val="1F3B5B"/>
                    </a:solidFill>
                  </a:tcPr>
                </a:tc>
                <a:extLst>
                  <a:ext uri="{0D108BD9-81ED-4DB2-BD59-A6C34878D82A}">
                    <a16:rowId xmlns:a16="http://schemas.microsoft.com/office/drawing/2014/main" val="10000"/>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氏名</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淺野　ゆう子（1985年11月生）</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1"/>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役職</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1050" b="0" dirty="0">
                          <a:solidFill>
                            <a:sysClr val="windowText" lastClr="000000"/>
                          </a:solidFill>
                          <a:latin typeface="游ゴシック" panose="020B0400000000000000" pitchFamily="50" charset="-128"/>
                          <a:ea typeface="游ゴシック" panose="020B0400000000000000" pitchFamily="50" charset="-128"/>
                        </a:rPr>
                        <a:t>代表取締役（創業者）</a:t>
                      </a:r>
                    </a:p>
                  </a:txBody>
                  <a:tcPr marL="43200" marR="43200" marT="7200" marB="7200" anchor="ctr">
                    <a:solidFill>
                      <a:srgbClr val="F5F8FB"/>
                    </a:solidFill>
                  </a:tcPr>
                </a:tc>
                <a:extLst>
                  <a:ext uri="{0D108BD9-81ED-4DB2-BD59-A6C34878D82A}">
                    <a16:rowId xmlns:a16="http://schemas.microsoft.com/office/drawing/2014/main" val="10002"/>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就任</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en-US" altLang="ja-JP" sz="1050" b="0" dirty="0">
                          <a:solidFill>
                            <a:sysClr val="windowText" lastClr="000000"/>
                          </a:solidFill>
                          <a:latin typeface="游ゴシック" panose="020B0400000000000000" pitchFamily="50" charset="-128"/>
                          <a:ea typeface="游ゴシック" panose="020B0400000000000000" pitchFamily="50" charset="-128"/>
                        </a:rPr>
                        <a:t>2020年12月、LUXAS株式会社の設立に伴い代表取締役に就任</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3"/>
                  </a:ext>
                </a:extLst>
              </a:tr>
              <a:tr h="324000">
                <a:tc>
                  <a:txBody>
                    <a:bodyPr/>
                    <a:lstStyle/>
                    <a:p>
                      <a:pPr algn="l"/>
                      <a:r>
                        <a:rPr lang="ja-JP" altLang="en-US" sz="1050" b="0">
                          <a:solidFill>
                            <a:sysClr val="windowText" lastClr="000000"/>
                          </a:solidFill>
                          <a:latin typeface="游ゴシック" panose="020B0400000000000000" pitchFamily="50" charset="-128"/>
                          <a:ea typeface="游ゴシック" panose="020B0400000000000000" pitchFamily="50" charset="-128"/>
                        </a:rPr>
                        <a:t>主な経歴</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2019年8月、個人事業として「ワンラブ カインズホーム明和店」を開店／2020年12月、対象会社を設立</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673180334"/>
                  </a:ext>
                </a:extLst>
              </a:tr>
              <a:tr h="324000">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創業の経緯</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昔から動物が好きで、ペット業界を変えたいという思いから創業</a:t>
                      </a:r>
                      <a:endParaRPr lang="en-US" altLang="ja-JP"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3136073279"/>
                  </a:ext>
                </a:extLst>
              </a:tr>
              <a:tr h="324000">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経営理念</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zh-TW" altLang="en-US" sz="1050" b="0" dirty="0">
                          <a:solidFill>
                            <a:sysClr val="windowText" lastClr="000000"/>
                          </a:solidFill>
                          <a:latin typeface="游ゴシック" panose="020B0400000000000000" pitchFamily="50" charset="-128"/>
                          <a:ea typeface="游ゴシック" panose="020B0400000000000000" pitchFamily="50" charset="-128"/>
                        </a:rPr>
                        <a:t>業界の改革</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3829413901"/>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家族構成</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noFill/>
                  </a:tcPr>
                </a:tc>
                <a:tc>
                  <a:txBody>
                    <a:bodyPr/>
                    <a:lstStyle/>
                    <a:p>
                      <a:pPr algn="l"/>
                      <a:r>
                        <a:rPr sz="1050" b="0" dirty="0">
                          <a:solidFill>
                            <a:sysClr val="windowText" lastClr="000000"/>
                          </a:solidFill>
                          <a:latin typeface="游ゴシック" panose="020B0400000000000000" pitchFamily="50" charset="-128"/>
                          <a:ea typeface="游ゴシック" panose="020B0400000000000000" pitchFamily="50" charset="-128"/>
                        </a:rPr>
                        <a:t>配偶者：淺野　崇氏（1980年10月生／対象会社の現場責任者）、子4名（長女・次女・三女・長男）</a:t>
                      </a:r>
                    </a:p>
                  </a:txBody>
                  <a:tcPr marL="43200" marR="43200" marT="7200" marB="7200" anchor="ctr">
                    <a:noFill/>
                  </a:tcPr>
                </a:tc>
                <a:extLst>
                  <a:ext uri="{0D108BD9-81ED-4DB2-BD59-A6C34878D82A}">
                    <a16:rowId xmlns:a16="http://schemas.microsoft.com/office/drawing/2014/main" val="10004"/>
                  </a:ext>
                </a:extLst>
              </a:tr>
            </a:tbl>
          </a:graphicData>
        </a:graphic>
      </p:graphicFrame>
      <p:sp>
        <p:nvSpPr>
          <p:cNvPr id="15" name="TextBox 14"/>
          <p:cNvSpPr txBox="1"/>
          <p:nvPr/>
        </p:nvSpPr>
        <p:spPr>
          <a:xfrm>
            <a:off x="324000" y="4929756"/>
            <a:ext cx="10008000" cy="1462383"/>
          </a:xfrm>
          <a:prstGeom prst="rect">
            <a:avLst/>
          </a:prstGeom>
          <a:noFill/>
        </p:spPr>
        <p:txBody>
          <a:bodyPr wrap="square" lIns="36000" tIns="18000" rIns="36000" bIns="18000" anchor="t">
            <a:spAutoFit/>
          </a:bodyPr>
          <a:lstStyle/>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経歴・経営姿勢</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・2019年8月、個人事業としてワンラブFCに加盟し、三重県多気郡明和町のカインズホーム内に1号店を開店。</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・2020年12月に法人化し、東海圏でFC店の出店を重ねる。2022年10月には経営革新計画の承認を受け、大型犬専門店という新業態の準備に着手。</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・2023年6月に「おっきなもふもふ応援隊 岐阜総本店」、2024年10月に同 大阪総本店を開店。2025年11月期には大型犬専門2店舗で売上の46.7%を占めるまでに成長させた。</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・現在は経理全般および金融機関対応を担当。店舗運営・人材育成・仕入は現場責任者である配偶者の淺野崇氏が統括している。</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・譲渡後は引継完了をもって退任する意向（要確認）。</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※本ページは対象会社提供の既存会社説明資料および決算書の記載に基づく。学歴・職歴・社外役職・保有資格は未受領（要確認）。</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p:txBody>
      </p:sp>
    </p:spTree>
    <p:extLst>
      <p:ext uri="{BB962C8B-B14F-4D97-AF65-F5344CB8AC3E}">
        <p14:creationId xmlns:p14="http://schemas.microsoft.com/office/powerpoint/2010/main" val="31702895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要確認事項・ネクストステップ</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Appendix</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本概要書は、対象会社提供の既存会社説明資料、第3期〜第5期決算報告書一式、進行期試算表・店舗別試算表（2025年12月〜2026年6月）、棚卸表および従業員名簿に基づき作成している。2026年9月に追加資料を受領し、下表の「解決済」項目を確認した。残る事項はトップ面談およびデータルームにて順次開示を予定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2354946443"/>
              </p:ext>
            </p:extLst>
          </p:nvPr>
        </p:nvGraphicFramePr>
        <p:xfrm>
          <a:off x="324000" y="1874519"/>
          <a:ext cx="10003535" cy="4297680"/>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8266175">
                  <a:extLst>
                    <a:ext uri="{9D8B030D-6E8A-4147-A177-3AD203B41FA5}">
                      <a16:colId xmlns:a16="http://schemas.microsoft.com/office/drawing/2014/main" val="20001"/>
                    </a:ext>
                  </a:extLst>
                </a:gridCol>
              </a:tblGrid>
              <a:tr h="329184">
                <a:tc>
                  <a:txBody>
                    <a:bodyPr/>
                    <a:lstStyle/>
                    <a:p>
                      <a:pPr algn="l"/>
                      <a:r>
                        <a:rPr sz="900" b="1">
                          <a:solidFill>
                            <a:srgbClr val="FFFFFF"/>
                          </a:solidFill>
                          <a:latin typeface="游ゴシック" panose="020B0400000000000000" pitchFamily="50" charset="-128"/>
                          <a:ea typeface="游ゴシック" panose="020B0400000000000000" pitchFamily="50" charset="-128"/>
                        </a:rPr>
                        <a:t>区分</a:t>
                      </a:r>
                    </a:p>
                  </a:txBody>
                  <a:tcPr marL="43200" marR="43200" marT="7200" marB="7200" anchor="ctr">
                    <a:solidFill>
                      <a:srgbClr val="1F3B5B"/>
                    </a:solidFill>
                  </a:tcPr>
                </a:tc>
                <a:tc>
                  <a:txBody>
                    <a:bodyPr/>
                    <a:lstStyle/>
                    <a:p>
                      <a:pPr algn="ctr"/>
                      <a:r>
                        <a:rPr sz="900" b="1">
                          <a:solidFill>
                            <a:srgbClr val="FFFFFF"/>
                          </a:solidFill>
                          <a:latin typeface="游ゴシック" panose="020B0400000000000000" pitchFamily="50" charset="-128"/>
                          <a:ea typeface="游ゴシック" panose="020B0400000000000000" pitchFamily="50" charset="-128"/>
                        </a:rPr>
                        <a:t>確認を要する事項</a:t>
                      </a:r>
                    </a:p>
                  </a:txBody>
                  <a:tcPr marL="43200" marR="43200" marT="7200" marB="7200" anchor="ctr">
                    <a:solidFill>
                      <a:srgbClr val="1F3B5B"/>
                    </a:solidFill>
                  </a:tcPr>
                </a:tc>
                <a:extLst>
                  <a:ext uri="{0D108BD9-81ED-4DB2-BD59-A6C34878D82A}">
                    <a16:rowId xmlns:a16="http://schemas.microsoft.com/office/drawing/2014/main" val="10000"/>
                  </a:ext>
                </a:extLst>
              </a:tr>
              <a:tr h="566928">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【解決済】</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①撤退した2店舗の特定（ペットプラザ岐阜店＝2026年1月、アクアウォーク大垣店＝2026年2月）　②棚卸資産廃棄損44,000千円の内容（本社32,000千円＋バックヤード12,000千円）　③店舗別の売上・粗利（進行期7か月）　④従業員名簿（在籍49名／2026年8月までの異動を反映）</a:t>
                      </a:r>
                    </a:p>
                  </a:txBody>
                  <a:tcPr marL="43200" marR="43200" marT="7200" marB="7200" anchor="ctr">
                    <a:solidFill>
                      <a:srgbClr val="FFFFFF"/>
                    </a:solidFill>
                  </a:tcPr>
                </a:tc>
                <a:extLst>
                  <a:ext uri="{0D108BD9-81ED-4DB2-BD59-A6C34878D82A}">
                    <a16:rowId xmlns:a16="http://schemas.microsoft.com/office/drawing/2014/main" val="10001"/>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収益性</a:t>
                      </a: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①2026年7月以降の月次試算表　②進行期に未計上の減価償却費（通期実績6,349千円）・法定福利費の通期見込み　③2026年5月の租税公課4,969千円の内容</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店舗別損益の解釈</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①共通部門に残る本社仕入40,994千円・外注費5,610千円の店舗への配賦方法　②明和店の販管費が売上高比75.6%と高い要因（松阪管理センターの人件費が含まれていると推察）</a:t>
                      </a:r>
                    </a:p>
                  </a:txBody>
                  <a:tcPr marL="43200" marR="43200" marT="7200" marB="7200" anchor="ctr">
                    <a:solidFill>
                      <a:srgbClr val="FFFFFF"/>
                    </a:solidFill>
                  </a:tcPr>
                </a:tc>
                <a:extLst>
                  <a:ext uri="{0D108BD9-81ED-4DB2-BD59-A6C34878D82A}">
                    <a16:rowId xmlns:a16="http://schemas.microsoft.com/office/drawing/2014/main" val="10003"/>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資産の実在性・評価</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①廃棄44,000千円に至った理由・処分方法・証憑　②外部保管在庫10,000千円の実在性　③営業権1,500千円の取得経緯・算定根拠　④2026年6月に取得した車両運搬具438千円の内容</a:t>
                      </a:r>
                    </a:p>
                  </a:txBody>
                  <a:tcPr marL="43200" marR="43200" marT="7200" marB="7200" anchor="ctr">
                    <a:solidFill>
                      <a:srgbClr val="FFFFFF"/>
                    </a:solidFill>
                  </a:tcPr>
                </a:tc>
                <a:extLst>
                  <a:ext uri="{0D108BD9-81ED-4DB2-BD59-A6C34878D82A}">
                    <a16:rowId xmlns:a16="http://schemas.microsoft.com/office/drawing/2014/main" val="10003"/>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契約</a:t>
                      </a: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①フランチャイズ契約の内容とCOC条項への対応　②店舗賃貸借契約書および定期建物賃貸借（岐阜総本店2033年1月／大阪総本店2027年11月満了）の再契約見通し　③撤退2店舗の原状回復費用・違約金の有無</a:t>
                      </a:r>
                    </a:p>
                  </a:txBody>
                  <a:tcPr marL="43200" marR="43200" marT="7200" marB="7200" anchor="ctr">
                    <a:solidFill>
                      <a:srgbClr val="F5F8FB"/>
                    </a:solidFill>
                  </a:tcPr>
                </a:tc>
                <a:extLst>
                  <a:ext uri="{0D108BD9-81ED-4DB2-BD59-A6C34878D82A}">
                    <a16:rowId xmlns:a16="http://schemas.microsoft.com/office/drawing/2014/main" val="10004"/>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組織・人材</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①現場責任者 淺野崇氏の譲渡後の継続関与および処遇　②各事業所の動物取扱責任者の配置と、明和店・久居店の許可更新（2026年5月20日満了）・撤退2店舗の廃業届の提出状況　③就業規則等の労務関係書類</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5"/>
                  </a:ext>
                </a:extLst>
              </a:tr>
              <a:tr h="566928">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収益モデル</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ペット保険の代理店手数料の実額。共通部門のサービス売上高が月額約195万円（7か月13,650千円）で計上されており同手数料と推察されるが、内訳の確認が必要</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56887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t>時価総資産</a:t>
            </a:r>
            <a:r>
              <a:rPr lang="en-US" altLang="ja-JP" dirty="0"/>
              <a:t>(</a:t>
            </a:r>
            <a:r>
              <a:rPr lang="ja-JP" altLang="en-US" dirty="0"/>
              <a:t>営業権含む</a:t>
            </a:r>
            <a:r>
              <a:rPr lang="en-US" altLang="ja-JP" dirty="0"/>
              <a:t>)</a:t>
            </a:r>
            <a:r>
              <a:rPr lang="ja-JP" altLang="en-US" dirty="0"/>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　</a:t>
            </a:r>
            <a:r>
              <a:rPr lang="en-US" altLang="ja-JP" dirty="0"/>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latin typeface="+mn-ea"/>
              </a:rPr>
              <a:t>成功報酬の最低額は</a:t>
            </a:r>
            <a:r>
              <a:rPr lang="en-US" altLang="ja-JP" sz="1100" spc="70" dirty="0">
                <a:latin typeface="+mn-ea"/>
              </a:rPr>
              <a:t>1,500</a:t>
            </a:r>
            <a:r>
              <a:rPr lang="ja-JP" altLang="en-US" sz="1100" spc="70" dirty="0">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latin typeface="+mj-ea"/>
                <a:ea typeface="+mj-ea"/>
              </a:rPr>
              <a:t>(</a:t>
            </a:r>
            <a:r>
              <a:rPr lang="ja-JP" altLang="en-US" sz="1200" spc="70" dirty="0">
                <a:latin typeface="+mj-ea"/>
                <a:ea typeface="+mj-ea"/>
              </a:rPr>
              <a:t>消費税別</a:t>
            </a:r>
            <a:r>
              <a:rPr lang="en-US" altLang="ja-JP" sz="1200" spc="70" dirty="0">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12916</TotalTime>
  <Words>17871</Words>
  <Application>Microsoft Office PowerPoint</Application>
  <PresentationFormat>ユーザー設定</PresentationFormat>
  <Paragraphs>7232</Paragraphs>
  <Slides>63</Slides>
  <Notes>52</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63</vt:i4>
      </vt:variant>
    </vt:vector>
  </HeadingPairs>
  <TitlesOfParts>
    <vt:vector size="69" baseType="lpstr">
      <vt:lpstr>ＭＳ Ｐゴシック</vt:lpstr>
      <vt:lpstr>Yu Gothic</vt:lpstr>
      <vt:lpstr>Yu Gothic</vt:lpstr>
      <vt:lpstr>游ゴシック Medium</vt:lpstr>
      <vt:lpstr>Arial</vt:lpstr>
      <vt:lpstr>SL_2026</vt:lpstr>
      <vt:lpstr>企業概要書  &lt;水産養殖業／関西&gt;</vt:lpstr>
      <vt:lpstr>はじめに</vt:lpstr>
      <vt:lpstr>PowerPoint プレゼンテーション</vt:lpstr>
      <vt:lpstr>エグゼクティブサマリー</vt:lpstr>
      <vt:lpstr>基本情報</vt:lpstr>
      <vt:lpstr>事業概要</vt:lpstr>
      <vt:lpstr>財務ハイライト（P/L）</vt:lpstr>
      <vt:lpstr>財務ハイライト（B/S）</vt:lpstr>
      <vt:lpstr>譲渡希望条件</vt:lpstr>
      <vt:lpstr>事業概要</vt:lpstr>
      <vt:lpstr>事業内容</vt:lpstr>
      <vt:lpstr>生産サイクル</vt:lpstr>
      <vt:lpstr>参考｜天然琵琶湖産鮎と人工種苗の特性・用途比較</vt:lpstr>
      <vt:lpstr>事業別売上高</vt:lpstr>
      <vt:lpstr>商品・用途別の顧客構成</vt:lpstr>
      <vt:lpstr>特徴</vt:lpstr>
      <vt:lpstr>主要得意先の3期推移</vt:lpstr>
      <vt:lpstr>主要仕入先の3期推移</vt:lpstr>
      <vt:lpstr>仕入・販売における価格形成の仕組み</vt:lpstr>
      <vt:lpstr>組織、拠点、設備等</vt:lpstr>
      <vt:lpstr>組織図</vt:lpstr>
      <vt:lpstr>株主及び役員</vt:lpstr>
      <vt:lpstr>従業員一覧</vt:lpstr>
      <vt:lpstr>拠点概要（本社）</vt:lpstr>
      <vt:lpstr>不動産概況</vt:lpstr>
      <vt:lpstr>不動産の担保設定・権利関係</vt:lpstr>
      <vt:lpstr>不動産詳細｜法人所有分①（土地）</vt:lpstr>
      <vt:lpstr>不動産詳細｜法人所有分②（建物）</vt:lpstr>
      <vt:lpstr>不動産詳細｜社長所有分①（土地・彦根市）</vt:lpstr>
      <vt:lpstr>不動産詳細｜社長所有分②（土地・長浜市／建物）</vt:lpstr>
      <vt:lpstr>拠点概要（養魚場一覧）</vt:lpstr>
      <vt:lpstr>拠点概要（養魚場所在地）</vt:lpstr>
      <vt:lpstr>拠点概要（養殖池の全景）</vt:lpstr>
      <vt:lpstr>拠点概要（養殖池概況｜写真①）</vt:lpstr>
      <vt:lpstr>拠点概要（養殖池概況｜写真②）</vt:lpstr>
      <vt:lpstr>拠点概要（養殖池概況｜写真③）</vt:lpstr>
      <vt:lpstr>拠点概要（養殖池概況｜写真③）</vt:lpstr>
      <vt:lpstr>保有設備一覧①</vt:lpstr>
      <vt:lpstr>保有設備一覧②</vt:lpstr>
      <vt:lpstr>保有設備一覧③</vt:lpstr>
      <vt:lpstr>保有設備一覧④</vt:lpstr>
      <vt:lpstr>保有設備一覧⑤</vt:lpstr>
      <vt:lpstr>保有設備一覧⑤</vt:lpstr>
      <vt:lpstr>保有設備一覧⑥</vt:lpstr>
      <vt:lpstr>保有設備一覧⑦</vt:lpstr>
      <vt:lpstr>保有設備一覧⑧</vt:lpstr>
      <vt:lpstr>保有設備一覧⑨</vt:lpstr>
      <vt:lpstr>保有設備一覧⑩</vt:lpstr>
      <vt:lpstr>保有設備一覧⑪</vt:lpstr>
      <vt:lpstr>保有設備一覧⑫</vt:lpstr>
      <vt:lpstr>保有設備一覧⑬</vt:lpstr>
      <vt:lpstr>保有設備一覧⑭</vt:lpstr>
      <vt:lpstr>許認可一覧</vt:lpstr>
      <vt:lpstr>財務情報詳細</vt:lpstr>
      <vt:lpstr>貸借対照表</vt:lpstr>
      <vt:lpstr>損益計算書</vt:lpstr>
      <vt:lpstr>販売費及び一般管理費</vt:lpstr>
      <vt:lpstr>Appendix</vt:lpstr>
      <vt:lpstr>沿革</vt:lpstr>
      <vt:lpstr>代表者経歴</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田垣内 啓介</cp:lastModifiedBy>
  <cp:revision>194</cp:revision>
  <cp:lastPrinted>2025-10-23T01:12:16Z</cp:lastPrinted>
  <dcterms:created xsi:type="dcterms:W3CDTF">2022-11-09T11:25:01Z</dcterms:created>
  <dcterms:modified xsi:type="dcterms:W3CDTF">2026-08-27T00:46:32Z</dcterms:modified>
</cp:coreProperties>
</file>