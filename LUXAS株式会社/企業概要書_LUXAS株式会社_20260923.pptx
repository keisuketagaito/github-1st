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693" r:id="rId4"/>
    <p:sldId id="749" r:id="rId5"/>
    <p:sldId id="748" r:id="rId6"/>
    <p:sldId id="774" r:id="rId8"/>
    <p:sldId id="775" r:id="rId9"/>
    <p:sldId id="795" r:id="rId39"/>
    <p:sldId id="266" r:id="rId10"/>
    <p:sldId id="772" r:id="rId11"/>
    <p:sldId id="776" r:id="rId12"/>
    <p:sldId id="810" r:id="rId15"/>
    <p:sldId id="811" r:id="rId40"/>
    <p:sldId id="827" r:id="rId16"/>
    <p:sldId id="835" r:id="rId14"/>
    <p:sldId id="796" r:id="rId17"/>
    <p:sldId id="838" r:id="rId26"/>
    <p:sldId id="831" r:id="rId20"/>
    <p:sldId id="771" r:id="rId21"/>
    <p:sldId id="780" r:id="rId22"/>
    <p:sldId id="793" r:id="rId32"/>
    <p:sldId id="781" r:id="rId24"/>
    <p:sldId id="844" r:id="rId71"/>
    <p:sldId id="845" r:id="rId72"/>
    <p:sldId id="836" r:id="rId25"/>
    <p:sldId id="841" r:id="rId28"/>
    <p:sldId id="842" r:id="rId30"/>
    <p:sldId id="802" r:id="rId54"/>
    <p:sldId id="773" r:id="rId55"/>
    <p:sldId id="784" r:id="rId56"/>
    <p:sldId id="812" r:id="rId41"/>
    <p:sldId id="785" r:id="rId57"/>
    <p:sldId id="787" r:id="rId58"/>
    <p:sldId id="843" r:id="rId31"/>
    <p:sldId id="782" r:id="rId59"/>
    <p:sldId id="783" r:id="rId60"/>
    <p:sldId id="794" r:id="rId61"/>
    <p:sldId id="788" r:id="rId62"/>
    <p:sldId id="801" r:id="rId63"/>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7.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0BBF8-9647-9334-F86F-D0709B5EC8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2097096-F2EA-17C6-FDB0-B0B48566D776}"/>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3FAEF2D-4EE8-AC43-4584-9174CFEBDCE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DD0C593-0612-A50B-3805-FCCEFBA2D102}"/>
              </a:ext>
            </a:extLst>
          </p:cNvPr>
          <p:cNvSpPr>
            <a:spLocks noGrp="1"/>
          </p:cNvSpPr>
          <p:nvPr>
            <p:ph type="sldNum" sz="quarter" idx="5"/>
          </p:nvPr>
        </p:nvSpPr>
        <p:spPr/>
        <p:txBody>
          <a:bodyPr/>
          <a:lstStyle/>
          <a:p>
            <a:fld id="{30FF3BCC-1A43-4D25-8467-E40EF431E2F1}" type="slidenum">
              <a:rPr kumimoji="1" lang="ja-JP" altLang="en-US" smtClean="0"/>
              <a:t>23</a:t>
            </a:fld>
            <a:endParaRPr kumimoji="1" lang="ja-JP" altLang="en-US"/>
          </a:p>
        </p:txBody>
      </p:sp>
    </p:spTree>
    <p:extLst>
      <p:ext uri="{BB962C8B-B14F-4D97-AF65-F5344CB8AC3E}">
        <p14:creationId xmlns:p14="http://schemas.microsoft.com/office/powerpoint/2010/main" val="1645791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5E96C-CC6B-99A0-6474-94F8E39D1B4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480EA-D907-F625-EA77-9A31C3C46378}"/>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45C8471-5CB1-E6AC-1722-ACC2D29DC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1946583-9637-7C28-6F6C-7AAA16F7BD66}"/>
              </a:ext>
            </a:extLst>
          </p:cNvPr>
          <p:cNvSpPr>
            <a:spLocks noGrp="1"/>
          </p:cNvSpPr>
          <p:nvPr>
            <p:ph type="sldNum" sz="quarter" idx="5"/>
          </p:nvPr>
        </p:nvSpPr>
        <p:spPr/>
        <p:txBody>
          <a:bodyPr/>
          <a:lstStyle/>
          <a:p>
            <a:fld id="{30FF3BCC-1A43-4D25-8467-E40EF431E2F1}" type="slidenum">
              <a:rPr kumimoji="1" lang="ja-JP" altLang="en-US" smtClean="0"/>
              <a:t>38</a:t>
            </a:fld>
            <a:endParaRPr kumimoji="1" lang="ja-JP" altLang="en-US"/>
          </a:p>
        </p:txBody>
      </p:sp>
    </p:spTree>
    <p:extLst>
      <p:ext uri="{BB962C8B-B14F-4D97-AF65-F5344CB8AC3E}">
        <p14:creationId xmlns:p14="http://schemas.microsoft.com/office/powerpoint/2010/main" val="23160945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5A3D9-AC05-6CFA-85F9-79E3D6B42C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EBCF0B3-3282-F1B3-53C4-E3506519CB0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457E92-9030-A260-6FB3-BEF990C00D26}"/>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DE1B1D-40A4-9612-31B7-01DC52A31040}"/>
              </a:ext>
            </a:extLst>
          </p:cNvPr>
          <p:cNvSpPr>
            <a:spLocks noGrp="1"/>
          </p:cNvSpPr>
          <p:nvPr>
            <p:ph type="sldNum" sz="quarter" idx="5"/>
          </p:nvPr>
        </p:nvSpPr>
        <p:spPr/>
        <p:txBody>
          <a:bodyPr/>
          <a:lstStyle/>
          <a:p>
            <a:fld id="{30FF3BCC-1A43-4D25-8467-E40EF431E2F1}" type="slidenum">
              <a:rPr kumimoji="1" lang="ja-JP" altLang="en-US" smtClean="0"/>
              <a:t>39</a:t>
            </a:fld>
            <a:endParaRPr kumimoji="1" lang="ja-JP" altLang="en-US"/>
          </a:p>
        </p:txBody>
      </p:sp>
    </p:spTree>
    <p:extLst>
      <p:ext uri="{BB962C8B-B14F-4D97-AF65-F5344CB8AC3E}">
        <p14:creationId xmlns:p14="http://schemas.microsoft.com/office/powerpoint/2010/main" val="337343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61</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8.jpeg"/><Relationship Id="rId4" Type="http://schemas.openxmlformats.org/officeDocument/2006/relationships/image" Target="../media/image9.png"/><Relationship Id="rId5"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 Id="rId5" Type="http://schemas.microsoft.com/office/2007/relationships/hdphoto" Target="../media/hdphoto2.wd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&lt;ペット小売／東海・関西&gt;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財務情報詳細</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Appendix</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en-US" altLang="ja-JP" dirty="0">
                <a:latin typeface="+mj-ea"/>
              </a:rPr>
              <a:t>2019年の創業以来、東海圏を中心にペットショップを展開。2026年初に不採算の2店舗を撤退し、現在は直営6店舗を運営する。フランチャイズ加盟のインショップ4店舗に加え、2023年からは自社ブランドの大型犬専門店「おっきなもふもふ応援隊」を2店舗開設し、進行期は同2店舗で売上の42.4%・店舗貢献利益の52.6%を占める。</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895888"/>
            <a:ext cx="993038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21" name="表 20">
            <a:extLst>
              <a:ext uri="{FF2B5EF4-FFF2-40B4-BE49-F238E27FC236}">
                <a16:creationId xmlns:a16="http://schemas.microsoft.com/office/drawing/2014/main" id="{CB1550B6-86BA-8688-2CFB-931E58845D33}"/>
              </a:ext>
            </a:extLst>
          </p:cNvPr>
          <p:cNvGraphicFramePr>
            <a:graphicFrameLocks noGrp="1"/>
          </p:cNvGraphicFramePr>
          <p:nvPr>
            <p:extLst>
              <p:ext uri="{D42A27DB-BD31-4B8C-83A1-F6EECF244321}">
                <p14:modId xmlns:p14="http://schemas.microsoft.com/office/powerpoint/2010/main" val="986417335"/>
              </p:ext>
            </p:extLst>
          </p:nvPr>
        </p:nvGraphicFramePr>
        <p:xfrm>
          <a:off x="311150" y="2448232"/>
          <a:ext cx="9930383" cy="4242816"/>
        </p:xfrm>
        <a:graphic>
          <a:graphicData uri="http://schemas.openxmlformats.org/drawingml/2006/table">
            <a:tbl>
              <a:tblPr/>
              <a:tblGrid>
                <a:gridCol w="1600200">
                  <a:extLst>
                    <a:ext uri="{9D8B030D-6E8A-4147-A177-3AD203B41FA5}">
                      <a16:colId xmlns:a16="http://schemas.microsoft.com/office/drawing/2014/main" val="2539626951"/>
                    </a:ext>
                  </a:extLst>
                </a:gridCol>
                <a:gridCol w="8330183">
                  <a:extLst>
                    <a:ext uri="{9D8B030D-6E8A-4147-A177-3AD203B41FA5}">
                      <a16:colId xmlns:a16="http://schemas.microsoft.com/office/drawing/2014/main" val="2394234266"/>
                    </a:ext>
                  </a:extLst>
                </a:gridCol>
              </a:tblGrid>
              <a:tr h="201168">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内容</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07167093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会社名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LUXAS株式会社［ラクサス］（法人番号 4200001038172）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0026653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本社所在地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岐阜県大垣市青柳町3丁目227番地2　※代表者自宅を賃借（2025年11月期の年間家賃1,000千円）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9737251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店舗・拠点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altLang="en-US" sz="1000" b="0" i="0" u="none" strike="noStrike" dirty="0">
                          <a:solidFill>
                            <a:srgbClr val="000000"/>
                          </a:solidFill>
                          <a:effectLst/>
                          <a:latin typeface="游ゴシック" panose="020B0400000000000000" pitchFamily="50" charset="-128"/>
                          <a:ea typeface="游ゴシック" panose="020B0400000000000000" pitchFamily="50" charset="-128"/>
                        </a:rPr>
                        <a:t>直営6店舗（三重県3／愛知県1／岐阜県1／大阪府1）、松阪管理センター　※2026年1月にペットプラザ岐阜店、2026年2月にアクアウォーク大垣店を撤退（2025年11月期末は8店舗）</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1691814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創業・設立</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2019年8月 個人事業として創業／2020年12月 法人設立（第5期）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46259682"/>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3594368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代表者</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代表取締役　淺野　ゆう子（1985年11月生）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63480803"/>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株主</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淺野　ゆう子（100株／100.0%）　※株券不発行会社、譲渡制限規定あり、設立時から変更なし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854717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事業内容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ペットショップ（生体販売・ペット用品販売）、トリミング、ペットホテル、ペット保険代理店、セキュリティ機器販売</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9832916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従業員数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49名（役員2名、正社員14名、アルバイト33名）　※2026年9月時点。詳細はP.22参照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3028691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許認可等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第一種動物取扱業許可（種別：販売／保管）　8事業所で取得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68104905"/>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558,390千円（2025年11月期）　※調整後EBITDA 6,681千円、過去3期平均 18,185千円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380813212"/>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進行期の状況</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2026年11月期の7か月累計（2025年12月〜2026年6月）で売上高279,153千円（前年同期比80.9%）、営業利益6,637千円。稼働6店舗の貢献利益は100,818千円　※詳細はP.8・P.13参照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譲渡理由</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成長戦略（資本力・経営基盤のある企業グループの下での多店舗展開の加速）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bl>
          </a:graphicData>
        </a:graphic>
      </p:graphicFrame>
    </p:spTree>
    <p:extLst>
      <p:ext uri="{BB962C8B-B14F-4D97-AF65-F5344CB8AC3E}">
        <p14:creationId xmlns:p14="http://schemas.microsoft.com/office/powerpoint/2010/main" val="28193464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2期で17.7%成長した一方、2025年11月期は仕入価格の転嫁が進まず粗利率が59.1%へ低下し、営業損失19,552千円を計上。進行期は不採算2店舗の撤退により粗利率が62.5%へ回復し、7か月累計で営業利益6,637千円と黒字転換し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956048"/>
            <a:ext cx="3924999" cy="2084831"/>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572768"/>
            <a:ext cx="3924999" cy="3346704"/>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066543"/>
            <a:ext cx="3912257" cy="2816352"/>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・大型犬専門2店舗（岐阜総本店・大阪総本店）で2025年11月期売上の46.7%を占める。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・FC加盟のインショップ6店舗は269,879千円と横ばい。うち明和店は67,267→37,216千円（△44.7%）と大きく減少。</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・粗利率は61.6%→63.6%→59.1%。小型犬中心の既存店で仕入価格の上昇を販売価格へ転嫁できなかったことが主因（ヒアリング）。</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・販管費が59,539千円増加（地代家賃+25,019千円、人件費+25,611千円）し、営業損失を計上。</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≪進行期≫</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・2026年1月にペットプラザ岐阜店、2月にアクアウォーク大垣店を撤退。7か月累計は売上279,153千円（前年同期比80.9%）、営業利益6,637千円と黒字転換。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≪見通し≫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・上記には撤退2店舗の営業損失4,087千円が含まれ、6店舗体制の通期化で解消が見込まれる。一方、月次では減価償却費（通期実績6,349千円）が未計上のため通期では減益要因（要確認）。</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382512"/>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EBITDA＝営業利益＋減価償却費（販管費計上分）。調整項目の考え方は案件マスターに基づく。進行期は月次で減価償却費が未計上のため調整後EBITDAは算定していない。※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10807"/>
          <a:ext cx="5998464" cy="4270248"/>
        </p:xfrm>
        <a:graphic>
          <a:graphicData uri="http://schemas.openxmlformats.org/drawingml/2006/table">
            <a:tbl>
              <a:tblPr/>
              <a:tblGrid>
                <a:gridCol w="1975104">
                  <a:extLst>
                    <a:ext uri="{9D8B030D-6E8A-4147-A177-3AD203B41FA5}">
                      <a16:colId xmlns:a16="http://schemas.microsoft.com/office/drawing/2014/main" val="2315921538"/>
                    </a:ext>
                  </a:extLst>
                </a:gridCol>
                <a:gridCol w="969264">
                  <a:extLst>
                    <a:ext uri="{9D8B030D-6E8A-4147-A177-3AD203B41FA5}">
                      <a16:colId xmlns:a16="http://schemas.microsoft.com/office/drawing/2014/main" val="2930658936"/>
                    </a:ext>
                  </a:extLst>
                </a:gridCol>
                <a:gridCol w="969264">
                  <a:extLst>
                    <a:ext uri="{9D8B030D-6E8A-4147-A177-3AD203B41FA5}">
                      <a16:colId xmlns:a16="http://schemas.microsoft.com/office/drawing/2014/main" val="3282667626"/>
                    </a:ext>
                  </a:extLst>
                </a:gridCol>
                <a:gridCol w="969264">
                  <a:extLst>
                    <a:ext uri="{9D8B030D-6E8A-4147-A177-3AD203B41FA5}">
                      <a16:colId xmlns:a16="http://schemas.microsoft.com/office/drawing/2014/main" val="1985302225"/>
                    </a:ext>
                  </a:extLst>
                </a:gridCol>
                <a:gridCol w="1115568">
                  <a:extLst>
                    <a:ext uri="{9D8B030D-6E8A-4147-A177-3AD203B41FA5}">
                      <a16:colId xmlns:a16="http://schemas.microsoft.com/office/drawing/2014/main" val="1985302225"/>
                    </a:ext>
                  </a:extLst>
                </a:gridCol>
              </a:tblGrid>
              <a:tr h="164592">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300146245"/>
                  </a:ext>
                </a:extLst>
              </a:tr>
              <a:tr h="237744">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進行期(7か月)</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474,428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539,035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558,390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279,153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前期比</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113.6%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80.9%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292,379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342,931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330,024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174,391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518423238"/>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61.6%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66104613"/>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dirty="0">
                          <a:solidFill>
                            <a:srgbClr val="000000"/>
                          </a:solidFill>
                          <a:effectLst/>
                          <a:latin typeface="Arial" panose="020B0604020202020204" pitchFamily="34" charset="0"/>
                          <a:ea typeface="游ゴシック Medium" panose="020B0500000000000000" pitchFamily="50" charset="-128"/>
                        </a:rPr>
                        <a:t>2,341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3,022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19,552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6,637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61764439"/>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4878746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2,528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3,110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18,575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5,814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76107756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5514915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1,634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20,359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38,187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8501070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03587175"/>
                  </a:ext>
                </a:extLst>
              </a:tr>
              <a:tr h="9144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83187078"/>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3,911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9,295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6,349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2681162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98580123"/>
                  </a:ext>
                </a:extLst>
              </a:tr>
              <a:tr h="173736">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調整項目 合計</a:t>
                      </a:r>
                    </a:p>
                  </a:txBody>
                  <a:tcPr marL="103756"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8,856</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20,449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19,884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891433011"/>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役員報酬（退任予定）</a:t>
                      </a:r>
                    </a:p>
                  </a:txBody>
                  <a:tcPr marL="207512"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166449910"/>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役員報酬（派遣想定）</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現場責任者人件費の振替</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8,831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8,183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非事業用車両リース料</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2,386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3,154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5,604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接待交際費（超過分）</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4,453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6,230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4,218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生命保険料（非事業性）</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696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1,599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雑収入（社員割引）</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1,321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655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29666250"/>
                  </a:ext>
                </a:extLst>
              </a:tr>
              <a:tr h="192024">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調整後EBITDA</a:t>
                      </a:r>
                    </a:p>
                  </a:txBody>
                  <a:tcPr marL="103756" marR="0" marT="0" marB="0" anchor="ctr">
                    <a:lnL>
                      <a:noFill/>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15,108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32,766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6,681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312068535"/>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010912"/>
            <a:ext cx="3912257" cy="2011680"/>
          </a:xfrm>
          <a:prstGeom prst="rect">
            <a:avLst/>
          </a:prstGeom>
          <a:noFill/>
        </p:spPr>
        <p:txBody>
          <a:bodyPr wrap="square" lIns="288000" tIns="0" rIns="252000" bIns="0" rtlCol="0">
            <a:spAutoFit/>
          </a:bodyPr>
          <a:lstStyle/>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≪役員報酬≫代表者は引継完了後に退任、現場責任者が同水準（14,400千円）で役員就任する前提。退任分を戻し同額を後任分として控除</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≪現場責任者人件費≫上記に伴い従業員給与としての計上分を戻し入れ</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≪リース料・接待交際費・保険料≫本件実行後に発生しない費用を戻し入れ（接待交際費は適正水準4,000千円との差額）</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≪雑収入≫経常的に発生する社員割引分を加算</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 調整後EBITDA（3期平均）18,185千円／直近2期平均 19,724千円</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2025年11月期末の純資産は△14,057千円と債務超過。進行期は2026年3月に棚卸資産廃棄損44,000千円を計上したことにより、2026年6月末の純資産は△52,244千円となっている。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6263640" y="1714131"/>
            <a:ext cx="4087368"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465132"/>
          <a:ext cx="5833872" cy="4882896"/>
        </p:xfrm>
        <a:graphic>
          <a:graphicData uri="http://schemas.openxmlformats.org/drawingml/2006/table">
            <a:tbl>
              <a:tblPr/>
              <a:tblGrid>
                <a:gridCol w="1207008">
                  <a:extLst>
                    <a:ext uri="{9D8B030D-6E8A-4147-A177-3AD203B41FA5}">
                      <a16:colId xmlns:a16="http://schemas.microsoft.com/office/drawing/2014/main" val="3288712095"/>
                    </a:ext>
                  </a:extLst>
                </a:gridCol>
                <a:gridCol w="822960">
                  <a:extLst>
                    <a:ext uri="{9D8B030D-6E8A-4147-A177-3AD203B41FA5}">
                      <a16:colId xmlns:a16="http://schemas.microsoft.com/office/drawing/2014/main" val="1763953894"/>
                    </a:ext>
                  </a:extLst>
                </a:gridCol>
                <a:gridCol w="822960">
                  <a:extLst>
                    <a:ext uri="{9D8B030D-6E8A-4147-A177-3AD203B41FA5}">
                      <a16:colId xmlns:a16="http://schemas.microsoft.com/office/drawing/2014/main" val="1763953894"/>
                    </a:ext>
                  </a:extLst>
                </a:gridCol>
                <a:gridCol w="128016">
                  <a:extLst>
                    <a:ext uri="{9D8B030D-6E8A-4147-A177-3AD203B41FA5}">
                      <a16:colId xmlns:a16="http://schemas.microsoft.com/office/drawing/2014/main" val="425085564"/>
                    </a:ext>
                  </a:extLst>
                </a:gridCol>
                <a:gridCol w="1207008">
                  <a:extLst>
                    <a:ext uri="{9D8B030D-6E8A-4147-A177-3AD203B41FA5}">
                      <a16:colId xmlns:a16="http://schemas.microsoft.com/office/drawing/2014/main" val="529330877"/>
                    </a:ext>
                  </a:extLst>
                </a:gridCol>
                <a:gridCol w="822960">
                  <a:extLst>
                    <a:ext uri="{9D8B030D-6E8A-4147-A177-3AD203B41FA5}">
                      <a16:colId xmlns:a16="http://schemas.microsoft.com/office/drawing/2014/main" val="1796373806"/>
                    </a:ext>
                  </a:extLst>
                </a:gridCol>
                <a:gridCol w="822960">
                  <a:extLst>
                    <a:ext uri="{9D8B030D-6E8A-4147-A177-3AD203B41FA5}">
                      <a16:colId xmlns:a16="http://schemas.microsoft.com/office/drawing/2014/main" val="1796373806"/>
                    </a:ext>
                  </a:extLst>
                </a:gridCol>
              </a:tblGrid>
              <a:tr h="164592">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920009427"/>
                  </a:ext>
                </a:extLst>
              </a:tr>
              <a:tr h="365760">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extLst>
                  <a:ext uri="{0D108BD9-81ED-4DB2-BD59-A6C34878D82A}">
                    <a16:rowId xmlns:a16="http://schemas.microsoft.com/office/drawing/2014/main" val="14945041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92,091</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33,414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現預金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0" marR="0" marT="0" marB="0" anchor="ctr">
                    <a:lnL>
                      <a:noFill/>
                    </a:lnL>
                    <a:lnR>
                      <a:noFill/>
                    </a:lnR>
                    <a:lnT>
                      <a:noFill/>
                    </a:lnT>
                    <a:lnB>
                      <a:noFill/>
                    </a:lnB>
                    <a:noFill/>
                  </a:tcPr>
                </a:tc>
                <a:extLst>
                  <a:ext uri="{0D108BD9-81ED-4DB2-BD59-A6C34878D82A}">
                    <a16:rowId xmlns:a16="http://schemas.microsoft.com/office/drawing/2014/main" val="274154918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棚卸資産</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106,167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58,596</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0" marR="0" marT="0" marB="0" anchor="ctr">
                    <a:lnL>
                      <a:noFill/>
                    </a:lnL>
                    <a:lnR>
                      <a:noFill/>
                    </a:lnR>
                    <a:lnT>
                      <a:noFill/>
                    </a:lnT>
                    <a:lnB>
                      <a:noFill/>
                    </a:lnB>
                    <a:noFill/>
                  </a:tcPr>
                </a:tc>
                <a:extLst>
                  <a:ext uri="{0D108BD9-81ED-4DB2-BD59-A6C34878D82A}">
                    <a16:rowId xmlns:a16="http://schemas.microsoft.com/office/drawing/2014/main" val="2447550602"/>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0" marR="0" marT="0" marB="0" anchor="ctr">
                    <a:lnL>
                      <a:noFill/>
                    </a:lnL>
                    <a:lnR>
                      <a:noFill/>
                    </a:lnR>
                    <a:lnT>
                      <a:noFill/>
                    </a:lnT>
                    <a:lnB>
                      <a:noFill/>
                    </a:lnB>
                    <a:noFill/>
                  </a:tcPr>
                </a:tc>
                <a:extLst>
                  <a:ext uri="{0D108BD9-81ED-4DB2-BD59-A6C34878D82A}">
                    <a16:rowId xmlns:a16="http://schemas.microsoft.com/office/drawing/2014/main" val="3539815537"/>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0" marR="0" marT="0" marB="0" anchor="ctr">
                    <a:lnL>
                      <a:noFill/>
                    </a:lnL>
                    <a:lnR>
                      <a:noFill/>
                    </a:lnR>
                    <a:lnT>
                      <a:noFill/>
                    </a:lnT>
                    <a:lnB>
                      <a:noFill/>
                    </a:lnB>
                    <a:noFill/>
                  </a:tcPr>
                </a:tc>
                <a:extLst>
                  <a:ext uri="{0D108BD9-81ED-4DB2-BD59-A6C34878D82A}">
                    <a16:rowId xmlns:a16="http://schemas.microsoft.com/office/drawing/2014/main" val="285792898"/>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536</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5307486"/>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86,018</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196,939</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681567531"/>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7053249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0" marR="0" marT="0" marB="0" anchor="ctr">
                    <a:lnL>
                      <a:noFill/>
                    </a:lnL>
                    <a:lnR>
                      <a:noFill/>
                    </a:lnR>
                    <a:lnT>
                      <a:noFill/>
                    </a:lnT>
                    <a:lnB>
                      <a:noFill/>
                    </a:lnB>
                    <a:noFill/>
                  </a:tcPr>
                </a:tc>
                <a:extLst>
                  <a:ext uri="{0D108BD9-81ED-4DB2-BD59-A6C34878D82A}">
                    <a16:rowId xmlns:a16="http://schemas.microsoft.com/office/drawing/2014/main" val="133431423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1,678</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033665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84689072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28702615"/>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0" marR="0" marT="0" marB="0" anchor="ctr">
                    <a:lnL>
                      <a:noFill/>
                    </a:lnL>
                    <a:lnR>
                      <a:noFill/>
                    </a:lnR>
                    <a:lnT>
                      <a:noFill/>
                    </a:lnT>
                    <a:lnB>
                      <a:noFill/>
                    </a:lnB>
                    <a:noFill/>
                  </a:tcPr>
                </a:tc>
                <a:extLst>
                  <a:ext uri="{0D108BD9-81ED-4DB2-BD59-A6C34878D82A}">
                    <a16:rowId xmlns:a16="http://schemas.microsoft.com/office/drawing/2014/main" val="2363906639"/>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33845884"/>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216</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2,691</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2864921436"/>
                  </a:ext>
                </a:extLst>
              </a:tr>
              <a:tr h="256032">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1773176798"/>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6400800" y="2329719"/>
            <a:ext cx="3840480"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≪棚卸資産≫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・2025年11月期末106,167千円（総資産の45%）。内訳は店舗8店52,017千円、本社32,000千円、バックヤード12,000千円、外部保管在庫10,000千円、貯蔵品150千円（P.31参照）。</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・2026年3月に本社分＋バックヤード分の44,000千円を全額廃棄損として計上し、2026年6月末は58,596千円まで減少。</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≪売掛金≫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・2025年11月期末27,628千円の内訳は㈲ワンラブ（FC本部）17,373千円、カード・PayPay等の決済会社10,255千円。滞留債権は認められない。</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≪差入保証金≫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・2026年3月に2,024千円減少しており、うち2,000千円は撤退店舗の敷金返還と推察（仮説・要確認）。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≪営業権≫</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・1,500千円。仕入先デザイナーズワン㈱（代表者の親族が経営）に係るもの。取得経緯・算定根拠は要確認。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・長期借入金191,858千円（9本）。民間6本は代表者の連帯保証および信用保証協会の保証付き（公庫3本は要確認）。月次では期首残高のまま据え置かれている。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・役員借入金は7,566千円（2025年11月期末）から3,403千円（2026年6月末）へ減少している。譲渡時の返済を希望。</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・2025年11月期末△14,057千円の債務超過。進行期は棚卸資産廃棄損の計上により2026年6月末で△52,244千円。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≪注記≫</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・進行期は試算表ベースであり、減価償却・棚卸評価等の決算整理は未了。千円未満の端数処理により内訳の合計が小計と一致しない場合があります。</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発行済全株式の譲渡（100%）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代表者（淺野ゆう子氏）の連帯保証の解除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役員借入金の返済（2025年11月期末7,566千円／2026年6月末3,403千円）</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従業員の継続雇用、および取引先（FC本部・仕入先）との取引継続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引継期間は柔軟に対応可能。代表者は引継完了後に退任予定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現場責任者の淺野崇氏（代表者の配偶者）は譲渡後も継続関与を想定（要確認）</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成長戦略（資本力・経営基盤のある企業グループの下での多店舗展開の加速）</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ジャペル㈱（59%）</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㈲ワンラブ（FC本部・16%）</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個人ブリーダー（10%）</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デザイナーズワン㈱（5%）</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一般個人顧客（売上の99%）</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東海圏（岐阜・愛知・三重）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関西圏（大阪）の来店客</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決済：現金・カード・PayPay</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セキュリティ機器販売事業（実質休眠）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セキュリティ機器の販売</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保守・メンテナンス</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ペットショップ事業（主業）｜直営6店舗</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ワンラブFC店
（インショップ4店舗）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おっきなもふもふ応援隊
（大型犬専門・路面店2店舗）</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店舗付帯サービス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トリミング
ペットホテル</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ペット保険
（代理店手数料）</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外注費25,058千円（2025年11月期）。トリミング・生体管理等の外部委託と推察されるが、取引先別の内訳は未受領（要確認）。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生体はFC本部（㈲ワンラブ）とジャペル㈱を中心に調達し、大型犬専門店の展開に伴い個人ブリーダーからの直接仕入も拡大。販売は店頭での個人向けが99%を占める（下図は撤退後の6店舗体制）。</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ペット保険（アイペット損保）は初年度に掛金の40%、次年度以降も10%が継続手数料として入る仕組み。手術特約の加入率は約75%（全国平均約50%）と高く、年間約19,000千円の保険収入があるとのヒアリング（要確認）。</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900" dirty="0">
                <a:solidFill>
                  <a:schemeClr val="tx1"/>
                </a:solidFill>
                <a:latin typeface="游ゴシック" panose="020B0400000000000000" pitchFamily="50" charset="-128"/>
                <a:ea typeface="游ゴシック" panose="020B0400000000000000" pitchFamily="50" charset="-128"/>
              </a:rPr>
              <a:t>店頭販売
個人向け</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FC本部（㈲ワンラブ）とはフランチャイズ契約を締結。生体・用品の仕入、店舗の転借、ロイヤリティの支払が一体となった契約構造と推察（要確認）。生体はワンラブがオークション会場で仕入れ、マイクロチップ埋込・ワクチン接種等の処理を済ませたうえで当社へ供給される。</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【仕入】</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【販売】</a:t>
            </a:r>
          </a:p>
        </p:txBody>
      </p:sp>
    </p:spTree>
    <p:extLst>
      <p:ext uri="{BB962C8B-B14F-4D97-AF65-F5344CB8AC3E}">
        <p14:creationId xmlns:p14="http://schemas.microsoft.com/office/powerpoint/2010/main" val="538383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参考｜2つの業態の比較</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不採算2店舗の撤退を経て、FC加盟のインショップ4店舗と自社ブランドの大型犬専門店2店舗を併営。進行期はいずれの業態も店舗貢献利益を確保しており、両者は補完関係にある。</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17320"/>
          <a:ext cx="9921240" cy="2286000"/>
        </p:xfrm>
        <a:graphic>
          <a:graphicData uri="http://schemas.openxmlformats.org/drawingml/2006/table">
            <a:tbl>
              <a:tblPr/>
              <a:tblGrid>
                <a:gridCol w="1600200">
                  <a:extLst>
                    <a:ext uri="{9D8B030D-6E8A-4147-A177-3AD203B41FA5}">
                      <a16:colId xmlns:a16="http://schemas.microsoft.com/office/drawing/2014/main" val="2226821946"/>
                    </a:ext>
                  </a:extLst>
                </a:gridCol>
                <a:gridCol w="4160520">
                  <a:extLst>
                    <a:ext uri="{9D8B030D-6E8A-4147-A177-3AD203B41FA5}">
                      <a16:colId xmlns:a16="http://schemas.microsoft.com/office/drawing/2014/main" val="394351917"/>
                    </a:ext>
                  </a:extLst>
                </a:gridCol>
                <a:gridCol w="4160520">
                  <a:extLst>
                    <a:ext uri="{9D8B030D-6E8A-4147-A177-3AD203B41FA5}">
                      <a16:colId xmlns:a16="http://schemas.microsoft.com/office/drawing/2014/main" val="2273061486"/>
                    </a:ext>
                  </a:extLst>
                </a:gridCol>
              </a:tblGrid>
              <a:tr h="237744">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比較項目</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ワンラブFC店（インショップ4店舗）</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1100" b="1" dirty="0" err="1">
                          <a:solidFill>
                            <a:srgbClr val="FFFFFF"/>
                          </a:solidFill>
                          <a:latin typeface="游ゴシック" panose="020B0400000000000000" pitchFamily="50" charset="-128"/>
                          <a:ea typeface="游ゴシック" panose="020B0400000000000000" pitchFamily="50" charset="-128"/>
                        </a:rPr>
                        <a:t>おっきなもふもふ応援隊（大型犬専門・路面店2店舗）</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256032">
                <a:tc>
                  <a:txBody>
                    <a:bodyPr/>
                    <a:lstStyle/>
                    <a:p>
                      <a:pPr algn="ctr" fontAlgn="b">
                        <a:lnSpc>
                          <a:spcPct val="106000"/>
                        </a:lnSpc>
                        <a:buNone/>
                      </a:pPr>
                      <a:r>
                        <a:rPr sz="1000" b="1" dirty="0" err="1">
                          <a:solidFill>
                            <a:srgbClr val="1F3864"/>
                          </a:solidFill>
                          <a:latin typeface="游ゴシック" panose="020B0400000000000000" pitchFamily="50" charset="-128"/>
                          <a:ea typeface="游ゴシック" panose="020B0400000000000000" pitchFamily="50" charset="-128"/>
                        </a:rPr>
                        <a:t>店舗数</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4店舗（三重県3・愛知県1）　※2026年初に岐阜県2店舗を撤退</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2店舗（岐阜県1・大阪府1）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売上高（進行期7か月）</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136,133千円（構成比48.8%）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118,470千円（構成比42.4%）</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店舗貢献利益（同）</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47,760千円（売上高比35.1%）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53,058千円（売上高比44.8%）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出店形態</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a:solidFill>
                            <a:srgbClr val="202020"/>
                          </a:solidFill>
                          <a:latin typeface="游ゴシック" panose="020B0400000000000000" pitchFamily="50" charset="-128"/>
                          <a:ea typeface="游ゴシック" panose="020B0400000000000000" pitchFamily="50" charset="-128"/>
                        </a:rPr>
                        <a:t>ホームセンター等の店内インショップ。FC本部から転借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路面店・大型商業施設内の独立区画（395〜421㎡）。当社が直接賃借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店舗使用料</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売上歩合（11〜15%）。販管費上は「ロイヤリティ」に計上</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固定賃料（月額640〜920千円）。地代家賃に計上</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395407324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取扱い・顧客層</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小型犬・猫中心の一般的な品揃え。商業施設の集客に依存</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大型犬に特化。高所得層が中心で単価・保険加入率が高い</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13757828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足元の状況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不採算2店舗を撤退し4店舗体制。伊勢・久居・緑の3店は高い収益性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岐阜は開店4期目、大阪は3期目。2店舗で店舗貢献利益の52.6%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870541768"/>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主な論点</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FC契約・転借契約にCOC条項あり。実行時の届出・協議が必要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定期建物賃貸借で更新なし（岐阜2033年1月／大阪2027年11月）</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706507175"/>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同社における位置づけ　―　FCの安定基盤 × 自社ブランドの成長エンジン</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ワンラブFC店（インショップ4店舗）</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FC本部の仕入・販促ノウハウを活用した安定運営</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歩合賃料のため固定費負担が小さく、損益分岐点が低い</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商業施設の集客に依存し、売上が施設の動向に左右される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おっきなもふもふ応援隊（大型犬専門・路面店2店舗）</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大型犬専門という差別化により価格競争を回避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固定賃料のため損益分岐点は高いが、超過分は利益に直結</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ワンラブFC加盟店で大型犬専門店を運営するのは当社のみ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2つの業態は代替関係ではなく、FC店で安定的な基盤を確保しつつ、自社ブランドの大型犬専門店で成長を取りに行く補完関係にある。進行期は不採算のFC店2店舗を撤退し、残る4店舗はいずれも店舗貢献利益を確保してい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FC店4店舗の店舗貢献利益率は35.1%。
歩合賃料で固定費負担が軽い</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大型犬専門2店舗の店舗貢献利益率は
44.8%と高く、成長の牽引役</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ワンラブFC加盟店で大型犬専門店を
運営するのは当社のみ（ヒアリング）</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141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店舗別売上高（3期推移＋進行期）</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大型犬専門2店舗で2025年11月期売上の46.7%を占める。不採算のペットプラザ岐阜店は2026年1月、アクアウォーク大垣店は2026年2月をもって撤退しており、進行期3月以降は6店舗体制。</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775208"/>
          <a:ext cx="9930384" cy="3364992"/>
        </p:xfrm>
        <a:graphic>
          <a:graphicData uri="http://schemas.openxmlformats.org/drawingml/2006/table">
            <a:tbl>
              <a:tblPr/>
              <a:tblGrid>
                <a:gridCol w="2487168">
                  <a:extLst>
                    <a:ext uri="{9D8B030D-6E8A-4147-A177-3AD203B41FA5}">
                      <a16:colId xmlns:a16="http://schemas.microsoft.com/office/drawing/2014/main" val="2226821946"/>
                    </a:ext>
                  </a:extLst>
                </a:gridCol>
                <a:gridCol w="1078992">
                  <a:extLst>
                    <a:ext uri="{9D8B030D-6E8A-4147-A177-3AD203B41FA5}">
                      <a16:colId xmlns:a16="http://schemas.microsoft.com/office/drawing/2014/main" val="394351917"/>
                    </a:ext>
                  </a:extLst>
                </a:gridCol>
                <a:gridCol w="731520">
                  <a:extLst>
                    <a:ext uri="{9D8B030D-6E8A-4147-A177-3AD203B41FA5}">
                      <a16:colId xmlns:a16="http://schemas.microsoft.com/office/drawing/2014/main" val="2273061486"/>
                    </a:ext>
                  </a:extLst>
                </a:gridCol>
                <a:gridCol w="1078992">
                  <a:extLst>
                    <a:ext uri="{9D8B030D-6E8A-4147-A177-3AD203B41FA5}">
                      <a16:colId xmlns:a16="http://schemas.microsoft.com/office/drawing/2014/main" val="3147415530"/>
                    </a:ext>
                  </a:extLst>
                </a:gridCol>
                <a:gridCol w="731520">
                  <a:extLst>
                    <a:ext uri="{9D8B030D-6E8A-4147-A177-3AD203B41FA5}">
                      <a16:colId xmlns:a16="http://schemas.microsoft.com/office/drawing/2014/main" val="2884797882"/>
                    </a:ext>
                  </a:extLst>
                </a:gridCol>
                <a:gridCol w="1078992">
                  <a:extLst>
                    <a:ext uri="{9D8B030D-6E8A-4147-A177-3AD203B41FA5}">
                      <a16:colId xmlns:a16="http://schemas.microsoft.com/office/drawing/2014/main" val="878939645"/>
                    </a:ext>
                  </a:extLst>
                </a:gridCol>
                <a:gridCol w="731520">
                  <a:extLst>
                    <a:ext uri="{9D8B030D-6E8A-4147-A177-3AD203B41FA5}">
                      <a16:colId xmlns:a16="http://schemas.microsoft.com/office/drawing/2014/main" val="878939645"/>
                    </a:ext>
                  </a:extLst>
                </a:gridCol>
                <a:gridCol w="1152144">
                  <a:extLst>
                    <a:ext uri="{9D8B030D-6E8A-4147-A177-3AD203B41FA5}">
                      <a16:colId xmlns:a16="http://schemas.microsoft.com/office/drawing/2014/main" val="878939645"/>
                    </a:ext>
                  </a:extLst>
                </a:gridCol>
                <a:gridCol w="859536">
                  <a:extLst>
                    <a:ext uri="{9D8B030D-6E8A-4147-A177-3AD203B41FA5}">
                      <a16:colId xmlns:a16="http://schemas.microsoft.com/office/drawing/2014/main" val="2604138394"/>
                    </a:ext>
                  </a:extLst>
                </a:gridCol>
              </a:tblGrid>
              <a:tr h="40233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事業所名</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進行期7か月
(25/12〜26/6)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142,385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157,756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118,491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75,571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66,609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66,887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62,981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57,327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19,793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51,761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3757828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 ※2026年2月撤退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50,138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43,305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38,021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870541768"/>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65,416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67,267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37,216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706507175"/>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 ※2026年1月撤退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32,770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20,636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73200470"/>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コメリパワー中志段味店 ※2024年6月譲渡</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43,555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29,765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20482"/>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本社（サービス・物販）</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15,611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18,397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22,126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12,996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8,909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474,428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539,035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558,390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3872327840"/>
                  </a:ext>
                </a:extLst>
              </a:tr>
            </a:tbl>
          </a:graphicData>
        </a:graphic>
      </p:graphicFrame>
      <p:sp>
        <p:nvSpPr>
          <p:cNvPr id="18" name="TextBox 14">
            <a:extLst>
              <a:ext uri="{FF2B5EF4-FFF2-40B4-BE49-F238E27FC236}">
                <a16:creationId xmlns:a16="http://schemas.microsoft.com/office/drawing/2014/main" id="{DB0F0585-36DA-5BC2-3EF1-1F38A9D84311}"/>
              </a:ext>
            </a:extLst>
          </p:cNvPr>
          <p:cNvSpPr txBox="1"/>
          <p:nvPr/>
        </p:nvSpPr>
        <p:spPr>
          <a:xfrm>
            <a:off x="8463216" y="1550358"/>
            <a:ext cx="933300" cy="167700"/>
          </a:xfrm>
          <a:prstGeom prst="rect">
            <a:avLst/>
          </a:prstGeom>
          <a:noFill/>
        </p:spPr>
        <p:txBody>
          <a:bodyPr wrap="square" lIns="36000" tIns="18000" rIns="36000" bIns="18000" anchor="t">
            <a:spAutoFit/>
          </a:bodyPr>
          <a:lstStyle/>
          <a:p>
            <a:pPr>
              <a:spcBef>
                <a:spcPts val="0"/>
              </a:spcBef>
              <a:spcAft>
                <a:spcPts val="200"/>
              </a:spcAft>
            </a:pPr>
            <a:r>
              <a:rPr lang="ja-JP" altLang="en-US" sz="850" b="0" dirty="0">
                <a:solidFill>
                  <a:schemeClr val="tx1"/>
                </a:solidFill>
                <a:latin typeface="游ゴシック" panose="020B0400000000000000" pitchFamily="50" charset="-128"/>
                <a:ea typeface="游ゴシック" panose="020B0400000000000000" pitchFamily="50" charset="-128"/>
              </a:rPr>
              <a:t>（単位：千円）</a:t>
            </a:r>
            <a:endParaRPr sz="900" b="0" dirty="0">
              <a:solidFill>
                <a:schemeClr val="tx1"/>
              </a:solidFill>
              <a:latin typeface="游ゴシック" panose="020B0400000000000000" pitchFamily="50" charset="-128"/>
              <a:ea typeface="游ゴシック" panose="020B0400000000000000" pitchFamily="50" charset="-128"/>
            </a:endParaRPr>
          </a:p>
        </p:txBody>
      </p:sp>
      <p:sp>
        <p:nvSpPr>
          <p:cNvPr id="36" name="TextBox 35"/>
          <p:cNvSpPr txBox="1"/>
          <p:nvPr/>
        </p:nvSpPr>
        <p:spPr>
          <a:xfrm>
            <a:off x="338328" y="5303520"/>
            <a:ext cx="9902952" cy="1005840"/>
          </a:xfrm>
          <a:prstGeom prst="rect">
            <a:avLst/>
          </a:prstGeom>
          <a:noFill/>
        </p:spPr>
        <p:txBody>
          <a:bodyPr wrap="square">
            <a:spAutoFit/>
          </a:bodyPr>
          <a:lstStyle/>
          <a:p>
            <a:r>
              <a:rPr sz="900">
                <a:latin typeface="游ゴシック Medium"/>
              </a:rPr>
              <a:t>※出所：第3期〜第5期 決算報告書「売上高等の事業所別内訳書」および店舗別試算表 2025年12月〜2026年6月。各期のPL売上高と一致することを確認済。</a:t>
            </a:r>
          </a:p>
          <a:p>
            <a:r>
              <a:rPr sz="900">
                <a:latin typeface="游ゴシック Medium"/>
              </a:rPr>
              <a:t>※対象会社の既存会社説明資料には「店舗6箇所」および2024年11月期の店舗別売上高が記載されているが、2025年11月期時点の稼働店舗は8店舗である。</a:t>
            </a:r>
          </a:p>
          <a:p>
            <a:r>
              <a:rPr sz="900">
                <a:latin typeface="游ゴシック Medium"/>
              </a:rPr>
              <a:t>※店舗別試算表および従業員名簿により、撤退した2店舗はペットプラザ岐阜店（2026年1月まで）とアクアウォーク大垣店（2026年2月まで）であることを確認した。</a:t>
            </a:r>
          </a:p>
          <a:p>
            <a:r>
              <a:rPr sz="900">
                <a:latin typeface="游ゴシック Medium"/>
              </a:rPr>
              <a:t>※本社（サービス・物販）の進行期13,650千円は月額約195万円で計上されており、ペット保険の代理店手数料と推察される（仮説・要確認）。</a:t>
            </a:r>
          </a:p>
        </p:txBody>
      </p:sp>
    </p:spTree>
    <p:extLst>
      <p:ext uri="{BB962C8B-B14F-4D97-AF65-F5344CB8AC3E}">
        <p14:creationId xmlns:p14="http://schemas.microsoft.com/office/powerpoint/2010/main" val="3198161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売上区分別の収益構成</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生体売上が6割を占める一方、フード・用品等の物販は構成比24.4%→30.0%と着実に拡大。トリミング・ペットホテル・ペット保険からなるサービス売上はストック性が高く、進行期は前年同期比106.4%と3区分で唯一増加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0471"/>
          <a:ext cx="10012680" cy="4617720"/>
        </p:xfrm>
        <a:graphic>
          <a:graphicData uri="http://schemas.openxmlformats.org/drawingml/2006/table">
            <a:tbl>
              <a:tblPr/>
              <a:tblGrid>
                <a:gridCol w="1417320">
                  <a:extLst>
                    <a:ext uri="{9D8B030D-6E8A-4147-A177-3AD203B41FA5}">
                      <a16:colId xmlns:a16="http://schemas.microsoft.com/office/drawing/2014/main" val="3669490461"/>
                    </a:ext>
                  </a:extLst>
                </a:gridCol>
                <a:gridCol w="1920240">
                  <a:extLst>
                    <a:ext uri="{9D8B030D-6E8A-4147-A177-3AD203B41FA5}">
                      <a16:colId xmlns:a16="http://schemas.microsoft.com/office/drawing/2014/main" val="2793615800"/>
                    </a:ext>
                  </a:extLst>
                </a:gridCol>
                <a:gridCol w="3063240">
                  <a:extLst>
                    <a:ext uri="{9D8B030D-6E8A-4147-A177-3AD203B41FA5}">
                      <a16:colId xmlns:a16="http://schemas.microsoft.com/office/drawing/2014/main" val="1996097912"/>
                    </a:ext>
                  </a:extLst>
                </a:gridCol>
                <a:gridCol w="3611880">
                  <a:extLst>
                    <a:ext uri="{9D8B030D-6E8A-4147-A177-3AD203B41FA5}">
                      <a16:colId xmlns:a16="http://schemas.microsoft.com/office/drawing/2014/main" val="583706970"/>
                    </a:ext>
                  </a:extLst>
                </a:gridCol>
              </a:tblGrid>
              <a:tr h="365760">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売上区分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主な内容</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収益の特性</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3期推移＋進行期7か月（千円）／構成比</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109728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犬・猫等の生体販売</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仕入相場の変動を受けやすい。
大型犬は単価・粗利ともに高い</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293,214 → 333,090 → 338,295　｜進行期 165,116
（61.8% → 61.8% → 60.6%　｜59.1%）</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118872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トリミング、ペットホテル、
ペット保険の代理店手数料</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ストック性が高い。ペット保険は初年度に掛金の40%、次年度以降も10%が継続手数料として入る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65,656 → 60,897 → 52,699　｜進行期 32,791
（13.8% → 11.3% → 9.4%　｜11.7%）</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105156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フード、ペット用品、ケージ等</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生体販売に付随し、購入後の継続購買につながる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115,559 → 145,048 → 167,395　｜進行期 81,244
（24.4% → 26.9% → 30.0%　｜29.1%）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91440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10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474,428 → 539,035 → 558,390　｜進行期 279,153
（100.0% → 100.0% → 100.0%　｜100.0%）</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bl>
          </a:graphicData>
        </a:graphic>
      </p:graphicFrame>
    </p:spTree>
    <p:extLst>
      <p:ext uri="{BB962C8B-B14F-4D97-AF65-F5344CB8AC3E}">
        <p14:creationId xmlns:p14="http://schemas.microsoft.com/office/powerpoint/2010/main" val="540001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大型犬専門店という差別化ポジション</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ワンラブFC加盟店の中で大型犬専門店を運営するのは当社のみ（ヒアリング）。大型犬は生体単価が高く、購買層も景気変動の影響を受けにくい高所得層が中心。進行期7か月の店舗貢献利益率は大型犬専門2店舗で44.8%と、FC加盟4店舗の35.1%を上回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ペット関連サービスの一体提供とストック収益</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生体販売を起点に、フード・用品、トリミング、ペットホテル、ペット保険まで一体で提供。特にペット保険は手術特約の加入率が約75%（全国平均約50%）と高く、初年度に掛金の40%、次年度以降も10%が継続手数料として入る。進行期は共通部門のサービス売上が月額約195万円（7か月13,650千円）で安定計上されており、同手数料と推察される（仮説・要確認）。</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出店余地と実証済みの立ち上げノウハウ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大型犬専門店は市場にまだ少なく、平均所得の高いエリアを選別して出店する余地が大きい。岐阜総本店は開店3期目で118,491千円、大阪総本店は開店2期目で142,385千円といずれも短期間で立ち上がり、進行期7か月でも2店舗合計53,058千円の店舗貢献利益を計上している。出店ノウハウは実証済みであり、資本力のある企業グループの下では出店ペースの加速が期待できる。</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仕入・店舗コストの構造</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530765"/>
          </a:xfrm>
        </p:spPr>
        <p:txBody>
          <a:bodyPr>
            <a:noAutofit/>
          </a:bodyPr>
          <a:lstStyle/>
          <a:p>
            <a:r>
              <a:rPr lang="ja-JP" altLang="en-US" dirty="0">
                <a:latin typeface="游ゴシック" panose="020B0400000000000000" pitchFamily="50" charset="-128"/>
                <a:ea typeface="游ゴシック" panose="020B0400000000000000" pitchFamily="50" charset="-128"/>
              </a:rPr>
              <a:t>FC加盟のインショップは店舗使用料が売上歩合、大型犬専門の路面店は固定賃料と、費用構造は業態により大きく異なる。2025年11月期の地代家賃増加とロイヤリティ減少は、売上構成のシフトの裏返しであ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20040" y="1766142"/>
            <a:ext cx="4823459" cy="335361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320040"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6" name="TextBox 15"/>
          <p:cNvSpPr txBox="1"/>
          <p:nvPr/>
        </p:nvSpPr>
        <p:spPr>
          <a:xfrm>
            <a:off x="484632" y="1651633"/>
            <a:ext cx="4549140" cy="224549"/>
          </a:xfrm>
          <a:prstGeom prst="rect">
            <a:avLst/>
          </a:prstGeom>
          <a:noFill/>
        </p:spPr>
        <p:txBody>
          <a:bodyPr wrap="square" lIns="0" tIns="0" rIns="0" bIns="0" anchor="ctr">
            <a:spAutoFit/>
          </a:bodyPr>
          <a:lstStyle/>
          <a:p>
            <a:pPr algn="l">
              <a:lnSpc>
                <a:spcPct val="108000"/>
              </a:lnSpc>
            </a:pPr>
            <a:r>
              <a:rPr sz="1400" b="1" dirty="0" err="1">
                <a:solidFill>
                  <a:srgbClr val="FFFFFF"/>
                </a:solidFill>
                <a:latin typeface="游ゴシック" panose="020B0400000000000000" pitchFamily="50" charset="-128"/>
                <a:ea typeface="游ゴシック" panose="020B0400000000000000" pitchFamily="50" charset="-128"/>
              </a:rPr>
              <a:t>仕入　～生体・ペット用品～</a:t>
            </a:r>
          </a:p>
        </p:txBody>
      </p:sp>
      <p:sp>
        <p:nvSpPr>
          <p:cNvPr id="17" name="Oval 16"/>
          <p:cNvSpPr/>
          <p:nvPr/>
        </p:nvSpPr>
        <p:spPr>
          <a:xfrm>
            <a:off x="484632" y="2093273"/>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①</a:t>
            </a:r>
          </a:p>
        </p:txBody>
      </p:sp>
      <p:sp>
        <p:nvSpPr>
          <p:cNvPr id="18" name="TextBox 17"/>
          <p:cNvSpPr txBox="1"/>
          <p:nvPr/>
        </p:nvSpPr>
        <p:spPr>
          <a:xfrm>
            <a:off x="832104" y="2128605"/>
            <a:ext cx="4146803" cy="192425"/>
          </a:xfrm>
          <a:prstGeom prst="rect">
            <a:avLst/>
          </a:prstGeom>
          <a:noFill/>
        </p:spPr>
        <p:txBody>
          <a:bodyPr wrap="square" lIns="0" tIns="0" rIns="0" bIns="0" anchor="t">
            <a:spAutoFit/>
          </a:bodyPr>
          <a:lstStyle/>
          <a:p>
            <a:pPr algn="l">
              <a:lnSpc>
                <a:spcPct val="108000"/>
              </a:lnSpc>
            </a:pPr>
            <a:r>
              <a:rPr sz="1200" b="1">
                <a:solidFill>
                  <a:srgbClr val="1F3864"/>
                </a:solidFill>
                <a:latin typeface="游ゴシック" panose="020B0400000000000000" pitchFamily="50" charset="-128"/>
                <a:ea typeface="游ゴシック" panose="020B0400000000000000" pitchFamily="50" charset="-128"/>
              </a:rPr>
              <a:t>価格の決まり方</a:t>
            </a:r>
          </a:p>
        </p:txBody>
      </p:sp>
      <p:sp>
        <p:nvSpPr>
          <p:cNvPr id="19" name="TextBox 18"/>
          <p:cNvSpPr txBox="1"/>
          <p:nvPr/>
        </p:nvSpPr>
        <p:spPr>
          <a:xfrm>
            <a:off x="832104" y="2402925"/>
            <a:ext cx="4146803" cy="337721"/>
          </a:xfrm>
          <a:prstGeom prst="rect">
            <a:avLst/>
          </a:prstGeom>
          <a:noFill/>
        </p:spPr>
        <p:txBody>
          <a:bodyPr wrap="square" lIns="0" tIns="0" rIns="0" bIns="0" anchor="t">
            <a:spAutoFit/>
          </a:bodyPr>
          <a:lstStyle/>
          <a:p>
            <a:pPr>
              <a:lnSpc>
                <a:spcPct val="112000"/>
              </a:lnSpc>
            </a:pPr>
            <a:r>
              <a:rPr sz="1000" b="0" dirty="0" err="1">
                <a:solidFill>
                  <a:srgbClr val="202020"/>
                </a:solidFill>
                <a:latin typeface="游ゴシック" panose="020B0400000000000000" pitchFamily="50" charset="-128"/>
                <a:ea typeface="游ゴシック" panose="020B0400000000000000" pitchFamily="50" charset="-128"/>
              </a:rPr>
              <a:t>ペット用品はジャペル㈱等の卸売価格。生体はオークション相場に連動し、FC本部（㈲ワンラブ）経由の仕入と個人ブリーダー等からの直接仕入を併用する。</a:t>
            </a:r>
          </a:p>
        </p:txBody>
      </p:sp>
      <p:sp>
        <p:nvSpPr>
          <p:cNvPr id="20" name="Oval 19"/>
          <p:cNvSpPr/>
          <p:nvPr/>
        </p:nvSpPr>
        <p:spPr>
          <a:xfrm>
            <a:off x="484632" y="3025089"/>
            <a:ext cx="256032" cy="256032"/>
          </a:xfrm>
          <a:prstGeom prst="ellipse">
            <a:avLst/>
          </a:prstGeom>
          <a:solidFill>
            <a:srgbClr val="00377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21" name="TextBox 20"/>
          <p:cNvSpPr txBox="1"/>
          <p:nvPr/>
        </p:nvSpPr>
        <p:spPr>
          <a:xfrm>
            <a:off x="832104" y="3066237"/>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22" name="TextBox 21"/>
          <p:cNvSpPr txBox="1"/>
          <p:nvPr/>
        </p:nvSpPr>
        <p:spPr>
          <a:xfrm>
            <a:off x="832104" y="3340557"/>
            <a:ext cx="4146803" cy="337721"/>
          </a:xfrm>
          <a:prstGeom prst="rect">
            <a:avLst/>
          </a:prstGeom>
          <a:noFill/>
        </p:spPr>
        <p:txBody>
          <a:bodyPr wrap="square" lIns="0" tIns="0" rIns="0" bIns="0" anchor="t">
            <a:spAutoFit/>
          </a:bodyPr>
          <a:lstStyle/>
          <a:p>
            <a:pPr algn="l">
              <a:lnSpc>
                <a:spcPct val="112000"/>
              </a:lnSpc>
            </a:pPr>
            <a:r>
              <a:rPr sz="1000" b="0" dirty="0" err="1">
                <a:solidFill>
                  <a:srgbClr val="202020"/>
                </a:solidFill>
                <a:latin typeface="游ゴシック" panose="020B0400000000000000" pitchFamily="50" charset="-128"/>
                <a:ea typeface="游ゴシック" panose="020B0400000000000000" pitchFamily="50" charset="-128"/>
              </a:rPr>
              <a:t>大型犬専門店の展開に伴い、個人ブリーダーからの直接仕入を拡大（2024年11月期9,184千円→2025年11月期17,561千円）。仕入ルートの複線化が進んでいる。</a:t>
            </a:r>
          </a:p>
        </p:txBody>
      </p:sp>
      <p:sp>
        <p:nvSpPr>
          <p:cNvPr id="23" name="Rounded Rectangle 22"/>
          <p:cNvSpPr/>
          <p:nvPr/>
        </p:nvSpPr>
        <p:spPr>
          <a:xfrm>
            <a:off x="484632" y="4127040"/>
            <a:ext cx="4494275" cy="592372"/>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4" name="Oval 23"/>
          <p:cNvSpPr/>
          <p:nvPr/>
        </p:nvSpPr>
        <p:spPr>
          <a:xfrm>
            <a:off x="594359" y="4245912"/>
            <a:ext cx="219456" cy="219456"/>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25" name="TextBox 24"/>
          <p:cNvSpPr txBox="1"/>
          <p:nvPr/>
        </p:nvSpPr>
        <p:spPr>
          <a:xfrm>
            <a:off x="886969" y="4201683"/>
            <a:ext cx="3989832" cy="337721"/>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2025年11月期は小型犬を中心に仕入価格の上昇を販売価格へ転嫁できず、粗利率が63.6%→59.1%へ低下した。</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26" name="Rounded Rectangle 25"/>
          <p:cNvSpPr/>
          <p:nvPr/>
        </p:nvSpPr>
        <p:spPr>
          <a:xfrm>
            <a:off x="5417819" y="1766142"/>
            <a:ext cx="4823459" cy="3353613"/>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7" name="Rounded Rectangle 26"/>
          <p:cNvSpPr/>
          <p:nvPr/>
        </p:nvSpPr>
        <p:spPr>
          <a:xfrm>
            <a:off x="5417819"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8" name="TextBox 27"/>
          <p:cNvSpPr txBox="1"/>
          <p:nvPr/>
        </p:nvSpPr>
        <p:spPr>
          <a:xfrm>
            <a:off x="5582411" y="1651633"/>
            <a:ext cx="4549140" cy="224549"/>
          </a:xfrm>
          <a:prstGeom prst="rect">
            <a:avLst/>
          </a:prstGeom>
          <a:noFill/>
        </p:spPr>
        <p:txBody>
          <a:bodyPr wrap="square" lIns="0" tIns="0" rIns="0" bIns="0" anchor="ctr">
            <a:spAutoFit/>
          </a:bodyPr>
          <a:lstStyle/>
          <a:p>
            <a:pPr algn="l">
              <a:lnSpc>
                <a:spcPct val="108000"/>
              </a:lnSpc>
            </a:pPr>
            <a:r>
              <a:rPr sz="1400" b="1">
                <a:solidFill>
                  <a:srgbClr val="FFFFFF"/>
                </a:solidFill>
                <a:latin typeface="游ゴシック" panose="020B0400000000000000" pitchFamily="50" charset="-128"/>
                <a:ea typeface="游ゴシック" panose="020B0400000000000000" pitchFamily="50" charset="-128"/>
              </a:rPr>
              <a:t>店舗コスト　～FC店と路面店～</a:t>
            </a:r>
          </a:p>
        </p:txBody>
      </p:sp>
      <p:sp>
        <p:nvSpPr>
          <p:cNvPr id="29" name="Oval 28"/>
          <p:cNvSpPr/>
          <p:nvPr/>
        </p:nvSpPr>
        <p:spPr>
          <a:xfrm>
            <a:off x="5582411" y="2093092"/>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游ゴシック" panose="020B0400000000000000" pitchFamily="50" charset="-128"/>
                <a:ea typeface="游ゴシック" panose="020B0400000000000000" pitchFamily="50" charset="-128"/>
              </a:rPr>
              <a:t>①</a:t>
            </a:r>
          </a:p>
        </p:txBody>
      </p:sp>
      <p:sp>
        <p:nvSpPr>
          <p:cNvPr id="30" name="TextBox 29"/>
          <p:cNvSpPr txBox="1"/>
          <p:nvPr/>
        </p:nvSpPr>
        <p:spPr>
          <a:xfrm>
            <a:off x="5929883" y="2128605"/>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費用構造</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1" name="TextBox 30"/>
          <p:cNvSpPr txBox="1"/>
          <p:nvPr/>
        </p:nvSpPr>
        <p:spPr>
          <a:xfrm>
            <a:off x="5929883" y="2402925"/>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FC加盟のインショップは店舗使用料が売上歩合（売上の11〜15%）であり、販管費上は「ロイヤリティ」に含まれる。路面店（大型犬専門店2店舗）と緑店は月額640〜920千円の固定賃料。</a:t>
            </a:r>
          </a:p>
        </p:txBody>
      </p:sp>
      <p:sp>
        <p:nvSpPr>
          <p:cNvPr id="32" name="Oval 31"/>
          <p:cNvSpPr/>
          <p:nvPr/>
        </p:nvSpPr>
        <p:spPr>
          <a:xfrm>
            <a:off x="5582411" y="3053212"/>
            <a:ext cx="256032" cy="256032"/>
          </a:xfrm>
          <a:prstGeom prst="ellipse">
            <a:avLst/>
          </a:prstGeom>
          <a:solidFill>
            <a:srgbClr val="00357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33" name="TextBox 32"/>
          <p:cNvSpPr txBox="1"/>
          <p:nvPr/>
        </p:nvSpPr>
        <p:spPr>
          <a:xfrm>
            <a:off x="5929883" y="3066236"/>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4" name="TextBox 33"/>
          <p:cNvSpPr txBox="1"/>
          <p:nvPr/>
        </p:nvSpPr>
        <p:spPr>
          <a:xfrm>
            <a:off x="5929883" y="3340557"/>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大型犬専門店は高所得層をターゲットとし、生体単価・保険加入率がともに高い。固定賃料のため損益分岐点は高いが、超過分は利益に直結する。</a:t>
            </a:r>
          </a:p>
        </p:txBody>
      </p:sp>
      <p:sp>
        <p:nvSpPr>
          <p:cNvPr id="35" name="Rounded Rectangle 34"/>
          <p:cNvSpPr/>
          <p:nvPr/>
        </p:nvSpPr>
        <p:spPr>
          <a:xfrm>
            <a:off x="5582411" y="4127040"/>
            <a:ext cx="4494275" cy="588198"/>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36" name="Oval 35"/>
          <p:cNvSpPr/>
          <p:nvPr/>
        </p:nvSpPr>
        <p:spPr>
          <a:xfrm>
            <a:off x="5692139" y="4201683"/>
            <a:ext cx="219456" cy="219456"/>
          </a:xfrm>
          <a:prstGeom prst="ellipse">
            <a:avLst/>
          </a:prstGeom>
          <a:solidFill>
            <a:srgbClr val="1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37" name="TextBox 36"/>
          <p:cNvSpPr txBox="1"/>
          <p:nvPr/>
        </p:nvSpPr>
        <p:spPr>
          <a:xfrm>
            <a:off x="5984747" y="4166101"/>
            <a:ext cx="4091939" cy="510076"/>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2025年11月期の地代家賃33,249千円（前期19,460千円）は路面店2店舗の通期稼働による増加。一方ロイヤリティは45,990→29,982千円と減少しており、売上構成の変化が費用構造に表れている。</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38" name="Rounded Rectangle 37"/>
          <p:cNvSpPr/>
          <p:nvPr/>
        </p:nvSpPr>
        <p:spPr>
          <a:xfrm>
            <a:off x="320040" y="5556895"/>
            <a:ext cx="9921240" cy="868680"/>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39" name="Rounded Rectangle 38"/>
          <p:cNvSpPr/>
          <p:nvPr/>
        </p:nvSpPr>
        <p:spPr>
          <a:xfrm>
            <a:off x="320040" y="5556895"/>
            <a:ext cx="1417320" cy="86868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40" name="Rectangle 39"/>
          <p:cNvSpPr/>
          <p:nvPr/>
        </p:nvSpPr>
        <p:spPr>
          <a:xfrm>
            <a:off x="1600200" y="5556895"/>
            <a:ext cx="137160"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游ゴシック" panose="020B0400000000000000" pitchFamily="50" charset="-128"/>
              <a:ea typeface="游ゴシック" panose="020B0400000000000000" pitchFamily="50" charset="-128"/>
            </a:endParaRPr>
          </a:p>
        </p:txBody>
      </p:sp>
      <p:sp>
        <p:nvSpPr>
          <p:cNvPr id="41" name="TextBox 40"/>
          <p:cNvSpPr txBox="1"/>
          <p:nvPr/>
        </p:nvSpPr>
        <p:spPr>
          <a:xfrm>
            <a:off x="411479" y="5895022"/>
            <a:ext cx="1271016" cy="192425"/>
          </a:xfrm>
          <a:prstGeom prst="rect">
            <a:avLst/>
          </a:prstGeom>
          <a:noFill/>
        </p:spPr>
        <p:txBody>
          <a:bodyPr wrap="square" lIns="0" tIns="0" rIns="0" bIns="0" anchor="ctr">
            <a:spAutoFit/>
          </a:bodyPr>
          <a:lstStyle/>
          <a:p>
            <a:pPr algn="ctr">
              <a:lnSpc>
                <a:spcPct val="108000"/>
              </a:lnSpc>
            </a:pPr>
            <a:r>
              <a:rPr sz="1200" b="1">
                <a:solidFill>
                  <a:srgbClr val="FFFFFF"/>
                </a:solidFill>
                <a:latin typeface="游ゴシック" panose="020B0400000000000000" pitchFamily="50" charset="-128"/>
                <a:ea typeface="游ゴシック" panose="020B0400000000000000" pitchFamily="50" charset="-128"/>
              </a:rPr>
              <a:t>ポイント</a:t>
            </a:r>
          </a:p>
        </p:txBody>
      </p:sp>
      <p:sp>
        <p:nvSpPr>
          <p:cNvPr id="42" name="Oval 41"/>
          <p:cNvSpPr/>
          <p:nvPr/>
        </p:nvSpPr>
        <p:spPr>
          <a:xfrm>
            <a:off x="188366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3" name="TextBox 42"/>
          <p:cNvSpPr txBox="1"/>
          <p:nvPr/>
        </p:nvSpPr>
        <p:spPr>
          <a:xfrm>
            <a:off x="221284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FC店は歩合賃料でロイヤリティに含まれ、
固定費負担が軽い</a:t>
            </a:r>
            <a:endParaRPr sz="1000" b="1" dirty="0">
              <a:solidFill>
                <a:srgbClr val="202020"/>
              </a:solidFill>
              <a:latin typeface="游ゴシック" panose="020B0400000000000000" pitchFamily="50" charset="-128"/>
              <a:ea typeface="游ゴシック" panose="020B0400000000000000" pitchFamily="50" charset="-128"/>
            </a:endParaRPr>
          </a:p>
        </p:txBody>
      </p:sp>
      <p:sp>
        <p:nvSpPr>
          <p:cNvPr id="44" name="Oval 43"/>
          <p:cNvSpPr/>
          <p:nvPr/>
        </p:nvSpPr>
        <p:spPr>
          <a:xfrm>
            <a:off x="471830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5" name="TextBox 44"/>
          <p:cNvSpPr txBox="1"/>
          <p:nvPr/>
        </p:nvSpPr>
        <p:spPr>
          <a:xfrm>
            <a:off x="504748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路面店は固定賃料。損益分岐点は高いが、
超過分は利益に直結する</a:t>
            </a:r>
            <a:endParaRPr sz="1000" b="1" dirty="0">
              <a:solidFill>
                <a:srgbClr val="202020"/>
              </a:solidFill>
              <a:latin typeface="游ゴシック" panose="020B0400000000000000" pitchFamily="50" charset="-128"/>
              <a:ea typeface="游ゴシック" panose="020B0400000000000000" pitchFamily="50" charset="-128"/>
            </a:endParaRPr>
          </a:p>
        </p:txBody>
      </p:sp>
      <p:cxnSp>
        <p:nvCxnSpPr>
          <p:cNvPr id="46" name="Connector 45"/>
          <p:cNvCxnSpPr/>
          <p:nvPr/>
        </p:nvCxnSpPr>
        <p:spPr>
          <a:xfrm>
            <a:off x="457200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55294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8" name="TextBox 47"/>
          <p:cNvSpPr txBox="1"/>
          <p:nvPr/>
        </p:nvSpPr>
        <p:spPr>
          <a:xfrm>
            <a:off x="7882127" y="5827953"/>
            <a:ext cx="2304283" cy="326564"/>
          </a:xfrm>
          <a:prstGeom prst="rect">
            <a:avLst/>
          </a:prstGeom>
          <a:noFill/>
        </p:spPr>
        <p:txBody>
          <a:bodyPr wrap="square" lIns="0" tIns="0" rIns="0" bIns="0" anchor="ctr">
            <a:spAutoFit/>
          </a:bodyPr>
          <a:lstStyle/>
          <a:p>
            <a:pPr algn="l">
              <a:lnSpc>
                <a:spcPct val="108000"/>
              </a:lnSpc>
            </a:pPr>
            <a:r>
              <a:rPr sz="1000" b="1" dirty="0">
                <a:solidFill>
                  <a:srgbClr val="202020"/>
                </a:solidFill>
                <a:latin typeface="游ゴシック" panose="020B0400000000000000" pitchFamily="50" charset="-128"/>
                <a:ea typeface="游ゴシック" panose="020B0400000000000000" pitchFamily="50" charset="-128"/>
              </a:rPr>
              <a:t>粗利率の低下は仕入価格の転嫁遅れが主因。
値付けの見直しが収益改善の鍵</a:t>
            </a:r>
          </a:p>
        </p:txBody>
      </p:sp>
      <p:cxnSp>
        <p:nvCxnSpPr>
          <p:cNvPr id="49" name="Connector 48"/>
          <p:cNvCxnSpPr/>
          <p:nvPr/>
        </p:nvCxnSpPr>
        <p:spPr>
          <a:xfrm>
            <a:off x="740664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0844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4" name="Rounded Rectangle 13"/>
          <p:cNvSpPr/>
          <p:nvPr/>
        </p:nvSpPr>
        <p:spPr>
          <a:xfrm>
            <a:off x="4104000" y="1584000"/>
            <a:ext cx="2340000" cy="540000"/>
          </a:xfrm>
          <a:prstGeom prst="roundRect">
            <a:avLst/>
          </a:prstGeom>
          <a:solidFill>
            <a:srgbClr val="1F3B5B"/>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株主総会</a:t>
            </a:r>
            <a:endParaRPr sz="1400" b="1" dirty="0">
              <a:solidFill>
                <a:srgbClr val="FFFFFF"/>
              </a:solidFill>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4104000" y="2463563"/>
            <a:ext cx="2340000" cy="576000"/>
          </a:xfrm>
          <a:prstGeom prst="roundRect">
            <a:avLst/>
          </a:prstGeom>
          <a:solidFill>
            <a:srgbClr val="2E5A88"/>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代表取締役　淺野 ゆう子
経理全般・金融機関対応</a:t>
            </a:r>
          </a:p>
        </p:txBody>
      </p:sp>
      <p:sp>
        <p:nvSpPr>
          <p:cNvPr id="16" name="Rounded Rectangle 15"/>
          <p:cNvSpPr/>
          <p:nvPr/>
        </p:nvSpPr>
        <p:spPr>
          <a:xfrm>
            <a:off x="7343906" y="2463563"/>
            <a:ext cx="1728000" cy="576000"/>
          </a:xfrm>
          <a:prstGeom prst="roundRect">
            <a:avLst/>
          </a:prstGeom>
          <a:solidFill>
            <a:srgbClr val="7A8A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顧問税理士
堀江将仁税理士事務所</a:t>
            </a:r>
            <a:endParaRPr sz="1200" b="1" dirty="0">
              <a:solidFill>
                <a:srgbClr val="FFFFFF"/>
              </a:solidFill>
              <a:latin typeface="游ゴシック" panose="020B0400000000000000" pitchFamily="50" charset="-128"/>
              <a:ea typeface="游ゴシック" panose="020B0400000000000000" pitchFamily="50" charset="-128"/>
            </a:endParaRPr>
          </a:p>
        </p:txBody>
      </p:sp>
      <p:sp>
        <p:nvSpPr>
          <p:cNvPr id="17" name="Rounded Rectangle 16"/>
          <p:cNvSpPr/>
          <p:nvPr/>
        </p:nvSpPr>
        <p:spPr>
          <a:xfrm>
            <a:off x="4302000" y="3379126"/>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現場責任者　淺野 崇
経営業務・人材育成・店舗管理</a:t>
            </a:r>
          </a:p>
        </p:txBody>
      </p:sp>
      <p:sp>
        <p:nvSpPr>
          <p:cNvPr id="18" name="Rounded Rectangle 17"/>
          <p:cNvSpPr/>
          <p:nvPr/>
        </p:nvSpPr>
        <p:spPr>
          <a:xfrm>
            <a:off x="1682584" y="4644000"/>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ワンラブFC店（4店舗）
正社員8名／アルバイト19名</a:t>
            </a:r>
          </a:p>
        </p:txBody>
      </p:sp>
      <p:grpSp>
        <p:nvGrpSpPr>
          <p:cNvPr id="35" name="グループ化 34">
            <a:extLst>
              <a:ext uri="{FF2B5EF4-FFF2-40B4-BE49-F238E27FC236}">
                <a16:creationId xmlns:a16="http://schemas.microsoft.com/office/drawing/2014/main" id="{AC1E647A-CD1D-78EE-4DB1-47F6152361A2}"/>
              </a:ext>
            </a:extLst>
          </p:cNvPr>
          <p:cNvGrpSpPr/>
          <p:nvPr/>
        </p:nvGrpSpPr>
        <p:grpSpPr>
          <a:xfrm>
            <a:off x="3072384" y="5760720"/>
            <a:ext cx="4410643" cy="720002"/>
            <a:chOff x="449263" y="5899125"/>
            <a:chExt cx="4410643" cy="720002"/>
          </a:xfrm>
        </p:grpSpPr>
        <p:sp>
          <p:nvSpPr>
            <p:cNvPr id="19" name="Rounded Rectangle 18"/>
            <p:cNvSpPr/>
            <p:nvPr/>
          </p:nvSpPr>
          <p:spPr>
            <a:xfrm>
              <a:off x="449263" y="5899127"/>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松阪管理センター
正社員1名／アルバイト1名</a:t>
              </a:r>
            </a:p>
          </p:txBody>
        </p:sp>
        <p:sp>
          <p:nvSpPr>
            <p:cNvPr id="20" name="Rounded Rectangle 19"/>
            <p:cNvSpPr/>
            <p:nvPr/>
          </p:nvSpPr>
          <p:spPr>
            <a:xfrm>
              <a:off x="2861985" y="5899125"/>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※大垣管理センターは
2026年2月に閉鎖</a:t>
              </a:r>
            </a:p>
          </p:txBody>
        </p:sp>
      </p:grpSp>
      <p:sp>
        <p:nvSpPr>
          <p:cNvPr id="21" name="Rounded Rectangle 20"/>
          <p:cNvSpPr/>
          <p:nvPr/>
        </p:nvSpPr>
        <p:spPr>
          <a:xfrm>
            <a:off x="6903720" y="4644000"/>
            <a:ext cx="224028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おっきなもふもふ応援隊（2店舗）
正社員5名／アルバイト13名</a:t>
            </a:r>
            <a:endParaRPr lang="en-US" altLang="ja-JP" sz="1100" b="0" dirty="0">
              <a:solidFill>
                <a:srgbClr val="FFFFFF"/>
              </a:solidFill>
              <a:latin typeface="游ゴシック" panose="020B0400000000000000" pitchFamily="50" charset="-128"/>
              <a:ea typeface="游ゴシック" panose="020B0400000000000000" pitchFamily="50" charset="-128"/>
            </a:endParaRPr>
          </a:p>
        </p:txBody>
      </p:sp>
      <p:sp>
        <p:nvSpPr>
          <p:cNvPr id="30" name="TextBox 29"/>
          <p:cNvSpPr txBox="1"/>
          <p:nvPr/>
        </p:nvSpPr>
        <p:spPr>
          <a:xfrm>
            <a:off x="310896" y="1296002"/>
            <a:ext cx="3703320" cy="1062273"/>
          </a:xfrm>
          <a:prstGeom prst="rect">
            <a:avLst/>
          </a:prstGeom>
          <a:noFill/>
        </p:spPr>
        <p:txBody>
          <a:bodyPr wrap="square" lIns="36000" tIns="18000" rIns="36000" bIns="18000" anchor="t">
            <a:spAutoFit/>
          </a:bodyPr>
          <a:lstStyle/>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【人員構成】（2026年9月時点）</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役員　　　：2名　　正社員　：14名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アルバイト：33名　合計　　：49名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※取締役会・監査役はいずれも非設置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※従業員名簿の在籍者49名の内訳。撤退した</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大垣店・岐阜店および大垣管理センターに</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在籍者はいない</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※図中の各ブロックはP.22「従業員構成」の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部署・店舗と対応している</a:t>
            </a:r>
          </a:p>
        </p:txBody>
      </p:sp>
      <p:cxnSp>
        <p:nvCxnSpPr>
          <p:cNvPr id="4" name="直線コネクタ 3">
            <a:extLst>
              <a:ext uri="{FF2B5EF4-FFF2-40B4-BE49-F238E27FC236}">
                <a16:creationId xmlns:a16="http://schemas.microsoft.com/office/drawing/2014/main" id="{6910554C-A8F7-2E7B-2187-2EB8E4D6CD80}"/>
              </a:ext>
            </a:extLst>
          </p:cNvPr>
          <p:cNvCxnSpPr>
            <a:cxnSpLocks/>
            <a:stCxn id="14" idx="2"/>
            <a:endCxn id="15" idx="0"/>
          </p:cNvCxnSpPr>
          <p:nvPr/>
        </p:nvCxnSpPr>
        <p:spPr>
          <a:xfrm>
            <a:off x="5274000" y="2124000"/>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直線コネクタ 6">
            <a:extLst>
              <a:ext uri="{FF2B5EF4-FFF2-40B4-BE49-F238E27FC236}">
                <a16:creationId xmlns:a16="http://schemas.microsoft.com/office/drawing/2014/main" id="{8DB271CB-D244-AEE5-0208-F67269BCA98A}"/>
              </a:ext>
            </a:extLst>
          </p:cNvPr>
          <p:cNvCxnSpPr>
            <a:cxnSpLocks/>
            <a:stCxn id="15" idx="2"/>
            <a:endCxn id="17" idx="0"/>
          </p:cNvCxnSpPr>
          <p:nvPr/>
        </p:nvCxnSpPr>
        <p:spPr>
          <a:xfrm>
            <a:off x="5274000" y="3039563"/>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コネクタ: カギ線 10">
            <a:extLst>
              <a:ext uri="{FF2B5EF4-FFF2-40B4-BE49-F238E27FC236}">
                <a16:creationId xmlns:a16="http://schemas.microsoft.com/office/drawing/2014/main" id="{2136E07C-342C-3DF0-731D-7777EA98F187}"/>
              </a:ext>
            </a:extLst>
          </p:cNvPr>
          <p:cNvCxnSpPr>
            <a:cxnSpLocks/>
            <a:stCxn id="17" idx="2"/>
            <a:endCxn id="18" idx="0"/>
          </p:cNvCxnSpPr>
          <p:nvPr/>
        </p:nvCxnSpPr>
        <p:spPr>
          <a:xfrm rot="5400000">
            <a:off x="3691855" y="3061855"/>
            <a:ext cx="544874" cy="2619416"/>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コネクタ: カギ線 36">
            <a:extLst>
              <a:ext uri="{FF2B5EF4-FFF2-40B4-BE49-F238E27FC236}">
                <a16:creationId xmlns:a16="http://schemas.microsoft.com/office/drawing/2014/main" id="{A1C87416-FE65-6B10-1435-012AD1EB9084}"/>
              </a:ext>
            </a:extLst>
          </p:cNvPr>
          <p:cNvCxnSpPr>
            <a:cxnSpLocks/>
            <a:stCxn id="17" idx="2"/>
            <a:endCxn id="21" idx="0"/>
          </p:cNvCxnSpPr>
          <p:nvPr/>
        </p:nvCxnSpPr>
        <p:spPr>
          <a:xfrm rot="16200000" flipH="1">
            <a:off x="6383178" y="2989948"/>
            <a:ext cx="544874" cy="2763230"/>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276088" y="4105656"/>
            <a:ext cx="0" cy="1472184"/>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69080" y="5577840"/>
            <a:ext cx="2414016" cy="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69080"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483096"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8612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従業員構成</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2026年9月時点で在籍が確認できる従業員は49名（役員2名、正社員14名、アルバイト33名）。不採算2店舗の撤退に伴い、2025年12月以降に57名が退職している。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465133"/>
          <a:ext cx="10040112" cy="3877056"/>
        </p:xfrm>
        <a:graphic>
          <a:graphicData uri="http://schemas.openxmlformats.org/drawingml/2006/table">
            <a:tbl>
              <a:tblPr/>
              <a:tblGrid>
                <a:gridCol w="274320">
                  <a:extLst>
                    <a:ext uri="{9D8B030D-6E8A-4147-A177-3AD203B41FA5}">
                      <a16:colId xmlns:a16="http://schemas.microsoft.com/office/drawing/2014/main" val="2009964781"/>
                    </a:ext>
                  </a:extLst>
                </a:gridCol>
                <a:gridCol w="2286000">
                  <a:extLst>
                    <a:ext uri="{9D8B030D-6E8A-4147-A177-3AD203B41FA5}">
                      <a16:colId xmlns:a16="http://schemas.microsoft.com/office/drawing/2014/main" val="2892268224"/>
                    </a:ext>
                  </a:extLst>
                </a:gridCol>
                <a:gridCol w="530352">
                  <a:extLst>
                    <a:ext uri="{9D8B030D-6E8A-4147-A177-3AD203B41FA5}">
                      <a16:colId xmlns:a16="http://schemas.microsoft.com/office/drawing/2014/main" val="1250532957"/>
                    </a:ext>
                  </a:extLst>
                </a:gridCol>
                <a:gridCol w="566928">
                  <a:extLst>
                    <a:ext uri="{9D8B030D-6E8A-4147-A177-3AD203B41FA5}">
                      <a16:colId xmlns:a16="http://schemas.microsoft.com/office/drawing/2014/main" val="2143222230"/>
                    </a:ext>
                  </a:extLst>
                </a:gridCol>
                <a:gridCol w="475488">
                  <a:extLst>
                    <a:ext uri="{9D8B030D-6E8A-4147-A177-3AD203B41FA5}">
                      <a16:colId xmlns:a16="http://schemas.microsoft.com/office/drawing/2014/main" val="781273896"/>
                    </a:ext>
                  </a:extLst>
                </a:gridCol>
                <a:gridCol w="640080">
                  <a:extLst>
                    <a:ext uri="{9D8B030D-6E8A-4147-A177-3AD203B41FA5}">
                      <a16:colId xmlns:a16="http://schemas.microsoft.com/office/drawing/2014/main" val="2143180587"/>
                    </a:ext>
                  </a:extLst>
                </a:gridCol>
                <a:gridCol w="658368">
                  <a:extLst>
                    <a:ext uri="{9D8B030D-6E8A-4147-A177-3AD203B41FA5}">
                      <a16:colId xmlns:a16="http://schemas.microsoft.com/office/drawing/2014/main" val="705162408"/>
                    </a:ext>
                  </a:extLst>
                </a:gridCol>
                <a:gridCol w="640080">
                  <a:extLst>
                    <a:ext uri="{9D8B030D-6E8A-4147-A177-3AD203B41FA5}">
                      <a16:colId xmlns:a16="http://schemas.microsoft.com/office/drawing/2014/main" val="1493568873"/>
                    </a:ext>
                  </a:extLst>
                </a:gridCol>
                <a:gridCol w="969264">
                  <a:extLst>
                    <a:ext uri="{9D8B030D-6E8A-4147-A177-3AD203B41FA5}">
                      <a16:colId xmlns:a16="http://schemas.microsoft.com/office/drawing/2014/main" val="2652574131"/>
                    </a:ext>
                  </a:extLst>
                </a:gridCol>
                <a:gridCol w="2999232">
                  <a:extLst>
                    <a:ext uri="{9D8B030D-6E8A-4147-A177-3AD203B41FA5}">
                      <a16:colId xmlns:a16="http://schemas.microsoft.com/office/drawing/2014/main" val="3699930150"/>
                    </a:ext>
                  </a:extLst>
                </a:gridCol>
                <a:gridCol w="0">
                  <a:extLst>
                    <a:ext uri="{9D8B030D-6E8A-4147-A177-3AD203B41FA5}">
                      <a16:colId xmlns:a16="http://schemas.microsoft.com/office/drawing/2014/main" val="3457569815"/>
                    </a:ext>
                  </a:extLst>
                </a:gridCol>
              </a:tblGrid>
              <a:tr h="14630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gridSpan="2">
                  <a:txBody>
                    <a:bodyPr/>
                    <a:lstStyle/>
                    <a:p>
                      <a:pPr algn="r" fontAlgn="ctr">
                        <a:buNone/>
                      </a:pPr>
                      <a:r>
                        <a:rPr lang="ja-JP" altLang="en-US"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extLst>
                  <a:ext uri="{0D108BD9-81ED-4DB2-BD59-A6C34878D82A}">
                    <a16:rowId xmlns:a16="http://schemas.microsoft.com/office/drawing/2014/main" val="3764227106"/>
                  </a:ext>
                </a:extLst>
              </a:tr>
              <a:tr h="47548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正社員
等(名)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アルバ
イト(名)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合計
(名)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平均勤続
年数(年)</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動物取扱
責任者</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進行期7か月
売上高(千円)</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rgbClr val="FFFFFF"/>
                      </a:solidFill>
                      <a:prstDash val="solid"/>
                      <a:round/>
                      <a:headEnd type="none" w="med" len="med"/>
                      <a:tailEnd type="none" w="med" len="med"/>
                    </a:lnL>
                    <a:lnR>
                      <a:noFill/>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本社</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代表取締役 淺野ゆう子氏および現場責任者 淺野崇氏。いずれも給与体系は「役員」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0196605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松阪管理センターと一体で運営されていると推察</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747260770"/>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857659668"/>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09920903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39.9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現場責任者 淺野崇氏が動物取扱責任者を兼務</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424355270"/>
                  </a:ext>
                </a:extLst>
              </a:tr>
              <a:tr h="365760">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5636206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53212797"/>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バックヤード管理／デザイナーズワン㈱の生体管理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724010098"/>
                  </a:ext>
                </a:extLst>
              </a:tr>
              <a:tr h="329184">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※稼働6店舗の合計。ほかに共通部門13,650千円・セキュリティ事業2,945千円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960730710"/>
                  </a:ext>
                </a:extLst>
              </a:tr>
            </a:tbl>
          </a:graphicData>
        </a:graphic>
      </p:graphicFrame>
      <p:sp>
        <p:nvSpPr>
          <p:cNvPr id="14" name="TextBox 13"/>
          <p:cNvSpPr txBox="1"/>
          <p:nvPr/>
        </p:nvSpPr>
        <p:spPr>
          <a:xfrm>
            <a:off x="310896" y="5760720"/>
            <a:ext cx="10040112" cy="1097280"/>
          </a:xfrm>
          <a:prstGeom prst="rect">
            <a:avLst/>
          </a:prstGeom>
          <a:noFill/>
        </p:spPr>
        <p:txBody>
          <a:bodyPr wrap="square">
            <a:spAutoFit/>
          </a:bodyPr>
          <a:lstStyle/>
          <a:p>
            <a:r>
              <a:rPr sz="800">
                <a:latin typeface="游ゴシック Medium"/>
              </a:rPr>
              <a:t>※出所：対象会社提供「従業員名簿（全従業員195名）」。退職年月日が入力されていない49名を在籍者として集計。平均年齢・平均勤続年数は2026年9月23日時点。</a:t>
            </a:r>
          </a:p>
          <a:p>
            <a:r>
              <a:rPr sz="800">
                <a:latin typeface="游ゴシック Medium"/>
              </a:rPr>
              <a:t>※本名簿は2026年8月27日入社・同年8月31日退職までを収録しており、足元の異動を反映している。195名のうち146名が退職済（2025年12月以降の退職57名）。</a:t>
            </a:r>
          </a:p>
          <a:p>
            <a:r>
              <a:rPr sz="800">
                <a:latin typeface="游ゴシック Medium"/>
              </a:rPr>
              <a:t>※撤退したアクアウォーク大垣店・ペットプラザ岐阜店および大垣管理センターには在籍者がいない。店舗別試算表で両店の売上が2026年1月・2月で終了していることと整合する。</a:t>
            </a:r>
          </a:p>
          <a:p>
            <a:r>
              <a:rPr sz="800">
                <a:latin typeface="游ゴシック Medium"/>
              </a:rPr>
              <a:t>※役員2名（代表取締役 淺野ゆう子氏／現場責任者 淺野崇氏）は入社日の登録がないため、平均勤続年数の集計対象外。</a:t>
            </a:r>
          </a:p>
          <a:p>
            <a:r>
              <a:rPr sz="800">
                <a:latin typeface="游ゴシック Medium"/>
              </a:rPr>
              <a:t>※動物取扱責任者欄の「○」は各事業所に配置済、「※」は他事業所の責任者が兼務していると推察されるもの（要確認）。</a:t>
            </a:r>
          </a:p>
        </p:txBody>
      </p:sp>
    </p:spTree>
    <p:extLst>
      <p:ext uri="{BB962C8B-B14F-4D97-AF65-F5344CB8AC3E}">
        <p14:creationId xmlns:p14="http://schemas.microsoft.com/office/powerpoint/2010/main" val="453025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03609-222B-9ED1-3971-FD74357068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1341D04-ECAD-EC45-3E0F-0A6E48CF0055}"/>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拠点概要（本社・管理センター）</a:t>
            </a:r>
          </a:p>
        </p:txBody>
      </p:sp>
      <p:sp>
        <p:nvSpPr>
          <p:cNvPr id="2" name="正方形/長方形 1">
            <a:extLst>
              <a:ext uri="{FF2B5EF4-FFF2-40B4-BE49-F238E27FC236}">
                <a16:creationId xmlns:a16="http://schemas.microsoft.com/office/drawing/2014/main" id="{B911B5B5-26E9-D443-5D18-24CB337DC6C2}"/>
              </a:ext>
            </a:extLst>
          </p:cNvPr>
          <p:cNvSpPr/>
          <p:nvPr/>
        </p:nvSpPr>
        <p:spPr>
          <a:xfrm>
            <a:off x="311151" y="1517736"/>
            <a:ext cx="256032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游ゴシック" panose="020B0400000000000000" pitchFamily="50" charset="-128"/>
                <a:ea typeface="游ゴシック" panose="020B0400000000000000" pitchFamily="50" charset="-128"/>
              </a:rPr>
              <a:t>本社・管理センター</a:t>
            </a:r>
          </a:p>
        </p:txBody>
      </p:sp>
      <p:sp>
        <p:nvSpPr>
          <p:cNvPr id="6" name="タイトル 1">
            <a:extLst>
              <a:ext uri="{FF2B5EF4-FFF2-40B4-BE49-F238E27FC236}">
                <a16:creationId xmlns:a16="http://schemas.microsoft.com/office/drawing/2014/main" id="{4135B88D-7C29-09E2-3480-0C15210B559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FA3810D3-D283-20FC-70FC-01CAB5A3A25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本社は岐阜県大垣市。登記上の本店であり、代表者の自宅を法人が賃借している。このほか、バックヤード管理と仕入先デザイナーズワン㈱の生体管理を担う管理センターを大垣・松阪の2箇所に置く。</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6">
            <a:extLst>
              <a:ext uri="{FF2B5EF4-FFF2-40B4-BE49-F238E27FC236}">
                <a16:creationId xmlns:a16="http://schemas.microsoft.com/office/drawing/2014/main" id="{243A9EB5-5D9C-4429-9545-A042FCFAE03D}"/>
              </a:ext>
            </a:extLst>
          </p:cNvPr>
          <p:cNvGraphicFramePr>
            <a:graphicFrameLocks noGrp="1"/>
          </p:cNvGraphicFramePr>
          <p:nvPr>
            <p:extLst>
              <p:ext uri="{D42A27DB-BD31-4B8C-83A1-F6EECF244321}">
                <p14:modId xmlns:p14="http://schemas.microsoft.com/office/powerpoint/2010/main" val="3161184044"/>
              </p:ext>
            </p:extLst>
          </p:nvPr>
        </p:nvGraphicFramePr>
        <p:xfrm>
          <a:off x="311150" y="2252849"/>
          <a:ext cx="9930384" cy="1591056"/>
        </p:xfrm>
        <a:graphic>
          <a:graphicData uri="http://schemas.openxmlformats.org/drawingml/2006/table">
            <a:tbl>
              <a:tblPr/>
              <a:tblGrid>
                <a:gridCol w="2926080">
                  <a:extLst>
                    <a:ext uri="{9D8B030D-6E8A-4147-A177-3AD203B41FA5}">
                      <a16:colId xmlns:a16="http://schemas.microsoft.com/office/drawing/2014/main" val="3476428286"/>
                    </a:ext>
                  </a:extLst>
                </a:gridCol>
                <a:gridCol w="1965960">
                  <a:extLst>
                    <a:ext uri="{9D8B030D-6E8A-4147-A177-3AD203B41FA5}">
                      <a16:colId xmlns:a16="http://schemas.microsoft.com/office/drawing/2014/main" val="2339241926"/>
                    </a:ext>
                  </a:extLst>
                </a:gridCol>
                <a:gridCol w="658368">
                  <a:extLst>
                    <a:ext uri="{9D8B030D-6E8A-4147-A177-3AD203B41FA5}">
                      <a16:colId xmlns:a16="http://schemas.microsoft.com/office/drawing/2014/main" val="493417906"/>
                    </a:ext>
                  </a:extLst>
                </a:gridCol>
                <a:gridCol w="658368">
                  <a:extLst>
                    <a:ext uri="{9D8B030D-6E8A-4147-A177-3AD203B41FA5}">
                      <a16:colId xmlns:a16="http://schemas.microsoft.com/office/drawing/2014/main" val="773435530"/>
                    </a:ext>
                  </a:extLst>
                </a:gridCol>
                <a:gridCol w="658368">
                  <a:extLst>
                    <a:ext uri="{9D8B030D-6E8A-4147-A177-3AD203B41FA5}">
                      <a16:colId xmlns:a16="http://schemas.microsoft.com/office/drawing/2014/main" val="1444742129"/>
                    </a:ext>
                  </a:extLst>
                </a:gridCol>
                <a:gridCol w="3063240">
                  <a:extLst>
                    <a:ext uri="{9D8B030D-6E8A-4147-A177-3AD203B41FA5}">
                      <a16:colId xmlns:a16="http://schemas.microsoft.com/office/drawing/2014/main" val="190350001"/>
                    </a:ext>
                  </a:extLst>
                </a:gridCol>
              </a:tblGrid>
              <a:tr h="384048">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所在地</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契約形態</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延床面積
(㎡)</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月間賃料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敷金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1270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37362628"/>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本社：岐阜県大垣市青柳町3丁目227番地2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賃貸借（貸主：個人）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83</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登記上の本店。代表者自宅。2025年11月期の年間家賃1,000千円</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大垣管理センター：岐阜県大垣市上面4丁目17-1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賃貸借（大東建託パートナーズ㈱）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48</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ペット出産用施設として計上。年間家賃574千円。所在地の特定は要確認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松阪管理センター：三重県松阪市（要確認）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賃貸借（ジェイリース㈱）</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202</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決算書上は「明和店倉庫」として年間家賃2,420千円を計上。同一施設か要確認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bl>
          </a:graphicData>
        </a:graphic>
      </p:graphicFrame>
      <p:sp>
        <p:nvSpPr>
          <p:cNvPr id="10" name="正方形/長方形 9">
            <a:extLst>
              <a:ext uri="{FF2B5EF4-FFF2-40B4-BE49-F238E27FC236}">
                <a16:creationId xmlns:a16="http://schemas.microsoft.com/office/drawing/2014/main" id="{31921F09-68E7-1C7E-815D-C79453CBABBF}"/>
              </a:ext>
            </a:extLst>
          </p:cNvPr>
          <p:cNvSpPr/>
          <p:nvPr/>
        </p:nvSpPr>
        <p:spPr>
          <a:xfrm>
            <a:off x="310896" y="4023360"/>
            <a:ext cx="9930384" cy="26517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【拠点の役割と留意点】</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本社（大垣市青柳町）：登記上の本店であり、代表者の自宅を法人が賃借している（貸主は個人、2025年11月期の年間家賃1,000千円）。経理・仕入管理等の管理機能を担う。譲渡後の賃貸借契約の継続または本店移転の要否は要確認。</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大垣管理センター／松阪管理センター：店舗のバックヤード管理（生体の一時預かり・健康管理）に加え、仕入先であるデザイナーズワン株式会社（代表者の親族が経営）の生体管理を受託している。2025年11月期末の棚卸資産のうち、本社管理分32,000千円・バックヤード管理分12,000千円・外部保管在庫10,000千円が両センター等で管理され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上記のほか、従業員社宅（㈱エポスカード／年間家賃513千円）を賃借している。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2025年11月期の地代家賃合計は33,249千円。うち店舗分（緑店・岐阜総本店・大阪総本店）が28,558千円、本社・管理センター・社宅分が4,507千円、大垣店駐車場地代が185千円。</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※出所：2025年11月期「地代家賃等の内訳書」。延床面積・敷金・契約期間は資料未受領のため要確認。月間賃料は年間支払賃借料を12で除した参考値。</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655519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主要仕入先の3期推移</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ジャペル㈱とFC本部の㈲ワンラブの2社で仕入高の約75%を構成。2024年11月期以降は個人ブリーダーからの直接仕入を拡大し、大型犬専門店の商品調達を多様化している。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3">
            <a:extLst>
              <a:ext uri="{FF2B5EF4-FFF2-40B4-BE49-F238E27FC236}">
                <a16:creationId xmlns:a16="http://schemas.microsoft.com/office/drawing/2014/main" id="{AF5ABF4B-AE9A-2816-EAD7-AAB16BC7FF1F}"/>
              </a:ext>
            </a:extLst>
          </p:cNvPr>
          <p:cNvGraphicFramePr>
            <a:graphicFrameLocks noGrp="1"/>
          </p:cNvGraphicFramePr>
          <p:nvPr>
            <p:extLst>
              <p:ext uri="{D42A27DB-BD31-4B8C-83A1-F6EECF244321}">
                <p14:modId xmlns:p14="http://schemas.microsoft.com/office/powerpoint/2010/main" val="1737593560"/>
              </p:ext>
            </p:extLst>
          </p:nvPr>
        </p:nvGraphicFramePr>
        <p:xfrm>
          <a:off x="310896" y="1517305"/>
          <a:ext cx="10241280" cy="2377440"/>
        </p:xfrm>
        <a:graphic>
          <a:graphicData uri="http://schemas.openxmlformats.org/drawingml/2006/table">
            <a:tbl>
              <a:tblPr/>
              <a:tblGrid>
                <a:gridCol w="19202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786384">
                  <a:extLst>
                    <a:ext uri="{9D8B030D-6E8A-4147-A177-3AD203B41FA5}">
                      <a16:colId xmlns:a16="http://schemas.microsoft.com/office/drawing/2014/main" val="20006"/>
                    </a:ext>
                  </a:extLst>
                </a:gridCol>
              </a:tblGrid>
              <a:tr h="420624">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仕入先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業種／仕入内容</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構成比
(25年11月期)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ジャペル株式会社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愛知県春日井市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肥料・飼料卸売業／生体・飼育用品等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91,166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109,451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107,140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58.8%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有限会社ワンラブ</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愛知県名古屋市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ペット・ペット用品小売業（FC本部）／生体・飼育用品等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44,927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50,158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29,244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16.0%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2"/>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個人ブリーダー（複数）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9,184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17,561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愛知県一宮市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ペット生育業／生体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10,500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12,280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9,400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4"/>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その他約50社（個人含む）</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37,261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39,728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18,899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合計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183,854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220,801</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182,244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6"/>
                  </a:ext>
                </a:extLst>
              </a:tr>
            </a:tbl>
          </a:graphicData>
        </a:graphic>
      </p:graphicFrame>
      <p:sp>
        <p:nvSpPr>
          <p:cNvPr id="10" name="TextBox 14">
            <a:extLst>
              <a:ext uri="{FF2B5EF4-FFF2-40B4-BE49-F238E27FC236}">
                <a16:creationId xmlns:a16="http://schemas.microsoft.com/office/drawing/2014/main" id="{46A477A0-42E5-2D8F-DCCD-59CEEB8A741F}"/>
              </a:ext>
            </a:extLst>
          </p:cNvPr>
          <p:cNvSpPr txBox="1"/>
          <p:nvPr/>
        </p:nvSpPr>
        <p:spPr>
          <a:xfrm>
            <a:off x="310896" y="4096512"/>
            <a:ext cx="10021824" cy="640080"/>
          </a:xfrm>
          <a:prstGeom prst="rect">
            <a:avLst/>
          </a:prstGeom>
          <a:noFill/>
        </p:spPr>
        <p:txBody>
          <a:bodyPr wrap="square" lIns="0" tIns="0" rIns="0" bIns="0" anchor="t">
            <a:spAutoFit/>
          </a:bodyPr>
          <a:lstStyle/>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（単位：千円／税込）</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※出所：対象会社提供の総勘定元帳より「商品仕入高」を集計。各期のPL上の商品仕入高と概ね一致することを確認済。</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※仕入先別の内訳は内部管理資料に基づくため、決算書数値と細部が異なる可能性がある。</a:t>
            </a:r>
          </a:p>
        </p:txBody>
      </p:sp>
      <p:sp>
        <p:nvSpPr>
          <p:cNvPr id="12" name="Rounded Rectangle 15">
            <a:extLst>
              <a:ext uri="{FF2B5EF4-FFF2-40B4-BE49-F238E27FC236}">
                <a16:creationId xmlns:a16="http://schemas.microsoft.com/office/drawing/2014/main" id="{CED272E0-2312-464F-D8F1-085CD0BBE0F2}"/>
              </a:ext>
            </a:extLst>
          </p:cNvPr>
          <p:cNvSpPr/>
          <p:nvPr/>
        </p:nvSpPr>
        <p:spPr>
          <a:xfrm>
            <a:off x="310896" y="4663440"/>
            <a:ext cx="10021824" cy="1463040"/>
          </a:xfrm>
          <a:prstGeom prst="roundRect">
            <a:avLst>
              <a:gd name="adj" fmla="val 6000"/>
            </a:avLst>
          </a:prstGeom>
          <a:solidFill>
            <a:srgbClr val="E1F3FB"/>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2" name="Rounded Rectangle 16">
            <a:extLst>
              <a:ext uri="{FF2B5EF4-FFF2-40B4-BE49-F238E27FC236}">
                <a16:creationId xmlns:a16="http://schemas.microsoft.com/office/drawing/2014/main" id="{3DFEBA6A-6E1C-D020-DAF2-81F2E9C35743}"/>
              </a:ext>
            </a:extLst>
          </p:cNvPr>
          <p:cNvSpPr/>
          <p:nvPr/>
        </p:nvSpPr>
        <p:spPr>
          <a:xfrm>
            <a:off x="310896" y="4663440"/>
            <a:ext cx="1325880" cy="1463040"/>
          </a:xfrm>
          <a:prstGeom prst="roundRect">
            <a:avLst>
              <a:gd name="adj" fmla="val 6000"/>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4" name="Rectangle 17">
            <a:extLst>
              <a:ext uri="{FF2B5EF4-FFF2-40B4-BE49-F238E27FC236}">
                <a16:creationId xmlns:a16="http://schemas.microsoft.com/office/drawing/2014/main" id="{4814532B-18AB-618F-5F72-0173E5D6D6F8}"/>
              </a:ext>
            </a:extLst>
          </p:cNvPr>
          <p:cNvSpPr/>
          <p:nvPr/>
        </p:nvSpPr>
        <p:spPr>
          <a:xfrm>
            <a:off x="1499616" y="4663440"/>
            <a:ext cx="137160" cy="1463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6" name="TextBox 18">
            <a:extLst>
              <a:ext uri="{FF2B5EF4-FFF2-40B4-BE49-F238E27FC236}">
                <a16:creationId xmlns:a16="http://schemas.microsoft.com/office/drawing/2014/main" id="{841EFDCB-6A37-96B6-940C-10B7B272E93B}"/>
              </a:ext>
            </a:extLst>
          </p:cNvPr>
          <p:cNvSpPr txBox="1"/>
          <p:nvPr/>
        </p:nvSpPr>
        <p:spPr>
          <a:xfrm>
            <a:off x="365760" y="5074920"/>
            <a:ext cx="1216152" cy="210312"/>
          </a:xfrm>
          <a:prstGeom prst="rect">
            <a:avLst/>
          </a:prstGeom>
          <a:noFill/>
        </p:spPr>
        <p:txBody>
          <a:bodyPr wrap="square" lIns="0" tIns="0" rIns="0" bIns="0" anchor="ctr">
            <a:spAutoFit/>
          </a:bodyPr>
          <a:lstStyle/>
          <a:p>
            <a:pPr algn="ctr">
              <a:lnSpc>
                <a:spcPct val="115000"/>
              </a:lnSpc>
            </a:pPr>
            <a:r>
              <a:rPr sz="1250" b="1">
                <a:solidFill>
                  <a:srgbClr val="FFFFFF"/>
                </a:solidFill>
                <a:latin typeface="游ゴシック" panose="020B0400000000000000" pitchFamily="50" charset="-128"/>
                <a:ea typeface="游ゴシック" panose="020B0400000000000000" pitchFamily="50" charset="-128"/>
              </a:rPr>
              <a:t>ポイント</a:t>
            </a:r>
          </a:p>
        </p:txBody>
      </p:sp>
      <p:sp>
        <p:nvSpPr>
          <p:cNvPr id="28" name="TextBox 19">
            <a:extLst>
              <a:ext uri="{FF2B5EF4-FFF2-40B4-BE49-F238E27FC236}">
                <a16:creationId xmlns:a16="http://schemas.microsoft.com/office/drawing/2014/main" id="{8AE6C81F-DDA0-25BA-BF55-5FF73D4BD39C}"/>
              </a:ext>
            </a:extLst>
          </p:cNvPr>
          <p:cNvSpPr txBox="1"/>
          <p:nvPr/>
        </p:nvSpPr>
        <p:spPr>
          <a:xfrm>
            <a:off x="1783080" y="4828032"/>
            <a:ext cx="8458200" cy="1133856"/>
          </a:xfrm>
          <a:prstGeom prst="rect">
            <a:avLst/>
          </a:prstGeom>
          <a:noFill/>
        </p:spPr>
        <p:txBody>
          <a:bodyPr wrap="square" lIns="0" tIns="0" rIns="0" bIns="0" anchor="t">
            <a:spAutoFit/>
          </a:bodyPr>
          <a:lstStyle/>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ジャペル㈱・㈲ワンラブの上位2社で仕入高の約75%。いずれも創業来の継続取引であり、供給の安定性は高い。</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デザイナーズワン㈱は代表者の親族が経営する会社。当社は同社の営業権（簿価1,500千円）を保有し、松阪管理センターで同社の生体を管理している（大垣管理センターは2026年2月に閉鎖）。取引条件の妥当性は要確認。</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生体はFC本部がオークション会場で仕入れ、マイクロチップ埋込・ワクチン接種等の処理を済ませたうえで当社へ供給される。</a:t>
            </a:r>
          </a:p>
        </p:txBody>
      </p:sp>
    </p:spTree>
    <p:extLst>
      <p:ext uri="{BB962C8B-B14F-4D97-AF65-F5344CB8AC3E}">
        <p14:creationId xmlns:p14="http://schemas.microsoft.com/office/powerpoint/2010/main" val="2567748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店舗一覧（賃貸借条件）</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稼働6店舗はすべて賃借。FC加盟の3店舗はFC本部から転借し店舗使用料は売上歩合、緑店と大型犬専門店2店舗は固定賃料である。大阪総本店は2027年11月に期間満了を迎えるため再契約の見通しが論点。</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3" cy="3236976"/>
        </p:xfrm>
        <a:graphic>
          <a:graphicData uri="http://schemas.openxmlformats.org/drawingml/2006/table">
            <a:tbl>
              <a:tblPr/>
              <a:tblGrid>
                <a:gridCol w="256032">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508760">
                  <a:extLst>
                    <a:ext uri="{9D8B030D-6E8A-4147-A177-3AD203B41FA5}">
                      <a16:colId xmlns:a16="http://schemas.microsoft.com/office/drawing/2014/main" val="20006"/>
                    </a:ext>
                  </a:extLst>
                </a:gridCol>
                <a:gridCol w="804672">
                  <a:extLst>
                    <a:ext uri="{9D8B030D-6E8A-4147-A177-3AD203B41FA5}">
                      <a16:colId xmlns:a16="http://schemas.microsoft.com/office/drawing/2014/main" val="20007"/>
                    </a:ext>
                  </a:extLst>
                </a:gridCol>
              </a:tblGrid>
              <a:tr h="31089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店舗名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業態</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賃貸人</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契約期間</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月額賃料／店舗使用料</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敷金・保証金</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カインズホーム明和店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三重県多気郡明和町中村1236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売上の約15%（歩合）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バローミタス伊勢店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三重県伊勢市船江1-10-190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2020年4月〜2030年4月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売上の11%（歩合）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2"/>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ホームセンターバロー久居店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三重県津市戸木町7869-1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2020年12月〜2030年11月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売上の12%（歩合）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3"/>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ドン・キホーテ緑店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愛知県名古屋市緑区鳥澄1-527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日本商業施設㈱</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749千円／月（年9,285千円）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4"/>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岐阜総本店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岐阜県羽島郡岐南町徳田3-182-1（395.38㎡）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㈱カムテイ</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2023年4月〜2033年1月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640千円／月（年8,153千円）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5"/>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大阪府茨木市東太田1-4-48（421.10㎡）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㈱ドン・キホーテ</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2024年9月〜2027年11月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920千円／月（年10,756千円）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3,600千円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アクアウォーク大垣店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岐阜県大垣市林町6丁目80番21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2026年2月に撤退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ペットプラザ岐阜店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岐阜県岐阜市鶉町3丁目18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2026年1月に撤退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14" name="Rounded Rectangle 13"/>
          <p:cNvSpPr/>
          <p:nvPr/>
        </p:nvSpPr>
        <p:spPr>
          <a:xfrm>
            <a:off x="310896" y="4956048"/>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047488"/>
            <a:ext cx="9692640" cy="402336"/>
          </a:xfrm>
          <a:prstGeom prst="rect">
            <a:avLst/>
          </a:prstGeom>
          <a:noFill/>
        </p:spPr>
        <p:txBody>
          <a:bodyPr wrap="square" lIns="0" tIns="0" rIns="0" bIns="0" anchor="ctr">
            <a:spAutoFit/>
          </a:bodyPr>
          <a:lstStyle/>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①〜③および撤退2店舗はFC本部である㈲ワンラブを経由して転借しており、店舗使用料は売上歩合として販管費の「ロイヤリティ」に計上されている。</a:t>
            </a:r>
          </a:p>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①〜③および⑤⑥の契約書にはCOC条項（会社組織の変更・資本構成の重大な変更時は書面による届出を要し、他法人に合併された場合は契約解除可）がある。④は確認中。</a:t>
            </a:r>
          </a:p>
        </p:txBody>
      </p:sp>
      <p:sp>
        <p:nvSpPr>
          <p:cNvPr id="16" name="TextBox 15"/>
          <p:cNvSpPr txBox="1"/>
          <p:nvPr/>
        </p:nvSpPr>
        <p:spPr>
          <a:xfrm>
            <a:off x="310896" y="5650992"/>
            <a:ext cx="10021824" cy="64008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※出所：2025年11月期「地代家賃等の内訳書」および対象会社提供の既存会社説明資料。面積・敷金・契約期間の「要確認」欄は資料未受領。</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※①明和店はカインズ明和 ペッツワンコーナー、②はバローホームセンター ミタス伊勢店内、③はバローメガストア久居インター店内、④はドン・キホーテ緑店ペット館、⑤はザ・ビッグ岐南店1階 区画No.1、⑥はドン・キホーテ茨木店1階に所在。</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※ペットプラザ岐阜店は2026年1月、アクアウォーク大垣店は2026年2月をもって撤退（店舗別試算表により確認）。撤退に伴う原状回復費用・違約金の有無は要確認。　なお進行期の差入保証金は2026年3月に2,024千円減少しており、うち2,000千円は撤退店舗の敷金返還と推察（仮説）。</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※上記のほか、本社（代表者自宅）・大垣／松阪の管理センター・従業員社宅を賃借している。2025年11月期の地代家賃合計は33,249千円。</a:t>
            </a:r>
          </a:p>
        </p:txBody>
      </p:sp>
    </p:spTree>
    <p:extLst>
      <p:ext uri="{BB962C8B-B14F-4D97-AF65-F5344CB8AC3E}">
        <p14:creationId xmlns:p14="http://schemas.microsoft.com/office/powerpoint/2010/main" val="2178942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保有資産（不動産・設備・車両）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法人所有の不動産は駐車場用地1筆（89.4㎡・簿価2,974千円）のみで、店舗はすべて賃借。有形固定資産の大宗は大型犬専門店2店舗と緑店の内装・設備投資である。</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128016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77393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768096">
                  <a:extLst>
                    <a:ext uri="{9D8B030D-6E8A-4147-A177-3AD203B41FA5}">
                      <a16:colId xmlns:a16="http://schemas.microsoft.com/office/drawing/2014/main" val="20006"/>
                    </a:ext>
                  </a:extLst>
                </a:gridCol>
                <a:gridCol w="1426464">
                  <a:extLst>
                    <a:ext uri="{9D8B030D-6E8A-4147-A177-3AD203B41FA5}">
                      <a16:colId xmlns:a16="http://schemas.microsoft.com/office/drawing/2014/main" val="20007"/>
                    </a:ext>
                  </a:extLst>
                </a:gridCol>
              </a:tblGrid>
              <a:tr h="32918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内容・所在等</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取得時期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耐用
年数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取得原価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期末簿価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土地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駐車場（89.4㎡）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岐阜県大垣市南若森町字柳原227番3</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2025年11月期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時価は要確認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おっきなもふもふ大阪総本店 新装・内装工事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2024年10月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28,950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25,334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空調・照明設備、サイン、外装・消防設備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主に大阪総本店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8〜18年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13,123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11,318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ドン・キホーテ緑店 改装工事（電気・給排水等）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2024年7〜8月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6,211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5,694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水回り工事・外装工事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2024年9月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2,159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2,050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工具器具備品</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展示用什器・陳列ゲージ、冷蔵庫、複合機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各店舗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2022〜2024年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5〜8年</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31,783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6,045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ハイエースバン（トヨタ自動車㈱）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2022年4月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732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ピクシスバン（トヨタ自動車㈱）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2023年7月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1,647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326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8"/>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プリウス（トヨタ自動車㈱）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2020年12月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1,163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備忘価額1円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その他有形固定資産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一括償却資産等（緑店 ゲージ改修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2025年6月 ほか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276</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184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合計（有形固定資産）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91,455</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54,658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（参考）営業権</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デザイナーズワン㈱に係る営業権</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取得経緯・算定根拠は要確認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12"/>
                  </a:ext>
                </a:extLst>
              </a:tr>
            </a:tbl>
          </a:graphicData>
        </a:graphic>
      </p:graphicFrame>
      <p:sp>
        <p:nvSpPr>
          <p:cNvPr id="14" name="Rounded Rectangle 13"/>
          <p:cNvSpPr/>
          <p:nvPr/>
        </p:nvSpPr>
        <p:spPr>
          <a:xfrm>
            <a:off x="310896" y="5504688"/>
            <a:ext cx="10021824" cy="365760"/>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607546"/>
            <a:ext cx="9692640" cy="160044"/>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リース車両3台を賃借（メルセデス・ベンツ GLE Coupe 月195千円／2024年9月〜60ヶ月、同 GLS 月212千円／2024年12月〜60ヶ月、日産オーラ 月60千円／2024年9月〜36ヶ月）。ベンツ2台は非事業用であり、本件実行後に解約予定。</a:t>
            </a:r>
          </a:p>
        </p:txBody>
      </p:sp>
      <p:sp>
        <p:nvSpPr>
          <p:cNvPr id="16" name="TextBox 15"/>
          <p:cNvSpPr txBox="1"/>
          <p:nvPr/>
        </p:nvSpPr>
        <p:spPr>
          <a:xfrm>
            <a:off x="310896" y="6108192"/>
            <a:ext cx="10021824" cy="45720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※出所：2025年11月期「旧定率法・定額法による固定資産減価償却内訳明細書」および「固定資産（土地・建物）の内訳書」。</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※BMW X7（取得原価13,541千円）は2025年11月期中に㈱Luck Autoへ7,562千円で売却し、固定資産売却損968千円を計上している（既存会社説明資料の「進行期に売却済」との記載とは相違。決算書ベースでは2025年11月期中の売却が正）。</a:t>
            </a:r>
          </a:p>
        </p:txBody>
      </p:sp>
    </p:spTree>
    <p:extLst>
      <p:ext uri="{BB962C8B-B14F-4D97-AF65-F5344CB8AC3E}">
        <p14:creationId xmlns:p14="http://schemas.microsoft.com/office/powerpoint/2010/main" val="347202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借入金一覧</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2025年11月期末の長期借入金は191,858千円（9本）。岐阜信用金庫114,883千円、りそな銀行41,386千円、日本政策金融公庫35,589千円。民間6本は代表者の連帯保証および信用保証協会の保証付き。</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256032">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517904">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85953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2212848">
                  <a:extLst>
                    <a:ext uri="{9D8B030D-6E8A-4147-A177-3AD203B41FA5}">
                      <a16:colId xmlns:a16="http://schemas.microsoft.com/office/drawing/2014/main" val="20006"/>
                    </a:ext>
                  </a:extLst>
                </a:gridCol>
                <a:gridCol w="1901952">
                  <a:extLst>
                    <a:ext uri="{9D8B030D-6E8A-4147-A177-3AD203B41FA5}">
                      <a16:colId xmlns:a16="http://schemas.microsoft.com/office/drawing/2014/main" val="20007"/>
                    </a:ext>
                  </a:extLst>
                </a:gridCol>
              </a:tblGrid>
              <a:tr h="40233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借入先</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当初借入額
(千円)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25年11月末
残高(千円)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期中支払
利息(千円)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連帯保証・担保</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借入期間・金利等</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5,829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82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26,040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3,720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9,662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2020年8月〜2030年8月・1.800%（変動）／コロナ関連借入</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100,000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89,171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1,269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18,000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16,050</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⑦</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9,096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代表者連帯保証／愛知県信用保証協会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⑧</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9,632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⑨</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22,658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431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2023年4月〜2028年4月・1.475%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長期借入金 合計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191,858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2,591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（参考）役員借入金</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7,566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譲渡時の返済を希望。2026年6月末の残高は3,403千円へ減少</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14" name="Rounded Rectangle 13"/>
          <p:cNvSpPr/>
          <p:nvPr/>
        </p:nvSpPr>
        <p:spPr>
          <a:xfrm>
            <a:off x="310896" y="5650992"/>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724144"/>
            <a:ext cx="9692640" cy="457200"/>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民間6本は信用保証協会の保証付き、公庫3本はプロパーであり、不動産担保の設定はない（法人が所有する不動産は駐車場用地1筆のみ）。</a:t>
            </a:r>
          </a:p>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進行期の月次試算表では長期借入金が期首残高（191,858千円）のまま据え置かれており、返済額は決算時に一括計上されていると推察（要確認）。</a:t>
            </a:r>
          </a:p>
        </p:txBody>
      </p:sp>
      <p:sp>
        <p:nvSpPr>
          <p:cNvPr id="16" name="TextBox 15"/>
          <p:cNvSpPr txBox="1"/>
          <p:nvPr/>
        </p:nvSpPr>
        <p:spPr>
          <a:xfrm>
            <a:off x="310896" y="6327648"/>
            <a:ext cx="10021824" cy="36576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※出所：2025年11月期「借入金及び支払利子の内訳書」。当初借入額・借入期間・金利は対象会社提供の既存会社説明資料（2024年11月末時点）に基づく。</a:t>
            </a:r>
            <a:endParaRPr lang="en-US" sz="840" b="0" dirty="0">
              <a:solidFill>
                <a:sysClr val="windowText" lastClr="000000"/>
              </a:solidFill>
              <a:latin typeface="游ゴシック" panose="020B0400000000000000" pitchFamily="50" charset="-128"/>
              <a:ea typeface="游ゴシック" panose="020B0400000000000000" pitchFamily="50" charset="-128"/>
            </a:endParaRP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※日本政策金融公庫3本の借入日・完済日・金利は資料未受領のため要確認。</a:t>
            </a:r>
            <a:endParaRPr lang="en-US" sz="840" b="0"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42618433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株主・役員はいずれも代表者の淺野ゆう子氏1名。現場を統括する淺野崇氏（代表者の配偶者）は役員ではなく従業員であり、2事業所の動物取扱責任者を兼務するキーパーソンである。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465133"/>
          <a:ext cx="10021824" cy="4315968"/>
        </p:xfrm>
        <a:graphic>
          <a:graphicData uri="http://schemas.openxmlformats.org/drawingml/2006/table">
            <a:tbl>
              <a:tblPr/>
              <a:tblGrid>
                <a:gridCol w="1280160">
                  <a:extLst>
                    <a:ext uri="{9D8B030D-6E8A-4147-A177-3AD203B41FA5}">
                      <a16:colId xmlns:a16="http://schemas.microsoft.com/office/drawing/2014/main" val="3048251594"/>
                    </a:ext>
                  </a:extLst>
                </a:gridCol>
                <a:gridCol w="1207008">
                  <a:extLst>
                    <a:ext uri="{9D8B030D-6E8A-4147-A177-3AD203B41FA5}">
                      <a16:colId xmlns:a16="http://schemas.microsoft.com/office/drawing/2014/main" val="3771399016"/>
                    </a:ext>
                  </a:extLst>
                </a:gridCol>
                <a:gridCol w="1005840">
                  <a:extLst>
                    <a:ext uri="{9D8B030D-6E8A-4147-A177-3AD203B41FA5}">
                      <a16:colId xmlns:a16="http://schemas.microsoft.com/office/drawing/2014/main" val="2907773081"/>
                    </a:ext>
                  </a:extLst>
                </a:gridCol>
                <a:gridCol w="1005840">
                  <a:extLst>
                    <a:ext uri="{9D8B030D-6E8A-4147-A177-3AD203B41FA5}">
                      <a16:colId xmlns:a16="http://schemas.microsoft.com/office/drawing/2014/main" val="1273101068"/>
                    </a:ext>
                  </a:extLst>
                </a:gridCol>
                <a:gridCol w="1517904">
                  <a:extLst>
                    <a:ext uri="{9D8B030D-6E8A-4147-A177-3AD203B41FA5}">
                      <a16:colId xmlns:a16="http://schemas.microsoft.com/office/drawing/2014/main" val="1948566837"/>
                    </a:ext>
                  </a:extLst>
                </a:gridCol>
                <a:gridCol w="4005072">
                  <a:extLst>
                    <a:ext uri="{9D8B030D-6E8A-4147-A177-3AD203B41FA5}">
                      <a16:colId xmlns:a16="http://schemas.microsoft.com/office/drawing/2014/main" val="2619928501"/>
                    </a:ext>
                  </a:extLst>
                </a:gridCol>
              </a:tblGrid>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保有株式数／議決権割合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82296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100株／100.0%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本件依頼者。株券不発行会社、譲渡制限規定あり（株主総会承認）。設立（2020年12月）以降、株主の変動なし</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182880">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年間役員報酬（25年11月期）</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65836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14,400千円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経理全般・金融機関対応を担当。引継完了後、退任予定</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56692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取締役会・監査役はいずれも非設置。役員は代表取締役1名のみ</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18288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【キーパーソン】</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年間給与（2025年1〜12月）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91440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従業員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崇
（1980年10月生）</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現場責任者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配偶者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7,000千円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経営業務・人材育成・店舗管理を担当。ドン・キホーテ緑店および大垣管理センターの動物取扱責任者。本件は既知であり、譲渡後の継続関与を前提としている（要確認）</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進行期の月次推移（2025年12月〜2026年6月）</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進行期7か月の売上高は279,153千円（前年同期比80.9%）と減収の一方、粗利率は62.5%へ回復し営業利益6,637千円を確保。12月〜1月が最需要期であり、1月単月で営業利益13,407千円を計上している。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465133"/>
          <a:ext cx="9902952" cy="4658868"/>
        </p:xfrm>
        <a:graphic>
          <a:graphicData uri="http://schemas.openxmlformats.org/drawingml/2006/table">
            <a:tbl>
              <a:tblPr/>
              <a:tblGrid>
                <a:gridCol w="1828800">
                  <a:extLst>
                    <a:ext uri="{9D8B030D-6E8A-4147-A177-3AD203B41FA5}">
                      <a16:colId xmlns:a16="http://schemas.microsoft.com/office/drawing/2014/main" val="3316058797"/>
                    </a:ext>
                  </a:extLst>
                </a:gridCol>
                <a:gridCol w="731520">
                  <a:extLst>
                    <a:ext uri="{9D8B030D-6E8A-4147-A177-3AD203B41FA5}">
                      <a16:colId xmlns:a16="http://schemas.microsoft.com/office/drawing/2014/main" val="1380719249"/>
                    </a:ext>
                  </a:extLst>
                </a:gridCol>
                <a:gridCol w="731520">
                  <a:extLst>
                    <a:ext uri="{9D8B030D-6E8A-4147-A177-3AD203B41FA5}">
                      <a16:colId xmlns:a16="http://schemas.microsoft.com/office/drawing/2014/main" val="246846433"/>
                    </a:ext>
                  </a:extLst>
                </a:gridCol>
                <a:gridCol w="731520">
                  <a:extLst>
                    <a:ext uri="{9D8B030D-6E8A-4147-A177-3AD203B41FA5}">
                      <a16:colId xmlns:a16="http://schemas.microsoft.com/office/drawing/2014/main" val="3721573245"/>
                    </a:ext>
                  </a:extLst>
                </a:gridCol>
                <a:gridCol w="731520">
                  <a:extLst>
                    <a:ext uri="{9D8B030D-6E8A-4147-A177-3AD203B41FA5}">
                      <a16:colId xmlns:a16="http://schemas.microsoft.com/office/drawing/2014/main" val="25268631"/>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950976">
                  <a:extLst>
                    <a:ext uri="{9D8B030D-6E8A-4147-A177-3AD203B41FA5}">
                      <a16:colId xmlns:a16="http://schemas.microsoft.com/office/drawing/2014/main" val="1494183210"/>
                    </a:ext>
                  </a:extLst>
                </a:gridCol>
                <a:gridCol w="685800">
                  <a:extLst>
                    <a:ext uri="{9D8B030D-6E8A-4147-A177-3AD203B41FA5}">
                      <a16:colId xmlns:a16="http://schemas.microsoft.com/office/drawing/2014/main" val="3341255910"/>
                    </a:ext>
                  </a:extLst>
                </a:gridCol>
                <a:gridCol w="1316736">
                  <a:extLst>
                    <a:ext uri="{9D8B030D-6E8A-4147-A177-3AD203B41FA5}">
                      <a16:colId xmlns:a16="http://schemas.microsoft.com/office/drawing/2014/main" val="387513537"/>
                    </a:ext>
                  </a:extLst>
                </a:gridCol>
              </a:tblGrid>
              <a:tr h="384048">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2025年
12月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1月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3月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4月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5月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6月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7か月累計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dirty="0">
                          <a:solidFill>
                            <a:srgbClr val="FFFFFF"/>
                          </a:solidFill>
                          <a:effectLst/>
                          <a:latin typeface="游ゴシック" panose="020B0400000000000000" pitchFamily="50" charset="-128"/>
                          <a:ea typeface="游ゴシック" panose="020B0400000000000000" pitchFamily="50" charset="-128"/>
                        </a:rPr>
                        <a:t>前年
同期比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参考：25年11月期
（通期実績）</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1460">
                <a:tc>
                  <a:txBody>
                    <a:bodyPr/>
                    <a:lstStyle/>
                    <a:p>
                      <a:pPr algn="ct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33,442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22,793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19,020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28,992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21,085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17,210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165,117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76.6%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338,295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4,714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3,832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4,171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6,225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4,229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5,140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32,792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106.4%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52,699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14,288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10,195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10,658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11,250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9,148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81,245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167,395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1460">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41,577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51,158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35,902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44,722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37,136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558,390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12,609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18,701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13,951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104,762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77.6%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228,365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23,677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36,246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25,353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23,294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26,021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23,186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16,615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330,024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25,194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22,839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24,296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23,404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28,338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21,773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349,576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従業員給与</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10,068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9,790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9,411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64,180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127,017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広告宣伝費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5,535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15,163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26,651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ロイヤリティ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2,086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1,708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14,193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29,982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地代家賃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3,930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2,860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2,731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19,879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33,249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役員報酬</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6,300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14,400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法定福利費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2,240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 1,018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13,407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5,814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18,575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0303744"/>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当期純利益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42,910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38,187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20,359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3919144"/>
                  </a:ext>
                </a:extLst>
              </a:tr>
            </a:tbl>
          </a:graphicData>
        </a:graphic>
      </p:graphicFrame>
      <p:sp>
        <p:nvSpPr>
          <p:cNvPr id="14" name="TextBox 13"/>
          <p:cNvSpPr txBox="1"/>
          <p:nvPr/>
        </p:nvSpPr>
        <p:spPr>
          <a:xfrm>
            <a:off x="338328" y="6272784"/>
            <a:ext cx="9902952" cy="868680"/>
          </a:xfrm>
          <a:prstGeom prst="rect">
            <a:avLst/>
          </a:prstGeom>
          <a:noFill/>
        </p:spPr>
        <p:txBody>
          <a:bodyPr wrap="square">
            <a:spAutoFit/>
          </a:bodyPr>
          <a:lstStyle/>
          <a:p>
            <a:r>
              <a:rPr sz="800">
                <a:latin typeface="游ゴシック Medium"/>
              </a:rPr>
              <a:t>（単位：千円）※出所：勘定科目残高推移表 2025年12月〜2026年6月（2026年9月18日出力）。「参考」列は第5期決算報告書。</a:t>
            </a:r>
          </a:p>
          <a:p>
            <a:r>
              <a:rPr sz="800">
                <a:latin typeface="游ゴシック Medium"/>
              </a:rPr>
              <a:t>※進行期の月次には減価償却費が計上されていない（2025年11月期の通期実績は6,349千円）。通期ではその分だけ営業利益が減少する見込み（要確認）。</a:t>
            </a:r>
          </a:p>
          <a:p>
            <a:r>
              <a:rPr sz="800">
                <a:latin typeface="游ゴシック Medium"/>
              </a:rPr>
              <a:t>※法定福利費は2025年12月・2026年1月がマイナス計上であり、年末調整・社会保険料の精算処理の影響と推察（仮説）。7か月累計2,779千円は通期実績15,295千円に比して低く、期中未計上分が下期に乗る可能性がある。</a:t>
            </a:r>
          </a:p>
          <a:p>
            <a:r>
              <a:rPr sz="800">
                <a:latin typeface="游ゴシック Medium"/>
              </a:rPr>
              <a:t>※2026年5月の租税公課4,969千円は自動車税・固定資産税等の年次課税と推察（仮説）。同月の営業損失の主因。※2026年3月の特別損失44,000千円は棚卸資産廃棄損（P.31参照）。</a:t>
            </a:r>
          </a:p>
        </p:txBody>
      </p:sp>
    </p:spTree>
    <p:extLst>
      <p:ext uri="{BB962C8B-B14F-4D97-AF65-F5344CB8AC3E}">
        <p14:creationId xmlns:p14="http://schemas.microsoft.com/office/powerpoint/2010/main" val="915540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891F8-DC9B-0C7A-5AA5-FC421CDA878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823C4F2-FDE2-2A7A-88F4-14757C781840}"/>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店舗別損益（進行期7か月）</a:t>
            </a:r>
          </a:p>
        </p:txBody>
      </p:sp>
      <p:sp>
        <p:nvSpPr>
          <p:cNvPr id="4" name="タイトル 1">
            <a:extLst>
              <a:ext uri="{FF2B5EF4-FFF2-40B4-BE49-F238E27FC236}">
                <a16:creationId xmlns:a16="http://schemas.microsoft.com/office/drawing/2014/main" id="{D44DDE09-7FAA-EAAC-AE8C-414FEC9219B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graphicFrame>
        <p:nvGraphicFramePr>
          <p:cNvPr id="9" name="表 8">
            <a:extLst>
              <a:ext uri="{FF2B5EF4-FFF2-40B4-BE49-F238E27FC236}">
                <a16:creationId xmlns:a16="http://schemas.microsoft.com/office/drawing/2014/main" id="{CCA9EF7E-7CE7-5EF8-7F12-B433D524792F}"/>
              </a:ext>
            </a:extLst>
          </p:cNvPr>
          <p:cNvGraphicFramePr>
            <a:graphicFrameLocks noGrp="1"/>
          </p:cNvGraphicFramePr>
          <p:nvPr>
            <p:extLst>
              <p:ext uri="{D42A27DB-BD31-4B8C-83A1-F6EECF244321}">
                <p14:modId xmlns:p14="http://schemas.microsoft.com/office/powerpoint/2010/main" val="3029468883"/>
              </p:ext>
            </p:extLst>
          </p:nvPr>
        </p:nvGraphicFramePr>
        <p:xfrm>
          <a:off x="341313" y="1572768"/>
          <a:ext cx="9902952" cy="3973068"/>
        </p:xfrm>
        <a:graphic>
          <a:graphicData uri="http://schemas.openxmlformats.org/drawingml/2006/table">
            <a:tbl>
              <a:tblPr/>
              <a:tblGrid>
                <a:gridCol w="256032">
                  <a:extLst>
                    <a:ext uri="{9D8B030D-6E8A-4147-A177-3AD203B41FA5}">
                      <a16:colId xmlns:a16="http://schemas.microsoft.com/office/drawing/2014/main" val="3316058797"/>
                    </a:ext>
                  </a:extLst>
                </a:gridCol>
                <a:gridCol w="2606040">
                  <a:extLst>
                    <a:ext uri="{9D8B030D-6E8A-4147-A177-3AD203B41FA5}">
                      <a16:colId xmlns:a16="http://schemas.microsoft.com/office/drawing/2014/main" val="1380719249"/>
                    </a:ext>
                  </a:extLst>
                </a:gridCol>
                <a:gridCol w="1234440">
                  <a:extLst>
                    <a:ext uri="{9D8B030D-6E8A-4147-A177-3AD203B41FA5}">
                      <a16:colId xmlns:a16="http://schemas.microsoft.com/office/drawing/2014/main" val="246846433"/>
                    </a:ext>
                  </a:extLst>
                </a:gridCol>
                <a:gridCol w="1234440">
                  <a:extLst>
                    <a:ext uri="{9D8B030D-6E8A-4147-A177-3AD203B41FA5}">
                      <a16:colId xmlns:a16="http://schemas.microsoft.com/office/drawing/2014/main" val="3721573245"/>
                    </a:ext>
                  </a:extLst>
                </a:gridCol>
                <a:gridCol w="914400">
                  <a:extLst>
                    <a:ext uri="{9D8B030D-6E8A-4147-A177-3AD203B41FA5}">
                      <a16:colId xmlns:a16="http://schemas.microsoft.com/office/drawing/2014/main" val="25268631"/>
                    </a:ext>
                  </a:extLst>
                </a:gridCol>
                <a:gridCol w="640080">
                  <a:extLst>
                    <a:ext uri="{9D8B030D-6E8A-4147-A177-3AD203B41FA5}">
                      <a16:colId xmlns:a16="http://schemas.microsoft.com/office/drawing/2014/main" val="829825544"/>
                    </a:ext>
                  </a:extLst>
                </a:gridCol>
                <a:gridCol w="987552">
                  <a:extLst>
                    <a:ext uri="{9D8B030D-6E8A-4147-A177-3AD203B41FA5}">
                      <a16:colId xmlns:a16="http://schemas.microsoft.com/office/drawing/2014/main" val="1494183210"/>
                    </a:ext>
                  </a:extLst>
                </a:gridCol>
                <a:gridCol w="932688">
                  <a:extLst>
                    <a:ext uri="{9D8B030D-6E8A-4147-A177-3AD203B41FA5}">
                      <a16:colId xmlns:a16="http://schemas.microsoft.com/office/drawing/2014/main" val="3341255910"/>
                    </a:ext>
                  </a:extLst>
                </a:gridCol>
                <a:gridCol w="1097280">
                  <a:extLst>
                    <a:ext uri="{9D8B030D-6E8A-4147-A177-3AD203B41FA5}">
                      <a16:colId xmlns:a16="http://schemas.microsoft.com/office/drawing/2014/main" val="387513537"/>
                    </a:ext>
                  </a:extLst>
                </a:gridCol>
              </a:tblGrid>
              <a:tr h="347472">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部門</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業態</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状況</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構成比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販管費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18,583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18,977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394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17,296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26,675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13,342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13,900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48,926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22,724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26,202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49,078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22,222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26,856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【稼働6店舗 小計】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91.2%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206,145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1,056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1,275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3,031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大垣管理センター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2026年2月に閉鎖</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共通部門（本社）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32,954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58,643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91,597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不採算2店舗の撤退により、進行期は稼働6店舗で100,818千円の店舗貢献利益を計上。大型犬専門2店舗が貢献利益の52.6%を占める一方、明和店は損益均衡にとどまる。</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5852160"/>
            <a:ext cx="9902952" cy="1143000"/>
          </a:xfrm>
          <a:prstGeom prst="rect">
            <a:avLst/>
          </a:prstGeom>
          <a:noFill/>
        </p:spPr>
        <p:txBody>
          <a:bodyPr wrap="square">
            <a:spAutoFit/>
          </a:bodyPr>
          <a:lstStyle/>
          <a:p>
            <a:r>
              <a:rPr sz="800">
                <a:latin typeface="游ゴシック Medium"/>
              </a:rPr>
              <a:t>（単位：千円）※出所：店舗別（部門別）勘定科目残高推移表 2025年12月〜2026年6月（2026年9月18日出力）。部門別の合計は全社の試算表と一致することを確認済。</a:t>
            </a:r>
          </a:p>
          <a:p>
            <a:r>
              <a:rPr sz="800">
                <a:latin typeface="游ゴシック Medium"/>
              </a:rPr>
              <a:t>※店舗別の営業利益は本社費を配賦する前の「店舗貢献利益」であり、役員報酬・本社家賃・広告宣伝費等の本社費は共通部門に一括計上されている。</a:t>
            </a:r>
          </a:p>
          <a:p>
            <a:r>
              <a:rPr sz="800">
                <a:latin typeface="游ゴシック Medium"/>
              </a:rPr>
              <a:t>※共通部門の売上原価46,604千円は、本社で仕入れた商品40,994千円および外注費5,610千円が各店舗へ振り替えられずに共通部門に残っているものと推察される（仮説・要確認）。このため店舗別の粗利・営業利益は実力値より過大に表示されている可能性があり、解釈には留意を要する。</a:t>
            </a:r>
          </a:p>
          <a:p>
            <a:r>
              <a:rPr sz="800">
                <a:latin typeface="游ゴシック Medium"/>
              </a:rPr>
              <a:t>※明和店の販管費は売上高比75.6%と他のFC加盟店（伊勢35.2%・久居39.4%・緑37.6%）に比して高く、松阪管理センターの人件費が含まれていると推察される（仮説・要確認）。</a:t>
            </a:r>
          </a:p>
          <a:p>
            <a:r>
              <a:rPr sz="800">
                <a:latin typeface="游ゴシック Medium"/>
              </a:rPr>
              <a:t>※共通部門の売上13,650千円は月額約195万円で計上されているサービス売上高であり、ペット保険の代理店手数料と推察される（仮説・要確認）。</a:t>
            </a:r>
          </a:p>
        </p:txBody>
      </p:sp>
    </p:spTree>
    <p:extLst>
      <p:ext uri="{BB962C8B-B14F-4D97-AF65-F5344CB8AC3E}">
        <p14:creationId xmlns:p14="http://schemas.microsoft.com/office/powerpoint/2010/main" val="452929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82EF-8053-BAE5-C6BD-622F2C30CB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5081F90-873F-6788-14E3-950832F30EFF}"/>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棚卸資産の内訳（2025年11月期末）</a:t>
            </a:r>
          </a:p>
        </p:txBody>
      </p:sp>
      <p:sp>
        <p:nvSpPr>
          <p:cNvPr id="4" name="タイトル 1">
            <a:extLst>
              <a:ext uri="{FF2B5EF4-FFF2-40B4-BE49-F238E27FC236}">
                <a16:creationId xmlns:a16="http://schemas.microsoft.com/office/drawing/2014/main" id="{487EAEC6-550C-CDEC-0657-1C231A4DB47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graphicFrame>
        <p:nvGraphicFramePr>
          <p:cNvPr id="9" name="表 8">
            <a:extLst>
              <a:ext uri="{FF2B5EF4-FFF2-40B4-BE49-F238E27FC236}">
                <a16:creationId xmlns:a16="http://schemas.microsoft.com/office/drawing/2014/main" id="{4651616C-25FF-A6E7-109B-683B7065E9C1}"/>
              </a:ext>
            </a:extLst>
          </p:cNvPr>
          <p:cNvGraphicFramePr>
            <a:graphicFrameLocks noGrp="1"/>
          </p:cNvGraphicFramePr>
          <p:nvPr>
            <p:extLst>
              <p:ext uri="{D42A27DB-BD31-4B8C-83A1-F6EECF244321}">
                <p14:modId xmlns:p14="http://schemas.microsoft.com/office/powerpoint/2010/main" val="3352292201"/>
              </p:ext>
            </p:extLst>
          </p:nvPr>
        </p:nvGraphicFramePr>
        <p:xfrm>
          <a:off x="341313" y="1572768"/>
          <a:ext cx="9902952" cy="4206240"/>
        </p:xfrm>
        <a:graphic>
          <a:graphicData uri="http://schemas.openxmlformats.org/drawingml/2006/table">
            <a:tbl>
              <a:tblPr/>
              <a:tblGrid>
                <a:gridCol w="2331720">
                  <a:extLst>
                    <a:ext uri="{9D8B030D-6E8A-4147-A177-3AD203B41FA5}">
                      <a16:colId xmlns:a16="http://schemas.microsoft.com/office/drawing/2014/main" val="3316058797"/>
                    </a:ext>
                  </a:extLst>
                </a:gridCol>
                <a:gridCol w="566928">
                  <a:extLst>
                    <a:ext uri="{9D8B030D-6E8A-4147-A177-3AD203B41FA5}">
                      <a16:colId xmlns:a16="http://schemas.microsoft.com/office/drawing/2014/main" val="1380719249"/>
                    </a:ext>
                  </a:extLst>
                </a:gridCol>
                <a:gridCol w="621792">
                  <a:extLst>
                    <a:ext uri="{9D8B030D-6E8A-4147-A177-3AD203B41FA5}">
                      <a16:colId xmlns:a16="http://schemas.microsoft.com/office/drawing/2014/main" val="246846433"/>
                    </a:ext>
                  </a:extLst>
                </a:gridCol>
                <a:gridCol w="658368">
                  <a:extLst>
                    <a:ext uri="{9D8B030D-6E8A-4147-A177-3AD203B41FA5}">
                      <a16:colId xmlns:a16="http://schemas.microsoft.com/office/drawing/2014/main" val="3721573245"/>
                    </a:ext>
                  </a:extLst>
                </a:gridCol>
                <a:gridCol w="713232">
                  <a:extLst>
                    <a:ext uri="{9D8B030D-6E8A-4147-A177-3AD203B41FA5}">
                      <a16:colId xmlns:a16="http://schemas.microsoft.com/office/drawing/2014/main" val="25268631"/>
                    </a:ext>
                  </a:extLst>
                </a:gridCol>
                <a:gridCol w="658368">
                  <a:extLst>
                    <a:ext uri="{9D8B030D-6E8A-4147-A177-3AD203B41FA5}">
                      <a16:colId xmlns:a16="http://schemas.microsoft.com/office/drawing/2014/main" val="829825544"/>
                    </a:ext>
                  </a:extLst>
                </a:gridCol>
                <a:gridCol w="731520">
                  <a:extLst>
                    <a:ext uri="{9D8B030D-6E8A-4147-A177-3AD203B41FA5}">
                      <a16:colId xmlns:a16="http://schemas.microsoft.com/office/drawing/2014/main" val="1494183210"/>
                    </a:ext>
                  </a:extLst>
                </a:gridCol>
                <a:gridCol w="749808">
                  <a:extLst>
                    <a:ext uri="{9D8B030D-6E8A-4147-A177-3AD203B41FA5}">
                      <a16:colId xmlns:a16="http://schemas.microsoft.com/office/drawing/2014/main" val="3341255910"/>
                    </a:ext>
                  </a:extLst>
                </a:gridCol>
                <a:gridCol w="2871216">
                  <a:extLst>
                    <a:ext uri="{9D8B030D-6E8A-4147-A177-3AD203B41FA5}">
                      <a16:colId xmlns:a16="http://schemas.microsoft.com/office/drawing/2014/main" val="387513537"/>
                    </a:ext>
                  </a:extLst>
                </a:gridCol>
              </a:tblGrid>
              <a:tr h="365760">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拠点</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アクア</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小動物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生体：犬猫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物販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合計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決算書の
計上額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6032">
                <a:tc>
                  <a:txBody>
                    <a:bodyPr/>
                    <a:lstStyle/>
                    <a:p>
                      <a:pPr algn="ct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1,295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21,819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決算書上は松阪管理センター分19,669,000円を含めて計上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松阪管理センター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明和店に含めて計上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1,514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3,639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決算書上は中志段味店分108,013円を含めて計上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ワンラブ コメリパワー中志段味店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2024年6月に譲渡済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6,762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【店舗合計】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33,270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52,017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バックヤード</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外部保管分</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仕入先デザイナーズワン㈱への預け在庫</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【全社合計】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67,270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106,017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2025年11月期末の棚卸資産106,017千円のうち店舗在庫は52,017千円。残る本社32,000千円とバックヤード12,000千円の合計44,000千円は、進行期の2026年3月に全額を廃棄損として計上済。</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6035040"/>
            <a:ext cx="9902952" cy="914400"/>
          </a:xfrm>
          <a:prstGeom prst="rect">
            <a:avLst/>
          </a:prstGeom>
          <a:noFill/>
        </p:spPr>
        <p:txBody>
          <a:bodyPr wrap="square">
            <a:spAutoFit/>
          </a:bodyPr>
          <a:lstStyle/>
          <a:p>
            <a:r>
              <a:rPr sz="800">
                <a:latin typeface="游ゴシック Medium"/>
              </a:rPr>
              <a:t>（単位：千円／税抜）※出所：対象会社作成「棚卸表 2025年12月1日時点（最終版）」。全社合計106,017千円は第5期決算書の商品残高と一致する。</a:t>
            </a:r>
          </a:p>
          <a:p>
            <a:r>
              <a:rPr sz="800">
                <a:latin typeface="游ゴシック Medium"/>
              </a:rPr>
              <a:t>※「決算書の計上額」は第5期決算報告書「売上高等の事業所別内訳書」の期末棚卸高。松阪管理センターは明和店に、中志段味店は緑店に含めて計上されている。</a:t>
            </a:r>
          </a:p>
          <a:p>
            <a:r>
              <a:rPr sz="800">
                <a:latin typeface="游ゴシック Medium"/>
              </a:rPr>
              <a:t>※本社32,000千円＋バックヤード12,000千円＝44,000千円は、進行期の2026年3月に棚卸資産廃棄損として全額を特別損失に計上済。廃棄に至った理由・処分方法は要確認。</a:t>
            </a:r>
          </a:p>
          <a:p>
            <a:r>
              <a:rPr sz="800">
                <a:latin typeface="游ゴシック Medium"/>
              </a:rPr>
              <a:t>※外部保管分10,000千円は仕入先デザイナーズワン株式会社（代表者の親族が経営）への預け在庫。2026年6月末の商品残高58,446千円に同額が含まれているかは要確認。</a:t>
            </a:r>
          </a:p>
        </p:txBody>
      </p:sp>
    </p:spTree>
    <p:extLst>
      <p:ext uri="{BB962C8B-B14F-4D97-AF65-F5344CB8AC3E}">
        <p14:creationId xmlns:p14="http://schemas.microsoft.com/office/powerpoint/2010/main" val="4117604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許認可一覧</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572768"/>
          <a:ext cx="7278624" cy="4736592"/>
        </p:xfrm>
        <a:graphic>
          <a:graphicData uri="http://schemas.openxmlformats.org/drawingml/2006/table">
            <a:tbl>
              <a:tblPr/>
              <a:tblGrid>
                <a:gridCol w="2331720">
                  <a:extLst>
                    <a:ext uri="{9D8B030D-6E8A-4147-A177-3AD203B41FA5}">
                      <a16:colId xmlns:a16="http://schemas.microsoft.com/office/drawing/2014/main" val="949900933"/>
                    </a:ext>
                  </a:extLst>
                </a:gridCol>
                <a:gridCol w="2697480">
                  <a:extLst>
                    <a:ext uri="{9D8B030D-6E8A-4147-A177-3AD203B41FA5}">
                      <a16:colId xmlns:a16="http://schemas.microsoft.com/office/drawing/2014/main" val="3765230895"/>
                    </a:ext>
                  </a:extLst>
                </a:gridCol>
                <a:gridCol w="2249424">
                  <a:extLst>
                    <a:ext uri="{9D8B030D-6E8A-4147-A177-3AD203B41FA5}">
                      <a16:colId xmlns:a16="http://schemas.microsoft.com/office/drawing/2014/main" val="2593979779"/>
                    </a:ext>
                  </a:extLst>
                </a:gridCol>
              </a:tblGrid>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【第一種動物取扱業許可】</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96804639"/>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事業所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種別・登録番号</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有効期間</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374151606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カインズホーム明和店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販売：松販R3-3号／保管：松管R3-3号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バローミタス伊勢店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販売：伊販R第4-4号／保管：伊管R第4-3号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2023年3月8日〜2028年3月7日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4887001"/>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ホームセンターバロー久居店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販売：津販R第3-4号／保管：津管R第3-1号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71491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アクアウォーク大垣店 ※2026年2月撤退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販売：第030253号／保管：第030254号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2021年11月30日〜2026年11月29日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2721288"/>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ペットプラザ岐阜店 ※2026年1月撤退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販売：第120349号／保管：第120350号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2022年2月1日〜2027年1月31日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ドン・キホーテ緑店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販売：第061485号／保管：第061486号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2024年7月1日〜2029年6月30日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岐阜総本店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販売：第010309号／保管：第010310号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2023年6月6日〜2028年6月5日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大阪総本店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販売：第4805-1号／保管：第4805-2号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2024年10月8日〜2029年10月7日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182880">
                <a:tc>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extLst>
                  <a:ext uri="{0D108BD9-81ED-4DB2-BD59-A6C34878D82A}">
                    <a16:rowId xmlns:a16="http://schemas.microsoft.com/office/drawing/2014/main" val="4187167268"/>
                  </a:ext>
                </a:extLst>
              </a:tr>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【その他】</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3844147814"/>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名称</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内容</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取得・認定日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2077243730"/>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認定</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「ぎふSDGs推進パートナー」ゴールドパートナー</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2023年12月</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36647393"/>
                  </a:ext>
                </a:extLst>
              </a:tr>
            </a:tbl>
          </a:graphicData>
        </a:graphic>
      </p:graphicFrame>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第一種動物取扱業の許可は事業所ごとに「販売」「保管」の2種別を取得しており、撤退2店舗を含む8事業所分を記載している。明和店・久居店は2026年5月20日に有効期間が満了しており、更新手続の状況が論点。</a:t>
            </a:r>
            <a:endParaRPr lang="en-US" altLang="ja-JP" dirty="0"/>
          </a:p>
        </p:txBody>
      </p:sp>
      <p:sp>
        <p:nvSpPr>
          <p:cNvPr id="14" name="TextBox 13"/>
          <p:cNvSpPr txBox="1"/>
          <p:nvPr/>
        </p:nvSpPr>
        <p:spPr>
          <a:xfrm>
            <a:off x="7726679" y="1572768"/>
            <a:ext cx="2514600" cy="3291840"/>
          </a:xfrm>
          <a:prstGeom prst="rect">
            <a:avLst/>
          </a:prstGeom>
          <a:noFill/>
        </p:spPr>
        <p:txBody>
          <a:bodyPr wrap="square">
            <a:spAutoFit/>
          </a:bodyPr>
          <a:lstStyle/>
          <a:p>
            <a:pPr>
              <a:spcAft>
                <a:spcPts val="600"/>
              </a:spcAft>
            </a:pPr>
            <a:r>
              <a:rPr sz="900">
                <a:latin typeface="游ゴシック Medium"/>
              </a:rPr>
              <a:t>【留意点】</a:t>
            </a:r>
          </a:p>
          <a:p>
            <a:pPr>
              <a:spcAft>
                <a:spcPts val="600"/>
              </a:spcAft>
            </a:pPr>
            <a:r>
              <a:rPr sz="900">
                <a:latin typeface="游ゴシック Medium"/>
              </a:rPr>
              <a:t>■ 第一種動物取扱業許可は事業所ごとに「販売」「保管」の2種別を取得。2025年11月期末時点の8事業所分を記載している。</a:t>
            </a:r>
          </a:p>
          <a:p>
            <a:pPr>
              <a:spcAft>
                <a:spcPts val="600"/>
              </a:spcAft>
            </a:pPr>
            <a:r>
              <a:rPr sz="900">
                <a:latin typeface="游ゴシック Medium"/>
              </a:rPr>
              <a:t>■ 明和店・久居店は2026年5月20日に有効期間が満了しており、更新手続の状況を要確認。</a:t>
            </a:r>
          </a:p>
          <a:p>
            <a:pPr>
              <a:spcAft>
                <a:spcPts val="600"/>
              </a:spcAft>
            </a:pPr>
            <a:r>
              <a:rPr sz="900">
                <a:latin typeface="游ゴシック Medium"/>
              </a:rPr>
              <a:t>■ 撤退したアクアウォーク大垣店・ペットプラザ岐阜店について、廃業届の提出状況を要確認。</a:t>
            </a:r>
          </a:p>
          <a:p>
            <a:pPr>
              <a:spcAft>
                <a:spcPts val="600"/>
              </a:spcAft>
            </a:pPr>
            <a:r>
              <a:rPr sz="900">
                <a:latin typeface="游ゴシック Medium"/>
              </a:rPr>
              <a:t>■ 各事業所には動物取扱責任者が配置されている（緑店・大垣管理センターは現場責任者の淺野崇氏が兼務）。責任者の退職時における代替要員の確保は要確認。</a:t>
            </a:r>
          </a:p>
          <a:p>
            <a:pPr>
              <a:spcAft>
                <a:spcPts val="600"/>
              </a:spcAft>
            </a:pPr>
            <a:r>
              <a:rPr sz="900">
                <a:latin typeface="游ゴシック Medium"/>
              </a:rPr>
              <a:t>■ 上記のほか、就業規則の届出（10名以上の事業所ごと）があるが、内容は確認中。</a:t>
            </a:r>
          </a:p>
        </p:txBody>
      </p:sp>
    </p:spTree>
    <p:extLst>
      <p:ext uri="{BB962C8B-B14F-4D97-AF65-F5344CB8AC3E}">
        <p14:creationId xmlns:p14="http://schemas.microsoft.com/office/powerpoint/2010/main" val="1944277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2024年11月期に大型犬専門店2店舗の出店等で借入金が218,455千円まで増加。2025年11月期は当期純損失20,359千円により純資産が△14,057千円となり債務超過に転じている（進行期はP.7参照）。</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2877881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生体売上が6割を占める構成は3期を通じて安定。2025年11月期は粗利率が59.1%へ低下する一方、販管費が349,576千円に膨らみ営業損失19,552千円を計上した（進行期の月次推移はP.8参照）。</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371600"/>
          <a:ext cx="7909559" cy="5418729"/>
        </p:xfrm>
        <a:graphic>
          <a:graphicData uri="http://schemas.openxmlformats.org/drawingml/2006/table">
            <a:tbl>
              <a:tblPr/>
              <a:tblGrid>
                <a:gridCol w="1874519">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1005840">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1005840">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1005840">
                  <a:extLst>
                    <a:ext uri="{9D8B030D-6E8A-4147-A177-3AD203B41FA5}">
                      <a16:colId xmlns:a16="http://schemas.microsoft.com/office/drawing/2014/main" val="1573539663"/>
                    </a:ext>
                  </a:extLst>
                </a:gridCol>
              </a:tblGrid>
              <a:tr h="13716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37744">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55448">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受取配当金</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固定資産売却損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3740942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人件費（役員報酬等の計160,575千円・売上高比28.8%）と地代家賃・ロイヤリティが中心。2025年11月期は路面店2店舗の通期稼働で地代家賃が+13,788千円、ロイヤリティが△9,866千円。</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371600"/>
          <a:ext cx="7196328" cy="5207508"/>
        </p:xfrm>
        <a:graphic>
          <a:graphicData uri="http://schemas.openxmlformats.org/drawingml/2006/table">
            <a:tbl>
              <a:tblPr/>
              <a:tblGrid>
                <a:gridCol w="1709928">
                  <a:extLst>
                    <a:ext uri="{9D8B030D-6E8A-4147-A177-3AD203B41FA5}">
                      <a16:colId xmlns:a16="http://schemas.microsoft.com/office/drawing/2014/main" val="2251232663"/>
                    </a:ext>
                  </a:extLst>
                </a:gridCol>
                <a:gridCol w="914400">
                  <a:extLst>
                    <a:ext uri="{9D8B030D-6E8A-4147-A177-3AD203B41FA5}">
                      <a16:colId xmlns:a16="http://schemas.microsoft.com/office/drawing/2014/main" val="3949639850"/>
                    </a:ext>
                  </a:extLst>
                </a:gridCol>
                <a:gridCol w="914400">
                  <a:extLst>
                    <a:ext uri="{9D8B030D-6E8A-4147-A177-3AD203B41FA5}">
                      <a16:colId xmlns:a16="http://schemas.microsoft.com/office/drawing/2014/main" val="2364528844"/>
                    </a:ext>
                  </a:extLst>
                </a:gridCol>
                <a:gridCol w="914400">
                  <a:extLst>
                    <a:ext uri="{9D8B030D-6E8A-4147-A177-3AD203B41FA5}">
                      <a16:colId xmlns:a16="http://schemas.microsoft.com/office/drawing/2014/main" val="3459482142"/>
                    </a:ext>
                  </a:extLst>
                </a:gridCol>
                <a:gridCol w="914400">
                  <a:extLst>
                    <a:ext uri="{9D8B030D-6E8A-4147-A177-3AD203B41FA5}">
                      <a16:colId xmlns:a16="http://schemas.microsoft.com/office/drawing/2014/main" val="107788540"/>
                    </a:ext>
                  </a:extLst>
                </a:gridCol>
                <a:gridCol w="914400">
                  <a:extLst>
                    <a:ext uri="{9D8B030D-6E8A-4147-A177-3AD203B41FA5}">
                      <a16:colId xmlns:a16="http://schemas.microsoft.com/office/drawing/2014/main" val="2114395438"/>
                    </a:ext>
                  </a:extLst>
                </a:gridCol>
                <a:gridCol w="914400">
                  <a:extLst>
                    <a:ext uri="{9D8B030D-6E8A-4147-A177-3AD203B41FA5}">
                      <a16:colId xmlns:a16="http://schemas.microsoft.com/office/drawing/2014/main" val="3710098136"/>
                    </a:ext>
                  </a:extLst>
                </a:gridCol>
              </a:tblGrid>
              <a:tr h="118872">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836" marR="2836" marT="2836" marB="0" anchor="ctr">
                    <a:lnL>
                      <a:noFill/>
                    </a:lnL>
                    <a:lnR>
                      <a:noFill/>
                    </a:lnR>
                    <a:lnT>
                      <a:noFill/>
                    </a:lnT>
                    <a:lnB>
                      <a:noFill/>
                    </a:lnB>
                    <a:noFill/>
                  </a:tcPr>
                </a:tc>
                <a:extLst>
                  <a:ext uri="{0D108BD9-81ED-4DB2-BD59-A6C34878D82A}">
                    <a16:rowId xmlns:a16="http://schemas.microsoft.com/office/drawing/2014/main" val="2244378733"/>
                  </a:ext>
                </a:extLst>
              </a:tr>
              <a:tr h="137160">
                <a:tc row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37160">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86543304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3,152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4,978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8,230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1,088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9,802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2,456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2,673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2,958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8,881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5,564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95505000"/>
                  </a:ext>
                </a:extLst>
              </a:tr>
            </a:tbl>
          </a:graphicData>
        </a:graphic>
      </p:graphicFrame>
    </p:spTree>
    <p:extLst>
      <p:ext uri="{BB962C8B-B14F-4D97-AF65-F5344CB8AC3E}">
        <p14:creationId xmlns:p14="http://schemas.microsoft.com/office/powerpoint/2010/main" val="19093800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1号店を開店し、2020年の法人化以降、東海圏を中心に出店を重ねた。2022年の経営革新計画の承認を受けて大型犬専門店を展開し、2026年初に不採算のFC店2店舗を撤退。現在は直営6店舗で自社ブランド店の拡大に軸足を移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835837"/>
          <a:ext cx="10003536" cy="4663440"/>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8357616">
                  <a:extLst>
                    <a:ext uri="{9D8B030D-6E8A-4147-A177-3AD203B41FA5}">
                      <a16:colId xmlns:a16="http://schemas.microsoft.com/office/drawing/2014/main" val="20001"/>
                    </a:ext>
                  </a:extLst>
                </a:gridCol>
              </a:tblGrid>
              <a:tr h="310896">
                <a:tc>
                  <a:txBody>
                    <a:bodyPr/>
                    <a:lstStyle/>
                    <a:p>
                      <a:pPr algn="l"/>
                      <a:r>
                        <a:rPr sz="950" b="1">
                          <a:solidFill>
                            <a:srgbClr val="FFFFFF"/>
                          </a:solidFill>
                          <a:latin typeface="游ゴシック" panose="020B0400000000000000" pitchFamily="50" charset="-128"/>
                          <a:ea typeface="游ゴシック" panose="020B0400000000000000" pitchFamily="50" charset="-128"/>
                        </a:rPr>
                        <a:t>年月</a:t>
                      </a:r>
                    </a:p>
                  </a:txBody>
                  <a:tcPr marL="43200" marR="43200" marT="7200" marB="7200" anchor="ctr">
                    <a:solidFill>
                      <a:srgbClr val="1F3B5B"/>
                    </a:solidFill>
                  </a:tcPr>
                </a:tc>
                <a:tc>
                  <a:txBody>
                    <a:bodyPr/>
                    <a:lstStyle/>
                    <a:p>
                      <a:pPr algn="ctr"/>
                      <a:r>
                        <a:rPr sz="950" b="1" dirty="0" err="1">
                          <a:solidFill>
                            <a:srgbClr val="FFFFFF"/>
                          </a:solidFill>
                          <a:latin typeface="游ゴシック" panose="020B0400000000000000" pitchFamily="50" charset="-128"/>
                          <a:ea typeface="游ゴシック" panose="020B0400000000000000" pitchFamily="50" charset="-128"/>
                        </a:rPr>
                        <a:t>主な出来事</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2019年7月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崇氏（現代表者の配偶者）が個人でセキュリティ事業を開始（現在は一部顧客にのみ対応し、実質休眠状態）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2019年8月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ゆう子氏（現代表者）が個人事業として「ワンラブ カインズホーム明和店」を開店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2020年4月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バローミタス伊勢店」を開店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LUXAS株式会社を設立し、淺野　ゆう子氏が代表取締役に就任。「ワンラブ ホームセンターバロー久居店」を開店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10896">
                <a:tc>
                  <a:txBody>
                    <a:bodyPr/>
                    <a:lstStyle/>
                    <a:p>
                      <a:pPr algn="l"/>
                      <a:r>
                        <a:rPr sz="1000" b="0">
                          <a:solidFill>
                            <a:sysClr val="windowText" lastClr="000000"/>
                          </a:solidFill>
                          <a:latin typeface="游ゴシック" panose="020B0400000000000000" pitchFamily="50" charset="-128"/>
                          <a:ea typeface="游ゴシック" panose="020B0400000000000000" pitchFamily="50" charset="-128"/>
                        </a:rPr>
                        <a:t>2021年3月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コメリパワー中志段味店」を開店（2024年6月に譲渡）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2021年12月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アクアウォーク大垣店」を開店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2022年2月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ペットプラザ岐阜店」を開店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2022年10月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経営革新計画の承認を受け、大型犬専門店の展開準備を開始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93992157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2023年6月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初の大型犬専門店「おっきなもふもふ応援隊 岐阜総本店」を開店</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2023年12月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「ぎふSDGs推進パートナー」ゴールドパートナーに認定</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2024年7月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ドン・キホーテ緑店」を開店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2024年10月</a:t>
                      </a:r>
                    </a:p>
                  </a:txBody>
                  <a:tcPr marL="43200" marR="43200" marT="7200" marB="7200" anchor="ctr">
                    <a:solidFill>
                      <a:srgbClr val="F5F8FB"/>
                    </a:solidFill>
                  </a:tcPr>
                </a:tc>
                <a:tc>
                  <a:txBody>
                    <a:bodyPr/>
                    <a:lstStyle/>
                    <a:p>
                      <a:pPr algn="l"/>
                      <a:r>
                        <a:rPr sz="1000" b="0" dirty="0" err="1">
                          <a:solidFill>
                            <a:sysClr val="windowText" lastClr="000000"/>
                          </a:solidFill>
                          <a:latin typeface="游ゴシック" panose="020B0400000000000000" pitchFamily="50" charset="-128"/>
                          <a:ea typeface="游ゴシック" panose="020B0400000000000000" pitchFamily="50" charset="-128"/>
                        </a:rPr>
                        <a:t>2店舗目の大型犬専門店「おっきなもふもふ応援隊 大阪総本店」を開店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1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2026年1月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ペットプラザ岐阜店」を撤退</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1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アクアウォーク大垣店」を撤退し、直営6店舗体制となる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914015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ペットショップ1号店を開店し、2020年の法人化以降、6年で売上558百万円・直営最大8店舗（現在6店舗）の規模へ育てた創業者。現在は経理全般および金融機関対応を担当し、店舗運営・人材育成は配偶者の淺野崇氏（現場責任者）が統括する分担体制をと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976134"/>
          <a:ext cx="10003536" cy="2602440"/>
        </p:xfrm>
        <a:graphic>
          <a:graphicData uri="http://schemas.openxmlformats.org/drawingml/2006/table">
            <a:tbl>
              <a:tblPr>
                <a:tableStyleId>{5C22544A-7EE6-4342-B048-85BDC9FD1C3A}</a:tableStyleId>
              </a:tblPr>
              <a:tblGrid>
                <a:gridCol w="1664208">
                  <a:extLst>
                    <a:ext uri="{9D8B030D-6E8A-4147-A177-3AD203B41FA5}">
                      <a16:colId xmlns:a16="http://schemas.microsoft.com/office/drawing/2014/main" val="20000"/>
                    </a:ext>
                  </a:extLst>
                </a:gridCol>
                <a:gridCol w="8339327">
                  <a:extLst>
                    <a:ext uri="{9D8B030D-6E8A-4147-A177-3AD203B41FA5}">
                      <a16:colId xmlns:a16="http://schemas.microsoft.com/office/drawing/2014/main" val="20001"/>
                    </a:ext>
                  </a:extLst>
                </a:gridCol>
              </a:tblGrid>
              <a:tr h="324000">
                <a:tc>
                  <a:txBody>
                    <a:bodyPr/>
                    <a:lstStyle/>
                    <a:p>
                      <a:pPr algn="l"/>
                      <a:r>
                        <a:rPr sz="105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105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氏名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淺野　ゆう子（1985年11月生）</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役職</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代表取締役（創業者）</a:t>
                      </a:r>
                    </a:p>
                  </a:txBody>
                  <a:tcPr marL="43200" marR="43200" marT="7200" marB="7200" anchor="ctr">
                    <a:solidFill>
                      <a:srgbClr val="F5F8FB"/>
                    </a:solidFill>
                  </a:tcPr>
                </a:tc>
                <a:extLst>
                  <a:ext uri="{0D108BD9-81ED-4DB2-BD59-A6C34878D82A}">
                    <a16:rowId xmlns:a16="http://schemas.microsoft.com/office/drawing/2014/main" val="10002"/>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1050" b="0" dirty="0">
                          <a:solidFill>
                            <a:sysClr val="windowText" lastClr="000000"/>
                          </a:solidFill>
                          <a:latin typeface="游ゴシック" panose="020B0400000000000000" pitchFamily="50" charset="-128"/>
                          <a:ea typeface="游ゴシック" panose="020B0400000000000000" pitchFamily="50" charset="-128"/>
                        </a:rPr>
                        <a:t>2020年12月、LUXAS株式会社の設立に伴い代表取締役に就任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24000">
                <a:tc>
                  <a:txBody>
                    <a:bodyPr/>
                    <a:lstStyle/>
                    <a:p>
                      <a:pPr algn="l"/>
                      <a:r>
                        <a:rPr lang="ja-JP" altLang="en-US" sz="1050" b="0">
                          <a:solidFill>
                            <a:sysClr val="windowText" lastClr="000000"/>
                          </a:solidFill>
                          <a:latin typeface="游ゴシック" panose="020B0400000000000000" pitchFamily="50" charset="-128"/>
                          <a:ea typeface="游ゴシック" panose="020B0400000000000000" pitchFamily="50" charset="-128"/>
                        </a:rPr>
                        <a:t>主な経歴</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2019年8月、個人事業として「ワンラブ カインズホーム明和店」を開店／2020年12月、対象会社を設立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創業の経緯</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昔から動物が好きで、ペット業界を変えたいという思いから創業</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経営理念</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1050" b="0" dirty="0">
                          <a:solidFill>
                            <a:sysClr val="windowText" lastClr="000000"/>
                          </a:solidFill>
                          <a:latin typeface="游ゴシック" panose="020B0400000000000000" pitchFamily="50" charset="-128"/>
                          <a:ea typeface="游ゴシック" panose="020B0400000000000000" pitchFamily="50" charset="-128"/>
                        </a:rPr>
                        <a:t>業界の改革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家族構成</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配偶者：淺野　崇氏（1980年10月生／対象会社の現場責任者）、子4名（長女・次女・三女・長男）</a:t>
                      </a:r>
                    </a:p>
                  </a:txBody>
                  <a:tcPr marL="43200" marR="43200" marT="7200" marB="7200" anchor="ctr">
                    <a:noFill/>
                  </a:tcPr>
                </a:tc>
                <a:extLst>
                  <a:ext uri="{0D108BD9-81ED-4DB2-BD59-A6C34878D82A}">
                    <a16:rowId xmlns:a16="http://schemas.microsoft.com/office/drawing/2014/main" val="10004"/>
                  </a:ext>
                </a:extLst>
              </a:tr>
            </a:tbl>
          </a:graphicData>
        </a:graphic>
      </p:graphicFrame>
      <p:sp>
        <p:nvSpPr>
          <p:cNvPr id="15" name="TextBox 14"/>
          <p:cNvSpPr txBox="1"/>
          <p:nvPr/>
        </p:nvSpPr>
        <p:spPr>
          <a:xfrm>
            <a:off x="324000" y="4929756"/>
            <a:ext cx="10008000" cy="1462383"/>
          </a:xfrm>
          <a:prstGeom prst="rect">
            <a:avLst/>
          </a:prstGeom>
          <a:noFill/>
        </p:spPr>
        <p:txBody>
          <a:bodyPr wrap="square" lIns="36000" tIns="18000" rIns="36000" bIns="18000" anchor="t">
            <a:spAutoFit/>
          </a:bodyPr>
          <a:lstStyle/>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経歴・経営姿勢</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・2019年8月、個人事業としてワンラブFCに加盟し、三重県多気郡明和町のカインズホーム内に1号店を開店。</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・2020年12月に法人化し、東海圏でFC店の出店を重ねる。2022年10月には経営革新計画の承認を受け、大型犬専門店という新業態の準備に着手。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・2023年6月に「おっきなもふもふ応援隊 岐阜総本店」、2024年10月に同 大阪総本店を開店。2025年11月期には大型犬専門2店舗で売上の46.7%を占めるまでに成長させた。</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・現在は経理全般および金融機関対応を担当。店舗運営・人材育成・仕入は現場責任者である配偶者の淺野崇氏が統括している。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・譲渡後は引継完了をもって退任する意向（要確認）。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※本ページは対象会社提供の既存会社説明資料および決算書の記載に基づく。学歴・職歴・社外役職・保有資格は未受領（要確認）。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概要書は、対象会社提供の既存会社説明資料、第3期〜第5期決算報告書一式、進行期試算表・店舗別試算表（2025年12月〜2026年6月）、棚卸表および従業員名簿に基づき作成している。2026年9月に追加資料を受領し、下表の「解決済」項目を確認した。残る事項はトップ面談およびデータルームにて順次開示を予定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874519"/>
          <a:ext cx="10003535" cy="429768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8266175">
                  <a:extLst>
                    <a:ext uri="{9D8B030D-6E8A-4147-A177-3AD203B41FA5}">
                      <a16:colId xmlns:a16="http://schemas.microsoft.com/office/drawing/2014/main" val="20001"/>
                    </a:ext>
                  </a:extLst>
                </a:gridCol>
              </a:tblGrid>
              <a:tr h="329184">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【解決済】</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①撤退した2店舗の特定（ペットプラザ岐阜店＝2026年1月、アクアウォーク大垣店＝2026年2月）　②棚卸資産廃棄損44,000千円の内容（本社32,000千円＋バックヤード12,000千円）　③店舗別の売上・粗利（進行期7か月）　④従業員名簿（在籍49名／2026年8月までの異動を反映）</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収益性</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①2026年7月以降の月次試算表　②進行期に未計上の減価償却費（通期実績6,349千円）・法定福利費の通期見込み　③2026年5月の租税公課4,969千円の内容</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店舗別損益の解釈</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①共通部門に残る本社仕入40,994千円・外注費5,610千円の店舗への配賦方法　②明和店の販管費が売上高比75.6%と高い要因（松阪管理センターの人件費が含まれていると推察）</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資産の実在性・評価</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①廃棄44,000千円に至った理由・処分方法・証憑　②外部保管在庫10,000千円の実在性　③営業権1,500千円の取得経緯・算定根拠　④2026年6月に取得した車両運搬具438千円の内容</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契約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①フランチャイズ契約の内容とCOC条項への対応　②店舗賃貸借契約書および定期建物賃貸借（岐阜総本店2033年1月／大阪総本店2027年11月満了）の再契約見通し　③撤退2店舗の原状回復費用・違約金の有無</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組織・人材</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①現場責任者 淺野崇氏の譲渡後の継続関与および処遇　②各事業所の動物取扱責任者の配置と、明和店・久居店の許可更新（2026年5月20日満了）・撤退2店舗の廃業届の提出状況　③就業規則等の労務関係書類</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収益モデル</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ペット保険の代理店手数料の実額。共通部門のサービス売上高が月額約195万円（7か月13,650千円）で計上されており同手数料と推察されるが、内訳の確認が必要</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従業員一覧①</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在籍49名（役員2名、正社員14名、アルバイト33名）の個人別一覧。氏名は役員2名を除きイニシャルへ匿名化している。部署・店舗別の集計はP.22を参照。</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389888"/>
          <a:ext cx="10040111" cy="5198364"/>
        </p:xfrm>
        <a:graphic>
          <a:graphicData uri="http://schemas.openxmlformats.org/drawingml/2006/table">
            <a:tbl>
              <a:tblPr/>
              <a:tblGrid>
                <a:gridCol w="347472">
                  <a:extLst>
                    <a:ext uri="{9D8B030D-6E8A-4147-A177-3AD203B41FA5}">
                      <a16:colId xmlns:a16="http://schemas.microsoft.com/office/drawing/2014/main" val="2009964781"/>
                    </a:ext>
                  </a:extLst>
                </a:gridCol>
                <a:gridCol w="868680">
                  <a:extLst>
                    <a:ext uri="{9D8B030D-6E8A-4147-A177-3AD203B41FA5}">
                      <a16:colId xmlns:a16="http://schemas.microsoft.com/office/drawing/2014/main" val="2892268224"/>
                    </a:ext>
                  </a:extLst>
                </a:gridCol>
                <a:gridCol w="868680">
                  <a:extLst>
                    <a:ext uri="{9D8B030D-6E8A-4147-A177-3AD203B41FA5}">
                      <a16:colId xmlns:a16="http://schemas.microsoft.com/office/drawing/2014/main" val="1250532957"/>
                    </a:ext>
                  </a:extLst>
                </a:gridCol>
                <a:gridCol w="457200">
                  <a:extLst>
                    <a:ext uri="{9D8B030D-6E8A-4147-A177-3AD203B41FA5}">
                      <a16:colId xmlns:a16="http://schemas.microsoft.com/office/drawing/2014/main" val="2143222230"/>
                    </a:ext>
                  </a:extLst>
                </a:gridCol>
                <a:gridCol w="512064">
                  <a:extLst>
                    <a:ext uri="{9D8B030D-6E8A-4147-A177-3AD203B41FA5}">
                      <a16:colId xmlns:a16="http://schemas.microsoft.com/office/drawing/2014/main" val="781273896"/>
                    </a:ext>
                  </a:extLst>
                </a:gridCol>
                <a:gridCol w="868680">
                  <a:extLst>
                    <a:ext uri="{9D8B030D-6E8A-4147-A177-3AD203B41FA5}">
                      <a16:colId xmlns:a16="http://schemas.microsoft.com/office/drawing/2014/main" val="2143180587"/>
                    </a:ext>
                  </a:extLst>
                </a:gridCol>
                <a:gridCol w="2560320">
                  <a:extLst>
                    <a:ext uri="{9D8B030D-6E8A-4147-A177-3AD203B41FA5}">
                      <a16:colId xmlns:a16="http://schemas.microsoft.com/office/drawing/2014/main" val="705162408"/>
                    </a:ext>
                  </a:extLst>
                </a:gridCol>
                <a:gridCol w="1042415">
                  <a:extLst>
                    <a:ext uri="{9D8B030D-6E8A-4147-A177-3AD203B41FA5}">
                      <a16:colId xmlns:a16="http://schemas.microsoft.com/office/drawing/2014/main" val="1493568873"/>
                    </a:ext>
                  </a:extLst>
                </a:gridCol>
                <a:gridCol w="2514600">
                  <a:extLst>
                    <a:ext uri="{9D8B030D-6E8A-4147-A177-3AD203B41FA5}">
                      <a16:colId xmlns:a16="http://schemas.microsoft.com/office/drawing/2014/main" val="2652574131"/>
                    </a:ext>
                  </a:extLst>
                </a:gridCol>
              </a:tblGrid>
              <a:tr h="12801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lnL>
                      <a:noFill/>
                    </a:lnL>
                    <a:lnR>
                      <a:noFill/>
                    </a:lnR>
                    <a:lnT>
                      <a:noFill/>
                    </a:lnT>
                    <a:lnB>
                      <a:noFill/>
                    </a:lnB>
                    <a:noFill/>
                  </a:tcPr>
                </a:tc>
                <a:tc>
                  <a:txBody>
                    <a:bodyPr/>
                    <a:lstStyle/>
                    <a:p>
                      <a:pPr algn="r" fontAlgn="ctr">
                        <a:buNone/>
                      </a:pPr>
                      <a:r>
                        <a:rPr lang="ja-JP" altLang="en-US"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nchor="ctr">
                    <a:lnL>
                      <a:noFill/>
                    </a:lnL>
                    <a:lnR>
                      <a:noFill/>
                    </a:lnR>
                    <a:lnT>
                      <a:noFill/>
                    </a:lnT>
                    <a:lnB>
                      <a:noFill/>
                    </a:lnB>
                    <a:noFill/>
                  </a:tcPr>
                </a:tc>
                <a:extLst>
                  <a:ext uri="{0D108BD9-81ED-4DB2-BD59-A6C34878D82A}">
                    <a16:rowId xmlns:a16="http://schemas.microsoft.com/office/drawing/2014/main" val="3764227106"/>
                  </a:ext>
                </a:extLst>
              </a:tr>
              <a:tr h="38404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イニシャル</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雇用形態</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性別</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勤続年数</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淺野 ゆう子</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代表取締役</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経理全般・金融機関対応</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0196605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淺野 崇</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現場責任者</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経営業務・人材育成・店舗管理。緑店・大垣管理センターの動物取扱責任者を兼務</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9920903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A.N</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0年6か月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2435527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W.A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636206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K.R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3212797"/>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M.C</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2401009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607307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6539492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3年4か月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17210612"/>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O.H</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1779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H.M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80219905"/>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K.K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0504466"/>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W.T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O.N</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2年8か月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5年3か月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Y.Y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従業員一覧②</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前ページの続き。大型犬専門2店舗（岐阜総本店・大阪総本店）に18名、稼働6店舗全体で45名が配置されている。撤退2店舗および大垣管理センターの在籍者はいない。</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389888"/>
          <a:ext cx="10040111" cy="5010912"/>
        </p:xfrm>
        <a:graphic>
          <a:graphicData uri="http://schemas.openxmlformats.org/drawingml/2006/table">
            <a:tbl>
              <a:tblPr/>
              <a:tblGrid>
                <a:gridCol w="347472">
                  <a:extLst>
                    <a:ext uri="{9D8B030D-6E8A-4147-A177-3AD203B41FA5}">
                      <a16:colId xmlns:a16="http://schemas.microsoft.com/office/drawing/2014/main" val="2009964781"/>
                    </a:ext>
                  </a:extLst>
                </a:gridCol>
                <a:gridCol w="868680">
                  <a:extLst>
                    <a:ext uri="{9D8B030D-6E8A-4147-A177-3AD203B41FA5}">
                      <a16:colId xmlns:a16="http://schemas.microsoft.com/office/drawing/2014/main" val="2892268224"/>
                    </a:ext>
                  </a:extLst>
                </a:gridCol>
                <a:gridCol w="868680">
                  <a:extLst>
                    <a:ext uri="{9D8B030D-6E8A-4147-A177-3AD203B41FA5}">
                      <a16:colId xmlns:a16="http://schemas.microsoft.com/office/drawing/2014/main" val="1250532957"/>
                    </a:ext>
                  </a:extLst>
                </a:gridCol>
                <a:gridCol w="457200">
                  <a:extLst>
                    <a:ext uri="{9D8B030D-6E8A-4147-A177-3AD203B41FA5}">
                      <a16:colId xmlns:a16="http://schemas.microsoft.com/office/drawing/2014/main" val="2143222230"/>
                    </a:ext>
                  </a:extLst>
                </a:gridCol>
                <a:gridCol w="512064">
                  <a:extLst>
                    <a:ext uri="{9D8B030D-6E8A-4147-A177-3AD203B41FA5}">
                      <a16:colId xmlns:a16="http://schemas.microsoft.com/office/drawing/2014/main" val="781273896"/>
                    </a:ext>
                  </a:extLst>
                </a:gridCol>
                <a:gridCol w="868680">
                  <a:extLst>
                    <a:ext uri="{9D8B030D-6E8A-4147-A177-3AD203B41FA5}">
                      <a16:colId xmlns:a16="http://schemas.microsoft.com/office/drawing/2014/main" val="2143180587"/>
                    </a:ext>
                  </a:extLst>
                </a:gridCol>
                <a:gridCol w="2560320">
                  <a:extLst>
                    <a:ext uri="{9D8B030D-6E8A-4147-A177-3AD203B41FA5}">
                      <a16:colId xmlns:a16="http://schemas.microsoft.com/office/drawing/2014/main" val="705162408"/>
                    </a:ext>
                  </a:extLst>
                </a:gridCol>
                <a:gridCol w="1042415">
                  <a:extLst>
                    <a:ext uri="{9D8B030D-6E8A-4147-A177-3AD203B41FA5}">
                      <a16:colId xmlns:a16="http://schemas.microsoft.com/office/drawing/2014/main" val="1493568873"/>
                    </a:ext>
                  </a:extLst>
                </a:gridCol>
                <a:gridCol w="2514600">
                  <a:extLst>
                    <a:ext uri="{9D8B030D-6E8A-4147-A177-3AD203B41FA5}">
                      <a16:colId xmlns:a16="http://schemas.microsoft.com/office/drawing/2014/main" val="2652574131"/>
                    </a:ext>
                  </a:extLst>
                </a:gridCol>
              </a:tblGrid>
              <a:tr h="12801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lnL>
                      <a:noFill/>
                    </a:lnL>
                    <a:lnR>
                      <a:noFill/>
                    </a:lnR>
                    <a:lnT>
                      <a:noFill/>
                    </a:lnT>
                    <a:lnB>
                      <a:noFill/>
                    </a:lnB>
                    <a:noFill/>
                  </a:tcPr>
                </a:tc>
                <a:tc>
                  <a:txBody>
                    <a:bodyPr/>
                    <a:lstStyle/>
                    <a:p>
                      <a:pPr algn="r" fontAlgn="ctr">
                        <a:buNone/>
                      </a:pPr>
                      <a:r>
                        <a:rPr lang="ja-JP" altLang="en-US"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nchor="ctr">
                    <a:lnL>
                      <a:noFill/>
                    </a:lnL>
                    <a:lnR>
                      <a:noFill/>
                    </a:lnR>
                    <a:lnT>
                      <a:noFill/>
                    </a:lnT>
                    <a:lnB>
                      <a:noFill/>
                    </a:lnB>
                    <a:noFill/>
                  </a:tcPr>
                </a:tc>
                <a:extLst>
                  <a:ext uri="{0D108BD9-81ED-4DB2-BD59-A6C34878D82A}">
                    <a16:rowId xmlns:a16="http://schemas.microsoft.com/office/drawing/2014/main" val="3764227106"/>
                  </a:ext>
                </a:extLst>
              </a:tr>
              <a:tr h="38404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イニシャル</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雇用形態</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性別</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勤続年数</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K.E</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0196605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S.K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O.F</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9920903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M.E</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2435527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636206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3212797"/>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M.R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1年6か月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2401009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1年3か月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607307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H.I</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6539492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N.H</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17210612"/>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0年0か月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1779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4年9か月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80219905"/>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H.K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5年0か月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0504466"/>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M.R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I.K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I.M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bl>
          </a:graphicData>
        </a:graphic>
      </p:graphicFrame>
      <p:sp>
        <p:nvSpPr>
          <p:cNvPr id="14" name="TextBox 13"/>
          <p:cNvSpPr txBox="1"/>
          <p:nvPr/>
        </p:nvSpPr>
        <p:spPr>
          <a:xfrm>
            <a:off x="310896" y="6492240"/>
            <a:ext cx="10040112" cy="457200"/>
          </a:xfrm>
          <a:prstGeom prst="rect">
            <a:avLst/>
          </a:prstGeom>
          <a:noFill/>
        </p:spPr>
        <p:txBody>
          <a:bodyPr wrap="square">
            <a:spAutoFit/>
          </a:bodyPr>
          <a:lstStyle/>
          <a:p>
            <a:r>
              <a:rPr sz="800">
                <a:latin typeface="游ゴシック Medium"/>
              </a:rPr>
              <a:t>※出所：対象会社提供「従業員名簿（全従業員195名）」。退職年月日の入力がない49名を在籍者として集計。年齢・勤続年数は2026年9月23日時点。</a:t>
            </a:r>
          </a:p>
          <a:p>
            <a:r>
              <a:rPr sz="800">
                <a:latin typeface="游ゴシック Medium"/>
              </a:rPr>
              <a:t>※役員2名は入社日の登録がないため勤続年数の集計対象外。役職は代表取締役・現場責任者以外に登録がない（要確認）。個人別の給与情報は本ページには記載していない。</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