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Lst>
  <p:sldSz cx="7559675" cy="10691813"/>
  <p:notesSz cx="6858000" cy="9144000"/>
  <p:defaultTextStyle>
    <a:defPPr>
      <a:defRPr lang="en-US"/>
    </a:defPPr>
    <a:lvl1pPr marL="0" algn="l" defTabSz="497754" rtl="0" eaLnBrk="1" latinLnBrk="0" hangingPunct="1">
      <a:defRPr sz="1960" kern="1200">
        <a:solidFill>
          <a:schemeClr val="tx1"/>
        </a:solidFill>
        <a:latin typeface="+mn-lt"/>
        <a:ea typeface="+mn-ea"/>
        <a:cs typeface="+mn-cs"/>
      </a:defRPr>
    </a:lvl1pPr>
    <a:lvl2pPr marL="497754" algn="l" defTabSz="497754" rtl="0" eaLnBrk="1" latinLnBrk="0" hangingPunct="1">
      <a:defRPr sz="1960" kern="1200">
        <a:solidFill>
          <a:schemeClr val="tx1"/>
        </a:solidFill>
        <a:latin typeface="+mn-lt"/>
        <a:ea typeface="+mn-ea"/>
        <a:cs typeface="+mn-cs"/>
      </a:defRPr>
    </a:lvl2pPr>
    <a:lvl3pPr marL="995507" algn="l" defTabSz="497754" rtl="0" eaLnBrk="1" latinLnBrk="0" hangingPunct="1">
      <a:defRPr sz="1960" kern="1200">
        <a:solidFill>
          <a:schemeClr val="tx1"/>
        </a:solidFill>
        <a:latin typeface="+mn-lt"/>
        <a:ea typeface="+mn-ea"/>
        <a:cs typeface="+mn-cs"/>
      </a:defRPr>
    </a:lvl3pPr>
    <a:lvl4pPr marL="1493261" algn="l" defTabSz="497754" rtl="0" eaLnBrk="1" latinLnBrk="0" hangingPunct="1">
      <a:defRPr sz="1960" kern="1200">
        <a:solidFill>
          <a:schemeClr val="tx1"/>
        </a:solidFill>
        <a:latin typeface="+mn-lt"/>
        <a:ea typeface="+mn-ea"/>
        <a:cs typeface="+mn-cs"/>
      </a:defRPr>
    </a:lvl4pPr>
    <a:lvl5pPr marL="1991015" algn="l" defTabSz="497754" rtl="0" eaLnBrk="1" latinLnBrk="0" hangingPunct="1">
      <a:defRPr sz="1960" kern="1200">
        <a:solidFill>
          <a:schemeClr val="tx1"/>
        </a:solidFill>
        <a:latin typeface="+mn-lt"/>
        <a:ea typeface="+mn-ea"/>
        <a:cs typeface="+mn-cs"/>
      </a:defRPr>
    </a:lvl5pPr>
    <a:lvl6pPr marL="2488768" algn="l" defTabSz="497754" rtl="0" eaLnBrk="1" latinLnBrk="0" hangingPunct="1">
      <a:defRPr sz="1960" kern="1200">
        <a:solidFill>
          <a:schemeClr val="tx1"/>
        </a:solidFill>
        <a:latin typeface="+mn-lt"/>
        <a:ea typeface="+mn-ea"/>
        <a:cs typeface="+mn-cs"/>
      </a:defRPr>
    </a:lvl6pPr>
    <a:lvl7pPr marL="2986522" algn="l" defTabSz="497754" rtl="0" eaLnBrk="1" latinLnBrk="0" hangingPunct="1">
      <a:defRPr sz="1960" kern="1200">
        <a:solidFill>
          <a:schemeClr val="tx1"/>
        </a:solidFill>
        <a:latin typeface="+mn-lt"/>
        <a:ea typeface="+mn-ea"/>
        <a:cs typeface="+mn-cs"/>
      </a:defRPr>
    </a:lvl7pPr>
    <a:lvl8pPr marL="3484275" algn="l" defTabSz="497754" rtl="0" eaLnBrk="1" latinLnBrk="0" hangingPunct="1">
      <a:defRPr sz="1960" kern="1200">
        <a:solidFill>
          <a:schemeClr val="tx1"/>
        </a:solidFill>
        <a:latin typeface="+mn-lt"/>
        <a:ea typeface="+mn-ea"/>
        <a:cs typeface="+mn-cs"/>
      </a:defRPr>
    </a:lvl8pPr>
    <a:lvl9pPr marL="3982029" algn="l" defTabSz="497754"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33" autoAdjust="0"/>
    <p:restoredTop sz="94660"/>
  </p:normalViewPr>
  <p:slideViewPr>
    <p:cSldViewPr snapToGrid="0">
      <p:cViewPr varScale="1">
        <p:scale>
          <a:sx n="71" d="100"/>
          <a:sy n="71" d="100"/>
        </p:scale>
        <p:origin x="3462"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8" name="グラフィックス 7">
            <a:extLst>
              <a:ext uri="{FF2B5EF4-FFF2-40B4-BE49-F238E27FC236}">
                <a16:creationId xmlns:a16="http://schemas.microsoft.com/office/drawing/2014/main" id="{03C1FEC9-08F1-3206-894D-1033108E6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5288" y="10021028"/>
            <a:ext cx="1625600" cy="322220"/>
          </a:xfrm>
          <a:prstGeom prst="rect">
            <a:avLst/>
          </a:prstGeom>
        </p:spPr>
      </p:pic>
      <p:sp>
        <p:nvSpPr>
          <p:cNvPr id="9" name="Google Shape;14;p31">
            <a:extLst>
              <a:ext uri="{FF2B5EF4-FFF2-40B4-BE49-F238E27FC236}">
                <a16:creationId xmlns:a16="http://schemas.microsoft.com/office/drawing/2014/main" id="{15703526-0016-FB32-A3A0-CBA5E90CA30D}"/>
              </a:ext>
            </a:extLst>
          </p:cNvPr>
          <p:cNvSpPr/>
          <p:nvPr userDrawn="1"/>
        </p:nvSpPr>
        <p:spPr>
          <a:xfrm>
            <a:off x="2592388" y="10155486"/>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10" name="正方形/長方形 9">
            <a:extLst>
              <a:ext uri="{FF2B5EF4-FFF2-40B4-BE49-F238E27FC236}">
                <a16:creationId xmlns:a16="http://schemas.microsoft.com/office/drawing/2014/main" id="{5F2C6A4A-EF53-D838-4D82-21F440B977AB}"/>
              </a:ext>
            </a:extLst>
          </p:cNvPr>
          <p:cNvSpPr/>
          <p:nvPr userDrawn="1"/>
        </p:nvSpPr>
        <p:spPr>
          <a:xfrm>
            <a:off x="4009408" y="10144104"/>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
        <p:nvSpPr>
          <p:cNvPr id="11" name="正方形/長方形 10">
            <a:extLst>
              <a:ext uri="{FF2B5EF4-FFF2-40B4-BE49-F238E27FC236}">
                <a16:creationId xmlns:a16="http://schemas.microsoft.com/office/drawing/2014/main" id="{1E27C258-B171-B306-FCA9-1F991EB4B407}"/>
              </a:ext>
            </a:extLst>
          </p:cNvPr>
          <p:cNvSpPr/>
          <p:nvPr userDrawn="1"/>
        </p:nvSpPr>
        <p:spPr>
          <a:xfrm>
            <a:off x="-1" y="0"/>
            <a:ext cx="7560000"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grpSp>
        <p:nvGrpSpPr>
          <p:cNvPr id="13" name="グループ化 12">
            <a:extLst>
              <a:ext uri="{FF2B5EF4-FFF2-40B4-BE49-F238E27FC236}">
                <a16:creationId xmlns:a16="http://schemas.microsoft.com/office/drawing/2014/main" id="{19BC2D2A-4437-47A2-0981-B11CD292C292}"/>
              </a:ext>
            </a:extLst>
          </p:cNvPr>
          <p:cNvGrpSpPr/>
          <p:nvPr userDrawn="1"/>
        </p:nvGrpSpPr>
        <p:grpSpPr>
          <a:xfrm>
            <a:off x="-1" y="0"/>
            <a:ext cx="252001" cy="666000"/>
            <a:chOff x="-1" y="0"/>
            <a:chExt cx="252001" cy="666000"/>
          </a:xfrm>
        </p:grpSpPr>
        <p:cxnSp>
          <p:nvCxnSpPr>
            <p:cNvPr id="14" name="直線コネクタ 13">
              <a:extLst>
                <a:ext uri="{FF2B5EF4-FFF2-40B4-BE49-F238E27FC236}">
                  <a16:creationId xmlns:a16="http://schemas.microsoft.com/office/drawing/2014/main" id="{30E97B07-01E5-EB36-061D-D92F9275FA5B}"/>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16D30B4A-72ED-26A7-3E61-8F973A7103AC}"/>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 name="直線コネクタ 15">
              <a:extLst>
                <a:ext uri="{FF2B5EF4-FFF2-40B4-BE49-F238E27FC236}">
                  <a16:creationId xmlns:a16="http://schemas.microsoft.com/office/drawing/2014/main" id="{6F803093-4AF9-96A5-B24A-90412CE50F14}"/>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9" name="グループ化 18">
            <a:extLst>
              <a:ext uri="{FF2B5EF4-FFF2-40B4-BE49-F238E27FC236}">
                <a16:creationId xmlns:a16="http://schemas.microsoft.com/office/drawing/2014/main" id="{2E346A5A-9683-7014-168E-E518989BCD1E}"/>
              </a:ext>
            </a:extLst>
          </p:cNvPr>
          <p:cNvGrpSpPr/>
          <p:nvPr userDrawn="1"/>
        </p:nvGrpSpPr>
        <p:grpSpPr>
          <a:xfrm>
            <a:off x="5266199" y="0"/>
            <a:ext cx="2029862" cy="666001"/>
            <a:chOff x="5134526" y="0"/>
            <a:chExt cx="2029862" cy="666001"/>
          </a:xfrm>
        </p:grpSpPr>
        <p:sp>
          <p:nvSpPr>
            <p:cNvPr id="12" name="フリーフォーム: 図形 11">
              <a:extLst>
                <a:ext uri="{FF2B5EF4-FFF2-40B4-BE49-F238E27FC236}">
                  <a16:creationId xmlns:a16="http://schemas.microsoft.com/office/drawing/2014/main" id="{D0034112-492B-641B-EBBA-8B3741F9D9E7}"/>
                </a:ext>
              </a:extLst>
            </p:cNvPr>
            <p:cNvSpPr/>
            <p:nvPr userDrawn="1"/>
          </p:nvSpPr>
          <p:spPr>
            <a:xfrm>
              <a:off x="546279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18" name="フリーフォーム: 図形 17">
              <a:extLst>
                <a:ext uri="{FF2B5EF4-FFF2-40B4-BE49-F238E27FC236}">
                  <a16:creationId xmlns:a16="http://schemas.microsoft.com/office/drawing/2014/main" id="{49CF3432-3315-44B8-410D-03FBCEBFAAED}"/>
                </a:ext>
              </a:extLst>
            </p:cNvPr>
            <p:cNvSpPr/>
            <p:nvPr userDrawn="1"/>
          </p:nvSpPr>
          <p:spPr>
            <a:xfrm>
              <a:off x="513452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grpSp>
      <p:sp>
        <p:nvSpPr>
          <p:cNvPr id="2" name="タイトル 1">
            <a:extLst>
              <a:ext uri="{FF2B5EF4-FFF2-40B4-BE49-F238E27FC236}">
                <a16:creationId xmlns:a16="http://schemas.microsoft.com/office/drawing/2014/main" id="{82E97937-A78B-74CB-5321-0D409C781972}"/>
              </a:ext>
            </a:extLst>
          </p:cNvPr>
          <p:cNvSpPr>
            <a:spLocks noGrp="1"/>
          </p:cNvSpPr>
          <p:nvPr>
            <p:ph type="ctrTitle"/>
          </p:nvPr>
        </p:nvSpPr>
        <p:spPr>
          <a:xfrm>
            <a:off x="395288" y="180296"/>
            <a:ext cx="6312750" cy="338554"/>
          </a:xfrm>
          <a:prstGeom prst="rect">
            <a:avLst/>
          </a:prstGeom>
        </p:spPr>
        <p:txBody>
          <a:bodyPr wrap="square" lIns="0" tIns="0" rIns="0" bIns="0" anchor="ctr">
            <a:spAutoFit/>
          </a:bodyPr>
          <a:lstStyle>
            <a:lvl1pPr algn="l">
              <a:defRPr lang="ja-JP" altLang="en-US" sz="2200" b="1" spc="77" baseline="0" dirty="0">
                <a:solidFill>
                  <a:schemeClr val="bg1"/>
                </a:solidFill>
                <a:latin typeface="+mj-lt"/>
                <a:ea typeface="+mj-ea"/>
                <a:cs typeface="+mj-cs"/>
              </a:defRPr>
            </a:lvl1pPr>
          </a:lstStyle>
          <a:p>
            <a:pPr marL="0" lvl="0">
              <a:lnSpc>
                <a:spcPct val="100000"/>
              </a:lnSpc>
            </a:pPr>
            <a:r>
              <a:rPr kumimoji="1" lang="ja-JP" altLang="en-US" dirty="0"/>
              <a:t>マスター タイトルの書式設定</a:t>
            </a:r>
          </a:p>
        </p:txBody>
      </p:sp>
    </p:spTree>
    <p:extLst>
      <p:ext uri="{BB962C8B-B14F-4D97-AF65-F5344CB8AC3E}">
        <p14:creationId xmlns:p14="http://schemas.microsoft.com/office/powerpoint/2010/main" val="36415131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837346"/>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86912" rtl="0" eaLnBrk="1" latinLnBrk="0" hangingPunct="1">
        <a:lnSpc>
          <a:spcPct val="90000"/>
        </a:lnSpc>
        <a:spcBef>
          <a:spcPct val="0"/>
        </a:spcBef>
        <a:buNone/>
        <a:defRPr kumimoji="1" sz="4749" kern="1200">
          <a:solidFill>
            <a:schemeClr val="tx1"/>
          </a:solidFill>
          <a:latin typeface="+mj-lt"/>
          <a:ea typeface="+mj-ea"/>
          <a:cs typeface="+mj-cs"/>
        </a:defRPr>
      </a:lvl1pPr>
    </p:titleStyle>
    <p:bodyStyle>
      <a:lvl1pPr marL="246728" indent="-246728" algn="l" defTabSz="986912" rtl="0" eaLnBrk="1" latinLnBrk="0" hangingPunct="1">
        <a:lnSpc>
          <a:spcPct val="90000"/>
        </a:lnSpc>
        <a:spcBef>
          <a:spcPts val="1079"/>
        </a:spcBef>
        <a:buFont typeface="Arial" panose="020B0604020202020204" pitchFamily="34" charset="0"/>
        <a:buChar char="•"/>
        <a:defRPr kumimoji="1" sz="3022" kern="1200">
          <a:solidFill>
            <a:schemeClr val="tx1"/>
          </a:solidFill>
          <a:latin typeface="+mn-lt"/>
          <a:ea typeface="+mn-ea"/>
          <a:cs typeface="+mn-cs"/>
        </a:defRPr>
      </a:lvl1pPr>
      <a:lvl2pPr marL="740184" indent="-246728" algn="l" defTabSz="986912" rtl="0" eaLnBrk="1" latinLnBrk="0" hangingPunct="1">
        <a:lnSpc>
          <a:spcPct val="90000"/>
        </a:lnSpc>
        <a:spcBef>
          <a:spcPts val="540"/>
        </a:spcBef>
        <a:buFont typeface="Arial" panose="020B0604020202020204" pitchFamily="34" charset="0"/>
        <a:buChar char="•"/>
        <a:defRPr kumimoji="1" sz="2590" kern="1200">
          <a:solidFill>
            <a:schemeClr val="tx1"/>
          </a:solidFill>
          <a:latin typeface="+mn-lt"/>
          <a:ea typeface="+mn-ea"/>
          <a:cs typeface="+mn-cs"/>
        </a:defRPr>
      </a:lvl2pPr>
      <a:lvl3pPr marL="1233640" indent="-246728" algn="l" defTabSz="986912" rtl="0" eaLnBrk="1" latinLnBrk="0" hangingPunct="1">
        <a:lnSpc>
          <a:spcPct val="90000"/>
        </a:lnSpc>
        <a:spcBef>
          <a:spcPts val="540"/>
        </a:spcBef>
        <a:buFont typeface="Arial" panose="020B0604020202020204" pitchFamily="34" charset="0"/>
        <a:buChar char="•"/>
        <a:defRPr kumimoji="1" sz="2159" kern="1200">
          <a:solidFill>
            <a:schemeClr val="tx1"/>
          </a:solidFill>
          <a:latin typeface="+mn-lt"/>
          <a:ea typeface="+mn-ea"/>
          <a:cs typeface="+mn-cs"/>
        </a:defRPr>
      </a:lvl3pPr>
      <a:lvl4pPr marL="172709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4pPr>
      <a:lvl5pPr marL="2220552"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5pPr>
      <a:lvl6pPr marL="2714008"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6pPr>
      <a:lvl7pPr marL="3207464"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7pPr>
      <a:lvl8pPr marL="3700920"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8pPr>
      <a:lvl9pPr marL="419437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9pPr>
    </p:bodyStyle>
    <p:otherStyle>
      <a:defPPr>
        <a:defRPr lang="ja-JP"/>
      </a:defPPr>
      <a:lvl1pPr marL="0" algn="l" defTabSz="986912" rtl="0" eaLnBrk="1" latinLnBrk="0" hangingPunct="1">
        <a:defRPr kumimoji="1" sz="1943" kern="1200">
          <a:solidFill>
            <a:schemeClr val="tx1"/>
          </a:solidFill>
          <a:latin typeface="+mn-lt"/>
          <a:ea typeface="+mn-ea"/>
          <a:cs typeface="+mn-cs"/>
        </a:defRPr>
      </a:lvl1pPr>
      <a:lvl2pPr marL="493456" algn="l" defTabSz="986912" rtl="0" eaLnBrk="1" latinLnBrk="0" hangingPunct="1">
        <a:defRPr kumimoji="1" sz="1943" kern="1200">
          <a:solidFill>
            <a:schemeClr val="tx1"/>
          </a:solidFill>
          <a:latin typeface="+mn-lt"/>
          <a:ea typeface="+mn-ea"/>
          <a:cs typeface="+mn-cs"/>
        </a:defRPr>
      </a:lvl2pPr>
      <a:lvl3pPr marL="986912" algn="l" defTabSz="986912" rtl="0" eaLnBrk="1" latinLnBrk="0" hangingPunct="1">
        <a:defRPr kumimoji="1" sz="1943" kern="1200">
          <a:solidFill>
            <a:schemeClr val="tx1"/>
          </a:solidFill>
          <a:latin typeface="+mn-lt"/>
          <a:ea typeface="+mn-ea"/>
          <a:cs typeface="+mn-cs"/>
        </a:defRPr>
      </a:lvl3pPr>
      <a:lvl4pPr marL="1480368" algn="l" defTabSz="986912" rtl="0" eaLnBrk="1" latinLnBrk="0" hangingPunct="1">
        <a:defRPr kumimoji="1" sz="1943" kern="1200">
          <a:solidFill>
            <a:schemeClr val="tx1"/>
          </a:solidFill>
          <a:latin typeface="+mn-lt"/>
          <a:ea typeface="+mn-ea"/>
          <a:cs typeface="+mn-cs"/>
        </a:defRPr>
      </a:lvl4pPr>
      <a:lvl5pPr marL="1973824" algn="l" defTabSz="986912" rtl="0" eaLnBrk="1" latinLnBrk="0" hangingPunct="1">
        <a:defRPr kumimoji="1" sz="1943" kern="1200">
          <a:solidFill>
            <a:schemeClr val="tx1"/>
          </a:solidFill>
          <a:latin typeface="+mn-lt"/>
          <a:ea typeface="+mn-ea"/>
          <a:cs typeface="+mn-cs"/>
        </a:defRPr>
      </a:lvl5pPr>
      <a:lvl6pPr marL="2467280" algn="l" defTabSz="986912" rtl="0" eaLnBrk="1" latinLnBrk="0" hangingPunct="1">
        <a:defRPr kumimoji="1" sz="1943" kern="1200">
          <a:solidFill>
            <a:schemeClr val="tx1"/>
          </a:solidFill>
          <a:latin typeface="+mn-lt"/>
          <a:ea typeface="+mn-ea"/>
          <a:cs typeface="+mn-cs"/>
        </a:defRPr>
      </a:lvl6pPr>
      <a:lvl7pPr marL="2960736" algn="l" defTabSz="986912" rtl="0" eaLnBrk="1" latinLnBrk="0" hangingPunct="1">
        <a:defRPr kumimoji="1" sz="1943" kern="1200">
          <a:solidFill>
            <a:schemeClr val="tx1"/>
          </a:solidFill>
          <a:latin typeface="+mn-lt"/>
          <a:ea typeface="+mn-ea"/>
          <a:cs typeface="+mn-cs"/>
        </a:defRPr>
      </a:lvl7pPr>
      <a:lvl8pPr marL="3454192" algn="l" defTabSz="986912" rtl="0" eaLnBrk="1" latinLnBrk="0" hangingPunct="1">
        <a:defRPr kumimoji="1" sz="1943" kern="1200">
          <a:solidFill>
            <a:schemeClr val="tx1"/>
          </a:solidFill>
          <a:latin typeface="+mn-lt"/>
          <a:ea typeface="+mn-ea"/>
          <a:cs typeface="+mn-cs"/>
        </a:defRPr>
      </a:lvl8pPr>
      <a:lvl9pPr marL="3947648" algn="l" defTabSz="986912" rtl="0" eaLnBrk="1" latinLnBrk="0" hangingPunct="1">
        <a:defRPr kumimoji="1"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97" userDrawn="1">
          <p15:clr>
            <a:srgbClr val="FBAE40"/>
          </p15:clr>
        </p15:guide>
        <p15:guide id="2" pos="249" userDrawn="1">
          <p15:clr>
            <a:srgbClr val="FBAE40"/>
          </p15:clr>
        </p15:guide>
        <p15:guide id="3" pos="4513"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888E1B8-0153-DECA-3B80-F24B78728526}"/>
              </a:ext>
            </a:extLst>
          </p:cNvPr>
          <p:cNvSpPr>
            <a:spLocks noChangeArrowheads="1"/>
          </p:cNvSpPr>
          <p:nvPr/>
        </p:nvSpPr>
        <p:spPr bwMode="auto">
          <a:xfrm>
            <a:off x="243315" y="198657"/>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p>
        </p:txBody>
      </p:sp>
      <p:sp>
        <p:nvSpPr>
          <p:cNvPr id="9" name="Rectangle 6">
            <a:extLst>
              <a:ext uri="{FF2B5EF4-FFF2-40B4-BE49-F238E27FC236}">
                <a16:creationId xmlns:a16="http://schemas.microsoft.com/office/drawing/2014/main" id="{91FDEF8C-A708-35C1-68E9-DF22D8ADD4F3}"/>
              </a:ext>
            </a:extLst>
          </p:cNvPr>
          <p:cNvSpPr>
            <a:spLocks noChangeArrowheads="1"/>
          </p:cNvSpPr>
          <p:nvPr/>
        </p:nvSpPr>
        <p:spPr bwMode="auto">
          <a:xfrm>
            <a:off x="243315" y="445393"/>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p>
        </p:txBody>
      </p:sp>
      <p:sp>
        <p:nvSpPr>
          <p:cNvPr id="15" name="テキスト ボックス 14">
            <a:extLst>
              <a:ext uri="{FF2B5EF4-FFF2-40B4-BE49-F238E27FC236}">
                <a16:creationId xmlns:a16="http://schemas.microsoft.com/office/drawing/2014/main" id="{72A98AC9-7248-8221-81A9-97B62E43ACD1}"/>
              </a:ext>
            </a:extLst>
          </p:cNvPr>
          <p:cNvSpPr txBox="1"/>
          <p:nvPr/>
        </p:nvSpPr>
        <p:spPr>
          <a:xfrm>
            <a:off x="395837" y="8571977"/>
            <a:ext cx="6768000" cy="1119665"/>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marL="144000" indent="-144000">
              <a:lnSpc>
                <a:spcPct val="110000"/>
              </a:lnSpc>
              <a:spcAft>
                <a:spcPts val="600"/>
              </a:spcAft>
            </a:pPr>
            <a:r>
              <a:rPr lang="ja-JP" altLang="ja-JP" sz="1050" b="1" spc="30" dirty="0">
                <a:latin typeface="+mj-ea"/>
                <a:ea typeface="+mj-ea"/>
              </a:rPr>
              <a:t>本情報の取扱について</a:t>
            </a:r>
            <a:endParaRPr lang="en-US" altLang="ja-JP" sz="1050" b="1" spc="30" dirty="0">
              <a:latin typeface="+mj-ea"/>
              <a:ea typeface="+mj-ea"/>
            </a:endParaRPr>
          </a:p>
          <a:p>
            <a:pPr marL="0" indent="0">
              <a:lnSpc>
                <a:spcPct val="110000"/>
              </a:lnSpc>
              <a:spcAft>
                <a:spcPts val="600"/>
              </a:spcAft>
              <a:buNone/>
            </a:pPr>
            <a:r>
              <a:rPr lang="ja-JP" altLang="ja-JP" sz="1000" spc="30" dirty="0"/>
              <a:t>貴社の今後の経営戦略上、相乗効果があると思われる譲渡希望企業に関する情報を提供させていただきました。なお、本情報は、貴社を信頼した上での情報提供であり、また、譲渡希望企業にとりましては、絶対に漏洩されてはならない極秘情報です。</a:t>
            </a:r>
            <a:r>
              <a:rPr lang="ja-JP" altLang="ja-JP" sz="1000" b="1" spc="30" dirty="0">
                <a:solidFill>
                  <a:schemeClr val="tx2"/>
                </a:solidFill>
                <a:latin typeface="+mj-ea"/>
                <a:ea typeface="+mj-ea"/>
              </a:rPr>
              <a:t>本情報を第三者に伝達、</a:t>
            </a:r>
            <a:r>
              <a:rPr lang="en-US" altLang="ja-JP" sz="1000" b="1" spc="30" dirty="0">
                <a:solidFill>
                  <a:schemeClr val="tx2"/>
                </a:solidFill>
                <a:latin typeface="+mj-ea"/>
                <a:ea typeface="+mj-ea"/>
              </a:rPr>
              <a:t>FAX</a:t>
            </a:r>
            <a:r>
              <a:rPr lang="ja-JP" altLang="ja-JP" sz="1000" b="1" spc="30" dirty="0">
                <a:solidFill>
                  <a:schemeClr val="tx2"/>
                </a:solidFill>
                <a:latin typeface="+mj-ea"/>
                <a:ea typeface="+mj-ea"/>
              </a:rPr>
              <a:t>等により情報が漏洩することのないよう、お取扱いには充分ご留意くださいますようお願い申し上げます。また、万が一、上記内容から個別企業が特定できてしまった場合も、秘密厳守いただきますよう、お願い申し上げます。</a:t>
            </a:r>
            <a:endParaRPr lang="ja-JP" altLang="en-US" sz="1000" b="1" spc="30" dirty="0">
              <a:solidFill>
                <a:schemeClr val="tx2"/>
              </a:solidFill>
              <a:latin typeface="+mj-ea"/>
              <a:ea typeface="+mj-ea"/>
            </a:endParaRPr>
          </a:p>
        </p:txBody>
      </p:sp>
      <p:sp>
        <p:nvSpPr>
          <p:cNvPr id="19" name="タイトル 18">
            <a:extLst>
              <a:ext uri="{FF2B5EF4-FFF2-40B4-BE49-F238E27FC236}">
                <a16:creationId xmlns:a16="http://schemas.microsoft.com/office/drawing/2014/main" id="{6C90DF39-7E4C-8D71-E2D6-9BFCE35B4780}"/>
              </a:ext>
            </a:extLst>
          </p:cNvPr>
          <p:cNvSpPr>
            <a:spLocks noGrp="1"/>
          </p:cNvSpPr>
          <p:nvPr>
            <p:ph type="ctrTitle"/>
          </p:nvPr>
        </p:nvSpPr>
        <p:spPr>
          <a:xfrm>
            <a:off x="395288" y="180296"/>
            <a:ext cx="6312750" cy="338554"/>
          </a:xfrm>
        </p:spPr>
        <p:txBody>
          <a:bodyPr/>
          <a:lstStyle/>
          <a:p>
            <a:pPr>
              <a:lnSpc>
                <a:spcPct val="100000"/>
              </a:lnSpc>
            </a:pPr>
            <a:r>
              <a:rPr lang="en-US" altLang="ja-JP" dirty="0"/>
              <a:t>M</a:t>
            </a:r>
            <a:r>
              <a:rPr lang="ja-JP" altLang="ja-JP" dirty="0"/>
              <a:t>＆</a:t>
            </a:r>
            <a:r>
              <a:rPr lang="en-US" altLang="ja-JP" dirty="0"/>
              <a:t>A</a:t>
            </a:r>
            <a:r>
              <a:rPr lang="ja-JP" altLang="ja-JP" dirty="0"/>
              <a:t>案件 ノンネームシート</a:t>
            </a:r>
          </a:p>
        </p:txBody>
      </p:sp>
      <p:sp>
        <p:nvSpPr>
          <p:cNvPr id="23" name="テキスト ボックス 22">
            <a:extLst>
              <a:ext uri="{FF2B5EF4-FFF2-40B4-BE49-F238E27FC236}">
                <a16:creationId xmlns:a16="http://schemas.microsoft.com/office/drawing/2014/main" id="{9E28014E-FBFD-106F-4D5F-D53837A1C057}"/>
              </a:ext>
            </a:extLst>
          </p:cNvPr>
          <p:cNvSpPr txBox="1"/>
          <p:nvPr/>
        </p:nvSpPr>
        <p:spPr>
          <a:xfrm>
            <a:off x="395837" y="872366"/>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t>事業内容</a:t>
            </a:r>
          </a:p>
        </p:txBody>
      </p:sp>
      <p:sp>
        <p:nvSpPr>
          <p:cNvPr id="25" name="テキスト ボックス 24">
            <a:extLst>
              <a:ext uri="{FF2B5EF4-FFF2-40B4-BE49-F238E27FC236}">
                <a16:creationId xmlns:a16="http://schemas.microsoft.com/office/drawing/2014/main" id="{2A1C669F-1542-BE66-DA66-B4EE245A9E57}"/>
              </a:ext>
            </a:extLst>
          </p:cNvPr>
          <p:cNvSpPr txBox="1"/>
          <p:nvPr/>
        </p:nvSpPr>
        <p:spPr>
          <a:xfrm>
            <a:off x="395837" y="3435142"/>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t>特徴・強み</a:t>
            </a:r>
          </a:p>
        </p:txBody>
      </p:sp>
      <p:sp>
        <p:nvSpPr>
          <p:cNvPr id="27" name="テキスト ボックス 26">
            <a:extLst>
              <a:ext uri="{FF2B5EF4-FFF2-40B4-BE49-F238E27FC236}">
                <a16:creationId xmlns:a16="http://schemas.microsoft.com/office/drawing/2014/main" id="{D9D4DACD-ED65-2617-52E5-79A22AC3A052}"/>
              </a:ext>
            </a:extLst>
          </p:cNvPr>
          <p:cNvSpPr txBox="1"/>
          <p:nvPr/>
        </p:nvSpPr>
        <p:spPr>
          <a:xfrm>
            <a:off x="395837" y="6704945"/>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t>補足事項</a:t>
            </a:r>
          </a:p>
        </p:txBody>
      </p:sp>
      <p:graphicFrame>
        <p:nvGraphicFramePr>
          <p:cNvPr id="29" name="表 28">
            <a:extLst>
              <a:ext uri="{FF2B5EF4-FFF2-40B4-BE49-F238E27FC236}">
                <a16:creationId xmlns:a16="http://schemas.microsoft.com/office/drawing/2014/main" id="{A641D9B2-1C32-B1BB-4E1E-555310178BFC}"/>
              </a:ext>
            </a:extLst>
          </p:cNvPr>
          <p:cNvGraphicFramePr>
            <a:graphicFrameLocks noGrp="1"/>
          </p:cNvGraphicFramePr>
          <p:nvPr>
            <p:extLst>
              <p:ext uri="{D42A27DB-BD31-4B8C-83A1-F6EECF244321}">
                <p14:modId xmlns:p14="http://schemas.microsoft.com/office/powerpoint/2010/main" val="529075457"/>
              </p:ext>
            </p:extLst>
          </p:nvPr>
        </p:nvGraphicFramePr>
        <p:xfrm>
          <a:off x="395288" y="1221384"/>
          <a:ext cx="6768000" cy="190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380000">
                <a:tc>
                  <a:txBody>
                    <a:bodyPr/>
                    <a:lstStyle/>
                    <a:p>
                      <a:pPr algn="l"/>
                      <a:r>
                        <a:rPr lang="ja-JP" altLang="ja-JP" sz="1400" b="1" spc="50" baseline="0" dirty="0">
                          <a:solidFill>
                            <a:schemeClr val="tx1"/>
                          </a:solidFill>
                          <a:latin typeface="+mj-lt"/>
                          <a:ea typeface="+mj-ea"/>
                        </a:rPr>
                        <a:t>業種 </a:t>
                      </a:r>
                      <a:endParaRPr kumimoji="1" lang="ja-JP" altLang="en-US" sz="1400" b="1" spc="50" baseline="0" dirty="0">
                        <a:solidFill>
                          <a:schemeClr val="tx1"/>
                        </a:solidFill>
                        <a:latin typeface="+mj-lt"/>
                        <a:ea typeface="+mj-ea"/>
                      </a:endParaRPr>
                    </a:p>
                  </a:txBody>
                  <a:tcPr marL="144000" marR="108000" marT="18000" marB="0" anchor="ctr">
                    <a:lnL w="12700" cmpd="sng">
                      <a:noFill/>
                    </a:lnL>
                    <a:lnR w="1270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solidFill>
                            <a:schemeClr val="tx1"/>
                          </a:solidFill>
                          <a:latin typeface="+mn-lt"/>
                          <a:ea typeface="+mn-ea"/>
                        </a:rPr>
                        <a:t>キャラクターグッズ企画・製造販売業</a:t>
                      </a:r>
                    </a:p>
                  </a:txBody>
                  <a:tcPr marL="144000" marR="108000" marT="18000" marB="0" anchor="ctr">
                    <a:lnL w="12700" cap="flat" cmpd="sng" algn="ctr">
                      <a:solidFill>
                        <a:schemeClr val="bg1"/>
                      </a:solidFill>
                      <a:prstDash val="solid"/>
                      <a:round/>
                      <a:headEnd type="none" w="med" len="med"/>
                      <a:tailEnd type="none" w="med" len="med"/>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451389"/>
                  </a:ext>
                </a:extLst>
              </a:tr>
              <a:tr h="380000">
                <a:tc>
                  <a:txBody>
                    <a:bodyPr/>
                    <a:lstStyle/>
                    <a:p>
                      <a:pPr algn="l"/>
                      <a:r>
                        <a:rPr lang="ja-JP" altLang="ja-JP" sz="1400" b="1" spc="50" baseline="0" dirty="0">
                          <a:latin typeface="+mj-lt"/>
                          <a:ea typeface="+mj-ea"/>
                        </a:rPr>
                        <a:t>エリア</a:t>
                      </a:r>
                      <a:endParaRPr kumimoji="1" lang="ja-JP" altLang="en-US" sz="1400" b="1" spc="50" baseline="0" dirty="0">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mn-lt"/>
                          <a:ea typeface="+mn-ea"/>
                        </a:rPr>
                        <a:t>関東</a:t>
                      </a:r>
                      <a:r>
                        <a:rPr lang="ja-JP" altLang="en-US" sz="1400" spc="50" baseline="0" dirty="0">
                          <a:latin typeface="+mn-lt"/>
                          <a:ea typeface="+mn-ea"/>
                        </a:rPr>
                        <a:t>地方</a:t>
                      </a:r>
                      <a:endParaRPr lang="ja-JP" altLang="ja-JP" sz="1400" spc="50" baseline="0" dirty="0">
                        <a:latin typeface="+mn-lt"/>
                        <a:ea typeface="+mn-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380000">
                <a:tc>
                  <a:txBody>
                    <a:bodyPr/>
                    <a:lstStyle/>
                    <a:p>
                      <a:pPr algn="l"/>
                      <a:r>
                        <a:rPr lang="zh-TW" altLang="ja-JP" sz="1400" b="1" spc="50" baseline="0" dirty="0">
                          <a:latin typeface="+mj-lt"/>
                          <a:ea typeface="+mj-ea"/>
                        </a:rPr>
                        <a:t>売 上 高 </a:t>
                      </a:r>
                      <a:endParaRPr kumimoji="1" lang="ja-JP" altLang="en-US" sz="1400" b="1" spc="50" baseline="0" dirty="0">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mn-lt"/>
                          <a:ea typeface="+mn-ea"/>
                        </a:rPr>
                        <a:t>400百万円以上</a:t>
                      </a:r>
                      <a:endParaRPr lang="ja-JP" altLang="ja-JP" sz="1400" spc="50" baseline="0" dirty="0">
                        <a:solidFill>
                          <a:srgbClr val="FF0000"/>
                        </a:solidFill>
                        <a:latin typeface="+mn-lt"/>
                        <a:ea typeface="+mn-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380000">
                <a:tc>
                  <a:txBody>
                    <a:bodyPr/>
                    <a:lstStyle/>
                    <a:p>
                      <a:pPr algn="l"/>
                      <a:r>
                        <a:rPr lang="en-US" altLang="ja-JP" sz="1400" b="1" spc="50" baseline="0" dirty="0">
                          <a:latin typeface="+mj-lt"/>
                          <a:ea typeface="+mj-ea"/>
                        </a:rPr>
                        <a:t>EBITDA </a:t>
                      </a:r>
                      <a:endParaRPr kumimoji="1" lang="ja-JP" altLang="en-US" sz="1400" b="1" spc="50" baseline="0" dirty="0">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mn-lt"/>
                          <a:ea typeface="+mn-ea"/>
                        </a:rPr>
                        <a:t>40百万円以上</a:t>
                      </a:r>
                      <a:endParaRPr lang="ja-JP" altLang="ja-JP" sz="1400" spc="50" baseline="0" dirty="0">
                        <a:solidFill>
                          <a:srgbClr val="FF0000"/>
                        </a:solidFill>
                        <a:latin typeface="+mn-lt"/>
                        <a:ea typeface="+mn-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r h="380000">
                <a:tc>
                  <a:txBody>
                    <a:bodyPr/>
                    <a:lstStyle/>
                    <a:p>
                      <a:pPr algn="l"/>
                      <a:r>
                        <a:rPr lang="ja-JP" altLang="ja-JP" sz="1400" b="1" spc="50" baseline="0" dirty="0">
                          <a:latin typeface="+mj-lt"/>
                          <a:ea typeface="+mj-ea"/>
                        </a:rPr>
                        <a:t>従 業 員 </a:t>
                      </a:r>
                      <a:endParaRPr kumimoji="1" lang="ja-JP" altLang="en-US" sz="1400" b="1" spc="50" baseline="0" dirty="0">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mn-lt"/>
                          <a:ea typeface="+mn-ea"/>
                        </a:rPr>
                        <a:t>10名程度</a:t>
                      </a:r>
                      <a:endParaRPr lang="ja-JP" altLang="ja-JP" sz="1400" spc="50" baseline="0" dirty="0">
                        <a:solidFill>
                          <a:srgbClr val="FF0000"/>
                        </a:solidFill>
                        <a:latin typeface="+mn-lt"/>
                        <a:ea typeface="+mn-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727746"/>
                  </a:ext>
                </a:extLst>
              </a:tr>
            </a:tbl>
          </a:graphicData>
        </a:graphic>
      </p:graphicFrame>
      <p:graphicFrame>
        <p:nvGraphicFramePr>
          <p:cNvPr id="30" name="表 29">
            <a:extLst>
              <a:ext uri="{FF2B5EF4-FFF2-40B4-BE49-F238E27FC236}">
                <a16:creationId xmlns:a16="http://schemas.microsoft.com/office/drawing/2014/main" id="{058C6A93-50F6-9EEA-0E8E-D78019F88DC0}"/>
              </a:ext>
            </a:extLst>
          </p:cNvPr>
          <p:cNvGraphicFramePr>
            <a:graphicFrameLocks noGrp="1"/>
          </p:cNvGraphicFramePr>
          <p:nvPr>
            <p:extLst>
              <p:ext uri="{D42A27DB-BD31-4B8C-83A1-F6EECF244321}">
                <p14:modId xmlns:p14="http://schemas.microsoft.com/office/powerpoint/2010/main" val="2056678599"/>
              </p:ext>
            </p:extLst>
          </p:nvPr>
        </p:nvGraphicFramePr>
        <p:xfrm>
          <a:off x="395288" y="3773187"/>
          <a:ext cx="6768000" cy="2618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1290000">
                <a:tc>
                  <a:txBody>
                    <a:bodyPr/>
                    <a:lstStyle/>
                    <a:p>
                      <a:pPr>
                        <a:lnSpc>
                          <a:spcPct val="120000"/>
                        </a:lnSpc>
                      </a:pPr>
                      <a:r>
                        <a:rPr lang="ja-JP" altLang="en-US" sz="1400" b="1" dirty="0">
                          <a:solidFill>
                            <a:schemeClr val="tx1"/>
                          </a:solidFill>
                          <a:latin typeface="+mj-lt"/>
                          <a:ea typeface="+mj-ea"/>
                        </a:rPr>
                        <a:t>ビジネス面</a:t>
                      </a:r>
                      <a:endParaRPr kumimoji="1" lang="ja-JP" altLang="en-US" sz="800" b="1" spc="50" baseline="0" dirty="0">
                        <a:solidFill>
                          <a:schemeClr val="tx1"/>
                        </a:solidFill>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アニメ・ゲーム分野の大手IPホルダー・出版社系版元と複数期にわたる継続的な商品化取引を有し、安定した受注基盤を構築</a:t>
                      </a:r>
                      <a:endParaRPr lang="en-US" altLang="ja-JP" sz="1100" b="0" spc="30" baseline="0" dirty="0">
                        <a:solidFill>
                          <a:schemeClr val="tx1"/>
                        </a:solidFill>
                        <a:latin typeface="+mn-lt"/>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企画・デザインは自社で行い、製造は国内外の複数パートナーへ委託するファブレス体制により、商材・ロットに応じた柔軟な生産対応が可能</a:t>
                      </a:r>
                      <a:endParaRPr lang="en-US" altLang="ja-JP" sz="1100" b="0" spc="30" baseline="0" dirty="0">
                        <a:solidFill>
                          <a:schemeClr val="tx1"/>
                        </a:solidFill>
                        <a:latin typeface="+mn-lt"/>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受託案件に加え、自社で版権を取得して企画から卸販売までを主導するオリジナル商材も展開し、収益機会を多様化</a:t>
                      </a:r>
                      <a:endParaRPr lang="en-US" altLang="ja-JP" sz="1100" b="0" spc="30" baseline="0" dirty="0">
                        <a:solidFill>
                          <a:schemeClr val="tx1"/>
                        </a:solidFill>
                        <a:latin typeface="+mn-lt"/>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664000">
                <a:tc>
                  <a:txBody>
                    <a:bodyPr/>
                    <a:lstStyle/>
                    <a:p>
                      <a:pPr>
                        <a:lnSpc>
                          <a:spcPct val="120000"/>
                        </a:lnSpc>
                      </a:pPr>
                      <a:r>
                        <a:rPr lang="ja-JP" altLang="en-US" sz="1400" b="1" dirty="0">
                          <a:solidFill>
                            <a:schemeClr val="tx1"/>
                          </a:solidFill>
                          <a:latin typeface="+mj-lt"/>
                          <a:ea typeface="+mj-ea"/>
                        </a:rPr>
                        <a:t>財務面</a:t>
                      </a:r>
                      <a:endParaRPr kumimoji="1" lang="ja-JP" altLang="en-US" sz="800" b="1" spc="50" baseline="0" dirty="0">
                        <a:solidFill>
                          <a:schemeClr val="tx1"/>
                        </a:solidFill>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直近3期はいずれも営業黒字で、直近期の営業利益率は13％超</a:t>
                      </a:r>
                      <a:endParaRPr lang="ja-JP" altLang="ja-JP" sz="1100" b="0" spc="30" baseline="0" dirty="0">
                        <a:solidFill>
                          <a:schemeClr val="tx1"/>
                        </a:solidFill>
                        <a:latin typeface="+mn-lt"/>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現預金が有利子負債を上回るネットキャッシュの状態にある</a:t>
                      </a:r>
                      <a:endParaRPr lang="ja-JP" altLang="ja-JP" sz="1100" b="0" spc="30" baseline="0" dirty="0">
                        <a:solidFill>
                          <a:schemeClr val="tx1"/>
                        </a:solidFill>
                        <a:latin typeface="+mn-lt"/>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自社工場を持たず設備投資負担が小さく、利益がキャッシュに直結</a:t>
                      </a:r>
                      <a:endParaRPr lang="ja-JP" altLang="ja-JP" sz="1100" b="0" spc="30" baseline="0" dirty="0">
                        <a:solidFill>
                          <a:schemeClr val="tx1"/>
                        </a:solidFill>
                        <a:latin typeface="+mn-lt"/>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664000">
                <a:tc>
                  <a:txBody>
                    <a:bodyPr/>
                    <a:lstStyle/>
                    <a:p>
                      <a:pPr>
                        <a:lnSpc>
                          <a:spcPct val="120000"/>
                        </a:lnSpc>
                      </a:pPr>
                      <a:r>
                        <a:rPr kumimoji="1" lang="ja-JP" altLang="en-US" sz="1400" b="1" spc="50" baseline="0" dirty="0">
                          <a:solidFill>
                            <a:schemeClr val="tx1"/>
                          </a:solidFill>
                          <a:latin typeface="+mj-lt"/>
                          <a:ea typeface="+mj-ea"/>
                        </a:rPr>
                        <a:t>組織面</a:t>
                      </a:r>
                      <a:endParaRPr kumimoji="1" lang="en-US" altLang="ja-JP" sz="1400" b="1" spc="50" baseline="0" dirty="0">
                        <a:solidFill>
                          <a:schemeClr val="tx1"/>
                        </a:solidFill>
                        <a:latin typeface="+mj-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長期勤続の中核人材と若手が在籍し、バランスの取れた人員構成</a:t>
                      </a:r>
                      <a:endParaRPr lang="ja-JP" altLang="ja-JP" sz="1100" b="0" spc="30" baseline="0" dirty="0">
                        <a:solidFill>
                          <a:schemeClr val="tx1"/>
                        </a:solidFill>
                        <a:latin typeface="+mn-lt"/>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少数精鋭体制により、一人当たり売上高40百万円超の高い生産性</a:t>
                      </a:r>
                      <a:endParaRPr lang="ja-JP" altLang="ja-JP" sz="1100" b="0" spc="30" baseline="0" dirty="0">
                        <a:solidFill>
                          <a:schemeClr val="tx1"/>
                        </a:solidFill>
                        <a:latin typeface="+mn-lt"/>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mn-lt"/>
                        </a:rPr>
                        <a:t>代表者は譲渡後も一定期間の継続勤務が可能で、引継ぎに協力的</a:t>
                      </a:r>
                      <a:endParaRPr lang="ja-JP" altLang="ja-JP" sz="1100" b="0" spc="30" baseline="0" dirty="0">
                        <a:solidFill>
                          <a:schemeClr val="tx1"/>
                        </a:solidFill>
                        <a:latin typeface="+mn-lt"/>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graphicFrame>
        <p:nvGraphicFramePr>
          <p:cNvPr id="31" name="表 30">
            <a:extLst>
              <a:ext uri="{FF2B5EF4-FFF2-40B4-BE49-F238E27FC236}">
                <a16:creationId xmlns:a16="http://schemas.microsoft.com/office/drawing/2014/main" id="{06B6E9E3-203A-CA00-9F50-A2947860CA20}"/>
              </a:ext>
            </a:extLst>
          </p:cNvPr>
          <p:cNvGraphicFramePr>
            <a:graphicFrameLocks noGrp="1"/>
          </p:cNvGraphicFramePr>
          <p:nvPr>
            <p:extLst>
              <p:ext uri="{D42A27DB-BD31-4B8C-83A1-F6EECF244321}">
                <p14:modId xmlns:p14="http://schemas.microsoft.com/office/powerpoint/2010/main" val="797504179"/>
              </p:ext>
            </p:extLst>
          </p:nvPr>
        </p:nvGraphicFramePr>
        <p:xfrm>
          <a:off x="395288" y="7042990"/>
          <a:ext cx="6768000" cy="126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0000">
                <a:tc>
                  <a:txBody>
                    <a:bodyPr/>
                    <a:lstStyle/>
                    <a:p>
                      <a:r>
                        <a:rPr lang="ja-JP" altLang="ja-JP" sz="1400" b="1" spc="50" baseline="0" dirty="0">
                          <a:solidFill>
                            <a:schemeClr val="tx1"/>
                          </a:solidFill>
                          <a:latin typeface="+mn-lt"/>
                          <a:ea typeface="+mj-ea"/>
                        </a:rPr>
                        <a:t>譲渡理由 </a:t>
                      </a:r>
                      <a:endParaRPr kumimoji="1" lang="ja-JP" altLang="en-US" sz="800" b="1" spc="50" baseline="0" dirty="0">
                        <a:solidFill>
                          <a:schemeClr val="tx1"/>
                        </a:solidFill>
                        <a:latin typeface="+mn-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en-US" sz="1400" b="0" spc="50" baseline="0" dirty="0">
                          <a:solidFill>
                            <a:schemeClr val="tx1"/>
                          </a:solidFill>
                          <a:latin typeface="+mn-lt"/>
                        </a:rPr>
                        <a:t>後継者不在、更なる事業の発展</a:t>
                      </a:r>
                      <a:endParaRPr lang="ja-JP" altLang="ja-JP" sz="1400" b="0" spc="50" baseline="0" dirty="0">
                        <a:solidFill>
                          <a:srgbClr val="FF0000"/>
                        </a:solidFill>
                        <a:latin typeface="+mn-lt"/>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0000">
                <a:tc>
                  <a:txBody>
                    <a:bodyPr/>
                    <a:lstStyle/>
                    <a:p>
                      <a:r>
                        <a:rPr lang="ja-JP" altLang="ja-JP" sz="1400" b="1" spc="50" baseline="0" dirty="0">
                          <a:solidFill>
                            <a:schemeClr val="tx1"/>
                          </a:solidFill>
                          <a:latin typeface="+mn-lt"/>
                          <a:ea typeface="+mj-ea"/>
                        </a:rPr>
                        <a:t>スキーム </a:t>
                      </a:r>
                      <a:endParaRPr kumimoji="1" lang="ja-JP" altLang="en-US" sz="800" b="1" spc="50" baseline="0" dirty="0">
                        <a:solidFill>
                          <a:schemeClr val="tx1"/>
                        </a:solidFill>
                        <a:latin typeface="+mn-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ja-JP" sz="1400" b="0" spc="50" baseline="0" dirty="0">
                          <a:solidFill>
                            <a:schemeClr val="tx1"/>
                          </a:solidFill>
                          <a:latin typeface="+mn-lt"/>
                        </a:rPr>
                        <a:t>株式</a:t>
                      </a:r>
                      <a:r>
                        <a:rPr lang="en-US" altLang="ja-JP" sz="1400" b="0" spc="50" baseline="0" dirty="0">
                          <a:solidFill>
                            <a:schemeClr val="tx1"/>
                          </a:solidFill>
                          <a:latin typeface="+mn-lt"/>
                        </a:rPr>
                        <a:t>100</a:t>
                      </a:r>
                      <a:r>
                        <a:rPr lang="ja-JP" altLang="en-US" sz="1400" b="0" spc="50" baseline="0" dirty="0">
                          <a:solidFill>
                            <a:schemeClr val="tx1"/>
                          </a:solidFill>
                          <a:latin typeface="+mn-lt"/>
                        </a:rPr>
                        <a:t>％</a:t>
                      </a:r>
                      <a:r>
                        <a:rPr lang="ja-JP" altLang="ja-JP" sz="1400" b="0" spc="50" baseline="0" dirty="0">
                          <a:solidFill>
                            <a:schemeClr val="tx1"/>
                          </a:solidFill>
                          <a:latin typeface="+mn-lt"/>
                        </a:rPr>
                        <a:t>譲渡</a:t>
                      </a:r>
                      <a:r>
                        <a:rPr lang="ja-JP" altLang="ja-JP" sz="1400" b="0" spc="50" baseline="0" dirty="0">
                          <a:latin typeface="+mn-lt"/>
                        </a:rPr>
                        <a:t>（代表者は7年程度の継続勤務が可能）</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0000">
                <a:tc>
                  <a:txBody>
                    <a:bodyPr/>
                    <a:lstStyle/>
                    <a:p>
                      <a:r>
                        <a:rPr lang="ja-JP" altLang="ja-JP" sz="1400" b="1" spc="50" baseline="0" dirty="0">
                          <a:solidFill>
                            <a:schemeClr val="tx1"/>
                          </a:solidFill>
                          <a:latin typeface="+mn-lt"/>
                          <a:ea typeface="+mj-ea"/>
                        </a:rPr>
                        <a:t>希望譲渡価額</a:t>
                      </a:r>
                      <a:endParaRPr kumimoji="1" lang="ja-JP" altLang="en-US" sz="800" b="1" spc="50" baseline="0" dirty="0">
                        <a:solidFill>
                          <a:schemeClr val="tx1"/>
                        </a:solidFill>
                        <a:latin typeface="+mn-lt"/>
                        <a:ea typeface="+mj-ea"/>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10000"/>
                        </a:lnSpc>
                        <a:spcBef>
                          <a:spcPts val="0"/>
                        </a:spcBef>
                        <a:spcAft>
                          <a:spcPts val="0"/>
                        </a:spcAft>
                        <a:buClr>
                          <a:schemeClr val="tx2"/>
                        </a:buClr>
                        <a:buSzTx/>
                        <a:buFontTx/>
                        <a:buNone/>
                        <a:tabLst/>
                        <a:defRPr/>
                      </a:pPr>
                      <a:r>
                        <a:rPr lang="ja-JP" altLang="ja-JP" sz="1400" b="0" spc="50" baseline="0" dirty="0">
                          <a:solidFill>
                            <a:schemeClr val="tx1"/>
                          </a:solidFill>
                          <a:latin typeface="+mn-lt"/>
                        </a:rPr>
                        <a:t>応相談</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spTree>
    <p:extLst>
      <p:ext uri="{BB962C8B-B14F-4D97-AF65-F5344CB8AC3E}">
        <p14:creationId xmlns:p14="http://schemas.microsoft.com/office/powerpoint/2010/main" val="838304872"/>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45</TotalTime>
  <Words>417</Words>
  <Application>Microsoft Office PowerPoint</Application>
  <PresentationFormat>ユーザー設定</PresentationFormat>
  <Paragraphs>30</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游ゴシック</vt:lpstr>
      <vt:lpstr>Arial</vt:lpstr>
      <vt:lpstr>SL_2026</vt:lpstr>
      <vt:lpstr>M＆A案件 ノンネームシート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ストリームライン</dc:creator>
  <cp:lastModifiedBy>越智 真也</cp:lastModifiedBy>
  <cp:revision>14</cp:revision>
  <dcterms:created xsi:type="dcterms:W3CDTF">2026-01-08T03:45:10Z</dcterms:created>
  <dcterms:modified xsi:type="dcterms:W3CDTF">2026-02-09T01:30:47Z</dcterms:modified>
</cp:coreProperties>
</file>