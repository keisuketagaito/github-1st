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42"/>
  </p:notesMasterIdLst>
  <p:sldIdLst>
    <p:sldId id="770" r:id="rId2"/>
    <p:sldId id="269" r:id="rId3"/>
    <p:sldId id="693" r:id="rId4"/>
    <p:sldId id="749" r:id="rId5"/>
    <p:sldId id="748" r:id="rId6"/>
    <p:sldId id="815" r:id="rId7"/>
    <p:sldId id="821" r:id="rId8"/>
    <p:sldId id="818" r:id="rId9"/>
    <p:sldId id="819" r:id="rId10"/>
    <p:sldId id="822" r:id="rId11"/>
    <p:sldId id="824" r:id="rId12"/>
    <p:sldId id="266" r:id="rId13"/>
    <p:sldId id="772" r:id="rId14"/>
    <p:sldId id="811" r:id="rId15"/>
    <p:sldId id="798" r:id="rId16"/>
    <p:sldId id="809" r:id="rId17"/>
    <p:sldId id="810" r:id="rId18"/>
    <p:sldId id="812" r:id="rId19"/>
    <p:sldId id="813" r:id="rId20"/>
    <p:sldId id="814" r:id="rId21"/>
    <p:sldId id="792" r:id="rId22"/>
    <p:sldId id="823" r:id="rId23"/>
    <p:sldId id="797" r:id="rId24"/>
    <p:sldId id="771" r:id="rId25"/>
    <p:sldId id="808" r:id="rId26"/>
    <p:sldId id="803" r:id="rId27"/>
    <p:sldId id="804" r:id="rId28"/>
    <p:sldId id="805" r:id="rId29"/>
    <p:sldId id="806" r:id="rId30"/>
    <p:sldId id="807" r:id="rId31"/>
    <p:sldId id="802" r:id="rId32"/>
    <p:sldId id="780" r:id="rId33"/>
    <p:sldId id="789" r:id="rId34"/>
    <p:sldId id="790" r:id="rId35"/>
    <p:sldId id="795" r:id="rId36"/>
    <p:sldId id="773" r:id="rId37"/>
    <p:sldId id="784" r:id="rId38"/>
    <p:sldId id="785" r:id="rId39"/>
    <p:sldId id="787" r:id="rId40"/>
    <p:sldId id="277" r:id="rId41"/>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815"/>
            <p14:sldId id="821"/>
            <p14:sldId id="818"/>
            <p14:sldId id="819"/>
            <p14:sldId id="822"/>
            <p14:sldId id="824"/>
            <p14:sldId id="266"/>
            <p14:sldId id="772"/>
            <p14:sldId id="811"/>
            <p14:sldId id="798"/>
            <p14:sldId id="809"/>
            <p14:sldId id="810"/>
            <p14:sldId id="812"/>
            <p14:sldId id="813"/>
            <p14:sldId id="814"/>
            <p14:sldId id="792"/>
            <p14:sldId id="823"/>
            <p14:sldId id="797"/>
            <p14:sldId id="771"/>
            <p14:sldId id="808"/>
            <p14:sldId id="803"/>
            <p14:sldId id="804"/>
            <p14:sldId id="805"/>
            <p14:sldId id="806"/>
            <p14:sldId id="807"/>
            <p14:sldId id="802"/>
            <p14:sldId id="780"/>
            <p14:sldId id="789"/>
            <p14:sldId id="790"/>
            <p14:sldId id="795"/>
            <p14:sldId id="773"/>
            <p14:sldId id="784"/>
            <p14:sldId id="785"/>
            <p14:sldId id="787"/>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E2D5"/>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64" d="100"/>
          <a:sy n="64" d="100"/>
        </p:scale>
        <p:origin x="956" y="52"/>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aomi kato" userId="d4aea39845871695" providerId="LiveId" clId="{0FC5F5B8-FD12-44AA-ABA0-369C3834ECEA}"/>
    <pc:docChg chg="custSel modSld">
      <pc:chgData name="masaomi kato" userId="d4aea39845871695" providerId="LiveId" clId="{0FC5F5B8-FD12-44AA-ABA0-369C3834ECEA}" dt="2026-07-27T10:25:45.708" v="313" actId="20577"/>
      <pc:docMkLst>
        <pc:docMk/>
      </pc:docMkLst>
      <pc:sldChg chg="addSp modSp mod">
        <pc:chgData name="masaomi kato" userId="d4aea39845871695" providerId="LiveId" clId="{0FC5F5B8-FD12-44AA-ABA0-369C3834ECEA}" dt="2026-07-27T10:17:12.741" v="71" actId="14100"/>
        <pc:sldMkLst>
          <pc:docMk/>
          <pc:sldMk cId="2819346465" sldId="748"/>
        </pc:sldMkLst>
        <pc:spChg chg="add mod">
          <ac:chgData name="masaomi kato" userId="d4aea39845871695" providerId="LiveId" clId="{0FC5F5B8-FD12-44AA-ABA0-369C3834ECEA}" dt="2026-07-27T10:17:12.741" v="71" actId="14100"/>
          <ac:spMkLst>
            <pc:docMk/>
            <pc:sldMk cId="2819346465" sldId="748"/>
            <ac:spMk id="3" creationId="{C7E35057-F24A-813E-F527-16447D790B0E}"/>
          </ac:spMkLst>
        </pc:spChg>
        <pc:graphicFrameChg chg="modGraphic">
          <ac:chgData name="masaomi kato" userId="d4aea39845871695" providerId="LiveId" clId="{0FC5F5B8-FD12-44AA-ABA0-369C3834ECEA}" dt="2026-07-26T01:08:36.365" v="11" actId="6549"/>
          <ac:graphicFrameMkLst>
            <pc:docMk/>
            <pc:sldMk cId="2819346465" sldId="748"/>
            <ac:graphicFrameMk id="20" creationId="{371748D5-6F7B-BB33-B1C6-1B717378D37C}"/>
          </ac:graphicFrameMkLst>
        </pc:graphicFrameChg>
      </pc:sldChg>
      <pc:sldChg chg="addSp mod">
        <pc:chgData name="masaomi kato" userId="d4aea39845871695" providerId="LiveId" clId="{0FC5F5B8-FD12-44AA-ABA0-369C3834ECEA}" dt="2026-07-27T10:17:52.282" v="76" actId="22"/>
        <pc:sldMkLst>
          <pc:docMk/>
          <pc:sldMk cId="2728612470" sldId="780"/>
        </pc:sldMkLst>
        <pc:spChg chg="add">
          <ac:chgData name="masaomi kato" userId="d4aea39845871695" providerId="LiveId" clId="{0FC5F5B8-FD12-44AA-ABA0-369C3834ECEA}" dt="2026-07-27T10:17:52.282" v="76" actId="22"/>
          <ac:spMkLst>
            <pc:docMk/>
            <pc:sldMk cId="2728612470" sldId="780"/>
            <ac:spMk id="3" creationId="{C1DC000A-0992-39CD-0724-C1E8B65AE9E2}"/>
          </ac:spMkLst>
        </pc:spChg>
      </pc:sldChg>
      <pc:sldChg chg="addSp mod">
        <pc:chgData name="masaomi kato" userId="d4aea39845871695" providerId="LiveId" clId="{0FC5F5B8-FD12-44AA-ABA0-369C3834ECEA}" dt="2026-07-27T10:17:57.647" v="77" actId="22"/>
        <pc:sldMkLst>
          <pc:docMk/>
          <pc:sldMk cId="1111365944" sldId="789"/>
        </pc:sldMkLst>
        <pc:spChg chg="add">
          <ac:chgData name="masaomi kato" userId="d4aea39845871695" providerId="LiveId" clId="{0FC5F5B8-FD12-44AA-ABA0-369C3834ECEA}" dt="2026-07-27T10:17:57.647" v="77" actId="22"/>
          <ac:spMkLst>
            <pc:docMk/>
            <pc:sldMk cId="1111365944" sldId="789"/>
            <ac:spMk id="6" creationId="{0AC32D01-5C9D-2EDF-BF08-5290143A76B6}"/>
          </ac:spMkLst>
        </pc:spChg>
      </pc:sldChg>
      <pc:sldChg chg="addSp delSp modSp mod">
        <pc:chgData name="masaomi kato" userId="d4aea39845871695" providerId="LiveId" clId="{0FC5F5B8-FD12-44AA-ABA0-369C3834ECEA}" dt="2026-07-27T10:25:45.708" v="313" actId="20577"/>
        <pc:sldMkLst>
          <pc:docMk/>
          <pc:sldMk cId="2704981782" sldId="802"/>
        </pc:sldMkLst>
        <pc:spChg chg="del">
          <ac:chgData name="masaomi kato" userId="d4aea39845871695" providerId="LiveId" clId="{0FC5F5B8-FD12-44AA-ABA0-369C3834ECEA}" dt="2026-07-27T10:17:48.297" v="75" actId="478"/>
          <ac:spMkLst>
            <pc:docMk/>
            <pc:sldMk cId="2704981782" sldId="802"/>
            <ac:spMk id="2" creationId="{6C2C87BB-9739-2C1E-AFB9-15AFFC1BEA0F}"/>
          </ac:spMkLst>
        </pc:spChg>
        <pc:spChg chg="add">
          <ac:chgData name="masaomi kato" userId="d4aea39845871695" providerId="LiveId" clId="{0FC5F5B8-FD12-44AA-ABA0-369C3834ECEA}" dt="2026-07-27T10:17:44.755" v="74" actId="22"/>
          <ac:spMkLst>
            <pc:docMk/>
            <pc:sldMk cId="2704981782" sldId="802"/>
            <ac:spMk id="5" creationId="{FFF5BD91-C82A-16BB-9741-D583EB05522F}"/>
          </ac:spMkLst>
        </pc:spChg>
        <pc:graphicFrameChg chg="modGraphic">
          <ac:chgData name="masaomi kato" userId="d4aea39845871695" providerId="LiveId" clId="{0FC5F5B8-FD12-44AA-ABA0-369C3834ECEA}" dt="2026-07-27T10:25:45.708" v="313" actId="20577"/>
          <ac:graphicFrameMkLst>
            <pc:docMk/>
            <pc:sldMk cId="2704981782" sldId="802"/>
            <ac:graphicFrameMk id="3" creationId="{90A006E8-A161-CC34-9CA9-8B6906CB586D}"/>
          </ac:graphicFrameMkLst>
        </pc:graphicFrameChg>
      </pc:sldChg>
      <pc:sldChg chg="addSp modSp mod">
        <pc:chgData name="masaomi kato" userId="d4aea39845871695" providerId="LiveId" clId="{0FC5F5B8-FD12-44AA-ABA0-369C3834ECEA}" dt="2026-07-27T10:16:48.020" v="52" actId="1038"/>
        <pc:sldMkLst>
          <pc:docMk/>
          <pc:sldMk cId="456844314" sldId="811"/>
        </pc:sldMkLst>
        <pc:spChg chg="add mod">
          <ac:chgData name="masaomi kato" userId="d4aea39845871695" providerId="LiveId" clId="{0FC5F5B8-FD12-44AA-ABA0-369C3834ECEA}" dt="2026-07-27T10:16:21.766" v="35" actId="20577"/>
          <ac:spMkLst>
            <pc:docMk/>
            <pc:sldMk cId="456844314" sldId="811"/>
            <ac:spMk id="2" creationId="{226F1A23-C648-00C2-A520-CCD7C6E72709}"/>
          </ac:spMkLst>
        </pc:spChg>
        <pc:picChg chg="mod ord">
          <ac:chgData name="masaomi kato" userId="d4aea39845871695" providerId="LiveId" clId="{0FC5F5B8-FD12-44AA-ABA0-369C3834ECEA}" dt="2026-07-27T10:16:48.020" v="52" actId="1038"/>
          <ac:picMkLst>
            <pc:docMk/>
            <pc:sldMk cId="456844314" sldId="811"/>
            <ac:picMk id="3" creationId="{73047023-95F5-B560-C3FC-9F8377218808}"/>
          </ac:picMkLst>
        </pc:picChg>
      </pc:sldChg>
      <pc:sldChg chg="addSp modSp mod">
        <pc:chgData name="masaomi kato" userId="d4aea39845871695" providerId="LiveId" clId="{0FC5F5B8-FD12-44AA-ABA0-369C3834ECEA}" dt="2026-07-27T10:17:33.292" v="73" actId="1036"/>
        <pc:sldMkLst>
          <pc:docMk/>
          <pc:sldMk cId="3072196073" sldId="823"/>
        </pc:sldMkLst>
        <pc:spChg chg="add mod">
          <ac:chgData name="masaomi kato" userId="d4aea39845871695" providerId="LiveId" clId="{0FC5F5B8-FD12-44AA-ABA0-369C3834ECEA}" dt="2026-07-27T10:17:33.292" v="73" actId="1036"/>
          <ac:spMkLst>
            <pc:docMk/>
            <pc:sldMk cId="3072196073" sldId="823"/>
            <ac:spMk id="18" creationId="{74280592-DFC4-BD90-C4C5-C0951C08B849}"/>
          </ac:spMkLst>
        </pc:spChg>
      </pc:sldChg>
    </pc:docChg>
  </pc:docChgLst>
  <pc:docChgLst>
    <pc:chgData name="masaomi kato" userId="d4aea39845871695" providerId="LiveId" clId="{D70CE136-3F48-40D5-90D3-BEF07C42E5D4}"/>
    <pc:docChg chg="undo custSel addSld delSld modSld modSection">
      <pc:chgData name="masaomi kato" userId="d4aea39845871695" providerId="LiveId" clId="{D70CE136-3F48-40D5-90D3-BEF07C42E5D4}" dt="2026-07-27T05:24:11.659" v="1133" actId="14100"/>
      <pc:docMkLst>
        <pc:docMk/>
      </pc:docMkLst>
      <pc:sldChg chg="addSp delSp modSp mod">
        <pc:chgData name="masaomi kato" userId="d4aea39845871695" providerId="LiveId" clId="{D70CE136-3F48-40D5-90D3-BEF07C42E5D4}" dt="2026-07-27T05:04:34.745" v="994" actId="1035"/>
        <pc:sldMkLst>
          <pc:docMk/>
          <pc:sldMk cId="2819346465" sldId="748"/>
        </pc:sldMkLst>
        <pc:picChg chg="add mod">
          <ac:chgData name="masaomi kato" userId="d4aea39845871695" providerId="LiveId" clId="{D70CE136-3F48-40D5-90D3-BEF07C42E5D4}" dt="2026-07-27T05:04:34.745" v="994" actId="1035"/>
          <ac:picMkLst>
            <pc:docMk/>
            <pc:sldMk cId="2819346465" sldId="748"/>
            <ac:picMk id="4" creationId="{EAF03D06-E1DB-86A9-F9E8-940C80BDBC85}"/>
          </ac:picMkLst>
        </pc:picChg>
        <pc:picChg chg="del">
          <ac:chgData name="masaomi kato" userId="d4aea39845871695" providerId="LiveId" clId="{D70CE136-3F48-40D5-90D3-BEF07C42E5D4}" dt="2026-07-27T05:03:40.895" v="981" actId="478"/>
          <ac:picMkLst>
            <pc:docMk/>
            <pc:sldMk cId="2819346465" sldId="748"/>
            <ac:picMk id="9" creationId="{35CA7393-5E4D-5FA2-4401-73BAFB65A40F}"/>
          </ac:picMkLst>
        </pc:picChg>
      </pc:sldChg>
      <pc:sldChg chg="addSp delSp modSp mod">
        <pc:chgData name="masaomi kato" userId="d4aea39845871695" providerId="LiveId" clId="{D70CE136-3F48-40D5-90D3-BEF07C42E5D4}" dt="2026-07-27T05:07:23.720" v="1012" actId="478"/>
        <pc:sldMkLst>
          <pc:docMk/>
          <pc:sldMk cId="2728612470" sldId="780"/>
        </pc:sldMkLst>
        <pc:spChg chg="add mod">
          <ac:chgData name="masaomi kato" userId="d4aea39845871695" providerId="LiveId" clId="{D70CE136-3F48-40D5-90D3-BEF07C42E5D4}" dt="2026-07-23T05:27:41.440" v="13" actId="12788"/>
          <ac:spMkLst>
            <pc:docMk/>
            <pc:sldMk cId="2728612470" sldId="780"/>
            <ac:spMk id="4" creationId="{BFF8385F-FEFF-181D-1EA9-38391DFBD17A}"/>
          </ac:spMkLst>
        </pc:spChg>
        <pc:spChg chg="add mod">
          <ac:chgData name="masaomi kato" userId="d4aea39845871695" providerId="LiveId" clId="{D70CE136-3F48-40D5-90D3-BEF07C42E5D4}" dt="2026-07-23T05:27:41.440" v="13" actId="12788"/>
          <ac:spMkLst>
            <pc:docMk/>
            <pc:sldMk cId="2728612470" sldId="780"/>
            <ac:spMk id="8" creationId="{8413E0AB-B8A5-C03C-8900-E31BD9EAC148}"/>
          </ac:spMkLst>
        </pc:spChg>
        <pc:spChg chg="add mod">
          <ac:chgData name="masaomi kato" userId="d4aea39845871695" providerId="LiveId" clId="{D70CE136-3F48-40D5-90D3-BEF07C42E5D4}" dt="2026-07-23T05:27:50.833" v="15" actId="1076"/>
          <ac:spMkLst>
            <pc:docMk/>
            <pc:sldMk cId="2728612470" sldId="780"/>
            <ac:spMk id="10" creationId="{44E7D6BD-5C36-36CA-95CB-83FD8ADC4CEF}"/>
          </ac:spMkLst>
        </pc:spChg>
        <pc:spChg chg="add mod">
          <ac:chgData name="masaomi kato" userId="d4aea39845871695" providerId="LiveId" clId="{D70CE136-3F48-40D5-90D3-BEF07C42E5D4}" dt="2026-07-23T05:27:50.833" v="15" actId="1076"/>
          <ac:spMkLst>
            <pc:docMk/>
            <pc:sldMk cId="2728612470" sldId="780"/>
            <ac:spMk id="12" creationId="{EE438FEF-81F4-EFCB-0954-938F73DB5DBE}"/>
          </ac:spMkLst>
        </pc:spChg>
        <pc:spChg chg="mod">
          <ac:chgData name="masaomi kato" userId="d4aea39845871695" providerId="LiveId" clId="{D70CE136-3F48-40D5-90D3-BEF07C42E5D4}" dt="2026-07-23T05:26:35.544" v="0" actId="20577"/>
          <ac:spMkLst>
            <pc:docMk/>
            <pc:sldMk cId="2728612470" sldId="780"/>
            <ac:spMk id="78" creationId="{39C415AF-1A36-E589-7E9A-ABB441A882E9}"/>
          </ac:spMkLst>
        </pc:spChg>
        <pc:cxnChg chg="del">
          <ac:chgData name="masaomi kato" userId="d4aea39845871695" providerId="LiveId" clId="{D70CE136-3F48-40D5-90D3-BEF07C42E5D4}" dt="2026-07-27T05:07:23.720" v="1012" actId="478"/>
          <ac:cxnSpMkLst>
            <pc:docMk/>
            <pc:sldMk cId="2728612470" sldId="780"/>
            <ac:cxnSpMk id="55" creationId="{3A183C6E-C869-722E-1384-DB730947D8C9}"/>
          </ac:cxnSpMkLst>
        </pc:cxnChg>
      </pc:sldChg>
      <pc:sldChg chg="modSp mod">
        <pc:chgData name="masaomi kato" userId="d4aea39845871695" providerId="LiveId" clId="{D70CE136-3F48-40D5-90D3-BEF07C42E5D4}" dt="2026-07-27T05:08:31.666" v="1076" actId="20577"/>
        <pc:sldMkLst>
          <pc:docMk/>
          <pc:sldMk cId="1111365944" sldId="789"/>
        </pc:sldMkLst>
        <pc:spChg chg="mod">
          <ac:chgData name="masaomi kato" userId="d4aea39845871695" providerId="LiveId" clId="{D70CE136-3F48-40D5-90D3-BEF07C42E5D4}" dt="2026-07-27T05:08:31.666" v="1076" actId="20577"/>
          <ac:spMkLst>
            <pc:docMk/>
            <pc:sldMk cId="1111365944" sldId="789"/>
            <ac:spMk id="8" creationId="{B2B57451-0F79-4EA4-E5F7-DD3BE659A77B}"/>
          </ac:spMkLst>
        </pc:spChg>
        <pc:spChg chg="mod">
          <ac:chgData name="masaomi kato" userId="d4aea39845871695" providerId="LiveId" clId="{D70CE136-3F48-40D5-90D3-BEF07C42E5D4}" dt="2026-07-27T05:08:12.614" v="1054" actId="1035"/>
          <ac:spMkLst>
            <pc:docMk/>
            <pc:sldMk cId="1111365944" sldId="789"/>
            <ac:spMk id="9" creationId="{52EEADC1-FEE2-E793-C864-8E6FEA33ABBC}"/>
          </ac:spMkLst>
        </pc:spChg>
        <pc:graphicFrameChg chg="mod modGraphic">
          <ac:chgData name="masaomi kato" userId="d4aea39845871695" providerId="LiveId" clId="{D70CE136-3F48-40D5-90D3-BEF07C42E5D4}" dt="2026-07-27T05:07:54.763" v="1017" actId="20577"/>
          <ac:graphicFrameMkLst>
            <pc:docMk/>
            <pc:sldMk cId="1111365944" sldId="789"/>
            <ac:graphicFrameMk id="7" creationId="{E72F617D-FB44-3052-5A38-336D64BF9625}"/>
          </ac:graphicFrameMkLst>
        </pc:graphicFrameChg>
      </pc:sldChg>
      <pc:sldChg chg="addSp modSp mod">
        <pc:chgData name="masaomi kato" userId="d4aea39845871695" providerId="LiveId" clId="{D70CE136-3F48-40D5-90D3-BEF07C42E5D4}" dt="2026-07-27T05:24:11.659" v="1133" actId="14100"/>
        <pc:sldMkLst>
          <pc:docMk/>
          <pc:sldMk cId="2704981782" sldId="802"/>
        </pc:sldMkLst>
        <pc:spChg chg="add mod">
          <ac:chgData name="masaomi kato" userId="d4aea39845871695" providerId="LiveId" clId="{D70CE136-3F48-40D5-90D3-BEF07C42E5D4}" dt="2026-07-27T05:24:11.659" v="1133" actId="14100"/>
          <ac:spMkLst>
            <pc:docMk/>
            <pc:sldMk cId="2704981782" sldId="802"/>
            <ac:spMk id="2" creationId="{6C2C87BB-9739-2C1E-AFB9-15AFFC1BEA0F}"/>
          </ac:spMkLst>
        </pc:spChg>
        <pc:graphicFrameChg chg="mod modGraphic">
          <ac:chgData name="masaomi kato" userId="d4aea39845871695" providerId="LiveId" clId="{D70CE136-3F48-40D5-90D3-BEF07C42E5D4}" dt="2026-07-27T05:06:30.646" v="1011" actId="20577"/>
          <ac:graphicFrameMkLst>
            <pc:docMk/>
            <pc:sldMk cId="2704981782" sldId="802"/>
            <ac:graphicFrameMk id="3" creationId="{90A006E8-A161-CC34-9CA9-8B6906CB586D}"/>
          </ac:graphicFrameMkLst>
        </pc:graphicFrameChg>
      </pc:sldChg>
      <pc:sldChg chg="addSp modSp mod">
        <pc:chgData name="masaomi kato" userId="d4aea39845871695" providerId="LiveId" clId="{D70CE136-3F48-40D5-90D3-BEF07C42E5D4}" dt="2026-07-27T05:05:28.485" v="996" actId="1076"/>
        <pc:sldMkLst>
          <pc:docMk/>
          <pc:sldMk cId="456844314" sldId="811"/>
        </pc:sldMkLst>
        <pc:picChg chg="add mod">
          <ac:chgData name="masaomi kato" userId="d4aea39845871695" providerId="LiveId" clId="{D70CE136-3F48-40D5-90D3-BEF07C42E5D4}" dt="2026-07-27T05:05:28.485" v="996" actId="1076"/>
          <ac:picMkLst>
            <pc:docMk/>
            <pc:sldMk cId="456844314" sldId="811"/>
            <ac:picMk id="3" creationId="{73047023-95F5-B560-C3FC-9F8377218808}"/>
          </ac:picMkLst>
        </pc:picChg>
      </pc:sldChg>
      <pc:sldChg chg="addSp delSp modSp add mod">
        <pc:chgData name="masaomi kato" userId="d4aea39845871695" providerId="LiveId" clId="{D70CE136-3F48-40D5-90D3-BEF07C42E5D4}" dt="2026-07-23T05:56:11.312" v="978" actId="20577"/>
        <pc:sldMkLst>
          <pc:docMk/>
          <pc:sldMk cId="3072196073" sldId="823"/>
        </pc:sldMkLst>
        <pc:spChg chg="add mod">
          <ac:chgData name="masaomi kato" userId="d4aea39845871695" providerId="LiveId" clId="{D70CE136-3F48-40D5-90D3-BEF07C42E5D4}" dt="2026-07-23T05:51:43.738" v="878" actId="20577"/>
          <ac:spMkLst>
            <pc:docMk/>
            <pc:sldMk cId="3072196073" sldId="823"/>
            <ac:spMk id="3" creationId="{CA4FA2B6-1CEE-1D24-8F04-9D88E0B50BEC}"/>
          </ac:spMkLst>
        </pc:spChg>
        <pc:spChg chg="mod">
          <ac:chgData name="masaomi kato" userId="d4aea39845871695" providerId="LiveId" clId="{D70CE136-3F48-40D5-90D3-BEF07C42E5D4}" dt="2026-07-23T05:56:11.312" v="978" actId="20577"/>
          <ac:spMkLst>
            <pc:docMk/>
            <pc:sldMk cId="3072196073" sldId="823"/>
            <ac:spMk id="13" creationId="{392EE620-2853-CDC4-08A5-FCC668D2BD04}"/>
          </ac:spMkLst>
        </pc:spChg>
        <pc:picChg chg="add mod">
          <ac:chgData name="masaomi kato" userId="d4aea39845871695" providerId="LiveId" clId="{D70CE136-3F48-40D5-90D3-BEF07C42E5D4}" dt="2026-07-23T05:52:27.615" v="888" actId="1076"/>
          <ac:picMkLst>
            <pc:docMk/>
            <pc:sldMk cId="3072196073" sldId="823"/>
            <ac:picMk id="4" creationId="{B2A20EF2-590D-172C-6CFD-A36A7BA69E20}"/>
          </ac:picMkLst>
        </pc:picChg>
        <pc:picChg chg="add mod modCrop">
          <ac:chgData name="masaomi kato" userId="d4aea39845871695" providerId="LiveId" clId="{D70CE136-3F48-40D5-90D3-BEF07C42E5D4}" dt="2026-07-23T05:52:31.155" v="890" actId="1076"/>
          <ac:picMkLst>
            <pc:docMk/>
            <pc:sldMk cId="3072196073" sldId="823"/>
            <ac:picMk id="5" creationId="{1E8228B9-6158-7146-8AD3-B58A26944E8A}"/>
          </ac:picMkLst>
        </pc:picChg>
        <pc:picChg chg="add mod modCrop">
          <ac:chgData name="masaomi kato" userId="d4aea39845871695" providerId="LiveId" clId="{D70CE136-3F48-40D5-90D3-BEF07C42E5D4}" dt="2026-07-23T05:53:49.379" v="940" actId="1035"/>
          <ac:picMkLst>
            <pc:docMk/>
            <pc:sldMk cId="3072196073" sldId="823"/>
            <ac:picMk id="6" creationId="{66851FDD-784E-F99F-B90D-AD8CFED53943}"/>
          </ac:picMkLst>
        </pc:picChg>
        <pc:picChg chg="add mod modCrop">
          <ac:chgData name="masaomi kato" userId="d4aea39845871695" providerId="LiveId" clId="{D70CE136-3F48-40D5-90D3-BEF07C42E5D4}" dt="2026-07-23T05:53:49.379" v="940" actId="1035"/>
          <ac:picMkLst>
            <pc:docMk/>
            <pc:sldMk cId="3072196073" sldId="823"/>
            <ac:picMk id="7" creationId="{A561FA4A-0ABD-2CAE-49C2-F7A02852B5F6}"/>
          </ac:picMkLst>
        </pc:picChg>
        <pc:picChg chg="add mod modCrop">
          <ac:chgData name="masaomi kato" userId="d4aea39845871695" providerId="LiveId" clId="{D70CE136-3F48-40D5-90D3-BEF07C42E5D4}" dt="2026-07-23T05:53:49.379" v="940" actId="1035"/>
          <ac:picMkLst>
            <pc:docMk/>
            <pc:sldMk cId="3072196073" sldId="823"/>
            <ac:picMk id="8" creationId="{91AD4B52-E79F-B94B-F751-DBF6DEB78DE2}"/>
          </ac:picMkLst>
        </pc:picChg>
        <pc:picChg chg="add mod modCrop">
          <ac:chgData name="masaomi kato" userId="d4aea39845871695" providerId="LiveId" clId="{D70CE136-3F48-40D5-90D3-BEF07C42E5D4}" dt="2026-07-23T05:53:49.379" v="940" actId="1035"/>
          <ac:picMkLst>
            <pc:docMk/>
            <pc:sldMk cId="3072196073" sldId="823"/>
            <ac:picMk id="9" creationId="{3377A49A-7549-8869-E75B-AFE1638EE2BB}"/>
          </ac:picMkLst>
        </pc:picChg>
        <pc:picChg chg="add mod modCrop">
          <ac:chgData name="masaomi kato" userId="d4aea39845871695" providerId="LiveId" clId="{D70CE136-3F48-40D5-90D3-BEF07C42E5D4}" dt="2026-07-23T05:53:49.379" v="940" actId="1035"/>
          <ac:picMkLst>
            <pc:docMk/>
            <pc:sldMk cId="3072196073" sldId="823"/>
            <ac:picMk id="10" creationId="{1CECA8FD-7FBE-B957-0BDD-CA762B6B8649}"/>
          </ac:picMkLst>
        </pc:picChg>
        <pc:picChg chg="add mod">
          <ac:chgData name="masaomi kato" userId="d4aea39845871695" providerId="LiveId" clId="{D70CE136-3F48-40D5-90D3-BEF07C42E5D4}" dt="2026-07-23T05:53:49.379" v="940" actId="1035"/>
          <ac:picMkLst>
            <pc:docMk/>
            <pc:sldMk cId="3072196073" sldId="823"/>
            <ac:picMk id="11" creationId="{723A2FCC-DF20-F84A-5EB2-9F5FBCB2585C}"/>
          </ac:picMkLst>
        </pc:picChg>
        <pc:picChg chg="add mod modCrop">
          <ac:chgData name="masaomi kato" userId="d4aea39845871695" providerId="LiveId" clId="{D70CE136-3F48-40D5-90D3-BEF07C42E5D4}" dt="2026-07-23T05:53:49.379" v="940" actId="1035"/>
          <ac:picMkLst>
            <pc:docMk/>
            <pc:sldMk cId="3072196073" sldId="823"/>
            <ac:picMk id="12" creationId="{72318514-72EB-1FE3-A250-DA0DB46DB258}"/>
          </ac:picMkLst>
        </pc:picChg>
        <pc:picChg chg="add mod">
          <ac:chgData name="masaomi kato" userId="d4aea39845871695" providerId="LiveId" clId="{D70CE136-3F48-40D5-90D3-BEF07C42E5D4}" dt="2026-07-23T05:53:49.379" v="940" actId="1035"/>
          <ac:picMkLst>
            <pc:docMk/>
            <pc:sldMk cId="3072196073" sldId="823"/>
            <ac:picMk id="14" creationId="{31DE4E40-2ACE-17C1-8DA6-93354CB21CB3}"/>
          </ac:picMkLst>
        </pc:picChg>
        <pc:picChg chg="add mod modCrop">
          <ac:chgData name="masaomi kato" userId="d4aea39845871695" providerId="LiveId" clId="{D70CE136-3F48-40D5-90D3-BEF07C42E5D4}" dt="2026-07-23T05:53:49.379" v="940" actId="1035"/>
          <ac:picMkLst>
            <pc:docMk/>
            <pc:sldMk cId="3072196073" sldId="823"/>
            <ac:picMk id="15" creationId="{7546F405-7963-6833-9C88-A2436191F01F}"/>
          </ac:picMkLst>
        </pc:picChg>
        <pc:picChg chg="add mod modCrop">
          <ac:chgData name="masaomi kato" userId="d4aea39845871695" providerId="LiveId" clId="{D70CE136-3F48-40D5-90D3-BEF07C42E5D4}" dt="2026-07-23T05:53:49.379" v="940" actId="1035"/>
          <ac:picMkLst>
            <pc:docMk/>
            <pc:sldMk cId="3072196073" sldId="823"/>
            <ac:picMk id="16" creationId="{2A51960B-E0E9-F23F-D390-17962627E7EE}"/>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PC-Le-101\Desktop\M&amp;A&#25215;&#32153;&#27231;&#27083;\&#26696;&#20214;\&#21463;&#35351;&#28168;\&#26666;&#24335;&#20250;&#31038;&#12450;&#12489;&#12524;&#12452;\03_NN&#12289;IM\02&#8215;IM\&#9314;&#37096;&#38272;&#21029;&#22770;&#19978;&#19968;&#35239;_&#12450;&#12489;&#12524;&#12452;_&#32013;&#21697;&#29289;.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barChart>
        <c:barDir val="col"/>
        <c:grouping val="stacked"/>
        <c:varyColors val="0"/>
        <c:ser>
          <c:idx val="0"/>
          <c:order val="0"/>
          <c:tx>
            <c:strRef>
              <c:f>'部門別売上高（出力用）'!$L$40</c:f>
              <c:strCache>
                <c:ptCount val="1"/>
                <c:pt idx="0">
                  <c:v>広告制作</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游ゴシック" panose="020B0400000000000000" pitchFamily="50" charset="-128"/>
                    <a:ea typeface="游ゴシック" panose="020B0400000000000000" pitchFamily="50" charset="-128"/>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'部門別売上高（出力用）'!$M$39:$P$39</c:f>
              <c:numCache>
                <c:formatCode>yyyy"年"m"月"</c:formatCode>
                <c:ptCount val="4"/>
                <c:pt idx="0">
                  <c:v>44773</c:v>
                </c:pt>
                <c:pt idx="1">
                  <c:v>45138</c:v>
                </c:pt>
                <c:pt idx="2">
                  <c:v>45504</c:v>
                </c:pt>
                <c:pt idx="3">
                  <c:v>45869</c:v>
                </c:pt>
              </c:numCache>
            </c:numRef>
          </c:cat>
          <c:val>
            <c:numRef>
              <c:f>'部門別売上高（出力用）'!$M$40:$P$40</c:f>
              <c:numCache>
                <c:formatCode>#,##0,</c:formatCode>
                <c:ptCount val="4"/>
                <c:pt idx="0">
                  <c:v>232285998</c:v>
                </c:pt>
                <c:pt idx="1">
                  <c:v>204401391</c:v>
                </c:pt>
                <c:pt idx="2">
                  <c:v>151125236</c:v>
                </c:pt>
                <c:pt idx="3">
                  <c:v>122946118</c:v>
                </c:pt>
              </c:numCache>
            </c:numRef>
          </c:val>
          <c:extLst>
            <c:ext xmlns:c16="http://schemas.microsoft.com/office/drawing/2014/chart" uri="{C3380CC4-5D6E-409C-BE32-E72D297353CC}">
              <c16:uniqueId val="{00000000-4A37-4A6A-911A-ECBC3E4A1646}"/>
            </c:ext>
          </c:extLst>
        </c:ser>
        <c:ser>
          <c:idx val="1"/>
          <c:order val="1"/>
          <c:tx>
            <c:strRef>
              <c:f>'部門別売上高（出力用）'!$L$41</c:f>
              <c:strCache>
                <c:ptCount val="1"/>
                <c:pt idx="0">
                  <c:v>0</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游ゴシック" panose="020B0400000000000000" pitchFamily="50" charset="-128"/>
                    <a:ea typeface="游ゴシック" panose="020B0400000000000000" pitchFamily="50" charset="-128"/>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'部門別売上高（出力用）'!$M$39:$P$39</c:f>
              <c:numCache>
                <c:formatCode>yyyy"年"m"月"</c:formatCode>
                <c:ptCount val="4"/>
                <c:pt idx="0">
                  <c:v>44773</c:v>
                </c:pt>
                <c:pt idx="1">
                  <c:v>45138</c:v>
                </c:pt>
                <c:pt idx="2">
                  <c:v>45504</c:v>
                </c:pt>
                <c:pt idx="3">
                  <c:v>45869</c:v>
                </c:pt>
              </c:numCache>
            </c:numRef>
          </c:cat>
          <c:val>
            <c:numRef>
              <c:f>'部門別売上高（出力用）'!$M$41:$P$41</c:f>
            </c:numRef>
          </c:val>
          <c:extLst>
            <c:ext xmlns:c16="http://schemas.microsoft.com/office/drawing/2014/chart" uri="{C3380CC4-5D6E-409C-BE32-E72D297353CC}">
              <c16:uniqueId val="{00000001-4A37-4A6A-911A-ECBC3E4A1646}"/>
            </c:ext>
          </c:extLst>
        </c:ser>
        <c:ser>
          <c:idx val="2"/>
          <c:order val="2"/>
          <c:tx>
            <c:strRef>
              <c:f>'部門別売上高（出力用）'!$L$42</c:f>
              <c:strCache>
                <c:ptCount val="1"/>
                <c:pt idx="0">
                  <c:v>SF導入＆運用</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游ゴシック" panose="020B0400000000000000" pitchFamily="50" charset="-128"/>
                    <a:ea typeface="游ゴシック" panose="020B0400000000000000" pitchFamily="50" charset="-128"/>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'部門別売上高（出力用）'!$M$39:$P$39</c:f>
              <c:numCache>
                <c:formatCode>yyyy"年"m"月"</c:formatCode>
                <c:ptCount val="4"/>
                <c:pt idx="0">
                  <c:v>44773</c:v>
                </c:pt>
                <c:pt idx="1">
                  <c:v>45138</c:v>
                </c:pt>
                <c:pt idx="2">
                  <c:v>45504</c:v>
                </c:pt>
                <c:pt idx="3">
                  <c:v>45869</c:v>
                </c:pt>
              </c:numCache>
            </c:numRef>
          </c:cat>
          <c:val>
            <c:numRef>
              <c:f>'部門別売上高（出力用）'!$M$42:$P$42</c:f>
              <c:numCache>
                <c:formatCode>#,##0,</c:formatCode>
                <c:ptCount val="4"/>
                <c:pt idx="0">
                  <c:v>81454686</c:v>
                </c:pt>
                <c:pt idx="1">
                  <c:v>169973345</c:v>
                </c:pt>
                <c:pt idx="2">
                  <c:v>182078049</c:v>
                </c:pt>
                <c:pt idx="3">
                  <c:v>166612962</c:v>
                </c:pt>
              </c:numCache>
            </c:numRef>
          </c:val>
          <c:extLst>
            <c:ext xmlns:c16="http://schemas.microsoft.com/office/drawing/2014/chart" uri="{C3380CC4-5D6E-409C-BE32-E72D297353CC}">
              <c16:uniqueId val="{00000002-4A37-4A6A-911A-ECBC3E4A1646}"/>
            </c:ext>
          </c:extLst>
        </c:ser>
        <c:ser>
          <c:idx val="3"/>
          <c:order val="3"/>
          <c:tx>
            <c:strRef>
              <c:f>'部門別売上高（出力用）'!$L$43</c:f>
              <c:strCache>
                <c:ptCount val="1"/>
                <c:pt idx="0">
                  <c:v>0</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游ゴシック" panose="020B0400000000000000" pitchFamily="50" charset="-128"/>
                    <a:ea typeface="游ゴシック" panose="020B0400000000000000" pitchFamily="50" charset="-128"/>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'部門別売上高（出力用）'!$M$39:$P$39</c:f>
              <c:numCache>
                <c:formatCode>yyyy"年"m"月"</c:formatCode>
                <c:ptCount val="4"/>
                <c:pt idx="0">
                  <c:v>44773</c:v>
                </c:pt>
                <c:pt idx="1">
                  <c:v>45138</c:v>
                </c:pt>
                <c:pt idx="2">
                  <c:v>45504</c:v>
                </c:pt>
                <c:pt idx="3">
                  <c:v>45869</c:v>
                </c:pt>
              </c:numCache>
            </c:numRef>
          </c:cat>
          <c:val>
            <c:numRef>
              <c:f>'部門別売上高（出力用）'!$M$43:$P$43</c:f>
            </c:numRef>
          </c:val>
          <c:extLst>
            <c:ext xmlns:c16="http://schemas.microsoft.com/office/drawing/2014/chart" uri="{C3380CC4-5D6E-409C-BE32-E72D297353CC}">
              <c16:uniqueId val="{00000003-4A37-4A6A-911A-ECBC3E4A1646}"/>
            </c:ext>
          </c:extLst>
        </c:ser>
        <c:ser>
          <c:idx val="4"/>
          <c:order val="4"/>
          <c:tx>
            <c:strRef>
              <c:f>'部門別売上高（出力用）'!$L$44</c:f>
              <c:strCache>
                <c:ptCount val="1"/>
                <c:pt idx="0">
                  <c:v>不動産賃貸部門</c:v>
                </c:pt>
              </c:strCache>
            </c:strRef>
          </c:tx>
          <c:spPr>
            <a:solidFill>
              <a:schemeClr val="bg2">
                <a:lumMod val="75000"/>
              </a:schemeClr>
            </a:solidFill>
            <a:ln>
              <a:noFill/>
            </a:ln>
            <a:effectLst/>
          </c:spPr>
          <c:invertIfNegative val="0"/>
          <c:dLbls>
            <c:dLbl>
              <c:idx val="0"/>
              <c:layout>
                <c:manualLayout>
                  <c:x val="0"/>
                  <c:y val="-3.571429826852441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A37-4A6A-911A-ECBC3E4A1646}"/>
                </c:ext>
              </c:extLst>
            </c:dLbl>
            <c:dLbl>
              <c:idx val="1"/>
              <c:layout>
                <c:manualLayout>
                  <c:x val="5.7316487200370914E-3"/>
                  <c:y val="-4.017858555208998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A37-4A6A-911A-ECBC3E4A1646}"/>
                </c:ext>
              </c:extLst>
            </c:dLbl>
            <c:dLbl>
              <c:idx val="2"/>
              <c:layout>
                <c:manualLayout>
                  <c:x val="-7.0052675101528295E-17"/>
                  <c:y val="-7.142859653704883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A37-4A6A-911A-ECBC3E4A1646}"/>
                </c:ext>
              </c:extLst>
            </c:dLbl>
            <c:dLbl>
              <c:idx val="3"/>
              <c:layout>
                <c:manualLayout>
                  <c:x val="0"/>
                  <c:y val="-5.357144740278667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A37-4A6A-911A-ECBC3E4A1646}"/>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游ゴシック" panose="020B0400000000000000" pitchFamily="50" charset="-128"/>
                    <a:ea typeface="游ゴシック" panose="020B0400000000000000" pitchFamily="50" charset="-128"/>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'部門別売上高（出力用）'!$M$39:$P$39</c:f>
              <c:numCache>
                <c:formatCode>yyyy"年"m"月"</c:formatCode>
                <c:ptCount val="4"/>
                <c:pt idx="0">
                  <c:v>44773</c:v>
                </c:pt>
                <c:pt idx="1">
                  <c:v>45138</c:v>
                </c:pt>
                <c:pt idx="2">
                  <c:v>45504</c:v>
                </c:pt>
                <c:pt idx="3">
                  <c:v>45869</c:v>
                </c:pt>
              </c:numCache>
            </c:numRef>
          </c:cat>
          <c:val>
            <c:numRef>
              <c:f>'部門別売上高（出力用）'!$M$44:$P$44</c:f>
              <c:numCache>
                <c:formatCode>#,##0,</c:formatCode>
                <c:ptCount val="4"/>
                <c:pt idx="0">
                  <c:v>12000000</c:v>
                </c:pt>
                <c:pt idx="1">
                  <c:v>10555391</c:v>
                </c:pt>
                <c:pt idx="2">
                  <c:v>13649280</c:v>
                </c:pt>
                <c:pt idx="3">
                  <c:v>13200000</c:v>
                </c:pt>
              </c:numCache>
            </c:numRef>
          </c:val>
          <c:extLst>
            <c:ext xmlns:c16="http://schemas.microsoft.com/office/drawing/2014/chart" uri="{C3380CC4-5D6E-409C-BE32-E72D297353CC}">
              <c16:uniqueId val="{00000008-4A37-4A6A-911A-ECBC3E4A1646}"/>
            </c:ext>
          </c:extLst>
        </c:ser>
        <c:dLbls>
          <c:dLblPos val="ctr"/>
          <c:showLegendKey val="0"/>
          <c:showVal val="1"/>
          <c:showCatName val="0"/>
          <c:showSerName val="0"/>
          <c:showPercent val="0"/>
          <c:showBubbleSize val="0"/>
        </c:dLbls>
        <c:gapWidth val="300"/>
        <c:overlap val="100"/>
        <c:serLines>
          <c:spPr>
            <a:ln w="9525" cap="flat" cmpd="sng" algn="ctr">
              <a:solidFill>
                <a:schemeClr val="tx1">
                  <a:lumMod val="35000"/>
                  <a:lumOff val="65000"/>
                </a:schemeClr>
              </a:solidFill>
              <a:round/>
            </a:ln>
            <a:effectLst/>
          </c:spPr>
        </c:serLines>
        <c:axId val="175084288"/>
        <c:axId val="175085824"/>
      </c:barChart>
      <c:dateAx>
        <c:axId val="175084288"/>
        <c:scaling>
          <c:orientation val="minMax"/>
        </c:scaling>
        <c:delete val="1"/>
        <c:axPos val="b"/>
        <c:numFmt formatCode="yyyy&quot;年&quot;m&quot;月&quot;" sourceLinked="1"/>
        <c:majorTickMark val="none"/>
        <c:minorTickMark val="none"/>
        <c:tickLblPos val="nextTo"/>
        <c:crossAx val="175085824"/>
        <c:crosses val="autoZero"/>
        <c:auto val="1"/>
        <c:lblOffset val="100"/>
        <c:baseTimeUnit val="years"/>
      </c:dateAx>
      <c:valAx>
        <c:axId val="175085824"/>
        <c:scaling>
          <c:orientation val="minMax"/>
          <c:max val="400000000"/>
        </c:scaling>
        <c:delete val="0"/>
        <c:axPos val="l"/>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游ゴシック" panose="020B0400000000000000" pitchFamily="50" charset="-128"/>
                <a:ea typeface="游ゴシック" panose="020B0400000000000000" pitchFamily="50" charset="-128"/>
                <a:cs typeface="+mn-cs"/>
              </a:defRPr>
            </a:pPr>
            <a:endParaRPr lang="ja-JP"/>
          </a:p>
        </c:txPr>
        <c:crossAx val="1750842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游ゴシック" panose="020B0400000000000000" pitchFamily="50" charset="-128"/>
              <a:ea typeface="游ゴシック" panose="020B0400000000000000" pitchFamily="50" charset="-128"/>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cap="flat" cmpd="sng" algn="ctr">
      <a:solidFill>
        <a:schemeClr val="bg1"/>
      </a:solidFill>
      <a:round/>
    </a:ln>
    <a:effectLst/>
  </c:spPr>
  <c:txPr>
    <a:bodyPr/>
    <a:lstStyle/>
    <a:p>
      <a:pPr>
        <a:defRPr>
          <a:latin typeface="游ゴシック" panose="020B0400000000000000" pitchFamily="50" charset="-128"/>
          <a:ea typeface="游ゴシック" panose="020B0400000000000000" pitchFamily="50" charset="-128"/>
        </a:defRPr>
      </a:pPr>
      <a:endParaRPr lang="ja-JP"/>
    </a:p>
  </c:txPr>
  <c:externalData r:id="rId4">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8A858-ACAC-FC46-C7A3-08998D636BE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B498EA9-7D86-F830-3615-119F5E901E8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A0978DBB-FC5B-DA17-9DF8-5D611BD085D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B84AC6A-2362-ECAA-4A6F-0C9306026947}"/>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3867633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46B9E-C59D-3549-6F80-67CE0379DE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F3E74A-C91A-E575-223B-9CE6CD7AAF4D}"/>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9B4E1D0-71FE-6BF0-50E9-7800604482A9}"/>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B74E4F4E-D10D-7BE8-03CF-33262EA6D432}"/>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594460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185AD-8D65-BAA5-09B6-36666AE5FF3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E8FEDC6-2884-60A6-90FA-C08A5E1C538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85E04498-BC81-35C0-C1C0-3B563A9851E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F693450B-5B38-E2E2-BEB4-EDB7D7542B73}"/>
              </a:ext>
            </a:extLst>
          </p:cNvPr>
          <p:cNvSpPr>
            <a:spLocks noGrp="1"/>
          </p:cNvSpPr>
          <p:nvPr>
            <p:ph type="sldNum" sz="quarter" idx="5"/>
          </p:nvPr>
        </p:nvSpPr>
        <p:spPr/>
        <p:txBody>
          <a:bodyPr/>
          <a:lstStyle/>
          <a:p>
            <a:fld id="{30FF3BCC-1A43-4D25-8467-E40EF431E2F1}" type="slidenum">
              <a:rPr kumimoji="1" lang="ja-JP" altLang="en-US" smtClean="0"/>
              <a:t>7</a:t>
            </a:fld>
            <a:endParaRPr kumimoji="1" lang="ja-JP" altLang="en-US"/>
          </a:p>
        </p:txBody>
      </p:sp>
    </p:spTree>
    <p:extLst>
      <p:ext uri="{BB962C8B-B14F-4D97-AF65-F5344CB8AC3E}">
        <p14:creationId xmlns:p14="http://schemas.microsoft.com/office/powerpoint/2010/main" val="3356288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AEE06-8526-9E94-F352-534A28D426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CB773FF-7EA8-700D-8929-931E046BE8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10C07900-FE58-B2E5-A905-BCFA2AD8EEC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B8F46F-2E7E-104B-DE27-E984795E8797}"/>
              </a:ext>
            </a:extLst>
          </p:cNvPr>
          <p:cNvSpPr>
            <a:spLocks noGrp="1"/>
          </p:cNvSpPr>
          <p:nvPr>
            <p:ph type="sldNum" sz="quarter" idx="5"/>
          </p:nvPr>
        </p:nvSpPr>
        <p:spPr/>
        <p:txBody>
          <a:bodyPr/>
          <a:lstStyle/>
          <a:p>
            <a:fld id="{30FF3BCC-1A43-4D25-8467-E40EF431E2F1}" type="slidenum">
              <a:rPr kumimoji="1" lang="ja-JP" altLang="en-US" smtClean="0"/>
              <a:t>8</a:t>
            </a:fld>
            <a:endParaRPr kumimoji="1" lang="ja-JP" altLang="en-US"/>
          </a:p>
        </p:txBody>
      </p:sp>
    </p:spTree>
    <p:extLst>
      <p:ext uri="{BB962C8B-B14F-4D97-AF65-F5344CB8AC3E}">
        <p14:creationId xmlns:p14="http://schemas.microsoft.com/office/powerpoint/2010/main" val="775461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8CDA4-7BAB-F802-29CB-049550BE07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64E0FD-16B6-4128-4D15-DB5F24D93F2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C547DB6-8A65-3A62-3A93-960E7D2EDA0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BFB4D082-5E82-A305-4A8E-2C648F3A0845}"/>
              </a:ext>
            </a:extLst>
          </p:cNvPr>
          <p:cNvSpPr>
            <a:spLocks noGrp="1"/>
          </p:cNvSpPr>
          <p:nvPr>
            <p:ph type="sldNum" sz="quarter" idx="5"/>
          </p:nvPr>
        </p:nvSpPr>
        <p:spPr/>
        <p:txBody>
          <a:bodyPr/>
          <a:lstStyle/>
          <a:p>
            <a:fld id="{30FF3BCC-1A43-4D25-8467-E40EF431E2F1}" type="slidenum">
              <a:rPr kumimoji="1" lang="ja-JP" altLang="en-US" smtClean="0"/>
              <a:t>9</a:t>
            </a:fld>
            <a:endParaRPr kumimoji="1" lang="ja-JP" altLang="en-US"/>
          </a:p>
        </p:txBody>
      </p:sp>
    </p:spTree>
    <p:extLst>
      <p:ext uri="{BB962C8B-B14F-4D97-AF65-F5344CB8AC3E}">
        <p14:creationId xmlns:p14="http://schemas.microsoft.com/office/powerpoint/2010/main" val="42442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79DAE-9A34-AD77-AC56-6A354A38FFE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F2E99-DA80-695C-CC43-3FDF8875AD7C}"/>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20B35FE-2A03-A45D-8EC3-F051EC6266F9}"/>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5E8FF1E-ACD4-DF4F-22AF-2C6DD2A7492D}"/>
              </a:ext>
            </a:extLst>
          </p:cNvPr>
          <p:cNvSpPr>
            <a:spLocks noGrp="1"/>
          </p:cNvSpPr>
          <p:nvPr>
            <p:ph type="sldNum" sz="quarter" idx="5"/>
          </p:nvPr>
        </p:nvSpPr>
        <p:spPr/>
        <p:txBody>
          <a:bodyPr/>
          <a:lstStyle/>
          <a:p>
            <a:fld id="{30FF3BCC-1A43-4D25-8467-E40EF431E2F1}" type="slidenum">
              <a:rPr kumimoji="1" lang="ja-JP" altLang="en-US" smtClean="0"/>
              <a:t>10</a:t>
            </a:fld>
            <a:endParaRPr kumimoji="1" lang="ja-JP" altLang="en-US"/>
          </a:p>
        </p:txBody>
      </p:sp>
    </p:spTree>
    <p:extLst>
      <p:ext uri="{BB962C8B-B14F-4D97-AF65-F5344CB8AC3E}">
        <p14:creationId xmlns:p14="http://schemas.microsoft.com/office/powerpoint/2010/main" val="3117156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0E2F7-D562-F255-AA0D-7BC4C0E6AB5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2E5930-578D-AD94-BE14-943ACC2D804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980015C-3642-1E3A-902E-AEAFF4D0577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829600D-E7BA-4EFE-C84B-6B06769C9105}"/>
              </a:ext>
            </a:extLst>
          </p:cNvPr>
          <p:cNvSpPr>
            <a:spLocks noGrp="1"/>
          </p:cNvSpPr>
          <p:nvPr>
            <p:ph type="sldNum" sz="quarter" idx="5"/>
          </p:nvPr>
        </p:nvSpPr>
        <p:spPr/>
        <p:txBody>
          <a:bodyPr/>
          <a:lstStyle/>
          <a:p>
            <a:fld id="{CAF5A409-FE33-4202-B69D-8515A6FDCE7E}" type="slidenum">
              <a:rPr kumimoji="1" lang="ja-JP" altLang="en-US" smtClean="0"/>
              <a:t>13</a:t>
            </a:fld>
            <a:endParaRPr kumimoji="1" lang="ja-JP" altLang="en-US"/>
          </a:p>
        </p:txBody>
      </p:sp>
    </p:spTree>
    <p:extLst>
      <p:ext uri="{BB962C8B-B14F-4D97-AF65-F5344CB8AC3E}">
        <p14:creationId xmlns:p14="http://schemas.microsoft.com/office/powerpoint/2010/main" val="504131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14</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627B7-CA77-B87F-6CEF-FFA1DA123D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8CDDC7E-CC05-7A3F-99D4-BA677E3C0AB4}"/>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6E3A7B8C-E19E-EE95-A366-7A62CD7673D0}"/>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391F2F30-7EAB-FE05-58B5-EB3C8D133828}"/>
              </a:ext>
            </a:extLst>
          </p:cNvPr>
          <p:cNvSpPr>
            <a:spLocks noGrp="1"/>
          </p:cNvSpPr>
          <p:nvPr>
            <p:ph type="sldNum" sz="quarter" idx="5"/>
          </p:nvPr>
        </p:nvSpPr>
        <p:spPr/>
        <p:txBody>
          <a:bodyPr/>
          <a:lstStyle/>
          <a:p>
            <a:fld id="{CCD08276-B047-45AB-869B-6FEE4FD0AA7E}" type="slidenum">
              <a:rPr kumimoji="1" lang="ja-JP" altLang="en-US" smtClean="0"/>
              <a:t>15</a:t>
            </a:fld>
            <a:endParaRPr kumimoji="1" lang="ja-JP" altLang="en-US"/>
          </a:p>
        </p:txBody>
      </p:sp>
    </p:spTree>
    <p:extLst>
      <p:ext uri="{BB962C8B-B14F-4D97-AF65-F5344CB8AC3E}">
        <p14:creationId xmlns:p14="http://schemas.microsoft.com/office/powerpoint/2010/main" val="703621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DB2E2-F91E-4022-9536-4190EFD6CC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90B1E2-9969-76FD-1BB4-0583085493C8}"/>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64E68134-8E8E-FF10-4087-DC1CEE30B570}"/>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85E92C2-E304-E13F-7D11-5569E452ACC3}"/>
              </a:ext>
            </a:extLst>
          </p:cNvPr>
          <p:cNvSpPr>
            <a:spLocks noGrp="1"/>
          </p:cNvSpPr>
          <p:nvPr>
            <p:ph type="sldNum" sz="quarter" idx="5"/>
          </p:nvPr>
        </p:nvSpPr>
        <p:spPr/>
        <p:txBody>
          <a:bodyPr/>
          <a:lstStyle/>
          <a:p>
            <a:fld id="{CCD08276-B047-45AB-869B-6FEE4FD0AA7E}" type="slidenum">
              <a:rPr kumimoji="1" lang="ja-JP" altLang="en-US" smtClean="0"/>
              <a:t>16</a:t>
            </a:fld>
            <a:endParaRPr kumimoji="1" lang="ja-JP" altLang="en-US"/>
          </a:p>
        </p:txBody>
      </p:sp>
    </p:spTree>
    <p:extLst>
      <p:ext uri="{BB962C8B-B14F-4D97-AF65-F5344CB8AC3E}">
        <p14:creationId xmlns:p14="http://schemas.microsoft.com/office/powerpoint/2010/main" val="3241688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730CF-6972-D76B-8A87-8BEB992D775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EA7E73-2015-DEA7-A6CE-59CED437EFC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7347B713-62FD-FEAE-159D-31F5588C20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9CBB993F-7AAE-EC83-0351-46D36251B18F}"/>
              </a:ext>
            </a:extLst>
          </p:cNvPr>
          <p:cNvSpPr>
            <a:spLocks noGrp="1"/>
          </p:cNvSpPr>
          <p:nvPr>
            <p:ph type="sldNum" sz="quarter" idx="5"/>
          </p:nvPr>
        </p:nvSpPr>
        <p:spPr/>
        <p:txBody>
          <a:bodyPr/>
          <a:lstStyle/>
          <a:p>
            <a:fld id="{CCD08276-B047-45AB-869B-6FEE4FD0AA7E}" type="slidenum">
              <a:rPr kumimoji="1" lang="ja-JP" altLang="en-US" smtClean="0"/>
              <a:t>17</a:t>
            </a:fld>
            <a:endParaRPr kumimoji="1" lang="ja-JP" altLang="en-US"/>
          </a:p>
        </p:txBody>
      </p:sp>
    </p:spTree>
    <p:extLst>
      <p:ext uri="{BB962C8B-B14F-4D97-AF65-F5344CB8AC3E}">
        <p14:creationId xmlns:p14="http://schemas.microsoft.com/office/powerpoint/2010/main" val="1697511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5E854-FD59-8E8C-242F-5B406294CA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12A2F4-6F68-7757-D624-A2215E7325FA}"/>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C95824E0-E6CF-17DD-CA7F-B0E1BD7FFF1F}"/>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34D2C668-861E-07F8-720F-6A4CBFE791A4}"/>
              </a:ext>
            </a:extLst>
          </p:cNvPr>
          <p:cNvSpPr>
            <a:spLocks noGrp="1"/>
          </p:cNvSpPr>
          <p:nvPr>
            <p:ph type="sldNum" sz="quarter" idx="5"/>
          </p:nvPr>
        </p:nvSpPr>
        <p:spPr/>
        <p:txBody>
          <a:bodyPr/>
          <a:lstStyle/>
          <a:p>
            <a:fld id="{CCD08276-B047-45AB-869B-6FEE4FD0AA7E}" type="slidenum">
              <a:rPr kumimoji="1" lang="ja-JP" altLang="en-US" smtClean="0"/>
              <a:t>18</a:t>
            </a:fld>
            <a:endParaRPr kumimoji="1" lang="ja-JP" altLang="en-US"/>
          </a:p>
        </p:txBody>
      </p:sp>
    </p:spTree>
    <p:extLst>
      <p:ext uri="{BB962C8B-B14F-4D97-AF65-F5344CB8AC3E}">
        <p14:creationId xmlns:p14="http://schemas.microsoft.com/office/powerpoint/2010/main" val="19510365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3330A-9AEC-D855-5F86-071580B873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112C583-F356-7498-EAF9-EEED70EC25A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0023A092-087B-D715-112D-116FA56E64DF}"/>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12D1519F-B431-678C-8C55-F99922F757E6}"/>
              </a:ext>
            </a:extLst>
          </p:cNvPr>
          <p:cNvSpPr>
            <a:spLocks noGrp="1"/>
          </p:cNvSpPr>
          <p:nvPr>
            <p:ph type="sldNum" sz="quarter" idx="5"/>
          </p:nvPr>
        </p:nvSpPr>
        <p:spPr/>
        <p:txBody>
          <a:bodyPr/>
          <a:lstStyle/>
          <a:p>
            <a:fld id="{CCD08276-B047-45AB-869B-6FEE4FD0AA7E}" type="slidenum">
              <a:rPr kumimoji="1" lang="ja-JP" altLang="en-US" smtClean="0"/>
              <a:t>19</a:t>
            </a:fld>
            <a:endParaRPr kumimoji="1" lang="ja-JP" altLang="en-US"/>
          </a:p>
        </p:txBody>
      </p:sp>
    </p:spTree>
    <p:extLst>
      <p:ext uri="{BB962C8B-B14F-4D97-AF65-F5344CB8AC3E}">
        <p14:creationId xmlns:p14="http://schemas.microsoft.com/office/powerpoint/2010/main" val="259009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B9536-9DD5-15F0-221A-54B218672A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610296-35F3-64C8-5BBA-D93AD8B109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72F111E-C8DB-73FB-51E5-725E2257C8E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3125E32D-9883-7AA4-9C40-8BC4940FE1BA}"/>
              </a:ext>
            </a:extLst>
          </p:cNvPr>
          <p:cNvSpPr>
            <a:spLocks noGrp="1"/>
          </p:cNvSpPr>
          <p:nvPr>
            <p:ph type="sldNum" sz="quarter" idx="5"/>
          </p:nvPr>
        </p:nvSpPr>
        <p:spPr/>
        <p:txBody>
          <a:bodyPr/>
          <a:lstStyle/>
          <a:p>
            <a:fld id="{30FF3BCC-1A43-4D25-8467-E40EF431E2F1}" type="slidenum">
              <a:rPr kumimoji="1" lang="ja-JP" altLang="en-US" smtClean="0"/>
              <a:t>21</a:t>
            </a:fld>
            <a:endParaRPr kumimoji="1" lang="ja-JP" altLang="en-US"/>
          </a:p>
        </p:txBody>
      </p:sp>
    </p:spTree>
    <p:extLst>
      <p:ext uri="{BB962C8B-B14F-4D97-AF65-F5344CB8AC3E}">
        <p14:creationId xmlns:p14="http://schemas.microsoft.com/office/powerpoint/2010/main" val="4201249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592E-568B-2BA5-2B19-12B81CE778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A7352E-A782-2B96-F549-A44B4533D5C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F54036B-FC89-BE57-BD1D-9528CDD969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1950A32-E8C7-5909-50B6-CF7BE228A3D0}"/>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16178411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FA0E2-DA4F-26C0-1147-5006C981F6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D99030-112D-2E2F-65DE-AD6EC2C7130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6581319-9FB3-1D78-9CFF-F6CB8810736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D3E62E6-18F0-E9AC-0584-ADEF72830D5B}"/>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38862420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18DF6-415A-33E8-47A5-C9DDB9C89E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F222BB-9D65-0D1B-F8CF-72C2B26AA0F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3EDC697-B7D2-75B8-B8A0-137378A07C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FB1E288B-CC04-BD56-5DC4-CB8A65DAEE36}"/>
              </a:ext>
            </a:extLst>
          </p:cNvPr>
          <p:cNvSpPr>
            <a:spLocks noGrp="1"/>
          </p:cNvSpPr>
          <p:nvPr>
            <p:ph type="sldNum" sz="quarter" idx="5"/>
          </p:nvPr>
        </p:nvSpPr>
        <p:spPr/>
        <p:txBody>
          <a:bodyPr/>
          <a:lstStyle/>
          <a:p>
            <a:fld id="{30FF3BCC-1A43-4D25-8467-E40EF431E2F1}" type="slidenum">
              <a:rPr kumimoji="1" lang="ja-JP" altLang="en-US" smtClean="0"/>
              <a:t>25</a:t>
            </a:fld>
            <a:endParaRPr kumimoji="1" lang="ja-JP" altLang="en-US"/>
          </a:p>
        </p:txBody>
      </p:sp>
    </p:spTree>
    <p:extLst>
      <p:ext uri="{BB962C8B-B14F-4D97-AF65-F5344CB8AC3E}">
        <p14:creationId xmlns:p14="http://schemas.microsoft.com/office/powerpoint/2010/main" val="27386737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CEE2C-ED14-D042-5CBC-9EBF99AC65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BAA5138-FDE9-3327-5203-468A8B88F00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4A66B35-6CDD-72D0-4D2C-BCC3F03102C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01D8D8C-B148-B51A-0238-F954EBC71BC3}"/>
              </a:ext>
            </a:extLst>
          </p:cNvPr>
          <p:cNvSpPr>
            <a:spLocks noGrp="1"/>
          </p:cNvSpPr>
          <p:nvPr>
            <p:ph type="sldNum" sz="quarter" idx="5"/>
          </p:nvPr>
        </p:nvSpPr>
        <p:spPr/>
        <p:txBody>
          <a:bodyPr/>
          <a:lstStyle/>
          <a:p>
            <a:fld id="{30FF3BCC-1A43-4D25-8467-E40EF431E2F1}" type="slidenum">
              <a:rPr kumimoji="1" lang="ja-JP" altLang="en-US" smtClean="0"/>
              <a:t>26</a:t>
            </a:fld>
            <a:endParaRPr kumimoji="1" lang="ja-JP" altLang="en-US"/>
          </a:p>
        </p:txBody>
      </p:sp>
    </p:spTree>
    <p:extLst>
      <p:ext uri="{BB962C8B-B14F-4D97-AF65-F5344CB8AC3E}">
        <p14:creationId xmlns:p14="http://schemas.microsoft.com/office/powerpoint/2010/main" val="15248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07371-6AA9-398F-4520-ACFB249688A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21D249-B618-2E57-F8FD-43365D9CF5B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AF04D80-7483-6576-A742-71A44AEFF349}"/>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9AD694-B316-6CAE-20A6-69BCE280DB2F}"/>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4535996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86E92-BCA7-18E7-FE4C-449D7A16F09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D58D4C-9BA5-FAB4-D069-E893024848DD}"/>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130E880-E187-A402-AC05-76DFAE18D145}"/>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844E1FC-385E-BCF7-D809-F36D22C4C061}"/>
              </a:ext>
            </a:extLst>
          </p:cNvPr>
          <p:cNvSpPr>
            <a:spLocks noGrp="1"/>
          </p:cNvSpPr>
          <p:nvPr>
            <p:ph type="sldNum" sz="quarter" idx="5"/>
          </p:nvPr>
        </p:nvSpPr>
        <p:spPr/>
        <p:txBody>
          <a:bodyPr/>
          <a:lstStyle/>
          <a:p>
            <a:fld id="{30FF3BCC-1A43-4D25-8467-E40EF431E2F1}" type="slidenum">
              <a:rPr kumimoji="1" lang="ja-JP" altLang="en-US" smtClean="0"/>
              <a:t>28</a:t>
            </a:fld>
            <a:endParaRPr kumimoji="1" lang="ja-JP" altLang="en-US"/>
          </a:p>
        </p:txBody>
      </p:sp>
    </p:spTree>
    <p:extLst>
      <p:ext uri="{BB962C8B-B14F-4D97-AF65-F5344CB8AC3E}">
        <p14:creationId xmlns:p14="http://schemas.microsoft.com/office/powerpoint/2010/main" val="32256105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0F3DC-50E1-0B6C-2E96-31D9D5FCFA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4AC7D2-82F5-F02C-F8E4-334143C70B6C}"/>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A252EE4-F7BF-CE27-F7E0-FC111BED5D6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D120A1F-64FD-71C1-1A51-8F4F960B566E}"/>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9008253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A2904-76B4-26FE-A185-944C899D07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FE62B09-D207-2548-9B45-7271D00D7E5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FE5C023-0CF2-AB09-7CFD-6068175A26D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7CBB494-8C4B-23EF-53C4-88DECD2396B0}"/>
              </a:ext>
            </a:extLst>
          </p:cNvPr>
          <p:cNvSpPr>
            <a:spLocks noGrp="1"/>
          </p:cNvSpPr>
          <p:nvPr>
            <p:ph type="sldNum" sz="quarter" idx="5"/>
          </p:nvPr>
        </p:nvSpPr>
        <p:spPr/>
        <p:txBody>
          <a:bodyPr/>
          <a:lstStyle/>
          <a:p>
            <a:fld id="{30FF3BCC-1A43-4D25-8467-E40EF431E2F1}" type="slidenum">
              <a:rPr kumimoji="1" lang="ja-JP" altLang="en-US" smtClean="0"/>
              <a:t>30</a:t>
            </a:fld>
            <a:endParaRPr kumimoji="1" lang="ja-JP" altLang="en-US"/>
          </a:p>
        </p:txBody>
      </p:sp>
    </p:spTree>
    <p:extLst>
      <p:ext uri="{BB962C8B-B14F-4D97-AF65-F5344CB8AC3E}">
        <p14:creationId xmlns:p14="http://schemas.microsoft.com/office/powerpoint/2010/main" val="40566744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31</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32</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33</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34</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36</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37</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38</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extLst>
    <p:ext uri="{DCECCB84-F9BA-43D5-87BE-67443E8EF086}">
      <p15:sldGuideLst xmlns:p15="http://schemas.microsoft.com/office/powerpoint/2012/main">
        <p15:guide id="1" orient="horz" pos="2381" userDrawn="1">
          <p15:clr>
            <a:srgbClr val="FBAE40"/>
          </p15:clr>
        </p15:guide>
        <p15:guide id="2" pos="336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jpe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jpe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40.jp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38.jpg"/><Relationship Id="rId5" Type="http://schemas.openxmlformats.org/officeDocument/2006/relationships/image" Target="../media/image37.png"/><Relationship Id="rId10" Type="http://schemas.openxmlformats.org/officeDocument/2006/relationships/image" Target="../media/image42.jpg"/><Relationship Id="rId4" Type="http://schemas.openxmlformats.org/officeDocument/2006/relationships/image" Target="../media/image36.jpg"/><Relationship Id="rId9"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5.xml"/><Relationship Id="rId5" Type="http://schemas.microsoft.com/office/2007/relationships/hdphoto" Target="../media/hdphoto1.wdp"/><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2.xml"/><Relationship Id="rId1" Type="http://schemas.openxmlformats.org/officeDocument/2006/relationships/slideLayout" Target="../slideLayouts/slideLayout5.xml"/><Relationship Id="rId5" Type="http://schemas.microsoft.com/office/2007/relationships/hdphoto" Target="../media/hdphoto2.wdp"/><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a:xfrm>
            <a:off x="885526" y="3467606"/>
            <a:ext cx="9888491" cy="738664"/>
          </a:xfrm>
        </p:spPr>
        <p:txBody>
          <a:bodyPr/>
          <a:lstStyle/>
          <a:p>
            <a:r>
              <a:rPr lang="ja-JP" altLang="en-US" dirty="0"/>
              <a:t>企業概要書 </a:t>
            </a:r>
            <a:r>
              <a:rPr lang="en-US" altLang="ja-JP" sz="2400" dirty="0"/>
              <a:t>&lt;</a:t>
            </a:r>
            <a:r>
              <a:rPr lang="ja-JP" altLang="en-US" sz="2400" dirty="0"/>
              <a:t>広告制作＆</a:t>
            </a:r>
            <a:r>
              <a:rPr lang="en-US" altLang="ja-JP" sz="2400" dirty="0"/>
              <a:t>CRM</a:t>
            </a:r>
            <a:r>
              <a:rPr lang="ja-JP" altLang="en-US" sz="2400" dirty="0"/>
              <a:t>導入コンサル</a:t>
            </a:r>
            <a:r>
              <a:rPr lang="en-US" altLang="ja-JP" sz="2400" dirty="0"/>
              <a:t>@</a:t>
            </a:r>
            <a:r>
              <a:rPr lang="ja-JP" altLang="en-US" sz="2400" dirty="0"/>
              <a:t>関東</a:t>
            </a:r>
            <a:r>
              <a:rPr lang="en-US" altLang="ja-JP" sz="2400" dirty="0"/>
              <a:t>&gt;</a:t>
            </a:r>
            <a:r>
              <a:rPr lang="ja-JP" altLang="en-US" dirty="0"/>
              <a:t>　</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2227011580"/>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実績、組織、拠点等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lang="en-US" altLang="ja-JP" dirty="0">
                <a:latin typeface="+mj-ea"/>
              </a:rPr>
              <a:t>Salesforce導入・運用コンサルティング事業と広告制作事業の2事業を展開。2026年10月1日付の新設分割により、両事業を承継して設立。</a:t>
            </a:r>
            <a:endParaRPr lang="en-US" altLang="ja-JP" dirty="0"/>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1149" y="1517736"/>
            <a:ext cx="6330433"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pic>
        <p:nvPicPr>
          <p:cNvPr id="10" name="Picture 2" descr="Salesforceキャリア支援パートナー」に認定されました | 株式会社ウイルテック">
            <a:extLst>
              <a:ext uri="{FF2B5EF4-FFF2-40B4-BE49-F238E27FC236}">
                <a16:creationId xmlns:a16="http://schemas.microsoft.com/office/drawing/2014/main" id="{6494C4CC-5BA6-BEBB-2D8F-8A401D9085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4614" y="1749030"/>
            <a:ext cx="876408" cy="931429"/>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object 9">
            <a:extLst>
              <a:ext uri="{FF2B5EF4-FFF2-40B4-BE49-F238E27FC236}">
                <a16:creationId xmlns:a16="http://schemas.microsoft.com/office/drawing/2014/main" id="{64DB392D-80AD-5144-0CE4-629FBAB4E79B}"/>
              </a:ext>
            </a:extLst>
          </p:cNvPr>
          <p:cNvGrpSpPr/>
          <p:nvPr/>
        </p:nvGrpSpPr>
        <p:grpSpPr>
          <a:xfrm>
            <a:off x="7112393" y="4945272"/>
            <a:ext cx="2431229" cy="1482102"/>
            <a:chOff x="356234" y="921575"/>
            <a:chExt cx="5523865" cy="3367404"/>
          </a:xfrm>
        </p:grpSpPr>
        <p:pic>
          <p:nvPicPr>
            <p:cNvPr id="12" name="object 10">
              <a:extLst>
                <a:ext uri="{FF2B5EF4-FFF2-40B4-BE49-F238E27FC236}">
                  <a16:creationId xmlns:a16="http://schemas.microsoft.com/office/drawing/2014/main" id="{02D64363-39ED-1022-67B8-183DDDBF239D}"/>
                </a:ext>
              </a:extLst>
            </p:cNvPr>
            <p:cNvPicPr/>
            <p:nvPr/>
          </p:nvPicPr>
          <p:blipFill>
            <a:blip r:embed="rId4" cstate="print"/>
            <a:stretch>
              <a:fillRect/>
            </a:stretch>
          </p:blipFill>
          <p:spPr>
            <a:xfrm>
              <a:off x="365759" y="931164"/>
              <a:ext cx="5504688" cy="3348228"/>
            </a:xfrm>
            <a:prstGeom prst="rect">
              <a:avLst/>
            </a:prstGeom>
          </p:spPr>
        </p:pic>
        <p:sp>
          <p:nvSpPr>
            <p:cNvPr id="16" name="object 11">
              <a:extLst>
                <a:ext uri="{FF2B5EF4-FFF2-40B4-BE49-F238E27FC236}">
                  <a16:creationId xmlns:a16="http://schemas.microsoft.com/office/drawing/2014/main" id="{A75F754C-2DCC-E499-846B-39478E14A780}"/>
                </a:ext>
              </a:extLst>
            </p:cNvPr>
            <p:cNvSpPr/>
            <p:nvPr/>
          </p:nvSpPr>
          <p:spPr>
            <a:xfrm>
              <a:off x="360997" y="926338"/>
              <a:ext cx="5514340" cy="3357879"/>
            </a:xfrm>
            <a:custGeom>
              <a:avLst/>
              <a:gdLst/>
              <a:ahLst/>
              <a:cxnLst/>
              <a:rect l="l" t="t" r="r" b="b"/>
              <a:pathLst>
                <a:path w="5514340" h="3357879">
                  <a:moveTo>
                    <a:pt x="0" y="3357753"/>
                  </a:moveTo>
                  <a:lnTo>
                    <a:pt x="5514213" y="3357753"/>
                  </a:lnTo>
                  <a:lnTo>
                    <a:pt x="5514213" y="0"/>
                  </a:lnTo>
                  <a:lnTo>
                    <a:pt x="0" y="0"/>
                  </a:lnTo>
                  <a:lnTo>
                    <a:pt x="0" y="3357753"/>
                  </a:lnTo>
                  <a:close/>
                </a:path>
              </a:pathLst>
            </a:custGeom>
            <a:ln w="9525">
              <a:solidFill>
                <a:srgbClr val="000000"/>
              </a:solidFill>
            </a:ln>
          </p:spPr>
          <p:txBody>
            <a:bodyPr wrap="square" lIns="0" tIns="0" rIns="0" bIns="0" rtlCol="0"/>
            <a:lstStyle/>
            <a:p>
              <a:endParaRPr>
                <a:latin typeface="游ゴシック Medium" panose="020B0500000000000000" pitchFamily="50" charset="-128"/>
                <a:ea typeface="游ゴシック Medium" panose="020B0500000000000000" pitchFamily="50" charset="-128"/>
              </a:endParaRPr>
            </a:p>
          </p:txBody>
        </p:sp>
      </p:grpSp>
      <p:sp>
        <p:nvSpPr>
          <p:cNvPr id="17" name="object 8">
            <a:extLst>
              <a:ext uri="{FF2B5EF4-FFF2-40B4-BE49-F238E27FC236}">
                <a16:creationId xmlns:a16="http://schemas.microsoft.com/office/drawing/2014/main" id="{261BD32F-95D5-13F9-81BF-923A176500F6}"/>
              </a:ext>
            </a:extLst>
          </p:cNvPr>
          <p:cNvSpPr txBox="1"/>
          <p:nvPr/>
        </p:nvSpPr>
        <p:spPr>
          <a:xfrm>
            <a:off x="7113844" y="6461551"/>
            <a:ext cx="2674894" cy="166712"/>
          </a:xfrm>
          <a:prstGeom prst="rect">
            <a:avLst/>
          </a:prstGeom>
          <a:ln>
            <a:noFill/>
          </a:ln>
        </p:spPr>
        <p:txBody>
          <a:bodyPr vert="horz" wrap="square" lIns="0" tIns="12700" rIns="0" bIns="0" rtlCol="0">
            <a:spAutoFit/>
          </a:bodyPr>
          <a:lstStyle/>
          <a:p>
            <a:pPr marL="12700" defTabSz="914400">
              <a:spcBef>
                <a:spcPts val="100"/>
              </a:spcBef>
            </a:pPr>
            <a:r>
              <a:rPr lang="ja-JP" altLang="en-US" sz="1000" dirty="0">
                <a:solidFill>
                  <a:srgbClr val="000000"/>
                </a:solidFill>
                <a:latin typeface="游ゴシック Medium" panose="020B0500000000000000" pitchFamily="50" charset="-128"/>
                <a:ea typeface="游ゴシック Medium" panose="020B0500000000000000" pitchFamily="50" charset="-128"/>
              </a:rPr>
              <a:t>▲</a:t>
            </a:r>
            <a:r>
              <a:rPr lang="en-US" altLang="zh-TW" sz="1000" dirty="0">
                <a:solidFill>
                  <a:srgbClr val="000000"/>
                </a:solidFill>
                <a:latin typeface="游ゴシック Medium" panose="020B0500000000000000" pitchFamily="50" charset="-128"/>
                <a:ea typeface="游ゴシック Medium" panose="020B0500000000000000" pitchFamily="50" charset="-128"/>
              </a:rPr>
              <a:t>JA</a:t>
            </a:r>
            <a:r>
              <a:rPr lang="zh-TW" altLang="en-US" sz="1000" dirty="0">
                <a:solidFill>
                  <a:srgbClr val="000000"/>
                </a:solidFill>
                <a:latin typeface="游ゴシック Medium" panose="020B0500000000000000" pitchFamily="50" charset="-128"/>
                <a:ea typeface="游ゴシック Medium" panose="020B0500000000000000" pitchFamily="50" charset="-128"/>
              </a:rPr>
              <a:t>（農業協同組合）</a:t>
            </a:r>
            <a:r>
              <a:rPr lang="en-US" altLang="zh-TW" sz="1000" dirty="0">
                <a:solidFill>
                  <a:srgbClr val="000000"/>
                </a:solidFill>
                <a:latin typeface="游ゴシック Medium" panose="020B0500000000000000" pitchFamily="50" charset="-128"/>
                <a:ea typeface="游ゴシック Medium" panose="020B0500000000000000" pitchFamily="50" charset="-128"/>
              </a:rPr>
              <a:t>_</a:t>
            </a:r>
            <a:r>
              <a:rPr lang="ja-JP" altLang="en-US" sz="1000" dirty="0">
                <a:solidFill>
                  <a:srgbClr val="000000"/>
                </a:solidFill>
                <a:latin typeface="游ゴシック Medium" panose="020B0500000000000000" pitchFamily="50" charset="-128"/>
                <a:ea typeface="游ゴシック Medium" panose="020B0500000000000000" pitchFamily="50" charset="-128"/>
              </a:rPr>
              <a:t>制作案件</a:t>
            </a:r>
            <a:endParaRPr lang="en-US" altLang="ja-JP" sz="1000" dirty="0">
              <a:solidFill>
                <a:srgbClr val="000000"/>
              </a:solidFill>
              <a:latin typeface="游ゴシック Medium" panose="020B0500000000000000" pitchFamily="50" charset="-128"/>
              <a:ea typeface="游ゴシック Medium" panose="020B0500000000000000" pitchFamily="50" charset="-128"/>
            </a:endParaRPr>
          </a:p>
        </p:txBody>
      </p:sp>
      <p:pic>
        <p:nvPicPr>
          <p:cNvPr id="18" name="Picture 2" descr="The Ultimate Guide to Salesforce Marketing Cloud: Features and Benefits">
            <a:extLst>
              <a:ext uri="{FF2B5EF4-FFF2-40B4-BE49-F238E27FC236}">
                <a16:creationId xmlns:a16="http://schemas.microsoft.com/office/drawing/2014/main" id="{30C4EF5F-946C-A46C-F99D-F1C943B34F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6874" y="2972681"/>
            <a:ext cx="2962210" cy="14736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0" name="表 19">
            <a:extLst>
              <a:ext uri="{FF2B5EF4-FFF2-40B4-BE49-F238E27FC236}">
                <a16:creationId xmlns:a16="http://schemas.microsoft.com/office/drawing/2014/main" id="{371748D5-6F7B-BB33-B1C6-1B717378D37C}"/>
              </a:ext>
            </a:extLst>
          </p:cNvPr>
          <p:cNvGraphicFramePr>
            <a:graphicFrameLocks noGrp="1"/>
          </p:cNvGraphicFramePr>
          <p:nvPr>
            <p:extLst>
              <p:ext uri="{D42A27DB-BD31-4B8C-83A1-F6EECF244321}">
                <p14:modId xmlns:p14="http://schemas.microsoft.com/office/powerpoint/2010/main" val="2483549945"/>
              </p:ext>
            </p:extLst>
          </p:nvPr>
        </p:nvGraphicFramePr>
        <p:xfrm>
          <a:off x="311150" y="2044703"/>
          <a:ext cx="6330434" cy="4592786"/>
        </p:xfrm>
        <a:graphic>
          <a:graphicData uri="http://schemas.openxmlformats.org/drawingml/2006/table">
            <a:tbl>
              <a:tblPr/>
              <a:tblGrid>
                <a:gridCol w="1162272">
                  <a:extLst>
                    <a:ext uri="{9D8B030D-6E8A-4147-A177-3AD203B41FA5}">
                      <a16:colId xmlns:a16="http://schemas.microsoft.com/office/drawing/2014/main" val="3387000517"/>
                    </a:ext>
                  </a:extLst>
                </a:gridCol>
                <a:gridCol w="5168162">
                  <a:extLst>
                    <a:ext uri="{9D8B030D-6E8A-4147-A177-3AD203B41FA5}">
                      <a16:colId xmlns:a16="http://schemas.microsoft.com/office/drawing/2014/main" val="3741158042"/>
                    </a:ext>
                  </a:extLst>
                </a:gridCol>
              </a:tblGrid>
              <a:tr h="231125">
                <a:tc>
                  <a:txBody>
                    <a:bodyPr/>
                    <a:lstStyle/>
                    <a:p>
                      <a:pPr algn="ctr" fontAlgn="ctr">
                        <a:buNone/>
                      </a:pP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項目</a:t>
                      </a:r>
                    </a:p>
                  </a:txBody>
                  <a:tcPr marL="5778" marR="5778" marT="5778"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内容</a:t>
                      </a:r>
                    </a:p>
                  </a:txBody>
                  <a:tcPr marL="5778" marR="5778" marT="577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639146839"/>
                  </a:ext>
                </a:extLst>
              </a:tr>
              <a:tr h="462249">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会社名</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株式会社アドレイ</a:t>
                      </a:r>
                      <a:b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b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https://www.adlay.co.jp/</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847914535"/>
                  </a:ext>
                </a:extLst>
              </a:tr>
              <a:tr h="26001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本社所在地</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東京都中央区築地</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5-3-3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築地浜離宮ビル</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階</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579420395"/>
                  </a:ext>
                </a:extLst>
              </a:tr>
              <a:tr h="26001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設立</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2026年10月1日（新設分割により設立／創業1971年3月）</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640993518"/>
                  </a:ext>
                </a:extLst>
              </a:tr>
              <a:tr h="26001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9,000千円</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961959186"/>
                  </a:ext>
                </a:extLst>
              </a:tr>
              <a:tr h="259200">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代表者</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zh-TW" altLang="en-US" sz="1100" b="0" i="0" u="none" strike="noStrike" dirty="0">
                          <a:solidFill>
                            <a:srgbClr val="000000"/>
                          </a:solidFill>
                          <a:effectLst/>
                          <a:latin typeface="游ゴシック" panose="020B0400000000000000" pitchFamily="50" charset="-128"/>
                          <a:ea typeface="游ゴシック" panose="020B0400000000000000" pitchFamily="50" charset="-128"/>
                        </a:rPr>
                        <a:t>代表取締役</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　</a:t>
                      </a:r>
                      <a:r>
                        <a:rPr lang="zh-TW" altLang="en-US" sz="1100" b="0" i="0" u="none" strike="noStrike" dirty="0">
                          <a:solidFill>
                            <a:srgbClr val="000000"/>
                          </a:solidFill>
                          <a:effectLst/>
                          <a:latin typeface="游ゴシック" panose="020B0400000000000000" pitchFamily="50" charset="-128"/>
                          <a:ea typeface="游ゴシック" panose="020B0400000000000000" pitchFamily="50" charset="-128"/>
                        </a:rPr>
                        <a:t>加藤 正臣</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06920"/>
                  </a:ext>
                </a:extLst>
              </a:tr>
              <a:tr h="23112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株主</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倉田将志　900株（100%）</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094794423"/>
                  </a:ext>
                </a:extLst>
              </a:tr>
              <a:tr h="693374">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事業内容</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①</a:t>
                      </a:r>
                      <a:r>
                        <a:rPr lang="en-US" sz="1100" b="0" i="0" u="none" strike="noStrike" dirty="0" err="1">
                          <a:solidFill>
                            <a:srgbClr val="000000"/>
                          </a:solidFill>
                          <a:effectLst/>
                          <a:latin typeface="游ゴシック" panose="020B0400000000000000" pitchFamily="50" charset="-128"/>
                          <a:ea typeface="游ゴシック" panose="020B0400000000000000" pitchFamily="50" charset="-128"/>
                        </a:rPr>
                        <a:t>Data＆Digital</a:t>
                      </a: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 Growth </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事業（</a:t>
                      </a: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Salesforce</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導入～運用コンサルティング）</a:t>
                      </a:r>
                      <a:b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②広告制作事業　</a:t>
                      </a:r>
                      <a:b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br>
                      <a:r>
                        <a:rPr lang="en-US" altLang="ja-JP" sz="1100" b="1" i="0" u="none" strike="noStrike" dirty="0">
                          <a:solidFill>
                            <a:srgbClr val="C00000"/>
                          </a:solidFill>
                          <a:effectLst/>
                          <a:latin typeface="游ゴシック" panose="020B0400000000000000" pitchFamily="50" charset="-128"/>
                          <a:ea typeface="游ゴシック" panose="020B0400000000000000" pitchFamily="50" charset="-128"/>
                        </a:rPr>
                        <a:t>※不動産賃貸業は分割会社に残置（譲渡対象外）</a:t>
                      </a:r>
                      <a:endPar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25079558"/>
                  </a:ext>
                </a:extLst>
              </a:tr>
              <a:tr h="462249">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346,853</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千円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2024</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年</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月期）</a:t>
                      </a:r>
                      <a:b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302,058</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千円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2025</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年</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月期）</a:t>
                      </a:r>
                      <a:b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b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※分割前の実績（不動産賃貸事業を含む）</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83221502"/>
                  </a:ext>
                </a:extLst>
              </a:tr>
              <a:tr h="26001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パートナー等</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株式会社セールスフォース・ジャパン認定パートナー</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775241532"/>
                  </a:ext>
                </a:extLst>
              </a:tr>
              <a:tr h="26001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従業員数</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19</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名（うち役員</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名、正社員</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17</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名。</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2026</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年</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月時点）</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153485701"/>
                  </a:ext>
                </a:extLst>
              </a:tr>
              <a:tr h="693374">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保有資格等</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Marketing Cloud</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コンサルタント</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/Marketing Cloud</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メールスペシャリスト</a:t>
                      </a:r>
                      <a:b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Marketing Cloud</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デベロッパー</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/Data Cloud</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コンサルタント</a:t>
                      </a:r>
                      <a:b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Salesforce</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認定アドミニストレーター</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/AI</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アソシエイト</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/Heroku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アーキテクト等</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83300674"/>
                  </a:ext>
                </a:extLst>
              </a:tr>
              <a:tr h="26001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譲渡理由</a:t>
                      </a:r>
                    </a:p>
                  </a:txBody>
                  <a:tcPr marL="104006" marR="5778" marT="5778"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更なる事業の発展</a:t>
                      </a:r>
                    </a:p>
                  </a:txBody>
                  <a:tcPr marL="104006" marR="5778" marT="577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669923934"/>
                  </a:ext>
                </a:extLst>
              </a:tr>
            </a:tbl>
          </a:graphicData>
        </a:graphic>
      </p:graphicFrame>
      <p:pic>
        <p:nvPicPr>
          <p:cNvPr id="4" name="図 3" descr="モニター画面に映る文字&#10;&#10;AI 生成コンテンツは誤りを含む可能性があります。">
            <a:extLst>
              <a:ext uri="{FF2B5EF4-FFF2-40B4-BE49-F238E27FC236}">
                <a16:creationId xmlns:a16="http://schemas.microsoft.com/office/drawing/2014/main" id="{EAF03D06-E1DB-86A9-F9E8-940C80BDBC85}"/>
              </a:ext>
            </a:extLst>
          </p:cNvPr>
          <p:cNvPicPr>
            <a:picLocks noChangeAspect="1"/>
          </p:cNvPicPr>
          <p:nvPr/>
        </p:nvPicPr>
        <p:blipFill>
          <a:blip r:embed="rId6"/>
          <a:stretch>
            <a:fillRect/>
          </a:stretch>
        </p:blipFill>
        <p:spPr>
          <a:xfrm>
            <a:off x="6913005" y="2011816"/>
            <a:ext cx="1758975" cy="421162"/>
          </a:xfrm>
          <a:prstGeom prst="rect">
            <a:avLst/>
          </a:prstGeom>
        </p:spPr>
      </p:pic>
      <p:sp>
        <p:nvSpPr>
          <p:cNvPr id="3" name="正方形/長方形 2">
            <a:extLst>
              <a:ext uri="{FF2B5EF4-FFF2-40B4-BE49-F238E27FC236}">
                <a16:creationId xmlns:a16="http://schemas.microsoft.com/office/drawing/2014/main" id="{C7E35057-F24A-813E-F527-16447D790B0E}"/>
              </a:ext>
            </a:extLst>
          </p:cNvPr>
          <p:cNvSpPr/>
          <p:nvPr/>
        </p:nvSpPr>
        <p:spPr>
          <a:xfrm>
            <a:off x="10885010" y="1441536"/>
            <a:ext cx="1437977" cy="603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修正済み</a:t>
            </a:r>
          </a:p>
        </p:txBody>
      </p:sp>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3CDA2-6848-D4D3-01B5-CE5693DF3C3B}"/>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797933D2-2D66-52C9-87C4-402EF245D681}"/>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分割前のアドレイ社は「Data &amp; Digital Growth事業」「広告制作事業」「不動産賃貸事業」の3事業を展開。2026年10月1日付の新設分割により、譲渡対象の2事業（Salesforce等を活用したデジタルマーケティング支援／朝日新聞社を主顧客とする広告制作）を対象会社が承継済み。不動産賃貸事業は分割会社に残置。</a:t>
            </a:r>
            <a:endParaRPr lang="en-US" altLang="ja-JP" dirty="0">
              <a:latin typeface="+mj-ea"/>
            </a:endParaRPr>
          </a:p>
        </p:txBody>
      </p:sp>
      <p:sp>
        <p:nvSpPr>
          <p:cNvPr id="13" name="タイトル 12">
            <a:extLst>
              <a:ext uri="{FF2B5EF4-FFF2-40B4-BE49-F238E27FC236}">
                <a16:creationId xmlns:a16="http://schemas.microsoft.com/office/drawing/2014/main" id="{0173A88A-220F-D280-3900-AEDF076B733B}"/>
              </a:ext>
            </a:extLst>
          </p:cNvPr>
          <p:cNvSpPr>
            <a:spLocks noGrp="1"/>
          </p:cNvSpPr>
          <p:nvPr>
            <p:ph type="ctrTitle"/>
          </p:nvPr>
        </p:nvSpPr>
        <p:spPr>
          <a:xfrm>
            <a:off x="311150" y="180296"/>
            <a:ext cx="7799917" cy="339267"/>
          </a:xfrm>
        </p:spPr>
        <p:txBody>
          <a:bodyPr>
            <a:normAutofit/>
          </a:bodyPr>
          <a:lstStyle/>
          <a:p>
            <a:r>
              <a:rPr lang="ja-JP" altLang="en-US" dirty="0"/>
              <a:t>事業全体像</a:t>
            </a:r>
          </a:p>
        </p:txBody>
      </p:sp>
      <p:sp>
        <p:nvSpPr>
          <p:cNvPr id="5" name="タイトル 1">
            <a:extLst>
              <a:ext uri="{FF2B5EF4-FFF2-40B4-BE49-F238E27FC236}">
                <a16:creationId xmlns:a16="http://schemas.microsoft.com/office/drawing/2014/main" id="{3DC24DC8-5CBE-DCC7-C6A8-0CB6F8009D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3" name="四角形: 角を丸くする 2">
            <a:extLst>
              <a:ext uri="{FF2B5EF4-FFF2-40B4-BE49-F238E27FC236}">
                <a16:creationId xmlns:a16="http://schemas.microsoft.com/office/drawing/2014/main" id="{5AF3F54B-494A-05EC-B85D-95D63D675B1B}"/>
              </a:ext>
            </a:extLst>
          </p:cNvPr>
          <p:cNvSpPr/>
          <p:nvPr/>
        </p:nvSpPr>
        <p:spPr>
          <a:xfrm>
            <a:off x="3256110" y="2123962"/>
            <a:ext cx="3865684" cy="547143"/>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latin typeface="游ゴシック" panose="020B0400000000000000" pitchFamily="50" charset="-128"/>
                <a:ea typeface="游ゴシック" panose="020B0400000000000000" pitchFamily="50" charset="-128"/>
              </a:rPr>
              <a:t>Data</a:t>
            </a:r>
            <a:r>
              <a:rPr kumimoji="1" lang="ja-JP" altLang="en-US" sz="1600" dirty="0">
                <a:latin typeface="游ゴシック" panose="020B0400000000000000" pitchFamily="50" charset="-128"/>
                <a:ea typeface="游ゴシック" panose="020B0400000000000000" pitchFamily="50" charset="-128"/>
              </a:rPr>
              <a:t>＆</a:t>
            </a:r>
            <a:r>
              <a:rPr kumimoji="1" lang="en-US" altLang="ja-JP" sz="1600" dirty="0">
                <a:latin typeface="游ゴシック" panose="020B0400000000000000" pitchFamily="50" charset="-128"/>
                <a:ea typeface="游ゴシック" panose="020B0400000000000000" pitchFamily="50" charset="-128"/>
              </a:rPr>
              <a:t>Digital Growth </a:t>
            </a:r>
            <a:r>
              <a:rPr kumimoji="1" lang="ja-JP" altLang="en-US" sz="1600" dirty="0">
                <a:latin typeface="游ゴシック" panose="020B0400000000000000" pitchFamily="50" charset="-128"/>
                <a:ea typeface="游ゴシック" panose="020B0400000000000000" pitchFamily="50" charset="-128"/>
              </a:rPr>
              <a:t>事業</a:t>
            </a:r>
          </a:p>
        </p:txBody>
      </p:sp>
      <p:sp>
        <p:nvSpPr>
          <p:cNvPr id="4" name="四角形: 角を丸くする 3">
            <a:extLst>
              <a:ext uri="{FF2B5EF4-FFF2-40B4-BE49-F238E27FC236}">
                <a16:creationId xmlns:a16="http://schemas.microsoft.com/office/drawing/2014/main" id="{9CEE834D-2AE6-611B-197C-4B80C5FBEC4E}"/>
              </a:ext>
            </a:extLst>
          </p:cNvPr>
          <p:cNvSpPr/>
          <p:nvPr/>
        </p:nvSpPr>
        <p:spPr>
          <a:xfrm>
            <a:off x="951060" y="4693388"/>
            <a:ext cx="3865684" cy="547143"/>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latin typeface="游ゴシック" panose="020B0400000000000000" pitchFamily="50" charset="-128"/>
                <a:ea typeface="游ゴシック" panose="020B0400000000000000" pitchFamily="50" charset="-128"/>
              </a:rPr>
              <a:t>広告制作事業</a:t>
            </a:r>
          </a:p>
        </p:txBody>
      </p:sp>
      <p:sp>
        <p:nvSpPr>
          <p:cNvPr id="6" name="四角形: 角を丸くする 5">
            <a:extLst>
              <a:ext uri="{FF2B5EF4-FFF2-40B4-BE49-F238E27FC236}">
                <a16:creationId xmlns:a16="http://schemas.microsoft.com/office/drawing/2014/main" id="{491186ED-2E93-DEC4-420B-6CC35D104D19}"/>
              </a:ext>
            </a:extLst>
          </p:cNvPr>
          <p:cNvSpPr/>
          <p:nvPr/>
        </p:nvSpPr>
        <p:spPr>
          <a:xfrm>
            <a:off x="5540081" y="4695465"/>
            <a:ext cx="3865684" cy="547143"/>
          </a:xfrm>
          <a:prstGeom prst="round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latin typeface="游ゴシック" panose="020B0400000000000000" pitchFamily="50" charset="-128"/>
                <a:ea typeface="游ゴシック" panose="020B0400000000000000" pitchFamily="50" charset="-128"/>
              </a:rPr>
              <a:t>不動産賃貸事業</a:t>
            </a:r>
          </a:p>
        </p:txBody>
      </p:sp>
      <p:pic>
        <p:nvPicPr>
          <p:cNvPr id="7" name="図 6">
            <a:extLst>
              <a:ext uri="{FF2B5EF4-FFF2-40B4-BE49-F238E27FC236}">
                <a16:creationId xmlns:a16="http://schemas.microsoft.com/office/drawing/2014/main" id="{63D54520-4F17-8E4E-24A3-6CB157BED74C}"/>
              </a:ext>
            </a:extLst>
          </p:cNvPr>
          <p:cNvPicPr>
            <a:picLocks noChangeAspect="1"/>
          </p:cNvPicPr>
          <p:nvPr/>
        </p:nvPicPr>
        <p:blipFill>
          <a:blip r:embed="rId3"/>
          <a:stretch>
            <a:fillRect/>
          </a:stretch>
        </p:blipFill>
        <p:spPr>
          <a:xfrm>
            <a:off x="2886896" y="1876669"/>
            <a:ext cx="922118" cy="645483"/>
          </a:xfrm>
          <a:prstGeom prst="rect">
            <a:avLst/>
          </a:prstGeom>
        </p:spPr>
      </p:pic>
      <p:sp>
        <p:nvSpPr>
          <p:cNvPr id="8" name="正方形/長方形 7">
            <a:extLst>
              <a:ext uri="{FF2B5EF4-FFF2-40B4-BE49-F238E27FC236}">
                <a16:creationId xmlns:a16="http://schemas.microsoft.com/office/drawing/2014/main" id="{7B0FAE21-D758-2D70-10E1-E4B0947A5F5A}"/>
              </a:ext>
            </a:extLst>
          </p:cNvPr>
          <p:cNvSpPr/>
          <p:nvPr/>
        </p:nvSpPr>
        <p:spPr>
          <a:xfrm>
            <a:off x="3256110" y="2660023"/>
            <a:ext cx="3865684" cy="1221802"/>
          </a:xfrm>
          <a:prstGeom prst="rect">
            <a:avLst/>
          </a:prstGeom>
          <a:no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1" u="sng" kern="0" dirty="0">
                <a:latin typeface="游ゴシック" panose="020B0400000000000000" pitchFamily="50" charset="-128"/>
                <a:ea typeface="游ゴシック" panose="020B0400000000000000" pitchFamily="50" charset="-128"/>
              </a:rPr>
              <a:t>2025</a:t>
            </a:r>
            <a:r>
              <a:rPr kumimoji="1" lang="ja-JP" altLang="en-US" sz="1400" b="1" u="sng" kern="0" dirty="0">
                <a:latin typeface="游ゴシック" panose="020B0400000000000000" pitchFamily="50" charset="-128"/>
                <a:ea typeface="游ゴシック" panose="020B0400000000000000" pitchFamily="50" charset="-128"/>
              </a:rPr>
              <a:t>年</a:t>
            </a:r>
            <a:r>
              <a:rPr kumimoji="1" lang="en-US" altLang="ja-JP" sz="1400" b="1" u="sng" kern="0" dirty="0">
                <a:latin typeface="游ゴシック" panose="020B0400000000000000" pitchFamily="50" charset="-128"/>
                <a:ea typeface="游ゴシック" panose="020B0400000000000000" pitchFamily="50" charset="-128"/>
              </a:rPr>
              <a:t>7</a:t>
            </a:r>
            <a:r>
              <a:rPr kumimoji="1" lang="ja-JP" altLang="en-US" sz="1400" b="1" u="sng" kern="0" dirty="0">
                <a:latin typeface="游ゴシック" panose="020B0400000000000000" pitchFamily="50" charset="-128"/>
                <a:ea typeface="游ゴシック" panose="020B0400000000000000" pitchFamily="50" charset="-128"/>
              </a:rPr>
              <a:t>月期部門別売上：</a:t>
            </a:r>
            <a:r>
              <a:rPr kumimoji="1" lang="en-US" altLang="ja-JP" sz="1400" b="1" u="sng" kern="0" dirty="0">
                <a:latin typeface="游ゴシック" panose="020B0400000000000000" pitchFamily="50" charset="-128"/>
                <a:ea typeface="游ゴシック" panose="020B0400000000000000" pitchFamily="50" charset="-128"/>
              </a:rPr>
              <a:t>166,613</a:t>
            </a:r>
            <a:r>
              <a:rPr kumimoji="1" lang="ja-JP" altLang="en-US" sz="1400" b="1" u="sng" kern="0" dirty="0">
                <a:latin typeface="游ゴシック" panose="020B0400000000000000" pitchFamily="50" charset="-128"/>
                <a:ea typeface="游ゴシック" panose="020B0400000000000000" pitchFamily="50" charset="-128"/>
              </a:rPr>
              <a:t>千円</a:t>
            </a:r>
            <a:endParaRPr kumimoji="1" lang="en-US" altLang="ja-JP" sz="1400" b="1" u="sng" kern="0" dirty="0">
              <a:latin typeface="游ゴシック" panose="020B0400000000000000" pitchFamily="50" charset="-128"/>
              <a:ea typeface="游ゴシック" panose="020B0400000000000000"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kern="0" dirty="0">
                <a:latin typeface="游ゴシック" panose="020B0400000000000000" pitchFamily="50" charset="-128"/>
                <a:ea typeface="游ゴシック" panose="020B0400000000000000" pitchFamily="50" charset="-128"/>
              </a:rPr>
              <a:t>Marketing Cloud </a:t>
            </a:r>
            <a:r>
              <a:rPr kumimoji="1" lang="ja-JP" altLang="en-US" sz="1100" kern="0" dirty="0">
                <a:latin typeface="游ゴシック" panose="020B0400000000000000" pitchFamily="50" charset="-128"/>
                <a:ea typeface="游ゴシック" panose="020B0400000000000000" pitchFamily="50" charset="-128"/>
              </a:rPr>
              <a:t>と</a:t>
            </a:r>
            <a:r>
              <a:rPr kumimoji="1" lang="en-US" altLang="ja-JP" sz="1100" kern="0" dirty="0">
                <a:latin typeface="游ゴシック" panose="020B0400000000000000" pitchFamily="50" charset="-128"/>
                <a:ea typeface="游ゴシック" panose="020B0400000000000000" pitchFamily="50" charset="-128"/>
              </a:rPr>
              <a:t>Data Cloud</a:t>
            </a:r>
            <a:r>
              <a:rPr kumimoji="1" lang="ja-JP" altLang="en-US" sz="1100" kern="0" dirty="0">
                <a:latin typeface="游ゴシック" panose="020B0400000000000000" pitchFamily="50" charset="-128"/>
                <a:ea typeface="游ゴシック" panose="020B0400000000000000" pitchFamily="50" charset="-128"/>
              </a:rPr>
              <a:t>の導入～運用支援を行う事業部。導入と運用支援の受注割合は</a:t>
            </a:r>
            <a:r>
              <a:rPr kumimoji="1" lang="en-US" altLang="ja-JP" sz="1100" kern="0" dirty="0">
                <a:latin typeface="游ゴシック" panose="020B0400000000000000" pitchFamily="50" charset="-128"/>
                <a:ea typeface="游ゴシック" panose="020B0400000000000000" pitchFamily="50" charset="-128"/>
              </a:rPr>
              <a:t>50%</a:t>
            </a:r>
            <a:r>
              <a:rPr kumimoji="1" lang="ja-JP" altLang="en-US" sz="1100" kern="0" dirty="0">
                <a:latin typeface="游ゴシック" panose="020B0400000000000000" pitchFamily="50" charset="-128"/>
                <a:ea typeface="游ゴシック" panose="020B0400000000000000" pitchFamily="50" charset="-128"/>
              </a:rPr>
              <a:t>ずつと聴取。</a:t>
            </a:r>
            <a:endParaRPr kumimoji="1" lang="en-US" altLang="ja-JP" sz="1100" kern="0" dirty="0">
              <a:latin typeface="游ゴシック" panose="020B0400000000000000" pitchFamily="50" charset="-128"/>
              <a:ea typeface="游ゴシック" panose="020B0400000000000000"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kern="0" dirty="0">
                <a:latin typeface="游ゴシック" panose="020B0400000000000000" pitchFamily="50" charset="-128"/>
                <a:ea typeface="游ゴシック" panose="020B0400000000000000" pitchFamily="50" charset="-128"/>
              </a:rPr>
              <a:t>直近では、</a:t>
            </a:r>
            <a:r>
              <a:rPr kumimoji="1" lang="en-US" altLang="ja-JP" sz="1100" kern="0" dirty="0">
                <a:latin typeface="游ゴシック" panose="020B0400000000000000" pitchFamily="50" charset="-128"/>
                <a:ea typeface="游ゴシック" panose="020B0400000000000000" pitchFamily="50" charset="-128"/>
              </a:rPr>
              <a:t>Data Cloud</a:t>
            </a:r>
            <a:r>
              <a:rPr kumimoji="1" lang="ja-JP" altLang="en-US" sz="1100" kern="0" dirty="0">
                <a:latin typeface="游ゴシック" panose="020B0400000000000000" pitchFamily="50" charset="-128"/>
                <a:ea typeface="游ゴシック" panose="020B0400000000000000" pitchFamily="50" charset="-128"/>
              </a:rPr>
              <a:t>のインプリ案件が増加しており、好調で推移。</a:t>
            </a:r>
            <a:endParaRPr kumimoji="1" lang="en-US" altLang="ja-JP" sz="1100" kern="0" dirty="0">
              <a:latin typeface="游ゴシック" panose="020B0400000000000000" pitchFamily="50" charset="-128"/>
              <a:ea typeface="游ゴシック" panose="020B0400000000000000"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endParaRPr kumimoji="1" lang="ja-JP" altLang="en-US" sz="1100" kern="0" dirty="0">
              <a:latin typeface="游ゴシック" panose="020B0400000000000000" pitchFamily="50" charset="-128"/>
              <a:ea typeface="游ゴシック" panose="020B0400000000000000" pitchFamily="50" charset="-128"/>
            </a:endParaRPr>
          </a:p>
        </p:txBody>
      </p:sp>
      <p:sp>
        <p:nvSpPr>
          <p:cNvPr id="15" name="正方形/長方形 14">
            <a:extLst>
              <a:ext uri="{FF2B5EF4-FFF2-40B4-BE49-F238E27FC236}">
                <a16:creationId xmlns:a16="http://schemas.microsoft.com/office/drawing/2014/main" id="{D41A9A47-878D-5C9C-C86B-F060CE518E35}"/>
              </a:ext>
            </a:extLst>
          </p:cNvPr>
          <p:cNvSpPr/>
          <p:nvPr/>
        </p:nvSpPr>
        <p:spPr>
          <a:xfrm>
            <a:off x="951061" y="5265413"/>
            <a:ext cx="3865684" cy="1221802"/>
          </a:xfrm>
          <a:prstGeom prst="rect">
            <a:avLst/>
          </a:prstGeom>
          <a:noFill/>
          <a:ln w="12700" cap="flat" cmpd="sng" algn="ctr">
            <a:noFill/>
            <a:prstDash val="solid"/>
            <a:miter lim="800000"/>
          </a:ln>
          <a:effectLst/>
        </p:spPr>
        <p:txBody>
          <a:bodyPr rtlCol="0" anchor="t"/>
          <a:lstStyle/>
          <a:p>
            <a:pPr defTabSz="914400">
              <a:defRPr/>
            </a:pPr>
            <a:r>
              <a:rPr kumimoji="1" lang="en-US" altLang="ja-JP" sz="1400" b="1" u="sng" kern="0" dirty="0">
                <a:latin typeface="游ゴシック" panose="020B0400000000000000" pitchFamily="50" charset="-128"/>
                <a:ea typeface="游ゴシック" panose="020B0400000000000000" pitchFamily="50" charset="-128"/>
              </a:rPr>
              <a:t>2025</a:t>
            </a:r>
            <a:r>
              <a:rPr kumimoji="1" lang="ja-JP" altLang="en-US" sz="1400" b="1" u="sng" kern="0" dirty="0">
                <a:latin typeface="游ゴシック" panose="020B0400000000000000" pitchFamily="50" charset="-128"/>
                <a:ea typeface="游ゴシック" panose="020B0400000000000000" pitchFamily="50" charset="-128"/>
              </a:rPr>
              <a:t>年</a:t>
            </a:r>
            <a:r>
              <a:rPr kumimoji="1" lang="en-US" altLang="ja-JP" sz="1400" b="1" u="sng" kern="0" dirty="0">
                <a:latin typeface="游ゴシック" panose="020B0400000000000000" pitchFamily="50" charset="-128"/>
                <a:ea typeface="游ゴシック" panose="020B0400000000000000" pitchFamily="50" charset="-128"/>
              </a:rPr>
              <a:t>7</a:t>
            </a:r>
            <a:r>
              <a:rPr kumimoji="1" lang="ja-JP" altLang="en-US" sz="1400" b="1" u="sng" kern="0" dirty="0">
                <a:latin typeface="游ゴシック" panose="020B0400000000000000" pitchFamily="50" charset="-128"/>
                <a:ea typeface="游ゴシック" panose="020B0400000000000000" pitchFamily="50" charset="-128"/>
              </a:rPr>
              <a:t>月期部門別売上：</a:t>
            </a:r>
            <a:r>
              <a:rPr kumimoji="1" lang="en-US" altLang="ja-JP" sz="1400" b="1" u="sng" kern="0" dirty="0">
                <a:latin typeface="游ゴシック" panose="020B0400000000000000" pitchFamily="50" charset="-128"/>
                <a:ea typeface="游ゴシック" panose="020B0400000000000000" pitchFamily="50" charset="-128"/>
              </a:rPr>
              <a:t>122,946</a:t>
            </a:r>
            <a:r>
              <a:rPr kumimoji="1" lang="ja-JP" altLang="en-US" sz="1400" b="1" u="sng" kern="0" dirty="0">
                <a:latin typeface="游ゴシック" panose="020B0400000000000000" pitchFamily="50" charset="-128"/>
                <a:ea typeface="游ゴシック" panose="020B0400000000000000" pitchFamily="50" charset="-128"/>
              </a:rPr>
              <a:t>千円</a:t>
            </a:r>
            <a:endParaRPr kumimoji="1" lang="en-US" altLang="ja-JP" sz="1400" b="1" u="sng" kern="0" dirty="0">
              <a:latin typeface="游ゴシック" panose="020B0400000000000000" pitchFamily="50" charset="-128"/>
              <a:ea typeface="游ゴシック" panose="020B0400000000000000"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kern="0" dirty="0">
                <a:latin typeface="游ゴシック" panose="020B0400000000000000" pitchFamily="50" charset="-128"/>
                <a:ea typeface="游ゴシック" panose="020B0400000000000000" pitchFamily="50" charset="-128"/>
              </a:rPr>
              <a:t>朝日新聞社と</a:t>
            </a:r>
            <a:r>
              <a:rPr kumimoji="1" lang="en-US" altLang="ja-JP" sz="1100" kern="0" dirty="0">
                <a:latin typeface="游ゴシック" panose="020B0400000000000000" pitchFamily="50" charset="-128"/>
                <a:ea typeface="游ゴシック" panose="020B0400000000000000" pitchFamily="50" charset="-128"/>
              </a:rPr>
              <a:t>50</a:t>
            </a:r>
            <a:r>
              <a:rPr kumimoji="1" lang="ja-JP" altLang="en-US" sz="1100" kern="0" dirty="0">
                <a:latin typeface="游ゴシック" panose="020B0400000000000000" pitchFamily="50" charset="-128"/>
                <a:ea typeface="游ゴシック" panose="020B0400000000000000" pitchFamily="50" charset="-128"/>
              </a:rPr>
              <a:t>年以上の取引実績があり、主に新聞広告の制作を行う事業部。</a:t>
            </a:r>
            <a:endParaRPr kumimoji="1" lang="en-US" altLang="ja-JP" sz="1100" kern="0" dirty="0">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6536C7F7-0DA8-F13F-B691-EDA25449FEB1}"/>
              </a:ext>
            </a:extLst>
          </p:cNvPr>
          <p:cNvSpPr/>
          <p:nvPr/>
        </p:nvSpPr>
        <p:spPr>
          <a:xfrm>
            <a:off x="5540081" y="5343690"/>
            <a:ext cx="3865684" cy="1221802"/>
          </a:xfrm>
          <a:prstGeom prst="rect">
            <a:avLst/>
          </a:prstGeom>
          <a:no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1" u="sng" kern="0" dirty="0">
                <a:latin typeface="游ゴシック" panose="020B0400000000000000" pitchFamily="50" charset="-128"/>
                <a:ea typeface="游ゴシック" panose="020B0400000000000000" pitchFamily="50" charset="-128"/>
              </a:rPr>
              <a:t>2025</a:t>
            </a:r>
            <a:r>
              <a:rPr kumimoji="1" lang="ja-JP" altLang="en-US" sz="1400" b="1" u="sng" kern="0" dirty="0">
                <a:latin typeface="游ゴシック" panose="020B0400000000000000" pitchFamily="50" charset="-128"/>
                <a:ea typeface="游ゴシック" panose="020B0400000000000000" pitchFamily="50" charset="-128"/>
              </a:rPr>
              <a:t>年</a:t>
            </a:r>
            <a:r>
              <a:rPr kumimoji="1" lang="en-US" altLang="ja-JP" sz="1400" b="1" u="sng" kern="0" dirty="0">
                <a:latin typeface="游ゴシック" panose="020B0400000000000000" pitchFamily="50" charset="-128"/>
                <a:ea typeface="游ゴシック" panose="020B0400000000000000" pitchFamily="50" charset="-128"/>
              </a:rPr>
              <a:t>7</a:t>
            </a:r>
            <a:r>
              <a:rPr kumimoji="1" lang="ja-JP" altLang="en-US" sz="1400" b="1" u="sng" kern="0" dirty="0">
                <a:latin typeface="游ゴシック" panose="020B0400000000000000" pitchFamily="50" charset="-128"/>
                <a:ea typeface="游ゴシック" panose="020B0400000000000000" pitchFamily="50" charset="-128"/>
              </a:rPr>
              <a:t>月期家賃収入：</a:t>
            </a:r>
            <a:r>
              <a:rPr kumimoji="1" lang="en-US" altLang="ja-JP" sz="1400" b="1" u="sng" kern="0" dirty="0">
                <a:latin typeface="游ゴシック" panose="020B0400000000000000" pitchFamily="50" charset="-128"/>
                <a:ea typeface="游ゴシック" panose="020B0400000000000000" pitchFamily="50" charset="-128"/>
              </a:rPr>
              <a:t>13,200</a:t>
            </a:r>
            <a:r>
              <a:rPr kumimoji="1" lang="ja-JP" altLang="en-US" sz="1400" b="1" u="sng" kern="0" dirty="0">
                <a:latin typeface="游ゴシック" panose="020B0400000000000000" pitchFamily="50" charset="-128"/>
                <a:ea typeface="游ゴシック" panose="020B0400000000000000" pitchFamily="50" charset="-128"/>
              </a:rPr>
              <a:t>千円</a:t>
            </a:r>
            <a:endParaRPr kumimoji="1" lang="en-US" altLang="ja-JP" sz="1400" b="1" u="sng" kern="0" dirty="0">
              <a:latin typeface="游ゴシック" panose="020B0400000000000000" pitchFamily="50" charset="-128"/>
              <a:ea typeface="游ゴシック" panose="020B0400000000000000"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kern="0" dirty="0">
                <a:latin typeface="游ゴシック" panose="020B0400000000000000" pitchFamily="50" charset="-128"/>
                <a:ea typeface="游ゴシック" panose="020B0400000000000000" pitchFamily="50" charset="-128"/>
              </a:rPr>
              <a:t>築地一等地のオフィスビル（築地スクエアビル）最上階のフロアを保有。新設分割により分割会社（株式会社StorehouseField）に残置済み（譲渡対象外）。</a:t>
            </a:r>
            <a:endParaRPr kumimoji="1" lang="en-US" altLang="ja-JP" sz="1100" kern="0" dirty="0">
              <a:latin typeface="游ゴシック" panose="020B0400000000000000" pitchFamily="50" charset="-128"/>
              <a:ea typeface="游ゴシック" panose="020B0400000000000000" pitchFamily="50" charset="-128"/>
            </a:endParaRPr>
          </a:p>
        </p:txBody>
      </p:sp>
      <p:pic>
        <p:nvPicPr>
          <p:cNvPr id="21" name="Picture 2">
            <a:extLst>
              <a:ext uri="{FF2B5EF4-FFF2-40B4-BE49-F238E27FC236}">
                <a16:creationId xmlns:a16="http://schemas.microsoft.com/office/drawing/2014/main" id="{6A48F8AB-4789-7B85-9630-2C66BF6C45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355" y="4145163"/>
            <a:ext cx="1693166" cy="273092"/>
          </a:xfrm>
          <a:prstGeom prst="rect">
            <a:avLst/>
          </a:prstGeom>
          <a:noFill/>
          <a:extLst>
            <a:ext uri="{909E8E84-426E-40DD-AFC4-6F175D3DCCD1}">
              <a14:hiddenFill xmlns:a14="http://schemas.microsoft.com/office/drawing/2010/main">
                <a:solidFill>
                  <a:srgbClr val="FFFFFF"/>
                </a:solidFill>
              </a14:hiddenFill>
            </a:ext>
          </a:extLst>
        </p:spPr>
      </p:pic>
      <p:pic>
        <p:nvPicPr>
          <p:cNvPr id="22" name="図 21">
            <a:extLst>
              <a:ext uri="{FF2B5EF4-FFF2-40B4-BE49-F238E27FC236}">
                <a16:creationId xmlns:a16="http://schemas.microsoft.com/office/drawing/2014/main" id="{5DFA4FEF-4A74-B3A3-BC1A-784BD52941C7}"/>
              </a:ext>
            </a:extLst>
          </p:cNvPr>
          <p:cNvPicPr>
            <a:picLocks noChangeAspect="1"/>
          </p:cNvPicPr>
          <p:nvPr/>
        </p:nvPicPr>
        <p:blipFill>
          <a:blip r:embed="rId5"/>
          <a:stretch>
            <a:fillRect/>
          </a:stretch>
        </p:blipFill>
        <p:spPr>
          <a:xfrm>
            <a:off x="8657923" y="3792467"/>
            <a:ext cx="978485" cy="978485"/>
          </a:xfrm>
          <a:prstGeom prst="rect">
            <a:avLst/>
          </a:prstGeom>
        </p:spPr>
      </p:pic>
      <p:sp>
        <p:nvSpPr>
          <p:cNvPr id="23" name="四角形: 角を丸くする 22">
            <a:extLst>
              <a:ext uri="{FF2B5EF4-FFF2-40B4-BE49-F238E27FC236}">
                <a16:creationId xmlns:a16="http://schemas.microsoft.com/office/drawing/2014/main" id="{961C0F4C-9923-B755-2519-4736F7D53A63}"/>
              </a:ext>
            </a:extLst>
          </p:cNvPr>
          <p:cNvSpPr/>
          <p:nvPr/>
        </p:nvSpPr>
        <p:spPr>
          <a:xfrm>
            <a:off x="2724679" y="1778681"/>
            <a:ext cx="4629021" cy="2013786"/>
          </a:xfrm>
          <a:prstGeom prst="roundRect">
            <a:avLst/>
          </a:prstGeom>
          <a:noFill/>
          <a:ln>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游ゴシック" panose="020B0400000000000000" pitchFamily="50" charset="-128"/>
              <a:ea typeface="游ゴシック" panose="020B0400000000000000" pitchFamily="50" charset="-128"/>
            </a:endParaRPr>
          </a:p>
        </p:txBody>
      </p:sp>
      <p:sp>
        <p:nvSpPr>
          <p:cNvPr id="24" name="正方形/長方形 23">
            <a:extLst>
              <a:ext uri="{FF2B5EF4-FFF2-40B4-BE49-F238E27FC236}">
                <a16:creationId xmlns:a16="http://schemas.microsoft.com/office/drawing/2014/main" id="{16BA00F7-8837-B49A-A31A-E782FFC1058B}"/>
              </a:ext>
            </a:extLst>
          </p:cNvPr>
          <p:cNvSpPr/>
          <p:nvPr/>
        </p:nvSpPr>
        <p:spPr>
          <a:xfrm>
            <a:off x="449263" y="2785574"/>
            <a:ext cx="1850521" cy="655281"/>
          </a:xfrm>
          <a:prstGeom prst="rect">
            <a:avLst/>
          </a:prstGeom>
          <a:noFill/>
          <a:ln w="12700" cap="flat" cmpd="sng" algn="ctr">
            <a:noFill/>
            <a:prstDash val="solid"/>
            <a:miter lim="800000"/>
          </a:ln>
          <a:effectLst/>
        </p:spPr>
        <p:txBody>
          <a:bodyPr rtlCol="0" anchor="ctr"/>
          <a:lstStyle/>
          <a:p>
            <a:pPr algn="ctr" defTabSz="914400">
              <a:defRPr/>
            </a:pPr>
            <a:r>
              <a:rPr kumimoji="1" lang="ja-JP" altLang="en-US" b="1" u="sng" kern="0" dirty="0">
                <a:solidFill>
                  <a:srgbClr val="C00000"/>
                </a:solidFill>
                <a:latin typeface="游ゴシック" panose="020B0400000000000000" pitchFamily="50" charset="-128"/>
                <a:ea typeface="游ゴシック" panose="020B0400000000000000" pitchFamily="50" charset="-128"/>
              </a:rPr>
              <a:t>譲渡対象事業</a:t>
            </a:r>
            <a:endParaRPr kumimoji="1" lang="en-US" altLang="ja-JP" b="1" u="sng" kern="0" dirty="0">
              <a:solidFill>
                <a:srgbClr val="C00000"/>
              </a:solidFill>
              <a:latin typeface="游ゴシック" panose="020B0400000000000000" pitchFamily="50" charset="-128"/>
              <a:ea typeface="游ゴシック" panose="020B0400000000000000" pitchFamily="50" charset="-128"/>
            </a:endParaRPr>
          </a:p>
        </p:txBody>
      </p:sp>
      <p:sp>
        <p:nvSpPr>
          <p:cNvPr id="25" name="四角形: 角を丸くする 24">
            <a:extLst>
              <a:ext uri="{FF2B5EF4-FFF2-40B4-BE49-F238E27FC236}">
                <a16:creationId xmlns:a16="http://schemas.microsoft.com/office/drawing/2014/main" id="{EA69D68F-59ED-05D5-6010-58C9AC1ED347}"/>
              </a:ext>
            </a:extLst>
          </p:cNvPr>
          <p:cNvSpPr/>
          <p:nvPr/>
        </p:nvSpPr>
        <p:spPr>
          <a:xfrm>
            <a:off x="491876" y="4019808"/>
            <a:ext cx="4629021" cy="2013786"/>
          </a:xfrm>
          <a:prstGeom prst="roundRect">
            <a:avLst/>
          </a:prstGeom>
          <a:noFill/>
          <a:ln>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86362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97D9F-FCEB-DC35-167B-C69DD3938971}"/>
            </a:ext>
          </a:extLst>
        </p:cNvPr>
        <p:cNvGrpSpPr/>
        <p:nvPr/>
      </p:nvGrpSpPr>
      <p:grpSpPr>
        <a:xfrm>
          <a:off x="0" y="0"/>
          <a:ext cx="0" cy="0"/>
          <a:chOff x="0" y="0"/>
          <a:chExt cx="0" cy="0"/>
        </a:xfrm>
      </p:grpSpPr>
      <p:sp>
        <p:nvSpPr>
          <p:cNvPr id="89" name="矢印: 右 88">
            <a:extLst>
              <a:ext uri="{FF2B5EF4-FFF2-40B4-BE49-F238E27FC236}">
                <a16:creationId xmlns:a16="http://schemas.microsoft.com/office/drawing/2014/main" id="{85876C85-2A1A-E5A4-3329-06BE2409B414}"/>
              </a:ext>
            </a:extLst>
          </p:cNvPr>
          <p:cNvSpPr/>
          <p:nvPr/>
        </p:nvSpPr>
        <p:spPr>
          <a:xfrm>
            <a:off x="4834320" y="2317985"/>
            <a:ext cx="1892384" cy="547468"/>
          </a:xfrm>
          <a:prstGeom prst="righ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游ゴシック" panose="020B0400000000000000" pitchFamily="50" charset="-128"/>
                <a:ea typeface="游ゴシック" panose="020B0400000000000000" pitchFamily="50" charset="-128"/>
              </a:rPr>
              <a:t>STEP1　会社分割済</a:t>
            </a:r>
          </a:p>
        </p:txBody>
      </p:sp>
      <p:sp>
        <p:nvSpPr>
          <p:cNvPr id="14" name="字幕 13">
            <a:extLst>
              <a:ext uri="{FF2B5EF4-FFF2-40B4-BE49-F238E27FC236}">
                <a16:creationId xmlns:a16="http://schemas.microsoft.com/office/drawing/2014/main" id="{BE626C86-57EF-DDF6-7DD9-372C3A62390A}"/>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2026年10月1日付の新設分割により、譲渡対象2事業を新設会社（株式会社アドレイ）へ承継済み。譲受企業様は同社の株式100%を取得。不動産賃貸事業は分割会社（株式会社StorehouseField）に残置。</a:t>
            </a:r>
          </a:p>
        </p:txBody>
      </p:sp>
      <p:sp>
        <p:nvSpPr>
          <p:cNvPr id="13" name="タイトル 12">
            <a:extLst>
              <a:ext uri="{FF2B5EF4-FFF2-40B4-BE49-F238E27FC236}">
                <a16:creationId xmlns:a16="http://schemas.microsoft.com/office/drawing/2014/main" id="{35395731-49D5-F71B-CD27-6AB6829ED02A}"/>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本件スキーム｜会社分割（実行済み）＋株式譲渡</a:t>
            </a:r>
          </a:p>
        </p:txBody>
      </p:sp>
      <p:sp>
        <p:nvSpPr>
          <p:cNvPr id="5" name="タイトル 1">
            <a:extLst>
              <a:ext uri="{FF2B5EF4-FFF2-40B4-BE49-F238E27FC236}">
                <a16:creationId xmlns:a16="http://schemas.microsoft.com/office/drawing/2014/main" id="{580921AF-FB1E-CCAE-7489-0A6E045C497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2" name="正方形/長方形 1">
            <a:extLst>
              <a:ext uri="{FF2B5EF4-FFF2-40B4-BE49-F238E27FC236}">
                <a16:creationId xmlns:a16="http://schemas.microsoft.com/office/drawing/2014/main" id="{472A0E35-D180-7797-8B4A-A5EE71304EFD}"/>
              </a:ext>
            </a:extLst>
          </p:cNvPr>
          <p:cNvSpPr/>
          <p:nvPr/>
        </p:nvSpPr>
        <p:spPr>
          <a:xfrm>
            <a:off x="341313" y="1626482"/>
            <a:ext cx="4002170" cy="4147748"/>
          </a:xfrm>
          <a:prstGeom prst="rect">
            <a:avLst/>
          </a:prstGeom>
          <a:solidFill>
            <a:schemeClr val="accent6">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42DCB275-BE22-AEA0-A314-B2653D058A9C}"/>
              </a:ext>
            </a:extLst>
          </p:cNvPr>
          <p:cNvSpPr/>
          <p:nvPr/>
        </p:nvSpPr>
        <p:spPr>
          <a:xfrm>
            <a:off x="7048499" y="1638301"/>
            <a:ext cx="3389789" cy="4147748"/>
          </a:xfrm>
          <a:prstGeom prst="rect">
            <a:avLst/>
          </a:prstGeom>
          <a:solidFill>
            <a:schemeClr val="accent6">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720FC39E-4282-F318-1DE7-FE3BE373EBC4}"/>
              </a:ext>
            </a:extLst>
          </p:cNvPr>
          <p:cNvSpPr/>
          <p:nvPr/>
        </p:nvSpPr>
        <p:spPr>
          <a:xfrm>
            <a:off x="520224" y="1773627"/>
            <a:ext cx="3275027" cy="252377"/>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游ゴシック" panose="020B0400000000000000" pitchFamily="50" charset="-128"/>
                <a:ea typeface="游ゴシック" panose="020B0400000000000000" pitchFamily="50" charset="-128"/>
              </a:rPr>
              <a:t>分割前（2026年9月まで）</a:t>
            </a:r>
          </a:p>
        </p:txBody>
      </p:sp>
      <p:sp>
        <p:nvSpPr>
          <p:cNvPr id="11" name="四角形: 角を丸くする 10">
            <a:extLst>
              <a:ext uri="{FF2B5EF4-FFF2-40B4-BE49-F238E27FC236}">
                <a16:creationId xmlns:a16="http://schemas.microsoft.com/office/drawing/2014/main" id="{E2B526A7-E14B-6379-F642-DAE2E8B3087B}"/>
              </a:ext>
            </a:extLst>
          </p:cNvPr>
          <p:cNvSpPr/>
          <p:nvPr/>
        </p:nvSpPr>
        <p:spPr>
          <a:xfrm>
            <a:off x="7377528" y="1773627"/>
            <a:ext cx="2586990" cy="252377"/>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游ゴシック" panose="020B0400000000000000" pitchFamily="50" charset="-128"/>
                <a:ea typeface="游ゴシック" panose="020B0400000000000000" pitchFamily="50" charset="-128"/>
              </a:rPr>
              <a:t>分割後（現状）・譲渡後</a:t>
            </a:r>
          </a:p>
        </p:txBody>
      </p:sp>
      <p:sp>
        <p:nvSpPr>
          <p:cNvPr id="12" name="楕円 11">
            <a:extLst>
              <a:ext uri="{FF2B5EF4-FFF2-40B4-BE49-F238E27FC236}">
                <a16:creationId xmlns:a16="http://schemas.microsoft.com/office/drawing/2014/main" id="{C584F2CC-D85B-4133-E554-9C651C3F44AE}"/>
              </a:ext>
            </a:extLst>
          </p:cNvPr>
          <p:cNvSpPr/>
          <p:nvPr/>
        </p:nvSpPr>
        <p:spPr>
          <a:xfrm>
            <a:off x="832150" y="2270146"/>
            <a:ext cx="1844040" cy="322252"/>
          </a:xfrm>
          <a:prstGeom prst="ellipse">
            <a:avLst/>
          </a:prstGeom>
          <a:solidFill>
            <a:schemeClr val="tx2">
              <a:lumMod val="10000"/>
              <a:lumOff val="90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0070C0"/>
                </a:solidFill>
                <a:latin typeface="游ゴシック" panose="020B0400000000000000" pitchFamily="50" charset="-128"/>
                <a:ea typeface="游ゴシック" panose="020B0400000000000000" pitchFamily="50" charset="-128"/>
              </a:rPr>
              <a:t>現株主</a:t>
            </a:r>
          </a:p>
        </p:txBody>
      </p:sp>
      <p:cxnSp>
        <p:nvCxnSpPr>
          <p:cNvPr id="16" name="直線コネクタ 15">
            <a:extLst>
              <a:ext uri="{FF2B5EF4-FFF2-40B4-BE49-F238E27FC236}">
                <a16:creationId xmlns:a16="http://schemas.microsoft.com/office/drawing/2014/main" id="{9E20AC7B-6B1B-57F5-064F-166A9C3CF34D}"/>
              </a:ext>
            </a:extLst>
          </p:cNvPr>
          <p:cNvCxnSpPr>
            <a:cxnSpLocks/>
            <a:stCxn id="12" idx="4"/>
          </p:cNvCxnSpPr>
          <p:nvPr/>
        </p:nvCxnSpPr>
        <p:spPr>
          <a:xfrm>
            <a:off x="1754170" y="2592398"/>
            <a:ext cx="0" cy="527029"/>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7" name="TextBox 15">
            <a:extLst>
              <a:ext uri="{FF2B5EF4-FFF2-40B4-BE49-F238E27FC236}">
                <a16:creationId xmlns:a16="http://schemas.microsoft.com/office/drawing/2014/main" id="{FDE22420-64E1-E355-DAC3-24572FFC0E6B}"/>
              </a:ext>
            </a:extLst>
          </p:cNvPr>
          <p:cNvSpPr txBox="1"/>
          <p:nvPr/>
        </p:nvSpPr>
        <p:spPr>
          <a:xfrm>
            <a:off x="1818093" y="2765929"/>
            <a:ext cx="590809" cy="206210"/>
          </a:xfrm>
          <a:prstGeom prst="rect">
            <a:avLst/>
          </a:prstGeom>
          <a:noFill/>
          <a:ln>
            <a:noFill/>
          </a:ln>
        </p:spPr>
        <p:txBody>
          <a:bodyPr wrap="square" lIns="36576" tIns="18288" rIns="36576" bIns="18288" anchor="ctr">
            <a:spAutoFit/>
          </a:bodyPr>
          <a:lstStyle/>
          <a:p>
            <a:r>
              <a:rPr lang="en-US" sz="1100" dirty="0">
                <a:solidFill>
                  <a:schemeClr val="tx1"/>
                </a:solidFill>
                <a:latin typeface="游ゴシック" panose="020B0400000000000000" pitchFamily="50" charset="-128"/>
                <a:ea typeface="游ゴシック" panose="020B0400000000000000" pitchFamily="50" charset="-128"/>
              </a:rPr>
              <a:t>100.0%</a:t>
            </a:r>
            <a:endParaRPr sz="1100" dirty="0">
              <a:solidFill>
                <a:schemeClr val="tx1"/>
              </a:solidFill>
              <a:latin typeface="游ゴシック" panose="020B0400000000000000" pitchFamily="50" charset="-128"/>
              <a:ea typeface="游ゴシック" panose="020B0400000000000000" pitchFamily="50" charset="-128"/>
            </a:endParaRPr>
          </a:p>
        </p:txBody>
      </p:sp>
      <p:sp>
        <p:nvSpPr>
          <p:cNvPr id="18" name="正方形/長方形 17">
            <a:extLst>
              <a:ext uri="{FF2B5EF4-FFF2-40B4-BE49-F238E27FC236}">
                <a16:creationId xmlns:a16="http://schemas.microsoft.com/office/drawing/2014/main" id="{FC436923-FF50-1C2C-1E06-FE46EAFD4F11}"/>
              </a:ext>
            </a:extLst>
          </p:cNvPr>
          <p:cNvSpPr/>
          <p:nvPr/>
        </p:nvSpPr>
        <p:spPr>
          <a:xfrm>
            <a:off x="520225" y="3119427"/>
            <a:ext cx="2467891" cy="1847850"/>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TextBox 15">
            <a:extLst>
              <a:ext uri="{FF2B5EF4-FFF2-40B4-BE49-F238E27FC236}">
                <a16:creationId xmlns:a16="http://schemas.microsoft.com/office/drawing/2014/main" id="{E64C2070-67FF-7C73-62A2-8DC93B990BDE}"/>
              </a:ext>
            </a:extLst>
          </p:cNvPr>
          <p:cNvSpPr txBox="1"/>
          <p:nvPr/>
        </p:nvSpPr>
        <p:spPr>
          <a:xfrm>
            <a:off x="832151" y="3202698"/>
            <a:ext cx="1844039" cy="252377"/>
          </a:xfrm>
          <a:prstGeom prst="rect">
            <a:avLst/>
          </a:prstGeom>
          <a:noFill/>
          <a:ln>
            <a:noFill/>
          </a:ln>
        </p:spPr>
        <p:txBody>
          <a:bodyPr wrap="square" lIns="36576" tIns="18288" rIns="36576" bIns="18288" anchor="ctr">
            <a:spAutoFit/>
          </a:bodyPr>
          <a:lstStyle/>
          <a:p>
            <a:pPr algn="ctr"/>
            <a:r>
              <a:rPr lang="ja-JP" altLang="en-US" sz="1400" b="1" dirty="0">
                <a:solidFill>
                  <a:srgbClr val="0070C0"/>
                </a:solidFill>
                <a:latin typeface="游ゴシック" panose="020B0400000000000000" pitchFamily="50" charset="-128"/>
                <a:ea typeface="游ゴシック" panose="020B0400000000000000" pitchFamily="50" charset="-128"/>
              </a:rPr>
              <a:t>株式会社アドレイ</a:t>
            </a:r>
            <a:endParaRPr sz="1400" b="1" dirty="0">
              <a:solidFill>
                <a:srgbClr val="0070C0"/>
              </a:solidFill>
              <a:latin typeface="游ゴシック" panose="020B0400000000000000" pitchFamily="50" charset="-128"/>
              <a:ea typeface="游ゴシック" panose="020B0400000000000000" pitchFamily="50" charset="-128"/>
            </a:endParaRPr>
          </a:p>
        </p:txBody>
      </p:sp>
      <p:sp>
        <p:nvSpPr>
          <p:cNvPr id="26" name="四角形: 角を丸くする 25">
            <a:extLst>
              <a:ext uri="{FF2B5EF4-FFF2-40B4-BE49-F238E27FC236}">
                <a16:creationId xmlns:a16="http://schemas.microsoft.com/office/drawing/2014/main" id="{93FDBA46-533D-951E-3CC1-F6DDE8D58EEB}"/>
              </a:ext>
            </a:extLst>
          </p:cNvPr>
          <p:cNvSpPr/>
          <p:nvPr/>
        </p:nvSpPr>
        <p:spPr>
          <a:xfrm>
            <a:off x="727295" y="3581880"/>
            <a:ext cx="2053751" cy="300783"/>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latin typeface="游ゴシック" panose="020B0400000000000000" pitchFamily="50" charset="-128"/>
                <a:ea typeface="游ゴシック" panose="020B0400000000000000" pitchFamily="50" charset="-128"/>
              </a:rPr>
              <a:t>企画制作部（広告制作）</a:t>
            </a:r>
          </a:p>
        </p:txBody>
      </p:sp>
      <p:sp>
        <p:nvSpPr>
          <p:cNvPr id="27" name="四角形: 角を丸くする 26">
            <a:extLst>
              <a:ext uri="{FF2B5EF4-FFF2-40B4-BE49-F238E27FC236}">
                <a16:creationId xmlns:a16="http://schemas.microsoft.com/office/drawing/2014/main" id="{3E00D6B8-7D22-B354-5F65-A1F01B9DDC0B}"/>
              </a:ext>
            </a:extLst>
          </p:cNvPr>
          <p:cNvSpPr/>
          <p:nvPr/>
        </p:nvSpPr>
        <p:spPr>
          <a:xfrm>
            <a:off x="727295" y="4015469"/>
            <a:ext cx="2053751" cy="300783"/>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latin typeface="游ゴシック" panose="020B0400000000000000" pitchFamily="50" charset="-128"/>
                <a:ea typeface="游ゴシック" panose="020B0400000000000000" pitchFamily="50" charset="-128"/>
              </a:rPr>
              <a:t>Data</a:t>
            </a:r>
            <a:r>
              <a:rPr kumimoji="1" lang="ja-JP" altLang="en-US" sz="1000" b="1" dirty="0">
                <a:latin typeface="游ゴシック" panose="020B0400000000000000" pitchFamily="50" charset="-128"/>
                <a:ea typeface="游ゴシック" panose="020B0400000000000000" pitchFamily="50" charset="-128"/>
              </a:rPr>
              <a:t>＆</a:t>
            </a:r>
            <a:r>
              <a:rPr kumimoji="1" lang="en-US" altLang="ja-JP" sz="1000" b="1" dirty="0">
                <a:latin typeface="游ゴシック" panose="020B0400000000000000" pitchFamily="50" charset="-128"/>
                <a:ea typeface="游ゴシック" panose="020B0400000000000000" pitchFamily="50" charset="-128"/>
              </a:rPr>
              <a:t>Digital Growth</a:t>
            </a:r>
            <a:r>
              <a:rPr kumimoji="1" lang="ja-JP" altLang="en-US" sz="1000" b="1" dirty="0">
                <a:latin typeface="游ゴシック" panose="020B0400000000000000" pitchFamily="50" charset="-128"/>
                <a:ea typeface="游ゴシック" panose="020B0400000000000000" pitchFamily="50" charset="-128"/>
              </a:rPr>
              <a:t>事業部</a:t>
            </a:r>
          </a:p>
        </p:txBody>
      </p:sp>
      <p:sp>
        <p:nvSpPr>
          <p:cNvPr id="28" name="四角形: 角を丸くする 27">
            <a:extLst>
              <a:ext uri="{FF2B5EF4-FFF2-40B4-BE49-F238E27FC236}">
                <a16:creationId xmlns:a16="http://schemas.microsoft.com/office/drawing/2014/main" id="{521DF026-1348-CFC3-5CA7-02798870A6AD}"/>
              </a:ext>
            </a:extLst>
          </p:cNvPr>
          <p:cNvSpPr/>
          <p:nvPr/>
        </p:nvSpPr>
        <p:spPr>
          <a:xfrm>
            <a:off x="727295" y="4449057"/>
            <a:ext cx="2053751" cy="300783"/>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latin typeface="游ゴシック" panose="020B0400000000000000" pitchFamily="50" charset="-128"/>
                <a:ea typeface="游ゴシック" panose="020B0400000000000000" pitchFamily="50" charset="-128"/>
              </a:rPr>
              <a:t>不動産賃貸事業</a:t>
            </a:r>
          </a:p>
        </p:txBody>
      </p:sp>
      <p:sp>
        <p:nvSpPr>
          <p:cNvPr id="29" name="右中かっこ 28">
            <a:extLst>
              <a:ext uri="{FF2B5EF4-FFF2-40B4-BE49-F238E27FC236}">
                <a16:creationId xmlns:a16="http://schemas.microsoft.com/office/drawing/2014/main" id="{B7E024AF-E3D4-2DFA-068F-71CF87318E34}"/>
              </a:ext>
            </a:extLst>
          </p:cNvPr>
          <p:cNvSpPr/>
          <p:nvPr/>
        </p:nvSpPr>
        <p:spPr>
          <a:xfrm>
            <a:off x="3136490" y="4449057"/>
            <a:ext cx="196645" cy="300783"/>
          </a:xfrm>
          <a:prstGeom prst="rightBrac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0" name="右中かっこ 29">
            <a:extLst>
              <a:ext uri="{FF2B5EF4-FFF2-40B4-BE49-F238E27FC236}">
                <a16:creationId xmlns:a16="http://schemas.microsoft.com/office/drawing/2014/main" id="{9D219029-79BA-3EA6-8AE7-C441A5E9FDFF}"/>
              </a:ext>
            </a:extLst>
          </p:cNvPr>
          <p:cNvSpPr/>
          <p:nvPr/>
        </p:nvSpPr>
        <p:spPr>
          <a:xfrm>
            <a:off x="3136490" y="3581880"/>
            <a:ext cx="196645" cy="734371"/>
          </a:xfrm>
          <a:prstGeom prst="rightBrace">
            <a:avLst/>
          </a:prstGeom>
          <a:ln>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1" name="TextBox 15">
            <a:extLst>
              <a:ext uri="{FF2B5EF4-FFF2-40B4-BE49-F238E27FC236}">
                <a16:creationId xmlns:a16="http://schemas.microsoft.com/office/drawing/2014/main" id="{A0564C7A-CC0D-6B44-5F12-6ECCA3C0E337}"/>
              </a:ext>
            </a:extLst>
          </p:cNvPr>
          <p:cNvSpPr txBox="1"/>
          <p:nvPr/>
        </p:nvSpPr>
        <p:spPr>
          <a:xfrm>
            <a:off x="3394504" y="3779837"/>
            <a:ext cx="800607" cy="360099"/>
          </a:xfrm>
          <a:prstGeom prst="rect">
            <a:avLst/>
          </a:prstGeom>
          <a:noFill/>
          <a:ln>
            <a:noFill/>
          </a:ln>
        </p:spPr>
        <p:txBody>
          <a:bodyPr wrap="square" lIns="36576" tIns="18288" rIns="36576" bIns="18288" anchor="ctr">
            <a:spAutoFit/>
          </a:bodyPr>
          <a:lstStyle/>
          <a:p>
            <a:pPr algn="ctr"/>
            <a:r>
              <a:rPr lang="ja-JP" altLang="en-US" sz="1050" b="1" dirty="0">
                <a:solidFill>
                  <a:srgbClr val="0070C0"/>
                </a:solidFill>
                <a:latin typeface="游ゴシック" panose="020B0400000000000000" pitchFamily="50" charset="-128"/>
                <a:ea typeface="游ゴシック" panose="020B0400000000000000" pitchFamily="50" charset="-128"/>
              </a:rPr>
              <a:t>譲渡対象</a:t>
            </a:r>
            <a:endParaRPr lang="en-US" altLang="ja-JP" sz="1050" b="1" dirty="0">
              <a:solidFill>
                <a:srgbClr val="0070C0"/>
              </a:solidFill>
              <a:latin typeface="游ゴシック" panose="020B0400000000000000" pitchFamily="50" charset="-128"/>
              <a:ea typeface="游ゴシック" panose="020B0400000000000000" pitchFamily="50" charset="-128"/>
            </a:endParaRPr>
          </a:p>
          <a:p>
            <a:pPr algn="ctr"/>
            <a:r>
              <a:rPr lang="en-US" altLang="ja-JP" sz="1050" b="1" dirty="0">
                <a:solidFill>
                  <a:srgbClr val="0070C0"/>
                </a:solidFill>
                <a:latin typeface="游ゴシック" panose="020B0400000000000000" pitchFamily="50" charset="-128"/>
                <a:ea typeface="游ゴシック" panose="020B0400000000000000" pitchFamily="50" charset="-128"/>
              </a:rPr>
              <a:t>2</a:t>
            </a:r>
            <a:r>
              <a:rPr lang="ja-JP" altLang="en-US" sz="1050" b="1" dirty="0">
                <a:solidFill>
                  <a:srgbClr val="0070C0"/>
                </a:solidFill>
                <a:latin typeface="游ゴシック" panose="020B0400000000000000" pitchFamily="50" charset="-128"/>
                <a:ea typeface="游ゴシック" panose="020B0400000000000000" pitchFamily="50" charset="-128"/>
              </a:rPr>
              <a:t>事業</a:t>
            </a:r>
            <a:endParaRPr sz="1050" b="1" dirty="0">
              <a:solidFill>
                <a:srgbClr val="0070C0"/>
              </a:solidFill>
              <a:latin typeface="游ゴシック" panose="020B0400000000000000" pitchFamily="50" charset="-128"/>
              <a:ea typeface="游ゴシック" panose="020B0400000000000000" pitchFamily="50" charset="-128"/>
            </a:endParaRPr>
          </a:p>
        </p:txBody>
      </p:sp>
      <p:sp>
        <p:nvSpPr>
          <p:cNvPr id="32" name="TextBox 15">
            <a:extLst>
              <a:ext uri="{FF2B5EF4-FFF2-40B4-BE49-F238E27FC236}">
                <a16:creationId xmlns:a16="http://schemas.microsoft.com/office/drawing/2014/main" id="{4F2077D0-B3CA-37EF-0AEC-3961FA69B33F}"/>
              </a:ext>
            </a:extLst>
          </p:cNvPr>
          <p:cNvSpPr txBox="1"/>
          <p:nvPr/>
        </p:nvSpPr>
        <p:spPr>
          <a:xfrm>
            <a:off x="3333135" y="4454836"/>
            <a:ext cx="923343" cy="321627"/>
          </a:xfrm>
          <a:prstGeom prst="rect">
            <a:avLst/>
          </a:prstGeom>
          <a:noFill/>
          <a:ln>
            <a:noFill/>
          </a:ln>
        </p:spPr>
        <p:txBody>
          <a:bodyPr wrap="square" lIns="36576" tIns="18288" rIns="36576" bIns="18288" anchor="ctr">
            <a:spAutoFit/>
          </a:bodyPr>
          <a:lstStyle/>
          <a:p>
            <a:pPr algn="ctr"/>
            <a:r>
              <a:rPr lang="ja-JP" altLang="en-US" sz="1050" b="1" dirty="0">
                <a:solidFill>
                  <a:schemeClr val="bg1">
                    <a:lumMod val="65000"/>
                  </a:schemeClr>
                </a:solidFill>
                <a:latin typeface="游ゴシック" panose="020B0400000000000000" pitchFamily="50" charset="-128"/>
                <a:ea typeface="游ゴシック" panose="020B0400000000000000" pitchFamily="50" charset="-128"/>
              </a:rPr>
              <a:t>残置済み</a:t>
            </a:r>
            <a:endParaRPr lang="en-US" altLang="ja-JP" sz="1050" b="1" dirty="0">
              <a:solidFill>
                <a:schemeClr val="bg1">
                  <a:lumMod val="65000"/>
                </a:schemeClr>
              </a:solidFill>
              <a:latin typeface="游ゴシック" panose="020B0400000000000000" pitchFamily="50" charset="-128"/>
              <a:ea typeface="游ゴシック" panose="020B0400000000000000" pitchFamily="50" charset="-128"/>
            </a:endParaRPr>
          </a:p>
          <a:p>
            <a:pPr algn="ctr"/>
            <a:r>
              <a:rPr lang="ja-JP" altLang="en-US" sz="800" b="1" dirty="0">
                <a:solidFill>
                  <a:schemeClr val="bg1">
                    <a:lumMod val="65000"/>
                  </a:schemeClr>
                </a:solidFill>
                <a:latin typeface="游ゴシック" panose="020B0400000000000000" pitchFamily="50" charset="-128"/>
                <a:ea typeface="游ゴシック" panose="020B0400000000000000" pitchFamily="50" charset="-128"/>
              </a:rPr>
              <a:t>（譲渡対象外）</a:t>
            </a:r>
            <a:endParaRPr sz="800" b="1" dirty="0">
              <a:solidFill>
                <a:schemeClr val="bg1">
                  <a:lumMod val="65000"/>
                </a:schemeClr>
              </a:solidFill>
              <a:latin typeface="游ゴシック" panose="020B0400000000000000" pitchFamily="50" charset="-128"/>
              <a:ea typeface="游ゴシック" panose="020B0400000000000000" pitchFamily="50" charset="-128"/>
            </a:endParaRPr>
          </a:p>
        </p:txBody>
      </p:sp>
      <p:grpSp>
        <p:nvGrpSpPr>
          <p:cNvPr id="34" name="グループ化 33">
            <a:extLst>
              <a:ext uri="{FF2B5EF4-FFF2-40B4-BE49-F238E27FC236}">
                <a16:creationId xmlns:a16="http://schemas.microsoft.com/office/drawing/2014/main" id="{C9DE3069-0030-9A59-CDB7-B6F97BE79ADD}"/>
              </a:ext>
            </a:extLst>
          </p:cNvPr>
          <p:cNvGrpSpPr/>
          <p:nvPr/>
        </p:nvGrpSpPr>
        <p:grpSpPr>
          <a:xfrm>
            <a:off x="4628151" y="1864319"/>
            <a:ext cx="2068834" cy="275813"/>
            <a:chOff x="4628151" y="1994333"/>
            <a:chExt cx="2068834" cy="275813"/>
          </a:xfrm>
        </p:grpSpPr>
        <p:cxnSp>
          <p:nvCxnSpPr>
            <p:cNvPr id="35" name="直線コネクタ 34">
              <a:extLst>
                <a:ext uri="{FF2B5EF4-FFF2-40B4-BE49-F238E27FC236}">
                  <a16:creationId xmlns:a16="http://schemas.microsoft.com/office/drawing/2014/main" id="{8B1A0B4B-EC33-FD26-0877-BE78E91B8EC2}"/>
                </a:ext>
              </a:extLst>
            </p:cNvPr>
            <p:cNvCxnSpPr>
              <a:cxnSpLocks/>
            </p:cNvCxnSpPr>
            <p:nvPr/>
          </p:nvCxnSpPr>
          <p:spPr>
            <a:xfrm>
              <a:off x="4628151" y="2270146"/>
              <a:ext cx="2068834" cy="0"/>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sp>
          <p:nvSpPr>
            <p:cNvPr id="36" name="TextBox 15">
              <a:extLst>
                <a:ext uri="{FF2B5EF4-FFF2-40B4-BE49-F238E27FC236}">
                  <a16:creationId xmlns:a16="http://schemas.microsoft.com/office/drawing/2014/main" id="{AE6314B0-7412-81F9-7EDD-4BA045E62593}"/>
                </a:ext>
              </a:extLst>
            </p:cNvPr>
            <p:cNvSpPr txBox="1"/>
            <p:nvPr/>
          </p:nvSpPr>
          <p:spPr>
            <a:xfrm>
              <a:off x="4661574" y="1994333"/>
              <a:ext cx="2001988" cy="221599"/>
            </a:xfrm>
            <a:prstGeom prst="rect">
              <a:avLst/>
            </a:prstGeom>
            <a:noFill/>
            <a:ln>
              <a:noFill/>
            </a:ln>
          </p:spPr>
          <p:txBody>
            <a:bodyPr wrap="square" lIns="36576" tIns="18288" rIns="36576" bIns="18288" anchor="ctr">
              <a:spAutoFit/>
            </a:bodyPr>
            <a:lstStyle/>
            <a:p>
              <a:pPr algn="ctr"/>
              <a:r>
                <a:rPr lang="en-US" altLang="ja-JP" sz="1200" b="1" dirty="0">
                  <a:solidFill>
                    <a:srgbClr val="0070C0"/>
                  </a:solidFill>
                  <a:latin typeface="游ゴシック" panose="020B0400000000000000" pitchFamily="50" charset="-128"/>
                  <a:ea typeface="游ゴシック" panose="020B0400000000000000" pitchFamily="50" charset="-128"/>
                </a:rPr>
                <a:t>STEP1は実行済み</a:t>
              </a:r>
              <a:endParaRPr sz="1200" b="1" dirty="0">
                <a:solidFill>
                  <a:srgbClr val="0070C0"/>
                </a:solidFill>
                <a:latin typeface="游ゴシック" panose="020B0400000000000000" pitchFamily="50" charset="-128"/>
                <a:ea typeface="游ゴシック" panose="020B0400000000000000" pitchFamily="50" charset="-128"/>
              </a:endParaRPr>
            </a:p>
          </p:txBody>
        </p:sp>
      </p:grpSp>
      <p:sp>
        <p:nvSpPr>
          <p:cNvPr id="37" name="楕円 36">
            <a:extLst>
              <a:ext uri="{FF2B5EF4-FFF2-40B4-BE49-F238E27FC236}">
                <a16:creationId xmlns:a16="http://schemas.microsoft.com/office/drawing/2014/main" id="{E2BD7B59-1308-B8C3-9E81-AC6E2A8C6F1A}"/>
              </a:ext>
            </a:extLst>
          </p:cNvPr>
          <p:cNvSpPr/>
          <p:nvPr/>
        </p:nvSpPr>
        <p:spPr>
          <a:xfrm>
            <a:off x="7787627" y="2141492"/>
            <a:ext cx="1844040" cy="322252"/>
          </a:xfrm>
          <a:prstGeom prst="ellipse">
            <a:avLst/>
          </a:prstGeom>
          <a:solidFill>
            <a:schemeClr val="tx2">
              <a:lumMod val="10000"/>
              <a:lumOff val="90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0070C0"/>
                </a:solidFill>
                <a:latin typeface="游ゴシック" panose="020B0400000000000000" pitchFamily="50" charset="-128"/>
                <a:ea typeface="游ゴシック" panose="020B0400000000000000" pitchFamily="50" charset="-128"/>
              </a:rPr>
              <a:t>譲受企業様</a:t>
            </a:r>
          </a:p>
        </p:txBody>
      </p:sp>
      <p:sp>
        <p:nvSpPr>
          <p:cNvPr id="38" name="正方形/長方形 37">
            <a:extLst>
              <a:ext uri="{FF2B5EF4-FFF2-40B4-BE49-F238E27FC236}">
                <a16:creationId xmlns:a16="http://schemas.microsoft.com/office/drawing/2014/main" id="{1CA7B6F2-E97B-B3EA-D5CF-2440EAD6A72C}"/>
              </a:ext>
            </a:extLst>
          </p:cNvPr>
          <p:cNvSpPr/>
          <p:nvPr/>
        </p:nvSpPr>
        <p:spPr>
          <a:xfrm>
            <a:off x="7475702" y="2744062"/>
            <a:ext cx="2467891" cy="109954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3669F8E1-183F-3457-B8A8-6EBCF97008EE}"/>
              </a:ext>
            </a:extLst>
          </p:cNvPr>
          <p:cNvSpPr/>
          <p:nvPr/>
        </p:nvSpPr>
        <p:spPr>
          <a:xfrm>
            <a:off x="7682772" y="3064964"/>
            <a:ext cx="2053751" cy="300783"/>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latin typeface="游ゴシック" panose="020B0400000000000000" pitchFamily="50" charset="-128"/>
                <a:ea typeface="游ゴシック" panose="020B0400000000000000" pitchFamily="50" charset="-128"/>
              </a:rPr>
              <a:t>企画制作部（広告制作）</a:t>
            </a:r>
          </a:p>
        </p:txBody>
      </p:sp>
      <p:sp>
        <p:nvSpPr>
          <p:cNvPr id="40" name="四角形: 角を丸くする 39">
            <a:extLst>
              <a:ext uri="{FF2B5EF4-FFF2-40B4-BE49-F238E27FC236}">
                <a16:creationId xmlns:a16="http://schemas.microsoft.com/office/drawing/2014/main" id="{55281214-120B-A8D7-7418-B19C79651CE0}"/>
              </a:ext>
            </a:extLst>
          </p:cNvPr>
          <p:cNvSpPr/>
          <p:nvPr/>
        </p:nvSpPr>
        <p:spPr>
          <a:xfrm>
            <a:off x="7682772" y="3460527"/>
            <a:ext cx="2053751" cy="300783"/>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latin typeface="游ゴシック" panose="020B0400000000000000" pitchFamily="50" charset="-128"/>
                <a:ea typeface="游ゴシック" panose="020B0400000000000000" pitchFamily="50" charset="-128"/>
              </a:rPr>
              <a:t>Data</a:t>
            </a:r>
            <a:r>
              <a:rPr kumimoji="1" lang="ja-JP" altLang="en-US" sz="1000" b="1" dirty="0">
                <a:latin typeface="游ゴシック" panose="020B0400000000000000" pitchFamily="50" charset="-128"/>
                <a:ea typeface="游ゴシック" panose="020B0400000000000000" pitchFamily="50" charset="-128"/>
              </a:rPr>
              <a:t>＆</a:t>
            </a:r>
            <a:r>
              <a:rPr kumimoji="1" lang="en-US" altLang="ja-JP" sz="1000" b="1" dirty="0">
                <a:latin typeface="游ゴシック" panose="020B0400000000000000" pitchFamily="50" charset="-128"/>
                <a:ea typeface="游ゴシック" panose="020B0400000000000000" pitchFamily="50" charset="-128"/>
              </a:rPr>
              <a:t>Digital Growth</a:t>
            </a:r>
            <a:r>
              <a:rPr kumimoji="1" lang="ja-JP" altLang="en-US" sz="1000" b="1" dirty="0">
                <a:latin typeface="游ゴシック" panose="020B0400000000000000" pitchFamily="50" charset="-128"/>
                <a:ea typeface="游ゴシック" panose="020B0400000000000000" pitchFamily="50" charset="-128"/>
              </a:rPr>
              <a:t>事業部</a:t>
            </a:r>
          </a:p>
        </p:txBody>
      </p:sp>
      <p:sp>
        <p:nvSpPr>
          <p:cNvPr id="41" name="TextBox 15">
            <a:extLst>
              <a:ext uri="{FF2B5EF4-FFF2-40B4-BE49-F238E27FC236}">
                <a16:creationId xmlns:a16="http://schemas.microsoft.com/office/drawing/2014/main" id="{27F0ABFE-4179-81CC-73C0-D81F62934CAE}"/>
              </a:ext>
            </a:extLst>
          </p:cNvPr>
          <p:cNvSpPr txBox="1"/>
          <p:nvPr/>
        </p:nvSpPr>
        <p:spPr>
          <a:xfrm>
            <a:off x="7727087" y="2802781"/>
            <a:ext cx="1965121" cy="221599"/>
          </a:xfrm>
          <a:prstGeom prst="rect">
            <a:avLst/>
          </a:prstGeom>
          <a:noFill/>
          <a:ln>
            <a:noFill/>
          </a:ln>
        </p:spPr>
        <p:txBody>
          <a:bodyPr wrap="square" lIns="36576" tIns="18288" rIns="36576" bIns="18288" anchor="ctr">
            <a:spAutoFit/>
          </a:bodyPr>
          <a:lstStyle/>
          <a:p>
            <a:pPr algn="ctr"/>
            <a:r>
              <a:rPr lang="ja-JP" altLang="en-US" sz="1200" b="1" dirty="0">
                <a:solidFill>
                  <a:srgbClr val="0070C0"/>
                </a:solidFill>
                <a:latin typeface="游ゴシック" panose="020B0400000000000000" pitchFamily="50" charset="-128"/>
                <a:ea typeface="游ゴシック" panose="020B0400000000000000" pitchFamily="50" charset="-128"/>
              </a:rPr>
              <a:t>㈱アドレイ（新設会社）</a:t>
            </a:r>
            <a:endParaRPr sz="1200" b="1" dirty="0">
              <a:solidFill>
                <a:srgbClr val="0070C0"/>
              </a:solidFill>
              <a:latin typeface="游ゴシック" panose="020B0400000000000000" pitchFamily="50" charset="-128"/>
              <a:ea typeface="游ゴシック" panose="020B0400000000000000" pitchFamily="50" charset="-128"/>
            </a:endParaRPr>
          </a:p>
        </p:txBody>
      </p:sp>
      <p:cxnSp>
        <p:nvCxnSpPr>
          <p:cNvPr id="43" name="直線コネクタ 42">
            <a:extLst>
              <a:ext uri="{FF2B5EF4-FFF2-40B4-BE49-F238E27FC236}">
                <a16:creationId xmlns:a16="http://schemas.microsoft.com/office/drawing/2014/main" id="{851B352B-A7DF-E708-BD06-862FF4789B8D}"/>
              </a:ext>
            </a:extLst>
          </p:cNvPr>
          <p:cNvCxnSpPr>
            <a:cxnSpLocks/>
          </p:cNvCxnSpPr>
          <p:nvPr/>
        </p:nvCxnSpPr>
        <p:spPr>
          <a:xfrm>
            <a:off x="7213485" y="4326751"/>
            <a:ext cx="3059817" cy="0"/>
          </a:xfrm>
          <a:prstGeom prst="line">
            <a:avLst/>
          </a:prstGeom>
          <a:ln>
            <a:solidFill>
              <a:schemeClr val="bg1">
                <a:lumMod val="65000"/>
              </a:schemeClr>
            </a:solidFill>
            <a:prstDash val="sysDash"/>
          </a:ln>
        </p:spPr>
        <p:style>
          <a:lnRef idx="2">
            <a:schemeClr val="accent1"/>
          </a:lnRef>
          <a:fillRef idx="0">
            <a:schemeClr val="accent1"/>
          </a:fillRef>
          <a:effectRef idx="1">
            <a:schemeClr val="accent1"/>
          </a:effectRef>
          <a:fontRef idx="minor">
            <a:schemeClr val="tx1"/>
          </a:fontRef>
        </p:style>
      </p:cxnSp>
      <p:sp>
        <p:nvSpPr>
          <p:cNvPr id="44" name="楕円 43">
            <a:extLst>
              <a:ext uri="{FF2B5EF4-FFF2-40B4-BE49-F238E27FC236}">
                <a16:creationId xmlns:a16="http://schemas.microsoft.com/office/drawing/2014/main" id="{BDF181F0-D78C-9EAD-840B-2110DF1F8E9F}"/>
              </a:ext>
            </a:extLst>
          </p:cNvPr>
          <p:cNvSpPr/>
          <p:nvPr/>
        </p:nvSpPr>
        <p:spPr>
          <a:xfrm>
            <a:off x="7749003" y="4423273"/>
            <a:ext cx="1844040" cy="322252"/>
          </a:xfrm>
          <a:prstGeom prst="ellipse">
            <a:avLst/>
          </a:prstGeom>
          <a:solidFill>
            <a:schemeClr val="tx2">
              <a:lumMod val="10000"/>
              <a:lumOff val="90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0070C0"/>
                </a:solidFill>
                <a:latin typeface="游ゴシック" panose="020B0400000000000000" pitchFamily="50" charset="-128"/>
                <a:ea typeface="游ゴシック" panose="020B0400000000000000" pitchFamily="50" charset="-128"/>
              </a:rPr>
              <a:t>現株主</a:t>
            </a:r>
          </a:p>
        </p:txBody>
      </p:sp>
      <p:sp>
        <p:nvSpPr>
          <p:cNvPr id="45" name="正方形/長方形 44">
            <a:extLst>
              <a:ext uri="{FF2B5EF4-FFF2-40B4-BE49-F238E27FC236}">
                <a16:creationId xmlns:a16="http://schemas.microsoft.com/office/drawing/2014/main" id="{F4F8741B-0295-B5CF-70C3-03AFAE7E60DA}"/>
              </a:ext>
            </a:extLst>
          </p:cNvPr>
          <p:cNvSpPr/>
          <p:nvPr/>
        </p:nvSpPr>
        <p:spPr>
          <a:xfrm>
            <a:off x="7475702" y="5011629"/>
            <a:ext cx="2467891" cy="69384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四角形: 角を丸くする 64">
            <a:extLst>
              <a:ext uri="{FF2B5EF4-FFF2-40B4-BE49-F238E27FC236}">
                <a16:creationId xmlns:a16="http://schemas.microsoft.com/office/drawing/2014/main" id="{8690B5E9-36E8-145F-67E3-47297F475802}"/>
              </a:ext>
            </a:extLst>
          </p:cNvPr>
          <p:cNvSpPr/>
          <p:nvPr/>
        </p:nvSpPr>
        <p:spPr>
          <a:xfrm>
            <a:off x="7682772" y="5325414"/>
            <a:ext cx="2053751" cy="300783"/>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latin typeface="游ゴシック" panose="020B0400000000000000" pitchFamily="50" charset="-128"/>
                <a:ea typeface="游ゴシック" panose="020B0400000000000000" pitchFamily="50" charset="-128"/>
              </a:rPr>
              <a:t>不動産賃貸事業</a:t>
            </a:r>
          </a:p>
        </p:txBody>
      </p:sp>
      <p:sp>
        <p:nvSpPr>
          <p:cNvPr id="66" name="TextBox 15">
            <a:extLst>
              <a:ext uri="{FF2B5EF4-FFF2-40B4-BE49-F238E27FC236}">
                <a16:creationId xmlns:a16="http://schemas.microsoft.com/office/drawing/2014/main" id="{50B3260D-0B70-0E90-6D5D-1077BFFA9E98}"/>
              </a:ext>
            </a:extLst>
          </p:cNvPr>
          <p:cNvSpPr txBox="1"/>
          <p:nvPr/>
        </p:nvSpPr>
        <p:spPr>
          <a:xfrm>
            <a:off x="7661731" y="5074699"/>
            <a:ext cx="2095832" cy="221599"/>
          </a:xfrm>
          <a:prstGeom prst="rect">
            <a:avLst/>
          </a:prstGeom>
          <a:noFill/>
          <a:ln>
            <a:noFill/>
          </a:ln>
        </p:spPr>
        <p:txBody>
          <a:bodyPr wrap="square" lIns="36576" tIns="18288" rIns="36576" bIns="18288" anchor="ctr">
            <a:spAutoFit/>
          </a:bodyPr>
          <a:lstStyle/>
          <a:p>
            <a:pPr algn="ctr"/>
            <a:r>
              <a:rPr lang="ja-JP" altLang="en-US" sz="1200" b="1" dirty="0">
                <a:solidFill>
                  <a:srgbClr val="0070C0"/>
                </a:solidFill>
                <a:latin typeface="游ゴシック" panose="020B0400000000000000" pitchFamily="50" charset="-128"/>
                <a:ea typeface="游ゴシック" panose="020B0400000000000000" pitchFamily="50" charset="-128"/>
              </a:rPr>
              <a:t>㈱StorehouseField</a:t>
            </a:r>
            <a:endParaRPr sz="1200" b="1" dirty="0">
              <a:solidFill>
                <a:srgbClr val="0070C0"/>
              </a:solidFill>
              <a:latin typeface="游ゴシック" panose="020B0400000000000000" pitchFamily="50" charset="-128"/>
              <a:ea typeface="游ゴシック" panose="020B0400000000000000" pitchFamily="50" charset="-128"/>
            </a:endParaRPr>
          </a:p>
        </p:txBody>
      </p:sp>
      <p:cxnSp>
        <p:nvCxnSpPr>
          <p:cNvPr id="67" name="直線コネクタ 66">
            <a:extLst>
              <a:ext uri="{FF2B5EF4-FFF2-40B4-BE49-F238E27FC236}">
                <a16:creationId xmlns:a16="http://schemas.microsoft.com/office/drawing/2014/main" id="{4715DA0B-AC14-324A-8F97-049A1D447476}"/>
              </a:ext>
            </a:extLst>
          </p:cNvPr>
          <p:cNvCxnSpPr>
            <a:cxnSpLocks/>
            <a:stCxn id="44" idx="4"/>
          </p:cNvCxnSpPr>
          <p:nvPr/>
        </p:nvCxnSpPr>
        <p:spPr>
          <a:xfrm flipH="1">
            <a:off x="8671022" y="4745525"/>
            <a:ext cx="1" cy="248599"/>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68" name="TextBox 15">
            <a:extLst>
              <a:ext uri="{FF2B5EF4-FFF2-40B4-BE49-F238E27FC236}">
                <a16:creationId xmlns:a16="http://schemas.microsoft.com/office/drawing/2014/main" id="{B3FB1471-12E0-9BAF-8425-84377D17EBD1}"/>
              </a:ext>
            </a:extLst>
          </p:cNvPr>
          <p:cNvSpPr txBox="1"/>
          <p:nvPr/>
        </p:nvSpPr>
        <p:spPr>
          <a:xfrm>
            <a:off x="8709646" y="4793999"/>
            <a:ext cx="590809" cy="206210"/>
          </a:xfrm>
          <a:prstGeom prst="rect">
            <a:avLst/>
          </a:prstGeom>
          <a:noFill/>
          <a:ln>
            <a:noFill/>
          </a:ln>
        </p:spPr>
        <p:txBody>
          <a:bodyPr wrap="square" lIns="36576" tIns="18288" rIns="36576" bIns="18288" anchor="ctr">
            <a:spAutoFit/>
          </a:bodyPr>
          <a:lstStyle/>
          <a:p>
            <a:r>
              <a:rPr lang="en-US" sz="1100" dirty="0">
                <a:solidFill>
                  <a:schemeClr val="tx1"/>
                </a:solidFill>
                <a:latin typeface="游ゴシック" panose="020B0400000000000000" pitchFamily="50" charset="-128"/>
                <a:ea typeface="游ゴシック" panose="020B0400000000000000" pitchFamily="50" charset="-128"/>
              </a:rPr>
              <a:t>100%</a:t>
            </a:r>
            <a:endParaRPr sz="1100" dirty="0">
              <a:solidFill>
                <a:schemeClr val="tx1"/>
              </a:solidFill>
              <a:latin typeface="游ゴシック" panose="020B0400000000000000" pitchFamily="50" charset="-128"/>
              <a:ea typeface="游ゴシック" panose="020B0400000000000000" pitchFamily="50" charset="-128"/>
            </a:endParaRPr>
          </a:p>
        </p:txBody>
      </p:sp>
      <p:cxnSp>
        <p:nvCxnSpPr>
          <p:cNvPr id="79" name="直線コネクタ 78">
            <a:extLst>
              <a:ext uri="{FF2B5EF4-FFF2-40B4-BE49-F238E27FC236}">
                <a16:creationId xmlns:a16="http://schemas.microsoft.com/office/drawing/2014/main" id="{55B29A0E-313D-4F56-A6A0-E90AE0C2738A}"/>
              </a:ext>
            </a:extLst>
          </p:cNvPr>
          <p:cNvCxnSpPr>
            <a:cxnSpLocks/>
            <a:stCxn id="37" idx="4"/>
            <a:endCxn id="38" idx="0"/>
          </p:cNvCxnSpPr>
          <p:nvPr/>
        </p:nvCxnSpPr>
        <p:spPr>
          <a:xfrm>
            <a:off x="8709647" y="2463744"/>
            <a:ext cx="1" cy="280318"/>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84" name="TextBox 15">
            <a:extLst>
              <a:ext uri="{FF2B5EF4-FFF2-40B4-BE49-F238E27FC236}">
                <a16:creationId xmlns:a16="http://schemas.microsoft.com/office/drawing/2014/main" id="{A6502D49-7878-3F0B-E886-18B88CDC8FE1}"/>
              </a:ext>
            </a:extLst>
          </p:cNvPr>
          <p:cNvSpPr txBox="1"/>
          <p:nvPr/>
        </p:nvSpPr>
        <p:spPr>
          <a:xfrm>
            <a:off x="8727433" y="2523248"/>
            <a:ext cx="590809" cy="206210"/>
          </a:xfrm>
          <a:prstGeom prst="rect">
            <a:avLst/>
          </a:prstGeom>
          <a:noFill/>
          <a:ln>
            <a:noFill/>
          </a:ln>
        </p:spPr>
        <p:txBody>
          <a:bodyPr wrap="square" lIns="36576" tIns="18288" rIns="36576" bIns="18288" anchor="ctr">
            <a:spAutoFit/>
          </a:bodyPr>
          <a:lstStyle/>
          <a:p>
            <a:r>
              <a:rPr lang="en-US" sz="1100" dirty="0">
                <a:solidFill>
                  <a:schemeClr val="tx1"/>
                </a:solidFill>
                <a:latin typeface="游ゴシック" panose="020B0400000000000000" pitchFamily="50" charset="-128"/>
                <a:ea typeface="游ゴシック" panose="020B0400000000000000" pitchFamily="50" charset="-128"/>
              </a:rPr>
              <a:t>100.0%</a:t>
            </a:r>
            <a:endParaRPr sz="1100" dirty="0">
              <a:solidFill>
                <a:schemeClr val="tx1"/>
              </a:solidFill>
              <a:latin typeface="游ゴシック" panose="020B0400000000000000" pitchFamily="50" charset="-128"/>
              <a:ea typeface="游ゴシック" panose="020B0400000000000000" pitchFamily="50" charset="-128"/>
            </a:endParaRPr>
          </a:p>
        </p:txBody>
      </p:sp>
      <p:sp>
        <p:nvSpPr>
          <p:cNvPr id="86" name="Rounded Rectangle 32">
            <a:extLst>
              <a:ext uri="{FF2B5EF4-FFF2-40B4-BE49-F238E27FC236}">
                <a16:creationId xmlns:a16="http://schemas.microsoft.com/office/drawing/2014/main" id="{905A9A90-B116-BF66-A2E1-4B4064C2ADD0}"/>
              </a:ext>
            </a:extLst>
          </p:cNvPr>
          <p:cNvSpPr/>
          <p:nvPr/>
        </p:nvSpPr>
        <p:spPr>
          <a:xfrm>
            <a:off x="7266202" y="3957695"/>
            <a:ext cx="2966124" cy="252690"/>
          </a:xfrm>
          <a:prstGeom prst="roundRect">
            <a:avLst/>
          </a:prstGeom>
          <a:solidFill>
            <a:srgbClr val="FFF2CC"/>
          </a:solidFill>
          <a:ln w="15875">
            <a:solidFill>
              <a:srgbClr val="F4B084"/>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ja-JP" altLang="en-US" sz="1100" b="1" dirty="0">
                <a:solidFill>
                  <a:srgbClr val="0070C0"/>
                </a:solidFill>
                <a:latin typeface="游ゴシック" panose="020B0400000000000000" pitchFamily="50" charset="-128"/>
                <a:ea typeface="游ゴシック" panose="020B0400000000000000" pitchFamily="50" charset="-128"/>
              </a:rPr>
              <a:t>新設会社（㈱アドレイ）の株式100%を譲渡</a:t>
            </a:r>
            <a:endParaRPr sz="1100" b="1" dirty="0">
              <a:solidFill>
                <a:srgbClr val="0070C0"/>
              </a:solidFill>
              <a:latin typeface="游ゴシック" panose="020B0400000000000000" pitchFamily="50" charset="-128"/>
              <a:ea typeface="游ゴシック" panose="020B0400000000000000" pitchFamily="50" charset="-128"/>
            </a:endParaRPr>
          </a:p>
        </p:txBody>
      </p:sp>
      <p:sp>
        <p:nvSpPr>
          <p:cNvPr id="88" name="楕円 87">
            <a:extLst>
              <a:ext uri="{FF2B5EF4-FFF2-40B4-BE49-F238E27FC236}">
                <a16:creationId xmlns:a16="http://schemas.microsoft.com/office/drawing/2014/main" id="{04B34D8D-F2EA-7FF3-6200-2F1BF3489674}"/>
              </a:ext>
            </a:extLst>
          </p:cNvPr>
          <p:cNvSpPr/>
          <p:nvPr/>
        </p:nvSpPr>
        <p:spPr>
          <a:xfrm>
            <a:off x="4462239" y="2358962"/>
            <a:ext cx="465515" cy="465515"/>
          </a:xfrm>
          <a:prstGeom prst="ellipse">
            <a:avLst/>
          </a:prstGeom>
          <a:solidFill>
            <a:srgbClr val="0070C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t>1</a:t>
            </a:r>
            <a:endParaRPr kumimoji="1" lang="ja-JP" altLang="en-US" sz="1200" b="1" dirty="0"/>
          </a:p>
        </p:txBody>
      </p:sp>
      <p:sp>
        <p:nvSpPr>
          <p:cNvPr id="90" name="矢印: 右 89">
            <a:extLst>
              <a:ext uri="{FF2B5EF4-FFF2-40B4-BE49-F238E27FC236}">
                <a16:creationId xmlns:a16="http://schemas.microsoft.com/office/drawing/2014/main" id="{A7061474-C8DB-22F7-DDB4-779E6C3C16D8}"/>
              </a:ext>
            </a:extLst>
          </p:cNvPr>
          <p:cNvSpPr/>
          <p:nvPr/>
        </p:nvSpPr>
        <p:spPr>
          <a:xfrm>
            <a:off x="4834320" y="3432787"/>
            <a:ext cx="1892384" cy="547468"/>
          </a:xfrm>
          <a:prstGeom prst="righ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游ゴシック" panose="020B0400000000000000" pitchFamily="50" charset="-128"/>
                <a:ea typeface="游ゴシック" panose="020B0400000000000000" pitchFamily="50" charset="-128"/>
              </a:rPr>
              <a:t>STEP2</a:t>
            </a:r>
            <a:r>
              <a:rPr kumimoji="1" lang="ja-JP" altLang="en-US" sz="1200" b="1" dirty="0">
                <a:latin typeface="游ゴシック" panose="020B0400000000000000" pitchFamily="50" charset="-128"/>
                <a:ea typeface="游ゴシック" panose="020B0400000000000000" pitchFamily="50" charset="-128"/>
              </a:rPr>
              <a:t>　株式譲渡</a:t>
            </a:r>
          </a:p>
        </p:txBody>
      </p:sp>
      <p:sp>
        <p:nvSpPr>
          <p:cNvPr id="91" name="楕円 90">
            <a:extLst>
              <a:ext uri="{FF2B5EF4-FFF2-40B4-BE49-F238E27FC236}">
                <a16:creationId xmlns:a16="http://schemas.microsoft.com/office/drawing/2014/main" id="{A27BE6DF-5055-E0A6-84B5-C7717D73C90D}"/>
              </a:ext>
            </a:extLst>
          </p:cNvPr>
          <p:cNvSpPr/>
          <p:nvPr/>
        </p:nvSpPr>
        <p:spPr>
          <a:xfrm>
            <a:off x="4462239" y="3473764"/>
            <a:ext cx="465515" cy="465515"/>
          </a:xfrm>
          <a:prstGeom prst="ellipse">
            <a:avLst/>
          </a:prstGeom>
          <a:solidFill>
            <a:srgbClr val="0070C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t>2</a:t>
            </a:r>
            <a:endParaRPr kumimoji="1" lang="ja-JP" altLang="en-US" sz="1200" b="1" dirty="0"/>
          </a:p>
        </p:txBody>
      </p:sp>
      <p:sp>
        <p:nvSpPr>
          <p:cNvPr id="92" name="TextBox 15">
            <a:extLst>
              <a:ext uri="{FF2B5EF4-FFF2-40B4-BE49-F238E27FC236}">
                <a16:creationId xmlns:a16="http://schemas.microsoft.com/office/drawing/2014/main" id="{C6A1D3DE-9B3D-CE5D-F664-23FD0F853DDD}"/>
              </a:ext>
            </a:extLst>
          </p:cNvPr>
          <p:cNvSpPr txBox="1"/>
          <p:nvPr/>
        </p:nvSpPr>
        <p:spPr>
          <a:xfrm>
            <a:off x="4694996" y="2925400"/>
            <a:ext cx="2302295" cy="360099"/>
          </a:xfrm>
          <a:prstGeom prst="rect">
            <a:avLst/>
          </a:prstGeom>
          <a:noFill/>
          <a:ln>
            <a:noFill/>
          </a:ln>
        </p:spPr>
        <p:txBody>
          <a:bodyPr wrap="square" lIns="36576" tIns="18288" rIns="36576" bIns="18288" anchor="ctr">
            <a:spAutoFit/>
          </a:bodyPr>
          <a:lstStyle/>
          <a:p>
            <a:pPr algn="ctr"/>
            <a:r>
              <a:rPr lang="ja-JP" altLang="en-US" sz="1050" dirty="0">
                <a:solidFill>
                  <a:schemeClr val="tx1"/>
                </a:solidFill>
                <a:latin typeface="游ゴシック" panose="020B0400000000000000" pitchFamily="50" charset="-128"/>
                <a:ea typeface="游ゴシック" panose="020B0400000000000000" pitchFamily="50" charset="-128"/>
              </a:rPr>
              <a:t>2026年10月1日付で実行済み</a:t>
            </a:r>
            <a:endParaRPr lang="en-US" altLang="ja-JP" sz="1050" dirty="0">
              <a:solidFill>
                <a:schemeClr val="tx1"/>
              </a:solidFill>
              <a:latin typeface="游ゴシック" panose="020B0400000000000000" pitchFamily="50" charset="-128"/>
              <a:ea typeface="游ゴシック" panose="020B0400000000000000" pitchFamily="50" charset="-128"/>
            </a:endParaRPr>
          </a:p>
          <a:p>
            <a:pPr algn="ctr"/>
            <a:r>
              <a:rPr lang="ja-JP" altLang="en-US" sz="1050" dirty="0">
                <a:solidFill>
                  <a:schemeClr val="tx1"/>
                </a:solidFill>
                <a:latin typeface="游ゴシック" panose="020B0400000000000000" pitchFamily="50" charset="-128"/>
                <a:ea typeface="游ゴシック" panose="020B0400000000000000" pitchFamily="50" charset="-128"/>
              </a:rPr>
              <a:t>譲渡対象2事業を新設会社へ承継</a:t>
            </a:r>
            <a:endParaRPr sz="1050" dirty="0">
              <a:solidFill>
                <a:schemeClr val="tx1"/>
              </a:solidFill>
              <a:latin typeface="游ゴシック" panose="020B0400000000000000" pitchFamily="50" charset="-128"/>
              <a:ea typeface="游ゴシック" panose="020B0400000000000000" pitchFamily="50" charset="-128"/>
            </a:endParaRPr>
          </a:p>
        </p:txBody>
      </p:sp>
      <p:sp>
        <p:nvSpPr>
          <p:cNvPr id="93" name="TextBox 15">
            <a:extLst>
              <a:ext uri="{FF2B5EF4-FFF2-40B4-BE49-F238E27FC236}">
                <a16:creationId xmlns:a16="http://schemas.microsoft.com/office/drawing/2014/main" id="{2E1C550D-62AC-EB89-21F2-08E0DFF6660B}"/>
              </a:ext>
            </a:extLst>
          </p:cNvPr>
          <p:cNvSpPr txBox="1"/>
          <p:nvPr/>
        </p:nvSpPr>
        <p:spPr>
          <a:xfrm>
            <a:off x="4694996" y="4045631"/>
            <a:ext cx="2302295" cy="360099"/>
          </a:xfrm>
          <a:prstGeom prst="rect">
            <a:avLst/>
          </a:prstGeom>
          <a:noFill/>
          <a:ln>
            <a:noFill/>
          </a:ln>
        </p:spPr>
        <p:txBody>
          <a:bodyPr wrap="square" lIns="36576" tIns="18288" rIns="36576" bIns="18288" anchor="ctr">
            <a:spAutoFit/>
          </a:bodyPr>
          <a:lstStyle/>
          <a:p>
            <a:pPr algn="ctr"/>
            <a:r>
              <a:rPr lang="ja-JP" altLang="en-US" sz="1050" dirty="0">
                <a:solidFill>
                  <a:schemeClr val="tx1"/>
                </a:solidFill>
                <a:latin typeface="游ゴシック" panose="020B0400000000000000" pitchFamily="50" charset="-128"/>
                <a:ea typeface="游ゴシック" panose="020B0400000000000000" pitchFamily="50" charset="-128"/>
              </a:rPr>
              <a:t>新設会社（株式会社アドレイ）の</a:t>
            </a:r>
            <a:endParaRPr lang="en-US" altLang="ja-JP" sz="1050" dirty="0">
              <a:solidFill>
                <a:schemeClr val="tx1"/>
              </a:solidFill>
              <a:latin typeface="游ゴシック" panose="020B0400000000000000" pitchFamily="50" charset="-128"/>
              <a:ea typeface="游ゴシック" panose="020B0400000000000000" pitchFamily="50" charset="-128"/>
            </a:endParaRPr>
          </a:p>
          <a:p>
            <a:pPr algn="ctr"/>
            <a:r>
              <a:rPr lang="ja-JP" altLang="en-US" sz="1050" dirty="0">
                <a:solidFill>
                  <a:schemeClr val="tx1"/>
                </a:solidFill>
                <a:latin typeface="游ゴシック" panose="020B0400000000000000" pitchFamily="50" charset="-128"/>
                <a:ea typeface="游ゴシック" panose="020B0400000000000000" pitchFamily="50" charset="-128"/>
              </a:rPr>
              <a:t>株式100%を譲渡（本件）</a:t>
            </a:r>
            <a:endParaRPr sz="1050" dirty="0">
              <a:solidFill>
                <a:schemeClr val="tx1"/>
              </a:solidFill>
              <a:latin typeface="游ゴシック" panose="020B0400000000000000" pitchFamily="50" charset="-128"/>
              <a:ea typeface="游ゴシック" panose="020B0400000000000000" pitchFamily="50" charset="-128"/>
            </a:endParaRPr>
          </a:p>
        </p:txBody>
      </p:sp>
      <p:sp>
        <p:nvSpPr>
          <p:cNvPr id="94" name="四角形: 角を丸くする 93">
            <a:extLst>
              <a:ext uri="{FF2B5EF4-FFF2-40B4-BE49-F238E27FC236}">
                <a16:creationId xmlns:a16="http://schemas.microsoft.com/office/drawing/2014/main" id="{0FBDF049-F327-7DAA-2896-5A475F26949C}"/>
              </a:ext>
            </a:extLst>
          </p:cNvPr>
          <p:cNvSpPr/>
          <p:nvPr/>
        </p:nvSpPr>
        <p:spPr>
          <a:xfrm>
            <a:off x="4392322" y="4830762"/>
            <a:ext cx="2614094" cy="902141"/>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游ゴシック" panose="020B0400000000000000" pitchFamily="50" charset="-128"/>
                <a:ea typeface="游ゴシック" panose="020B0400000000000000" pitchFamily="50" charset="-128"/>
              </a:rPr>
              <a:t>現状</a:t>
            </a:r>
          </a:p>
        </p:txBody>
      </p:sp>
      <p:sp>
        <p:nvSpPr>
          <p:cNvPr id="95" name="楕円 94">
            <a:extLst>
              <a:ext uri="{FF2B5EF4-FFF2-40B4-BE49-F238E27FC236}">
                <a16:creationId xmlns:a16="http://schemas.microsoft.com/office/drawing/2014/main" id="{EC2E15A5-15D7-774D-ADC3-627FB6D58D59}"/>
              </a:ext>
            </a:extLst>
          </p:cNvPr>
          <p:cNvSpPr/>
          <p:nvPr/>
        </p:nvSpPr>
        <p:spPr>
          <a:xfrm>
            <a:off x="4462239" y="4923704"/>
            <a:ext cx="716258" cy="716258"/>
          </a:xfrm>
          <a:prstGeom prst="ellipse">
            <a:avLst/>
          </a:prstGeom>
          <a:solidFill>
            <a:srgbClr val="0070C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p>
        </p:txBody>
      </p:sp>
      <p:pic>
        <p:nvPicPr>
          <p:cNvPr id="99" name="グラフィックス 98" descr="建物 単色塗りつぶし">
            <a:extLst>
              <a:ext uri="{FF2B5EF4-FFF2-40B4-BE49-F238E27FC236}">
                <a16:creationId xmlns:a16="http://schemas.microsoft.com/office/drawing/2014/main" id="{11D82DFF-E925-9D67-BF53-98C526C798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87336" y="5010616"/>
            <a:ext cx="460304" cy="460304"/>
          </a:xfrm>
          <a:prstGeom prst="rect">
            <a:avLst/>
          </a:prstGeom>
        </p:spPr>
      </p:pic>
      <p:pic>
        <p:nvPicPr>
          <p:cNvPr id="101" name="グラフィックス 100" descr="銀行の小切手 単色塗りつぶし">
            <a:extLst>
              <a:ext uri="{FF2B5EF4-FFF2-40B4-BE49-F238E27FC236}">
                <a16:creationId xmlns:a16="http://schemas.microsoft.com/office/drawing/2014/main" id="{73067E4A-4FEF-1A7C-8894-D84FC7359F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02744" y="5322077"/>
            <a:ext cx="289791" cy="289791"/>
          </a:xfrm>
          <a:prstGeom prst="rect">
            <a:avLst/>
          </a:prstGeom>
        </p:spPr>
      </p:pic>
      <p:sp>
        <p:nvSpPr>
          <p:cNvPr id="102" name="TextBox 15">
            <a:extLst>
              <a:ext uri="{FF2B5EF4-FFF2-40B4-BE49-F238E27FC236}">
                <a16:creationId xmlns:a16="http://schemas.microsoft.com/office/drawing/2014/main" id="{3E638168-FD1E-5088-53A5-53A1EDCCC015}"/>
              </a:ext>
            </a:extLst>
          </p:cNvPr>
          <p:cNvSpPr txBox="1"/>
          <p:nvPr/>
        </p:nvSpPr>
        <p:spPr>
          <a:xfrm>
            <a:off x="5178497" y="5072778"/>
            <a:ext cx="1803923" cy="498598"/>
          </a:xfrm>
          <a:prstGeom prst="rect">
            <a:avLst/>
          </a:prstGeom>
          <a:noFill/>
          <a:ln>
            <a:noFill/>
          </a:ln>
        </p:spPr>
        <p:txBody>
          <a:bodyPr wrap="square" lIns="36576" tIns="18288" rIns="36576" bIns="18288" anchor="ctr">
            <a:spAutoFit/>
          </a:bodyPr>
          <a:lstStyle/>
          <a:p>
            <a:pPr algn="ctr"/>
            <a:r>
              <a:rPr lang="ja-JP" altLang="en-US" sz="1000" b="1" dirty="0">
                <a:solidFill>
                  <a:srgbClr val="0070C0"/>
                </a:solidFill>
                <a:latin typeface="游ゴシック" panose="020B0400000000000000" pitchFamily="50" charset="-128"/>
                <a:ea typeface="游ゴシック" panose="020B0400000000000000" pitchFamily="50" charset="-128"/>
              </a:rPr>
              <a:t>譲受企業様が取得するのは、</a:t>
            </a:r>
            <a:endParaRPr lang="en-US" altLang="ja-JP" sz="1000" b="1" dirty="0">
              <a:solidFill>
                <a:srgbClr val="0070C0"/>
              </a:solidFill>
              <a:latin typeface="游ゴシック" panose="020B0400000000000000" pitchFamily="50" charset="-128"/>
              <a:ea typeface="游ゴシック" panose="020B0400000000000000" pitchFamily="50" charset="-128"/>
            </a:endParaRPr>
          </a:p>
          <a:p>
            <a:pPr algn="ctr"/>
            <a:r>
              <a:rPr lang="ja-JP" altLang="en-US" sz="1000" b="1" dirty="0">
                <a:solidFill>
                  <a:srgbClr val="0070C0"/>
                </a:solidFill>
                <a:latin typeface="游ゴシック" panose="020B0400000000000000" pitchFamily="50" charset="-128"/>
                <a:ea typeface="游ゴシック" panose="020B0400000000000000" pitchFamily="50" charset="-128"/>
              </a:rPr>
              <a:t>“事業”ではなく、</a:t>
            </a:r>
            <a:endParaRPr lang="en-US" altLang="ja-JP" sz="1000" b="1" dirty="0">
              <a:solidFill>
                <a:srgbClr val="0070C0"/>
              </a:solidFill>
              <a:latin typeface="游ゴシック" panose="020B0400000000000000" pitchFamily="50" charset="-128"/>
              <a:ea typeface="游ゴシック" panose="020B0400000000000000" pitchFamily="50" charset="-128"/>
            </a:endParaRPr>
          </a:p>
          <a:p>
            <a:pPr algn="ctr"/>
            <a:r>
              <a:rPr lang="ja-JP" altLang="en-US" sz="1000" b="1" dirty="0">
                <a:solidFill>
                  <a:srgbClr val="0070C0"/>
                </a:solidFill>
                <a:latin typeface="游ゴシック" panose="020B0400000000000000" pitchFamily="50" charset="-128"/>
                <a:ea typeface="游ゴシック" panose="020B0400000000000000" pitchFamily="50" charset="-128"/>
              </a:rPr>
              <a:t>“新設会社の株式</a:t>
            </a:r>
            <a:r>
              <a:rPr lang="en-US" altLang="ja-JP" sz="1000" b="1" dirty="0">
                <a:solidFill>
                  <a:srgbClr val="0070C0"/>
                </a:solidFill>
                <a:latin typeface="游ゴシック" panose="020B0400000000000000" pitchFamily="50" charset="-128"/>
                <a:ea typeface="游ゴシック" panose="020B0400000000000000" pitchFamily="50" charset="-128"/>
              </a:rPr>
              <a:t>100%</a:t>
            </a:r>
            <a:r>
              <a:rPr lang="ja-JP" altLang="en-US" sz="1000" b="1" dirty="0">
                <a:solidFill>
                  <a:srgbClr val="0070C0"/>
                </a:solidFill>
                <a:latin typeface="游ゴシック" panose="020B0400000000000000" pitchFamily="50" charset="-128"/>
                <a:ea typeface="游ゴシック" panose="020B0400000000000000" pitchFamily="50" charset="-128"/>
              </a:rPr>
              <a:t>”</a:t>
            </a:r>
            <a:endParaRPr sz="1000" b="1" dirty="0">
              <a:solidFill>
                <a:srgbClr val="0070C0"/>
              </a:solidFill>
              <a:latin typeface="游ゴシック" panose="020B0400000000000000" pitchFamily="50" charset="-128"/>
              <a:ea typeface="游ゴシック" panose="020B0400000000000000" pitchFamily="50" charset="-128"/>
            </a:endParaRPr>
          </a:p>
        </p:txBody>
      </p:sp>
      <p:sp>
        <p:nvSpPr>
          <p:cNvPr id="103" name="Rounded Rectangle 32">
            <a:extLst>
              <a:ext uri="{FF2B5EF4-FFF2-40B4-BE49-F238E27FC236}">
                <a16:creationId xmlns:a16="http://schemas.microsoft.com/office/drawing/2014/main" id="{BBAF6A06-9128-09E8-E002-88BB35B2B907}"/>
              </a:ext>
            </a:extLst>
          </p:cNvPr>
          <p:cNvSpPr/>
          <p:nvPr/>
        </p:nvSpPr>
        <p:spPr>
          <a:xfrm>
            <a:off x="1267738" y="5927736"/>
            <a:ext cx="8156336" cy="960120"/>
          </a:xfrm>
          <a:prstGeom prst="roundRect">
            <a:avLst/>
          </a:prstGeom>
          <a:solidFill>
            <a:srgbClr val="FFF2CC"/>
          </a:solidFill>
          <a:ln w="15875">
            <a:solidFill>
              <a:srgbClr val="F4B084"/>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endParaRPr sz="1200" b="0" dirty="0">
              <a:solidFill>
                <a:schemeClr val="tx1"/>
              </a:solidFill>
              <a:latin typeface="游ゴシック" panose="020B0400000000000000" pitchFamily="50" charset="-128"/>
              <a:ea typeface="游ゴシック" panose="020B0400000000000000" pitchFamily="50" charset="-128"/>
            </a:endParaRPr>
          </a:p>
        </p:txBody>
      </p:sp>
      <p:sp>
        <p:nvSpPr>
          <p:cNvPr id="104" name="TextBox 15">
            <a:extLst>
              <a:ext uri="{FF2B5EF4-FFF2-40B4-BE49-F238E27FC236}">
                <a16:creationId xmlns:a16="http://schemas.microsoft.com/office/drawing/2014/main" id="{687B4994-DFDF-9D7F-DCA2-CC1ACD73E7E3}"/>
              </a:ext>
            </a:extLst>
          </p:cNvPr>
          <p:cNvSpPr txBox="1"/>
          <p:nvPr/>
        </p:nvSpPr>
        <p:spPr>
          <a:xfrm>
            <a:off x="1431029" y="6024793"/>
            <a:ext cx="7736654" cy="740972"/>
          </a:xfrm>
          <a:prstGeom prst="rect">
            <a:avLst/>
          </a:prstGeom>
          <a:noFill/>
          <a:ln>
            <a:noFill/>
          </a:ln>
        </p:spPr>
        <p:txBody>
          <a:bodyPr wrap="square" lIns="36576" tIns="18288" rIns="36576" bIns="18288" anchor="ctr">
            <a:spAutoFit/>
          </a:bodyPr>
          <a:lstStyle/>
          <a:p>
            <a:pPr>
              <a:lnSpc>
                <a:spcPct val="150000"/>
              </a:lnSpc>
            </a:pPr>
            <a:r>
              <a:rPr lang="ja-JP" altLang="en-US" sz="1050" b="1" dirty="0">
                <a:solidFill>
                  <a:schemeClr val="tx1"/>
                </a:solidFill>
                <a:latin typeface="游ゴシック" panose="020B0400000000000000" pitchFamily="50" charset="-128"/>
                <a:ea typeface="游ゴシック" panose="020B0400000000000000" pitchFamily="50" charset="-128"/>
              </a:rPr>
              <a:t>・承継対象：新設会社（株式会社アドレイ）の株式100%（譲渡対象2事業は新設分割により承継済み）</a:t>
            </a:r>
            <a:endParaRPr lang="en-US" altLang="ja-JP" sz="1050" b="1" dirty="0">
              <a:solidFill>
                <a:schemeClr val="tx1"/>
              </a:solidFill>
              <a:latin typeface="游ゴシック" panose="020B0400000000000000" pitchFamily="50" charset="-128"/>
              <a:ea typeface="游ゴシック" panose="020B0400000000000000" pitchFamily="50" charset="-128"/>
            </a:endParaRPr>
          </a:p>
          <a:p>
            <a:pPr>
              <a:lnSpc>
                <a:spcPct val="150000"/>
              </a:lnSpc>
            </a:pPr>
            <a:r>
              <a:rPr lang="ja-JP" altLang="en-US" sz="1050" b="1" dirty="0">
                <a:solidFill>
                  <a:schemeClr val="tx1"/>
                </a:solidFill>
                <a:latin typeface="游ゴシック" panose="020B0400000000000000" pitchFamily="50" charset="-128"/>
                <a:ea typeface="游ゴシック" panose="020B0400000000000000" pitchFamily="50" charset="-128"/>
              </a:rPr>
              <a:t>・譲渡対象外：不動産賃貸事業は分割会社（株式会社StorehouseField、旧商号：株式会社アドレイ）に残置済み</a:t>
            </a:r>
            <a:endParaRPr lang="en-US" altLang="ja-JP" sz="1050" b="1" dirty="0">
              <a:solidFill>
                <a:schemeClr val="tx1"/>
              </a:solidFill>
              <a:latin typeface="游ゴシック" panose="020B0400000000000000" pitchFamily="50" charset="-128"/>
              <a:ea typeface="游ゴシック" panose="020B0400000000000000" pitchFamily="50" charset="-128"/>
            </a:endParaRPr>
          </a:p>
          <a:p>
            <a:pPr>
              <a:lnSpc>
                <a:spcPct val="150000"/>
              </a:lnSpc>
            </a:pPr>
            <a:r>
              <a:rPr lang="ja-JP" altLang="en-US" sz="1050" b="1" dirty="0">
                <a:solidFill>
                  <a:schemeClr val="tx1"/>
                </a:solidFill>
                <a:latin typeface="游ゴシック" panose="020B0400000000000000" pitchFamily="50" charset="-128"/>
                <a:ea typeface="游ゴシック" panose="020B0400000000000000" pitchFamily="50" charset="-128"/>
              </a:rPr>
              <a:t>・譲受企業様が取得するのは、会社（株式）そのもの</a:t>
            </a:r>
            <a:endParaRPr lang="en-US" altLang="ja-JP" sz="1050" b="1"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746482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11422-DD6B-F230-76C4-3AECA986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4FBE4DF-036C-C39A-0082-6A1D209F80C7}"/>
              </a:ext>
            </a:extLst>
          </p:cNvPr>
          <p:cNvSpPr>
            <a:spLocks noGrp="1"/>
          </p:cNvSpPr>
          <p:nvPr>
            <p:ph type="ctrTitle"/>
          </p:nvPr>
        </p:nvSpPr>
        <p:spPr>
          <a:xfrm>
            <a:off x="311150" y="180296"/>
            <a:ext cx="7799917" cy="339267"/>
          </a:xfrm>
        </p:spPr>
        <p:txBody>
          <a:bodyPr>
            <a:normAutofit/>
          </a:bodyPr>
          <a:lstStyle/>
          <a:p>
            <a:r>
              <a:rPr lang="ja-JP" altLang="en-US" dirty="0"/>
              <a:t>財務ハイライト（部門別売上推移）</a:t>
            </a:r>
          </a:p>
        </p:txBody>
      </p:sp>
      <p:sp>
        <p:nvSpPr>
          <p:cNvPr id="5" name="タイトル 1">
            <a:extLst>
              <a:ext uri="{FF2B5EF4-FFF2-40B4-BE49-F238E27FC236}">
                <a16:creationId xmlns:a16="http://schemas.microsoft.com/office/drawing/2014/main" id="{689E35E6-14F7-8F07-CF0F-94710B9C5CE8}"/>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5FE33551-F40F-53A4-ED59-363460BAD421}"/>
              </a:ext>
            </a:extLst>
          </p:cNvPr>
          <p:cNvSpPr>
            <a:spLocks noGrp="1"/>
          </p:cNvSpPr>
          <p:nvPr>
            <p:ph type="subTitle" idx="1"/>
          </p:nvPr>
        </p:nvSpPr>
        <p:spPr>
          <a:xfrm>
            <a:off x="460675" y="830046"/>
            <a:ext cx="9781875" cy="241861"/>
          </a:xfrm>
        </p:spPr>
        <p:txBody>
          <a:bodyPr>
            <a:noAutofit/>
          </a:bodyPr>
          <a:lstStyle/>
          <a:p>
            <a:r>
              <a:rPr lang="en-US" altLang="ja-JP" dirty="0">
                <a:latin typeface="+mj-ea"/>
              </a:rPr>
              <a:t>Data &amp; Digital Growth</a:t>
            </a:r>
            <a:r>
              <a:rPr lang="ja-JP" altLang="en-US" dirty="0">
                <a:latin typeface="+mj-ea"/>
              </a:rPr>
              <a:t>事業は立ち上げ後、順調に拡大し主力事業へ成長。安定した業績基盤のもと、構成比を高めながら推移。</a:t>
            </a:r>
            <a:r>
              <a:rPr lang="en-US" altLang="ja-JP" dirty="0">
                <a:latin typeface="+mj-ea"/>
              </a:rPr>
              <a:t>2025</a:t>
            </a:r>
            <a:r>
              <a:rPr lang="ja-JP" altLang="en-US" dirty="0">
                <a:latin typeface="+mj-ea"/>
              </a:rPr>
              <a:t>年</a:t>
            </a:r>
            <a:r>
              <a:rPr lang="en-US" altLang="ja-JP" dirty="0">
                <a:latin typeface="+mj-ea"/>
              </a:rPr>
              <a:t>7</a:t>
            </a:r>
            <a:r>
              <a:rPr lang="ja-JP" altLang="en-US" dirty="0">
                <a:latin typeface="+mj-ea"/>
              </a:rPr>
              <a:t>月期は</a:t>
            </a:r>
            <a:r>
              <a:rPr lang="en-US" altLang="ja-JP" dirty="0">
                <a:latin typeface="+mj-ea"/>
              </a:rPr>
              <a:t>Salesforce</a:t>
            </a:r>
            <a:r>
              <a:rPr lang="ja-JP" altLang="en-US" dirty="0">
                <a:latin typeface="+mj-ea"/>
              </a:rPr>
              <a:t>社の新製品投入に伴うリード減少や単発案件不在により一時的に減収も、進行期は回復見込みで成長基調を維持。</a:t>
            </a:r>
          </a:p>
        </p:txBody>
      </p:sp>
      <p:graphicFrame>
        <p:nvGraphicFramePr>
          <p:cNvPr id="6" name="表 5">
            <a:extLst>
              <a:ext uri="{FF2B5EF4-FFF2-40B4-BE49-F238E27FC236}">
                <a16:creationId xmlns:a16="http://schemas.microsoft.com/office/drawing/2014/main" id="{BA270BED-32A6-796E-12D9-6BEE20419FE2}"/>
              </a:ext>
            </a:extLst>
          </p:cNvPr>
          <p:cNvGraphicFramePr>
            <a:graphicFrameLocks noGrp="1"/>
          </p:cNvGraphicFramePr>
          <p:nvPr>
            <p:extLst>
              <p:ext uri="{D42A27DB-BD31-4B8C-83A1-F6EECF244321}">
                <p14:modId xmlns:p14="http://schemas.microsoft.com/office/powerpoint/2010/main" val="2320460228"/>
              </p:ext>
            </p:extLst>
          </p:nvPr>
        </p:nvGraphicFramePr>
        <p:xfrm>
          <a:off x="371682" y="1714499"/>
          <a:ext cx="9439071" cy="2471247"/>
        </p:xfrm>
        <a:graphic>
          <a:graphicData uri="http://schemas.openxmlformats.org/drawingml/2006/table">
            <a:tbl>
              <a:tblPr/>
              <a:tblGrid>
                <a:gridCol w="1040287">
                  <a:extLst>
                    <a:ext uri="{9D8B030D-6E8A-4147-A177-3AD203B41FA5}">
                      <a16:colId xmlns:a16="http://schemas.microsoft.com/office/drawing/2014/main" val="2609343995"/>
                    </a:ext>
                  </a:extLst>
                </a:gridCol>
                <a:gridCol w="2303928">
                  <a:extLst>
                    <a:ext uri="{9D8B030D-6E8A-4147-A177-3AD203B41FA5}">
                      <a16:colId xmlns:a16="http://schemas.microsoft.com/office/drawing/2014/main" val="2128300565"/>
                    </a:ext>
                  </a:extLst>
                </a:gridCol>
                <a:gridCol w="761857">
                  <a:extLst>
                    <a:ext uri="{9D8B030D-6E8A-4147-A177-3AD203B41FA5}">
                      <a16:colId xmlns:a16="http://schemas.microsoft.com/office/drawing/2014/main" val="198151039"/>
                    </a:ext>
                  </a:extLst>
                </a:gridCol>
                <a:gridCol w="761857">
                  <a:extLst>
                    <a:ext uri="{9D8B030D-6E8A-4147-A177-3AD203B41FA5}">
                      <a16:colId xmlns:a16="http://schemas.microsoft.com/office/drawing/2014/main" val="3205820003"/>
                    </a:ext>
                  </a:extLst>
                </a:gridCol>
                <a:gridCol w="761857">
                  <a:extLst>
                    <a:ext uri="{9D8B030D-6E8A-4147-A177-3AD203B41FA5}">
                      <a16:colId xmlns:a16="http://schemas.microsoft.com/office/drawing/2014/main" val="3105971909"/>
                    </a:ext>
                  </a:extLst>
                </a:gridCol>
                <a:gridCol w="761857">
                  <a:extLst>
                    <a:ext uri="{9D8B030D-6E8A-4147-A177-3AD203B41FA5}">
                      <a16:colId xmlns:a16="http://schemas.microsoft.com/office/drawing/2014/main" val="1700499961"/>
                    </a:ext>
                  </a:extLst>
                </a:gridCol>
                <a:gridCol w="761857">
                  <a:extLst>
                    <a:ext uri="{9D8B030D-6E8A-4147-A177-3AD203B41FA5}">
                      <a16:colId xmlns:a16="http://schemas.microsoft.com/office/drawing/2014/main" val="3102443831"/>
                    </a:ext>
                  </a:extLst>
                </a:gridCol>
                <a:gridCol w="761857">
                  <a:extLst>
                    <a:ext uri="{9D8B030D-6E8A-4147-A177-3AD203B41FA5}">
                      <a16:colId xmlns:a16="http://schemas.microsoft.com/office/drawing/2014/main" val="996370721"/>
                    </a:ext>
                  </a:extLst>
                </a:gridCol>
                <a:gridCol w="761857">
                  <a:extLst>
                    <a:ext uri="{9D8B030D-6E8A-4147-A177-3AD203B41FA5}">
                      <a16:colId xmlns:a16="http://schemas.microsoft.com/office/drawing/2014/main" val="3291678998"/>
                    </a:ext>
                  </a:extLst>
                </a:gridCol>
                <a:gridCol w="761857">
                  <a:extLst>
                    <a:ext uri="{9D8B030D-6E8A-4147-A177-3AD203B41FA5}">
                      <a16:colId xmlns:a16="http://schemas.microsoft.com/office/drawing/2014/main" val="973337431"/>
                    </a:ext>
                  </a:extLst>
                </a:gridCol>
              </a:tblGrid>
              <a:tr h="260284">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r>
                        <a:rPr lang="en-US" altLang="zh-TW" sz="1100" b="0" i="0" u="none" strike="noStrike">
                          <a:solidFill>
                            <a:srgbClr val="000000"/>
                          </a:solidFill>
                          <a:effectLst/>
                          <a:latin typeface="游ゴシック" panose="020B0400000000000000" pitchFamily="50" charset="-128"/>
                          <a:ea typeface="游ゴシック" panose="020B0400000000000000" pitchFamily="50" charset="-128"/>
                        </a:rPr>
                        <a:t>【</a:t>
                      </a: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部門別売上高内訳</a:t>
                      </a:r>
                      <a:r>
                        <a:rPr lang="en-US" altLang="zh-TW" sz="11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7692" marR="7692" marT="7692" marB="0" anchor="ctr">
                    <a:lnL>
                      <a:noFill/>
                    </a:lnL>
                    <a:lnR>
                      <a:noFill/>
                    </a:lnR>
                    <a:lnT>
                      <a:noFill/>
                    </a:lnT>
                    <a:lnB>
                      <a:noFill/>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3511269844"/>
                  </a:ext>
                </a:extLst>
              </a:tr>
              <a:tr h="234792">
                <a:tc rowSpan="2"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内容</a:t>
                      </a:r>
                    </a:p>
                  </a:txBody>
                  <a:tcPr marL="7692" marR="7692" marT="7692" marB="0" anchor="ctr">
                    <a:lnL>
                      <a:noFill/>
                    </a:lnL>
                    <a:lnR w="1270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rowSpan="2"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2022</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年</a:t>
                      </a: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7</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月期</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2023</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年</a:t>
                      </a: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7</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月期</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年</a:t>
                      </a: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7</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月期</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年</a:t>
                      </a: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7</a:t>
                      </a: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月期</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extLst>
                  <a:ext uri="{0D108BD9-81ED-4DB2-BD59-A6C34878D82A}">
                    <a16:rowId xmlns:a16="http://schemas.microsoft.com/office/drawing/2014/main" val="1208175219"/>
                  </a:ext>
                </a:extLst>
              </a:tr>
              <a:tr h="234792">
                <a:tc gridSpan="2" vMerge="1">
                  <a:txBody>
                    <a:bodyPr/>
                    <a:lstStyle/>
                    <a:p>
                      <a:endParaRPr kumimoji="1" lang="ja-JP" altLang="en-US"/>
                    </a:p>
                  </a:txBody>
                  <a:tcPr/>
                </a:tc>
                <a:tc hMerge="1" v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7692" marR="7692" marT="76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7692" marR="7692" marT="7692"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3503824124"/>
                  </a:ext>
                </a:extLst>
              </a:tr>
              <a:tr h="234792">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広告制作</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企画制作部門</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180,626</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55.5%</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167,613</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43.5%</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117,014</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33.7%</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97,375</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32.2%</a:t>
                      </a:r>
                    </a:p>
                  </a:txBody>
                  <a:tcPr marL="6350" marR="6350" marT="6350"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2847785"/>
                  </a:ext>
                </a:extLst>
              </a:tr>
              <a:tr h="234792">
                <a:tc v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デジタル制作部門</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51,660</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15.9%</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36,788</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9.6%</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34,112</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9.8%</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25,571</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8.4%</a:t>
                      </a:r>
                    </a:p>
                  </a:txBody>
                  <a:tcPr marL="6350" marR="6350" marT="6350"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1059167"/>
                  </a:ext>
                </a:extLst>
              </a:tr>
              <a:tr h="802211">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SF</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導入＆運用</a:t>
                      </a:r>
                      <a:b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データベース</a:t>
                      </a:r>
                      <a:endPar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マーケティング</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buNone/>
                      </a:pPr>
                      <a:r>
                        <a:rPr lang="en-US" sz="900" b="0" i="0" u="none" strike="noStrike" dirty="0" err="1">
                          <a:solidFill>
                            <a:srgbClr val="000000"/>
                          </a:solidFill>
                          <a:effectLst/>
                          <a:latin typeface="游ゴシック" panose="020B0400000000000000" pitchFamily="50" charset="-128"/>
                          <a:ea typeface="游ゴシック" panose="020B0400000000000000" pitchFamily="50" charset="-128"/>
                        </a:rPr>
                        <a:t>Data＆Digital</a:t>
                      </a:r>
                      <a:r>
                        <a:rPr lang="en-US" sz="900" b="0" i="0" u="none" strike="noStrike" dirty="0">
                          <a:solidFill>
                            <a:srgbClr val="000000"/>
                          </a:solidFill>
                          <a:effectLst/>
                          <a:latin typeface="游ゴシック" panose="020B0400000000000000" pitchFamily="50" charset="-128"/>
                          <a:ea typeface="游ゴシック" panose="020B0400000000000000" pitchFamily="50" charset="-128"/>
                        </a:rPr>
                        <a:t> Growth </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事業</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81,455</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25.0%</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169,973</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44.2%</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182,078</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52.5%</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166,613</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55.0%</a:t>
                      </a:r>
                    </a:p>
                  </a:txBody>
                  <a:tcPr marL="6350" marR="6350" marT="6350"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6198040"/>
                  </a:ext>
                </a:extLst>
              </a:tr>
              <a:tr h="234792">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zh-TW" altLang="en-US" sz="900" b="0" i="0" u="none" strike="noStrike">
                          <a:solidFill>
                            <a:srgbClr val="000000"/>
                          </a:solidFill>
                          <a:effectLst/>
                          <a:latin typeface="游ゴシック" panose="020B0400000000000000" pitchFamily="50" charset="-128"/>
                          <a:ea typeface="游ゴシック" panose="020B0400000000000000" pitchFamily="50" charset="-128"/>
                        </a:rPr>
                        <a:t>不動産賃貸部門</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12,000</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3.7%</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10,555</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2.7%</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13,649</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3.9%</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13,200</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4.4%</a:t>
                      </a:r>
                    </a:p>
                  </a:txBody>
                  <a:tcPr marL="6350" marR="6350" marT="6350"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0108703"/>
                  </a:ext>
                </a:extLst>
              </a:tr>
              <a:tr h="234792">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325,741</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384,930</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346,853</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7692" marR="7692" marT="769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302,759</a:t>
                      </a:r>
                    </a:p>
                  </a:txBody>
                  <a:tcPr marL="7692" marR="7692" marT="769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1769976"/>
                  </a:ext>
                </a:extLst>
              </a:tr>
            </a:tbl>
          </a:graphicData>
        </a:graphic>
      </p:graphicFrame>
      <p:graphicFrame>
        <p:nvGraphicFramePr>
          <p:cNvPr id="7" name="グラフ 6">
            <a:extLst>
              <a:ext uri="{FF2B5EF4-FFF2-40B4-BE49-F238E27FC236}">
                <a16:creationId xmlns:a16="http://schemas.microsoft.com/office/drawing/2014/main" id="{F0851485-A1A5-3166-16DC-D24529337592}"/>
              </a:ext>
            </a:extLst>
          </p:cNvPr>
          <p:cNvGraphicFramePr>
            <a:graphicFrameLocks/>
          </p:cNvGraphicFramePr>
          <p:nvPr>
            <p:extLst>
              <p:ext uri="{D42A27DB-BD31-4B8C-83A1-F6EECF244321}">
                <p14:modId xmlns:p14="http://schemas.microsoft.com/office/powerpoint/2010/main" val="1731982754"/>
              </p:ext>
            </p:extLst>
          </p:nvPr>
        </p:nvGraphicFramePr>
        <p:xfrm>
          <a:off x="2943225" y="4206583"/>
          <a:ext cx="7210331" cy="2632367"/>
        </p:xfrm>
        <a:graphic>
          <a:graphicData uri="http://schemas.openxmlformats.org/drawingml/2006/chart">
            <c:chart xmlns:c="http://schemas.openxmlformats.org/drawingml/2006/chart" xmlns:r="http://schemas.openxmlformats.org/officeDocument/2006/relationships" r:id="rId3"/>
          </a:graphicData>
        </a:graphic>
      </p:graphicFrame>
      <p:sp>
        <p:nvSpPr>
          <p:cNvPr id="12" name="テキスト ボックス 11">
            <a:extLst>
              <a:ext uri="{FF2B5EF4-FFF2-40B4-BE49-F238E27FC236}">
                <a16:creationId xmlns:a16="http://schemas.microsoft.com/office/drawing/2014/main" id="{30D6854E-A698-F387-9F07-E27F15449854}"/>
              </a:ext>
            </a:extLst>
          </p:cNvPr>
          <p:cNvSpPr txBox="1"/>
          <p:nvPr/>
        </p:nvSpPr>
        <p:spPr>
          <a:xfrm>
            <a:off x="231034" y="6859788"/>
            <a:ext cx="4554071" cy="230832"/>
          </a:xfrm>
          <a:prstGeom prst="rect">
            <a:avLst/>
          </a:prstGeom>
          <a:noFill/>
        </p:spPr>
        <p:txBody>
          <a:bodyPr wrap="square" rtlCol="0">
            <a:spAutoFit/>
          </a:bodyPr>
          <a:lstStyle/>
          <a:p>
            <a:r>
              <a:rPr kumimoji="1" lang="en-US" altLang="ja-JP" sz="900" dirty="0">
                <a:solidFill>
                  <a:schemeClr val="accent4">
                    <a:lumMod val="50000"/>
                  </a:schemeClr>
                </a:solidFill>
                <a:latin typeface="游ゴシック" panose="020B0400000000000000" pitchFamily="50" charset="-128"/>
                <a:ea typeface="游ゴシック" panose="020B0400000000000000" pitchFamily="50" charset="-128"/>
              </a:rPr>
              <a:t>※</a:t>
            </a:r>
            <a:r>
              <a:rPr kumimoji="1" lang="ja-JP" altLang="en-US" sz="900" dirty="0">
                <a:solidFill>
                  <a:schemeClr val="accent4">
                    <a:lumMod val="50000"/>
                  </a:schemeClr>
                </a:solidFill>
                <a:latin typeface="游ゴシック" panose="020B0400000000000000" pitchFamily="50" charset="-128"/>
                <a:ea typeface="游ゴシック" panose="020B0400000000000000" pitchFamily="50" charset="-128"/>
              </a:rPr>
              <a:t>営業管理資料からの抜粋のため、決算数値と異なる可能性あり</a:t>
            </a:r>
          </a:p>
        </p:txBody>
      </p:sp>
    </p:spTree>
    <p:extLst>
      <p:ext uri="{BB962C8B-B14F-4D97-AF65-F5344CB8AC3E}">
        <p14:creationId xmlns:p14="http://schemas.microsoft.com/office/powerpoint/2010/main" val="2399289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7C3D-53D9-8138-92B7-7A65B95C402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1648906B-768D-F043-EAA9-3FCA8ABE8911}"/>
              </a:ext>
            </a:extLst>
          </p:cNvPr>
          <p:cNvSpPr>
            <a:spLocks noGrp="1"/>
          </p:cNvSpPr>
          <p:nvPr>
            <p:ph type="ctrTitle"/>
          </p:nvPr>
        </p:nvSpPr>
        <p:spPr>
          <a:xfrm>
            <a:off x="311150" y="180296"/>
            <a:ext cx="7799917" cy="339267"/>
          </a:xfrm>
        </p:spPr>
        <p:txBody>
          <a:bodyPr>
            <a:normAutofit/>
          </a:bodyPr>
          <a:lstStyle/>
          <a:p>
            <a:r>
              <a:rPr lang="ja-JP" altLang="en-US" dirty="0"/>
              <a:t>財務ハイライト（事業利益）</a:t>
            </a:r>
          </a:p>
        </p:txBody>
      </p:sp>
      <p:sp>
        <p:nvSpPr>
          <p:cNvPr id="5" name="タイトル 1">
            <a:extLst>
              <a:ext uri="{FF2B5EF4-FFF2-40B4-BE49-F238E27FC236}">
                <a16:creationId xmlns:a16="http://schemas.microsoft.com/office/drawing/2014/main" id="{526EDB77-6349-1EA2-80E7-91F6F687857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4DAF2E43-6580-4BEB-A7FF-5114B8F2024B}"/>
              </a:ext>
            </a:extLst>
          </p:cNvPr>
          <p:cNvSpPr>
            <a:spLocks noGrp="1"/>
          </p:cNvSpPr>
          <p:nvPr>
            <p:ph type="subTitle" idx="1"/>
          </p:nvPr>
        </p:nvSpPr>
        <p:spPr>
          <a:xfrm>
            <a:off x="460675" y="830046"/>
            <a:ext cx="9781875" cy="241861"/>
          </a:xfrm>
        </p:spPr>
        <p:txBody>
          <a:bodyPr>
            <a:noAutofit/>
          </a:bodyPr>
          <a:lstStyle/>
          <a:p>
            <a:r>
              <a:rPr lang="ja-JP" altLang="en-US" dirty="0">
                <a:latin typeface="+mj-ea"/>
              </a:rPr>
              <a:t>譲渡対象</a:t>
            </a:r>
            <a:r>
              <a:rPr lang="en-US" altLang="ja-JP" dirty="0">
                <a:latin typeface="+mj-ea"/>
              </a:rPr>
              <a:t>2</a:t>
            </a:r>
            <a:r>
              <a:rPr lang="ja-JP" altLang="en-US" dirty="0">
                <a:latin typeface="+mj-ea"/>
              </a:rPr>
              <a:t>事業は</a:t>
            </a:r>
            <a:r>
              <a:rPr lang="en-US" altLang="ja-JP" dirty="0">
                <a:latin typeface="+mj-ea"/>
              </a:rPr>
              <a:t>2025</a:t>
            </a:r>
            <a:r>
              <a:rPr lang="ja-JP" altLang="en-US" dirty="0">
                <a:latin typeface="+mj-ea"/>
              </a:rPr>
              <a:t>年</a:t>
            </a:r>
            <a:r>
              <a:rPr lang="en-US" altLang="ja-JP" dirty="0"/>
              <a:t>7</a:t>
            </a:r>
            <a:r>
              <a:rPr lang="ja-JP" altLang="en-US" dirty="0">
                <a:latin typeface="+mj-ea"/>
              </a:rPr>
              <a:t>月期売上高</a:t>
            </a:r>
            <a:r>
              <a:rPr lang="en-US" altLang="ja-JP" dirty="0">
                <a:latin typeface="+mj-ea"/>
              </a:rPr>
              <a:t>289,559</a:t>
            </a:r>
            <a:r>
              <a:rPr lang="ja-JP" altLang="en-US" dirty="0">
                <a:latin typeface="+mj-ea"/>
              </a:rPr>
              <a:t>千円、修正後営業利益</a:t>
            </a:r>
            <a:r>
              <a:rPr lang="en-US" altLang="ja-JP" dirty="0">
                <a:latin typeface="+mj-ea"/>
              </a:rPr>
              <a:t>34,073</a:t>
            </a:r>
            <a:r>
              <a:rPr lang="ja-JP" altLang="en-US" dirty="0">
                <a:latin typeface="+mj-ea"/>
              </a:rPr>
              <a:t>千円を創出。</a:t>
            </a:r>
            <a:r>
              <a:rPr lang="en-US" altLang="ja-JP" dirty="0">
                <a:latin typeface="+mj-ea"/>
              </a:rPr>
              <a:t>Data &amp; Digital Growth</a:t>
            </a:r>
            <a:r>
              <a:rPr lang="ja-JP" altLang="en-US" dirty="0">
                <a:latin typeface="+mj-ea"/>
              </a:rPr>
              <a:t>事業の高い収益性と、広告制作事業の安定取引基盤を背景に、継続的な利益創出が見込まれる。</a:t>
            </a:r>
            <a:endParaRPr lang="en-US" altLang="ja-JP" dirty="0">
              <a:latin typeface="+mj-ea"/>
            </a:endParaRPr>
          </a:p>
        </p:txBody>
      </p:sp>
      <p:sp>
        <p:nvSpPr>
          <p:cNvPr id="14" name="正方形/長方形 13">
            <a:extLst>
              <a:ext uri="{FF2B5EF4-FFF2-40B4-BE49-F238E27FC236}">
                <a16:creationId xmlns:a16="http://schemas.microsoft.com/office/drawing/2014/main" id="{F6649A91-EFAE-1F85-021D-BAF20298B20F}"/>
              </a:ext>
            </a:extLst>
          </p:cNvPr>
          <p:cNvSpPr/>
          <p:nvPr/>
        </p:nvSpPr>
        <p:spPr>
          <a:xfrm>
            <a:off x="7743824" y="1465133"/>
            <a:ext cx="2733676" cy="24186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100" b="1" spc="70" dirty="0">
                <a:solidFill>
                  <a:schemeClr val="bg1"/>
                </a:solidFill>
                <a:latin typeface="+mj-ea"/>
                <a:ea typeface="+mj-ea"/>
              </a:rPr>
              <a:t>修正額に関して</a:t>
            </a:r>
            <a:endParaRPr lang="en-US" altLang="ja-JP" sz="1100" b="1" spc="70" dirty="0">
              <a:solidFill>
                <a:schemeClr val="bg1"/>
              </a:solidFill>
              <a:latin typeface="+mj-ea"/>
              <a:ea typeface="+mj-ea"/>
            </a:endParaRPr>
          </a:p>
        </p:txBody>
      </p:sp>
      <p:sp>
        <p:nvSpPr>
          <p:cNvPr id="15" name="object 10">
            <a:extLst>
              <a:ext uri="{FF2B5EF4-FFF2-40B4-BE49-F238E27FC236}">
                <a16:creationId xmlns:a16="http://schemas.microsoft.com/office/drawing/2014/main" id="{D74C7CB8-2B24-4F12-A52E-356EFFA68281}"/>
              </a:ext>
            </a:extLst>
          </p:cNvPr>
          <p:cNvSpPr txBox="1"/>
          <p:nvPr/>
        </p:nvSpPr>
        <p:spPr>
          <a:xfrm>
            <a:off x="7743824" y="1837993"/>
            <a:ext cx="2636839" cy="4935324"/>
          </a:xfrm>
          <a:prstGeom prst="rect">
            <a:avLst/>
          </a:prstGeom>
          <a:ln w="3175">
            <a:solidFill>
              <a:srgbClr val="878787"/>
            </a:solidFill>
          </a:ln>
        </p:spPr>
        <p:txBody>
          <a:bodyPr vert="horz" wrap="square" lIns="0" tIns="61594" rIns="0" bIns="0" rtlCol="0">
            <a:spAutoFit/>
          </a:bodyPr>
          <a:lstStyle/>
          <a:p>
            <a:pPr marL="107950">
              <a:lnSpc>
                <a:spcPct val="100000"/>
              </a:lnSpc>
              <a:spcBef>
                <a:spcPts val="484"/>
              </a:spcBef>
            </a:pPr>
            <a:r>
              <a:rPr lang="ja-JP" altLang="en-US" sz="1000" dirty="0">
                <a:latin typeface="游ゴシック" panose="020B0400000000000000" pitchFamily="50" charset="-128"/>
                <a:ea typeface="游ゴシック" panose="020B0400000000000000" pitchFamily="50" charset="-128"/>
                <a:cs typeface="Yu Gothic"/>
              </a:rPr>
              <a:t>①役員報酬</a:t>
            </a:r>
            <a:br>
              <a:rPr lang="en-US" altLang="ja-JP" sz="1000" dirty="0">
                <a:latin typeface="游ゴシック" panose="020B0400000000000000" pitchFamily="50" charset="-128"/>
                <a:ea typeface="游ゴシック" panose="020B0400000000000000" pitchFamily="50" charset="-128"/>
                <a:cs typeface="Yu Gothic"/>
              </a:rPr>
            </a:br>
            <a:r>
              <a:rPr lang="ja-JP" altLang="en-US" sz="1000" dirty="0">
                <a:latin typeface="游ゴシック" panose="020B0400000000000000" pitchFamily="50" charset="-128"/>
                <a:ea typeface="游ゴシック" panose="020B0400000000000000" pitchFamily="50" charset="-128"/>
                <a:cs typeface="Yu Gothic"/>
              </a:rPr>
              <a:t>加藤様分の役員報酬を共通部門から</a:t>
            </a:r>
            <a:r>
              <a:rPr lang="en-US" altLang="ja-JP" sz="1000" dirty="0">
                <a:latin typeface="游ゴシック" panose="020B0400000000000000" pitchFamily="50" charset="-128"/>
                <a:ea typeface="游ゴシック" panose="020B0400000000000000" pitchFamily="50" charset="-128"/>
                <a:cs typeface="Yu Gothic"/>
              </a:rPr>
              <a:t>Data</a:t>
            </a:r>
            <a:r>
              <a:rPr lang="ja-JP" altLang="en-US" sz="1000" dirty="0">
                <a:latin typeface="游ゴシック" panose="020B0400000000000000" pitchFamily="50" charset="-128"/>
                <a:ea typeface="游ゴシック" panose="020B0400000000000000" pitchFamily="50" charset="-128"/>
                <a:cs typeface="Yu Gothic"/>
              </a:rPr>
              <a:t>＆</a:t>
            </a:r>
            <a:r>
              <a:rPr lang="en-US" altLang="ja-JP" sz="1000" dirty="0">
                <a:latin typeface="游ゴシック" panose="020B0400000000000000" pitchFamily="50" charset="-128"/>
                <a:ea typeface="游ゴシック" panose="020B0400000000000000" pitchFamily="50" charset="-128"/>
                <a:cs typeface="Yu Gothic"/>
              </a:rPr>
              <a:t>Digital Growth</a:t>
            </a:r>
            <a:r>
              <a:rPr lang="ja-JP" altLang="en-US" sz="1000" dirty="0">
                <a:latin typeface="游ゴシック" panose="020B0400000000000000" pitchFamily="50" charset="-128"/>
                <a:ea typeface="游ゴシック" panose="020B0400000000000000" pitchFamily="50" charset="-128"/>
                <a:cs typeface="Yu Gothic"/>
              </a:rPr>
              <a:t>事業部門へ振り分け。</a:t>
            </a:r>
            <a:endParaRPr lang="en-US" altLang="ja-JP" sz="600" dirty="0">
              <a:latin typeface="游ゴシック" panose="020B0400000000000000" pitchFamily="50" charset="-128"/>
              <a:ea typeface="游ゴシック" panose="020B0400000000000000" pitchFamily="50" charset="-128"/>
              <a:cs typeface="Yu Gothic"/>
            </a:endParaRPr>
          </a:p>
          <a:p>
            <a:pPr marL="107950">
              <a:lnSpc>
                <a:spcPct val="100000"/>
              </a:lnSpc>
              <a:spcBef>
                <a:spcPts val="484"/>
              </a:spcBef>
            </a:pPr>
            <a:r>
              <a:rPr lang="ja-JP" altLang="en-US" sz="1000" dirty="0">
                <a:latin typeface="游ゴシック" panose="020B0400000000000000" pitchFamily="50" charset="-128"/>
                <a:ea typeface="游ゴシック" panose="020B0400000000000000" pitchFamily="50" charset="-128"/>
                <a:cs typeface="Yu Gothic"/>
              </a:rPr>
              <a:t>②給料手当・法定福利費・福利厚生費・通勤費</a:t>
            </a:r>
            <a:br>
              <a:rPr lang="en-US" altLang="ja-JP" sz="1000" dirty="0">
                <a:latin typeface="游ゴシック" panose="020B0400000000000000" pitchFamily="50" charset="-128"/>
                <a:ea typeface="游ゴシック" panose="020B0400000000000000" pitchFamily="50" charset="-128"/>
                <a:cs typeface="Yu Gothic"/>
              </a:rPr>
            </a:br>
            <a:r>
              <a:rPr lang="ja-JP" altLang="en-US" sz="1000" dirty="0">
                <a:latin typeface="游ゴシック" panose="020B0400000000000000" pitchFamily="50" charset="-128"/>
                <a:ea typeface="游ゴシック" panose="020B0400000000000000" pitchFamily="50" charset="-128"/>
                <a:cs typeface="Yu Gothic"/>
              </a:rPr>
              <a:t>譲渡対象の従業員</a:t>
            </a:r>
            <a:r>
              <a:rPr lang="en-US" altLang="ja-JP" sz="1000" dirty="0">
                <a:latin typeface="游ゴシック" panose="020B0400000000000000" pitchFamily="50" charset="-128"/>
                <a:ea typeface="游ゴシック" panose="020B0400000000000000" pitchFamily="50" charset="-128"/>
                <a:cs typeface="Yu Gothic"/>
              </a:rPr>
              <a:t>2</a:t>
            </a:r>
            <a:r>
              <a:rPr lang="ja-JP" altLang="en-US" sz="1000" dirty="0">
                <a:latin typeface="游ゴシック" panose="020B0400000000000000" pitchFamily="50" charset="-128"/>
                <a:ea typeface="游ゴシック" panose="020B0400000000000000" pitchFamily="50" charset="-128"/>
                <a:cs typeface="Yu Gothic"/>
              </a:rPr>
              <a:t>名分（経営企画部所属）の費用が共通部門に振り分けされていた為、反映。</a:t>
            </a:r>
            <a:endParaRPr lang="en-US" altLang="ja-JP" sz="1000" dirty="0">
              <a:latin typeface="游ゴシック" panose="020B0400000000000000" pitchFamily="50" charset="-128"/>
              <a:ea typeface="游ゴシック" panose="020B0400000000000000" pitchFamily="50" charset="-128"/>
              <a:cs typeface="Yu Gothic"/>
            </a:endParaRPr>
          </a:p>
          <a:p>
            <a:pPr marL="107950">
              <a:spcBef>
                <a:spcPts val="484"/>
              </a:spcBef>
            </a:pPr>
            <a:r>
              <a:rPr lang="ja-JP" altLang="en-US" sz="1000" dirty="0">
                <a:latin typeface="游ゴシック" panose="020B0400000000000000" pitchFamily="50" charset="-128"/>
                <a:ea typeface="游ゴシック" panose="020B0400000000000000" pitchFamily="50" charset="-128"/>
                <a:cs typeface="Yu Gothic"/>
              </a:rPr>
              <a:t>③業務委託費</a:t>
            </a:r>
            <a:br>
              <a:rPr lang="en-US" altLang="ja-JP" sz="1000" dirty="0">
                <a:latin typeface="游ゴシック" panose="020B0400000000000000" pitchFamily="50" charset="-128"/>
                <a:ea typeface="游ゴシック" panose="020B0400000000000000" pitchFamily="50" charset="-128"/>
                <a:cs typeface="Yu Gothic"/>
              </a:rPr>
            </a:b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株</a:t>
            </a:r>
            <a:r>
              <a:rPr lang="en-US" altLang="ja-JP" sz="1000" dirty="0">
                <a:latin typeface="游ゴシック" panose="020B0400000000000000" pitchFamily="50" charset="-128"/>
                <a:ea typeface="游ゴシック" panose="020B0400000000000000" pitchFamily="50" charset="-128"/>
                <a:cs typeface="Yu Gothic"/>
              </a:rPr>
              <a:t>)</a:t>
            </a:r>
            <a:r>
              <a:rPr lang="en-US" altLang="ja-JP" sz="1000" dirty="0" err="1">
                <a:latin typeface="游ゴシック" panose="020B0400000000000000" pitchFamily="50" charset="-128"/>
                <a:ea typeface="游ゴシック" panose="020B0400000000000000" pitchFamily="50" charset="-128"/>
                <a:cs typeface="Yu Gothic"/>
              </a:rPr>
              <a:t>Rimito</a:t>
            </a: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加藤様の資産管理会社</a:t>
            </a: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に対する業務委託料のみを残す形で修正。当該業務委託料は、実態として役員報酬に相当する性質。</a:t>
            </a:r>
            <a:br>
              <a:rPr lang="en-US" altLang="ja-JP" sz="1000" dirty="0">
                <a:latin typeface="游ゴシック" panose="020B0400000000000000" pitchFamily="50" charset="-128"/>
                <a:ea typeface="游ゴシック" panose="020B0400000000000000" pitchFamily="50" charset="-128"/>
                <a:cs typeface="Yu Gothic"/>
              </a:rPr>
            </a:br>
            <a:r>
              <a:rPr lang="ja-JP" altLang="en-US" sz="1000" dirty="0">
                <a:latin typeface="游ゴシック" panose="020B0400000000000000" pitchFamily="50" charset="-128"/>
                <a:ea typeface="游ゴシック" panose="020B0400000000000000" pitchFamily="50" charset="-128"/>
                <a:cs typeface="Yu Gothic"/>
              </a:rPr>
              <a:t>その他の業務委託費については、退職者への業務継続費用と</a:t>
            </a: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株</a:t>
            </a:r>
            <a:r>
              <a:rPr lang="en-US" altLang="ja-JP" sz="1000" dirty="0">
                <a:latin typeface="游ゴシック" panose="020B0400000000000000" pitchFamily="50" charset="-128"/>
                <a:ea typeface="游ゴシック" panose="020B0400000000000000" pitchFamily="50" charset="-128"/>
                <a:cs typeface="Yu Gothic"/>
              </a:rPr>
              <a:t>)</a:t>
            </a:r>
            <a:r>
              <a:rPr lang="en-US" altLang="ja-JP" sz="1000" dirty="0" err="1">
                <a:latin typeface="游ゴシック" panose="020B0400000000000000" pitchFamily="50" charset="-128"/>
                <a:ea typeface="游ゴシック" panose="020B0400000000000000" pitchFamily="50" charset="-128"/>
                <a:cs typeface="Yu Gothic"/>
              </a:rPr>
              <a:t>Kuberu</a:t>
            </a:r>
            <a:r>
              <a:rPr lang="ja-JP" altLang="en-US" sz="1000" dirty="0">
                <a:latin typeface="游ゴシック" panose="020B0400000000000000" pitchFamily="50" charset="-128"/>
                <a:ea typeface="游ゴシック" panose="020B0400000000000000" pitchFamily="50" charset="-128"/>
                <a:cs typeface="Yu Gothic"/>
              </a:rPr>
              <a:t>社</a:t>
            </a: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原田様の資産管理会社</a:t>
            </a: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であり、今後の計上予定はない。</a:t>
            </a:r>
            <a:br>
              <a:rPr lang="en-US" altLang="ja-JP" sz="1000" dirty="0">
                <a:latin typeface="游ゴシック" panose="020B0400000000000000" pitchFamily="50" charset="-128"/>
                <a:ea typeface="游ゴシック" panose="020B0400000000000000" pitchFamily="50" charset="-128"/>
                <a:cs typeface="Yu Gothic"/>
              </a:rPr>
            </a:b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純粋な外部業者への委託費用については、外注費として別途計上されている。</a:t>
            </a:r>
            <a:endParaRPr lang="en-US" altLang="ja-JP" sz="1000" dirty="0">
              <a:latin typeface="游ゴシック" panose="020B0400000000000000" pitchFamily="50" charset="-128"/>
              <a:ea typeface="游ゴシック" panose="020B0400000000000000" pitchFamily="50" charset="-128"/>
              <a:cs typeface="Yu Gothic"/>
            </a:endParaRPr>
          </a:p>
          <a:p>
            <a:pPr marL="107950">
              <a:lnSpc>
                <a:spcPct val="100000"/>
              </a:lnSpc>
              <a:spcBef>
                <a:spcPts val="484"/>
              </a:spcBef>
            </a:pPr>
            <a:r>
              <a:rPr lang="ja-JP" altLang="en-US" sz="1000" dirty="0">
                <a:latin typeface="游ゴシック" panose="020B0400000000000000" pitchFamily="50" charset="-128"/>
                <a:ea typeface="游ゴシック" panose="020B0400000000000000" pitchFamily="50" charset="-128"/>
                <a:cs typeface="Yu Gothic"/>
              </a:rPr>
              <a:t>④システム利用料・地代家賃・共益費</a:t>
            </a:r>
            <a:br>
              <a:rPr lang="en-US" altLang="ja-JP" sz="1000" dirty="0">
                <a:latin typeface="游ゴシック" panose="020B0400000000000000" pitchFamily="50" charset="-128"/>
                <a:ea typeface="游ゴシック" panose="020B0400000000000000" pitchFamily="50" charset="-128"/>
                <a:cs typeface="Yu Gothic"/>
              </a:rPr>
            </a:br>
            <a:r>
              <a:rPr lang="ja-JP" altLang="en-US" sz="1000" dirty="0">
                <a:latin typeface="游ゴシック" panose="020B0400000000000000" pitchFamily="50" charset="-128"/>
                <a:ea typeface="游ゴシック" panose="020B0400000000000000" pitchFamily="50" charset="-128"/>
                <a:cs typeface="Yu Gothic"/>
              </a:rPr>
              <a:t>共通部門経費を、売上割合に応じて、各部門へ振り分け。</a:t>
            </a:r>
            <a:br>
              <a:rPr lang="en-US" altLang="ja-JP" sz="1000" dirty="0">
                <a:latin typeface="游ゴシック" panose="020B0400000000000000" pitchFamily="50" charset="-128"/>
                <a:ea typeface="游ゴシック" panose="020B0400000000000000" pitchFamily="50" charset="-128"/>
                <a:cs typeface="Yu Gothic"/>
              </a:rPr>
            </a:br>
            <a:r>
              <a:rPr lang="en-US" altLang="ja-JP" sz="1000" dirty="0">
                <a:latin typeface="游ゴシック" panose="020B0400000000000000" pitchFamily="50" charset="-128"/>
                <a:ea typeface="游ゴシック" panose="020B0400000000000000" pitchFamily="50" charset="-128"/>
                <a:cs typeface="Yu Gothic"/>
              </a:rPr>
              <a:t>※</a:t>
            </a:r>
            <a:r>
              <a:rPr lang="ja-JP" altLang="en-US" sz="1000" dirty="0">
                <a:latin typeface="游ゴシック" panose="020B0400000000000000" pitchFamily="50" charset="-128"/>
                <a:ea typeface="游ゴシック" panose="020B0400000000000000" pitchFamily="50" charset="-128"/>
                <a:cs typeface="Yu Gothic"/>
              </a:rPr>
              <a:t>システム利用料：</a:t>
            </a:r>
            <a:r>
              <a:rPr lang="en-US" altLang="ja-JP" sz="1000" dirty="0">
                <a:latin typeface="游ゴシック" panose="020B0400000000000000" pitchFamily="50" charset="-128"/>
                <a:ea typeface="游ゴシック" panose="020B0400000000000000" pitchFamily="50" charset="-128"/>
                <a:cs typeface="Yu Gothic"/>
              </a:rPr>
              <a:t>25</a:t>
            </a:r>
            <a:r>
              <a:rPr lang="ja-JP" altLang="en-US" sz="1000" dirty="0">
                <a:latin typeface="游ゴシック" panose="020B0400000000000000" pitchFamily="50" charset="-128"/>
                <a:ea typeface="游ゴシック" panose="020B0400000000000000" pitchFamily="50" charset="-128"/>
                <a:cs typeface="Yu Gothic"/>
              </a:rPr>
              <a:t>年</a:t>
            </a:r>
            <a:r>
              <a:rPr lang="en-US" altLang="ja-JP" sz="1000" dirty="0">
                <a:latin typeface="游ゴシック" panose="020B0400000000000000" pitchFamily="50" charset="-128"/>
                <a:ea typeface="游ゴシック" panose="020B0400000000000000" pitchFamily="50" charset="-128"/>
                <a:cs typeface="Yu Gothic"/>
              </a:rPr>
              <a:t>7</a:t>
            </a:r>
            <a:r>
              <a:rPr lang="ja-JP" altLang="en-US" sz="1000" dirty="0">
                <a:latin typeface="游ゴシック" panose="020B0400000000000000" pitchFamily="50" charset="-128"/>
                <a:ea typeface="游ゴシック" panose="020B0400000000000000" pitchFamily="50" charset="-128"/>
                <a:cs typeface="Yu Gothic"/>
              </a:rPr>
              <a:t>月期は</a:t>
            </a:r>
            <a:r>
              <a:rPr lang="en-US" altLang="ja-JP" sz="1000" dirty="0">
                <a:latin typeface="游ゴシック" panose="020B0400000000000000" pitchFamily="50" charset="-128"/>
                <a:ea typeface="游ゴシック" panose="020B0400000000000000" pitchFamily="50" charset="-128"/>
                <a:cs typeface="Yu Gothic"/>
              </a:rPr>
              <a:t>Salesforce</a:t>
            </a:r>
            <a:r>
              <a:rPr lang="ja-JP" altLang="en-US" sz="1000" dirty="0">
                <a:latin typeface="游ゴシック" panose="020B0400000000000000" pitchFamily="50" charset="-128"/>
                <a:ea typeface="游ゴシック" panose="020B0400000000000000" pitchFamily="50" charset="-128"/>
                <a:cs typeface="Yu Gothic"/>
              </a:rPr>
              <a:t>ライセンスの購入費用が嵩まったが、</a:t>
            </a:r>
            <a:r>
              <a:rPr lang="en-US" altLang="ja-JP" sz="1000" dirty="0">
                <a:latin typeface="游ゴシック" panose="020B0400000000000000" pitchFamily="50" charset="-128"/>
                <a:ea typeface="游ゴシック" panose="020B0400000000000000" pitchFamily="50" charset="-128"/>
                <a:cs typeface="Yu Gothic"/>
              </a:rPr>
              <a:t>3,420,500</a:t>
            </a:r>
            <a:r>
              <a:rPr lang="ja-JP" altLang="en-US" sz="1000" dirty="0">
                <a:latin typeface="游ゴシック" panose="020B0400000000000000" pitchFamily="50" charset="-128"/>
                <a:ea typeface="游ゴシック" panose="020B0400000000000000" pitchFamily="50" charset="-128"/>
                <a:cs typeface="Yu Gothic"/>
              </a:rPr>
              <a:t>円程度の運用水準に収束する見込みであることから、通常運用ベースとの差額について修正。</a:t>
            </a:r>
            <a:endParaRPr lang="en-US" altLang="ja-JP" sz="1000" dirty="0">
              <a:latin typeface="游ゴシック" panose="020B0400000000000000" pitchFamily="50" charset="-128"/>
              <a:ea typeface="游ゴシック" panose="020B0400000000000000" pitchFamily="50" charset="-128"/>
              <a:cs typeface="Yu Gothic"/>
            </a:endParaRPr>
          </a:p>
          <a:p>
            <a:pPr marL="107950">
              <a:spcBef>
                <a:spcPts val="484"/>
              </a:spcBef>
            </a:pPr>
            <a:r>
              <a:rPr lang="ja-JP" altLang="en-US" sz="1000" dirty="0">
                <a:latin typeface="游ゴシック" panose="020B0400000000000000" pitchFamily="50" charset="-128"/>
                <a:ea typeface="游ゴシック" panose="020B0400000000000000" pitchFamily="50" charset="-128"/>
                <a:cs typeface="Yu Gothic"/>
              </a:rPr>
              <a:t>⑤リース料</a:t>
            </a:r>
            <a:br>
              <a:rPr lang="en-US" altLang="ja-JP" sz="1000" dirty="0">
                <a:latin typeface="游ゴシック" panose="020B0400000000000000" pitchFamily="50" charset="-128"/>
                <a:ea typeface="游ゴシック" panose="020B0400000000000000" pitchFamily="50" charset="-128"/>
                <a:cs typeface="Yu Gothic"/>
              </a:rPr>
            </a:br>
            <a:r>
              <a:rPr lang="ja-JP" altLang="en-US" sz="1000" dirty="0">
                <a:latin typeface="游ゴシック" panose="020B0400000000000000" pitchFamily="50" charset="-128"/>
                <a:ea typeface="游ゴシック" panose="020B0400000000000000" pitchFamily="50" charset="-128"/>
                <a:cs typeface="Yu Gothic"/>
              </a:rPr>
              <a:t>広告制作部門で使用している</a:t>
            </a:r>
            <a:r>
              <a:rPr lang="en-US" altLang="ja-JP" sz="1000" dirty="0">
                <a:latin typeface="游ゴシック" panose="020B0400000000000000" pitchFamily="50" charset="-128"/>
                <a:ea typeface="游ゴシック" panose="020B0400000000000000" pitchFamily="50" charset="-128"/>
                <a:cs typeface="Yu Gothic"/>
              </a:rPr>
              <a:t>Mac</a:t>
            </a:r>
            <a:r>
              <a:rPr lang="ja-JP" altLang="en-US" sz="1000" dirty="0">
                <a:latin typeface="游ゴシック" panose="020B0400000000000000" pitchFamily="50" charset="-128"/>
                <a:ea typeface="游ゴシック" panose="020B0400000000000000" pitchFamily="50" charset="-128"/>
                <a:cs typeface="Yu Gothic"/>
              </a:rPr>
              <a:t>環境の為、全額を共通費から広告制作部門へ振り分け。</a:t>
            </a:r>
          </a:p>
        </p:txBody>
      </p:sp>
      <p:graphicFrame>
        <p:nvGraphicFramePr>
          <p:cNvPr id="8" name="表 7">
            <a:extLst>
              <a:ext uri="{FF2B5EF4-FFF2-40B4-BE49-F238E27FC236}">
                <a16:creationId xmlns:a16="http://schemas.microsoft.com/office/drawing/2014/main" id="{46857F59-5A72-9D75-FFD2-5C92FA94CDA2}"/>
              </a:ext>
            </a:extLst>
          </p:cNvPr>
          <p:cNvGraphicFramePr>
            <a:graphicFrameLocks noGrp="1"/>
          </p:cNvGraphicFramePr>
          <p:nvPr>
            <p:extLst>
              <p:ext uri="{D42A27DB-BD31-4B8C-83A1-F6EECF244321}">
                <p14:modId xmlns:p14="http://schemas.microsoft.com/office/powerpoint/2010/main" val="347307709"/>
              </p:ext>
            </p:extLst>
          </p:nvPr>
        </p:nvGraphicFramePr>
        <p:xfrm>
          <a:off x="311149" y="1465133"/>
          <a:ext cx="6944416" cy="5308171"/>
        </p:xfrm>
        <a:graphic>
          <a:graphicData uri="http://schemas.openxmlformats.org/drawingml/2006/table">
            <a:tbl>
              <a:tblPr/>
              <a:tblGrid>
                <a:gridCol w="1283520">
                  <a:extLst>
                    <a:ext uri="{9D8B030D-6E8A-4147-A177-3AD203B41FA5}">
                      <a16:colId xmlns:a16="http://schemas.microsoft.com/office/drawing/2014/main" val="2426292616"/>
                    </a:ext>
                  </a:extLst>
                </a:gridCol>
                <a:gridCol w="603446">
                  <a:extLst>
                    <a:ext uri="{9D8B030D-6E8A-4147-A177-3AD203B41FA5}">
                      <a16:colId xmlns:a16="http://schemas.microsoft.com/office/drawing/2014/main" val="2966658576"/>
                    </a:ext>
                  </a:extLst>
                </a:gridCol>
                <a:gridCol w="603446">
                  <a:extLst>
                    <a:ext uri="{9D8B030D-6E8A-4147-A177-3AD203B41FA5}">
                      <a16:colId xmlns:a16="http://schemas.microsoft.com/office/drawing/2014/main" val="51909514"/>
                    </a:ext>
                  </a:extLst>
                </a:gridCol>
                <a:gridCol w="603446">
                  <a:extLst>
                    <a:ext uri="{9D8B030D-6E8A-4147-A177-3AD203B41FA5}">
                      <a16:colId xmlns:a16="http://schemas.microsoft.com/office/drawing/2014/main" val="244133426"/>
                    </a:ext>
                  </a:extLst>
                </a:gridCol>
                <a:gridCol w="603446">
                  <a:extLst>
                    <a:ext uri="{9D8B030D-6E8A-4147-A177-3AD203B41FA5}">
                      <a16:colId xmlns:a16="http://schemas.microsoft.com/office/drawing/2014/main" val="3550672514"/>
                    </a:ext>
                  </a:extLst>
                </a:gridCol>
                <a:gridCol w="603446">
                  <a:extLst>
                    <a:ext uri="{9D8B030D-6E8A-4147-A177-3AD203B41FA5}">
                      <a16:colId xmlns:a16="http://schemas.microsoft.com/office/drawing/2014/main" val="444392585"/>
                    </a:ext>
                  </a:extLst>
                </a:gridCol>
                <a:gridCol w="603446">
                  <a:extLst>
                    <a:ext uri="{9D8B030D-6E8A-4147-A177-3AD203B41FA5}">
                      <a16:colId xmlns:a16="http://schemas.microsoft.com/office/drawing/2014/main" val="1527485725"/>
                    </a:ext>
                  </a:extLst>
                </a:gridCol>
                <a:gridCol w="718387">
                  <a:extLst>
                    <a:ext uri="{9D8B030D-6E8A-4147-A177-3AD203B41FA5}">
                      <a16:colId xmlns:a16="http://schemas.microsoft.com/office/drawing/2014/main" val="744014595"/>
                    </a:ext>
                  </a:extLst>
                </a:gridCol>
                <a:gridCol w="603446">
                  <a:extLst>
                    <a:ext uri="{9D8B030D-6E8A-4147-A177-3AD203B41FA5}">
                      <a16:colId xmlns:a16="http://schemas.microsoft.com/office/drawing/2014/main" val="2849972103"/>
                    </a:ext>
                  </a:extLst>
                </a:gridCol>
                <a:gridCol w="718387">
                  <a:extLst>
                    <a:ext uri="{9D8B030D-6E8A-4147-A177-3AD203B41FA5}">
                      <a16:colId xmlns:a16="http://schemas.microsoft.com/office/drawing/2014/main" val="1755638192"/>
                    </a:ext>
                  </a:extLst>
                </a:gridCol>
              </a:tblGrid>
              <a:tr h="235547">
                <a:tc rowSpan="2">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2025年7月期</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gridSpan="3">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譲渡対象事業PL</a:t>
                      </a:r>
                      <a:br>
                        <a:rPr lang="ja-JP" sz="700" b="1" i="0" u="none" strike="noStrike">
                          <a:solidFill>
                            <a:srgbClr val="000000"/>
                          </a:solidFill>
                          <a:effectLst/>
                          <a:latin typeface="游ゴシック" panose="020B0400000000000000" pitchFamily="50" charset="-128"/>
                          <a:ea typeface="游ゴシック" panose="020B0400000000000000" pitchFamily="50" charset="-128"/>
                        </a:rPr>
                      </a:br>
                      <a:r>
                        <a:rPr lang="ja-JP" sz="700" b="1" i="0" u="none" strike="noStrike">
                          <a:solidFill>
                            <a:srgbClr val="000000"/>
                          </a:solidFill>
                          <a:effectLst/>
                          <a:latin typeface="游ゴシック" panose="020B0400000000000000" pitchFamily="50" charset="-128"/>
                          <a:ea typeface="游ゴシック" panose="020B0400000000000000" pitchFamily="50" charset="-128"/>
                        </a:rPr>
                        <a:t>（広告制作）</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譲渡対象事業PL</a:t>
                      </a:r>
                      <a:br>
                        <a:rPr lang="ja-JP" sz="700" b="1" i="0" u="none" strike="noStrike">
                          <a:solidFill>
                            <a:srgbClr val="000000"/>
                          </a:solidFill>
                          <a:effectLst/>
                          <a:latin typeface="游ゴシック" panose="020B0400000000000000" pitchFamily="50" charset="-128"/>
                          <a:ea typeface="游ゴシック" panose="020B0400000000000000" pitchFamily="50" charset="-128"/>
                        </a:rPr>
                      </a:br>
                      <a:r>
                        <a:rPr lang="ja-JP" sz="700" b="1" i="0" u="none" strike="noStrike">
                          <a:solidFill>
                            <a:srgbClr val="000000"/>
                          </a:solidFill>
                          <a:effectLst/>
                          <a:latin typeface="游ゴシック" panose="020B0400000000000000" pitchFamily="50" charset="-128"/>
                          <a:ea typeface="游ゴシック" panose="020B0400000000000000" pitchFamily="50" charset="-128"/>
                        </a:rPr>
                        <a:t>（Data＆DigitalGrowth）</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buNone/>
                      </a:pP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譲渡対象事業PL</a:t>
                      </a:r>
                      <a:br>
                        <a:rPr lang="ja-JP" sz="700" b="1" i="0" u="none" strike="noStrike" dirty="0">
                          <a:solidFill>
                            <a:srgbClr val="000000"/>
                          </a:solidFill>
                          <a:effectLst/>
                          <a:latin typeface="游ゴシック" panose="020B0400000000000000" pitchFamily="50" charset="-128"/>
                          <a:ea typeface="游ゴシック" panose="020B0400000000000000" pitchFamily="50" charset="-128"/>
                        </a:rPr>
                      </a:b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（広告制作＋Data＆DigitalGrowth）</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DEBF7"/>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20670334"/>
                  </a:ext>
                </a:extLst>
              </a:tr>
              <a:tr h="116860">
                <a:tc vMerge="1">
                  <a:txBody>
                    <a:bodyPr/>
                    <a:lstStyle/>
                    <a:p>
                      <a:endParaRPr kumimoji="1" lang="ja-JP" altLang="en-US"/>
                    </a:p>
                  </a:txBody>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実績</a:t>
                      </a:r>
                    </a:p>
                  </a:txBody>
                  <a:tcPr marL="3499" marR="3499" marT="3499" marB="0" anchor="ctr">
                    <a:lnL w="12700" cap="flat" cmpd="sng" algn="ctr">
                      <a:solidFill>
                        <a:srgbClr val="000000"/>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FF2CC"/>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3499" marR="3499" marT="3499" marB="0"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FF2CC"/>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修正後</a:t>
                      </a:r>
                    </a:p>
                  </a:txBody>
                  <a:tcPr marL="3499" marR="3499" marT="3499" marB="0" anchor="ctr">
                    <a:lnL w="6350" cap="flat" cmpd="sng" algn="ctr">
                      <a:solidFill>
                        <a:srgbClr val="A5A5A5"/>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FF2CC"/>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実績</a:t>
                      </a:r>
                    </a:p>
                  </a:txBody>
                  <a:tcPr marL="3499" marR="3499" marT="3499" marB="0" anchor="ctr">
                    <a:lnL w="12700" cap="flat" cmpd="sng" algn="ctr">
                      <a:solidFill>
                        <a:srgbClr val="000000"/>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FF2CC"/>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3499" marR="3499" marT="3499" marB="0"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FF2CC"/>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修正後</a:t>
                      </a:r>
                    </a:p>
                  </a:txBody>
                  <a:tcPr marL="3499" marR="3499" marT="3499" marB="0" anchor="ctr">
                    <a:lnL w="6350" cap="flat" cmpd="sng" algn="ctr">
                      <a:solidFill>
                        <a:srgbClr val="A5A5A5"/>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FF2CC"/>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実績</a:t>
                      </a:r>
                    </a:p>
                  </a:txBody>
                  <a:tcPr marL="3499" marR="3499" marT="3499" marB="0" anchor="ctr">
                    <a:lnL w="12700" cap="flat" cmpd="sng" algn="ctr">
                      <a:solidFill>
                        <a:srgbClr val="000000"/>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DDEBF7"/>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3499" marR="3499" marT="3499" marB="0"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DDEBF7"/>
                    </a:solidFill>
                  </a:tcPr>
                </a:tc>
                <a:tc>
                  <a:txBody>
                    <a:bodyPr/>
                    <a:lstStyle/>
                    <a:p>
                      <a:pPr algn="ct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修正後</a:t>
                      </a:r>
                    </a:p>
                  </a:txBody>
                  <a:tcPr marL="3499" marR="3499" marT="3499" marB="0" anchor="ctr">
                    <a:lnL w="6350" cap="flat" cmpd="sng" algn="ctr">
                      <a:solidFill>
                        <a:srgbClr val="A5A5A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DDEBF7"/>
                    </a:solidFill>
                  </a:tcPr>
                </a:tc>
                <a:extLst>
                  <a:ext uri="{0D108BD9-81ED-4DB2-BD59-A6C34878D82A}">
                    <a16:rowId xmlns:a16="http://schemas.microsoft.com/office/drawing/2014/main" val="4283287482"/>
                  </a:ext>
                </a:extLst>
              </a:tr>
              <a:tr h="194504">
                <a:tc>
                  <a:txBody>
                    <a:bodyPr/>
                    <a:lstStyle/>
                    <a:p>
                      <a:pPr algn="l"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122,946,118</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122,946,118</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166,612,962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166,612,962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289,559,080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289,559,080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extLst>
                  <a:ext uri="{0D108BD9-81ED-4DB2-BD59-A6C34878D82A}">
                    <a16:rowId xmlns:a16="http://schemas.microsoft.com/office/drawing/2014/main" val="3794698258"/>
                  </a:ext>
                </a:extLst>
              </a:tr>
              <a:tr h="116860">
                <a:tc>
                  <a:txBody>
                    <a:bodyPr/>
                    <a:lstStyle/>
                    <a:p>
                      <a:pPr algn="l"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extLst>
                  <a:ext uri="{0D108BD9-81ED-4DB2-BD59-A6C34878D82A}">
                    <a16:rowId xmlns:a16="http://schemas.microsoft.com/office/drawing/2014/main" val="515857843"/>
                  </a:ext>
                </a:extLst>
              </a:tr>
              <a:tr h="194504">
                <a:tc>
                  <a:txBody>
                    <a:bodyPr/>
                    <a:lstStyle/>
                    <a:p>
                      <a:pPr algn="l"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122,946,118</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122,946,118</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166,612,962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166,612,962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289,559,080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289,559,080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extLst>
                  <a:ext uri="{0D108BD9-81ED-4DB2-BD59-A6C34878D82A}">
                    <a16:rowId xmlns:a16="http://schemas.microsoft.com/office/drawing/2014/main" val="1198845253"/>
                  </a:ext>
                </a:extLst>
              </a:tr>
              <a:tr h="194504">
                <a:tc>
                  <a:txBody>
                    <a:bodyPr/>
                    <a:lstStyle/>
                    <a:p>
                      <a:pPr algn="l"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3499"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105,906,992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-9,215,881</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96,691,111</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141,198,443</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17,596,400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158,794,843</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247,105,435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8,380,519</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255,485,954</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ACACAC"/>
                      </a:solidFill>
                      <a:prstDash val="solid"/>
                      <a:round/>
                      <a:headEnd type="none" w="med" len="med"/>
                      <a:tailEnd type="none" w="med" len="med"/>
                    </a:lnB>
                    <a:solidFill>
                      <a:srgbClr val="FFFFFF"/>
                    </a:solidFill>
                  </a:tcPr>
                </a:tc>
                <a:extLst>
                  <a:ext uri="{0D108BD9-81ED-4DB2-BD59-A6C34878D82A}">
                    <a16:rowId xmlns:a16="http://schemas.microsoft.com/office/drawing/2014/main" val="1495671357"/>
                  </a:ext>
                </a:extLst>
              </a:tr>
              <a:tr h="116860">
                <a:tc>
                  <a:txBody>
                    <a:bodyPr/>
                    <a:lstStyle/>
                    <a:p>
                      <a:pPr algn="l" fontAlgn="ctr">
                        <a:buNone/>
                      </a:pP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人件費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48,813,079</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48,813,079</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44,677,727</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31,849,878</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76,527,605</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93,490,806</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31,849,878</a:t>
                      </a:r>
                    </a:p>
                  </a:txBody>
                  <a:tcPr marL="3499" marR="3499" marT="3499" marB="0" anchor="ctr">
                    <a:lnL>
                      <a:noFill/>
                    </a:lnL>
                    <a:lnR>
                      <a:noFill/>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125,340,684</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ACACAC"/>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149346280"/>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ー役員報酬</a:t>
                      </a:r>
                    </a:p>
                  </a:txBody>
                  <a:tcPr marL="10498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12,000,000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12,000,000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12,000,000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12,000,000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9889210"/>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ー給料手当</a:t>
                      </a:r>
                    </a:p>
                  </a:txBody>
                  <a:tcPr marL="10498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41,333,203</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41,333,203</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38,654,333</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16,920,000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55,574,333</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79,987,536</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16,920,000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96,907,536</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279734471"/>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ー賞与</a:t>
                      </a:r>
                    </a:p>
                  </a:txBody>
                  <a:tcPr marL="10498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817360451"/>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ー法定福利費</a:t>
                      </a:r>
                    </a:p>
                  </a:txBody>
                  <a:tcPr marL="10498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6,747,876</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6,747,876</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5,754,394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2,785,878</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8,540,272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12,502,270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2,785,878</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15,288,148</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851387168"/>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ー退職共済金</a:t>
                      </a:r>
                    </a:p>
                  </a:txBody>
                  <a:tcPr marL="10498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732,000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732,000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269,000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144,000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413,000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1,001,000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144,000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1,145,000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931037164"/>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福利厚生費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127,981</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127,981</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44,204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59,178</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103,382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172,185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59,178</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231,363</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981358696"/>
                  </a:ext>
                </a:extLst>
              </a:tr>
              <a:tr h="124164">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通勤費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1,091,202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1,091,202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800,850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137,405</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938,255</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1,892,052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137,405</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2,029,457</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237915159"/>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採用教育費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5,277,000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5,277,000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5,277,000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5,277,000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349244497"/>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外注費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26,827,995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26,827,995</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54,233,662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54,233,662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81,061,657</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81,061,657</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96441179"/>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朝日請求</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257,295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257,295</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257,295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257,295</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367490964"/>
                  </a:ext>
                </a:extLst>
              </a:tr>
              <a:tr h="124164">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広告宣伝費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391769241"/>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業務委託費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26,751,072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-18,351,072</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8,400,000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28,488,567</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-17,361,291</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11,127,276</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55,239,639</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-35,712,363</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19,527,276</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4107382618"/>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交際費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44,610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44,610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43,319</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43,319</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87,929</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87,929</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422838911"/>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133842489"/>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旅費交通費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480,989</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480,989</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574,306</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574,306</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1,055,295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1,055,295</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525452913"/>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6,111</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6,111</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6,111</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6,111</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933083137"/>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水道光熱費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893195822"/>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荷造運賃</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379837301"/>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411950936"/>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新聞図書費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3,084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3,084</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3,084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3,084</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902581235"/>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諸会費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4054065587"/>
                  </a:ext>
                </a:extLst>
              </a:tr>
              <a:tr h="19450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支払手数料/システム利用料</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1,397,746</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2,623,519</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4,021,265</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6,538,700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-2,441,075</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4,097,625</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7,936,446</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182,444</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8,118,890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627149427"/>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地代家賃</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3,406,377</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3,406,377</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4,616,223</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4,616,223</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8,022,600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8,022,600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710956469"/>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共益費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543,166</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543,166</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736,082</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736,082</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1,279,248</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1,279,248</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4242592538"/>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賃借料</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105,400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105,400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105,400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105,400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4222415029"/>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保険料</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227337844"/>
                  </a:ext>
                </a:extLst>
              </a:tr>
              <a:tr h="116860">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2818497009"/>
                  </a:ext>
                </a:extLst>
              </a:tr>
              <a:tr h="116860">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支払報酬料</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894488609"/>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410,000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410,000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410,000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410,000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800273346"/>
                  </a:ext>
                </a:extLst>
              </a:tr>
              <a:tr h="124164">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研修費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86,964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86,964</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86,964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86,964</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400373465"/>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研究開発費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792368519"/>
                  </a:ext>
                </a:extLst>
              </a:tr>
              <a:tr h="124164">
                <a:tc>
                  <a:txBody>
                    <a:bodyPr/>
                    <a:lstStyle/>
                    <a:p>
                      <a:pPr algn="l"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2,562,129</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2,562,129</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2,562,129</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2,562,129</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3866307367"/>
                  </a:ext>
                </a:extLst>
              </a:tr>
              <a:tr h="124164">
                <a:tc>
                  <a:txBody>
                    <a:bodyPr/>
                    <a:lstStyle/>
                    <a:p>
                      <a:pPr algn="l"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雑費</a:t>
                      </a:r>
                    </a:p>
                  </a:txBody>
                  <a:tcPr marL="52490" marR="3499" marT="34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428</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428</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23,144</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23,144</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23,572</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3499" marR="3499" marT="3499" marB="0" anchor="ctr">
                    <a:lnL>
                      <a:noFill/>
                    </a:lnL>
                    <a:lnR>
                      <a:noFill/>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0" i="0" u="none" strike="noStrike" dirty="0">
                          <a:solidFill>
                            <a:srgbClr val="000000"/>
                          </a:solidFill>
                          <a:effectLst/>
                          <a:latin typeface="游ゴシック" panose="020B0400000000000000" pitchFamily="50" charset="-128"/>
                          <a:ea typeface="游ゴシック" panose="020B0400000000000000" pitchFamily="50" charset="-128"/>
                        </a:rPr>
                        <a:t>23,572</a:t>
                      </a:r>
                    </a:p>
                  </a:txBody>
                  <a:tcPr marL="3499" marR="3499" marT="3499" marB="0" anchor="ctr">
                    <a:lnL>
                      <a:noFill/>
                    </a:lnL>
                    <a:lnR w="12700" cap="flat" cmpd="sng" algn="ctr">
                      <a:solidFill>
                        <a:schemeClr val="tx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extLst>
                  <a:ext uri="{0D108BD9-81ED-4DB2-BD59-A6C34878D82A}">
                    <a16:rowId xmlns:a16="http://schemas.microsoft.com/office/drawing/2014/main" val="2283800678"/>
                  </a:ext>
                </a:extLst>
              </a:tr>
              <a:tr h="116860">
                <a:tc>
                  <a:txBody>
                    <a:bodyPr/>
                    <a:lstStyle/>
                    <a:p>
                      <a:pPr algn="l" fontAlgn="ctr">
                        <a:buNone/>
                      </a:pP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営業利益</a:t>
                      </a:r>
                    </a:p>
                  </a:txBody>
                  <a:tcPr marL="3499" marR="3499" marT="3499" marB="0" anchor="ctr">
                    <a:lnL w="12700" cap="flat" cmpd="sng" algn="ctr">
                      <a:solidFill>
                        <a:srgbClr val="C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17,039,126</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9,215,881</a:t>
                      </a:r>
                    </a:p>
                  </a:txBody>
                  <a:tcPr marL="3499" marR="3499" marT="3499" marB="0" anchor="ctr">
                    <a:lnL>
                      <a:noFill/>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26,255,007</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25,414,519</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-17,596,400</a:t>
                      </a:r>
                    </a:p>
                  </a:txBody>
                  <a:tcPr marL="3499" marR="3499" marT="3499" marB="0" anchor="ctr">
                    <a:lnL>
                      <a:noFill/>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7,818,119</a:t>
                      </a:r>
                    </a:p>
                  </a:txBody>
                  <a:tcPr marL="3499" marR="3499" marT="3499" marB="0" anchor="ctr">
                    <a:lnL>
                      <a:noFill/>
                    </a:lnL>
                    <a:lnR w="12700" cap="flat" cmpd="sng" algn="ctr">
                      <a:solidFill>
                        <a:srgbClr val="0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42,453,645</a:t>
                      </a:r>
                    </a:p>
                  </a:txBody>
                  <a:tcPr marL="3499" marR="3499" marT="3499" marB="0" anchor="ctr">
                    <a:lnL w="12700" cap="flat" cmpd="sng" algn="ctr">
                      <a:solidFill>
                        <a:srgbClr val="000000"/>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tc>
                  <a:txBody>
                    <a:bodyPr/>
                    <a:lstStyle/>
                    <a:p>
                      <a:pPr algn="r" fontAlgn="ctr">
                        <a:buNone/>
                      </a:pPr>
                      <a:r>
                        <a:rPr lang="ja-JP" sz="700" b="1" i="0" u="none" strike="noStrike">
                          <a:solidFill>
                            <a:srgbClr val="000000"/>
                          </a:solidFill>
                          <a:effectLst/>
                          <a:latin typeface="游ゴシック" panose="020B0400000000000000" pitchFamily="50" charset="-128"/>
                          <a:ea typeface="游ゴシック" panose="020B0400000000000000" pitchFamily="50" charset="-128"/>
                        </a:rPr>
                        <a:t>-8,380,519</a:t>
                      </a:r>
                    </a:p>
                  </a:txBody>
                  <a:tcPr marL="3499" marR="3499" marT="3499" marB="0" anchor="ctr">
                    <a:lnL>
                      <a:noFill/>
                    </a:lnL>
                    <a:lnR>
                      <a:noFill/>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700" b="1" i="0" u="none" strike="noStrike" dirty="0">
                          <a:solidFill>
                            <a:srgbClr val="000000"/>
                          </a:solidFill>
                          <a:effectLst/>
                          <a:latin typeface="游ゴシック" panose="020B0400000000000000" pitchFamily="50" charset="-128"/>
                          <a:ea typeface="游ゴシック" panose="020B0400000000000000" pitchFamily="50" charset="-128"/>
                        </a:rPr>
                        <a:t>34,073,126</a:t>
                      </a:r>
                    </a:p>
                  </a:txBody>
                  <a:tcPr marL="3499" marR="3499" marT="3499" marB="0" anchor="ctr">
                    <a:lnL>
                      <a:noFill/>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FF"/>
                    </a:solidFill>
                  </a:tcPr>
                </a:tc>
                <a:extLst>
                  <a:ext uri="{0D108BD9-81ED-4DB2-BD59-A6C34878D82A}">
                    <a16:rowId xmlns:a16="http://schemas.microsoft.com/office/drawing/2014/main" val="3354763473"/>
                  </a:ext>
                </a:extLst>
              </a:tr>
            </a:tbl>
          </a:graphicData>
        </a:graphic>
      </p:graphicFrame>
    </p:spTree>
    <p:extLst>
      <p:ext uri="{BB962C8B-B14F-4D97-AF65-F5344CB8AC3E}">
        <p14:creationId xmlns:p14="http://schemas.microsoft.com/office/powerpoint/2010/main" val="1226532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FD88-AD4A-2741-B694-4ABE443C9DD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1228F7B3-EC60-271E-D732-B04E063D2DE1}"/>
              </a:ext>
            </a:extLst>
          </p:cNvPr>
          <p:cNvSpPr>
            <a:spLocks noGrp="1"/>
          </p:cNvSpPr>
          <p:nvPr>
            <p:ph type="ctrTitle"/>
          </p:nvPr>
        </p:nvSpPr>
        <p:spPr>
          <a:xfrm>
            <a:off x="311150" y="180296"/>
            <a:ext cx="7799917" cy="339267"/>
          </a:xfrm>
        </p:spPr>
        <p:txBody>
          <a:bodyPr>
            <a:normAutofit/>
          </a:bodyPr>
          <a:lstStyle/>
          <a:p>
            <a:r>
              <a:rPr lang="ja-JP" altLang="en-US" dirty="0"/>
              <a:t>会社分割の実施内容</a:t>
            </a:r>
          </a:p>
        </p:txBody>
      </p:sp>
      <p:sp>
        <p:nvSpPr>
          <p:cNvPr id="5" name="タイトル 1">
            <a:extLst>
              <a:ext uri="{FF2B5EF4-FFF2-40B4-BE49-F238E27FC236}">
                <a16:creationId xmlns:a16="http://schemas.microsoft.com/office/drawing/2014/main" id="{26A72AED-7CEE-BBA6-7DC5-6FD5EAB1C62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3" name="Rectangle 207">
            <a:extLst>
              <a:ext uri="{FF2B5EF4-FFF2-40B4-BE49-F238E27FC236}">
                <a16:creationId xmlns:a16="http://schemas.microsoft.com/office/drawing/2014/main" id="{B0CBE447-290C-01E2-6FF3-F28BC51AC3DB}"/>
              </a:ext>
            </a:extLst>
          </p:cNvPr>
          <p:cNvSpPr/>
          <p:nvPr/>
        </p:nvSpPr>
        <p:spPr>
          <a:xfrm>
            <a:off x="948193" y="1848679"/>
            <a:ext cx="2514600" cy="4023360"/>
          </a:xfrm>
          <a:prstGeom prst="rect">
            <a:avLst/>
          </a:prstGeom>
          <a:solidFill>
            <a:srgbClr val="FFFFFF"/>
          </a:solid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sz="1800">
              <a:latin typeface="游ゴシック" panose="020B0400000000000000" pitchFamily="50" charset="-128"/>
              <a:ea typeface="游ゴシック" panose="020B0400000000000000" pitchFamily="50" charset="-128"/>
            </a:endParaRPr>
          </a:p>
        </p:txBody>
      </p:sp>
      <p:sp>
        <p:nvSpPr>
          <p:cNvPr id="9" name="Rectangle 208">
            <a:extLst>
              <a:ext uri="{FF2B5EF4-FFF2-40B4-BE49-F238E27FC236}">
                <a16:creationId xmlns:a16="http://schemas.microsoft.com/office/drawing/2014/main" id="{1E046203-8749-211C-08E5-A9D9BDF7AF59}"/>
              </a:ext>
            </a:extLst>
          </p:cNvPr>
          <p:cNvSpPr/>
          <p:nvPr/>
        </p:nvSpPr>
        <p:spPr>
          <a:xfrm>
            <a:off x="948193" y="1848679"/>
            <a:ext cx="2514600"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200" b="1">
                <a:solidFill>
                  <a:srgbClr val="FFFFFF"/>
                </a:solidFill>
                <a:latin typeface="游ゴシック" panose="020B0400000000000000" pitchFamily="50" charset="-128"/>
                <a:ea typeface="游ゴシック" panose="020B0400000000000000" pitchFamily="50" charset="-128"/>
              </a:rPr>
              <a:t>分割前｜株式会社アドレイ</a:t>
            </a:r>
          </a:p>
        </p:txBody>
      </p:sp>
      <p:sp>
        <p:nvSpPr>
          <p:cNvPr id="12" name="TextBox 209">
            <a:extLst>
              <a:ext uri="{FF2B5EF4-FFF2-40B4-BE49-F238E27FC236}">
                <a16:creationId xmlns:a16="http://schemas.microsoft.com/office/drawing/2014/main" id="{46FE3D01-89D3-DD27-865B-6B89BAC43B25}"/>
              </a:ext>
            </a:extLst>
          </p:cNvPr>
          <p:cNvSpPr txBox="1"/>
          <p:nvPr/>
        </p:nvSpPr>
        <p:spPr>
          <a:xfrm>
            <a:off x="1067065" y="2351599"/>
            <a:ext cx="2331720" cy="2103120"/>
          </a:xfrm>
          <a:prstGeom prst="rect">
            <a:avLst/>
          </a:prstGeom>
          <a:noFill/>
        </p:spPr>
        <p:txBody>
          <a:bodyPr wrap="square" lIns="54000" tIns="27000" rIns="54000" bIns="27000" anchor="t">
            <a:spAutoFit/>
          </a:bodyPr>
          <a:lstStyle/>
          <a:p>
            <a:pPr algn="l"/>
            <a:r>
              <a:rPr lang="ja-JP" sz="1050" b="0">
                <a:solidFill>
                  <a:srgbClr val="000000"/>
                </a:solidFill>
                <a:latin typeface="游ゴシック" panose="020B0400000000000000" pitchFamily="50" charset="-128"/>
                <a:ea typeface="游ゴシック" panose="020B0400000000000000" pitchFamily="50" charset="-128"/>
              </a:rPr>
              <a:t>① Data＆Digital Growth事業</a:t>
            </a:r>
          </a:p>
          <a:p>
            <a:pPr algn="l"/>
            <a:r>
              <a:rPr lang="ja-JP" sz="1050" b="0">
                <a:solidFill>
                  <a:srgbClr val="000000"/>
                </a:solidFill>
                <a:latin typeface="游ゴシック" panose="020B0400000000000000" pitchFamily="50" charset="-128"/>
                <a:ea typeface="游ゴシック" panose="020B0400000000000000" pitchFamily="50" charset="-128"/>
              </a:rPr>
              <a:t>② 広告制作事業</a:t>
            </a:r>
          </a:p>
          <a:p>
            <a:pPr algn="l"/>
            <a:r>
              <a:rPr lang="ja-JP" sz="1050" b="0">
                <a:solidFill>
                  <a:srgbClr val="000000"/>
                </a:solidFill>
                <a:latin typeface="游ゴシック" panose="020B0400000000000000" pitchFamily="50" charset="-128"/>
                <a:ea typeface="游ゴシック" panose="020B0400000000000000" pitchFamily="50" charset="-128"/>
              </a:rPr>
              <a:t>③ 不動産賃貸事業</a:t>
            </a:r>
          </a:p>
          <a:p>
            <a:pPr algn="l"/>
            <a:r>
              <a:rPr lang="ja-JP" sz="1050" b="0">
                <a:solidFill>
                  <a:srgbClr val="000000"/>
                </a:solidFill>
                <a:latin typeface="游ゴシック" panose="020B0400000000000000" pitchFamily="50" charset="-128"/>
                <a:ea typeface="游ゴシック" panose="020B0400000000000000" pitchFamily="50" charset="-128"/>
              </a:rPr>
              <a:t>─────────────</a:t>
            </a:r>
          </a:p>
          <a:p>
            <a:pPr algn="l"/>
            <a:r>
              <a:rPr lang="ja-JP" sz="1050" b="0">
                <a:solidFill>
                  <a:srgbClr val="000000"/>
                </a:solidFill>
                <a:latin typeface="游ゴシック" panose="020B0400000000000000" pitchFamily="50" charset="-128"/>
                <a:ea typeface="游ゴシック" panose="020B0400000000000000" pitchFamily="50" charset="-128"/>
              </a:rPr>
              <a:t>2026年7月末（試算表）</a:t>
            </a:r>
          </a:p>
          <a:p>
            <a:pPr algn="l"/>
            <a:r>
              <a:rPr lang="ja-JP" sz="1050" b="0">
                <a:solidFill>
                  <a:srgbClr val="000000"/>
                </a:solidFill>
                <a:latin typeface="游ゴシック" panose="020B0400000000000000" pitchFamily="50" charset="-128"/>
                <a:ea typeface="游ゴシック" panose="020B0400000000000000" pitchFamily="50" charset="-128"/>
              </a:rPr>
              <a:t>現預金 106,595千円</a:t>
            </a:r>
          </a:p>
          <a:p>
            <a:pPr algn="l"/>
            <a:r>
              <a:rPr lang="ja-JP" sz="1050" b="0">
                <a:solidFill>
                  <a:srgbClr val="000000"/>
                </a:solidFill>
                <a:latin typeface="游ゴシック" panose="020B0400000000000000" pitchFamily="50" charset="-128"/>
                <a:ea typeface="游ゴシック" panose="020B0400000000000000" pitchFamily="50" charset="-128"/>
              </a:rPr>
              <a:t>有形固定資産 193,736千円</a:t>
            </a:r>
          </a:p>
          <a:p>
            <a:pPr algn="l"/>
            <a:r>
              <a:rPr lang="ja-JP" sz="1050" b="0">
                <a:solidFill>
                  <a:srgbClr val="000000"/>
                </a:solidFill>
                <a:latin typeface="游ゴシック" panose="020B0400000000000000" pitchFamily="50" charset="-128"/>
                <a:ea typeface="游ゴシック" panose="020B0400000000000000" pitchFamily="50" charset="-128"/>
              </a:rPr>
              <a:t>（うち土地 163,031千円）</a:t>
            </a:r>
          </a:p>
          <a:p>
            <a:pPr algn="l"/>
            <a:r>
              <a:rPr lang="ja-JP" sz="1050" b="0">
                <a:solidFill>
                  <a:srgbClr val="000000"/>
                </a:solidFill>
                <a:latin typeface="游ゴシック" panose="020B0400000000000000" pitchFamily="50" charset="-128"/>
                <a:ea typeface="游ゴシック" panose="020B0400000000000000" pitchFamily="50" charset="-128"/>
              </a:rPr>
              <a:t>借入金 20,251千円</a:t>
            </a:r>
          </a:p>
          <a:p>
            <a:pPr algn="l"/>
            <a:r>
              <a:rPr lang="ja-JP" sz="1050" b="0">
                <a:solidFill>
                  <a:srgbClr val="000000"/>
                </a:solidFill>
                <a:latin typeface="游ゴシック" panose="020B0400000000000000" pitchFamily="50" charset="-128"/>
                <a:ea typeface="游ゴシック" panose="020B0400000000000000" pitchFamily="50" charset="-128"/>
              </a:rPr>
              <a:t>純資産 387,195千円</a:t>
            </a:r>
          </a:p>
        </p:txBody>
      </p:sp>
      <p:sp>
        <p:nvSpPr>
          <p:cNvPr id="15" name="Right Arrow 210">
            <a:extLst>
              <a:ext uri="{FF2B5EF4-FFF2-40B4-BE49-F238E27FC236}">
                <a16:creationId xmlns:a16="http://schemas.microsoft.com/office/drawing/2014/main" id="{589041AB-73E7-7C21-0E41-B717367682E2}"/>
              </a:ext>
            </a:extLst>
          </p:cNvPr>
          <p:cNvSpPr/>
          <p:nvPr/>
        </p:nvSpPr>
        <p:spPr>
          <a:xfrm>
            <a:off x="3599953" y="3494599"/>
            <a:ext cx="868680" cy="6858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000" b="1">
                <a:solidFill>
                  <a:srgbClr val="203864"/>
                </a:solidFill>
                <a:latin typeface="游ゴシック" panose="020B0400000000000000" pitchFamily="50" charset="-128"/>
                <a:ea typeface="游ゴシック" panose="020B0400000000000000" pitchFamily="50" charset="-128"/>
              </a:rPr>
              <a:t>新設分割</a:t>
            </a:r>
          </a:p>
        </p:txBody>
      </p:sp>
      <p:sp>
        <p:nvSpPr>
          <p:cNvPr id="17" name="Rectangle 211">
            <a:extLst>
              <a:ext uri="{FF2B5EF4-FFF2-40B4-BE49-F238E27FC236}">
                <a16:creationId xmlns:a16="http://schemas.microsoft.com/office/drawing/2014/main" id="{89921AA1-2D4D-E6BC-C70D-37DACC04EE1F}"/>
              </a:ext>
            </a:extLst>
          </p:cNvPr>
          <p:cNvSpPr/>
          <p:nvPr/>
        </p:nvSpPr>
        <p:spPr>
          <a:xfrm>
            <a:off x="4605793" y="1848679"/>
            <a:ext cx="4663440" cy="2103120"/>
          </a:xfrm>
          <a:prstGeom prst="rect">
            <a:avLst/>
          </a:prstGeom>
          <a:solidFill>
            <a:srgbClr val="D9E2F3"/>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sz="1800">
              <a:latin typeface="游ゴシック" panose="020B0400000000000000" pitchFamily="50" charset="-128"/>
              <a:ea typeface="游ゴシック" panose="020B0400000000000000" pitchFamily="50" charset="-128"/>
            </a:endParaRPr>
          </a:p>
        </p:txBody>
      </p:sp>
      <p:sp>
        <p:nvSpPr>
          <p:cNvPr id="19" name="Rectangle 212">
            <a:extLst>
              <a:ext uri="{FF2B5EF4-FFF2-40B4-BE49-F238E27FC236}">
                <a16:creationId xmlns:a16="http://schemas.microsoft.com/office/drawing/2014/main" id="{802E2ED1-8330-DDFA-0AD9-EE5DC8C34E68}"/>
              </a:ext>
            </a:extLst>
          </p:cNvPr>
          <p:cNvSpPr/>
          <p:nvPr/>
        </p:nvSpPr>
        <p:spPr>
          <a:xfrm>
            <a:off x="4605793" y="1848679"/>
            <a:ext cx="4663440"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altLang="en-US" sz="1100" b="1" dirty="0">
                <a:solidFill>
                  <a:srgbClr val="FFFFFF"/>
                </a:solidFill>
                <a:latin typeface="游ゴシック" panose="020B0400000000000000" pitchFamily="50" charset="-128"/>
                <a:ea typeface="游ゴシック" panose="020B0400000000000000" pitchFamily="50" charset="-128"/>
              </a:rPr>
              <a:t>株式会社アドレイ（新設会社）｜譲受企業様へ株式100%譲渡</a:t>
            </a:r>
          </a:p>
        </p:txBody>
      </p:sp>
      <p:sp>
        <p:nvSpPr>
          <p:cNvPr id="21" name="TextBox 213">
            <a:extLst>
              <a:ext uri="{FF2B5EF4-FFF2-40B4-BE49-F238E27FC236}">
                <a16:creationId xmlns:a16="http://schemas.microsoft.com/office/drawing/2014/main" id="{C2127E29-16C7-D1E6-9D6C-C8C82543B862}"/>
              </a:ext>
            </a:extLst>
          </p:cNvPr>
          <p:cNvSpPr txBox="1"/>
          <p:nvPr/>
        </p:nvSpPr>
        <p:spPr>
          <a:xfrm>
            <a:off x="4742953" y="2305879"/>
            <a:ext cx="4434840" cy="1508760"/>
          </a:xfrm>
          <a:prstGeom prst="rect">
            <a:avLst/>
          </a:prstGeom>
          <a:noFill/>
        </p:spPr>
        <p:txBody>
          <a:bodyPr wrap="square" lIns="54000" tIns="27000" rIns="54000" bIns="27000" anchor="t">
            <a:spAutoFit/>
          </a:bodyPr>
          <a:lstStyle/>
          <a:p>
            <a:pPr algn="l"/>
            <a:r>
              <a:rPr lang="ja-JP" sz="1050" b="0" dirty="0">
                <a:solidFill>
                  <a:srgbClr val="000000"/>
                </a:solidFill>
                <a:latin typeface="游ゴシック" panose="020B0400000000000000" pitchFamily="50" charset="-128"/>
                <a:ea typeface="游ゴシック" panose="020B0400000000000000" pitchFamily="50" charset="-128"/>
              </a:rPr>
              <a:t>・DDG事業／広告制作事業（従業員・取引先契約・事業用資産等）</a:t>
            </a:r>
          </a:p>
          <a:p>
            <a:pPr algn="l"/>
            <a:r>
              <a:rPr lang="ja-JP" sz="1050" b="0" dirty="0">
                <a:solidFill>
                  <a:srgbClr val="000000"/>
                </a:solidFill>
                <a:latin typeface="游ゴシック" panose="020B0400000000000000" pitchFamily="50" charset="-128"/>
                <a:ea typeface="游ゴシック" panose="020B0400000000000000" pitchFamily="50" charset="-128"/>
              </a:rPr>
              <a:t>・資本金 9,000千円（900株、倉田様100%保有）</a:t>
            </a:r>
          </a:p>
          <a:p>
            <a:pPr algn="l"/>
            <a:r>
              <a:rPr lang="ja-JP" sz="1050" b="0" dirty="0">
                <a:solidFill>
                  <a:srgbClr val="000000"/>
                </a:solidFill>
                <a:latin typeface="游ゴシック" panose="020B0400000000000000" pitchFamily="50" charset="-128"/>
                <a:ea typeface="游ゴシック" panose="020B0400000000000000" pitchFamily="50" charset="-128"/>
              </a:rPr>
              <a:t>・純資産 192,755千円（2026年9月末試算表）</a:t>
            </a:r>
          </a:p>
          <a:p>
            <a:pPr algn="l"/>
            <a:r>
              <a:rPr lang="ja-JP" sz="1050" b="0" dirty="0">
                <a:solidFill>
                  <a:srgbClr val="000000"/>
                </a:solidFill>
                <a:latin typeface="游ゴシック" panose="020B0400000000000000" pitchFamily="50" charset="-128"/>
                <a:ea typeface="游ゴシック" panose="020B0400000000000000" pitchFamily="50" charset="-128"/>
              </a:rPr>
              <a:t>・現預金 80,000千円／借入金 16,361千円</a:t>
            </a:r>
          </a:p>
          <a:p>
            <a:pPr algn="l"/>
            <a:r>
              <a:rPr lang="ja-JP" sz="1050" b="0" dirty="0">
                <a:solidFill>
                  <a:srgbClr val="000000"/>
                </a:solidFill>
                <a:latin typeface="游ゴシック" panose="020B0400000000000000" pitchFamily="50" charset="-128"/>
                <a:ea typeface="游ゴシック" panose="020B0400000000000000" pitchFamily="50" charset="-128"/>
              </a:rPr>
              <a:t>　→ ネットキャッシュ 63,639千円</a:t>
            </a:r>
          </a:p>
          <a:p>
            <a:pPr algn="l"/>
            <a:r>
              <a:rPr lang="ja-JP" sz="1050" b="0" dirty="0">
                <a:solidFill>
                  <a:srgbClr val="000000"/>
                </a:solidFill>
                <a:latin typeface="游ゴシック" panose="020B0400000000000000" pitchFamily="50" charset="-128"/>
                <a:ea typeface="游ゴシック" panose="020B0400000000000000" pitchFamily="50" charset="-128"/>
              </a:rPr>
              <a:t>・短期貸付金 78,439千円（貸付先・取扱いは要確認）</a:t>
            </a:r>
          </a:p>
          <a:p>
            <a:pPr algn="l"/>
            <a:r>
              <a:rPr lang="ja-JP" sz="1050" b="0" dirty="0">
                <a:solidFill>
                  <a:srgbClr val="000000"/>
                </a:solidFill>
                <a:latin typeface="游ゴシック" panose="020B0400000000000000" pitchFamily="50" charset="-128"/>
                <a:ea typeface="游ゴシック" panose="020B0400000000000000" pitchFamily="50" charset="-128"/>
              </a:rPr>
              <a:t>・詳細はP.11「分割後BS」参照</a:t>
            </a:r>
          </a:p>
        </p:txBody>
      </p:sp>
      <p:sp>
        <p:nvSpPr>
          <p:cNvPr id="23" name="Rectangle 214">
            <a:extLst>
              <a:ext uri="{FF2B5EF4-FFF2-40B4-BE49-F238E27FC236}">
                <a16:creationId xmlns:a16="http://schemas.microsoft.com/office/drawing/2014/main" id="{71071BCD-3ED9-F0A3-CFC6-63E6C06B4060}"/>
              </a:ext>
            </a:extLst>
          </p:cNvPr>
          <p:cNvSpPr/>
          <p:nvPr/>
        </p:nvSpPr>
        <p:spPr>
          <a:xfrm>
            <a:off x="4605793" y="4180399"/>
            <a:ext cx="4663440" cy="1691640"/>
          </a:xfrm>
          <a:prstGeom prst="rect">
            <a:avLst/>
          </a:prstGeom>
          <a:solidFill>
            <a:srgbClr val="F2F2F2"/>
          </a:solidFill>
          <a:ln w="15875">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sz="1800">
              <a:latin typeface="游ゴシック" panose="020B0400000000000000" pitchFamily="50" charset="-128"/>
              <a:ea typeface="游ゴシック" panose="020B0400000000000000" pitchFamily="50" charset="-128"/>
            </a:endParaRPr>
          </a:p>
        </p:txBody>
      </p:sp>
      <p:sp>
        <p:nvSpPr>
          <p:cNvPr id="25" name="Rectangle 215">
            <a:extLst>
              <a:ext uri="{FF2B5EF4-FFF2-40B4-BE49-F238E27FC236}">
                <a16:creationId xmlns:a16="http://schemas.microsoft.com/office/drawing/2014/main" id="{3EB9C756-F467-08BF-F764-465247A76964}"/>
              </a:ext>
            </a:extLst>
          </p:cNvPr>
          <p:cNvSpPr/>
          <p:nvPr/>
        </p:nvSpPr>
        <p:spPr>
          <a:xfrm>
            <a:off x="4605793" y="4180399"/>
            <a:ext cx="4663440" cy="384048"/>
          </a:xfrm>
          <a:prstGeom prst="rect">
            <a:avLst/>
          </a:prstGeom>
          <a:solidFill>
            <a:srgbClr val="595959"/>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altLang="ja-JP" sz="1100" b="1" dirty="0">
                <a:solidFill>
                  <a:srgbClr val="FFFFFF"/>
                </a:solidFill>
                <a:latin typeface="游ゴシック" panose="020B0400000000000000" pitchFamily="50" charset="-128"/>
                <a:ea typeface="游ゴシック" panose="020B0400000000000000" pitchFamily="50" charset="-128"/>
              </a:rPr>
              <a:t>株式会社StorehouseField（分割会社）｜売主側に残置</a:t>
            </a:r>
          </a:p>
        </p:txBody>
      </p:sp>
      <p:sp>
        <p:nvSpPr>
          <p:cNvPr id="27" name="TextBox 216">
            <a:extLst>
              <a:ext uri="{FF2B5EF4-FFF2-40B4-BE49-F238E27FC236}">
                <a16:creationId xmlns:a16="http://schemas.microsoft.com/office/drawing/2014/main" id="{EF7EA35C-F3AD-5FB2-18B0-AFA0EA8B2964}"/>
              </a:ext>
            </a:extLst>
          </p:cNvPr>
          <p:cNvSpPr txBox="1"/>
          <p:nvPr/>
        </p:nvSpPr>
        <p:spPr>
          <a:xfrm>
            <a:off x="4742953" y="4637599"/>
            <a:ext cx="4434840" cy="862441"/>
          </a:xfrm>
          <a:prstGeom prst="rect">
            <a:avLst/>
          </a:prstGeom>
          <a:noFill/>
        </p:spPr>
        <p:txBody>
          <a:bodyPr wrap="square" lIns="54000" tIns="27000" rIns="54000" bIns="27000" anchor="t">
            <a:spAutoFit/>
          </a:bodyPr>
          <a:lstStyle/>
          <a:p>
            <a:pPr algn="l"/>
            <a:r>
              <a:rPr lang="ja-JP" sz="1050" b="0" dirty="0">
                <a:solidFill>
                  <a:srgbClr val="000000"/>
                </a:solidFill>
                <a:latin typeface="游ゴシック" panose="020B0400000000000000" pitchFamily="50" charset="-128"/>
                <a:ea typeface="游ゴシック" panose="020B0400000000000000" pitchFamily="50" charset="-128"/>
              </a:rPr>
              <a:t>・不動産賃貸事業（築地スクエアビル：土地・建物）</a:t>
            </a:r>
          </a:p>
          <a:p>
            <a:pPr algn="l"/>
            <a:r>
              <a:rPr lang="ja-JP" sz="1050" b="0" dirty="0">
                <a:solidFill>
                  <a:srgbClr val="000000"/>
                </a:solidFill>
                <a:latin typeface="游ゴシック" panose="020B0400000000000000" pitchFamily="50" charset="-128"/>
                <a:ea typeface="游ゴシック" panose="020B0400000000000000" pitchFamily="50" charset="-128"/>
              </a:rPr>
              <a:t>・2026年10月1日付で「株式会社アドレイ」から商号変更</a:t>
            </a:r>
          </a:p>
          <a:p>
            <a:pPr algn="l"/>
            <a:r>
              <a:rPr lang="ja-JP" sz="1050" b="0" dirty="0">
                <a:solidFill>
                  <a:srgbClr val="000000"/>
                </a:solidFill>
                <a:latin typeface="游ゴシック" panose="020B0400000000000000" pitchFamily="50" charset="-128"/>
                <a:ea typeface="游ゴシック" panose="020B0400000000000000" pitchFamily="50" charset="-128"/>
              </a:rPr>
              <a:t>・本件の譲渡対象外</a:t>
            </a:r>
            <a:endParaRPr lang="en-US" altLang="ja-JP" sz="1050" b="0" dirty="0">
              <a:solidFill>
                <a:srgbClr val="000000"/>
              </a:solidFill>
              <a:latin typeface="游ゴシック" panose="020B0400000000000000" pitchFamily="50" charset="-128"/>
              <a:ea typeface="游ゴシック" panose="020B0400000000000000" pitchFamily="50" charset="-128"/>
            </a:endParaRPr>
          </a:p>
        </p:txBody>
      </p:sp>
      <p:sp>
        <p:nvSpPr>
          <p:cNvPr id="29" name="TextBox 209">
            <a:extLst>
              <a:ext uri="{FF2B5EF4-FFF2-40B4-BE49-F238E27FC236}">
                <a16:creationId xmlns:a16="http://schemas.microsoft.com/office/drawing/2014/main" id="{E517F70C-B548-8902-6DE7-6B3A88D363EF}"/>
              </a:ext>
            </a:extLst>
          </p:cNvPr>
          <p:cNvSpPr txBox="1"/>
          <p:nvPr/>
        </p:nvSpPr>
        <p:spPr>
          <a:xfrm>
            <a:off x="801889" y="5989320"/>
            <a:ext cx="9246572" cy="731520"/>
          </a:xfrm>
          <a:prstGeom prst="rect">
            <a:avLst/>
          </a:prstGeom>
          <a:noFill/>
        </p:spPr>
        <p:txBody>
          <a:bodyPr wrap="square">
            <a:spAutoFit/>
          </a:bodyPr>
          <a:lstStyle/>
          <a:p>
            <a:r>
              <a:rPr sz="900" dirty="0">
                <a:latin typeface="游ゴシック" panose="020B0400000000000000" pitchFamily="50" charset="-128"/>
                <a:ea typeface="游ゴシック" panose="020B0400000000000000" pitchFamily="50" charset="-128"/>
              </a:rPr>
              <a:t>※分割方式：新設分割。分割対価として交付された新設会社株式900株は、分割会社の株主へ剰余金として配当。承継対象は広告事業及びITコンサルティング事業に関する資産・負債・契約上の地位・雇用契約その他の権利義務（不法行為によって生じた債務を除く）。</a:t>
            </a:r>
          </a:p>
          <a:p>
            <a:r>
              <a:rPr lang="en-US" altLang="ja-JP" sz="900" dirty="0">
                <a:latin typeface="游ゴシック" panose="020B0400000000000000" pitchFamily="50" charset="-128"/>
                <a:ea typeface="游ゴシック" panose="020B0400000000000000" pitchFamily="50" charset="-128"/>
              </a:rPr>
              <a:t>※本件事業に関する訴訟上の債権（業務委託料請求等、計4件）も新設会社が承継。債権額・回収見込、許認可・契約の名義変更等の手続状況、税務上の取扱い（適格／非適格）は要確認。</a:t>
            </a:r>
          </a:p>
        </p:txBody>
      </p:sp>
      <p:sp>
        <p:nvSpPr>
          <p:cNvPr id="30" name="字幕 13">
            <a:extLst>
              <a:ext uri="{FF2B5EF4-FFF2-40B4-BE49-F238E27FC236}">
                <a16:creationId xmlns:a16="http://schemas.microsoft.com/office/drawing/2014/main" id="{A352CAF9-B99E-AC7F-71F3-978E446AEB5E}"/>
              </a:ext>
            </a:extLst>
          </p:cNvPr>
          <p:cNvSpPr>
            <a:spLocks noGrp="1"/>
          </p:cNvSpPr>
          <p:nvPr>
            <p:ph type="subTitle" idx="1"/>
          </p:nvPr>
        </p:nvSpPr>
        <p:spPr>
          <a:xfrm>
            <a:off x="460675" y="830046"/>
            <a:ext cx="9781875" cy="241861"/>
          </a:xfrm>
        </p:spPr>
        <p:txBody>
          <a:bodyPr>
            <a:noAutofit/>
          </a:bodyPr>
          <a:lstStyle/>
          <a:p>
            <a:r>
              <a:rPr lang="en-US" altLang="ja-JP" dirty="0">
                <a:latin typeface="+mj-ea"/>
              </a:rPr>
              <a:t>2026年10月1日付で新設分割を実行済み。譲渡対象2事業は新設会社「株式会社アドレイ」が承継し、不動産賃貸事業は分割会社（同日付で「株式会社StorehouseField」へ商号変更）に残置。</a:t>
            </a:r>
          </a:p>
        </p:txBody>
      </p:sp>
    </p:spTree>
    <p:extLst>
      <p:ext uri="{BB962C8B-B14F-4D97-AF65-F5344CB8AC3E}">
        <p14:creationId xmlns:p14="http://schemas.microsoft.com/office/powerpoint/2010/main" val="2900135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829E4-FDC4-C92B-DD52-E2DDEB24D43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1BFE1840-5E1C-EED7-0CA9-9142CCE78604}"/>
              </a:ext>
            </a:extLst>
          </p:cNvPr>
          <p:cNvSpPr>
            <a:spLocks noGrp="1"/>
          </p:cNvSpPr>
          <p:nvPr>
            <p:ph type="ctrTitle"/>
          </p:nvPr>
        </p:nvSpPr>
        <p:spPr>
          <a:xfrm>
            <a:off x="311150" y="180296"/>
            <a:ext cx="7799917" cy="339267"/>
          </a:xfrm>
        </p:spPr>
        <p:txBody>
          <a:bodyPr>
            <a:normAutofit/>
          </a:bodyPr>
          <a:lstStyle/>
          <a:p>
            <a:r>
              <a:rPr lang="ja-JP" altLang="en-US" dirty="0"/>
              <a:t>分割後BS（譲渡対象会社｜2026年9月末試算表ベース）</a:t>
            </a:r>
          </a:p>
        </p:txBody>
      </p:sp>
      <p:sp>
        <p:nvSpPr>
          <p:cNvPr id="5" name="タイトル 1">
            <a:extLst>
              <a:ext uri="{FF2B5EF4-FFF2-40B4-BE49-F238E27FC236}">
                <a16:creationId xmlns:a16="http://schemas.microsoft.com/office/drawing/2014/main" id="{4AC67A7E-A253-36F5-F473-10084018D51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30" name="字幕 13">
            <a:extLst>
              <a:ext uri="{FF2B5EF4-FFF2-40B4-BE49-F238E27FC236}">
                <a16:creationId xmlns:a16="http://schemas.microsoft.com/office/drawing/2014/main" id="{9CE0C8EE-E363-C25E-F32D-AEC345767C51}"/>
              </a:ext>
            </a:extLst>
          </p:cNvPr>
          <p:cNvSpPr>
            <a:spLocks noGrp="1"/>
          </p:cNvSpPr>
          <p:nvPr>
            <p:ph type="subTitle" idx="1"/>
          </p:nvPr>
        </p:nvSpPr>
        <p:spPr>
          <a:xfrm>
            <a:off x="460675" y="830046"/>
            <a:ext cx="9781875" cy="241861"/>
          </a:xfrm>
        </p:spPr>
        <p:txBody>
          <a:bodyPr>
            <a:noAutofit/>
          </a:bodyPr>
          <a:lstStyle/>
          <a:p>
            <a:r>
              <a:rPr lang="ja-JP" altLang="en-US" dirty="0">
                <a:latin typeface="+mj-ea"/>
              </a:rPr>
              <a:t>▪ 2026年10月1日付の新設分割により、土地・建物等の不動産賃貸事業は分割会社に残置済み</a:t>
            </a:r>
          </a:p>
          <a:p>
            <a:r>
              <a:rPr lang="ja-JP" altLang="en-US" dirty="0">
                <a:latin typeface="+mj-ea"/>
              </a:rPr>
              <a:t>▪ 純資産192,755千円。現預金80,000千円・借入金16,361千円（ネットキャッシュ63,639千円）</a:t>
            </a:r>
          </a:p>
          <a:p>
            <a:r>
              <a:rPr lang="ja-JP" altLang="en-US" dirty="0">
                <a:latin typeface="+mj-ea"/>
              </a:rPr>
              <a:t>▪ 短期貸付金78,439千円が計上（貸付先・クロージングまでの取扱いは要確認）</a:t>
            </a:r>
          </a:p>
        </p:txBody>
      </p:sp>
      <p:sp>
        <p:nvSpPr>
          <p:cNvPr id="4" name="TextBox 209">
            <a:extLst>
              <a:ext uri="{FF2B5EF4-FFF2-40B4-BE49-F238E27FC236}">
                <a16:creationId xmlns:a16="http://schemas.microsoft.com/office/drawing/2014/main" id="{71437805-D279-A9F4-51E7-2C1614957CEE}"/>
              </a:ext>
            </a:extLst>
          </p:cNvPr>
          <p:cNvSpPr txBox="1"/>
          <p:nvPr/>
        </p:nvSpPr>
        <p:spPr>
          <a:xfrm>
            <a:off x="360090" y="5897880"/>
            <a:ext cx="9882459" cy="914400"/>
          </a:xfrm>
          <a:prstGeom prst="rect">
            <a:avLst/>
          </a:prstGeom>
          <a:noFill/>
        </p:spPr>
        <p:txBody>
          <a:bodyPr wrap="square">
            <a:spAutoFit/>
          </a:bodyPr>
          <a:lstStyle/>
          <a:p>
            <a:r>
              <a:rPr sz="1000" dirty="0">
                <a:latin typeface="游ゴシック" panose="020B0400000000000000" pitchFamily="50" charset="-128"/>
                <a:ea typeface="游ゴシック" panose="020B0400000000000000" pitchFamily="50" charset="-128"/>
              </a:rPr>
              <a:t>※2026年9月末は対象会社の残高試算表（2026年8月1日〜9月30日・税抜）の期間残高（分割反映後）、7月末は同試算表の期首残高（分割前）。増減には分割による移転のほか、8〜9月の営業取引による変動（当期純損失2,833千円等）を含みます。</a:t>
            </a:r>
          </a:p>
          <a:p>
            <a:r>
              <a:rPr lang="en-US" altLang="ja-JP" sz="1000" dirty="0">
                <a:latin typeface="游ゴシック" panose="020B0400000000000000" pitchFamily="50" charset="-128"/>
                <a:ea typeface="游ゴシック" panose="020B0400000000000000" pitchFamily="50" charset="-128"/>
              </a:rPr>
              <a:t>※千円未満の端数処理により合計が一致しない場合があります。</a:t>
            </a:r>
          </a:p>
          <a:p>
            <a:r>
              <a:rPr lang="en-US" altLang="ja-JP" sz="1000" dirty="0">
                <a:latin typeface="游ゴシック" panose="020B0400000000000000" pitchFamily="50" charset="-128"/>
                <a:ea typeface="游ゴシック" panose="020B0400000000000000" pitchFamily="50" charset="-128"/>
              </a:rPr>
              <a:t>※建物1,305千円（分割後残高）の内容（保養所等の非事業用資産の有無）、および預り保証金6,480千円（賃貸不動産に係る預り金）の分割会社への承継は要確認。</a:t>
            </a:r>
          </a:p>
        </p:txBody>
      </p:sp>
      <p:graphicFrame>
        <p:nvGraphicFramePr>
          <p:cNvPr id="7" name="Table 207">
            <a:extLst>
              <a:ext uri="{FF2B5EF4-FFF2-40B4-BE49-F238E27FC236}">
                <a16:creationId xmlns:a16="http://schemas.microsoft.com/office/drawing/2014/main" id="{B5860A8C-22CC-9E1C-FBF7-99720FBEFDC4}"/>
              </a:ext>
            </a:extLst>
          </p:cNvPr>
          <p:cNvGraphicFramePr>
            <a:graphicFrameLocks noGrp="1"/>
          </p:cNvGraphicFramePr>
          <p:nvPr>
            <p:extLst>
              <p:ext uri="{D42A27DB-BD31-4B8C-83A1-F6EECF244321}">
                <p14:modId xmlns:p14="http://schemas.microsoft.com/office/powerpoint/2010/main" val="156940026"/>
              </p:ext>
            </p:extLst>
          </p:nvPr>
        </p:nvGraphicFramePr>
        <p:xfrm>
          <a:off x="460675" y="1935026"/>
          <a:ext cx="2633472" cy="3264408"/>
        </p:xfrm>
        <a:graphic>
          <a:graphicData uri="http://schemas.openxmlformats.org/drawingml/2006/table">
            <a:tbl>
              <a:tblPr>
                <a:tableStyleId>{5C22544A-7EE6-4342-B048-85BDC9FD1C3A}</a:tableStyleId>
              </a:tblPr>
              <a:tblGrid>
                <a:gridCol w="176479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233172">
                <a:tc gridSpan="2">
                  <a:txBody>
                    <a:bodyPr/>
                    <a:lstStyle/>
                    <a:p>
                      <a:pPr algn="ctr"/>
                      <a:r>
                        <a:rPr lang="ja-JP" sz="1000" b="1" dirty="0">
                          <a:solidFill>
                            <a:srgbClr val="FFFFFF"/>
                          </a:solidFill>
                          <a:latin typeface="游ゴシック" panose="020B0400000000000000" pitchFamily="50" charset="-128"/>
                          <a:ea typeface="游ゴシック" panose="020B0400000000000000" pitchFamily="50" charset="-128"/>
                        </a:rPr>
                        <a:t>分割前｜アドレイ社（2026年7月末）</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33172">
                <a:tc>
                  <a:txBody>
                    <a:bodyPr/>
                    <a:lstStyle/>
                    <a:p>
                      <a:pPr algn="l"/>
                      <a:r>
                        <a:rPr lang="ja-JP" sz="900" b="1" dirty="0">
                          <a:solidFill>
                            <a:srgbClr val="000000"/>
                          </a:solidFill>
                          <a:latin typeface="游ゴシック" panose="020B0400000000000000" pitchFamily="50" charset="-128"/>
                          <a:ea typeface="游ゴシック" panose="020B0400000000000000" pitchFamily="50" charset="-128"/>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0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106,595</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売掛金（純額）</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52,002</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短期貸付金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74,809</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16,169</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193,736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17,362</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33172">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1000" b="1">
                          <a:solidFill>
                            <a:srgbClr val="000000"/>
                          </a:solidFill>
                          <a:latin typeface="游ゴシック" panose="020B0400000000000000" pitchFamily="50" charset="-128"/>
                          <a:ea typeface="游ゴシック" panose="020B0400000000000000" pitchFamily="50" charset="-128"/>
                        </a:rPr>
                        <a:t>460,673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33172">
                <a:tc>
                  <a:txBody>
                    <a:bodyPr/>
                    <a:lstStyle/>
                    <a:p>
                      <a:pPr algn="l"/>
                      <a:r>
                        <a:rPr lang="ja-JP" sz="900" b="1">
                          <a:solidFill>
                            <a:srgbClr val="000000"/>
                          </a:solidFill>
                          <a:latin typeface="游ゴシック" panose="020B0400000000000000" pitchFamily="50" charset="-128"/>
                          <a:ea typeface="游ゴシック" panose="020B0400000000000000" pitchFamily="50" charset="-128"/>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0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20,251</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53,227</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387,195</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33172">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1000" b="1" dirty="0">
                          <a:solidFill>
                            <a:srgbClr val="000000"/>
                          </a:solidFill>
                          <a:latin typeface="游ゴシック" panose="020B0400000000000000" pitchFamily="50" charset="-128"/>
                          <a:ea typeface="游ゴシック" panose="020B0400000000000000" pitchFamily="50" charset="-128"/>
                        </a:rPr>
                        <a:t>460,673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graphicFrame>
        <p:nvGraphicFramePr>
          <p:cNvPr id="10" name="Table 208">
            <a:extLst>
              <a:ext uri="{FF2B5EF4-FFF2-40B4-BE49-F238E27FC236}">
                <a16:creationId xmlns:a16="http://schemas.microsoft.com/office/drawing/2014/main" id="{C3064F54-D478-3302-4870-51D6C04E60EA}"/>
              </a:ext>
            </a:extLst>
          </p:cNvPr>
          <p:cNvGraphicFramePr>
            <a:graphicFrameLocks noGrp="1"/>
          </p:cNvGraphicFramePr>
          <p:nvPr>
            <p:extLst>
              <p:ext uri="{D42A27DB-BD31-4B8C-83A1-F6EECF244321}">
                <p14:modId xmlns:p14="http://schemas.microsoft.com/office/powerpoint/2010/main" val="990980335"/>
              </p:ext>
            </p:extLst>
          </p:nvPr>
        </p:nvGraphicFramePr>
        <p:xfrm>
          <a:off x="4416847" y="1935026"/>
          <a:ext cx="2633472" cy="3264408"/>
        </p:xfrm>
        <a:graphic>
          <a:graphicData uri="http://schemas.openxmlformats.org/drawingml/2006/table">
            <a:tbl>
              <a:tblPr>
                <a:tableStyleId>{5C22544A-7EE6-4342-B048-85BDC9FD1C3A}</a:tableStyleId>
              </a:tblPr>
              <a:tblGrid>
                <a:gridCol w="176479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233172">
                <a:tc gridSpan="2">
                  <a:txBody>
                    <a:bodyPr/>
                    <a:lstStyle/>
                    <a:p>
                      <a:pPr algn="ctr"/>
                      <a:r>
                        <a:rPr lang="ja-JP" altLang="en-US" sz="1000" b="1" dirty="0">
                          <a:solidFill>
                            <a:srgbClr val="FFFFFF"/>
                          </a:solidFill>
                          <a:latin typeface="游ゴシック" panose="020B0400000000000000" pitchFamily="50" charset="-128"/>
                          <a:ea typeface="游ゴシック" panose="020B0400000000000000" pitchFamily="50" charset="-128"/>
                        </a:rPr>
                        <a:t>譲渡対象会社（2026年9月末）</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33172">
                <a:tc>
                  <a:txBody>
                    <a:bodyPr/>
                    <a:lstStyle/>
                    <a:p>
                      <a:pPr algn="l"/>
                      <a:r>
                        <a:rPr lang="ja-JP" sz="900" b="1">
                          <a:solidFill>
                            <a:srgbClr val="000000"/>
                          </a:solidFill>
                          <a:latin typeface="游ゴシック" panose="020B0400000000000000" pitchFamily="50" charset="-128"/>
                          <a:ea typeface="游ゴシック" panose="020B0400000000000000" pitchFamily="50" charset="-128"/>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0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80,000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売掛金（純額）</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41,654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短期貸付金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78,439</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00" b="0" dirty="0">
                          <a:solidFill>
                            <a:srgbClr val="000000"/>
                          </a:solidFill>
                          <a:latin typeface="游ゴシック" panose="020B0400000000000000" pitchFamily="50" charset="-128"/>
                          <a:ea typeface="游ゴシック" panose="020B0400000000000000" pitchFamily="50" charset="-128"/>
                        </a:rPr>
                        <a:t>13,450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11,367</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16,733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33172">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1000" b="1" dirty="0">
                          <a:solidFill>
                            <a:srgbClr val="000000"/>
                          </a:solidFill>
                          <a:latin typeface="游ゴシック" panose="020B0400000000000000" pitchFamily="50" charset="-128"/>
                          <a:ea typeface="游ゴシック" panose="020B0400000000000000" pitchFamily="50" charset="-128"/>
                        </a:rPr>
                        <a:t>241,644</a:t>
                      </a:r>
                      <a:endParaRPr lang="ja-JP" sz="1000" b="1"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33172">
                <a:tc>
                  <a:txBody>
                    <a:bodyPr/>
                    <a:lstStyle/>
                    <a:p>
                      <a:pPr algn="l"/>
                      <a:r>
                        <a:rPr lang="ja-JP" sz="900" b="1">
                          <a:solidFill>
                            <a:srgbClr val="000000"/>
                          </a:solidFill>
                          <a:latin typeface="游ゴシック" panose="020B0400000000000000" pitchFamily="50" charset="-128"/>
                          <a:ea typeface="游ゴシック" panose="020B0400000000000000" pitchFamily="50" charset="-128"/>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0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dirty="0">
                          <a:solidFill>
                            <a:srgbClr val="000000"/>
                          </a:solidFill>
                          <a:latin typeface="游ゴシック" panose="020B0400000000000000" pitchFamily="50" charset="-128"/>
                          <a:ea typeface="游ゴシック" panose="020B0400000000000000" pitchFamily="50" charset="-128"/>
                        </a:rPr>
                        <a:t>16,361</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dirty="0">
                          <a:solidFill>
                            <a:srgbClr val="000000"/>
                          </a:solidFill>
                          <a:latin typeface="游ゴシック" panose="020B0400000000000000" pitchFamily="50" charset="-128"/>
                          <a:ea typeface="游ゴシック" panose="020B0400000000000000" pitchFamily="50" charset="-128"/>
                        </a:rPr>
                        <a:t>32,527</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00" b="0" dirty="0">
                          <a:solidFill>
                            <a:srgbClr val="000000"/>
                          </a:solidFill>
                          <a:latin typeface="游ゴシック" panose="020B0400000000000000" pitchFamily="50" charset="-128"/>
                          <a:ea typeface="游ゴシック" panose="020B0400000000000000" pitchFamily="50" charset="-128"/>
                        </a:rPr>
                        <a:t>192,755</a:t>
                      </a:r>
                      <a:endParaRPr lang="ja-JP" sz="1000" b="0"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33172">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1000" b="1" dirty="0">
                          <a:solidFill>
                            <a:srgbClr val="000000"/>
                          </a:solidFill>
                          <a:latin typeface="游ゴシック" panose="020B0400000000000000" pitchFamily="50" charset="-128"/>
                          <a:ea typeface="游ゴシック" panose="020B0400000000000000" pitchFamily="50" charset="-128"/>
                        </a:rPr>
                        <a:t>241,644</a:t>
                      </a:r>
                      <a:endParaRPr lang="ja-JP" sz="1000" b="1"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graphicFrame>
        <p:nvGraphicFramePr>
          <p:cNvPr id="14" name="Table 209">
            <a:extLst>
              <a:ext uri="{FF2B5EF4-FFF2-40B4-BE49-F238E27FC236}">
                <a16:creationId xmlns:a16="http://schemas.microsoft.com/office/drawing/2014/main" id="{D7CBFA22-F31C-965F-C93F-0DCA43D2ABFD}"/>
              </a:ext>
            </a:extLst>
          </p:cNvPr>
          <p:cNvGraphicFramePr>
            <a:graphicFrameLocks noGrp="1"/>
          </p:cNvGraphicFramePr>
          <p:nvPr>
            <p:extLst>
              <p:ext uri="{D42A27DB-BD31-4B8C-83A1-F6EECF244321}">
                <p14:modId xmlns:p14="http://schemas.microsoft.com/office/powerpoint/2010/main" val="529555590"/>
              </p:ext>
            </p:extLst>
          </p:nvPr>
        </p:nvGraphicFramePr>
        <p:xfrm>
          <a:off x="7470943" y="1935026"/>
          <a:ext cx="2633472" cy="3264408"/>
        </p:xfrm>
        <a:graphic>
          <a:graphicData uri="http://schemas.openxmlformats.org/drawingml/2006/table">
            <a:tbl>
              <a:tblPr>
                <a:tableStyleId>{5C22544A-7EE6-4342-B048-85BDC9FD1C3A}</a:tableStyleId>
              </a:tblPr>
              <a:tblGrid>
                <a:gridCol w="176479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233172">
                <a:tc gridSpan="2">
                  <a:txBody>
                    <a:bodyPr/>
                    <a:lstStyle/>
                    <a:p>
                      <a:pPr algn="ctr"/>
                      <a:r>
                        <a:rPr lang="ja-JP" altLang="en-US" sz="1000" b="1" dirty="0">
                          <a:solidFill>
                            <a:srgbClr val="FFFFFF"/>
                          </a:solidFill>
                          <a:latin typeface="游ゴシック" panose="020B0400000000000000" pitchFamily="50" charset="-128"/>
                          <a:ea typeface="游ゴシック" panose="020B0400000000000000" pitchFamily="50" charset="-128"/>
                        </a:rPr>
                        <a:t>増減（7月末→9月末）</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extLst>
                  <a:ext uri="{0D108BD9-81ED-4DB2-BD59-A6C34878D82A}">
                    <a16:rowId xmlns:a16="http://schemas.microsoft.com/office/drawing/2014/main" val="10000"/>
                  </a:ext>
                </a:extLst>
              </a:tr>
              <a:tr h="233172">
                <a:tc>
                  <a:txBody>
                    <a:bodyPr/>
                    <a:lstStyle/>
                    <a:p>
                      <a:pPr algn="l"/>
                      <a:r>
                        <a:rPr lang="ja-JP" sz="900" b="1">
                          <a:solidFill>
                            <a:srgbClr val="000000"/>
                          </a:solidFill>
                          <a:latin typeface="游ゴシック" panose="020B0400000000000000" pitchFamily="50" charset="-128"/>
                          <a:ea typeface="游ゴシック" panose="020B0400000000000000" pitchFamily="50" charset="-128"/>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000" dirty="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△26,595</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売掛金（純額）</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△10,347</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短期貸付金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3,630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33172">
                <a:tc>
                  <a:txBody>
                    <a:bodyPr/>
                    <a:lstStyle/>
                    <a:p>
                      <a:pPr algn="l"/>
                      <a:r>
                        <a:rPr lang="ja-JP" altLang="en-US" sz="1000" b="0" dirty="0">
                          <a:solidFill>
                            <a:srgbClr val="000000"/>
                          </a:solidFill>
                          <a:latin typeface="游ゴシック" panose="020B0400000000000000" pitchFamily="50" charset="-128"/>
                          <a:ea typeface="游ゴシック" panose="020B0400000000000000" pitchFamily="50" charset="-128"/>
                        </a:rPr>
                        <a:t>その他流動資産</a:t>
                      </a:r>
                      <a:endParaRPr lang="ja-JP" sz="1000" b="0"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00" b="0" dirty="0">
                          <a:solidFill>
                            <a:srgbClr val="000000"/>
                          </a:solidFill>
                          <a:latin typeface="游ゴシック" panose="020B0400000000000000" pitchFamily="50" charset="-128"/>
                          <a:ea typeface="游ゴシック" panose="020B0400000000000000" pitchFamily="50" charset="-128"/>
                        </a:rPr>
                        <a:t>△2,719</a:t>
                      </a:r>
                      <a:endParaRPr lang="ja-JP" sz="1000" b="0"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33172">
                <a:tc>
                  <a:txBody>
                    <a:bodyPr/>
                    <a:lstStyle/>
                    <a:p>
                      <a:pPr algn="l"/>
                      <a:r>
                        <a:rPr lang="ja-JP" sz="1000" b="0" dirty="0">
                          <a:solidFill>
                            <a:srgbClr val="000000"/>
                          </a:solidFill>
                          <a:latin typeface="游ゴシック" panose="020B0400000000000000" pitchFamily="50" charset="-128"/>
                          <a:ea typeface="游ゴシック" panose="020B0400000000000000" pitchFamily="50" charset="-128"/>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△182,369</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a:solidFill>
                            <a:srgbClr val="000000"/>
                          </a:solidFill>
                          <a:latin typeface="游ゴシック" panose="020B0400000000000000" pitchFamily="50" charset="-128"/>
                          <a:ea typeface="游ゴシック" panose="020B0400000000000000" pitchFamily="50" charset="-128"/>
                        </a:rPr>
                        <a:t>△630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33172">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1000" b="1" dirty="0">
                          <a:solidFill>
                            <a:srgbClr val="000000"/>
                          </a:solidFill>
                          <a:latin typeface="游ゴシック" panose="020B0400000000000000" pitchFamily="50" charset="-128"/>
                          <a:ea typeface="游ゴシック" panose="020B0400000000000000" pitchFamily="50" charset="-128"/>
                        </a:rPr>
                        <a:t>△219,030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33172">
                <a:tc>
                  <a:txBody>
                    <a:bodyPr/>
                    <a:lstStyle/>
                    <a:p>
                      <a:pPr algn="l"/>
                      <a:r>
                        <a:rPr lang="ja-JP" sz="900" b="1">
                          <a:solidFill>
                            <a:srgbClr val="000000"/>
                          </a:solidFill>
                          <a:latin typeface="游ゴシック" panose="020B0400000000000000" pitchFamily="50" charset="-128"/>
                          <a:ea typeface="游ゴシック" panose="020B0400000000000000" pitchFamily="50" charset="-128"/>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000" dirty="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dirty="0">
                          <a:solidFill>
                            <a:srgbClr val="000000"/>
                          </a:solidFill>
                          <a:latin typeface="游ゴシック" panose="020B0400000000000000" pitchFamily="50" charset="-128"/>
                          <a:ea typeface="游ゴシック" panose="020B0400000000000000" pitchFamily="50" charset="-128"/>
                        </a:rPr>
                        <a:t>△3,890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00" b="0" dirty="0">
                          <a:solidFill>
                            <a:srgbClr val="000000"/>
                          </a:solidFill>
                          <a:latin typeface="游ゴシック" panose="020B0400000000000000" pitchFamily="50" charset="-128"/>
                          <a:ea typeface="游ゴシック" panose="020B0400000000000000" pitchFamily="50" charset="-128"/>
                        </a:rPr>
                        <a:t>△20,700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33172">
                <a:tc>
                  <a:txBody>
                    <a:bodyPr/>
                    <a:lstStyle/>
                    <a:p>
                      <a:pPr algn="l"/>
                      <a:r>
                        <a:rPr lang="ja-JP" sz="1000" b="0">
                          <a:solidFill>
                            <a:srgbClr val="000000"/>
                          </a:solidFill>
                          <a:latin typeface="游ゴシック" panose="020B0400000000000000" pitchFamily="50" charset="-128"/>
                          <a:ea typeface="游ゴシック" panose="020B0400000000000000" pitchFamily="50" charset="-128"/>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00" b="0" dirty="0">
                          <a:solidFill>
                            <a:srgbClr val="000000"/>
                          </a:solidFill>
                          <a:latin typeface="游ゴシック" panose="020B0400000000000000" pitchFamily="50" charset="-128"/>
                          <a:ea typeface="游ゴシック" panose="020B0400000000000000" pitchFamily="50" charset="-128"/>
                        </a:rPr>
                        <a:t>△194,440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33172">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1000" b="1" dirty="0">
                          <a:solidFill>
                            <a:srgbClr val="000000"/>
                          </a:solidFill>
                          <a:latin typeface="游ゴシック" panose="020B0400000000000000" pitchFamily="50" charset="-128"/>
                          <a:ea typeface="游ゴシック" panose="020B0400000000000000" pitchFamily="50" charset="-128"/>
                        </a:rPr>
                        <a:t>△219,030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sp>
        <p:nvSpPr>
          <p:cNvPr id="18" name="Right Arrow 210">
            <a:extLst>
              <a:ext uri="{FF2B5EF4-FFF2-40B4-BE49-F238E27FC236}">
                <a16:creationId xmlns:a16="http://schemas.microsoft.com/office/drawing/2014/main" id="{14CCB582-B84D-9D51-1492-126055481744}"/>
              </a:ext>
            </a:extLst>
          </p:cNvPr>
          <p:cNvSpPr/>
          <p:nvPr/>
        </p:nvSpPr>
        <p:spPr>
          <a:xfrm>
            <a:off x="3630463" y="3246120"/>
            <a:ext cx="384048" cy="4572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游ゴシック" panose="020B0400000000000000" pitchFamily="50" charset="-128"/>
              <a:ea typeface="游ゴシック" panose="020B0400000000000000" pitchFamily="50" charset="-128"/>
            </a:endParaRPr>
          </a:p>
        </p:txBody>
      </p:sp>
      <p:sp>
        <p:nvSpPr>
          <p:cNvPr id="22" name="Rectangle 212">
            <a:extLst>
              <a:ext uri="{FF2B5EF4-FFF2-40B4-BE49-F238E27FC236}">
                <a16:creationId xmlns:a16="http://schemas.microsoft.com/office/drawing/2014/main" id="{314FC119-6C6A-8CA7-0DBF-7A7ACAD7A3C0}"/>
              </a:ext>
            </a:extLst>
          </p:cNvPr>
          <p:cNvSpPr/>
          <p:nvPr/>
        </p:nvSpPr>
        <p:spPr>
          <a:xfrm>
            <a:off x="4416847" y="5413248"/>
            <a:ext cx="2633472" cy="384048"/>
          </a:xfrm>
          <a:prstGeom prst="rect">
            <a:avLst/>
          </a:prstGeom>
          <a:solidFill>
            <a:srgbClr val="ECF1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900" b="1">
                <a:solidFill>
                  <a:srgbClr val="203864"/>
                </a:solidFill>
                <a:latin typeface="游ゴシック" panose="020B0400000000000000" pitchFamily="50" charset="-128"/>
                <a:ea typeface="游ゴシック" panose="020B0400000000000000" pitchFamily="50" charset="-128"/>
              </a:rPr>
              <a:t>現預金 80,000 － 借入金 16,361</a:t>
            </a:r>
          </a:p>
          <a:p>
            <a:pPr algn="ctr"/>
            <a:r>
              <a:rPr lang="ja-JP" sz="900" b="1">
                <a:solidFill>
                  <a:srgbClr val="203864"/>
                </a:solidFill>
                <a:latin typeface="游ゴシック" panose="020B0400000000000000" pitchFamily="50" charset="-128"/>
                <a:ea typeface="游ゴシック" panose="020B0400000000000000" pitchFamily="50" charset="-128"/>
              </a:rPr>
              <a:t>＝ ネットキャッシュ 63,639</a:t>
            </a:r>
          </a:p>
        </p:txBody>
      </p:sp>
      <p:sp>
        <p:nvSpPr>
          <p:cNvPr id="26" name="テキスト ボックス 25">
            <a:extLst>
              <a:ext uri="{FF2B5EF4-FFF2-40B4-BE49-F238E27FC236}">
                <a16:creationId xmlns:a16="http://schemas.microsoft.com/office/drawing/2014/main" id="{C3A29D40-196F-1799-555E-99AD4D1659F4}"/>
              </a:ext>
            </a:extLst>
          </p:cNvPr>
          <p:cNvSpPr txBox="1"/>
          <p:nvPr/>
        </p:nvSpPr>
        <p:spPr>
          <a:xfrm>
            <a:off x="8712596" y="1631542"/>
            <a:ext cx="1529953" cy="246221"/>
          </a:xfrm>
          <a:prstGeom prst="rect">
            <a:avLst/>
          </a:prstGeom>
          <a:noFill/>
        </p:spPr>
        <p:txBody>
          <a:bodyPr wrap="square" rtlCol="0">
            <a:spAutoFit/>
          </a:bodyPr>
          <a:lstStyle/>
          <a:p>
            <a:pPr algn="r"/>
            <a:r>
              <a:rPr kumimoji="1" lang="ja-JP" altLang="en-US" sz="1000" dirty="0">
                <a:latin typeface="游ゴシック" panose="020B0400000000000000" pitchFamily="50" charset="-128"/>
                <a:ea typeface="游ゴシック" panose="020B0400000000000000" pitchFamily="50" charset="-128"/>
              </a:rPr>
              <a:t>（単位：千円）</a:t>
            </a:r>
          </a:p>
        </p:txBody>
      </p:sp>
    </p:spTree>
    <p:extLst>
      <p:ext uri="{BB962C8B-B14F-4D97-AF65-F5344CB8AC3E}">
        <p14:creationId xmlns:p14="http://schemas.microsoft.com/office/powerpoint/2010/main" val="715972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株式譲渡（新設会社株式100%）</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en-US" altLang="ja-JP" spc="50" dirty="0"/>
              <a:t>1.5</a:t>
            </a:r>
            <a:r>
              <a:rPr lang="ja-JP" altLang="en-US" spc="50" dirty="0"/>
              <a:t>億円以上</a:t>
            </a: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469852"/>
            <a:ext cx="7074659" cy="579646"/>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z="1800" spc="50" dirty="0"/>
              <a:t>加藤代表は譲受先にて継続勤務予定</a:t>
            </a:r>
            <a:endParaRPr lang="en-US" altLang="ja-JP" sz="1800" spc="50" dirty="0"/>
          </a:p>
          <a:p>
            <a:pPr marL="324000" indent="-324000" algn="l">
              <a:spcAft>
                <a:spcPts val="200"/>
              </a:spcAft>
              <a:buClr>
                <a:schemeClr val="tx2"/>
              </a:buClr>
              <a:buFont typeface="游ゴシック" panose="020B0400000000000000" pitchFamily="50" charset="-128"/>
              <a:buChar char="▪"/>
            </a:pPr>
            <a:r>
              <a:rPr lang="ja-JP" altLang="en-US" sz="1800" spc="50" dirty="0"/>
              <a:t>対象従業員の雇用条件を維持しての継続雇用</a:t>
            </a:r>
            <a:endParaRPr lang="en-US" altLang="ja-JP" sz="1800"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62504"/>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r>
              <a:rPr lang="ja-JP" altLang="en-US" spc="50" dirty="0"/>
              <a:t>事業の更なる発展</a:t>
            </a: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3" name="正方形/長方形 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5ABB9-865B-DB6D-63D8-34F292690175}"/>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1940ACD3-AA38-8E61-E8C8-DC7876845F67}"/>
              </a:ext>
            </a:extLst>
          </p:cNvPr>
          <p:cNvSpPr>
            <a:spLocks noGrp="1"/>
          </p:cNvSpPr>
          <p:nvPr>
            <p:ph type="ctrTitle"/>
          </p:nvPr>
        </p:nvSpPr>
        <p:spPr/>
        <p:txBody>
          <a:bodyPr/>
          <a:lstStyle/>
          <a:p>
            <a:r>
              <a:rPr lang="ja-JP" altLang="en-US" dirty="0"/>
              <a:t>事業内容</a:t>
            </a:r>
          </a:p>
        </p:txBody>
      </p:sp>
      <p:sp>
        <p:nvSpPr>
          <p:cNvPr id="20" name="タイトル 1">
            <a:extLst>
              <a:ext uri="{FF2B5EF4-FFF2-40B4-BE49-F238E27FC236}">
                <a16:creationId xmlns:a16="http://schemas.microsoft.com/office/drawing/2014/main" id="{A00432DE-34F5-530F-43CE-ECAE166FA98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事業概要</a:t>
            </a:r>
          </a:p>
        </p:txBody>
      </p:sp>
      <p:sp>
        <p:nvSpPr>
          <p:cNvPr id="35" name="字幕 13">
            <a:extLst>
              <a:ext uri="{FF2B5EF4-FFF2-40B4-BE49-F238E27FC236}">
                <a16:creationId xmlns:a16="http://schemas.microsoft.com/office/drawing/2014/main" id="{DB284D96-67C8-CB87-2FE2-A0EC64612118}"/>
              </a:ext>
            </a:extLst>
          </p:cNvPr>
          <p:cNvSpPr>
            <a:spLocks noGrp="1"/>
          </p:cNvSpPr>
          <p:nvPr>
            <p:ph type="subTitle" idx="1"/>
          </p:nvPr>
        </p:nvSpPr>
        <p:spPr>
          <a:xfrm>
            <a:off x="460675" y="830046"/>
            <a:ext cx="9781875" cy="241861"/>
          </a:xfrm>
        </p:spPr>
        <p:txBody>
          <a:bodyPr>
            <a:noAutofit/>
          </a:bodyPr>
          <a:lstStyle/>
          <a:p>
            <a:r>
              <a:rPr lang="en-US" altLang="ja-JP" dirty="0">
                <a:latin typeface="+mj-ea"/>
              </a:rPr>
              <a:t>Marketing Cloud </a:t>
            </a:r>
            <a:r>
              <a:rPr lang="ja-JP" altLang="en-US" dirty="0">
                <a:latin typeface="+mj-ea"/>
              </a:rPr>
              <a:t>（</a:t>
            </a:r>
            <a:r>
              <a:rPr lang="en-US" altLang="ja-JP" dirty="0">
                <a:latin typeface="+mj-ea"/>
              </a:rPr>
              <a:t>MC</a:t>
            </a:r>
            <a:r>
              <a:rPr lang="ja-JP" altLang="en-US" dirty="0">
                <a:latin typeface="+mj-ea"/>
              </a:rPr>
              <a:t>）の導入（インプリメント）自体を主体でするケースと運用支援のみを支援するケースが存在。基本的には全て直請けで受注しており、案件獲得は</a:t>
            </a:r>
            <a:r>
              <a:rPr lang="en-US" altLang="ja-JP" dirty="0">
                <a:latin typeface="+mj-ea"/>
              </a:rPr>
              <a:t>Salesforce</a:t>
            </a:r>
            <a:r>
              <a:rPr lang="ja-JP" altLang="en-US" dirty="0">
                <a:latin typeface="+mj-ea"/>
              </a:rPr>
              <a:t>社からのご紹介で成り立っている。</a:t>
            </a:r>
            <a:endParaRPr lang="en-US" altLang="ja-JP" dirty="0"/>
          </a:p>
          <a:p>
            <a:endParaRPr lang="en-US" altLang="ja-JP" dirty="0">
              <a:latin typeface="+mj-ea"/>
            </a:endParaRPr>
          </a:p>
        </p:txBody>
      </p:sp>
      <p:sp>
        <p:nvSpPr>
          <p:cNvPr id="66" name="テキスト ボックス 65">
            <a:extLst>
              <a:ext uri="{FF2B5EF4-FFF2-40B4-BE49-F238E27FC236}">
                <a16:creationId xmlns:a16="http://schemas.microsoft.com/office/drawing/2014/main" id="{9788FB5C-244F-734E-0764-A606FC9357D9}"/>
              </a:ext>
            </a:extLst>
          </p:cNvPr>
          <p:cNvSpPr txBox="1"/>
          <p:nvPr/>
        </p:nvSpPr>
        <p:spPr>
          <a:xfrm>
            <a:off x="655638" y="1630170"/>
            <a:ext cx="9380537" cy="307777"/>
          </a:xfrm>
          <a:prstGeom prst="rect">
            <a:avLst/>
          </a:prstGeom>
          <a:solidFill>
            <a:srgbClr val="0070C0"/>
          </a:solidFill>
        </p:spPr>
        <p:txBody>
          <a:bodyPr wrap="square" rtlCol="0">
            <a:spAutoFit/>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案件獲得～運用体制に関して</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106" name="四角形: 角を丸くする 105">
            <a:extLst>
              <a:ext uri="{FF2B5EF4-FFF2-40B4-BE49-F238E27FC236}">
                <a16:creationId xmlns:a16="http://schemas.microsoft.com/office/drawing/2014/main" id="{59641C0B-9550-8AE3-5364-A6037382A909}"/>
              </a:ext>
            </a:extLst>
          </p:cNvPr>
          <p:cNvSpPr/>
          <p:nvPr/>
        </p:nvSpPr>
        <p:spPr>
          <a:xfrm>
            <a:off x="655638" y="5945242"/>
            <a:ext cx="9380537" cy="895296"/>
          </a:xfrm>
          <a:prstGeom prst="roundRect">
            <a:avLst>
              <a:gd name="adj" fmla="val 1239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107" name="正方形/長方形 106">
            <a:extLst>
              <a:ext uri="{FF2B5EF4-FFF2-40B4-BE49-F238E27FC236}">
                <a16:creationId xmlns:a16="http://schemas.microsoft.com/office/drawing/2014/main" id="{FC7DE665-6AF9-777E-59D6-144B4D94089D}"/>
              </a:ext>
            </a:extLst>
          </p:cNvPr>
          <p:cNvSpPr/>
          <p:nvPr/>
        </p:nvSpPr>
        <p:spPr>
          <a:xfrm>
            <a:off x="2874939" y="6001945"/>
            <a:ext cx="4941934" cy="2241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u="sng" dirty="0">
                <a:solidFill>
                  <a:schemeClr val="tx1"/>
                </a:solidFill>
                <a:latin typeface="游ゴシック" panose="020B0400000000000000" pitchFamily="50" charset="-128"/>
                <a:ea typeface="游ゴシック" panose="020B0400000000000000" pitchFamily="50" charset="-128"/>
              </a:rPr>
              <a:t>Salesforce Marketing Cloud </a:t>
            </a:r>
            <a:r>
              <a:rPr kumimoji="1" lang="ja-JP" altLang="en-US" sz="1200" u="sng" dirty="0">
                <a:solidFill>
                  <a:schemeClr val="tx1"/>
                </a:solidFill>
                <a:latin typeface="游ゴシック" panose="020B0400000000000000" pitchFamily="50" charset="-128"/>
                <a:ea typeface="游ゴシック" panose="020B0400000000000000" pitchFamily="50" charset="-128"/>
              </a:rPr>
              <a:t>関連製品例</a:t>
            </a:r>
          </a:p>
        </p:txBody>
      </p:sp>
      <p:sp>
        <p:nvSpPr>
          <p:cNvPr id="108" name="四角形: 角を丸くする 107">
            <a:extLst>
              <a:ext uri="{FF2B5EF4-FFF2-40B4-BE49-F238E27FC236}">
                <a16:creationId xmlns:a16="http://schemas.microsoft.com/office/drawing/2014/main" id="{39AE79C4-1C51-B5D1-F2BD-DCFA004914B9}"/>
              </a:ext>
            </a:extLst>
          </p:cNvPr>
          <p:cNvSpPr/>
          <p:nvPr/>
        </p:nvSpPr>
        <p:spPr>
          <a:xfrm>
            <a:off x="808965" y="6343352"/>
            <a:ext cx="2049621" cy="413281"/>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latin typeface="游ゴシック" panose="020B0400000000000000" pitchFamily="50" charset="-128"/>
                <a:ea typeface="游ゴシック" panose="020B0400000000000000" pitchFamily="50" charset="-128"/>
              </a:rPr>
              <a:t>Service Cloud</a:t>
            </a:r>
          </a:p>
          <a:p>
            <a:pPr algn="ctr"/>
            <a:r>
              <a:rPr kumimoji="1" lang="ja-JP" altLang="en-US" sz="1000" dirty="0">
                <a:latin typeface="游ゴシック" panose="020B0400000000000000" pitchFamily="50" charset="-128"/>
                <a:ea typeface="游ゴシック" panose="020B0400000000000000" pitchFamily="50" charset="-128"/>
              </a:rPr>
              <a:t>問い合わせ管理・顧客管理</a:t>
            </a:r>
          </a:p>
        </p:txBody>
      </p:sp>
      <p:sp>
        <p:nvSpPr>
          <p:cNvPr id="109" name="四角形: 角を丸くする 108">
            <a:extLst>
              <a:ext uri="{FF2B5EF4-FFF2-40B4-BE49-F238E27FC236}">
                <a16:creationId xmlns:a16="http://schemas.microsoft.com/office/drawing/2014/main" id="{33900CDA-70EB-975F-258B-BA51513940E3}"/>
              </a:ext>
            </a:extLst>
          </p:cNvPr>
          <p:cNvSpPr/>
          <p:nvPr/>
        </p:nvSpPr>
        <p:spPr>
          <a:xfrm>
            <a:off x="3150386" y="6343352"/>
            <a:ext cx="2049621" cy="413281"/>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latin typeface="游ゴシック" panose="020B0400000000000000" pitchFamily="50" charset="-128"/>
                <a:ea typeface="游ゴシック" panose="020B0400000000000000" pitchFamily="50" charset="-128"/>
              </a:rPr>
              <a:t>Sales Cloud</a:t>
            </a:r>
          </a:p>
          <a:p>
            <a:pPr algn="ctr"/>
            <a:r>
              <a:rPr kumimoji="1" lang="ja-JP" altLang="en-US" sz="1000" dirty="0">
                <a:latin typeface="游ゴシック" panose="020B0400000000000000" pitchFamily="50" charset="-128"/>
                <a:ea typeface="游ゴシック" panose="020B0400000000000000" pitchFamily="50" charset="-128"/>
              </a:rPr>
              <a:t>営業支援</a:t>
            </a:r>
            <a:endParaRPr kumimoji="1" lang="en-US" altLang="ja-JP" sz="1000" dirty="0">
              <a:latin typeface="游ゴシック" panose="020B0400000000000000" pitchFamily="50" charset="-128"/>
              <a:ea typeface="游ゴシック" panose="020B0400000000000000" pitchFamily="50" charset="-128"/>
            </a:endParaRPr>
          </a:p>
        </p:txBody>
      </p:sp>
      <p:sp>
        <p:nvSpPr>
          <p:cNvPr id="110" name="四角形: 角を丸くする 109">
            <a:extLst>
              <a:ext uri="{FF2B5EF4-FFF2-40B4-BE49-F238E27FC236}">
                <a16:creationId xmlns:a16="http://schemas.microsoft.com/office/drawing/2014/main" id="{C0D2EF99-6EC4-6E76-1C94-3EC3C45D83F6}"/>
              </a:ext>
            </a:extLst>
          </p:cNvPr>
          <p:cNvSpPr/>
          <p:nvPr/>
        </p:nvSpPr>
        <p:spPr>
          <a:xfrm>
            <a:off x="5491807" y="6343352"/>
            <a:ext cx="2049621" cy="413281"/>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latin typeface="游ゴシック" panose="020B0400000000000000" pitchFamily="50" charset="-128"/>
                <a:ea typeface="游ゴシック" panose="020B0400000000000000" pitchFamily="50" charset="-128"/>
              </a:rPr>
              <a:t>Data Cloud</a:t>
            </a:r>
          </a:p>
          <a:p>
            <a:pPr algn="ctr"/>
            <a:r>
              <a:rPr kumimoji="1" lang="ja-JP" altLang="en-US" sz="900" dirty="0">
                <a:latin typeface="游ゴシック" panose="020B0400000000000000" pitchFamily="50" charset="-128"/>
                <a:ea typeface="游ゴシック" panose="020B0400000000000000" pitchFamily="50" charset="-128"/>
              </a:rPr>
              <a:t>カスタマーデータプラットフォーム</a:t>
            </a:r>
          </a:p>
        </p:txBody>
      </p:sp>
      <p:sp>
        <p:nvSpPr>
          <p:cNvPr id="111" name="四角形: 角を丸くする 110">
            <a:extLst>
              <a:ext uri="{FF2B5EF4-FFF2-40B4-BE49-F238E27FC236}">
                <a16:creationId xmlns:a16="http://schemas.microsoft.com/office/drawing/2014/main" id="{5EEB1974-4897-101C-CA60-F2342B8FE455}"/>
              </a:ext>
            </a:extLst>
          </p:cNvPr>
          <p:cNvSpPr/>
          <p:nvPr/>
        </p:nvSpPr>
        <p:spPr>
          <a:xfrm>
            <a:off x="7833227" y="6343352"/>
            <a:ext cx="2049621" cy="413281"/>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latin typeface="游ゴシック" panose="020B0400000000000000" pitchFamily="50" charset="-128"/>
                <a:ea typeface="游ゴシック" panose="020B0400000000000000" pitchFamily="50" charset="-128"/>
              </a:rPr>
              <a:t>Personalization</a:t>
            </a:r>
          </a:p>
          <a:p>
            <a:pPr algn="ctr"/>
            <a:r>
              <a:rPr kumimoji="1" lang="en-US" altLang="ja-JP" sz="1000" dirty="0">
                <a:latin typeface="游ゴシック" panose="020B0400000000000000" pitchFamily="50" charset="-128"/>
                <a:ea typeface="游ゴシック" panose="020B0400000000000000" pitchFamily="50" charset="-128"/>
              </a:rPr>
              <a:t>MC</a:t>
            </a:r>
            <a:r>
              <a:rPr kumimoji="1" lang="ja-JP" altLang="en-US" sz="1000" dirty="0">
                <a:latin typeface="游ゴシック" panose="020B0400000000000000" pitchFamily="50" charset="-128"/>
                <a:ea typeface="游ゴシック" panose="020B0400000000000000" pitchFamily="50" charset="-128"/>
              </a:rPr>
              <a:t>と連携する</a:t>
            </a:r>
            <a:r>
              <a:rPr kumimoji="1" lang="en-US" altLang="ja-JP" sz="1000" dirty="0">
                <a:latin typeface="游ゴシック" panose="020B0400000000000000" pitchFamily="50" charset="-128"/>
                <a:ea typeface="游ゴシック" panose="020B0400000000000000" pitchFamily="50" charset="-128"/>
              </a:rPr>
              <a:t>WEB</a:t>
            </a:r>
            <a:r>
              <a:rPr kumimoji="1" lang="ja-JP" altLang="en-US" sz="1000" dirty="0">
                <a:latin typeface="游ゴシック" panose="020B0400000000000000" pitchFamily="50" charset="-128"/>
                <a:ea typeface="游ゴシック" panose="020B0400000000000000" pitchFamily="50" charset="-128"/>
              </a:rPr>
              <a:t>接客ツール</a:t>
            </a:r>
          </a:p>
        </p:txBody>
      </p:sp>
      <p:sp>
        <p:nvSpPr>
          <p:cNvPr id="2" name="正方形/長方形 1">
            <a:extLst>
              <a:ext uri="{FF2B5EF4-FFF2-40B4-BE49-F238E27FC236}">
                <a16:creationId xmlns:a16="http://schemas.microsoft.com/office/drawing/2014/main" id="{226F1A23-C648-00C2-A520-CCD7C6E72709}"/>
              </a:ext>
            </a:extLst>
          </p:cNvPr>
          <p:cNvSpPr/>
          <p:nvPr/>
        </p:nvSpPr>
        <p:spPr>
          <a:xfrm>
            <a:off x="11029744" y="1784058"/>
            <a:ext cx="2428232" cy="26428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修正お願いします</a:t>
            </a:r>
          </a:p>
        </p:txBody>
      </p:sp>
      <p:pic>
        <p:nvPicPr>
          <p:cNvPr id="38" name="図 37">
            <a:extLst>
              <a:ext uri="{FF2B5EF4-FFF2-40B4-BE49-F238E27FC236}">
                <a16:creationId xmlns:a16="http://schemas.microsoft.com/office/drawing/2014/main" id="{1A1527C6-854D-C715-5B20-E66755D4796B}"/>
              </a:ext>
            </a:extLst>
          </p:cNvPr>
          <p:cNvPicPr>
            <a:picLocks noChangeAspect="1"/>
          </p:cNvPicPr>
          <p:nvPr/>
        </p:nvPicPr>
        <p:blipFill>
          <a:blip r:embed="rId3"/>
          <a:stretch>
            <a:fillRect/>
          </a:stretch>
        </p:blipFill>
        <p:spPr>
          <a:xfrm>
            <a:off x="655637" y="2329061"/>
            <a:ext cx="9380537" cy="3504453"/>
          </a:xfrm>
          <a:prstGeom prst="rect">
            <a:avLst/>
          </a:prstGeom>
        </p:spPr>
      </p:pic>
    </p:spTree>
    <p:extLst>
      <p:ext uri="{BB962C8B-B14F-4D97-AF65-F5344CB8AC3E}">
        <p14:creationId xmlns:p14="http://schemas.microsoft.com/office/powerpoint/2010/main" val="456844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a:xfrm>
            <a:off x="341313" y="180653"/>
            <a:ext cx="7799917" cy="338554"/>
          </a:xfrm>
        </p:spPr>
        <p:txBody>
          <a:bodyPr/>
          <a:lstStyle/>
          <a:p>
            <a:r>
              <a:rPr lang="ja-JP" altLang="en-US" dirty="0"/>
              <a:t>サービス概要</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6" name="字幕 13">
            <a:extLst>
              <a:ext uri="{FF2B5EF4-FFF2-40B4-BE49-F238E27FC236}">
                <a16:creationId xmlns:a16="http://schemas.microsoft.com/office/drawing/2014/main" id="{21FED23B-3111-0446-7785-EFA8A34128A9}"/>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Web</a:t>
            </a:r>
            <a:r>
              <a:rPr lang="ja-JP" altLang="en-US" dirty="0">
                <a:latin typeface="游ゴシック" panose="020B0400000000000000" pitchFamily="50" charset="-128"/>
                <a:ea typeface="游ゴシック" panose="020B0400000000000000" pitchFamily="50" charset="-128"/>
              </a:rPr>
              <a:t>サイトを起点とするあらゆるタッチポイントを網羅したサービスラインナップを提供。</a:t>
            </a:r>
          </a:p>
        </p:txBody>
      </p:sp>
      <p:pic>
        <p:nvPicPr>
          <p:cNvPr id="378" name="図 377">
            <a:extLst>
              <a:ext uri="{FF2B5EF4-FFF2-40B4-BE49-F238E27FC236}">
                <a16:creationId xmlns:a16="http://schemas.microsoft.com/office/drawing/2014/main" id="{2BB473D8-5195-F051-812C-BF8D318417B2}"/>
              </a:ext>
            </a:extLst>
          </p:cNvPr>
          <p:cNvPicPr>
            <a:picLocks noChangeAspect="1"/>
          </p:cNvPicPr>
          <p:nvPr/>
        </p:nvPicPr>
        <p:blipFill>
          <a:blip r:embed="rId3"/>
          <a:stretch>
            <a:fillRect/>
          </a:stretch>
        </p:blipFill>
        <p:spPr>
          <a:xfrm>
            <a:off x="366157" y="1465132"/>
            <a:ext cx="9959498" cy="4086878"/>
          </a:xfrm>
          <a:prstGeom prst="rect">
            <a:avLst/>
          </a:prstGeom>
        </p:spPr>
      </p:pic>
      <p:sp>
        <p:nvSpPr>
          <p:cNvPr id="379" name="二等辺三角形 378">
            <a:extLst>
              <a:ext uri="{FF2B5EF4-FFF2-40B4-BE49-F238E27FC236}">
                <a16:creationId xmlns:a16="http://schemas.microsoft.com/office/drawing/2014/main" id="{8EFF6264-0D9E-5E32-F6FD-2A31EBF0DE16}"/>
              </a:ext>
            </a:extLst>
          </p:cNvPr>
          <p:cNvSpPr/>
          <p:nvPr/>
        </p:nvSpPr>
        <p:spPr>
          <a:xfrm rot="10800000">
            <a:off x="2938301" y="5755211"/>
            <a:ext cx="4815212" cy="190024"/>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380" name="テキスト ボックス 379">
            <a:extLst>
              <a:ext uri="{FF2B5EF4-FFF2-40B4-BE49-F238E27FC236}">
                <a16:creationId xmlns:a16="http://schemas.microsoft.com/office/drawing/2014/main" id="{7D94344E-AB74-5FC1-169B-2EA1CF677E49}"/>
              </a:ext>
            </a:extLst>
          </p:cNvPr>
          <p:cNvSpPr txBox="1"/>
          <p:nvPr/>
        </p:nvSpPr>
        <p:spPr>
          <a:xfrm>
            <a:off x="1033283" y="6148437"/>
            <a:ext cx="8625245" cy="523220"/>
          </a:xfrm>
          <a:prstGeom prst="rect">
            <a:avLst/>
          </a:prstGeom>
          <a:solidFill>
            <a:srgbClr val="0070C0"/>
          </a:solidFill>
        </p:spPr>
        <p:txBody>
          <a:bodyPr wrap="square" rtlCol="0">
            <a:spAutoFit/>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提供サービスの中で、</a:t>
            </a:r>
            <a:r>
              <a:rPr kumimoji="1" lang="en-US" altLang="ja-JP" sz="1400" b="1" dirty="0">
                <a:solidFill>
                  <a:schemeClr val="bg1"/>
                </a:solidFill>
                <a:latin typeface="游ゴシック" panose="020B0400000000000000" pitchFamily="50" charset="-128"/>
                <a:ea typeface="游ゴシック" panose="020B0400000000000000" pitchFamily="50" charset="-128"/>
              </a:rPr>
              <a:t>Marketing Cloud </a:t>
            </a:r>
            <a:r>
              <a:rPr kumimoji="1" lang="ja-JP" altLang="en-US" sz="1400" b="1" dirty="0">
                <a:solidFill>
                  <a:schemeClr val="bg1"/>
                </a:solidFill>
                <a:latin typeface="游ゴシック" panose="020B0400000000000000" pitchFamily="50" charset="-128"/>
                <a:ea typeface="游ゴシック" panose="020B0400000000000000" pitchFamily="50" charset="-128"/>
              </a:rPr>
              <a:t>の導入・運用が</a:t>
            </a:r>
            <a:r>
              <a:rPr kumimoji="1" lang="en-US" altLang="ja-JP" sz="1400" b="1" dirty="0">
                <a:solidFill>
                  <a:schemeClr val="bg1"/>
                </a:solidFill>
                <a:latin typeface="游ゴシック" panose="020B0400000000000000" pitchFamily="50" charset="-128"/>
                <a:ea typeface="游ゴシック" panose="020B0400000000000000" pitchFamily="50" charset="-128"/>
              </a:rPr>
              <a:t>90%</a:t>
            </a:r>
            <a:r>
              <a:rPr kumimoji="1" lang="ja-JP" altLang="en-US" sz="1400" b="1" dirty="0">
                <a:solidFill>
                  <a:schemeClr val="bg1"/>
                </a:solidFill>
                <a:latin typeface="游ゴシック" panose="020B0400000000000000" pitchFamily="50" charset="-128"/>
                <a:ea typeface="游ゴシック" panose="020B0400000000000000" pitchFamily="50" charset="-128"/>
              </a:rPr>
              <a:t>以上を占めており、実績豊富。</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システムベンダーのコントロールなどプロジェクト推進に強みを有する。</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527513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7D4AD-0638-F17B-728F-EEE87DE024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A95BDCD-C314-D688-C568-652D11E484D9}"/>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6" name="字幕 13">
            <a:extLst>
              <a:ext uri="{FF2B5EF4-FFF2-40B4-BE49-F238E27FC236}">
                <a16:creationId xmlns:a16="http://schemas.microsoft.com/office/drawing/2014/main" id="{3486353E-9591-9D5E-87E5-3FC65CB65E03}"/>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Marketing Cloud </a:t>
            </a:r>
            <a:r>
              <a:rPr lang="ja-JP" altLang="en-US" dirty="0">
                <a:latin typeface="游ゴシック" panose="020B0400000000000000" pitchFamily="50" charset="-128"/>
                <a:ea typeface="游ゴシック" panose="020B0400000000000000" pitchFamily="50" charset="-128"/>
              </a:rPr>
              <a:t>利用企業様のリソースの一部として、専門スキルを保有したエンジニアを活用可能。</a:t>
            </a:r>
          </a:p>
          <a:p>
            <a:r>
              <a:rPr lang="ja-JP" altLang="en-US" dirty="0">
                <a:latin typeface="游ゴシック" panose="020B0400000000000000" pitchFamily="50" charset="-128"/>
                <a:ea typeface="游ゴシック" panose="020B0400000000000000" pitchFamily="50" charset="-128"/>
              </a:rPr>
              <a:t>実装内容に応じた金額変動はなく、毎月定額のサブスク型。契約時間内であれば依頼し放題であり、スピーディーな施策実施を支援可能。</a:t>
            </a:r>
          </a:p>
        </p:txBody>
      </p:sp>
      <p:sp>
        <p:nvSpPr>
          <p:cNvPr id="379" name="二等辺三角形 378">
            <a:extLst>
              <a:ext uri="{FF2B5EF4-FFF2-40B4-BE49-F238E27FC236}">
                <a16:creationId xmlns:a16="http://schemas.microsoft.com/office/drawing/2014/main" id="{7AE7212E-4CAC-1D5C-5075-BA5077AF13B5}"/>
              </a:ext>
            </a:extLst>
          </p:cNvPr>
          <p:cNvSpPr/>
          <p:nvPr/>
        </p:nvSpPr>
        <p:spPr>
          <a:xfrm rot="10800000">
            <a:off x="2938301" y="5770202"/>
            <a:ext cx="4815212" cy="190024"/>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7" name="タイトル 2">
            <a:extLst>
              <a:ext uri="{FF2B5EF4-FFF2-40B4-BE49-F238E27FC236}">
                <a16:creationId xmlns:a16="http://schemas.microsoft.com/office/drawing/2014/main" id="{FA7C5C11-9E51-9DAF-53F4-AABD1D334BE3}"/>
              </a:ext>
            </a:extLst>
          </p:cNvPr>
          <p:cNvSpPr>
            <a:spLocks noGrp="1"/>
          </p:cNvSpPr>
          <p:nvPr>
            <p:ph type="ctrTitle"/>
          </p:nvPr>
        </p:nvSpPr>
        <p:spPr>
          <a:xfrm>
            <a:off x="341313" y="180653"/>
            <a:ext cx="7799917" cy="338554"/>
          </a:xfrm>
        </p:spPr>
        <p:txBody>
          <a:bodyPr/>
          <a:lstStyle/>
          <a:p>
            <a:r>
              <a:rPr lang="ja-JP" altLang="en-US" dirty="0"/>
              <a:t>業務フロー</a:t>
            </a:r>
          </a:p>
        </p:txBody>
      </p:sp>
      <p:pic>
        <p:nvPicPr>
          <p:cNvPr id="374" name="図 373">
            <a:extLst>
              <a:ext uri="{FF2B5EF4-FFF2-40B4-BE49-F238E27FC236}">
                <a16:creationId xmlns:a16="http://schemas.microsoft.com/office/drawing/2014/main" id="{FE146A58-654D-8231-3737-979105F18888}"/>
              </a:ext>
            </a:extLst>
          </p:cNvPr>
          <p:cNvPicPr>
            <a:picLocks noChangeAspect="1"/>
          </p:cNvPicPr>
          <p:nvPr/>
        </p:nvPicPr>
        <p:blipFill>
          <a:blip r:embed="rId3"/>
          <a:stretch>
            <a:fillRect/>
          </a:stretch>
        </p:blipFill>
        <p:spPr>
          <a:xfrm>
            <a:off x="341313" y="1750171"/>
            <a:ext cx="10008244" cy="3845566"/>
          </a:xfrm>
          <a:prstGeom prst="rect">
            <a:avLst/>
          </a:prstGeom>
        </p:spPr>
      </p:pic>
      <p:sp>
        <p:nvSpPr>
          <p:cNvPr id="375" name="テキスト ボックス 374">
            <a:extLst>
              <a:ext uri="{FF2B5EF4-FFF2-40B4-BE49-F238E27FC236}">
                <a16:creationId xmlns:a16="http://schemas.microsoft.com/office/drawing/2014/main" id="{E87FBC53-F145-5970-2E5E-68AD9624B9B8}"/>
              </a:ext>
            </a:extLst>
          </p:cNvPr>
          <p:cNvSpPr txBox="1"/>
          <p:nvPr/>
        </p:nvSpPr>
        <p:spPr>
          <a:xfrm>
            <a:off x="1033284" y="6274001"/>
            <a:ext cx="8625245" cy="523220"/>
          </a:xfrm>
          <a:prstGeom prst="rect">
            <a:avLst/>
          </a:prstGeom>
          <a:solidFill>
            <a:srgbClr val="0070C0"/>
          </a:solidFill>
        </p:spPr>
        <p:txBody>
          <a:bodyPr wrap="square" rtlCol="0">
            <a:spAutoFit/>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Salesforce</a:t>
            </a:r>
            <a:r>
              <a:rPr kumimoji="1" lang="ja-JP" altLang="en-US" sz="1400" b="1" dirty="0">
                <a:solidFill>
                  <a:schemeClr val="bg1"/>
                </a:solidFill>
                <a:latin typeface="游ゴシック" panose="020B0400000000000000" pitchFamily="50" charset="-128"/>
                <a:ea typeface="游ゴシック" panose="020B0400000000000000" pitchFamily="50" charset="-128"/>
              </a:rPr>
              <a:t>製品群との連携や機能拡張をすることで、</a:t>
            </a:r>
            <a:r>
              <a:rPr kumimoji="1" lang="en-US" altLang="ja-JP" sz="1400" b="1" dirty="0">
                <a:solidFill>
                  <a:schemeClr val="bg1"/>
                </a:solidFill>
                <a:latin typeface="游ゴシック" panose="020B0400000000000000" pitchFamily="50" charset="-128"/>
                <a:ea typeface="游ゴシック" panose="020B0400000000000000" pitchFamily="50" charset="-128"/>
              </a:rPr>
              <a:t>SFA</a:t>
            </a:r>
            <a:r>
              <a:rPr kumimoji="1" lang="ja-JP" altLang="en-US" sz="1400" b="1" dirty="0">
                <a:solidFill>
                  <a:schemeClr val="bg1"/>
                </a:solidFill>
                <a:latin typeface="游ゴシック" panose="020B0400000000000000" pitchFamily="50" charset="-128"/>
                <a:ea typeface="游ゴシック" panose="020B0400000000000000" pitchFamily="50" charset="-128"/>
              </a:rPr>
              <a:t>（営業支援システム）や</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CRM</a:t>
            </a:r>
            <a:r>
              <a:rPr kumimoji="1" lang="ja-JP" altLang="en-US" sz="1400" b="1" dirty="0">
                <a:solidFill>
                  <a:schemeClr val="bg1"/>
                </a:solidFill>
                <a:latin typeface="游ゴシック" panose="020B0400000000000000" pitchFamily="50" charset="-128"/>
                <a:ea typeface="游ゴシック" panose="020B0400000000000000" pitchFamily="50" charset="-128"/>
              </a:rPr>
              <a:t>（顧客管理システム）に蓄積されるデータを活用したマーケティング活動を実現することが可能</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902364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4752A-F3F3-881D-F75F-B9D3374BA0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4F6B75-5A9D-62BA-7B33-A3F9460AF2B8}"/>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6" name="字幕 13">
            <a:extLst>
              <a:ext uri="{FF2B5EF4-FFF2-40B4-BE49-F238E27FC236}">
                <a16:creationId xmlns:a16="http://schemas.microsoft.com/office/drawing/2014/main" id="{E457F2C1-46F6-63CA-05CA-C534A0F4392B}"/>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Marketing Cloud Connect </a:t>
            </a:r>
            <a:r>
              <a:rPr lang="ja-JP" altLang="en-US" dirty="0">
                <a:latin typeface="游ゴシック" panose="020B0400000000000000" pitchFamily="50" charset="-128"/>
                <a:ea typeface="游ゴシック" panose="020B0400000000000000" pitchFamily="50" charset="-128"/>
              </a:rPr>
              <a:t>と呼ばれるコネクタ機能を使用することで、</a:t>
            </a:r>
            <a:r>
              <a:rPr lang="en-US" altLang="ja-JP" dirty="0">
                <a:latin typeface="游ゴシック" panose="020B0400000000000000" pitchFamily="50" charset="-128"/>
                <a:ea typeface="游ゴシック" panose="020B0400000000000000" pitchFamily="50" charset="-128"/>
              </a:rPr>
              <a:t>Marketing Cloud </a:t>
            </a:r>
            <a:r>
              <a:rPr lang="ja-JP" altLang="en-US" dirty="0">
                <a:latin typeface="游ゴシック" panose="020B0400000000000000" pitchFamily="50" charset="-128"/>
                <a:ea typeface="游ゴシック" panose="020B0400000000000000" pitchFamily="50" charset="-128"/>
              </a:rPr>
              <a:t>と </a:t>
            </a:r>
            <a:r>
              <a:rPr lang="en-US" altLang="ja-JP" dirty="0">
                <a:latin typeface="游ゴシック" panose="020B0400000000000000" pitchFamily="50" charset="-128"/>
                <a:ea typeface="游ゴシック" panose="020B0400000000000000" pitchFamily="50" charset="-128"/>
              </a:rPr>
              <a:t>Sales Cloud </a:t>
            </a:r>
            <a:r>
              <a:rPr lang="ja-JP" altLang="en-US" dirty="0">
                <a:latin typeface="游ゴシック" panose="020B0400000000000000" pitchFamily="50" charset="-128"/>
                <a:ea typeface="游ゴシック" panose="020B0400000000000000" pitchFamily="50" charset="-128"/>
              </a:rPr>
              <a:t>や </a:t>
            </a:r>
            <a:r>
              <a:rPr lang="en-US" altLang="ja-JP" dirty="0">
                <a:latin typeface="游ゴシック" panose="020B0400000000000000" pitchFamily="50" charset="-128"/>
                <a:ea typeface="游ゴシック" panose="020B0400000000000000" pitchFamily="50" charset="-128"/>
              </a:rPr>
              <a:t>Service Cloud</a:t>
            </a:r>
            <a:r>
              <a:rPr lang="ja-JP" altLang="en-US" dirty="0">
                <a:latin typeface="游ゴシック" panose="020B0400000000000000" pitchFamily="50" charset="-128"/>
                <a:ea typeface="游ゴシック" panose="020B0400000000000000" pitchFamily="50" charset="-128"/>
              </a:rPr>
              <a:t>を連携させることが可能。</a:t>
            </a:r>
          </a:p>
          <a:p>
            <a:r>
              <a:rPr lang="en-US" altLang="ja-JP" dirty="0">
                <a:latin typeface="游ゴシック" panose="020B0400000000000000" pitchFamily="50" charset="-128"/>
                <a:ea typeface="游ゴシック" panose="020B0400000000000000" pitchFamily="50" charset="-128"/>
              </a:rPr>
              <a:t>Marketing Cloud Engagement </a:t>
            </a:r>
            <a:r>
              <a:rPr lang="ja-JP" altLang="en-US" dirty="0">
                <a:latin typeface="游ゴシック" panose="020B0400000000000000" pitchFamily="50" charset="-128"/>
                <a:ea typeface="游ゴシック" panose="020B0400000000000000" pitchFamily="50" charset="-128"/>
              </a:rPr>
              <a:t>の製品概要と、その他 </a:t>
            </a:r>
            <a:r>
              <a:rPr lang="en-US" altLang="ja-JP" dirty="0">
                <a:latin typeface="游ゴシック" panose="020B0400000000000000" pitchFamily="50" charset="-128"/>
                <a:ea typeface="游ゴシック" panose="020B0400000000000000" pitchFamily="50" charset="-128"/>
              </a:rPr>
              <a:t>Marketing Cloud </a:t>
            </a:r>
            <a:r>
              <a:rPr lang="ja-JP" altLang="en-US" dirty="0">
                <a:latin typeface="游ゴシック" panose="020B0400000000000000" pitchFamily="50" charset="-128"/>
                <a:ea typeface="游ゴシック" panose="020B0400000000000000" pitchFamily="50" charset="-128"/>
              </a:rPr>
              <a:t>製品の関係は以下。</a:t>
            </a:r>
          </a:p>
        </p:txBody>
      </p:sp>
      <p:sp>
        <p:nvSpPr>
          <p:cNvPr id="7" name="タイトル 2">
            <a:extLst>
              <a:ext uri="{FF2B5EF4-FFF2-40B4-BE49-F238E27FC236}">
                <a16:creationId xmlns:a16="http://schemas.microsoft.com/office/drawing/2014/main" id="{5C7DA236-F494-FCD4-09CF-84FE52CCC7B9}"/>
              </a:ext>
            </a:extLst>
          </p:cNvPr>
          <p:cNvSpPr>
            <a:spLocks noGrp="1"/>
          </p:cNvSpPr>
          <p:nvPr>
            <p:ph type="ctrTitle"/>
          </p:nvPr>
        </p:nvSpPr>
        <p:spPr>
          <a:xfrm>
            <a:off x="341313" y="180653"/>
            <a:ext cx="7799917" cy="338554"/>
          </a:xfrm>
        </p:spPr>
        <p:txBody>
          <a:bodyPr/>
          <a:lstStyle/>
          <a:p>
            <a:r>
              <a:rPr lang="ja-JP" altLang="en-US" dirty="0"/>
              <a:t>参考）</a:t>
            </a:r>
            <a:r>
              <a:rPr lang="en-US" altLang="ja-JP" dirty="0"/>
              <a:t>Marketing Cloud</a:t>
            </a:r>
            <a:r>
              <a:rPr lang="ja-JP" altLang="en-US" dirty="0"/>
              <a:t>について</a:t>
            </a:r>
          </a:p>
        </p:txBody>
      </p:sp>
      <p:pic>
        <p:nvPicPr>
          <p:cNvPr id="3" name="Picture 2" descr="カスタマージャーニー">
            <a:extLst>
              <a:ext uri="{FF2B5EF4-FFF2-40B4-BE49-F238E27FC236}">
                <a16:creationId xmlns:a16="http://schemas.microsoft.com/office/drawing/2014/main" id="{D41ACE33-8530-BC22-4D8B-FC96390DE8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9704" y="1743929"/>
            <a:ext cx="8052405" cy="5234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1823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B41A-8ED8-672C-206A-C4C0B2B94A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E5796A1-F17B-62FC-5A74-A02394F0CF52}"/>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6" name="字幕 13">
            <a:extLst>
              <a:ext uri="{FF2B5EF4-FFF2-40B4-BE49-F238E27FC236}">
                <a16:creationId xmlns:a16="http://schemas.microsoft.com/office/drawing/2014/main" id="{A61863B8-75AE-996C-DDBE-DCE14D7F7C42}"/>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直近では、</a:t>
            </a:r>
            <a:r>
              <a:rPr lang="en-US" altLang="ja-JP" dirty="0">
                <a:latin typeface="游ゴシック" panose="020B0400000000000000" pitchFamily="50" charset="-128"/>
                <a:ea typeface="游ゴシック" panose="020B0400000000000000" pitchFamily="50" charset="-128"/>
              </a:rPr>
              <a:t>Marketing Cloud</a:t>
            </a:r>
            <a:r>
              <a:rPr lang="ja-JP" altLang="en-US" dirty="0">
                <a:latin typeface="游ゴシック" panose="020B0400000000000000" pitchFamily="50" charset="-128"/>
                <a:ea typeface="游ゴシック" panose="020B0400000000000000" pitchFamily="50" charset="-128"/>
              </a:rPr>
              <a:t>の導入だけではなく、</a:t>
            </a:r>
            <a:r>
              <a:rPr lang="en-US" altLang="ja-JP" dirty="0">
                <a:latin typeface="游ゴシック" panose="020B0400000000000000" pitchFamily="50" charset="-128"/>
                <a:ea typeface="游ゴシック" panose="020B0400000000000000" pitchFamily="50" charset="-128"/>
              </a:rPr>
              <a:t>Data Cloud</a:t>
            </a:r>
            <a:r>
              <a:rPr lang="ja-JP" altLang="en-US" dirty="0">
                <a:latin typeface="游ゴシック" panose="020B0400000000000000" pitchFamily="50" charset="-128"/>
                <a:ea typeface="游ゴシック" panose="020B0400000000000000" pitchFamily="50" charset="-128"/>
              </a:rPr>
              <a:t>の構築コンサル案件の引き合いも増加。</a:t>
            </a:r>
          </a:p>
          <a:p>
            <a:r>
              <a:rPr lang="ja-JP" altLang="en-US" dirty="0">
                <a:latin typeface="游ゴシック" panose="020B0400000000000000" pitchFamily="50" charset="-128"/>
                <a:ea typeface="游ゴシック" panose="020B0400000000000000" pitchFamily="50" charset="-128"/>
              </a:rPr>
              <a:t>特に</a:t>
            </a:r>
            <a:r>
              <a:rPr lang="en-US" altLang="ja-JP" dirty="0">
                <a:latin typeface="游ゴシック" panose="020B0400000000000000" pitchFamily="50" charset="-128"/>
                <a:ea typeface="游ゴシック" panose="020B0400000000000000" pitchFamily="50" charset="-128"/>
              </a:rPr>
              <a:t>Data Cloud</a:t>
            </a:r>
            <a:r>
              <a:rPr lang="ja-JP" altLang="en-US" dirty="0">
                <a:latin typeface="游ゴシック" panose="020B0400000000000000" pitchFamily="50" charset="-128"/>
                <a:ea typeface="游ゴシック" panose="020B0400000000000000" pitchFamily="50" charset="-128"/>
              </a:rPr>
              <a:t>は新商品ということもあり、理解しているパートナーは希少性が高い。</a:t>
            </a:r>
          </a:p>
        </p:txBody>
      </p:sp>
      <p:sp>
        <p:nvSpPr>
          <p:cNvPr id="7" name="タイトル 2">
            <a:extLst>
              <a:ext uri="{FF2B5EF4-FFF2-40B4-BE49-F238E27FC236}">
                <a16:creationId xmlns:a16="http://schemas.microsoft.com/office/drawing/2014/main" id="{58A2CAF9-E4CC-5760-E773-9F1BCE60A08A}"/>
              </a:ext>
            </a:extLst>
          </p:cNvPr>
          <p:cNvSpPr>
            <a:spLocks noGrp="1"/>
          </p:cNvSpPr>
          <p:nvPr>
            <p:ph type="ctrTitle"/>
          </p:nvPr>
        </p:nvSpPr>
        <p:spPr>
          <a:xfrm>
            <a:off x="341313" y="180653"/>
            <a:ext cx="7799917" cy="338554"/>
          </a:xfrm>
        </p:spPr>
        <p:txBody>
          <a:bodyPr/>
          <a:lstStyle/>
          <a:p>
            <a:r>
              <a:rPr lang="ja-JP" altLang="en-US" dirty="0"/>
              <a:t>業務フローと納品スケジュール</a:t>
            </a:r>
          </a:p>
        </p:txBody>
      </p:sp>
      <p:pic>
        <p:nvPicPr>
          <p:cNvPr id="334" name="図 333">
            <a:extLst>
              <a:ext uri="{FF2B5EF4-FFF2-40B4-BE49-F238E27FC236}">
                <a16:creationId xmlns:a16="http://schemas.microsoft.com/office/drawing/2014/main" id="{E6B22B0A-0C1A-6BBA-BBDF-247E1E35B234}"/>
              </a:ext>
            </a:extLst>
          </p:cNvPr>
          <p:cNvPicPr>
            <a:picLocks noChangeAspect="1"/>
          </p:cNvPicPr>
          <p:nvPr/>
        </p:nvPicPr>
        <p:blipFill>
          <a:blip r:embed="rId3"/>
          <a:stretch>
            <a:fillRect/>
          </a:stretch>
        </p:blipFill>
        <p:spPr>
          <a:xfrm>
            <a:off x="185889" y="2339915"/>
            <a:ext cx="10056661" cy="3926132"/>
          </a:xfrm>
          <a:prstGeom prst="rect">
            <a:avLst/>
          </a:prstGeom>
        </p:spPr>
      </p:pic>
      <p:sp>
        <p:nvSpPr>
          <p:cNvPr id="335" name="ホームベース 57">
            <a:extLst>
              <a:ext uri="{FF2B5EF4-FFF2-40B4-BE49-F238E27FC236}">
                <a16:creationId xmlns:a16="http://schemas.microsoft.com/office/drawing/2014/main" id="{FFBD68CE-5DC4-9360-785C-74294B475B74}"/>
              </a:ext>
            </a:extLst>
          </p:cNvPr>
          <p:cNvSpPr/>
          <p:nvPr/>
        </p:nvSpPr>
        <p:spPr>
          <a:xfrm>
            <a:off x="9124659" y="1813415"/>
            <a:ext cx="1117891" cy="313767"/>
          </a:xfrm>
          <a:prstGeom prst="homePlate">
            <a:avLst>
              <a:gd name="adj" fmla="val 32948"/>
            </a:avLst>
          </a:prstGeom>
          <a:solidFill>
            <a:schemeClr val="accent4">
              <a:lumMod val="20000"/>
              <a:lumOff val="8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ja-JP" altLang="en-US" sz="1000" dirty="0">
                <a:solidFill>
                  <a:schemeClr val="tx1"/>
                </a:solidFill>
                <a:latin typeface="游ゴシック" panose="020B0400000000000000" pitchFamily="50" charset="-128"/>
                <a:ea typeface="游ゴシック" panose="020B0400000000000000" pitchFamily="50" charset="-128"/>
              </a:rPr>
              <a:t>対象会社</a:t>
            </a:r>
            <a:endParaRPr lang="en-US" altLang="ja-JP" sz="1000" dirty="0">
              <a:solidFill>
                <a:schemeClr val="tx1"/>
              </a:solidFill>
              <a:latin typeface="游ゴシック" panose="020B0400000000000000" pitchFamily="50" charset="-128"/>
              <a:ea typeface="游ゴシック" panose="020B0400000000000000" pitchFamily="50" charset="-128"/>
            </a:endParaRPr>
          </a:p>
          <a:p>
            <a:pPr algn="ctr"/>
            <a:r>
              <a:rPr lang="ja-JP" altLang="en-US" sz="1000" dirty="0">
                <a:solidFill>
                  <a:schemeClr val="tx1"/>
                </a:solidFill>
                <a:latin typeface="游ゴシック" panose="020B0400000000000000" pitchFamily="50" charset="-128"/>
                <a:ea typeface="游ゴシック" panose="020B0400000000000000" pitchFamily="50" charset="-128"/>
              </a:rPr>
              <a:t>作業</a:t>
            </a:r>
          </a:p>
        </p:txBody>
      </p:sp>
      <p:sp>
        <p:nvSpPr>
          <p:cNvPr id="336" name="ホームベース 58">
            <a:extLst>
              <a:ext uri="{FF2B5EF4-FFF2-40B4-BE49-F238E27FC236}">
                <a16:creationId xmlns:a16="http://schemas.microsoft.com/office/drawing/2014/main" id="{4FAB4F68-6CE8-3296-DD41-C7E3B56506D6}"/>
              </a:ext>
            </a:extLst>
          </p:cNvPr>
          <p:cNvSpPr/>
          <p:nvPr/>
        </p:nvSpPr>
        <p:spPr>
          <a:xfrm>
            <a:off x="7899917" y="1813414"/>
            <a:ext cx="1117891" cy="313767"/>
          </a:xfrm>
          <a:prstGeom prst="homePlate">
            <a:avLst>
              <a:gd name="adj" fmla="val 32948"/>
            </a:avLst>
          </a:prstGeom>
          <a:solidFill>
            <a:schemeClr val="accent4">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ja-JP" altLang="en-US" sz="1000" dirty="0">
                <a:latin typeface="游ゴシック" panose="020B0400000000000000" pitchFamily="50" charset="-128"/>
                <a:ea typeface="游ゴシック" panose="020B0400000000000000" pitchFamily="50" charset="-128"/>
              </a:rPr>
              <a:t>クライアント</a:t>
            </a:r>
            <a:endParaRPr lang="en-US" altLang="ja-JP" sz="1000" dirty="0">
              <a:latin typeface="游ゴシック" panose="020B0400000000000000" pitchFamily="50" charset="-128"/>
              <a:ea typeface="游ゴシック" panose="020B0400000000000000" pitchFamily="50" charset="-128"/>
            </a:endParaRPr>
          </a:p>
          <a:p>
            <a:pPr algn="ctr"/>
            <a:r>
              <a:rPr lang="ja-JP" altLang="en-US" sz="1000" dirty="0">
                <a:latin typeface="游ゴシック" panose="020B0400000000000000" pitchFamily="50" charset="-128"/>
                <a:ea typeface="游ゴシック" panose="020B0400000000000000" pitchFamily="50" charset="-128"/>
              </a:rPr>
              <a:t>作業</a:t>
            </a:r>
          </a:p>
        </p:txBody>
      </p:sp>
    </p:spTree>
    <p:extLst>
      <p:ext uri="{BB962C8B-B14F-4D97-AF65-F5344CB8AC3E}">
        <p14:creationId xmlns:p14="http://schemas.microsoft.com/office/powerpoint/2010/main" val="694784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403D2-969A-67F0-0276-9C09D21432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593826-6821-E00F-2367-4C5A1244C4D9}"/>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6" name="字幕 13">
            <a:extLst>
              <a:ext uri="{FF2B5EF4-FFF2-40B4-BE49-F238E27FC236}">
                <a16:creationId xmlns:a16="http://schemas.microsoft.com/office/drawing/2014/main" id="{EF37CEEE-6BB1-1BA6-DB82-C73AF8B196E4}"/>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Marketing Cloud</a:t>
            </a:r>
            <a:r>
              <a:rPr lang="ja-JP" altLang="en-US" dirty="0">
                <a:latin typeface="游ゴシック" panose="020B0400000000000000" pitchFamily="50" charset="-128"/>
                <a:ea typeface="游ゴシック" panose="020B0400000000000000" pitchFamily="50" charset="-128"/>
              </a:rPr>
              <a:t>の導入は非常に負担のかかる作業になるため、専門的な知識を有する外部のパートナーと協力して進めることが一般的となっている。対象会社の料金体系は以下。</a:t>
            </a:r>
          </a:p>
        </p:txBody>
      </p:sp>
      <p:sp>
        <p:nvSpPr>
          <p:cNvPr id="7" name="タイトル 2">
            <a:extLst>
              <a:ext uri="{FF2B5EF4-FFF2-40B4-BE49-F238E27FC236}">
                <a16:creationId xmlns:a16="http://schemas.microsoft.com/office/drawing/2014/main" id="{CCAC65FE-4284-2392-2E0B-F4CE2FA66292}"/>
              </a:ext>
            </a:extLst>
          </p:cNvPr>
          <p:cNvSpPr>
            <a:spLocks noGrp="1"/>
          </p:cNvSpPr>
          <p:nvPr>
            <p:ph type="ctrTitle"/>
          </p:nvPr>
        </p:nvSpPr>
        <p:spPr>
          <a:xfrm>
            <a:off x="341313" y="180653"/>
            <a:ext cx="7799917" cy="338554"/>
          </a:xfrm>
        </p:spPr>
        <p:txBody>
          <a:bodyPr/>
          <a:lstStyle/>
          <a:p>
            <a:r>
              <a:rPr lang="ja-JP" altLang="en-US" dirty="0"/>
              <a:t>料金体系</a:t>
            </a:r>
          </a:p>
        </p:txBody>
      </p:sp>
      <p:pic>
        <p:nvPicPr>
          <p:cNvPr id="449" name="図 448">
            <a:extLst>
              <a:ext uri="{FF2B5EF4-FFF2-40B4-BE49-F238E27FC236}">
                <a16:creationId xmlns:a16="http://schemas.microsoft.com/office/drawing/2014/main" id="{79E2C4E9-ECC6-C294-C12B-5C2793FF30DD}"/>
              </a:ext>
            </a:extLst>
          </p:cNvPr>
          <p:cNvPicPr>
            <a:picLocks noChangeAspect="1"/>
          </p:cNvPicPr>
          <p:nvPr/>
        </p:nvPicPr>
        <p:blipFill>
          <a:blip r:embed="rId3"/>
          <a:stretch>
            <a:fillRect/>
          </a:stretch>
        </p:blipFill>
        <p:spPr>
          <a:xfrm>
            <a:off x="341312" y="1614789"/>
            <a:ext cx="10023565" cy="4487627"/>
          </a:xfrm>
          <a:prstGeom prst="rect">
            <a:avLst/>
          </a:prstGeom>
        </p:spPr>
      </p:pic>
    </p:spTree>
    <p:extLst>
      <p:ext uri="{BB962C8B-B14F-4D97-AF65-F5344CB8AC3E}">
        <p14:creationId xmlns:p14="http://schemas.microsoft.com/office/powerpoint/2010/main" val="666503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039F7-F9AB-7C0C-EBE7-B08BB790BF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BE8CC20-DC1F-5817-DD7D-4FCD17637062}"/>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6" name="字幕 13">
            <a:extLst>
              <a:ext uri="{FF2B5EF4-FFF2-40B4-BE49-F238E27FC236}">
                <a16:creationId xmlns:a16="http://schemas.microsoft.com/office/drawing/2014/main" id="{37517449-5689-E60B-3F45-ADC38857093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直近では、</a:t>
            </a:r>
            <a:r>
              <a:rPr lang="en-US" altLang="ja-JP" dirty="0">
                <a:latin typeface="游ゴシック" panose="020B0400000000000000" pitchFamily="50" charset="-128"/>
                <a:ea typeface="游ゴシック" panose="020B0400000000000000" pitchFamily="50" charset="-128"/>
              </a:rPr>
              <a:t>Marketing Cloud</a:t>
            </a:r>
            <a:r>
              <a:rPr lang="ja-JP" altLang="en-US" dirty="0">
                <a:latin typeface="游ゴシック" panose="020B0400000000000000" pitchFamily="50" charset="-128"/>
                <a:ea typeface="游ゴシック" panose="020B0400000000000000" pitchFamily="50" charset="-128"/>
              </a:rPr>
              <a:t>の導入だけではなく、</a:t>
            </a:r>
            <a:r>
              <a:rPr lang="en-US" altLang="ja-JP" dirty="0">
                <a:latin typeface="游ゴシック" panose="020B0400000000000000" pitchFamily="50" charset="-128"/>
                <a:ea typeface="游ゴシック" panose="020B0400000000000000" pitchFamily="50" charset="-128"/>
              </a:rPr>
              <a:t>Data Cloud</a:t>
            </a:r>
            <a:r>
              <a:rPr lang="ja-JP" altLang="en-US" dirty="0">
                <a:latin typeface="游ゴシック" panose="020B0400000000000000" pitchFamily="50" charset="-128"/>
                <a:ea typeface="游ゴシック" panose="020B0400000000000000" pitchFamily="50" charset="-128"/>
              </a:rPr>
              <a:t>の構築コンサル案件の引き合いも増加。</a:t>
            </a:r>
          </a:p>
          <a:p>
            <a:r>
              <a:rPr lang="ja-JP" altLang="en-US" dirty="0">
                <a:latin typeface="游ゴシック" panose="020B0400000000000000" pitchFamily="50" charset="-128"/>
                <a:ea typeface="游ゴシック" panose="020B0400000000000000" pitchFamily="50" charset="-128"/>
              </a:rPr>
              <a:t>特に</a:t>
            </a:r>
            <a:r>
              <a:rPr lang="en-US" altLang="ja-JP" dirty="0">
                <a:latin typeface="游ゴシック" panose="020B0400000000000000" pitchFamily="50" charset="-128"/>
                <a:ea typeface="游ゴシック" panose="020B0400000000000000" pitchFamily="50" charset="-128"/>
              </a:rPr>
              <a:t>Data Cloud</a:t>
            </a:r>
            <a:r>
              <a:rPr lang="ja-JP" altLang="en-US" dirty="0">
                <a:latin typeface="游ゴシック" panose="020B0400000000000000" pitchFamily="50" charset="-128"/>
                <a:ea typeface="游ゴシック" panose="020B0400000000000000" pitchFamily="50" charset="-128"/>
              </a:rPr>
              <a:t>は新商品ということもあり、理解しているパートナーは希少性が高い。</a:t>
            </a:r>
          </a:p>
        </p:txBody>
      </p:sp>
      <p:sp>
        <p:nvSpPr>
          <p:cNvPr id="7" name="タイトル 2">
            <a:extLst>
              <a:ext uri="{FF2B5EF4-FFF2-40B4-BE49-F238E27FC236}">
                <a16:creationId xmlns:a16="http://schemas.microsoft.com/office/drawing/2014/main" id="{79115B7A-6251-08DA-4BA3-CFE9BD69DB6E}"/>
              </a:ext>
            </a:extLst>
          </p:cNvPr>
          <p:cNvSpPr>
            <a:spLocks noGrp="1"/>
          </p:cNvSpPr>
          <p:nvPr>
            <p:ph type="ctrTitle"/>
          </p:nvPr>
        </p:nvSpPr>
        <p:spPr>
          <a:xfrm>
            <a:off x="341313" y="180653"/>
            <a:ext cx="7799917" cy="338554"/>
          </a:xfrm>
        </p:spPr>
        <p:txBody>
          <a:bodyPr/>
          <a:lstStyle/>
          <a:p>
            <a:r>
              <a:rPr lang="ja-JP" altLang="en-US" dirty="0"/>
              <a:t>パッケージ例｜初期構築フェーズ</a:t>
            </a:r>
          </a:p>
        </p:txBody>
      </p:sp>
      <p:graphicFrame>
        <p:nvGraphicFramePr>
          <p:cNvPr id="14" name="表 17">
            <a:extLst>
              <a:ext uri="{FF2B5EF4-FFF2-40B4-BE49-F238E27FC236}">
                <a16:creationId xmlns:a16="http://schemas.microsoft.com/office/drawing/2014/main" id="{4EBE243A-E4C3-6151-6A23-5A64DD7A89B7}"/>
              </a:ext>
            </a:extLst>
          </p:cNvPr>
          <p:cNvGraphicFramePr>
            <a:graphicFrameLocks noGrp="1"/>
          </p:cNvGraphicFramePr>
          <p:nvPr>
            <p:extLst>
              <p:ext uri="{D42A27DB-BD31-4B8C-83A1-F6EECF244321}">
                <p14:modId xmlns:p14="http://schemas.microsoft.com/office/powerpoint/2010/main" val="3998184726"/>
              </p:ext>
            </p:extLst>
          </p:nvPr>
        </p:nvGraphicFramePr>
        <p:xfrm>
          <a:off x="395287" y="1565064"/>
          <a:ext cx="9847263" cy="4883127"/>
        </p:xfrm>
        <a:graphic>
          <a:graphicData uri="http://schemas.openxmlformats.org/drawingml/2006/table">
            <a:tbl>
              <a:tblPr firstRow="1" bandRow="1"/>
              <a:tblGrid>
                <a:gridCol w="355186">
                  <a:extLst>
                    <a:ext uri="{9D8B030D-6E8A-4147-A177-3AD203B41FA5}">
                      <a16:colId xmlns:a16="http://schemas.microsoft.com/office/drawing/2014/main" val="2851522363"/>
                    </a:ext>
                  </a:extLst>
                </a:gridCol>
                <a:gridCol w="2145003">
                  <a:extLst>
                    <a:ext uri="{9D8B030D-6E8A-4147-A177-3AD203B41FA5}">
                      <a16:colId xmlns:a16="http://schemas.microsoft.com/office/drawing/2014/main" val="3157970851"/>
                    </a:ext>
                  </a:extLst>
                </a:gridCol>
                <a:gridCol w="2011699">
                  <a:extLst>
                    <a:ext uri="{9D8B030D-6E8A-4147-A177-3AD203B41FA5}">
                      <a16:colId xmlns:a16="http://schemas.microsoft.com/office/drawing/2014/main" val="540388227"/>
                    </a:ext>
                  </a:extLst>
                </a:gridCol>
                <a:gridCol w="4062576">
                  <a:extLst>
                    <a:ext uri="{9D8B030D-6E8A-4147-A177-3AD203B41FA5}">
                      <a16:colId xmlns:a16="http://schemas.microsoft.com/office/drawing/2014/main" val="1007001580"/>
                    </a:ext>
                  </a:extLst>
                </a:gridCol>
                <a:gridCol w="1272799">
                  <a:extLst>
                    <a:ext uri="{9D8B030D-6E8A-4147-A177-3AD203B41FA5}">
                      <a16:colId xmlns:a16="http://schemas.microsoft.com/office/drawing/2014/main" val="4127794716"/>
                    </a:ext>
                  </a:extLst>
                </a:gridCol>
              </a:tblGrid>
              <a:tr h="224365">
                <a:tc>
                  <a:txBody>
                    <a:bodyPr/>
                    <a:lstStyle>
                      <a:lvl1pPr marL="0" algn="l" defTabSz="914400" rtl="0" eaLnBrk="1" latinLnBrk="0" hangingPunct="1">
                        <a:defRPr kumimoji="1" sz="1800" b="1" kern="1200">
                          <a:solidFill>
                            <a:schemeClr val="lt1"/>
                          </a:solidFill>
                          <a:latin typeface="Calibri" panose="020F0502020204030204"/>
                        </a:defRPr>
                      </a:lvl1pPr>
                      <a:lvl2pPr marL="457200" algn="l" defTabSz="914400" rtl="0" eaLnBrk="1" latinLnBrk="0" hangingPunct="1">
                        <a:defRPr kumimoji="1" sz="1800" b="1" kern="1200">
                          <a:solidFill>
                            <a:schemeClr val="lt1"/>
                          </a:solidFill>
                          <a:latin typeface="Calibri" panose="020F0502020204030204"/>
                        </a:defRPr>
                      </a:lvl2pPr>
                      <a:lvl3pPr marL="914400" algn="l" defTabSz="914400" rtl="0" eaLnBrk="1" latinLnBrk="0" hangingPunct="1">
                        <a:defRPr kumimoji="1" sz="1800" b="1" kern="1200">
                          <a:solidFill>
                            <a:schemeClr val="lt1"/>
                          </a:solidFill>
                          <a:latin typeface="Calibri" panose="020F0502020204030204"/>
                        </a:defRPr>
                      </a:lvl3pPr>
                      <a:lvl4pPr marL="1371600" algn="l" defTabSz="914400" rtl="0" eaLnBrk="1" latinLnBrk="0" hangingPunct="1">
                        <a:defRPr kumimoji="1" sz="1800" b="1" kern="1200">
                          <a:solidFill>
                            <a:schemeClr val="lt1"/>
                          </a:solidFill>
                          <a:latin typeface="Calibri" panose="020F0502020204030204"/>
                        </a:defRPr>
                      </a:lvl4pPr>
                      <a:lvl5pPr marL="1828800" algn="l" defTabSz="914400" rtl="0" eaLnBrk="1" latinLnBrk="0" hangingPunct="1">
                        <a:defRPr kumimoji="1" sz="1800" b="1" kern="1200">
                          <a:solidFill>
                            <a:schemeClr val="lt1"/>
                          </a:solidFill>
                          <a:latin typeface="Calibri" panose="020F0502020204030204"/>
                        </a:defRPr>
                      </a:lvl5pPr>
                      <a:lvl6pPr marL="2286000" algn="l" defTabSz="914400" rtl="0" eaLnBrk="1" latinLnBrk="0" hangingPunct="1">
                        <a:defRPr kumimoji="1" sz="1800" b="1" kern="1200">
                          <a:solidFill>
                            <a:schemeClr val="lt1"/>
                          </a:solidFill>
                          <a:latin typeface="Calibri" panose="020F0502020204030204"/>
                        </a:defRPr>
                      </a:lvl6pPr>
                      <a:lvl7pPr marL="2743200" algn="l" defTabSz="914400" rtl="0" eaLnBrk="1" latinLnBrk="0" hangingPunct="1">
                        <a:defRPr kumimoji="1" sz="1800" b="1" kern="1200">
                          <a:solidFill>
                            <a:schemeClr val="lt1"/>
                          </a:solidFill>
                          <a:latin typeface="Calibri" panose="020F0502020204030204"/>
                        </a:defRPr>
                      </a:lvl7pPr>
                      <a:lvl8pPr marL="3200400" algn="l" defTabSz="914400" rtl="0" eaLnBrk="1" latinLnBrk="0" hangingPunct="1">
                        <a:defRPr kumimoji="1" sz="1800" b="1" kern="1200">
                          <a:solidFill>
                            <a:schemeClr val="lt1"/>
                          </a:solidFill>
                          <a:latin typeface="Calibri" panose="020F0502020204030204"/>
                        </a:defRPr>
                      </a:lvl8pPr>
                      <a:lvl9pPr marL="3657600" algn="l" defTabSz="914400" rtl="0" eaLnBrk="1" latinLnBrk="0" hangingPunct="1">
                        <a:defRPr kumimoji="1" sz="1800" b="1" kern="1200">
                          <a:solidFill>
                            <a:schemeClr val="lt1"/>
                          </a:solidFill>
                          <a:latin typeface="Calibri" panose="020F0502020204030204"/>
                        </a:defRPr>
                      </a:lvl9pPr>
                    </a:lstStyle>
                    <a:p>
                      <a:pPr algn="ctr"/>
                      <a:r>
                        <a:rPr kumimoji="1" lang="en-US" altLang="ja-JP" sz="1050" dirty="0">
                          <a:solidFill>
                            <a:schemeClr val="bg1"/>
                          </a:solidFill>
                          <a:latin typeface="游ゴシック" panose="020B0400000000000000" pitchFamily="50" charset="-128"/>
                          <a:ea typeface="游ゴシック" panose="020B0400000000000000" pitchFamily="50" charset="-128"/>
                        </a:rPr>
                        <a:t>#</a:t>
                      </a:r>
                      <a:endParaRPr kumimoji="1" lang="ja-JP" altLang="en-US" sz="1050" dirty="0">
                        <a:solidFill>
                          <a:schemeClr val="bg1"/>
                        </a:solidFill>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kumimoji="1" sz="1800" b="1" kern="1200">
                          <a:solidFill>
                            <a:schemeClr val="lt1"/>
                          </a:solidFill>
                          <a:latin typeface="Calibri" panose="020F0502020204030204"/>
                        </a:defRPr>
                      </a:lvl1pPr>
                      <a:lvl2pPr marL="457200" algn="l" defTabSz="914400" rtl="0" eaLnBrk="1" latinLnBrk="0" hangingPunct="1">
                        <a:defRPr kumimoji="1" sz="1800" b="1" kern="1200">
                          <a:solidFill>
                            <a:schemeClr val="lt1"/>
                          </a:solidFill>
                          <a:latin typeface="Calibri" panose="020F0502020204030204"/>
                        </a:defRPr>
                      </a:lvl2pPr>
                      <a:lvl3pPr marL="914400" algn="l" defTabSz="914400" rtl="0" eaLnBrk="1" latinLnBrk="0" hangingPunct="1">
                        <a:defRPr kumimoji="1" sz="1800" b="1" kern="1200">
                          <a:solidFill>
                            <a:schemeClr val="lt1"/>
                          </a:solidFill>
                          <a:latin typeface="Calibri" panose="020F0502020204030204"/>
                        </a:defRPr>
                      </a:lvl3pPr>
                      <a:lvl4pPr marL="1371600" algn="l" defTabSz="914400" rtl="0" eaLnBrk="1" latinLnBrk="0" hangingPunct="1">
                        <a:defRPr kumimoji="1" sz="1800" b="1" kern="1200">
                          <a:solidFill>
                            <a:schemeClr val="lt1"/>
                          </a:solidFill>
                          <a:latin typeface="Calibri" panose="020F0502020204030204"/>
                        </a:defRPr>
                      </a:lvl4pPr>
                      <a:lvl5pPr marL="1828800" algn="l" defTabSz="914400" rtl="0" eaLnBrk="1" latinLnBrk="0" hangingPunct="1">
                        <a:defRPr kumimoji="1" sz="1800" b="1" kern="1200">
                          <a:solidFill>
                            <a:schemeClr val="lt1"/>
                          </a:solidFill>
                          <a:latin typeface="Calibri" panose="020F0502020204030204"/>
                        </a:defRPr>
                      </a:lvl5pPr>
                      <a:lvl6pPr marL="2286000" algn="l" defTabSz="914400" rtl="0" eaLnBrk="1" latinLnBrk="0" hangingPunct="1">
                        <a:defRPr kumimoji="1" sz="1800" b="1" kern="1200">
                          <a:solidFill>
                            <a:schemeClr val="lt1"/>
                          </a:solidFill>
                          <a:latin typeface="Calibri" panose="020F0502020204030204"/>
                        </a:defRPr>
                      </a:lvl6pPr>
                      <a:lvl7pPr marL="2743200" algn="l" defTabSz="914400" rtl="0" eaLnBrk="1" latinLnBrk="0" hangingPunct="1">
                        <a:defRPr kumimoji="1" sz="1800" b="1" kern="1200">
                          <a:solidFill>
                            <a:schemeClr val="lt1"/>
                          </a:solidFill>
                          <a:latin typeface="Calibri" panose="020F0502020204030204"/>
                        </a:defRPr>
                      </a:lvl7pPr>
                      <a:lvl8pPr marL="3200400" algn="l" defTabSz="914400" rtl="0" eaLnBrk="1" latinLnBrk="0" hangingPunct="1">
                        <a:defRPr kumimoji="1" sz="1800" b="1" kern="1200">
                          <a:solidFill>
                            <a:schemeClr val="lt1"/>
                          </a:solidFill>
                          <a:latin typeface="Calibri" panose="020F0502020204030204"/>
                        </a:defRPr>
                      </a:lvl8pPr>
                      <a:lvl9pPr marL="3657600" algn="l" defTabSz="914400" rtl="0" eaLnBrk="1" latinLnBrk="0" hangingPunct="1">
                        <a:defRPr kumimoji="1" sz="1800" b="1" kern="1200">
                          <a:solidFill>
                            <a:schemeClr val="lt1"/>
                          </a:solidFill>
                          <a:latin typeface="Calibri" panose="020F0502020204030204"/>
                        </a:defRPr>
                      </a:lvl9pPr>
                    </a:lstStyle>
                    <a:p>
                      <a:pPr algn="ctr"/>
                      <a:r>
                        <a:rPr kumimoji="1" lang="ja-JP" altLang="en-US" sz="1050" dirty="0">
                          <a:solidFill>
                            <a:schemeClr val="bg1"/>
                          </a:solidFill>
                          <a:latin typeface="游ゴシック" panose="020B0400000000000000" pitchFamily="50" charset="-128"/>
                          <a:ea typeface="游ゴシック" panose="020B0400000000000000" pitchFamily="50" charset="-128"/>
                        </a:rPr>
                        <a:t>ご支援内容</a:t>
                      </a: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kumimoji="1" sz="1800" b="1" kern="1200">
                          <a:solidFill>
                            <a:schemeClr val="lt1"/>
                          </a:solidFill>
                          <a:latin typeface="Calibri" panose="020F0502020204030204"/>
                        </a:defRPr>
                      </a:lvl1pPr>
                      <a:lvl2pPr marL="457200" algn="l" defTabSz="914400" rtl="0" eaLnBrk="1" latinLnBrk="0" hangingPunct="1">
                        <a:defRPr kumimoji="1" sz="1800" b="1" kern="1200">
                          <a:solidFill>
                            <a:schemeClr val="lt1"/>
                          </a:solidFill>
                          <a:latin typeface="Calibri" panose="020F0502020204030204"/>
                        </a:defRPr>
                      </a:lvl2pPr>
                      <a:lvl3pPr marL="914400" algn="l" defTabSz="914400" rtl="0" eaLnBrk="1" latinLnBrk="0" hangingPunct="1">
                        <a:defRPr kumimoji="1" sz="1800" b="1" kern="1200">
                          <a:solidFill>
                            <a:schemeClr val="lt1"/>
                          </a:solidFill>
                          <a:latin typeface="Calibri" panose="020F0502020204030204"/>
                        </a:defRPr>
                      </a:lvl3pPr>
                      <a:lvl4pPr marL="1371600" algn="l" defTabSz="914400" rtl="0" eaLnBrk="1" latinLnBrk="0" hangingPunct="1">
                        <a:defRPr kumimoji="1" sz="1800" b="1" kern="1200">
                          <a:solidFill>
                            <a:schemeClr val="lt1"/>
                          </a:solidFill>
                          <a:latin typeface="Calibri" panose="020F0502020204030204"/>
                        </a:defRPr>
                      </a:lvl4pPr>
                      <a:lvl5pPr marL="1828800" algn="l" defTabSz="914400" rtl="0" eaLnBrk="1" latinLnBrk="0" hangingPunct="1">
                        <a:defRPr kumimoji="1" sz="1800" b="1" kern="1200">
                          <a:solidFill>
                            <a:schemeClr val="lt1"/>
                          </a:solidFill>
                          <a:latin typeface="Calibri" panose="020F0502020204030204"/>
                        </a:defRPr>
                      </a:lvl5pPr>
                      <a:lvl6pPr marL="2286000" algn="l" defTabSz="914400" rtl="0" eaLnBrk="1" latinLnBrk="0" hangingPunct="1">
                        <a:defRPr kumimoji="1" sz="1800" b="1" kern="1200">
                          <a:solidFill>
                            <a:schemeClr val="lt1"/>
                          </a:solidFill>
                          <a:latin typeface="Calibri" panose="020F0502020204030204"/>
                        </a:defRPr>
                      </a:lvl6pPr>
                      <a:lvl7pPr marL="2743200" algn="l" defTabSz="914400" rtl="0" eaLnBrk="1" latinLnBrk="0" hangingPunct="1">
                        <a:defRPr kumimoji="1" sz="1800" b="1" kern="1200">
                          <a:solidFill>
                            <a:schemeClr val="lt1"/>
                          </a:solidFill>
                          <a:latin typeface="Calibri" panose="020F0502020204030204"/>
                        </a:defRPr>
                      </a:lvl7pPr>
                      <a:lvl8pPr marL="3200400" algn="l" defTabSz="914400" rtl="0" eaLnBrk="1" latinLnBrk="0" hangingPunct="1">
                        <a:defRPr kumimoji="1" sz="1800" b="1" kern="1200">
                          <a:solidFill>
                            <a:schemeClr val="lt1"/>
                          </a:solidFill>
                          <a:latin typeface="Calibri" panose="020F0502020204030204"/>
                        </a:defRPr>
                      </a:lvl8pPr>
                      <a:lvl9pPr marL="3657600" algn="l" defTabSz="914400" rtl="0" eaLnBrk="1" latinLnBrk="0" hangingPunct="1">
                        <a:defRPr kumimoji="1" sz="1800" b="1" kern="1200">
                          <a:solidFill>
                            <a:schemeClr val="lt1"/>
                          </a:solidFill>
                          <a:latin typeface="Calibri" panose="020F0502020204030204"/>
                        </a:defRPr>
                      </a:lvl9pPr>
                    </a:lstStyle>
                    <a:p>
                      <a:pPr algn="ctr"/>
                      <a:r>
                        <a:rPr kumimoji="1" lang="ja-JP" altLang="en-US" sz="1050">
                          <a:solidFill>
                            <a:schemeClr val="bg1"/>
                          </a:solidFill>
                          <a:latin typeface="游ゴシック" panose="020B0400000000000000" pitchFamily="50" charset="-128"/>
                          <a:ea typeface="游ゴシック" panose="020B0400000000000000" pitchFamily="50" charset="-128"/>
                        </a:rPr>
                        <a:t>内容</a:t>
                      </a: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kumimoji="1" sz="1800" b="1" kern="1200">
                          <a:solidFill>
                            <a:schemeClr val="lt1"/>
                          </a:solidFill>
                          <a:latin typeface="Calibri" panose="020F0502020204030204"/>
                        </a:defRPr>
                      </a:lvl1pPr>
                      <a:lvl2pPr marL="457200" algn="l" defTabSz="914400" rtl="0" eaLnBrk="1" latinLnBrk="0" hangingPunct="1">
                        <a:defRPr kumimoji="1" sz="1800" b="1" kern="1200">
                          <a:solidFill>
                            <a:schemeClr val="lt1"/>
                          </a:solidFill>
                          <a:latin typeface="Calibri" panose="020F0502020204030204"/>
                        </a:defRPr>
                      </a:lvl2pPr>
                      <a:lvl3pPr marL="914400" algn="l" defTabSz="914400" rtl="0" eaLnBrk="1" latinLnBrk="0" hangingPunct="1">
                        <a:defRPr kumimoji="1" sz="1800" b="1" kern="1200">
                          <a:solidFill>
                            <a:schemeClr val="lt1"/>
                          </a:solidFill>
                          <a:latin typeface="Calibri" panose="020F0502020204030204"/>
                        </a:defRPr>
                      </a:lvl3pPr>
                      <a:lvl4pPr marL="1371600" algn="l" defTabSz="914400" rtl="0" eaLnBrk="1" latinLnBrk="0" hangingPunct="1">
                        <a:defRPr kumimoji="1" sz="1800" b="1" kern="1200">
                          <a:solidFill>
                            <a:schemeClr val="lt1"/>
                          </a:solidFill>
                          <a:latin typeface="Calibri" panose="020F0502020204030204"/>
                        </a:defRPr>
                      </a:lvl4pPr>
                      <a:lvl5pPr marL="1828800" algn="l" defTabSz="914400" rtl="0" eaLnBrk="1" latinLnBrk="0" hangingPunct="1">
                        <a:defRPr kumimoji="1" sz="1800" b="1" kern="1200">
                          <a:solidFill>
                            <a:schemeClr val="lt1"/>
                          </a:solidFill>
                          <a:latin typeface="Calibri" panose="020F0502020204030204"/>
                        </a:defRPr>
                      </a:lvl5pPr>
                      <a:lvl6pPr marL="2286000" algn="l" defTabSz="914400" rtl="0" eaLnBrk="1" latinLnBrk="0" hangingPunct="1">
                        <a:defRPr kumimoji="1" sz="1800" b="1" kern="1200">
                          <a:solidFill>
                            <a:schemeClr val="lt1"/>
                          </a:solidFill>
                          <a:latin typeface="Calibri" panose="020F0502020204030204"/>
                        </a:defRPr>
                      </a:lvl6pPr>
                      <a:lvl7pPr marL="2743200" algn="l" defTabSz="914400" rtl="0" eaLnBrk="1" latinLnBrk="0" hangingPunct="1">
                        <a:defRPr kumimoji="1" sz="1800" b="1" kern="1200">
                          <a:solidFill>
                            <a:schemeClr val="lt1"/>
                          </a:solidFill>
                          <a:latin typeface="Calibri" panose="020F0502020204030204"/>
                        </a:defRPr>
                      </a:lvl7pPr>
                      <a:lvl8pPr marL="3200400" algn="l" defTabSz="914400" rtl="0" eaLnBrk="1" latinLnBrk="0" hangingPunct="1">
                        <a:defRPr kumimoji="1" sz="1800" b="1" kern="1200">
                          <a:solidFill>
                            <a:schemeClr val="lt1"/>
                          </a:solidFill>
                          <a:latin typeface="Calibri" panose="020F0502020204030204"/>
                        </a:defRPr>
                      </a:lvl8pPr>
                      <a:lvl9pPr marL="3657600" algn="l" defTabSz="914400" rtl="0" eaLnBrk="1" latinLnBrk="0" hangingPunct="1">
                        <a:defRPr kumimoji="1" sz="1800" b="1" kern="1200">
                          <a:solidFill>
                            <a:schemeClr val="lt1"/>
                          </a:solidFill>
                          <a:latin typeface="Calibri" panose="020F0502020204030204"/>
                        </a:defRPr>
                      </a:lvl9pPr>
                    </a:lstStyle>
                    <a:p>
                      <a:pPr algn="ctr"/>
                      <a:r>
                        <a:rPr kumimoji="1" lang="ja-JP" altLang="en-US" sz="1050">
                          <a:solidFill>
                            <a:schemeClr val="bg1"/>
                          </a:solidFill>
                          <a:latin typeface="游ゴシック" panose="020B0400000000000000" pitchFamily="50" charset="-128"/>
                          <a:ea typeface="游ゴシック" panose="020B0400000000000000" pitchFamily="50" charset="-128"/>
                        </a:rPr>
                        <a:t>備考</a:t>
                      </a: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kumimoji="1" sz="1800" b="1" kern="1200">
                          <a:solidFill>
                            <a:schemeClr val="lt1"/>
                          </a:solidFill>
                          <a:latin typeface="Calibri" panose="020F0502020204030204"/>
                        </a:defRPr>
                      </a:lvl1pPr>
                      <a:lvl2pPr marL="457200" algn="l" defTabSz="914400" rtl="0" eaLnBrk="1" latinLnBrk="0" hangingPunct="1">
                        <a:defRPr kumimoji="1" sz="1800" b="1" kern="1200">
                          <a:solidFill>
                            <a:schemeClr val="lt1"/>
                          </a:solidFill>
                          <a:latin typeface="Calibri" panose="020F0502020204030204"/>
                        </a:defRPr>
                      </a:lvl2pPr>
                      <a:lvl3pPr marL="914400" algn="l" defTabSz="914400" rtl="0" eaLnBrk="1" latinLnBrk="0" hangingPunct="1">
                        <a:defRPr kumimoji="1" sz="1800" b="1" kern="1200">
                          <a:solidFill>
                            <a:schemeClr val="lt1"/>
                          </a:solidFill>
                          <a:latin typeface="Calibri" panose="020F0502020204030204"/>
                        </a:defRPr>
                      </a:lvl3pPr>
                      <a:lvl4pPr marL="1371600" algn="l" defTabSz="914400" rtl="0" eaLnBrk="1" latinLnBrk="0" hangingPunct="1">
                        <a:defRPr kumimoji="1" sz="1800" b="1" kern="1200">
                          <a:solidFill>
                            <a:schemeClr val="lt1"/>
                          </a:solidFill>
                          <a:latin typeface="Calibri" panose="020F0502020204030204"/>
                        </a:defRPr>
                      </a:lvl4pPr>
                      <a:lvl5pPr marL="1828800" algn="l" defTabSz="914400" rtl="0" eaLnBrk="1" latinLnBrk="0" hangingPunct="1">
                        <a:defRPr kumimoji="1" sz="1800" b="1" kern="1200">
                          <a:solidFill>
                            <a:schemeClr val="lt1"/>
                          </a:solidFill>
                          <a:latin typeface="Calibri" panose="020F0502020204030204"/>
                        </a:defRPr>
                      </a:lvl5pPr>
                      <a:lvl6pPr marL="2286000" algn="l" defTabSz="914400" rtl="0" eaLnBrk="1" latinLnBrk="0" hangingPunct="1">
                        <a:defRPr kumimoji="1" sz="1800" b="1" kern="1200">
                          <a:solidFill>
                            <a:schemeClr val="lt1"/>
                          </a:solidFill>
                          <a:latin typeface="Calibri" panose="020F0502020204030204"/>
                        </a:defRPr>
                      </a:lvl6pPr>
                      <a:lvl7pPr marL="2743200" algn="l" defTabSz="914400" rtl="0" eaLnBrk="1" latinLnBrk="0" hangingPunct="1">
                        <a:defRPr kumimoji="1" sz="1800" b="1" kern="1200">
                          <a:solidFill>
                            <a:schemeClr val="lt1"/>
                          </a:solidFill>
                          <a:latin typeface="Calibri" panose="020F0502020204030204"/>
                        </a:defRPr>
                      </a:lvl7pPr>
                      <a:lvl8pPr marL="3200400" algn="l" defTabSz="914400" rtl="0" eaLnBrk="1" latinLnBrk="0" hangingPunct="1">
                        <a:defRPr kumimoji="1" sz="1800" b="1" kern="1200">
                          <a:solidFill>
                            <a:schemeClr val="lt1"/>
                          </a:solidFill>
                          <a:latin typeface="Calibri" panose="020F0502020204030204"/>
                        </a:defRPr>
                      </a:lvl8pPr>
                      <a:lvl9pPr marL="3657600" algn="l" defTabSz="914400" rtl="0" eaLnBrk="1" latinLnBrk="0" hangingPunct="1">
                        <a:defRPr kumimoji="1" sz="1800" b="1" kern="1200">
                          <a:solidFill>
                            <a:schemeClr val="lt1"/>
                          </a:solidFill>
                          <a:latin typeface="Calibri" panose="020F0502020204030204"/>
                        </a:defRPr>
                      </a:lvl9pPr>
                    </a:lstStyle>
                    <a:p>
                      <a:pPr algn="ctr"/>
                      <a:r>
                        <a:rPr kumimoji="1" lang="ja-JP" altLang="en-US" sz="1050">
                          <a:solidFill>
                            <a:schemeClr val="bg1"/>
                          </a:solidFill>
                          <a:latin typeface="游ゴシック" panose="020B0400000000000000" pitchFamily="50" charset="-128"/>
                          <a:ea typeface="游ゴシック" panose="020B0400000000000000" pitchFamily="50" charset="-128"/>
                        </a:rPr>
                        <a:t>費用</a:t>
                      </a: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2355854175"/>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r>
                        <a:rPr kumimoji="1" lang="en-US" altLang="ja-JP" sz="1000" dirty="0">
                          <a:latin typeface="游ゴシック" panose="020B0400000000000000" pitchFamily="50" charset="-128"/>
                          <a:ea typeface="游ゴシック" panose="020B0400000000000000" pitchFamily="50" charset="-128"/>
                        </a:rPr>
                        <a:t>1</a:t>
                      </a:r>
                    </a:p>
                  </a:txBody>
                  <a:tcPr marL="68580" marR="68580" marT="34290" marB="3429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Data Cloud </a:t>
                      </a:r>
                      <a:r>
                        <a:rPr kumimoji="1" lang="ja-JP" altLang="en-US" sz="1000">
                          <a:latin typeface="游ゴシック" panose="020B0400000000000000" pitchFamily="50" charset="-128"/>
                          <a:ea typeface="游ゴシック" panose="020B0400000000000000" pitchFamily="50" charset="-128"/>
                        </a:rPr>
                        <a:t>構築</a:t>
                      </a:r>
                    </a:p>
                  </a:txBody>
                  <a:tcPr marL="68580" marR="68580" marT="34290" marB="3429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連携データ内容確認</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S3</a:t>
                      </a:r>
                      <a:r>
                        <a:rPr kumimoji="1" lang="ja-JP" altLang="en-US" sz="1000" dirty="0">
                          <a:latin typeface="游ゴシック" panose="020B0400000000000000" pitchFamily="50" charset="-128"/>
                          <a:ea typeface="游ゴシック" panose="020B0400000000000000" pitchFamily="50" charset="-128"/>
                        </a:rPr>
                        <a:t>からのデータ連携</a:t>
                      </a:r>
                      <a:r>
                        <a:rPr kumimoji="1" lang="en-US" altLang="ja-JP" sz="1000" dirty="0">
                          <a:latin typeface="游ゴシック" panose="020B0400000000000000" pitchFamily="50" charset="-128"/>
                          <a:ea typeface="游ゴシック" panose="020B0400000000000000" pitchFamily="50" charset="-128"/>
                        </a:rPr>
                        <a:t>8</a:t>
                      </a:r>
                      <a:r>
                        <a:rPr kumimoji="1" lang="ja-JP" altLang="en-US" sz="1000" dirty="0">
                          <a:latin typeface="游ゴシック" panose="020B0400000000000000" pitchFamily="50" charset="-128"/>
                          <a:ea typeface="游ゴシック" panose="020B0400000000000000" pitchFamily="50" charset="-128"/>
                        </a:rPr>
                        <a:t>本想定</a:t>
                      </a:r>
                      <a:endParaRPr kumimoji="1" lang="en-US" altLang="ja-JP" sz="1000" dirty="0">
                        <a:latin typeface="游ゴシック" panose="020B0400000000000000" pitchFamily="50" charset="-128"/>
                        <a:ea typeface="游ゴシック" panose="020B0400000000000000" pitchFamily="50" charset="-128"/>
                      </a:endParaRPr>
                    </a:p>
                    <a:p>
                      <a:r>
                        <a:rPr kumimoji="1" lang="en-US" altLang="ja-JP" sz="1000" dirty="0">
                          <a:latin typeface="游ゴシック" panose="020B0400000000000000" pitchFamily="50" charset="-128"/>
                          <a:ea typeface="游ゴシック" panose="020B0400000000000000" pitchFamily="50" charset="-128"/>
                        </a:rPr>
                        <a:t>Big Query</a:t>
                      </a:r>
                      <a:r>
                        <a:rPr kumimoji="1" lang="ja-JP" altLang="en-US" sz="1000" dirty="0">
                          <a:latin typeface="游ゴシック" panose="020B0400000000000000" pitchFamily="50" charset="-128"/>
                          <a:ea typeface="游ゴシック" panose="020B0400000000000000" pitchFamily="50" charset="-128"/>
                        </a:rPr>
                        <a:t>からのデータ連携</a:t>
                      </a:r>
                      <a:r>
                        <a:rPr kumimoji="1" lang="en-US" altLang="ja-JP" sz="1000" dirty="0">
                          <a:latin typeface="游ゴシック" panose="020B0400000000000000" pitchFamily="50" charset="-128"/>
                          <a:ea typeface="游ゴシック" panose="020B0400000000000000" pitchFamily="50" charset="-128"/>
                        </a:rPr>
                        <a:t>1</a:t>
                      </a:r>
                      <a:r>
                        <a:rPr kumimoji="1" lang="ja-JP" altLang="en-US" sz="1000" dirty="0">
                          <a:latin typeface="游ゴシック" panose="020B0400000000000000" pitchFamily="50" charset="-128"/>
                          <a:ea typeface="游ゴシック" panose="020B0400000000000000" pitchFamily="50" charset="-128"/>
                        </a:rPr>
                        <a:t>本想定</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634562362"/>
                  </a:ext>
                </a:extLst>
              </a:tr>
              <a:tr h="487413">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データ連携</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S3</a:t>
                      </a:r>
                      <a:r>
                        <a:rPr kumimoji="1" lang="ja-JP" altLang="en-US" sz="1000">
                          <a:latin typeface="游ゴシック" panose="020B0400000000000000" pitchFamily="50" charset="-128"/>
                          <a:ea typeface="游ゴシック" panose="020B0400000000000000" pitchFamily="50" charset="-128"/>
                        </a:rPr>
                        <a:t>、</a:t>
                      </a:r>
                      <a:r>
                        <a:rPr kumimoji="1" lang="en-US" altLang="ja-JP" sz="1000" dirty="0">
                          <a:latin typeface="游ゴシック" panose="020B0400000000000000" pitchFamily="50" charset="-128"/>
                          <a:ea typeface="游ゴシック" panose="020B0400000000000000" pitchFamily="50" charset="-128"/>
                        </a:rPr>
                        <a:t>Big Query</a:t>
                      </a:r>
                      <a:r>
                        <a:rPr kumimoji="1" lang="ja-JP" altLang="en-US" sz="1000">
                          <a:latin typeface="游ゴシック" panose="020B0400000000000000" pitchFamily="50" charset="-128"/>
                          <a:ea typeface="游ゴシック" panose="020B0400000000000000" pitchFamily="50" charset="-128"/>
                        </a:rPr>
                        <a:t>からのデータを</a:t>
                      </a:r>
                      <a:r>
                        <a:rPr kumimoji="1" lang="en-US" altLang="ja-JP" sz="1000" dirty="0">
                          <a:latin typeface="游ゴシック" panose="020B0400000000000000" pitchFamily="50" charset="-128"/>
                          <a:ea typeface="游ゴシック" panose="020B0400000000000000" pitchFamily="50" charset="-128"/>
                        </a:rPr>
                        <a:t>Data Cloud</a:t>
                      </a:r>
                      <a:r>
                        <a:rPr kumimoji="1" lang="ja-JP" altLang="en-US" sz="1000">
                          <a:latin typeface="游ゴシック" panose="020B0400000000000000" pitchFamily="50" charset="-128"/>
                          <a:ea typeface="游ゴシック" panose="020B0400000000000000" pitchFamily="50" charset="-128"/>
                        </a:rPr>
                        <a:t>内に連携</a:t>
                      </a:r>
                      <a:endParaRPr kumimoji="1" lang="en-US" altLang="ja-JP" sz="1000" dirty="0">
                        <a:latin typeface="游ゴシック" panose="020B0400000000000000" pitchFamily="50" charset="-128"/>
                        <a:ea typeface="游ゴシック" panose="020B0400000000000000" pitchFamily="50" charset="-128"/>
                      </a:endParaRPr>
                    </a:p>
                    <a:p>
                      <a:r>
                        <a:rPr kumimoji="1" lang="ja-JP" altLang="en-US" sz="1000">
                          <a:latin typeface="游ゴシック" panose="020B0400000000000000" pitchFamily="50" charset="-128"/>
                          <a:ea typeface="游ゴシック" panose="020B0400000000000000" pitchFamily="50" charset="-128"/>
                        </a:rPr>
                        <a:t>データストリーム設定（ベルタ公式＋ベルタ</a:t>
                      </a:r>
                      <a:r>
                        <a:rPr kumimoji="1" lang="en-US" altLang="ja-JP" sz="1000" dirty="0">
                          <a:latin typeface="游ゴシック" panose="020B0400000000000000" pitchFamily="50" charset="-128"/>
                          <a:ea typeface="游ゴシック" panose="020B0400000000000000" pitchFamily="50" charset="-128"/>
                        </a:rPr>
                        <a:t>LP</a:t>
                      </a:r>
                      <a:r>
                        <a:rPr kumimoji="1" lang="ja-JP" altLang="en-US" sz="1000">
                          <a:latin typeface="游ゴシック" panose="020B0400000000000000" pitchFamily="50" charset="-128"/>
                          <a:ea typeface="游ゴシック" panose="020B0400000000000000" pitchFamily="50" charset="-128"/>
                        </a:rPr>
                        <a:t>＋ベビレンタ含む）</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extLst>
                  <a:ext uri="{0D108BD9-81ED-4DB2-BD59-A6C34878D82A}">
                    <a16:rowId xmlns:a16="http://schemas.microsoft.com/office/drawing/2014/main" val="4282043986"/>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データモデル設定</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連携したデータを</a:t>
                      </a:r>
                      <a:r>
                        <a:rPr kumimoji="1" lang="en-US" altLang="ja-JP" sz="1000" dirty="0">
                          <a:latin typeface="游ゴシック" panose="020B0400000000000000" pitchFamily="50" charset="-128"/>
                          <a:ea typeface="游ゴシック" panose="020B0400000000000000" pitchFamily="50" charset="-128"/>
                        </a:rPr>
                        <a:t>Data Cloud</a:t>
                      </a:r>
                      <a:r>
                        <a:rPr kumimoji="1" lang="ja-JP" altLang="en-US" sz="1000">
                          <a:latin typeface="游ゴシック" panose="020B0400000000000000" pitchFamily="50" charset="-128"/>
                          <a:ea typeface="游ゴシック" panose="020B0400000000000000" pitchFamily="50" charset="-128"/>
                        </a:rPr>
                        <a:t>内の統合データモデル・カスタムデータモデルにマッピングを実施</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3343253791"/>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ID</a:t>
                      </a:r>
                      <a:r>
                        <a:rPr kumimoji="1" lang="ja-JP" altLang="en-US" sz="1000">
                          <a:latin typeface="游ゴシック" panose="020B0400000000000000" pitchFamily="50" charset="-128"/>
                          <a:ea typeface="游ゴシック" panose="020B0400000000000000" pitchFamily="50" charset="-128"/>
                        </a:rPr>
                        <a:t>解決</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連携したデータを</a:t>
                      </a:r>
                      <a:r>
                        <a:rPr kumimoji="1" lang="en-US" altLang="ja-JP" sz="1000" dirty="0">
                          <a:latin typeface="游ゴシック" panose="020B0400000000000000" pitchFamily="50" charset="-128"/>
                          <a:ea typeface="游ゴシック" panose="020B0400000000000000" pitchFamily="50" charset="-128"/>
                        </a:rPr>
                        <a:t>Data Cloud</a:t>
                      </a:r>
                      <a:r>
                        <a:rPr kumimoji="1" lang="ja-JP" altLang="en-US" sz="1000">
                          <a:latin typeface="游ゴシック" panose="020B0400000000000000" pitchFamily="50" charset="-128"/>
                          <a:ea typeface="游ゴシック" panose="020B0400000000000000" pitchFamily="50" charset="-128"/>
                        </a:rPr>
                        <a:t>内で統合するための条件設定</a:t>
                      </a:r>
                      <a:endParaRPr kumimoji="1" lang="en-US" altLang="ja-JP" sz="1000" dirty="0">
                        <a:latin typeface="游ゴシック" panose="020B0400000000000000" pitchFamily="50" charset="-128"/>
                        <a:ea typeface="游ゴシック" panose="020B0400000000000000" pitchFamily="50" charset="-128"/>
                      </a:endParaRPr>
                    </a:p>
                    <a:p>
                      <a:r>
                        <a:rPr kumimoji="1" lang="en-US" altLang="ja-JP" sz="1000" dirty="0">
                          <a:latin typeface="游ゴシック" panose="020B0400000000000000" pitchFamily="50" charset="-128"/>
                          <a:ea typeface="游ゴシック" panose="020B0400000000000000" pitchFamily="50" charset="-128"/>
                        </a:rPr>
                        <a:t>※</a:t>
                      </a:r>
                      <a:r>
                        <a:rPr kumimoji="1" lang="ja-JP" altLang="en-US" sz="1000">
                          <a:latin typeface="游ゴシック" panose="020B0400000000000000" pitchFamily="50" charset="-128"/>
                          <a:ea typeface="游ゴシック" panose="020B0400000000000000" pitchFamily="50" charset="-128"/>
                        </a:rPr>
                        <a:t>一致率が低い場合は条件を精査</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extLst>
                  <a:ext uri="{0D108BD9-81ED-4DB2-BD59-A6C34878D82A}">
                    <a16:rowId xmlns:a16="http://schemas.microsoft.com/office/drawing/2014/main" val="3130834765"/>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計算済みインサイト</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セグメントを切るための事前処理を実施</a:t>
                      </a:r>
                      <a:endParaRPr kumimoji="1" lang="en-US" altLang="ja-JP" sz="1000" dirty="0">
                        <a:latin typeface="游ゴシック" panose="020B0400000000000000" pitchFamily="50" charset="-128"/>
                        <a:ea typeface="游ゴシック" panose="020B0400000000000000" pitchFamily="50" charset="-128"/>
                      </a:endParaRPr>
                    </a:p>
                    <a:p>
                      <a:r>
                        <a:rPr kumimoji="1" lang="en-US" altLang="ja-JP" sz="1000" dirty="0">
                          <a:latin typeface="游ゴシック" panose="020B0400000000000000" pitchFamily="50" charset="-128"/>
                          <a:ea typeface="游ゴシック" panose="020B0400000000000000" pitchFamily="50" charset="-128"/>
                        </a:rPr>
                        <a:t>※</a:t>
                      </a:r>
                      <a:r>
                        <a:rPr kumimoji="1" lang="ja-JP" altLang="en-US" sz="1000">
                          <a:latin typeface="游ゴシック" panose="020B0400000000000000" pitchFamily="50" charset="-128"/>
                          <a:ea typeface="游ゴシック" panose="020B0400000000000000" pitchFamily="50" charset="-128"/>
                        </a:rPr>
                        <a:t>詳細は要件定義に実施</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1385587944"/>
                  </a:ext>
                </a:extLst>
              </a:tr>
              <a:tr h="32715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行動データ連携</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MC</a:t>
                      </a:r>
                      <a:r>
                        <a:rPr kumimoji="1" lang="ja-JP" altLang="en-US" sz="1000">
                          <a:latin typeface="游ゴシック" panose="020B0400000000000000" pitchFamily="50" charset="-128"/>
                          <a:ea typeface="游ゴシック" panose="020B0400000000000000" pitchFamily="50" charset="-128"/>
                        </a:rPr>
                        <a:t>からの行動データを連携</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extLst>
                  <a:ext uri="{0D108BD9-81ED-4DB2-BD59-A6C34878D82A}">
                    <a16:rowId xmlns:a16="http://schemas.microsoft.com/office/drawing/2014/main" val="3697888677"/>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セグメント作成</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MC</a:t>
                      </a:r>
                      <a:r>
                        <a:rPr kumimoji="1" lang="ja-JP" altLang="en-US" sz="1000">
                          <a:latin typeface="游ゴシック" panose="020B0400000000000000" pitchFamily="50" charset="-128"/>
                          <a:ea typeface="游ゴシック" panose="020B0400000000000000" pitchFamily="50" charset="-128"/>
                        </a:rPr>
                        <a:t>へ連携するためのセグメントを作成（ベルタ＋ベビレンタ含む）</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b="1">
                          <a:solidFill>
                            <a:srgbClr val="C00000"/>
                          </a:solidFill>
                          <a:latin typeface="游ゴシック" panose="020B0400000000000000" pitchFamily="50" charset="-128"/>
                          <a:ea typeface="游ゴシック" panose="020B0400000000000000" pitchFamily="50" charset="-128"/>
                        </a:rPr>
                        <a:t>一式：</a:t>
                      </a:r>
                      <a:r>
                        <a:rPr kumimoji="1" lang="en-US" altLang="ja-JP" sz="1000" b="1" dirty="0">
                          <a:solidFill>
                            <a:srgbClr val="C00000"/>
                          </a:solidFill>
                          <a:latin typeface="游ゴシック" panose="020B0400000000000000" pitchFamily="50" charset="-128"/>
                          <a:ea typeface="游ゴシック" panose="020B0400000000000000" pitchFamily="50" charset="-128"/>
                        </a:rPr>
                        <a:t>590</a:t>
                      </a:r>
                      <a:r>
                        <a:rPr kumimoji="1" lang="ja-JP" altLang="en-US" sz="1000" b="1">
                          <a:solidFill>
                            <a:srgbClr val="C00000"/>
                          </a:solidFill>
                          <a:latin typeface="游ゴシック" panose="020B0400000000000000" pitchFamily="50" charset="-128"/>
                          <a:ea typeface="游ゴシック" panose="020B0400000000000000" pitchFamily="50" charset="-128"/>
                        </a:rPr>
                        <a:t>万円</a:t>
                      </a:r>
                      <a:endParaRPr kumimoji="1" lang="en-US" altLang="ja-JP" sz="1000" b="1" dirty="0">
                        <a:solidFill>
                          <a:srgbClr val="C00000"/>
                        </a:solidFill>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3317853249"/>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r>
                        <a:rPr kumimoji="1" lang="en-US" altLang="ja-JP" sz="1000" dirty="0">
                          <a:latin typeface="游ゴシック" panose="020B0400000000000000" pitchFamily="50" charset="-128"/>
                          <a:ea typeface="游ゴシック" panose="020B0400000000000000" pitchFamily="50" charset="-128"/>
                        </a:rPr>
                        <a:t>2</a:t>
                      </a: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dirty="0">
                          <a:latin typeface="游ゴシック" panose="020B0400000000000000" pitchFamily="50" charset="-128"/>
                          <a:ea typeface="游ゴシック" panose="020B0400000000000000" pitchFamily="50" charset="-128"/>
                        </a:rPr>
                        <a:t>Marketing Cloud </a:t>
                      </a:r>
                      <a:r>
                        <a:rPr kumimoji="1" lang="ja-JP" altLang="en-US" sz="1000">
                          <a:latin typeface="游ゴシック" panose="020B0400000000000000" pitchFamily="50" charset="-128"/>
                          <a:ea typeface="游ゴシック" panose="020B0400000000000000" pitchFamily="50" charset="-128"/>
                        </a:rPr>
                        <a:t>構築</a:t>
                      </a: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a:latin typeface="游ゴシック" panose="020B0400000000000000" pitchFamily="50" charset="-128"/>
                          <a:ea typeface="游ゴシック" panose="020B0400000000000000" pitchFamily="50" charset="-128"/>
                        </a:rPr>
                        <a:t>初期セットアップ</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MC</a:t>
                      </a:r>
                      <a:r>
                        <a:rPr kumimoji="1" lang="ja-JP" altLang="en-US" sz="1000">
                          <a:latin typeface="游ゴシック" panose="020B0400000000000000" pitchFamily="50" charset="-128"/>
                          <a:ea typeface="游ゴシック" panose="020B0400000000000000" pitchFamily="50" charset="-128"/>
                        </a:rPr>
                        <a:t>から各種配信ができるための初期セットアップの実施（</a:t>
                      </a:r>
                      <a:r>
                        <a:rPr kumimoji="1" lang="en-US" altLang="ja-JP" sz="1000" dirty="0">
                          <a:latin typeface="游ゴシック" panose="020B0400000000000000" pitchFamily="50" charset="-128"/>
                          <a:ea typeface="游ゴシック" panose="020B0400000000000000" pitchFamily="50" charset="-128"/>
                        </a:rPr>
                        <a:t>2BU</a:t>
                      </a:r>
                      <a:r>
                        <a:rPr kumimoji="1" lang="ja-JP" altLang="en-US" sz="1000">
                          <a:latin typeface="游ゴシック" panose="020B0400000000000000" pitchFamily="50" charset="-128"/>
                          <a:ea typeface="游ゴシック" panose="020B0400000000000000" pitchFamily="50" charset="-128"/>
                        </a:rPr>
                        <a:t>）</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extLst>
                  <a:ext uri="{0D108BD9-81ED-4DB2-BD59-A6C34878D82A}">
                    <a16:rowId xmlns:a16="http://schemas.microsoft.com/office/drawing/2014/main" val="1011885463"/>
                  </a:ext>
                </a:extLst>
              </a:tr>
              <a:tr h="487413">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dirty="0">
                          <a:latin typeface="游ゴシック" panose="020B0400000000000000" pitchFamily="50" charset="-128"/>
                          <a:ea typeface="游ゴシック" panose="020B0400000000000000" pitchFamily="50" charset="-128"/>
                        </a:rPr>
                        <a:t>SDK</a:t>
                      </a:r>
                      <a:r>
                        <a:rPr kumimoji="1" lang="ja-JP" altLang="en-US" sz="1000">
                          <a:latin typeface="游ゴシック" panose="020B0400000000000000" pitchFamily="50" charset="-128"/>
                          <a:ea typeface="游ゴシック" panose="020B0400000000000000" pitchFamily="50" charset="-128"/>
                        </a:rPr>
                        <a:t>設計</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行動データを取得するための</a:t>
                      </a:r>
                      <a:r>
                        <a:rPr kumimoji="1" lang="en-US" altLang="ja-JP" sz="1000" dirty="0" err="1">
                          <a:latin typeface="游ゴシック" panose="020B0400000000000000" pitchFamily="50" charset="-128"/>
                          <a:ea typeface="游ゴシック" panose="020B0400000000000000" pitchFamily="50" charset="-128"/>
                        </a:rPr>
                        <a:t>Js</a:t>
                      </a:r>
                      <a:r>
                        <a:rPr kumimoji="1" lang="ja-JP" altLang="en-US" sz="1000">
                          <a:latin typeface="游ゴシック" panose="020B0400000000000000" pitchFamily="50" charset="-128"/>
                          <a:ea typeface="游ゴシック" panose="020B0400000000000000" pitchFamily="50" charset="-128"/>
                        </a:rPr>
                        <a:t>を設計</a:t>
                      </a:r>
                      <a:endParaRPr kumimoji="1" lang="en-US" altLang="ja-JP" sz="1000" dirty="0">
                        <a:latin typeface="游ゴシック" panose="020B0400000000000000" pitchFamily="50" charset="-128"/>
                        <a:ea typeface="游ゴシック" panose="020B0400000000000000" pitchFamily="50" charset="-128"/>
                      </a:endParaRPr>
                    </a:p>
                    <a:p>
                      <a:r>
                        <a:rPr kumimoji="1" lang="en-US" altLang="ja-JP" sz="1000" dirty="0">
                          <a:latin typeface="游ゴシック" panose="020B0400000000000000" pitchFamily="50" charset="-128"/>
                          <a:ea typeface="游ゴシック" panose="020B0400000000000000" pitchFamily="50" charset="-128"/>
                        </a:rPr>
                        <a:t>※</a:t>
                      </a:r>
                      <a:r>
                        <a:rPr kumimoji="1" lang="ja-JP" altLang="en-US" sz="1000">
                          <a:latin typeface="游ゴシック" panose="020B0400000000000000" pitchFamily="50" charset="-128"/>
                          <a:ea typeface="游ゴシック" panose="020B0400000000000000" pitchFamily="50" charset="-128"/>
                        </a:rPr>
                        <a:t>サイトへのタグの埋め込みについてはベルタ様にて実装を想定</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3281226076"/>
                  </a:ext>
                </a:extLst>
              </a:tr>
              <a:tr h="487413">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a:latin typeface="游ゴシック" panose="020B0400000000000000" pitchFamily="50" charset="-128"/>
                          <a:ea typeface="游ゴシック" panose="020B0400000000000000" pitchFamily="50" charset="-128"/>
                        </a:rPr>
                        <a:t>行動データ取得</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en-US" altLang="ja-JP" sz="1000" dirty="0">
                          <a:latin typeface="游ゴシック" panose="020B0400000000000000" pitchFamily="50" charset="-128"/>
                          <a:ea typeface="游ゴシック" panose="020B0400000000000000" pitchFamily="50" charset="-128"/>
                        </a:rPr>
                        <a:t>Data Cloud</a:t>
                      </a:r>
                      <a:r>
                        <a:rPr kumimoji="1" lang="ja-JP" altLang="en-US" sz="1000">
                          <a:latin typeface="游ゴシック" panose="020B0400000000000000" pitchFamily="50" charset="-128"/>
                          <a:ea typeface="游ゴシック" panose="020B0400000000000000" pitchFamily="50" charset="-128"/>
                        </a:rPr>
                        <a:t>へ連携するための情報として、開封状況や</a:t>
                      </a:r>
                      <a:r>
                        <a:rPr kumimoji="1" lang="en-US" altLang="ja-JP" sz="1000" dirty="0">
                          <a:latin typeface="游ゴシック" panose="020B0400000000000000" pitchFamily="50" charset="-128"/>
                          <a:ea typeface="游ゴシック" panose="020B0400000000000000" pitchFamily="50" charset="-128"/>
                        </a:rPr>
                        <a:t>Web</a:t>
                      </a:r>
                      <a:r>
                        <a:rPr kumimoji="1" lang="ja-JP" altLang="en-US" sz="1000">
                          <a:latin typeface="游ゴシック" panose="020B0400000000000000" pitchFamily="50" charset="-128"/>
                          <a:ea typeface="游ゴシック" panose="020B0400000000000000" pitchFamily="50" charset="-128"/>
                        </a:rPr>
                        <a:t>ページ訪問情報の取得（ベルタ公式、ベルタ</a:t>
                      </a:r>
                      <a:r>
                        <a:rPr kumimoji="1" lang="en-US" altLang="ja-JP" sz="1000" dirty="0">
                          <a:latin typeface="游ゴシック" panose="020B0400000000000000" pitchFamily="50" charset="-128"/>
                          <a:ea typeface="游ゴシック" panose="020B0400000000000000" pitchFamily="50" charset="-128"/>
                        </a:rPr>
                        <a:t>LP</a:t>
                      </a:r>
                      <a:r>
                        <a:rPr kumimoji="1" lang="ja-JP" altLang="en-US" sz="1000">
                          <a:latin typeface="游ゴシック" panose="020B0400000000000000" pitchFamily="50" charset="-128"/>
                          <a:ea typeface="游ゴシック" panose="020B0400000000000000" pitchFamily="50" charset="-128"/>
                        </a:rPr>
                        <a:t>、ベビレンタの</a:t>
                      </a:r>
                      <a:r>
                        <a:rPr kumimoji="1" lang="en-US" altLang="ja-JP" sz="1000" dirty="0">
                          <a:latin typeface="游ゴシック" panose="020B0400000000000000" pitchFamily="50" charset="-128"/>
                          <a:ea typeface="游ゴシック" panose="020B0400000000000000" pitchFamily="50" charset="-128"/>
                        </a:rPr>
                        <a:t>3</a:t>
                      </a:r>
                      <a:r>
                        <a:rPr kumimoji="1" lang="ja-JP" altLang="en-US" sz="1000">
                          <a:latin typeface="游ゴシック" panose="020B0400000000000000" pitchFamily="50" charset="-128"/>
                          <a:ea typeface="游ゴシック" panose="020B0400000000000000" pitchFamily="50" charset="-128"/>
                        </a:rPr>
                        <a:t>サイト）</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r"/>
                      <a:r>
                        <a:rPr kumimoji="1" lang="ja-JP" altLang="en-US" sz="1000">
                          <a:latin typeface="游ゴシック" panose="020B0400000000000000" pitchFamily="50" charset="-128"/>
                          <a:ea typeface="游ゴシック" panose="020B0400000000000000" pitchFamily="50" charset="-128"/>
                        </a:rPr>
                        <a:t>ー</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extLst>
                  <a:ext uri="{0D108BD9-81ED-4DB2-BD59-A6C34878D82A}">
                    <a16:rowId xmlns:a16="http://schemas.microsoft.com/office/drawing/2014/main" val="3408383797"/>
                  </a:ext>
                </a:extLst>
              </a:tr>
              <a:tr h="34815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a:latin typeface="游ゴシック" panose="020B0400000000000000" pitchFamily="50" charset="-128"/>
                          <a:ea typeface="游ゴシック" panose="020B0400000000000000" pitchFamily="50" charset="-128"/>
                        </a:rPr>
                        <a:t>各種シナリオ構築</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a:latin typeface="游ゴシック" panose="020B0400000000000000" pitchFamily="50" charset="-128"/>
                          <a:ea typeface="游ゴシック" panose="020B0400000000000000" pitchFamily="50" charset="-128"/>
                        </a:rPr>
                        <a:t>サンプルポップアップ及び、サンプルシナリオを作成（</a:t>
                      </a:r>
                      <a:r>
                        <a:rPr kumimoji="1" lang="en-US" altLang="ja-JP" sz="1000" dirty="0">
                          <a:latin typeface="游ゴシック" panose="020B0400000000000000" pitchFamily="50" charset="-128"/>
                          <a:ea typeface="游ゴシック" panose="020B0400000000000000" pitchFamily="50" charset="-128"/>
                        </a:rPr>
                        <a:t>1</a:t>
                      </a:r>
                      <a:r>
                        <a:rPr kumimoji="1" lang="ja-JP" altLang="en-US" sz="1000">
                          <a:latin typeface="游ゴシック" panose="020B0400000000000000" pitchFamily="50" charset="-128"/>
                          <a:ea typeface="游ゴシック" panose="020B0400000000000000" pitchFamily="50" charset="-128"/>
                        </a:rPr>
                        <a:t>本ずつ）</a:t>
                      </a: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000">
                          <a:latin typeface="游ゴシック" panose="020B0400000000000000" pitchFamily="50" charset="-128"/>
                          <a:ea typeface="游ゴシック" panose="020B0400000000000000" pitchFamily="50" charset="-128"/>
                        </a:rPr>
                        <a:t>ー</a:t>
                      </a:r>
                      <a:endParaRPr kumimoji="1" lang="en-US" altLang="ja-JP" sz="1000" b="1" dirty="0">
                        <a:solidFill>
                          <a:srgbClr val="C00000"/>
                        </a:solidFill>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1590741332"/>
                  </a:ext>
                </a:extLst>
              </a:tr>
              <a:tr h="32715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algn="ctr"/>
                      <a:endParaRPr kumimoji="1" lang="en-US" altLang="ja-JP" sz="1000"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endParaRPr kumimoji="1" lang="ja-JP" altLang="en-US" sz="100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strike="noStrike" dirty="0">
                          <a:latin typeface="游ゴシック" panose="020B0400000000000000" pitchFamily="50" charset="-128"/>
                          <a:ea typeface="游ゴシック" panose="020B0400000000000000" pitchFamily="50" charset="-128"/>
                        </a:rPr>
                        <a:t>LINE</a:t>
                      </a:r>
                      <a:r>
                        <a:rPr kumimoji="1" lang="ja-JP" altLang="en-US" sz="1000" strike="noStrike">
                          <a:latin typeface="游ゴシック" panose="020B0400000000000000" pitchFamily="50" charset="-128"/>
                          <a:ea typeface="游ゴシック" panose="020B0400000000000000" pitchFamily="50" charset="-128"/>
                        </a:rPr>
                        <a:t>配信設定</a:t>
                      </a:r>
                      <a:endParaRPr kumimoji="1" lang="en-US" altLang="ja-JP" sz="1000" strike="noStrike"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r>
                        <a:rPr kumimoji="1" lang="ja-JP" altLang="en-US" sz="1000" strike="noStrike" dirty="0">
                          <a:latin typeface="游ゴシック" panose="020B0400000000000000" pitchFamily="50" charset="-128"/>
                          <a:ea typeface="游ゴシック" panose="020B0400000000000000" pitchFamily="50" charset="-128"/>
                        </a:rPr>
                        <a:t>既存友だちの</a:t>
                      </a:r>
                      <a:r>
                        <a:rPr kumimoji="1" lang="en-US" altLang="ja-JP" sz="1000" strike="noStrike" dirty="0">
                          <a:latin typeface="游ゴシック" panose="020B0400000000000000" pitchFamily="50" charset="-128"/>
                          <a:ea typeface="游ゴシック" panose="020B0400000000000000" pitchFamily="50" charset="-128"/>
                        </a:rPr>
                        <a:t>API</a:t>
                      </a:r>
                      <a:r>
                        <a:rPr kumimoji="1" lang="ja-JP" altLang="en-US" sz="1000" strike="noStrike" dirty="0">
                          <a:latin typeface="游ゴシック" panose="020B0400000000000000" pitchFamily="50" charset="-128"/>
                          <a:ea typeface="游ゴシック" panose="020B0400000000000000" pitchFamily="50" charset="-128"/>
                        </a:rPr>
                        <a:t>取得、</a:t>
                      </a:r>
                      <a:r>
                        <a:rPr kumimoji="1" lang="en-US" altLang="ja-JP" sz="1000" strike="noStrike" dirty="0">
                          <a:latin typeface="游ゴシック" panose="020B0400000000000000" pitchFamily="50" charset="-128"/>
                          <a:ea typeface="游ゴシック" panose="020B0400000000000000" pitchFamily="50" charset="-128"/>
                        </a:rPr>
                        <a:t>LINE</a:t>
                      </a:r>
                      <a:r>
                        <a:rPr kumimoji="1" lang="ja-JP" altLang="en-US" sz="1000" strike="noStrike" dirty="0">
                          <a:latin typeface="游ゴシック" panose="020B0400000000000000" pitchFamily="50" charset="-128"/>
                          <a:ea typeface="游ゴシック" panose="020B0400000000000000" pitchFamily="50" charset="-128"/>
                        </a:rPr>
                        <a:t>配信設定（ベビレンタルのみ）</a:t>
                      </a:r>
                      <a:endParaRPr kumimoji="1" lang="en-US" altLang="ja-JP" sz="1000" strike="noStrike" dirty="0">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000" b="1" dirty="0">
                          <a:solidFill>
                            <a:srgbClr val="C00000"/>
                          </a:solidFill>
                          <a:latin typeface="游ゴシック" panose="020B0400000000000000" pitchFamily="50" charset="-128"/>
                          <a:ea typeface="游ゴシック" panose="020B0400000000000000" pitchFamily="50" charset="-128"/>
                        </a:rPr>
                        <a:t>一式：</a:t>
                      </a:r>
                      <a:r>
                        <a:rPr kumimoji="1" lang="en-US" altLang="ja-JP" sz="1000" b="1" dirty="0">
                          <a:solidFill>
                            <a:srgbClr val="C00000"/>
                          </a:solidFill>
                          <a:latin typeface="游ゴシック" panose="020B0400000000000000" pitchFamily="50" charset="-128"/>
                          <a:ea typeface="游ゴシック" panose="020B0400000000000000" pitchFamily="50" charset="-128"/>
                        </a:rPr>
                        <a:t>140</a:t>
                      </a:r>
                      <a:r>
                        <a:rPr kumimoji="1" lang="ja-JP" altLang="en-US" sz="1000" b="1" dirty="0">
                          <a:solidFill>
                            <a:srgbClr val="C00000"/>
                          </a:solidFill>
                          <a:latin typeface="游ゴシック" panose="020B0400000000000000" pitchFamily="50" charset="-128"/>
                          <a:ea typeface="游ゴシック" panose="020B0400000000000000" pitchFamily="50" charset="-128"/>
                        </a:rPr>
                        <a:t>万円</a:t>
                      </a:r>
                      <a:endParaRPr kumimoji="1" lang="en-US" altLang="ja-JP" sz="1000" b="1" dirty="0">
                        <a:solidFill>
                          <a:srgbClr val="C00000"/>
                        </a:solidFill>
                        <a:latin typeface="游ゴシック" panose="020B0400000000000000" pitchFamily="50" charset="-128"/>
                        <a:ea typeface="游ゴシック" panose="020B0400000000000000" pitchFamily="50" charset="-128"/>
                      </a:endParaRPr>
                    </a:p>
                  </a:txBody>
                  <a:tcPr marL="68580" marR="68580" marT="34290" marB="3429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5A5A5">
                        <a:tint val="20000"/>
                      </a:srgbClr>
                    </a:solidFill>
                  </a:tcPr>
                </a:tc>
                <a:extLst>
                  <a:ext uri="{0D108BD9-81ED-4DB2-BD59-A6C34878D82A}">
                    <a16:rowId xmlns:a16="http://schemas.microsoft.com/office/drawing/2014/main" val="3888227119"/>
                  </a:ext>
                </a:extLst>
              </a:tr>
            </a:tbl>
          </a:graphicData>
        </a:graphic>
      </p:graphicFrame>
      <p:sp>
        <p:nvSpPr>
          <p:cNvPr id="15" name="テキスト ボックス 14">
            <a:extLst>
              <a:ext uri="{FF2B5EF4-FFF2-40B4-BE49-F238E27FC236}">
                <a16:creationId xmlns:a16="http://schemas.microsoft.com/office/drawing/2014/main" id="{A7F995AB-14D5-F716-266F-E5B28B1D8988}"/>
              </a:ext>
            </a:extLst>
          </p:cNvPr>
          <p:cNvSpPr txBox="1"/>
          <p:nvPr/>
        </p:nvSpPr>
        <p:spPr>
          <a:xfrm>
            <a:off x="374353" y="6160525"/>
            <a:ext cx="6124451" cy="246221"/>
          </a:xfrm>
          <a:prstGeom prst="rect">
            <a:avLst/>
          </a:prstGeom>
          <a:noFill/>
        </p:spPr>
        <p:txBody>
          <a:bodyPr wrap="square">
            <a:spAutoFit/>
          </a:bodyPr>
          <a:lstStyle/>
          <a:p>
            <a:r>
              <a:rPr lang="en-US" altLang="ja-JP" sz="1000" dirty="0">
                <a:latin typeface="游ゴシック" panose="020B0400000000000000" pitchFamily="50" charset="-128"/>
                <a:ea typeface="游ゴシック" panose="020B0400000000000000" pitchFamily="50" charset="-128"/>
              </a:rPr>
              <a:t>※</a:t>
            </a:r>
            <a:r>
              <a:rPr lang="ja-JP" altLang="en-US" sz="1000" dirty="0">
                <a:latin typeface="游ゴシック" panose="020B0400000000000000" pitchFamily="50" charset="-128"/>
                <a:ea typeface="游ゴシック" panose="020B0400000000000000" pitchFamily="50" charset="-128"/>
              </a:rPr>
              <a:t>構築期間は</a:t>
            </a:r>
            <a:r>
              <a:rPr lang="en-US" altLang="ja-JP" sz="1000" dirty="0">
                <a:latin typeface="游ゴシック" panose="020B0400000000000000" pitchFamily="50" charset="-128"/>
                <a:ea typeface="游ゴシック" panose="020B0400000000000000" pitchFamily="50" charset="-128"/>
              </a:rPr>
              <a:t>6</a:t>
            </a:r>
            <a:r>
              <a:rPr lang="ja-JP" altLang="en-US" sz="1000" dirty="0">
                <a:latin typeface="游ゴシック" panose="020B0400000000000000" pitchFamily="50" charset="-128"/>
                <a:ea typeface="游ゴシック" panose="020B0400000000000000" pitchFamily="50" charset="-128"/>
              </a:rPr>
              <a:t>ヶ月程を想定しております。</a:t>
            </a:r>
            <a:endParaRPr lang="en-US" altLang="ja-JP" sz="1000" dirty="0">
              <a:latin typeface="游ゴシック" panose="020B0400000000000000" pitchFamily="50" charset="-128"/>
              <a:ea typeface="游ゴシック" panose="020B0400000000000000" pitchFamily="50" charset="-128"/>
            </a:endParaRPr>
          </a:p>
        </p:txBody>
      </p:sp>
      <p:sp>
        <p:nvSpPr>
          <p:cNvPr id="16" name="正方形/長方形 15">
            <a:extLst>
              <a:ext uri="{FF2B5EF4-FFF2-40B4-BE49-F238E27FC236}">
                <a16:creationId xmlns:a16="http://schemas.microsoft.com/office/drawing/2014/main" id="{04B71C0D-4C4D-3318-BDA3-7D8BF08A1190}"/>
              </a:ext>
            </a:extLst>
          </p:cNvPr>
          <p:cNvSpPr/>
          <p:nvPr/>
        </p:nvSpPr>
        <p:spPr>
          <a:xfrm>
            <a:off x="535390" y="4870515"/>
            <a:ext cx="2255936" cy="1124096"/>
          </a:xfrm>
          <a:prstGeom prst="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b="1" dirty="0">
                <a:solidFill>
                  <a:srgbClr val="C00000"/>
                </a:solidFill>
                <a:latin typeface="游ゴシック" panose="020B0400000000000000" pitchFamily="50" charset="-128"/>
                <a:ea typeface="游ゴシック" panose="020B0400000000000000" pitchFamily="50" charset="-128"/>
              </a:rPr>
              <a:t>※</a:t>
            </a:r>
            <a:r>
              <a:rPr lang="ja-JP" altLang="en-US" sz="900" b="1" dirty="0">
                <a:solidFill>
                  <a:srgbClr val="C00000"/>
                </a:solidFill>
                <a:latin typeface="游ゴシック" panose="020B0400000000000000" pitchFamily="50" charset="-128"/>
                <a:ea typeface="游ゴシック" panose="020B0400000000000000" pitchFamily="50" charset="-128"/>
              </a:rPr>
              <a:t>レクチャーについて</a:t>
            </a:r>
            <a:endParaRPr lang="en-US" altLang="ja-JP" sz="900" b="1" dirty="0">
              <a:solidFill>
                <a:srgbClr val="C00000"/>
              </a:solidFill>
              <a:latin typeface="游ゴシック" panose="020B0400000000000000" pitchFamily="50" charset="-128"/>
              <a:ea typeface="游ゴシック" panose="020B0400000000000000" pitchFamily="50" charset="-128"/>
            </a:endParaRPr>
          </a:p>
          <a:p>
            <a:endParaRPr lang="en-US" altLang="ja-JP" sz="500" dirty="0">
              <a:solidFill>
                <a:srgbClr val="C00000"/>
              </a:solidFill>
              <a:latin typeface="游ゴシック" panose="020B0400000000000000" pitchFamily="50" charset="-128"/>
              <a:ea typeface="游ゴシック" panose="020B0400000000000000" pitchFamily="50" charset="-128"/>
            </a:endParaRPr>
          </a:p>
          <a:p>
            <a:r>
              <a:rPr lang="ja-JP" altLang="en-US" sz="900" dirty="0">
                <a:solidFill>
                  <a:srgbClr val="C00000"/>
                </a:solidFill>
                <a:latin typeface="游ゴシック" panose="020B0400000000000000" pitchFamily="50" charset="-128"/>
                <a:ea typeface="游ゴシック" panose="020B0400000000000000" pitchFamily="50" charset="-128"/>
              </a:rPr>
              <a:t>データソースの繋ぎ方・セグメントの切り方・シナリオ作成等については、構築内容のレビュー時に操作感含めてお伝えさせていただきます</a:t>
            </a:r>
          </a:p>
        </p:txBody>
      </p:sp>
      <p:sp>
        <p:nvSpPr>
          <p:cNvPr id="17" name="テキスト ボックス 16">
            <a:extLst>
              <a:ext uri="{FF2B5EF4-FFF2-40B4-BE49-F238E27FC236}">
                <a16:creationId xmlns:a16="http://schemas.microsoft.com/office/drawing/2014/main" id="{26B8070B-B1D6-29B2-D248-B465D194180D}"/>
              </a:ext>
            </a:extLst>
          </p:cNvPr>
          <p:cNvSpPr txBox="1"/>
          <p:nvPr/>
        </p:nvSpPr>
        <p:spPr>
          <a:xfrm>
            <a:off x="8037095" y="6591129"/>
            <a:ext cx="2107282" cy="338554"/>
          </a:xfrm>
          <a:prstGeom prst="rect">
            <a:avLst/>
          </a:prstGeom>
          <a:noFill/>
        </p:spPr>
        <p:txBody>
          <a:bodyPr wrap="square">
            <a:spAutoFit/>
          </a:bodyPr>
          <a:lstStyle/>
          <a:p>
            <a:pPr algn="r"/>
            <a:r>
              <a:rPr lang="ja-JP" altLang="en-US" sz="1600" b="1" dirty="0">
                <a:solidFill>
                  <a:srgbClr val="C00000"/>
                </a:solidFill>
                <a:latin typeface="游ゴシック" panose="020B0400000000000000" pitchFamily="50" charset="-128"/>
                <a:ea typeface="游ゴシック" panose="020B0400000000000000" pitchFamily="50" charset="-128"/>
              </a:rPr>
              <a:t>合計：</a:t>
            </a:r>
            <a:r>
              <a:rPr lang="en-US" altLang="ja-JP" sz="1600" b="1" dirty="0">
                <a:solidFill>
                  <a:srgbClr val="C00000"/>
                </a:solidFill>
                <a:latin typeface="游ゴシック" panose="020B0400000000000000" pitchFamily="50" charset="-128"/>
                <a:ea typeface="游ゴシック" panose="020B0400000000000000" pitchFamily="50" charset="-128"/>
              </a:rPr>
              <a:t>730</a:t>
            </a:r>
            <a:r>
              <a:rPr lang="ja-JP" altLang="en-US" sz="1600" b="1" dirty="0">
                <a:solidFill>
                  <a:srgbClr val="C00000"/>
                </a:solidFill>
                <a:latin typeface="游ゴシック" panose="020B0400000000000000" pitchFamily="50" charset="-128"/>
                <a:ea typeface="游ゴシック" panose="020B0400000000000000" pitchFamily="50" charset="-128"/>
              </a:rPr>
              <a:t>万円</a:t>
            </a:r>
            <a:endParaRPr lang="en-US" altLang="ja-JP" sz="1600" b="1" dirty="0">
              <a:solidFill>
                <a:srgbClr val="C0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077092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t>得意先別売上高</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mj-ea"/>
              </a:rPr>
              <a:t>企画制作部門の受注案件に関しては、朝日新聞社経由の案件が大半を占めており、</a:t>
            </a:r>
            <a:r>
              <a:rPr lang="en-US" altLang="ja-JP" dirty="0">
                <a:latin typeface="+mj-ea"/>
              </a:rPr>
              <a:t>Data</a:t>
            </a:r>
            <a:r>
              <a:rPr lang="ja-JP" altLang="en-US" dirty="0">
                <a:latin typeface="+mj-ea"/>
              </a:rPr>
              <a:t>＆</a:t>
            </a:r>
            <a:r>
              <a:rPr lang="en-US" altLang="ja-JP" dirty="0">
                <a:latin typeface="+mj-ea"/>
              </a:rPr>
              <a:t>Digital Growth</a:t>
            </a:r>
            <a:r>
              <a:rPr lang="ja-JP" altLang="en-US" dirty="0">
                <a:latin typeface="+mj-ea"/>
              </a:rPr>
              <a:t>事業に関しては、特定先・特定業界に依存しない顧客構成となっている。</a:t>
            </a:r>
            <a:endParaRPr lang="en-US" altLang="ja-JP" dirty="0"/>
          </a:p>
          <a:p>
            <a:endParaRPr lang="en-US" altLang="ja-JP" dirty="0"/>
          </a:p>
          <a:p>
            <a:endParaRPr lang="en-US" altLang="ja-JP" dirty="0">
              <a:latin typeface="+mj-ea"/>
            </a:endParaRPr>
          </a:p>
        </p:txBody>
      </p:sp>
      <p:graphicFrame>
        <p:nvGraphicFramePr>
          <p:cNvPr id="9" name="表 8">
            <a:extLst>
              <a:ext uri="{FF2B5EF4-FFF2-40B4-BE49-F238E27FC236}">
                <a16:creationId xmlns:a16="http://schemas.microsoft.com/office/drawing/2014/main" id="{EB14A246-9F0A-E8BE-16F5-305288AC456A}"/>
              </a:ext>
            </a:extLst>
          </p:cNvPr>
          <p:cNvGraphicFramePr>
            <a:graphicFrameLocks noGrp="1"/>
          </p:cNvGraphicFramePr>
          <p:nvPr>
            <p:extLst>
              <p:ext uri="{D42A27DB-BD31-4B8C-83A1-F6EECF244321}">
                <p14:modId xmlns:p14="http://schemas.microsoft.com/office/powerpoint/2010/main" val="3124051268"/>
              </p:ext>
            </p:extLst>
          </p:nvPr>
        </p:nvGraphicFramePr>
        <p:xfrm>
          <a:off x="310316" y="1362870"/>
          <a:ext cx="9781872" cy="5433425"/>
        </p:xfrm>
        <a:graphic>
          <a:graphicData uri="http://schemas.openxmlformats.org/drawingml/2006/table">
            <a:tbl>
              <a:tblPr/>
              <a:tblGrid>
                <a:gridCol w="220014">
                  <a:extLst>
                    <a:ext uri="{9D8B030D-6E8A-4147-A177-3AD203B41FA5}">
                      <a16:colId xmlns:a16="http://schemas.microsoft.com/office/drawing/2014/main" val="2369355238"/>
                    </a:ext>
                  </a:extLst>
                </a:gridCol>
                <a:gridCol w="1368353">
                  <a:extLst>
                    <a:ext uri="{9D8B030D-6E8A-4147-A177-3AD203B41FA5}">
                      <a16:colId xmlns:a16="http://schemas.microsoft.com/office/drawing/2014/main" val="3140937282"/>
                    </a:ext>
                  </a:extLst>
                </a:gridCol>
                <a:gridCol w="837900">
                  <a:extLst>
                    <a:ext uri="{9D8B030D-6E8A-4147-A177-3AD203B41FA5}">
                      <a16:colId xmlns:a16="http://schemas.microsoft.com/office/drawing/2014/main" val="4251397027"/>
                    </a:ext>
                  </a:extLst>
                </a:gridCol>
                <a:gridCol w="2176596">
                  <a:extLst>
                    <a:ext uri="{9D8B030D-6E8A-4147-A177-3AD203B41FA5}">
                      <a16:colId xmlns:a16="http://schemas.microsoft.com/office/drawing/2014/main" val="595690853"/>
                    </a:ext>
                  </a:extLst>
                </a:gridCol>
                <a:gridCol w="504950">
                  <a:extLst>
                    <a:ext uri="{9D8B030D-6E8A-4147-A177-3AD203B41FA5}">
                      <a16:colId xmlns:a16="http://schemas.microsoft.com/office/drawing/2014/main" val="3304936599"/>
                    </a:ext>
                  </a:extLst>
                </a:gridCol>
                <a:gridCol w="504950">
                  <a:extLst>
                    <a:ext uri="{9D8B030D-6E8A-4147-A177-3AD203B41FA5}">
                      <a16:colId xmlns:a16="http://schemas.microsoft.com/office/drawing/2014/main" val="752535567"/>
                    </a:ext>
                  </a:extLst>
                </a:gridCol>
                <a:gridCol w="504950">
                  <a:extLst>
                    <a:ext uri="{9D8B030D-6E8A-4147-A177-3AD203B41FA5}">
                      <a16:colId xmlns:a16="http://schemas.microsoft.com/office/drawing/2014/main" val="3815210322"/>
                    </a:ext>
                  </a:extLst>
                </a:gridCol>
                <a:gridCol w="504950">
                  <a:extLst>
                    <a:ext uri="{9D8B030D-6E8A-4147-A177-3AD203B41FA5}">
                      <a16:colId xmlns:a16="http://schemas.microsoft.com/office/drawing/2014/main" val="4040129246"/>
                    </a:ext>
                  </a:extLst>
                </a:gridCol>
                <a:gridCol w="504950">
                  <a:extLst>
                    <a:ext uri="{9D8B030D-6E8A-4147-A177-3AD203B41FA5}">
                      <a16:colId xmlns:a16="http://schemas.microsoft.com/office/drawing/2014/main" val="2616963288"/>
                    </a:ext>
                  </a:extLst>
                </a:gridCol>
                <a:gridCol w="504950">
                  <a:extLst>
                    <a:ext uri="{9D8B030D-6E8A-4147-A177-3AD203B41FA5}">
                      <a16:colId xmlns:a16="http://schemas.microsoft.com/office/drawing/2014/main" val="2185456526"/>
                    </a:ext>
                  </a:extLst>
                </a:gridCol>
                <a:gridCol w="2149309">
                  <a:extLst>
                    <a:ext uri="{9D8B030D-6E8A-4147-A177-3AD203B41FA5}">
                      <a16:colId xmlns:a16="http://schemas.microsoft.com/office/drawing/2014/main" val="2759502987"/>
                    </a:ext>
                  </a:extLst>
                </a:gridCol>
              </a:tblGrid>
              <a:tr h="13608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endPar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b"/>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5082" marR="5082" marT="5082" marB="0"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467976"/>
                  </a:ext>
                </a:extLst>
              </a:tr>
              <a:tr h="136086">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5082" marR="5082" marT="5082"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0070C0"/>
                    </a:solidFill>
                  </a:tcPr>
                </a:tc>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得意先名</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本社</a:t>
                      </a:r>
                      <a:b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b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所在地</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dirty="0">
                          <a:solidFill>
                            <a:srgbClr val="FFFFFF"/>
                          </a:solidFill>
                          <a:effectLst/>
                          <a:latin typeface="游ゴシック" panose="020B0400000000000000" pitchFamily="50" charset="-128"/>
                          <a:ea typeface="游ゴシック" panose="020B0400000000000000" pitchFamily="50" charset="-128"/>
                        </a:rPr>
                        <a:t>業種等</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en-US" altLang="ja-JP" sz="800" b="1" i="0" u="none" strike="noStrike">
                          <a:solidFill>
                            <a:srgbClr val="FFFFFF"/>
                          </a:solidFill>
                          <a:effectLst/>
                          <a:latin typeface="游ゴシック" panose="020B0400000000000000" pitchFamily="50" charset="-128"/>
                          <a:ea typeface="游ゴシック" panose="020B0400000000000000" pitchFamily="50" charset="-128"/>
                        </a:rPr>
                        <a:t>2022</a:t>
                      </a: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年</a:t>
                      </a:r>
                      <a:r>
                        <a:rPr lang="en-US" altLang="ja-JP" sz="800" b="1" i="0" u="none" strike="noStrike">
                          <a:solidFill>
                            <a:srgbClr val="FFFFFF"/>
                          </a:solidFill>
                          <a:effectLst/>
                          <a:latin typeface="游ゴシック" panose="020B0400000000000000" pitchFamily="50" charset="-128"/>
                          <a:ea typeface="游ゴシック" panose="020B0400000000000000" pitchFamily="50" charset="-128"/>
                        </a:rPr>
                        <a:t>7</a:t>
                      </a: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月</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en-US" altLang="ja-JP" sz="800" b="1" i="0" u="none" strike="noStrike">
                          <a:solidFill>
                            <a:srgbClr val="FFFFFF"/>
                          </a:solidFill>
                          <a:effectLst/>
                          <a:latin typeface="游ゴシック" panose="020B0400000000000000" pitchFamily="50" charset="-128"/>
                          <a:ea typeface="游ゴシック" panose="020B0400000000000000" pitchFamily="50" charset="-128"/>
                        </a:rPr>
                        <a:t>2023</a:t>
                      </a: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年</a:t>
                      </a:r>
                      <a:r>
                        <a:rPr lang="en-US" altLang="ja-JP" sz="800" b="1" i="0" u="none" strike="noStrike">
                          <a:solidFill>
                            <a:srgbClr val="FFFFFF"/>
                          </a:solidFill>
                          <a:effectLst/>
                          <a:latin typeface="游ゴシック" panose="020B0400000000000000" pitchFamily="50" charset="-128"/>
                          <a:ea typeface="游ゴシック" panose="020B0400000000000000" pitchFamily="50" charset="-128"/>
                        </a:rPr>
                        <a:t>7</a:t>
                      </a: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月</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en-US" altLang="ja-JP" sz="800" b="1" i="0" u="none" strike="noStrike">
                          <a:solidFill>
                            <a:srgbClr val="FFFFFF"/>
                          </a:solidFill>
                          <a:effectLst/>
                          <a:latin typeface="游ゴシック" panose="020B0400000000000000" pitchFamily="50" charset="-128"/>
                          <a:ea typeface="游ゴシック" panose="020B0400000000000000" pitchFamily="50" charset="-128"/>
                        </a:rPr>
                        <a:t>2024</a:t>
                      </a: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年</a:t>
                      </a:r>
                      <a:r>
                        <a:rPr lang="en-US" altLang="ja-JP" sz="800" b="1" i="0" u="none" strike="noStrike">
                          <a:solidFill>
                            <a:srgbClr val="FFFFFF"/>
                          </a:solidFill>
                          <a:effectLst/>
                          <a:latin typeface="游ゴシック" panose="020B0400000000000000" pitchFamily="50" charset="-128"/>
                          <a:ea typeface="游ゴシック" panose="020B0400000000000000" pitchFamily="50" charset="-128"/>
                        </a:rPr>
                        <a:t>7</a:t>
                      </a: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月</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dirty="0">
                          <a:solidFill>
                            <a:srgbClr val="FFFFFF"/>
                          </a:solidFill>
                          <a:effectLst/>
                          <a:latin typeface="游ゴシック" panose="020B0400000000000000" pitchFamily="50" charset="-128"/>
                          <a:ea typeface="游ゴシック" panose="020B0400000000000000" pitchFamily="50" charset="-128"/>
                        </a:rPr>
                        <a:t>備考</a:t>
                      </a:r>
                    </a:p>
                  </a:txBody>
                  <a:tcPr marL="5082" marR="5082" marT="5082"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780867088"/>
                  </a:ext>
                </a:extLst>
              </a:tr>
              <a:tr h="13608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dirty="0">
                          <a:solidFill>
                            <a:srgbClr val="FFFFFF"/>
                          </a:solidFill>
                          <a:effectLst/>
                          <a:latin typeface="游ゴシック" panose="020B0400000000000000" pitchFamily="50" charset="-128"/>
                          <a:ea typeface="游ゴシック" panose="020B0400000000000000" pitchFamily="50" charset="-128"/>
                        </a:rPr>
                        <a:t>売上高</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5082" marR="5082" marT="508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vMerge="1">
                  <a:txBody>
                    <a:bodyPr/>
                    <a:lstStyle/>
                    <a:p>
                      <a:endParaRPr kumimoji="1" lang="ja-JP" altLang="en-US"/>
                    </a:p>
                  </a:txBody>
                  <a:tcPr/>
                </a:tc>
                <a:extLst>
                  <a:ext uri="{0D108BD9-81ED-4DB2-BD59-A6C34878D82A}">
                    <a16:rowId xmlns:a16="http://schemas.microsoft.com/office/drawing/2014/main" val="3566829195"/>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㈱朝日新聞社</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東京都中央区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新聞・デジタルメディアによるコンテンツ事業</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275,809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84.7%</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225,621</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58.6%</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170,513</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49.2%</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記事広告制作、デジタル制作、広告入稿代行</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6143822"/>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松尾㈱</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大阪府大阪市</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子供服・婦人服・紳士服の企画・製造・販売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49,774</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14.4%</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基幹システムの開発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8950719"/>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dirty="0" err="1">
                          <a:solidFill>
                            <a:srgbClr val="000000"/>
                          </a:solidFill>
                          <a:effectLst/>
                          <a:latin typeface="游ゴシック" panose="020B0400000000000000" pitchFamily="50" charset="-128"/>
                          <a:ea typeface="游ゴシック" panose="020B0400000000000000" pitchFamily="50" charset="-128"/>
                        </a:rPr>
                        <a:t>toBe</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マーケティング㈱</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東京都中央区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マーケティング支援事業</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21,005</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6.4%</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45,248</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11.8%</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21,327</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6.1%</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Salesforce</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社の販売パートナー。案件を紹介頂くこともあり。</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946199"/>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プレミアアンチエイジング㈱</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東京都港区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化粧品・健康食品の企画開発、通販、卸売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3,100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23,623</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6.1%</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17,929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5.2%</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LP</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制作、</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3755806"/>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㈱長寿乃里</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zh-CN" altLang="en-US" sz="800" b="0" i="0" u="none" strike="noStrike">
                          <a:solidFill>
                            <a:srgbClr val="000000"/>
                          </a:solidFill>
                          <a:effectLst/>
                          <a:latin typeface="游ゴシック" panose="020B0400000000000000" pitchFamily="50" charset="-128"/>
                          <a:ea typeface="游ゴシック" panose="020B0400000000000000" pitchFamily="50" charset="-128"/>
                        </a:rPr>
                        <a:t>神奈川県横浜市</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化粧品・健康食品の販売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15,291</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4.4%</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6225802"/>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賃料収入</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12,000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3.7%</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12,055</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3.1%</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13,200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3.8%</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不動産賃料（譲渡対象外）</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0402300"/>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㈱ティップネス</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東京都千代田区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フィットネスクラブの経営</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2,800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0.9%</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8,350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2.2%</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7,550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2.2%</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11677"/>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㈱ウフル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東京都港区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クラウド事業、</a:t>
                      </a: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IoT</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事業</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1,750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6,910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Salesforce</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社の販売パートナー。案件を紹介頂くこともあり。</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4304641"/>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LAETOLI㈱</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東京都港区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不動産クラウドファンディングの運営</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6,329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1.8%</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493336"/>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㈱TENGA</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東京都中央区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成人用玩具の販売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4,500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8354022"/>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㈱ケアコネクトジャパン</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静岡県静岡市</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医療・介護に係る管理システムの開発販売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6,026</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1.6%</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4,455</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2404217"/>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㈱朝日デジタルラボ</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東京都港区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メディアコンテンツの制作</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3,487</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0.9%</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4,131</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制作案件</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6608253"/>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㈱富士達</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zh-CN" altLang="en-US" sz="800" b="0" i="0" u="none" strike="noStrike">
                          <a:solidFill>
                            <a:srgbClr val="000000"/>
                          </a:solidFill>
                          <a:effectLst/>
                          <a:latin typeface="游ゴシック" panose="020B0400000000000000" pitchFamily="50" charset="-128"/>
                          <a:ea typeface="游ゴシック" panose="020B0400000000000000" pitchFamily="50" charset="-128"/>
                        </a:rPr>
                        <a:t>神奈川県横浜市</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七輪焼肉「安安」の運営</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4,100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054716"/>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㈱フィールドフォース</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千葉県柏市</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スポーツ用品の輸出入・販売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3,550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001637"/>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浅野撚糸㈱</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岐阜県安八郡</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タオルの販売</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3,400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4676589"/>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16</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㈱マクロミル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東京都港区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マーケティングリサーチ事業</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3,250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0.9%</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4969029"/>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㈱ファミリーサポート</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大阪市西区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zh-TW" altLang="en-US" sz="800" b="0" i="0" u="none" strike="noStrike" dirty="0">
                          <a:solidFill>
                            <a:srgbClr val="000000"/>
                          </a:solidFill>
                          <a:effectLst/>
                          <a:latin typeface="游ゴシック" panose="020B0400000000000000" pitchFamily="50" charset="-128"/>
                          <a:ea typeface="游ゴシック" panose="020B0400000000000000" pitchFamily="50" charset="-128"/>
                        </a:rPr>
                        <a:t>人材紹介事業</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2,855</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SF</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コンサル</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423510"/>
                  </a:ext>
                </a:extLst>
              </a:tr>
              <a:tr h="266726">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18</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zh-TW" altLang="en-US" sz="800" b="0" i="0" u="none" strike="noStrike" dirty="0">
                          <a:solidFill>
                            <a:srgbClr val="000000"/>
                          </a:solidFill>
                          <a:effectLst/>
                          <a:latin typeface="游ゴシック" panose="020B0400000000000000" pitchFamily="50" charset="-128"/>
                          <a:ea typeface="游ゴシック" panose="020B0400000000000000" pitchFamily="50" charset="-128"/>
                        </a:rPr>
                        <a:t>㈱日本経済新聞社</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東京都千代田区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新聞・デジタルメディアによるコンテンツ事業</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2,526</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0.7%</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3637687"/>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㈱DOOR</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企画制作部長（丸様）</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880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1,870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1,159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4819553"/>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MN</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ソリューションズ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東京都千代田区</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Web</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制作、</a:t>
                      </a: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IT</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コンサルティング</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880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26,462</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6.9%</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1,020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サイト構築プロジェクト</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1834081"/>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5082" marR="5082" marT="5082"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gridSpan="3">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その他（</a:t>
                      </a: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3</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社～</a:t>
                      </a: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12</a:t>
                      </a: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社）</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9,267</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2.8%</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30,439</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7.9%</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3,084</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0.9%</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608784"/>
                  </a:ext>
                </a:extLst>
              </a:tr>
              <a:tr h="210539">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082" marR="5082" marT="5082"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gridSpan="3">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合　　計</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325,741</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384,930</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346,853</a:t>
                      </a:r>
                    </a:p>
                  </a:txBody>
                  <a:tcPr marL="5082" marR="5082" marT="508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100.0%</a:t>
                      </a:r>
                    </a:p>
                  </a:txBody>
                  <a:tcPr marL="5082" marR="5082" marT="5082"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800" b="1" i="0" u="none" strike="noStrike" dirty="0">
                          <a:solidFill>
                            <a:srgbClr val="FF0000"/>
                          </a:solidFill>
                          <a:effectLst/>
                          <a:latin typeface="游ゴシック" panose="020B0400000000000000" pitchFamily="50" charset="-128"/>
                          <a:ea typeface="游ゴシック" panose="020B0400000000000000" pitchFamily="50" charset="-128"/>
                        </a:rPr>
                        <a:t>　</a:t>
                      </a:r>
                    </a:p>
                  </a:txBody>
                  <a:tcPr marL="5082" marR="5082" marT="5082"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80407206"/>
                  </a:ext>
                </a:extLst>
              </a:tr>
            </a:tbl>
          </a:graphicData>
        </a:graphic>
      </p:graphicFrame>
      <p:sp>
        <p:nvSpPr>
          <p:cNvPr id="10" name="テキスト ボックス 9">
            <a:extLst>
              <a:ext uri="{FF2B5EF4-FFF2-40B4-BE49-F238E27FC236}">
                <a16:creationId xmlns:a16="http://schemas.microsoft.com/office/drawing/2014/main" id="{C44DD145-82E6-5AB4-C5B9-2C9A86687F4B}"/>
              </a:ext>
            </a:extLst>
          </p:cNvPr>
          <p:cNvSpPr txBox="1"/>
          <p:nvPr/>
        </p:nvSpPr>
        <p:spPr>
          <a:xfrm>
            <a:off x="231034" y="6859788"/>
            <a:ext cx="4554071" cy="230832"/>
          </a:xfrm>
          <a:prstGeom prst="rect">
            <a:avLst/>
          </a:prstGeom>
          <a:noFill/>
        </p:spPr>
        <p:txBody>
          <a:bodyPr wrap="square" rtlCol="0">
            <a:spAutoFit/>
          </a:bodyPr>
          <a:lstStyle/>
          <a:p>
            <a:r>
              <a:rPr kumimoji="1" lang="en-US" altLang="ja-JP" sz="900" dirty="0">
                <a:solidFill>
                  <a:schemeClr val="accent4">
                    <a:lumMod val="50000"/>
                  </a:schemeClr>
                </a:solidFill>
                <a:latin typeface="游ゴシック" panose="020B0400000000000000" pitchFamily="50" charset="-128"/>
                <a:ea typeface="游ゴシック" panose="020B0400000000000000" pitchFamily="50" charset="-128"/>
              </a:rPr>
              <a:t>※</a:t>
            </a:r>
            <a:r>
              <a:rPr kumimoji="1" lang="ja-JP" altLang="en-US" sz="900" dirty="0">
                <a:solidFill>
                  <a:schemeClr val="accent4">
                    <a:lumMod val="50000"/>
                  </a:schemeClr>
                </a:solidFill>
                <a:latin typeface="游ゴシック" panose="020B0400000000000000" pitchFamily="50" charset="-128"/>
                <a:ea typeface="游ゴシック" panose="020B0400000000000000" pitchFamily="50" charset="-128"/>
              </a:rPr>
              <a:t>営業管理資料からの抜粋のため、決算数値と異なる可能性あり</a:t>
            </a:r>
          </a:p>
        </p:txBody>
      </p:sp>
    </p:spTree>
    <p:extLst>
      <p:ext uri="{BB962C8B-B14F-4D97-AF65-F5344CB8AC3E}">
        <p14:creationId xmlns:p14="http://schemas.microsoft.com/office/powerpoint/2010/main" val="588634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8A1F5-CDA7-B787-484C-BF606C1C2BF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92EE620-2853-CDC4-08A5-FCC668D2BD04}"/>
              </a:ext>
            </a:extLst>
          </p:cNvPr>
          <p:cNvSpPr>
            <a:spLocks noGrp="1"/>
          </p:cNvSpPr>
          <p:nvPr>
            <p:ph type="ctrTitle"/>
          </p:nvPr>
        </p:nvSpPr>
        <p:spPr>
          <a:xfrm>
            <a:off x="311150" y="180296"/>
            <a:ext cx="7799917" cy="339267"/>
          </a:xfrm>
        </p:spPr>
        <p:txBody>
          <a:bodyPr>
            <a:normAutofit/>
          </a:bodyPr>
          <a:lstStyle/>
          <a:p>
            <a:r>
              <a:rPr lang="ja-JP" altLang="en-US" dirty="0"/>
              <a:t>進行中案件</a:t>
            </a:r>
            <a:r>
              <a:rPr lang="en-US" altLang="ja-JP" dirty="0"/>
              <a:t>_</a:t>
            </a:r>
            <a:r>
              <a:rPr lang="ja-JP" altLang="en-US" dirty="0"/>
              <a:t>抜粋</a:t>
            </a:r>
          </a:p>
        </p:txBody>
      </p:sp>
      <p:sp>
        <p:nvSpPr>
          <p:cNvPr id="3" name="テキスト ボックス 2">
            <a:extLst>
              <a:ext uri="{FF2B5EF4-FFF2-40B4-BE49-F238E27FC236}">
                <a16:creationId xmlns:a16="http://schemas.microsoft.com/office/drawing/2014/main" id="{CA4FA2B6-1CEE-1D24-8F04-9D88E0B50BEC}"/>
              </a:ext>
            </a:extLst>
          </p:cNvPr>
          <p:cNvSpPr txBox="1"/>
          <p:nvPr/>
        </p:nvSpPr>
        <p:spPr>
          <a:xfrm>
            <a:off x="495300" y="939702"/>
            <a:ext cx="5062604" cy="5924699"/>
          </a:xfrm>
          <a:prstGeom prst="rect">
            <a:avLst/>
          </a:prstGeom>
          <a:noFill/>
        </p:spPr>
        <p:txBody>
          <a:bodyPr wrap="none" rtlCol="0" anchor="ctr">
            <a:spAutoFit/>
          </a:bodyPr>
          <a:lstStyle/>
          <a:p>
            <a:pPr>
              <a:lnSpc>
                <a:spcPct val="200000"/>
              </a:lnSpc>
            </a:pPr>
            <a:r>
              <a:rPr kumimoji="1" lang="en-US" altLang="ja-JP" dirty="0">
                <a:latin typeface="+mn-ea"/>
                <a:ea typeface="+mn-ea"/>
              </a:rPr>
              <a:t>HOYA</a:t>
            </a:r>
            <a:r>
              <a:rPr kumimoji="1" lang="ja-JP" altLang="en-US" dirty="0">
                <a:latin typeface="+mn-ea"/>
                <a:ea typeface="+mn-ea"/>
              </a:rPr>
              <a:t>アイケアリテイリング合同会社（アイシティ）</a:t>
            </a:r>
            <a:endParaRPr kumimoji="1" lang="en-US" altLang="ja-JP" dirty="0">
              <a:latin typeface="+mn-ea"/>
              <a:ea typeface="+mn-ea"/>
            </a:endParaRPr>
          </a:p>
          <a:p>
            <a:pPr>
              <a:lnSpc>
                <a:spcPct val="200000"/>
              </a:lnSpc>
            </a:pPr>
            <a:r>
              <a:rPr kumimoji="1" lang="ja-JP" altLang="en-US" dirty="0">
                <a:latin typeface="+mn-ea"/>
                <a:ea typeface="+mn-ea"/>
              </a:rPr>
              <a:t>株式会社</a:t>
            </a:r>
            <a:r>
              <a:rPr kumimoji="1" lang="en-US" altLang="ja-JP" dirty="0">
                <a:latin typeface="+mn-ea"/>
                <a:ea typeface="+mn-ea"/>
              </a:rPr>
              <a:t>TENGA</a:t>
            </a:r>
          </a:p>
          <a:p>
            <a:pPr>
              <a:lnSpc>
                <a:spcPct val="200000"/>
              </a:lnSpc>
            </a:pPr>
            <a:r>
              <a:rPr kumimoji="1" lang="ja-JP" altLang="en-US" dirty="0">
                <a:latin typeface="+mn-ea"/>
                <a:ea typeface="+mn-ea"/>
              </a:rPr>
              <a:t>株式会社富士達（七輪焼肉安安）</a:t>
            </a:r>
            <a:endParaRPr kumimoji="1" lang="en-US" altLang="ja-JP" dirty="0">
              <a:latin typeface="+mn-ea"/>
              <a:ea typeface="+mn-ea"/>
            </a:endParaRPr>
          </a:p>
          <a:p>
            <a:pPr>
              <a:lnSpc>
                <a:spcPct val="200000"/>
              </a:lnSpc>
            </a:pPr>
            <a:r>
              <a:rPr kumimoji="1" lang="ja-JP" altLang="en-US" dirty="0">
                <a:latin typeface="+mn-ea"/>
                <a:ea typeface="+mn-ea"/>
              </a:rPr>
              <a:t>株式会社プレジデント社</a:t>
            </a:r>
            <a:endParaRPr kumimoji="1" lang="en-US" altLang="ja-JP" dirty="0">
              <a:latin typeface="+mn-ea"/>
              <a:ea typeface="+mn-ea"/>
            </a:endParaRPr>
          </a:p>
          <a:p>
            <a:pPr>
              <a:lnSpc>
                <a:spcPct val="200000"/>
              </a:lnSpc>
            </a:pPr>
            <a:r>
              <a:rPr kumimoji="1" lang="en-US" altLang="ja-JP" dirty="0">
                <a:latin typeface="+mn-ea"/>
                <a:ea typeface="+mn-ea"/>
              </a:rPr>
              <a:t>Foot Locker </a:t>
            </a:r>
            <a:r>
              <a:rPr kumimoji="1" lang="en-US" altLang="ja-JP" dirty="0" err="1">
                <a:latin typeface="+mn-ea"/>
                <a:ea typeface="+mn-ea"/>
              </a:rPr>
              <a:t>atmos</a:t>
            </a:r>
            <a:r>
              <a:rPr kumimoji="1" lang="en-US" altLang="ja-JP" dirty="0">
                <a:latin typeface="+mn-ea"/>
                <a:ea typeface="+mn-ea"/>
              </a:rPr>
              <a:t> Japan</a:t>
            </a:r>
            <a:r>
              <a:rPr kumimoji="1" lang="ja-JP" altLang="en-US" dirty="0">
                <a:latin typeface="+mn-ea"/>
                <a:ea typeface="+mn-ea"/>
              </a:rPr>
              <a:t>合同会社</a:t>
            </a:r>
            <a:endParaRPr kumimoji="1" lang="en-US" altLang="ja-JP" dirty="0">
              <a:latin typeface="+mn-ea"/>
              <a:ea typeface="+mn-ea"/>
            </a:endParaRPr>
          </a:p>
          <a:p>
            <a:pPr>
              <a:lnSpc>
                <a:spcPct val="200000"/>
              </a:lnSpc>
            </a:pPr>
            <a:r>
              <a:rPr kumimoji="1" lang="ja-JP" altLang="en-US" dirty="0">
                <a:latin typeface="+mn-ea"/>
                <a:ea typeface="+mn-ea"/>
              </a:rPr>
              <a:t>株式会社ムラサキスポーツ</a:t>
            </a:r>
            <a:endParaRPr kumimoji="1" lang="en-US" altLang="ja-JP" dirty="0">
              <a:latin typeface="+mn-ea"/>
              <a:ea typeface="+mn-ea"/>
            </a:endParaRPr>
          </a:p>
          <a:p>
            <a:pPr>
              <a:lnSpc>
                <a:spcPct val="200000"/>
              </a:lnSpc>
            </a:pPr>
            <a:r>
              <a:rPr kumimoji="1" lang="ja-JP" altLang="en-US" dirty="0">
                <a:latin typeface="+mn-ea"/>
                <a:ea typeface="+mn-ea"/>
              </a:rPr>
              <a:t>株式会社マクロミル</a:t>
            </a:r>
            <a:endParaRPr kumimoji="1" lang="en-US" altLang="ja-JP" dirty="0">
              <a:latin typeface="+mn-ea"/>
              <a:ea typeface="+mn-ea"/>
            </a:endParaRPr>
          </a:p>
          <a:p>
            <a:pPr>
              <a:lnSpc>
                <a:spcPct val="200000"/>
              </a:lnSpc>
            </a:pPr>
            <a:r>
              <a:rPr kumimoji="1" lang="ja-JP" altLang="en-US" dirty="0">
                <a:latin typeface="+mn-ea"/>
                <a:ea typeface="+mn-ea"/>
              </a:rPr>
              <a:t>株式会社旺文社</a:t>
            </a:r>
            <a:endParaRPr kumimoji="1" lang="en-US" altLang="ja-JP" dirty="0">
              <a:latin typeface="+mn-ea"/>
              <a:ea typeface="+mn-ea"/>
            </a:endParaRPr>
          </a:p>
          <a:p>
            <a:pPr>
              <a:lnSpc>
                <a:spcPct val="200000"/>
              </a:lnSpc>
            </a:pPr>
            <a:r>
              <a:rPr kumimoji="1" lang="ja-JP" altLang="en-US" dirty="0">
                <a:latin typeface="+mn-ea"/>
                <a:ea typeface="+mn-ea"/>
              </a:rPr>
              <a:t>チョコレートデザイン株式会社（バニラビーンズ）</a:t>
            </a:r>
            <a:endParaRPr kumimoji="1" lang="en-US" altLang="ja-JP" dirty="0">
              <a:latin typeface="+mn-ea"/>
              <a:ea typeface="+mn-ea"/>
            </a:endParaRPr>
          </a:p>
          <a:p>
            <a:pPr>
              <a:lnSpc>
                <a:spcPct val="200000"/>
              </a:lnSpc>
            </a:pPr>
            <a:r>
              <a:rPr kumimoji="1" lang="ja-JP" altLang="en-US" dirty="0">
                <a:latin typeface="+mn-ea"/>
                <a:ea typeface="+mn-ea"/>
              </a:rPr>
              <a:t>株式会社壽屋</a:t>
            </a:r>
            <a:endParaRPr kumimoji="1" lang="en-US" altLang="ja-JP" dirty="0">
              <a:latin typeface="+mn-ea"/>
              <a:ea typeface="+mn-ea"/>
            </a:endParaRPr>
          </a:p>
          <a:p>
            <a:pPr>
              <a:lnSpc>
                <a:spcPct val="200000"/>
              </a:lnSpc>
            </a:pPr>
            <a:r>
              <a:rPr kumimoji="1" lang="ja-JP" altLang="en-US" dirty="0">
                <a:latin typeface="+mn-ea"/>
                <a:ea typeface="+mn-ea"/>
              </a:rPr>
              <a:t>株式会社カタログハウス（通販生活）</a:t>
            </a:r>
            <a:endParaRPr kumimoji="1" lang="en-US" altLang="ja-JP" dirty="0">
              <a:latin typeface="+mn-ea"/>
              <a:ea typeface="+mn-ea"/>
            </a:endParaRPr>
          </a:p>
          <a:p>
            <a:pPr>
              <a:lnSpc>
                <a:spcPct val="200000"/>
              </a:lnSpc>
            </a:pPr>
            <a:r>
              <a:rPr kumimoji="1" lang="ja-JP" altLang="en-US" dirty="0">
                <a:latin typeface="+mn-ea"/>
                <a:ea typeface="+mn-ea"/>
              </a:rPr>
              <a:t>株式会社梅の花グループ</a:t>
            </a:r>
          </a:p>
        </p:txBody>
      </p:sp>
      <p:pic>
        <p:nvPicPr>
          <p:cNvPr id="4" name="図 3" descr="アイシティ │ PARCO_ya上野">
            <a:extLst>
              <a:ext uri="{FF2B5EF4-FFF2-40B4-BE49-F238E27FC236}">
                <a16:creationId xmlns:a16="http://schemas.microsoft.com/office/drawing/2014/main" id="{B2A20EF2-590D-172C-6CFD-A36A7BA69E20}"/>
              </a:ext>
            </a:extLst>
          </p:cNvPr>
          <p:cNvPicPr>
            <a:picLocks noChangeAspect="1"/>
          </p:cNvPicPr>
          <p:nvPr/>
        </p:nvPicPr>
        <p:blipFill>
          <a:blip r:embed="rId3"/>
          <a:stretch>
            <a:fillRect/>
          </a:stretch>
        </p:blipFill>
        <p:spPr>
          <a:xfrm>
            <a:off x="6150709" y="1193187"/>
            <a:ext cx="1652521" cy="861514"/>
          </a:xfrm>
          <a:prstGeom prst="rect">
            <a:avLst/>
          </a:prstGeom>
        </p:spPr>
      </p:pic>
      <p:pic>
        <p:nvPicPr>
          <p:cNvPr id="5" name="図 4" descr="株式会社TENGA (@TENGA_COMPANY) / Posts / X">
            <a:extLst>
              <a:ext uri="{FF2B5EF4-FFF2-40B4-BE49-F238E27FC236}">
                <a16:creationId xmlns:a16="http://schemas.microsoft.com/office/drawing/2014/main" id="{1E8228B9-6158-7146-8AD3-B58A26944E8A}"/>
              </a:ext>
            </a:extLst>
          </p:cNvPr>
          <p:cNvPicPr>
            <a:picLocks noChangeAspect="1"/>
          </p:cNvPicPr>
          <p:nvPr/>
        </p:nvPicPr>
        <p:blipFill>
          <a:blip r:embed="rId4"/>
          <a:srcRect t="30250" b="33250"/>
          <a:stretch>
            <a:fillRect/>
          </a:stretch>
        </p:blipFill>
        <p:spPr>
          <a:xfrm>
            <a:off x="8366333" y="1286450"/>
            <a:ext cx="1715528" cy="626168"/>
          </a:xfrm>
          <a:prstGeom prst="rect">
            <a:avLst/>
          </a:prstGeom>
        </p:spPr>
      </p:pic>
      <p:pic>
        <p:nvPicPr>
          <p:cNvPr id="6" name="図 5" descr="七輪焼肉安安【公式】 (@anan_yakiniku) / Posts / X">
            <a:extLst>
              <a:ext uri="{FF2B5EF4-FFF2-40B4-BE49-F238E27FC236}">
                <a16:creationId xmlns:a16="http://schemas.microsoft.com/office/drawing/2014/main" id="{66851FDD-784E-F99F-B90D-AD8CFED53943}"/>
              </a:ext>
            </a:extLst>
          </p:cNvPr>
          <p:cNvPicPr>
            <a:picLocks noChangeAspect="1"/>
          </p:cNvPicPr>
          <p:nvPr/>
        </p:nvPicPr>
        <p:blipFill>
          <a:blip r:embed="rId5"/>
          <a:srcRect t="16664" b="16669"/>
          <a:stretch>
            <a:fillRect/>
          </a:stretch>
        </p:blipFill>
        <p:spPr>
          <a:xfrm>
            <a:off x="6343945" y="2221690"/>
            <a:ext cx="1266047" cy="844031"/>
          </a:xfrm>
          <a:prstGeom prst="rect">
            <a:avLst/>
          </a:prstGeom>
        </p:spPr>
      </p:pic>
      <p:pic>
        <p:nvPicPr>
          <p:cNvPr id="7" name="図 6" descr="株式会社プレジデント社｜EventRegist">
            <a:extLst>
              <a:ext uri="{FF2B5EF4-FFF2-40B4-BE49-F238E27FC236}">
                <a16:creationId xmlns:a16="http://schemas.microsoft.com/office/drawing/2014/main" id="{A561FA4A-0ABD-2CAE-49C2-F7A02852B5F6}"/>
              </a:ext>
            </a:extLst>
          </p:cNvPr>
          <p:cNvPicPr>
            <a:picLocks noChangeAspect="1"/>
          </p:cNvPicPr>
          <p:nvPr/>
        </p:nvPicPr>
        <p:blipFill>
          <a:blip r:embed="rId6"/>
          <a:srcRect t="35682" b="38367"/>
          <a:stretch>
            <a:fillRect/>
          </a:stretch>
        </p:blipFill>
        <p:spPr>
          <a:xfrm>
            <a:off x="8366333" y="2319593"/>
            <a:ext cx="1793382" cy="465397"/>
          </a:xfrm>
          <a:prstGeom prst="rect">
            <a:avLst/>
          </a:prstGeom>
        </p:spPr>
      </p:pic>
      <p:pic>
        <p:nvPicPr>
          <p:cNvPr id="8" name="図 7" descr="atmos｜アトモスの通販 - ZOZOTOWN">
            <a:extLst>
              <a:ext uri="{FF2B5EF4-FFF2-40B4-BE49-F238E27FC236}">
                <a16:creationId xmlns:a16="http://schemas.microsoft.com/office/drawing/2014/main" id="{91AD4B52-E79F-B94B-F751-DBF6DEB78DE2}"/>
              </a:ext>
            </a:extLst>
          </p:cNvPr>
          <p:cNvPicPr>
            <a:picLocks noChangeAspect="1"/>
          </p:cNvPicPr>
          <p:nvPr/>
        </p:nvPicPr>
        <p:blipFill>
          <a:blip r:embed="rId7"/>
          <a:srcRect t="35098" b="35459"/>
          <a:stretch>
            <a:fillRect/>
          </a:stretch>
        </p:blipFill>
        <p:spPr>
          <a:xfrm>
            <a:off x="6210173" y="3289467"/>
            <a:ext cx="1652521" cy="486559"/>
          </a:xfrm>
          <a:prstGeom prst="rect">
            <a:avLst/>
          </a:prstGeom>
        </p:spPr>
      </p:pic>
      <p:pic>
        <p:nvPicPr>
          <p:cNvPr id="9" name="図 8" descr="ムラサキスポーツ | ららぽーと沼津">
            <a:extLst>
              <a:ext uri="{FF2B5EF4-FFF2-40B4-BE49-F238E27FC236}">
                <a16:creationId xmlns:a16="http://schemas.microsoft.com/office/drawing/2014/main" id="{3377A49A-7549-8869-E75B-AFE1638EE2BB}"/>
              </a:ext>
            </a:extLst>
          </p:cNvPr>
          <p:cNvPicPr>
            <a:picLocks noChangeAspect="1"/>
          </p:cNvPicPr>
          <p:nvPr/>
        </p:nvPicPr>
        <p:blipFill>
          <a:blip r:embed="rId8"/>
          <a:srcRect t="31432" b="30679"/>
          <a:stretch>
            <a:fillRect/>
          </a:stretch>
        </p:blipFill>
        <p:spPr>
          <a:xfrm>
            <a:off x="8366333" y="3185907"/>
            <a:ext cx="1984167" cy="751778"/>
          </a:xfrm>
          <a:prstGeom prst="rect">
            <a:avLst/>
          </a:prstGeom>
        </p:spPr>
      </p:pic>
      <p:pic>
        <p:nvPicPr>
          <p:cNvPr id="10" name="図 9" descr="Our Vision｜マクロミル">
            <a:extLst>
              <a:ext uri="{FF2B5EF4-FFF2-40B4-BE49-F238E27FC236}">
                <a16:creationId xmlns:a16="http://schemas.microsoft.com/office/drawing/2014/main" id="{1CECA8FD-7FBE-B957-0BDD-CA762B6B8649}"/>
              </a:ext>
            </a:extLst>
          </p:cNvPr>
          <p:cNvPicPr>
            <a:picLocks noChangeAspect="1"/>
          </p:cNvPicPr>
          <p:nvPr/>
        </p:nvPicPr>
        <p:blipFill>
          <a:blip r:embed="rId9"/>
          <a:srcRect t="40614" b="42960"/>
          <a:stretch>
            <a:fillRect/>
          </a:stretch>
        </p:blipFill>
        <p:spPr>
          <a:xfrm>
            <a:off x="8111067" y="4234313"/>
            <a:ext cx="2506698" cy="411750"/>
          </a:xfrm>
          <a:prstGeom prst="rect">
            <a:avLst/>
          </a:prstGeom>
        </p:spPr>
      </p:pic>
      <p:pic>
        <p:nvPicPr>
          <p:cNvPr id="11" name="図 10" descr="旺文社 ブランドサイト">
            <a:extLst>
              <a:ext uri="{FF2B5EF4-FFF2-40B4-BE49-F238E27FC236}">
                <a16:creationId xmlns:a16="http://schemas.microsoft.com/office/drawing/2014/main" id="{723A2FCC-DF20-F84A-5EB2-9F5FBCB2585C}"/>
              </a:ext>
            </a:extLst>
          </p:cNvPr>
          <p:cNvPicPr>
            <a:picLocks noChangeAspect="1"/>
          </p:cNvPicPr>
          <p:nvPr/>
        </p:nvPicPr>
        <p:blipFill>
          <a:blip r:embed="rId10"/>
          <a:stretch>
            <a:fillRect/>
          </a:stretch>
        </p:blipFill>
        <p:spPr>
          <a:xfrm>
            <a:off x="6650548" y="4053160"/>
            <a:ext cx="757238" cy="788358"/>
          </a:xfrm>
          <a:prstGeom prst="rect">
            <a:avLst/>
          </a:prstGeom>
        </p:spPr>
      </p:pic>
      <p:pic>
        <p:nvPicPr>
          <p:cNvPr id="12" name="図 11" descr="フロントページ - CHOCOLATE DESIGN COMPANY">
            <a:extLst>
              <a:ext uri="{FF2B5EF4-FFF2-40B4-BE49-F238E27FC236}">
                <a16:creationId xmlns:a16="http://schemas.microsoft.com/office/drawing/2014/main" id="{72318514-72EB-1FE3-A250-DA0DB46DB258}"/>
              </a:ext>
            </a:extLst>
          </p:cNvPr>
          <p:cNvPicPr>
            <a:picLocks noChangeAspect="1"/>
          </p:cNvPicPr>
          <p:nvPr/>
        </p:nvPicPr>
        <p:blipFill>
          <a:blip r:embed="rId11"/>
          <a:srcRect l="5233" t="26183" r="7809" b="28880"/>
          <a:stretch>
            <a:fillRect/>
          </a:stretch>
        </p:blipFill>
        <p:spPr>
          <a:xfrm>
            <a:off x="8514961" y="4908820"/>
            <a:ext cx="1719998" cy="718548"/>
          </a:xfrm>
          <a:prstGeom prst="rect">
            <a:avLst/>
          </a:prstGeom>
        </p:spPr>
      </p:pic>
      <p:pic>
        <p:nvPicPr>
          <p:cNvPr id="14" name="図 13" descr="壽屋 | Wookieepedia | Fandom">
            <a:extLst>
              <a:ext uri="{FF2B5EF4-FFF2-40B4-BE49-F238E27FC236}">
                <a16:creationId xmlns:a16="http://schemas.microsoft.com/office/drawing/2014/main" id="{31DE4E40-2ACE-17C1-8DA6-93354CB21CB3}"/>
              </a:ext>
            </a:extLst>
          </p:cNvPr>
          <p:cNvPicPr>
            <a:picLocks noChangeAspect="1"/>
          </p:cNvPicPr>
          <p:nvPr/>
        </p:nvPicPr>
        <p:blipFill>
          <a:blip r:embed="rId12"/>
          <a:stretch>
            <a:fillRect/>
          </a:stretch>
        </p:blipFill>
        <p:spPr>
          <a:xfrm>
            <a:off x="6239904" y="5175885"/>
            <a:ext cx="1593057" cy="485354"/>
          </a:xfrm>
          <a:prstGeom prst="rect">
            <a:avLst/>
          </a:prstGeom>
        </p:spPr>
      </p:pic>
      <p:pic>
        <p:nvPicPr>
          <p:cNvPr id="15" name="図 14" descr="株式会社カタログハウスのプレスリリース｜PR TIMES">
            <a:extLst>
              <a:ext uri="{FF2B5EF4-FFF2-40B4-BE49-F238E27FC236}">
                <a16:creationId xmlns:a16="http://schemas.microsoft.com/office/drawing/2014/main" id="{7546F405-7963-6833-9C88-A2436191F01F}"/>
              </a:ext>
            </a:extLst>
          </p:cNvPr>
          <p:cNvPicPr>
            <a:picLocks noChangeAspect="1"/>
          </p:cNvPicPr>
          <p:nvPr/>
        </p:nvPicPr>
        <p:blipFill>
          <a:blip r:embed="rId13"/>
          <a:srcRect l="21774" r="20811"/>
          <a:stretch>
            <a:fillRect/>
          </a:stretch>
        </p:blipFill>
        <p:spPr>
          <a:xfrm>
            <a:off x="8964835" y="5843180"/>
            <a:ext cx="992139" cy="908600"/>
          </a:xfrm>
          <a:prstGeom prst="rect">
            <a:avLst/>
          </a:prstGeom>
        </p:spPr>
      </p:pic>
      <p:pic>
        <p:nvPicPr>
          <p:cNvPr id="16" name="図 15" descr="ブランド紹介 | 梅の花グループコーポレートサイト">
            <a:extLst>
              <a:ext uri="{FF2B5EF4-FFF2-40B4-BE49-F238E27FC236}">
                <a16:creationId xmlns:a16="http://schemas.microsoft.com/office/drawing/2014/main" id="{2A51960B-E0E9-F23F-D390-17962627E7EE}"/>
              </a:ext>
            </a:extLst>
          </p:cNvPr>
          <p:cNvPicPr>
            <a:picLocks noChangeAspect="1"/>
          </p:cNvPicPr>
          <p:nvPr/>
        </p:nvPicPr>
        <p:blipFill>
          <a:blip r:embed="rId14"/>
          <a:srcRect l="16439" t="26063" r="9647" b="19552"/>
          <a:stretch>
            <a:fillRect/>
          </a:stretch>
        </p:blipFill>
        <p:spPr>
          <a:xfrm>
            <a:off x="6448586" y="6058582"/>
            <a:ext cx="1414108" cy="684242"/>
          </a:xfrm>
          <a:prstGeom prst="rect">
            <a:avLst/>
          </a:prstGeom>
        </p:spPr>
      </p:pic>
      <p:sp>
        <p:nvSpPr>
          <p:cNvPr id="18" name="正方形/長方形 17">
            <a:extLst>
              <a:ext uri="{FF2B5EF4-FFF2-40B4-BE49-F238E27FC236}">
                <a16:creationId xmlns:a16="http://schemas.microsoft.com/office/drawing/2014/main" id="{74280592-DFC4-BD90-C4C5-C0951C08B849}"/>
              </a:ext>
            </a:extLst>
          </p:cNvPr>
          <p:cNvSpPr/>
          <p:nvPr/>
        </p:nvSpPr>
        <p:spPr>
          <a:xfrm>
            <a:off x="10885010" y="1451061"/>
            <a:ext cx="1437977" cy="603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修正済み</a:t>
            </a:r>
          </a:p>
        </p:txBody>
      </p:sp>
      <p:sp>
        <p:nvSpPr>
          <p:cNvPr id="19" name="タイトル 1">
            <a:extLst>
              <a:ext uri="{FF2B5EF4-FFF2-40B4-BE49-F238E27FC236}">
                <a16:creationId xmlns:a16="http://schemas.microsoft.com/office/drawing/2014/main" id="{80F2C035-CE59-F40E-8352-FC980CA047A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Tree>
    <p:extLst>
      <p:ext uri="{BB962C8B-B14F-4D97-AF65-F5344CB8AC3E}">
        <p14:creationId xmlns:p14="http://schemas.microsoft.com/office/powerpoint/2010/main" val="3072196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C0C1-FCD4-88FA-EA3C-20168900DCC8}"/>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lang="ja-JP" altLang="en-US" dirty="0"/>
              <a:t>外注費</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lang="ja-JP" altLang="en-US" dirty="0">
                <a:latin typeface="+mj-ea"/>
              </a:rPr>
              <a:t>外注費用の大半は</a:t>
            </a:r>
            <a:r>
              <a:rPr lang="en-US" altLang="ja-JP" dirty="0">
                <a:latin typeface="+mj-ea"/>
              </a:rPr>
              <a:t>Salesforce</a:t>
            </a:r>
            <a:r>
              <a:rPr lang="ja-JP" altLang="en-US" dirty="0">
                <a:latin typeface="+mj-ea"/>
              </a:rPr>
              <a:t>導入に係る実装部分。また、取締役への報酬も外注費用で計上しており、</a:t>
            </a:r>
            <a:r>
              <a:rPr lang="en-US" altLang="ja-JP" dirty="0" err="1">
                <a:latin typeface="+mj-ea"/>
              </a:rPr>
              <a:t>kuberu</a:t>
            </a:r>
            <a:r>
              <a:rPr lang="ja-JP" altLang="en-US" dirty="0">
                <a:latin typeface="+mj-ea"/>
              </a:rPr>
              <a:t>社・</a:t>
            </a:r>
            <a:r>
              <a:rPr lang="en-US" altLang="ja-JP" dirty="0" err="1">
                <a:latin typeface="+mj-ea"/>
              </a:rPr>
              <a:t>Rimito</a:t>
            </a:r>
            <a:r>
              <a:rPr lang="ja-JP" altLang="en-US" dirty="0">
                <a:latin typeface="+mj-ea"/>
              </a:rPr>
              <a:t>社が該当会社。その他は記事広告の制作に係る外注先である。</a:t>
            </a:r>
            <a:endParaRPr lang="en-US" altLang="ja-JP" dirty="0"/>
          </a:p>
          <a:p>
            <a:endParaRPr lang="en-US" altLang="ja-JP" dirty="0">
              <a:latin typeface="+mj-ea"/>
            </a:endParaRPr>
          </a:p>
        </p:txBody>
      </p:sp>
      <p:graphicFrame>
        <p:nvGraphicFramePr>
          <p:cNvPr id="4" name="表 3">
            <a:extLst>
              <a:ext uri="{FF2B5EF4-FFF2-40B4-BE49-F238E27FC236}">
                <a16:creationId xmlns:a16="http://schemas.microsoft.com/office/drawing/2014/main" id="{8883A540-7212-F3A1-75B6-53D8C6E097DD}"/>
              </a:ext>
            </a:extLst>
          </p:cNvPr>
          <p:cNvGraphicFramePr>
            <a:graphicFrameLocks noGrp="1"/>
          </p:cNvGraphicFramePr>
          <p:nvPr>
            <p:extLst>
              <p:ext uri="{D42A27DB-BD31-4B8C-83A1-F6EECF244321}">
                <p14:modId xmlns:p14="http://schemas.microsoft.com/office/powerpoint/2010/main" val="723515993"/>
              </p:ext>
            </p:extLst>
          </p:nvPr>
        </p:nvGraphicFramePr>
        <p:xfrm>
          <a:off x="395287" y="1516458"/>
          <a:ext cx="9393606" cy="5056821"/>
        </p:xfrm>
        <a:graphic>
          <a:graphicData uri="http://schemas.openxmlformats.org/drawingml/2006/table">
            <a:tbl>
              <a:tblPr/>
              <a:tblGrid>
                <a:gridCol w="351891">
                  <a:extLst>
                    <a:ext uri="{9D8B030D-6E8A-4147-A177-3AD203B41FA5}">
                      <a16:colId xmlns:a16="http://schemas.microsoft.com/office/drawing/2014/main" val="296921780"/>
                    </a:ext>
                  </a:extLst>
                </a:gridCol>
                <a:gridCol w="2222347">
                  <a:extLst>
                    <a:ext uri="{9D8B030D-6E8A-4147-A177-3AD203B41FA5}">
                      <a16:colId xmlns:a16="http://schemas.microsoft.com/office/drawing/2014/main" val="1412610625"/>
                    </a:ext>
                  </a:extLst>
                </a:gridCol>
                <a:gridCol w="4014866">
                  <a:extLst>
                    <a:ext uri="{9D8B030D-6E8A-4147-A177-3AD203B41FA5}">
                      <a16:colId xmlns:a16="http://schemas.microsoft.com/office/drawing/2014/main" val="1766770712"/>
                    </a:ext>
                  </a:extLst>
                </a:gridCol>
                <a:gridCol w="755739">
                  <a:extLst>
                    <a:ext uri="{9D8B030D-6E8A-4147-A177-3AD203B41FA5}">
                      <a16:colId xmlns:a16="http://schemas.microsoft.com/office/drawing/2014/main" val="4226365446"/>
                    </a:ext>
                  </a:extLst>
                </a:gridCol>
                <a:gridCol w="755739">
                  <a:extLst>
                    <a:ext uri="{9D8B030D-6E8A-4147-A177-3AD203B41FA5}">
                      <a16:colId xmlns:a16="http://schemas.microsoft.com/office/drawing/2014/main" val="3674425159"/>
                    </a:ext>
                  </a:extLst>
                </a:gridCol>
                <a:gridCol w="752788">
                  <a:extLst>
                    <a:ext uri="{9D8B030D-6E8A-4147-A177-3AD203B41FA5}">
                      <a16:colId xmlns:a16="http://schemas.microsoft.com/office/drawing/2014/main" val="3932760097"/>
                    </a:ext>
                  </a:extLst>
                </a:gridCol>
                <a:gridCol w="540236">
                  <a:extLst>
                    <a:ext uri="{9D8B030D-6E8A-4147-A177-3AD203B41FA5}">
                      <a16:colId xmlns:a16="http://schemas.microsoft.com/office/drawing/2014/main" val="2591342077"/>
                    </a:ext>
                  </a:extLst>
                </a:gridCol>
              </a:tblGrid>
              <a:tr h="142201">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endPar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5977" marR="5977" marT="5977"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5977" marR="5977" marT="5977"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5977" marR="5977" marT="5977"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5977" marR="5977" marT="5977"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endPar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5977" marR="5977" marT="5977"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b"/>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（単位：千円）</a:t>
                      </a:r>
                    </a:p>
                  </a:txBody>
                  <a:tcPr marL="5977" marR="5977" marT="5977" marB="0"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377053539"/>
                  </a:ext>
                </a:extLst>
              </a:tr>
              <a:tr h="249271">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a:t>
                      </a:r>
                    </a:p>
                  </a:txBody>
                  <a:tcPr marL="5977" marR="5977" marT="5977"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0070C0"/>
                    </a:solidFill>
                  </a:tcPr>
                </a:tc>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外注先名</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row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a:solidFill>
                            <a:srgbClr val="FFFFFF"/>
                          </a:solidFill>
                          <a:effectLst/>
                          <a:latin typeface="游ゴシック Medium" panose="020B0500000000000000" pitchFamily="50" charset="-128"/>
                          <a:ea typeface="游ゴシック Medium" panose="020B0500000000000000" pitchFamily="50" charset="-128"/>
                        </a:rPr>
                        <a:t>外注内容</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rPr>
                        <a:t>2023</a:t>
                      </a: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年</a:t>
                      </a:r>
                      <a:r>
                        <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rPr>
                        <a:t>7</a:t>
                      </a: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月期</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rPr>
                        <a:t>2024</a:t>
                      </a: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年</a:t>
                      </a:r>
                      <a:r>
                        <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rPr>
                        <a:t>7</a:t>
                      </a: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月期</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a:p>
                  </a:txBody>
                  <a:tcPr/>
                </a:tc>
                <a:extLst>
                  <a:ext uri="{0D108BD9-81ED-4DB2-BD59-A6C34878D82A}">
                    <a16:rowId xmlns:a16="http://schemas.microsoft.com/office/drawing/2014/main" val="3137561687"/>
                  </a:ext>
                </a:extLst>
              </a:tr>
              <a:tr h="142201">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a:solidFill>
                            <a:srgbClr val="FFFFFF"/>
                          </a:solidFill>
                          <a:effectLst/>
                          <a:latin typeface="游ゴシック Medium" panose="020B0500000000000000" pitchFamily="50" charset="-128"/>
                          <a:ea typeface="游ゴシック Medium" panose="020B0500000000000000" pitchFamily="50" charset="-128"/>
                        </a:rPr>
                        <a:t>外注費</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a:solidFill>
                            <a:srgbClr val="FFFFFF"/>
                          </a:solidFill>
                          <a:effectLst/>
                          <a:latin typeface="游ゴシック Medium" panose="020B0500000000000000" pitchFamily="50" charset="-128"/>
                          <a:ea typeface="游ゴシック Medium" panose="020B0500000000000000" pitchFamily="50" charset="-128"/>
                        </a:rPr>
                        <a:t>構成比</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a:solidFill>
                            <a:srgbClr val="FFFFFF"/>
                          </a:solidFill>
                          <a:effectLst/>
                          <a:latin typeface="游ゴシック Medium" panose="020B0500000000000000" pitchFamily="50" charset="-128"/>
                          <a:ea typeface="游ゴシック Medium" panose="020B0500000000000000" pitchFamily="50" charset="-128"/>
                        </a:rPr>
                        <a:t>外注費</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1" i="0" u="none" strike="noStrike">
                          <a:solidFill>
                            <a:srgbClr val="FFFFFF"/>
                          </a:solidFill>
                          <a:effectLst/>
                          <a:latin typeface="游ゴシック Medium" panose="020B0500000000000000" pitchFamily="50" charset="-128"/>
                          <a:ea typeface="游ゴシック Medium" panose="020B0500000000000000" pitchFamily="50" charset="-128"/>
                        </a:rPr>
                        <a:t>構成比</a:t>
                      </a:r>
                    </a:p>
                  </a:txBody>
                  <a:tcPr marL="5977" marR="5977" marT="597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528842274"/>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㈱アクロスペイラ</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ソリューション開発部のエンジニアリソース｜実装部分</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13,873</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9.7%</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34,628</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23.5%</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5199058"/>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a:t>
                      </a: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MN</a:t>
                      </a: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ソリューションズ</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ソリューション開発部のエンジニアリソース｜実装部分</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56,748</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39.8%</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28,792</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19.5%</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8754248"/>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3</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a:t>
                      </a:r>
                      <a:r>
                        <a:rPr lang="en-US" sz="1000" b="0" i="0" u="none" strike="noStrike" dirty="0" err="1">
                          <a:solidFill>
                            <a:srgbClr val="000000"/>
                          </a:solidFill>
                          <a:effectLst/>
                          <a:latin typeface="游ゴシック Medium" panose="020B0500000000000000" pitchFamily="50" charset="-128"/>
                          <a:ea typeface="游ゴシック Medium" panose="020B0500000000000000" pitchFamily="50" charset="-128"/>
                        </a:rPr>
                        <a:t>kuberu</a:t>
                      </a:r>
                      <a:endParaRPr 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原田様の別法人</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27,119</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19.0%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27,595</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18.7%</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3840228888"/>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パイルシェイプスルパン㈱</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システム開発、ソリューション事業部のエンジニアリソース</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5,109</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3.6%</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20,427</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13.9%</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2009745"/>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5</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㈱DOOR</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企画制作部長</a:t>
                      </a: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M.N</a:t>
                      </a: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様への業務委託報酬（従業員一覧 </a:t>
                      </a: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#2</a:t>
                      </a: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13,144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9.2%</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12,600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8.5%</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60106569"/>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6</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a:t>
                      </a:r>
                      <a:r>
                        <a:rPr lang="en-US" sz="1000" b="0" i="0" u="none" strike="noStrike" dirty="0" err="1">
                          <a:solidFill>
                            <a:srgbClr val="000000"/>
                          </a:solidFill>
                          <a:effectLst/>
                          <a:latin typeface="游ゴシック Medium" panose="020B0500000000000000" pitchFamily="50" charset="-128"/>
                          <a:ea typeface="游ゴシック Medium" panose="020B0500000000000000" pitchFamily="50" charset="-128"/>
                        </a:rPr>
                        <a:t>Rimito</a:t>
                      </a:r>
                      <a:endParaRPr 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加藤様の別法人</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8,284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5.6%</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208541791"/>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7</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山形赳之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カメラマン</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2,523</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1.8%</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1,798</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1.2%</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304596"/>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8</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K.I</a:t>
                      </a: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（後ページ</a:t>
                      </a: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No.2</a:t>
                      </a: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現在は社員</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1,542</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8150077"/>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9</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小日向陽子</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ライター（元社員）</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2,373</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1.7%</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1,488</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25593"/>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㈱エイチビーラボジャパン</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1,400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0.9%</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8589259"/>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11</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㈱アフロ</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画像処理</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6,542</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4.6%</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815</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0.6%</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3338931"/>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12</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㈱テレネット</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コールセンター事業（新規事業）の外注先</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766</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0.5%</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389442"/>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13</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関川隆</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ライター</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1,674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1.2%</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676</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0.5%</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9470550"/>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伊吹徹</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カメラマン</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894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0.6%</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612</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0.4%</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3879896"/>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15</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㈱ゼネラルアサヒ</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画像素材</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590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0.4%</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2305243"/>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16</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藤澤卓也</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カメラマン</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653</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0.5%</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550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0.4%</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198543"/>
                  </a:ext>
                </a:extLst>
              </a:tr>
              <a:tr h="227104">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17</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ピクスタ㈱</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l"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画像素材</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171</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0.1%</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441</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0.3%</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553842"/>
                  </a:ext>
                </a:extLst>
              </a:tr>
              <a:tr h="172758">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5977" marR="5977" marT="5977"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その他（</a:t>
                      </a: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26</a:t>
                      </a: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社～</a:t>
                      </a: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53</a:t>
                      </a:r>
                      <a:r>
                        <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rPr>
                        <a:t>社）</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11,930</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8.4%</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4,424</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3.0%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0322403"/>
                  </a:ext>
                </a:extLst>
              </a:tr>
              <a:tr h="172758">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endParaRPr lang="ja-JP" altLang="en-US"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5977" marR="5977" marT="5977"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gridSpan="2">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ctr" fontAlgn="ctr"/>
                      <a:r>
                        <a:rPr lang="ja-JP" altLang="en-US" sz="1000" b="0" i="0" u="none" strike="noStrike" dirty="0">
                          <a:solidFill>
                            <a:srgbClr val="000000"/>
                          </a:solidFill>
                          <a:effectLst/>
                          <a:latin typeface="游ゴシック Medium" panose="020B0500000000000000" pitchFamily="50" charset="-128"/>
                          <a:ea typeface="游ゴシック Medium" panose="020B0500000000000000" pitchFamily="50" charset="-128"/>
                        </a:rPr>
                        <a:t>合　　計</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a:solidFill>
                            <a:srgbClr val="000000"/>
                          </a:solidFill>
                          <a:effectLst/>
                          <a:latin typeface="游ゴシック Medium" panose="020B0500000000000000" pitchFamily="50" charset="-128"/>
                          <a:ea typeface="游ゴシック Medium" panose="020B0500000000000000" pitchFamily="50" charset="-128"/>
                        </a:rPr>
                        <a:t>142,751</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100.0%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147,428</a:t>
                      </a:r>
                    </a:p>
                  </a:txBody>
                  <a:tcPr marL="5977" marR="5977" marT="597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07943" rtl="0" eaLnBrk="1" latinLnBrk="0" hangingPunct="1">
                        <a:defRPr kumimoji="1" sz="1984" kern="1200">
                          <a:solidFill>
                            <a:schemeClr val="tx1"/>
                          </a:solidFill>
                          <a:latin typeface="游ゴシック" panose="020F0502020204030204"/>
                        </a:defRPr>
                      </a:lvl1pPr>
                      <a:lvl2pPr marL="503972" algn="l" defTabSz="1007943" rtl="0" eaLnBrk="1" latinLnBrk="0" hangingPunct="1">
                        <a:defRPr kumimoji="1" sz="1984" kern="1200">
                          <a:solidFill>
                            <a:schemeClr val="tx1"/>
                          </a:solidFill>
                          <a:latin typeface="游ゴシック" panose="020F0502020204030204"/>
                        </a:defRPr>
                      </a:lvl2pPr>
                      <a:lvl3pPr marL="1007943" algn="l" defTabSz="1007943" rtl="0" eaLnBrk="1" latinLnBrk="0" hangingPunct="1">
                        <a:defRPr kumimoji="1" sz="1984" kern="1200">
                          <a:solidFill>
                            <a:schemeClr val="tx1"/>
                          </a:solidFill>
                          <a:latin typeface="游ゴシック" panose="020F0502020204030204"/>
                        </a:defRPr>
                      </a:lvl3pPr>
                      <a:lvl4pPr marL="1511915" algn="l" defTabSz="1007943" rtl="0" eaLnBrk="1" latinLnBrk="0" hangingPunct="1">
                        <a:defRPr kumimoji="1" sz="1984" kern="1200">
                          <a:solidFill>
                            <a:schemeClr val="tx1"/>
                          </a:solidFill>
                          <a:latin typeface="游ゴシック" panose="020F0502020204030204"/>
                        </a:defRPr>
                      </a:lvl4pPr>
                      <a:lvl5pPr marL="2015886" algn="l" defTabSz="1007943" rtl="0" eaLnBrk="1" latinLnBrk="0" hangingPunct="1">
                        <a:defRPr kumimoji="1" sz="1984" kern="1200">
                          <a:solidFill>
                            <a:schemeClr val="tx1"/>
                          </a:solidFill>
                          <a:latin typeface="游ゴシック" panose="020F0502020204030204"/>
                        </a:defRPr>
                      </a:lvl5pPr>
                      <a:lvl6pPr marL="2519858" algn="l" defTabSz="1007943" rtl="0" eaLnBrk="1" latinLnBrk="0" hangingPunct="1">
                        <a:defRPr kumimoji="1" sz="1984" kern="1200">
                          <a:solidFill>
                            <a:schemeClr val="tx1"/>
                          </a:solidFill>
                          <a:latin typeface="游ゴシック" panose="020F0502020204030204"/>
                        </a:defRPr>
                      </a:lvl6pPr>
                      <a:lvl7pPr marL="3023829" algn="l" defTabSz="1007943" rtl="0" eaLnBrk="1" latinLnBrk="0" hangingPunct="1">
                        <a:defRPr kumimoji="1" sz="1984" kern="1200">
                          <a:solidFill>
                            <a:schemeClr val="tx1"/>
                          </a:solidFill>
                          <a:latin typeface="游ゴシック" panose="020F0502020204030204"/>
                        </a:defRPr>
                      </a:lvl7pPr>
                      <a:lvl8pPr marL="3527801" algn="l" defTabSz="1007943" rtl="0" eaLnBrk="1" latinLnBrk="0" hangingPunct="1">
                        <a:defRPr kumimoji="1" sz="1984" kern="1200">
                          <a:solidFill>
                            <a:schemeClr val="tx1"/>
                          </a:solidFill>
                          <a:latin typeface="游ゴシック" panose="020F0502020204030204"/>
                        </a:defRPr>
                      </a:lvl8pPr>
                      <a:lvl9pPr marL="4031772" algn="l" defTabSz="1007943" rtl="0" eaLnBrk="1" latinLnBrk="0" hangingPunct="1">
                        <a:defRPr kumimoji="1" sz="1984" kern="1200">
                          <a:solidFill>
                            <a:schemeClr val="tx1"/>
                          </a:solidFill>
                          <a:latin typeface="游ゴシック" panose="020F0502020204030204"/>
                        </a:defRPr>
                      </a:lvl9p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100.0%</a:t>
                      </a:r>
                    </a:p>
                  </a:txBody>
                  <a:tcPr marL="5977" marR="5977" marT="597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0880401"/>
                  </a:ext>
                </a:extLst>
              </a:tr>
            </a:tbl>
          </a:graphicData>
        </a:graphic>
      </p:graphicFrame>
      <p:sp>
        <p:nvSpPr>
          <p:cNvPr id="6" name="テキスト ボックス 5">
            <a:extLst>
              <a:ext uri="{FF2B5EF4-FFF2-40B4-BE49-F238E27FC236}">
                <a16:creationId xmlns:a16="http://schemas.microsoft.com/office/drawing/2014/main" id="{6CFAC9D9-24DE-B68F-2DDD-17DBC990BDE9}"/>
              </a:ext>
            </a:extLst>
          </p:cNvPr>
          <p:cNvSpPr txBox="1"/>
          <p:nvPr/>
        </p:nvSpPr>
        <p:spPr>
          <a:xfrm>
            <a:off x="231034" y="6859788"/>
            <a:ext cx="4554071" cy="230832"/>
          </a:xfrm>
          <a:prstGeom prst="rect">
            <a:avLst/>
          </a:prstGeom>
          <a:noFill/>
        </p:spPr>
        <p:txBody>
          <a:bodyPr wrap="square" rtlCol="0">
            <a:spAutoFit/>
          </a:bodyPr>
          <a:lstStyle/>
          <a:p>
            <a:r>
              <a:rPr kumimoji="1" lang="en-US" altLang="ja-JP" sz="900" dirty="0">
                <a:solidFill>
                  <a:schemeClr val="accent4">
                    <a:lumMod val="50000"/>
                  </a:schemeClr>
                </a:solidFill>
                <a:latin typeface="游ゴシック" panose="020B0400000000000000" pitchFamily="50" charset="-128"/>
                <a:ea typeface="游ゴシック" panose="020B0400000000000000" pitchFamily="50" charset="-128"/>
              </a:rPr>
              <a:t>※</a:t>
            </a:r>
            <a:r>
              <a:rPr kumimoji="1" lang="ja-JP" altLang="en-US" sz="900" dirty="0">
                <a:solidFill>
                  <a:schemeClr val="accent4">
                    <a:lumMod val="50000"/>
                  </a:schemeClr>
                </a:solidFill>
                <a:latin typeface="游ゴシック" panose="020B0400000000000000" pitchFamily="50" charset="-128"/>
                <a:ea typeface="游ゴシック" panose="020B0400000000000000" pitchFamily="50" charset="-128"/>
              </a:rPr>
              <a:t>営業管理資料からの抜粋のため、決算数値と異なる可能性あり</a:t>
            </a:r>
          </a:p>
        </p:txBody>
      </p:sp>
    </p:spTree>
    <p:extLst>
      <p:ext uri="{BB962C8B-B14F-4D97-AF65-F5344CB8AC3E}">
        <p14:creationId xmlns:p14="http://schemas.microsoft.com/office/powerpoint/2010/main" val="2932585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実績、組織、拠点等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C25AA-BFCB-42A8-6BBC-70E5E5A45BE5}"/>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C2EDE18-51A1-AE39-4590-964490D23959}"/>
              </a:ext>
            </a:extLst>
          </p:cNvPr>
          <p:cNvSpPr>
            <a:spLocks noGrp="1"/>
          </p:cNvSpPr>
          <p:nvPr>
            <p:ph type="ctrTitle"/>
          </p:nvPr>
        </p:nvSpPr>
        <p:spPr>
          <a:xfrm>
            <a:off x="311150" y="180296"/>
            <a:ext cx="7799917" cy="339267"/>
          </a:xfrm>
        </p:spPr>
        <p:txBody>
          <a:bodyPr>
            <a:normAutofit/>
          </a:bodyPr>
          <a:lstStyle/>
          <a:p>
            <a:r>
              <a:rPr lang="ja-JP" altLang="en-US" dirty="0"/>
              <a:t>実績（</a:t>
            </a:r>
            <a:r>
              <a:rPr lang="en-US" altLang="ja-JP" dirty="0"/>
              <a:t>Data</a:t>
            </a:r>
            <a:r>
              <a:rPr lang="ja-JP" altLang="en-US" dirty="0"/>
              <a:t>＆</a:t>
            </a:r>
            <a:r>
              <a:rPr lang="en-US" altLang="ja-JP" dirty="0"/>
              <a:t>Digital Growth</a:t>
            </a:r>
            <a:r>
              <a:rPr lang="ja-JP" altLang="en-US" dirty="0"/>
              <a:t>事業部）</a:t>
            </a:r>
          </a:p>
        </p:txBody>
      </p:sp>
      <p:sp>
        <p:nvSpPr>
          <p:cNvPr id="2" name="タイトル 1">
            <a:extLst>
              <a:ext uri="{FF2B5EF4-FFF2-40B4-BE49-F238E27FC236}">
                <a16:creationId xmlns:a16="http://schemas.microsoft.com/office/drawing/2014/main" id="{980DD154-610F-7B76-2A5D-17F426032B1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
        <p:nvSpPr>
          <p:cNvPr id="8" name="object 11">
            <a:extLst>
              <a:ext uri="{FF2B5EF4-FFF2-40B4-BE49-F238E27FC236}">
                <a16:creationId xmlns:a16="http://schemas.microsoft.com/office/drawing/2014/main" id="{A15547D5-C3C4-372C-A563-D846EC5EE5BB}"/>
              </a:ext>
            </a:extLst>
          </p:cNvPr>
          <p:cNvSpPr txBox="1"/>
          <p:nvPr/>
        </p:nvSpPr>
        <p:spPr>
          <a:xfrm>
            <a:off x="5702041" y="1204505"/>
            <a:ext cx="3574415" cy="1154162"/>
          </a:xfrm>
          <a:prstGeom prst="rect">
            <a:avLst/>
          </a:prstGeom>
        </p:spPr>
        <p:txBody>
          <a:bodyPr vert="horz" wrap="square" lIns="0" tIns="12700" rIns="0" bIns="0" rtlCol="0">
            <a:spAutoFit/>
          </a:bodyPr>
          <a:lstStyle/>
          <a:p>
            <a:pPr marL="190500" marR="1770380" indent="-178435">
              <a:lnSpc>
                <a:spcPct val="150000"/>
              </a:lnSpc>
              <a:spcBef>
                <a:spcPts val="100"/>
              </a:spcBef>
            </a:pPr>
            <a:r>
              <a:rPr sz="1200" spc="-5" dirty="0">
                <a:solidFill>
                  <a:srgbClr val="1D1D1D"/>
                </a:solidFill>
                <a:latin typeface="游ゴシック Medium" panose="020B0500000000000000" pitchFamily="50" charset="-128"/>
                <a:ea typeface="游ゴシック Medium" panose="020B0500000000000000" pitchFamily="50" charset="-128"/>
                <a:cs typeface="メイリオ"/>
              </a:rPr>
              <a:t>【</a:t>
            </a:r>
            <a:r>
              <a:rPr sz="1200" spc="-5" dirty="0" err="1">
                <a:solidFill>
                  <a:srgbClr val="1D1D1D"/>
                </a:solidFill>
                <a:latin typeface="游ゴシック Medium" panose="020B0500000000000000" pitchFamily="50" charset="-128"/>
                <a:ea typeface="游ゴシック Medium" panose="020B0500000000000000" pitchFamily="50" charset="-128"/>
                <a:cs typeface="メイリオ"/>
              </a:rPr>
              <a:t>浅野撚糸株式会社</a:t>
            </a:r>
            <a:r>
              <a:rPr sz="1200" spc="-5" dirty="0">
                <a:solidFill>
                  <a:srgbClr val="1D1D1D"/>
                </a:solidFill>
                <a:latin typeface="游ゴシック Medium" panose="020B0500000000000000" pitchFamily="50" charset="-128"/>
                <a:ea typeface="游ゴシック Medium" panose="020B0500000000000000" pitchFamily="50" charset="-128"/>
                <a:cs typeface="メイリオ"/>
              </a:rPr>
              <a:t>】</a:t>
            </a:r>
            <a:endParaRPr lang="en-US" sz="1200" spc="-5" dirty="0">
              <a:solidFill>
                <a:srgbClr val="1D1D1D"/>
              </a:solidFill>
              <a:latin typeface="游ゴシック Medium" panose="020B0500000000000000" pitchFamily="50" charset="-128"/>
              <a:ea typeface="游ゴシック Medium" panose="020B0500000000000000" pitchFamily="50" charset="-128"/>
              <a:cs typeface="メイリオ"/>
            </a:endParaRPr>
          </a:p>
          <a:p>
            <a:pPr marL="190500" marR="1770380" indent="-178435">
              <a:lnSpc>
                <a:spcPct val="150000"/>
              </a:lnSpc>
              <a:spcBef>
                <a:spcPts val="100"/>
              </a:spcBef>
            </a:pPr>
            <a:r>
              <a:rPr lang="en-US" sz="1200" spc="-5" dirty="0">
                <a:solidFill>
                  <a:srgbClr val="1D1D1D"/>
                </a:solidFill>
                <a:latin typeface="游ゴシック Medium" panose="020B0500000000000000" pitchFamily="50" charset="-128"/>
                <a:ea typeface="游ゴシック Medium" panose="020B0500000000000000" pitchFamily="50" charset="-128"/>
                <a:cs typeface="メイリオ"/>
              </a:rPr>
              <a:t> </a:t>
            </a:r>
            <a:r>
              <a:rPr lang="ja-JP" altLang="en-US" sz="1200" spc="-5" dirty="0">
                <a:solidFill>
                  <a:srgbClr val="1D1D1D"/>
                </a:solidFill>
                <a:latin typeface="游ゴシック Medium" panose="020B0500000000000000" pitchFamily="50" charset="-128"/>
                <a:ea typeface="游ゴシック Medium" panose="020B0500000000000000" pitchFamily="50" charset="-128"/>
                <a:cs typeface="メイリオ"/>
              </a:rPr>
              <a:t>　</a:t>
            </a:r>
            <a:r>
              <a:rPr sz="1200" dirty="0" err="1">
                <a:solidFill>
                  <a:srgbClr val="1D1D1D"/>
                </a:solidFill>
                <a:latin typeface="游ゴシック Medium" panose="020B0500000000000000" pitchFamily="50" charset="-128"/>
                <a:ea typeface="游ゴシック Medium" panose="020B0500000000000000" pitchFamily="50" charset="-128"/>
                <a:cs typeface="メイリオ"/>
              </a:rPr>
              <a:t>設立</a:t>
            </a:r>
            <a:r>
              <a:rPr lang="ja-JP" altLang="en-US" sz="1200" spc="-10" dirty="0">
                <a:solidFill>
                  <a:srgbClr val="1D1D1D"/>
                </a:solidFill>
                <a:latin typeface="游ゴシック Medium" panose="020B0500000000000000" pitchFamily="50" charset="-128"/>
                <a:ea typeface="游ゴシック Medium" panose="020B0500000000000000" pitchFamily="50" charset="-128"/>
                <a:cs typeface="メイリオ"/>
              </a:rPr>
              <a:t>：</a:t>
            </a:r>
            <a:r>
              <a:rPr sz="1200" spc="-10" dirty="0">
                <a:solidFill>
                  <a:srgbClr val="1D1D1D"/>
                </a:solidFill>
                <a:latin typeface="游ゴシック Medium" panose="020B0500000000000000" pitchFamily="50" charset="-128"/>
                <a:ea typeface="游ゴシック Medium" panose="020B0500000000000000" pitchFamily="50" charset="-128"/>
                <a:cs typeface="メイリオ"/>
              </a:rPr>
              <a:t>1969</a:t>
            </a:r>
            <a:r>
              <a:rPr sz="1200" dirty="0">
                <a:solidFill>
                  <a:srgbClr val="1D1D1D"/>
                </a:solidFill>
                <a:latin typeface="游ゴシック Medium" panose="020B0500000000000000" pitchFamily="50" charset="-128"/>
                <a:ea typeface="游ゴシック Medium" panose="020B0500000000000000" pitchFamily="50" charset="-128"/>
                <a:cs typeface="メイリオ"/>
              </a:rPr>
              <a:t>年</a:t>
            </a:r>
            <a:r>
              <a:rPr sz="1200" spc="-10" dirty="0">
                <a:solidFill>
                  <a:srgbClr val="1D1D1D"/>
                </a:solidFill>
                <a:latin typeface="游ゴシック Medium" panose="020B0500000000000000" pitchFamily="50" charset="-128"/>
                <a:ea typeface="游ゴシック Medium" panose="020B0500000000000000" pitchFamily="50" charset="-128"/>
                <a:cs typeface="メイリオ"/>
              </a:rPr>
              <a:t>12</a:t>
            </a:r>
            <a:r>
              <a:rPr sz="1200" spc="-60" dirty="0">
                <a:solidFill>
                  <a:srgbClr val="1D1D1D"/>
                </a:solidFill>
                <a:latin typeface="游ゴシック Medium" panose="020B0500000000000000" pitchFamily="50" charset="-128"/>
                <a:ea typeface="游ゴシック Medium" panose="020B0500000000000000" pitchFamily="50" charset="-128"/>
                <a:cs typeface="メイリオ"/>
              </a:rPr>
              <a:t>月</a:t>
            </a:r>
            <a:endParaRPr sz="1200" dirty="0">
              <a:latin typeface="游ゴシック Medium" panose="020B0500000000000000" pitchFamily="50" charset="-128"/>
              <a:ea typeface="游ゴシック Medium" panose="020B0500000000000000" pitchFamily="50" charset="-128"/>
              <a:cs typeface="メイリオ"/>
            </a:endParaRPr>
          </a:p>
          <a:p>
            <a:pPr marL="190500">
              <a:lnSpc>
                <a:spcPct val="100000"/>
              </a:lnSpc>
              <a:spcBef>
                <a:spcPts val="840"/>
              </a:spcBef>
            </a:pPr>
            <a:r>
              <a:rPr sz="1200" dirty="0" err="1">
                <a:solidFill>
                  <a:srgbClr val="1D1D1D"/>
                </a:solidFill>
                <a:latin typeface="游ゴシック Medium" panose="020B0500000000000000" pitchFamily="50" charset="-128"/>
                <a:ea typeface="游ゴシック Medium" panose="020B0500000000000000" pitchFamily="50" charset="-128"/>
                <a:cs typeface="メイリオ"/>
              </a:rPr>
              <a:t>事業内容</a:t>
            </a:r>
            <a:r>
              <a:rPr lang="ja-JP" altLang="en-US" sz="1200" dirty="0">
                <a:solidFill>
                  <a:srgbClr val="1D1D1D"/>
                </a:solidFill>
                <a:latin typeface="游ゴシック Medium" panose="020B0500000000000000" pitchFamily="50" charset="-128"/>
                <a:ea typeface="游ゴシック Medium" panose="020B0500000000000000" pitchFamily="50" charset="-128"/>
                <a:cs typeface="メイリオ"/>
              </a:rPr>
              <a:t>：</a:t>
            </a:r>
            <a:r>
              <a:rPr sz="1200" spc="-15" dirty="0" err="1">
                <a:solidFill>
                  <a:srgbClr val="1D1D1D"/>
                </a:solidFill>
                <a:latin typeface="游ゴシック Medium" panose="020B0500000000000000" pitchFamily="50" charset="-128"/>
                <a:ea typeface="游ゴシック Medium" panose="020B0500000000000000" pitchFamily="50" charset="-128"/>
                <a:cs typeface="メイリオ"/>
              </a:rPr>
              <a:t>撚糸製造・タオル販売</a:t>
            </a:r>
            <a:endParaRPr sz="1200" dirty="0">
              <a:latin typeface="游ゴシック Medium" panose="020B0500000000000000" pitchFamily="50" charset="-128"/>
              <a:ea typeface="游ゴシック Medium" panose="020B0500000000000000" pitchFamily="50" charset="-128"/>
              <a:cs typeface="メイリオ"/>
            </a:endParaRPr>
          </a:p>
          <a:p>
            <a:pPr marL="190500">
              <a:lnSpc>
                <a:spcPct val="100000"/>
              </a:lnSpc>
              <a:spcBef>
                <a:spcPts val="840"/>
              </a:spcBef>
            </a:pPr>
            <a:r>
              <a:rPr sz="1200" dirty="0" err="1">
                <a:solidFill>
                  <a:srgbClr val="1D1D1D"/>
                </a:solidFill>
                <a:latin typeface="游ゴシック Medium" panose="020B0500000000000000" pitchFamily="50" charset="-128"/>
                <a:ea typeface="游ゴシック Medium" panose="020B0500000000000000" pitchFamily="50" charset="-128"/>
                <a:cs typeface="メイリオ"/>
              </a:rPr>
              <a:t>本社所在地</a:t>
            </a:r>
            <a:r>
              <a:rPr lang="ja-JP" altLang="en-US" sz="1200" dirty="0">
                <a:solidFill>
                  <a:srgbClr val="1D1D1D"/>
                </a:solidFill>
                <a:latin typeface="游ゴシック Medium" panose="020B0500000000000000" pitchFamily="50" charset="-128"/>
                <a:ea typeface="游ゴシック Medium" panose="020B0500000000000000" pitchFamily="50" charset="-128"/>
                <a:cs typeface="メイリオ"/>
              </a:rPr>
              <a:t>：</a:t>
            </a:r>
            <a:r>
              <a:rPr sz="1200" spc="-15" dirty="0">
                <a:solidFill>
                  <a:srgbClr val="1D1D1D"/>
                </a:solidFill>
                <a:latin typeface="游ゴシック Medium" panose="020B0500000000000000" pitchFamily="50" charset="-128"/>
                <a:ea typeface="游ゴシック Medium" panose="020B0500000000000000" pitchFamily="50" charset="-128"/>
                <a:cs typeface="メイリオ"/>
              </a:rPr>
              <a:t>岐阜県安八郡安八町中</a:t>
            </a:r>
            <a:r>
              <a:rPr sz="1200" spc="-10" dirty="0">
                <a:solidFill>
                  <a:srgbClr val="1D1D1D"/>
                </a:solidFill>
                <a:latin typeface="游ゴシック Medium" panose="020B0500000000000000" pitchFamily="50" charset="-128"/>
                <a:ea typeface="游ゴシック Medium" panose="020B0500000000000000" pitchFamily="50" charset="-128"/>
                <a:cs typeface="メイリオ"/>
              </a:rPr>
              <a:t>875-</a:t>
            </a:r>
            <a:r>
              <a:rPr sz="1200" spc="-50" dirty="0">
                <a:solidFill>
                  <a:srgbClr val="1D1D1D"/>
                </a:solidFill>
                <a:latin typeface="游ゴシック Medium" panose="020B0500000000000000" pitchFamily="50" charset="-128"/>
                <a:ea typeface="游ゴシック Medium" panose="020B0500000000000000" pitchFamily="50" charset="-128"/>
                <a:cs typeface="メイリオ"/>
              </a:rPr>
              <a:t>1</a:t>
            </a:r>
            <a:endParaRPr sz="1200" dirty="0">
              <a:latin typeface="游ゴシック Medium" panose="020B0500000000000000" pitchFamily="50" charset="-128"/>
              <a:ea typeface="游ゴシック Medium" panose="020B0500000000000000" pitchFamily="50" charset="-128"/>
              <a:cs typeface="メイリオ"/>
            </a:endParaRPr>
          </a:p>
        </p:txBody>
      </p:sp>
      <p:grpSp>
        <p:nvGrpSpPr>
          <p:cNvPr id="11" name="object 12">
            <a:extLst>
              <a:ext uri="{FF2B5EF4-FFF2-40B4-BE49-F238E27FC236}">
                <a16:creationId xmlns:a16="http://schemas.microsoft.com/office/drawing/2014/main" id="{68A8111C-6219-0DC8-F17F-250872808B71}"/>
              </a:ext>
            </a:extLst>
          </p:cNvPr>
          <p:cNvGrpSpPr/>
          <p:nvPr/>
        </p:nvGrpSpPr>
        <p:grpSpPr>
          <a:xfrm>
            <a:off x="5761676" y="2332604"/>
            <a:ext cx="4027431" cy="3104988"/>
            <a:chOff x="7583423" y="2292096"/>
            <a:chExt cx="4224655" cy="3162300"/>
          </a:xfrm>
        </p:grpSpPr>
        <p:pic>
          <p:nvPicPr>
            <p:cNvPr id="12" name="object 13">
              <a:extLst>
                <a:ext uri="{FF2B5EF4-FFF2-40B4-BE49-F238E27FC236}">
                  <a16:creationId xmlns:a16="http://schemas.microsoft.com/office/drawing/2014/main" id="{F7BC46ED-A346-5675-2630-B177A70F6AA0}"/>
                </a:ext>
              </a:extLst>
            </p:cNvPr>
            <p:cNvPicPr/>
            <p:nvPr/>
          </p:nvPicPr>
          <p:blipFill>
            <a:blip r:embed="rId3" cstate="print"/>
            <a:stretch>
              <a:fillRect/>
            </a:stretch>
          </p:blipFill>
          <p:spPr>
            <a:xfrm>
              <a:off x="7583423" y="2292096"/>
              <a:ext cx="2189987" cy="1621535"/>
            </a:xfrm>
            <a:prstGeom prst="rect">
              <a:avLst/>
            </a:prstGeom>
          </p:spPr>
        </p:pic>
        <p:pic>
          <p:nvPicPr>
            <p:cNvPr id="14" name="object 14">
              <a:extLst>
                <a:ext uri="{FF2B5EF4-FFF2-40B4-BE49-F238E27FC236}">
                  <a16:creationId xmlns:a16="http://schemas.microsoft.com/office/drawing/2014/main" id="{DDADBF76-DCB4-6902-1E20-652357B3133A}"/>
                </a:ext>
              </a:extLst>
            </p:cNvPr>
            <p:cNvPicPr/>
            <p:nvPr/>
          </p:nvPicPr>
          <p:blipFill>
            <a:blip r:embed="rId4" cstate="print"/>
            <a:stretch>
              <a:fillRect/>
            </a:stretch>
          </p:blipFill>
          <p:spPr>
            <a:xfrm>
              <a:off x="7619999" y="2328671"/>
              <a:ext cx="2063495" cy="1434287"/>
            </a:xfrm>
            <a:prstGeom prst="rect">
              <a:avLst/>
            </a:prstGeom>
          </p:spPr>
        </p:pic>
        <p:sp>
          <p:nvSpPr>
            <p:cNvPr id="15" name="object 15">
              <a:extLst>
                <a:ext uri="{FF2B5EF4-FFF2-40B4-BE49-F238E27FC236}">
                  <a16:creationId xmlns:a16="http://schemas.microsoft.com/office/drawing/2014/main" id="{C1C79210-5F11-F520-0D02-97B4474C7688}"/>
                </a:ext>
              </a:extLst>
            </p:cNvPr>
            <p:cNvSpPr/>
            <p:nvPr/>
          </p:nvSpPr>
          <p:spPr>
            <a:xfrm>
              <a:off x="7615237" y="2323909"/>
              <a:ext cx="2073275" cy="1504950"/>
            </a:xfrm>
            <a:custGeom>
              <a:avLst/>
              <a:gdLst/>
              <a:ahLst/>
              <a:cxnLst/>
              <a:rect l="l" t="t" r="r" b="b"/>
              <a:pathLst>
                <a:path w="2073275" h="1504950">
                  <a:moveTo>
                    <a:pt x="0" y="0"/>
                  </a:moveTo>
                  <a:lnTo>
                    <a:pt x="2073021" y="0"/>
                  </a:lnTo>
                  <a:lnTo>
                    <a:pt x="2073021" y="1504569"/>
                  </a:lnTo>
                  <a:lnTo>
                    <a:pt x="0" y="1504569"/>
                  </a:lnTo>
                  <a:lnTo>
                    <a:pt x="0" y="0"/>
                  </a:lnTo>
                  <a:close/>
                </a:path>
              </a:pathLst>
            </a:custGeom>
            <a:ln w="9525">
              <a:solidFill>
                <a:srgbClr val="D9D9D9"/>
              </a:solidFill>
            </a:ln>
          </p:spPr>
          <p:txBody>
            <a:bodyPr wrap="square" lIns="0" tIns="0" rIns="0" bIns="0" rtlCol="0"/>
            <a:lstStyle/>
            <a:p>
              <a:endParaRPr sz="1600">
                <a:latin typeface="游ゴシック Medium" panose="020B0500000000000000" pitchFamily="50" charset="-128"/>
                <a:ea typeface="游ゴシック Medium" panose="020B0500000000000000" pitchFamily="50" charset="-128"/>
              </a:endParaRPr>
            </a:p>
          </p:txBody>
        </p:sp>
        <p:pic>
          <p:nvPicPr>
            <p:cNvPr id="16" name="object 16">
              <a:extLst>
                <a:ext uri="{FF2B5EF4-FFF2-40B4-BE49-F238E27FC236}">
                  <a16:creationId xmlns:a16="http://schemas.microsoft.com/office/drawing/2014/main" id="{D81007EC-5F9F-A38D-A1F1-982B55A8EA48}"/>
                </a:ext>
              </a:extLst>
            </p:cNvPr>
            <p:cNvPicPr/>
            <p:nvPr/>
          </p:nvPicPr>
          <p:blipFill>
            <a:blip r:embed="rId5" cstate="print"/>
            <a:stretch>
              <a:fillRect/>
            </a:stretch>
          </p:blipFill>
          <p:spPr>
            <a:xfrm>
              <a:off x="7600187" y="3878580"/>
              <a:ext cx="2211323" cy="1575815"/>
            </a:xfrm>
            <a:prstGeom prst="rect">
              <a:avLst/>
            </a:prstGeom>
          </p:spPr>
        </p:pic>
        <p:pic>
          <p:nvPicPr>
            <p:cNvPr id="17" name="object 17">
              <a:extLst>
                <a:ext uri="{FF2B5EF4-FFF2-40B4-BE49-F238E27FC236}">
                  <a16:creationId xmlns:a16="http://schemas.microsoft.com/office/drawing/2014/main" id="{F244B28E-B131-26BD-2137-815B664051F7}"/>
                </a:ext>
              </a:extLst>
            </p:cNvPr>
            <p:cNvPicPr/>
            <p:nvPr/>
          </p:nvPicPr>
          <p:blipFill>
            <a:blip r:embed="rId6" cstate="print"/>
            <a:stretch>
              <a:fillRect/>
            </a:stretch>
          </p:blipFill>
          <p:spPr>
            <a:xfrm>
              <a:off x="7636764" y="3915155"/>
              <a:ext cx="2084831" cy="1449323"/>
            </a:xfrm>
            <a:prstGeom prst="rect">
              <a:avLst/>
            </a:prstGeom>
          </p:spPr>
        </p:pic>
        <p:sp>
          <p:nvSpPr>
            <p:cNvPr id="18" name="object 18">
              <a:extLst>
                <a:ext uri="{FF2B5EF4-FFF2-40B4-BE49-F238E27FC236}">
                  <a16:creationId xmlns:a16="http://schemas.microsoft.com/office/drawing/2014/main" id="{B551C224-F527-6F37-C381-7702CCE8A1A1}"/>
                </a:ext>
              </a:extLst>
            </p:cNvPr>
            <p:cNvSpPr/>
            <p:nvPr/>
          </p:nvSpPr>
          <p:spPr>
            <a:xfrm>
              <a:off x="7632001" y="3910393"/>
              <a:ext cx="2094864" cy="1459230"/>
            </a:xfrm>
            <a:custGeom>
              <a:avLst/>
              <a:gdLst/>
              <a:ahLst/>
              <a:cxnLst/>
              <a:rect l="l" t="t" r="r" b="b"/>
              <a:pathLst>
                <a:path w="2094865" h="1459229">
                  <a:moveTo>
                    <a:pt x="0" y="0"/>
                  </a:moveTo>
                  <a:lnTo>
                    <a:pt x="2094356" y="0"/>
                  </a:lnTo>
                  <a:lnTo>
                    <a:pt x="2094356" y="1458849"/>
                  </a:lnTo>
                  <a:lnTo>
                    <a:pt x="0" y="1458849"/>
                  </a:lnTo>
                  <a:lnTo>
                    <a:pt x="0" y="0"/>
                  </a:lnTo>
                  <a:close/>
                </a:path>
              </a:pathLst>
            </a:custGeom>
            <a:ln w="9525">
              <a:solidFill>
                <a:srgbClr val="D9D9D9"/>
              </a:solidFill>
            </a:ln>
          </p:spPr>
          <p:txBody>
            <a:bodyPr wrap="square" lIns="0" tIns="0" rIns="0" bIns="0" rtlCol="0"/>
            <a:lstStyle/>
            <a:p>
              <a:endParaRPr sz="1600">
                <a:latin typeface="游ゴシック Medium" panose="020B0500000000000000" pitchFamily="50" charset="-128"/>
                <a:ea typeface="游ゴシック Medium" panose="020B0500000000000000" pitchFamily="50" charset="-128"/>
              </a:endParaRPr>
            </a:p>
          </p:txBody>
        </p:sp>
        <p:pic>
          <p:nvPicPr>
            <p:cNvPr id="19" name="object 19">
              <a:extLst>
                <a:ext uri="{FF2B5EF4-FFF2-40B4-BE49-F238E27FC236}">
                  <a16:creationId xmlns:a16="http://schemas.microsoft.com/office/drawing/2014/main" id="{302AF84F-9188-F0D0-BF5E-0C4C5F56AA88}"/>
                </a:ext>
              </a:extLst>
            </p:cNvPr>
            <p:cNvPicPr/>
            <p:nvPr/>
          </p:nvPicPr>
          <p:blipFill>
            <a:blip r:embed="rId7" cstate="print"/>
            <a:stretch>
              <a:fillRect/>
            </a:stretch>
          </p:blipFill>
          <p:spPr>
            <a:xfrm>
              <a:off x="9843516" y="2321051"/>
              <a:ext cx="1964435" cy="1563623"/>
            </a:xfrm>
            <a:prstGeom prst="rect">
              <a:avLst/>
            </a:prstGeom>
          </p:spPr>
        </p:pic>
        <p:pic>
          <p:nvPicPr>
            <p:cNvPr id="20" name="object 20">
              <a:extLst>
                <a:ext uri="{FF2B5EF4-FFF2-40B4-BE49-F238E27FC236}">
                  <a16:creationId xmlns:a16="http://schemas.microsoft.com/office/drawing/2014/main" id="{A6FF73C8-B953-CC07-4F3B-6C9EDB738D53}"/>
                </a:ext>
              </a:extLst>
            </p:cNvPr>
            <p:cNvPicPr/>
            <p:nvPr/>
          </p:nvPicPr>
          <p:blipFill>
            <a:blip r:embed="rId8" cstate="print"/>
            <a:stretch>
              <a:fillRect/>
            </a:stretch>
          </p:blipFill>
          <p:spPr>
            <a:xfrm>
              <a:off x="9880091" y="2357627"/>
              <a:ext cx="1837944" cy="1437132"/>
            </a:xfrm>
            <a:prstGeom prst="rect">
              <a:avLst/>
            </a:prstGeom>
          </p:spPr>
        </p:pic>
        <p:sp>
          <p:nvSpPr>
            <p:cNvPr id="21" name="object 21">
              <a:extLst>
                <a:ext uri="{FF2B5EF4-FFF2-40B4-BE49-F238E27FC236}">
                  <a16:creationId xmlns:a16="http://schemas.microsoft.com/office/drawing/2014/main" id="{ABC664B9-1BF1-C1ED-64DD-73AF0119939E}"/>
                </a:ext>
              </a:extLst>
            </p:cNvPr>
            <p:cNvSpPr/>
            <p:nvPr/>
          </p:nvSpPr>
          <p:spPr>
            <a:xfrm>
              <a:off x="9875329" y="2352865"/>
              <a:ext cx="1847850" cy="1447165"/>
            </a:xfrm>
            <a:custGeom>
              <a:avLst/>
              <a:gdLst/>
              <a:ahLst/>
              <a:cxnLst/>
              <a:rect l="l" t="t" r="r" b="b"/>
              <a:pathLst>
                <a:path w="1847850" h="1447164">
                  <a:moveTo>
                    <a:pt x="0" y="0"/>
                  </a:moveTo>
                  <a:lnTo>
                    <a:pt x="1847469" y="0"/>
                  </a:lnTo>
                  <a:lnTo>
                    <a:pt x="1847469" y="1446657"/>
                  </a:lnTo>
                  <a:lnTo>
                    <a:pt x="0" y="1446657"/>
                  </a:lnTo>
                  <a:lnTo>
                    <a:pt x="0" y="0"/>
                  </a:lnTo>
                  <a:close/>
                </a:path>
              </a:pathLst>
            </a:custGeom>
            <a:ln w="9525">
              <a:solidFill>
                <a:srgbClr val="D9D9D9"/>
              </a:solidFill>
            </a:ln>
          </p:spPr>
          <p:txBody>
            <a:bodyPr wrap="square" lIns="0" tIns="0" rIns="0" bIns="0" rtlCol="0"/>
            <a:lstStyle/>
            <a:p>
              <a:endParaRPr sz="1600">
                <a:latin typeface="游ゴシック Medium" panose="020B0500000000000000" pitchFamily="50" charset="-128"/>
                <a:ea typeface="游ゴシック Medium" panose="020B0500000000000000" pitchFamily="50" charset="-128"/>
              </a:endParaRPr>
            </a:p>
          </p:txBody>
        </p:sp>
        <p:pic>
          <p:nvPicPr>
            <p:cNvPr id="22" name="object 22">
              <a:extLst>
                <a:ext uri="{FF2B5EF4-FFF2-40B4-BE49-F238E27FC236}">
                  <a16:creationId xmlns:a16="http://schemas.microsoft.com/office/drawing/2014/main" id="{270BFB3F-D54B-73C9-0A24-A35E01156258}"/>
                </a:ext>
              </a:extLst>
            </p:cNvPr>
            <p:cNvPicPr/>
            <p:nvPr/>
          </p:nvPicPr>
          <p:blipFill>
            <a:blip r:embed="rId9" cstate="print"/>
            <a:stretch>
              <a:fillRect/>
            </a:stretch>
          </p:blipFill>
          <p:spPr>
            <a:xfrm>
              <a:off x="9924288" y="3881627"/>
              <a:ext cx="1802891" cy="1563623"/>
            </a:xfrm>
            <a:prstGeom prst="rect">
              <a:avLst/>
            </a:prstGeom>
          </p:spPr>
        </p:pic>
        <p:pic>
          <p:nvPicPr>
            <p:cNvPr id="23" name="object 23">
              <a:extLst>
                <a:ext uri="{FF2B5EF4-FFF2-40B4-BE49-F238E27FC236}">
                  <a16:creationId xmlns:a16="http://schemas.microsoft.com/office/drawing/2014/main" id="{00A3CCD8-11A0-ECB7-F773-A94277408598}"/>
                </a:ext>
              </a:extLst>
            </p:cNvPr>
            <p:cNvPicPr/>
            <p:nvPr/>
          </p:nvPicPr>
          <p:blipFill>
            <a:blip r:embed="rId10" cstate="print"/>
            <a:stretch>
              <a:fillRect/>
            </a:stretch>
          </p:blipFill>
          <p:spPr>
            <a:xfrm>
              <a:off x="9960864" y="3918204"/>
              <a:ext cx="1676387" cy="1437131"/>
            </a:xfrm>
            <a:prstGeom prst="rect">
              <a:avLst/>
            </a:prstGeom>
          </p:spPr>
        </p:pic>
        <p:sp>
          <p:nvSpPr>
            <p:cNvPr id="24" name="object 24">
              <a:extLst>
                <a:ext uri="{FF2B5EF4-FFF2-40B4-BE49-F238E27FC236}">
                  <a16:creationId xmlns:a16="http://schemas.microsoft.com/office/drawing/2014/main" id="{8E28040D-46F8-0243-2F93-614E323C1103}"/>
                </a:ext>
              </a:extLst>
            </p:cNvPr>
            <p:cNvSpPr/>
            <p:nvPr/>
          </p:nvSpPr>
          <p:spPr>
            <a:xfrm>
              <a:off x="9956101" y="3913441"/>
              <a:ext cx="1685925" cy="1447165"/>
            </a:xfrm>
            <a:custGeom>
              <a:avLst/>
              <a:gdLst/>
              <a:ahLst/>
              <a:cxnLst/>
              <a:rect l="l" t="t" r="r" b="b"/>
              <a:pathLst>
                <a:path w="1685925" h="1447164">
                  <a:moveTo>
                    <a:pt x="0" y="0"/>
                  </a:moveTo>
                  <a:lnTo>
                    <a:pt x="1685925" y="0"/>
                  </a:lnTo>
                  <a:lnTo>
                    <a:pt x="1685925" y="1446657"/>
                  </a:lnTo>
                  <a:lnTo>
                    <a:pt x="0" y="1446657"/>
                  </a:lnTo>
                  <a:lnTo>
                    <a:pt x="0" y="0"/>
                  </a:lnTo>
                  <a:close/>
                </a:path>
              </a:pathLst>
            </a:custGeom>
            <a:ln w="9525">
              <a:solidFill>
                <a:srgbClr val="D9D9D9"/>
              </a:solidFill>
            </a:ln>
          </p:spPr>
          <p:txBody>
            <a:bodyPr wrap="square" lIns="0" tIns="0" rIns="0" bIns="0" rtlCol="0"/>
            <a:lstStyle/>
            <a:p>
              <a:endParaRPr sz="1600">
                <a:latin typeface="游ゴシック Medium" panose="020B0500000000000000" pitchFamily="50" charset="-128"/>
                <a:ea typeface="游ゴシック Medium" panose="020B0500000000000000" pitchFamily="50" charset="-128"/>
              </a:endParaRPr>
            </a:p>
          </p:txBody>
        </p:sp>
      </p:grpSp>
      <p:sp>
        <p:nvSpPr>
          <p:cNvPr id="25" name="object 25">
            <a:extLst>
              <a:ext uri="{FF2B5EF4-FFF2-40B4-BE49-F238E27FC236}">
                <a16:creationId xmlns:a16="http://schemas.microsoft.com/office/drawing/2014/main" id="{7D39CBEB-27F8-6522-F200-DE76FA6A734B}"/>
              </a:ext>
            </a:extLst>
          </p:cNvPr>
          <p:cNvSpPr txBox="1"/>
          <p:nvPr/>
        </p:nvSpPr>
        <p:spPr>
          <a:xfrm>
            <a:off x="714073" y="1204505"/>
            <a:ext cx="1242060" cy="227626"/>
          </a:xfrm>
          <a:prstGeom prst="rect">
            <a:avLst/>
          </a:prstGeom>
        </p:spPr>
        <p:txBody>
          <a:bodyPr vert="horz" wrap="square" lIns="0" tIns="12065" rIns="0" bIns="0" rtlCol="0">
            <a:spAutoFit/>
          </a:bodyPr>
          <a:lstStyle/>
          <a:p>
            <a:pPr marL="215265" indent="-203200">
              <a:lnSpc>
                <a:spcPct val="100000"/>
              </a:lnSpc>
              <a:spcBef>
                <a:spcPts val="95"/>
              </a:spcBef>
              <a:buSzPct val="93750"/>
              <a:buChar char="■"/>
              <a:tabLst>
                <a:tab pos="215265" algn="l"/>
              </a:tabLst>
            </a:pPr>
            <a:r>
              <a:rPr sz="1400" spc="-30" dirty="0" err="1">
                <a:solidFill>
                  <a:srgbClr val="1D1D1D"/>
                </a:solidFill>
                <a:latin typeface="游ゴシック Medium" panose="020B0500000000000000" pitchFamily="50" charset="-128"/>
                <a:ea typeface="游ゴシック Medium" panose="020B0500000000000000" pitchFamily="50" charset="-128"/>
                <a:cs typeface="メイリオ"/>
              </a:rPr>
              <a:t>与件整理</a:t>
            </a:r>
            <a:endParaRPr sz="1400" dirty="0">
              <a:latin typeface="游ゴシック Medium" panose="020B0500000000000000" pitchFamily="50" charset="-128"/>
              <a:ea typeface="游ゴシック Medium" panose="020B0500000000000000" pitchFamily="50" charset="-128"/>
              <a:cs typeface="メイリオ"/>
            </a:endParaRPr>
          </a:p>
        </p:txBody>
      </p:sp>
      <p:sp>
        <p:nvSpPr>
          <p:cNvPr id="26" name="正方形/長方形 25">
            <a:extLst>
              <a:ext uri="{FF2B5EF4-FFF2-40B4-BE49-F238E27FC236}">
                <a16:creationId xmlns:a16="http://schemas.microsoft.com/office/drawing/2014/main" id="{F512E977-63E5-64CE-2722-198AEBBFFEC1}"/>
              </a:ext>
            </a:extLst>
          </p:cNvPr>
          <p:cNvSpPr/>
          <p:nvPr/>
        </p:nvSpPr>
        <p:spPr>
          <a:xfrm>
            <a:off x="714073" y="1667293"/>
            <a:ext cx="471488" cy="10137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商材</a:t>
            </a:r>
          </a:p>
        </p:txBody>
      </p:sp>
      <p:sp>
        <p:nvSpPr>
          <p:cNvPr id="27" name="正方形/長方形 26">
            <a:extLst>
              <a:ext uri="{FF2B5EF4-FFF2-40B4-BE49-F238E27FC236}">
                <a16:creationId xmlns:a16="http://schemas.microsoft.com/office/drawing/2014/main" id="{1B8447F1-47A5-1CAD-B913-2E73D19FCB6F}"/>
              </a:ext>
            </a:extLst>
          </p:cNvPr>
          <p:cNvSpPr/>
          <p:nvPr/>
        </p:nvSpPr>
        <p:spPr>
          <a:xfrm>
            <a:off x="1308768" y="1667293"/>
            <a:ext cx="3763746" cy="10137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SUPER ZERO</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」と呼ばれている特殊な糸を作られている</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・吸水性／通気性／速乾性が高く、毛羽落ちが少なくふんわり軽い。という機能性に長けている</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・この糸を使ったタオル類の商品を展開されている</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・様々なメディアに取り上げられている</a:t>
            </a:r>
          </a:p>
        </p:txBody>
      </p:sp>
      <p:sp>
        <p:nvSpPr>
          <p:cNvPr id="28" name="正方形/長方形 27">
            <a:extLst>
              <a:ext uri="{FF2B5EF4-FFF2-40B4-BE49-F238E27FC236}">
                <a16:creationId xmlns:a16="http://schemas.microsoft.com/office/drawing/2014/main" id="{03ED6E3B-E1C9-F8B7-6C97-5AE94FE5B50B}"/>
              </a:ext>
            </a:extLst>
          </p:cNvPr>
          <p:cNvSpPr/>
          <p:nvPr/>
        </p:nvSpPr>
        <p:spPr>
          <a:xfrm>
            <a:off x="714073" y="3027821"/>
            <a:ext cx="471488" cy="10137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游ゴシック Medium" panose="020B0500000000000000" pitchFamily="50" charset="-128"/>
                <a:ea typeface="游ゴシック Medium" panose="020B0500000000000000" pitchFamily="50" charset="-128"/>
              </a:rPr>
              <a:t>EC</a:t>
            </a:r>
            <a:endParaRPr kumimoji="1" lang="ja-JP" altLang="en-US" sz="1200" dirty="0">
              <a:solidFill>
                <a:schemeClr val="tx1"/>
              </a:solidFill>
              <a:latin typeface="游ゴシック Medium" panose="020B0500000000000000" pitchFamily="50" charset="-128"/>
              <a:ea typeface="游ゴシック Medium" panose="020B0500000000000000" pitchFamily="50" charset="-128"/>
            </a:endParaRPr>
          </a:p>
        </p:txBody>
      </p:sp>
      <p:sp>
        <p:nvSpPr>
          <p:cNvPr id="29" name="正方形/長方形 28">
            <a:extLst>
              <a:ext uri="{FF2B5EF4-FFF2-40B4-BE49-F238E27FC236}">
                <a16:creationId xmlns:a16="http://schemas.microsoft.com/office/drawing/2014/main" id="{CD4F0542-A3C3-C986-637C-50DDFF3A8EB8}"/>
              </a:ext>
            </a:extLst>
          </p:cNvPr>
          <p:cNvSpPr/>
          <p:nvPr/>
        </p:nvSpPr>
        <p:spPr>
          <a:xfrm>
            <a:off x="1308768" y="3027821"/>
            <a:ext cx="3763746" cy="10137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・エアーかおる </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https://airkaol.jp/</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EC</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はカラーミーショップにて構築</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Marketing Cloud</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導入に際して、</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API</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でのデータ連携を想定</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（会員情報、注文、商品、在庫、他）</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・会員数</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5</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万件（内オプトイン</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3.5</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万件）リピート率等は不明</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・売上：</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1.2</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億円</a:t>
            </a:r>
          </a:p>
        </p:txBody>
      </p:sp>
      <p:sp>
        <p:nvSpPr>
          <p:cNvPr id="30" name="正方形/長方形 29">
            <a:extLst>
              <a:ext uri="{FF2B5EF4-FFF2-40B4-BE49-F238E27FC236}">
                <a16:creationId xmlns:a16="http://schemas.microsoft.com/office/drawing/2014/main" id="{317D3A30-54D1-4DF3-FF08-E555F7E13600}"/>
              </a:ext>
            </a:extLst>
          </p:cNvPr>
          <p:cNvSpPr/>
          <p:nvPr/>
        </p:nvSpPr>
        <p:spPr>
          <a:xfrm>
            <a:off x="714073" y="4388350"/>
            <a:ext cx="471488" cy="10137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販促集客</a:t>
            </a:r>
          </a:p>
        </p:txBody>
      </p:sp>
      <p:sp>
        <p:nvSpPr>
          <p:cNvPr id="31" name="正方形/長方形 30">
            <a:extLst>
              <a:ext uri="{FF2B5EF4-FFF2-40B4-BE49-F238E27FC236}">
                <a16:creationId xmlns:a16="http://schemas.microsoft.com/office/drawing/2014/main" id="{66172145-4A78-1CA7-2E7B-D246438D8BF5}"/>
              </a:ext>
            </a:extLst>
          </p:cNvPr>
          <p:cNvSpPr/>
          <p:nvPr/>
        </p:nvSpPr>
        <p:spPr>
          <a:xfrm>
            <a:off x="1308768" y="4388350"/>
            <a:ext cx="3763746" cy="10137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・テーマはファン化</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・現在の施策はキャンペーンのみ</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ChatGPT</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を使って企画や施策の効率化を実施する想定</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12</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月頃から集客が見込まれており、</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Marketing Cloud</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を検討</a:t>
            </a:r>
          </a:p>
          <a:p>
            <a:r>
              <a:rPr kumimoji="1" lang="ja-JP" altLang="en-US" sz="1000" dirty="0">
                <a:solidFill>
                  <a:schemeClr val="tx1"/>
                </a:solidFill>
                <a:latin typeface="游ゴシック Medium" panose="020B0500000000000000" pitchFamily="50" charset="-128"/>
                <a:ea typeface="游ゴシック Medium" panose="020B0500000000000000" pitchFamily="50" charset="-128"/>
              </a:rPr>
              <a:t>・ウェルカムシナリオを作成したい</a:t>
            </a:r>
          </a:p>
        </p:txBody>
      </p:sp>
      <p:sp>
        <p:nvSpPr>
          <p:cNvPr id="32" name="二等辺三角形 31">
            <a:extLst>
              <a:ext uri="{FF2B5EF4-FFF2-40B4-BE49-F238E27FC236}">
                <a16:creationId xmlns:a16="http://schemas.microsoft.com/office/drawing/2014/main" id="{FD57EA89-5F87-C11B-2E98-E40DCEB62BD3}"/>
              </a:ext>
            </a:extLst>
          </p:cNvPr>
          <p:cNvSpPr/>
          <p:nvPr/>
        </p:nvSpPr>
        <p:spPr>
          <a:xfrm rot="5400000">
            <a:off x="516438" y="6210310"/>
            <a:ext cx="1063607" cy="196849"/>
          </a:xfrm>
          <a:prstGeom prst="triangl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游ゴシック Medium" panose="020B0500000000000000" pitchFamily="50" charset="-128"/>
              <a:ea typeface="游ゴシック Medium" panose="020B0500000000000000" pitchFamily="50" charset="-128"/>
            </a:endParaRPr>
          </a:p>
        </p:txBody>
      </p:sp>
      <p:sp>
        <p:nvSpPr>
          <p:cNvPr id="33" name="正方形/長方形 32">
            <a:extLst>
              <a:ext uri="{FF2B5EF4-FFF2-40B4-BE49-F238E27FC236}">
                <a16:creationId xmlns:a16="http://schemas.microsoft.com/office/drawing/2014/main" id="{4E7E0A48-AFB3-2408-4FD2-7B64AC73A08D}"/>
              </a:ext>
            </a:extLst>
          </p:cNvPr>
          <p:cNvSpPr/>
          <p:nvPr/>
        </p:nvSpPr>
        <p:spPr>
          <a:xfrm>
            <a:off x="1308768" y="6039792"/>
            <a:ext cx="7758730" cy="5378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solidFill>
                <a:latin typeface="游ゴシック" panose="020B0400000000000000" pitchFamily="50" charset="-128"/>
                <a:ea typeface="游ゴシック" panose="020B0400000000000000" pitchFamily="50" charset="-128"/>
              </a:rPr>
              <a:t>少しでも早く導入効果を示すため「ウエルカムシナリオ」「バースデーシナリオ」「アンケート」など、</a:t>
            </a:r>
            <a:endParaRPr kumimoji="1" lang="en-US" altLang="ja-JP" sz="1200" b="1" dirty="0">
              <a:solidFill>
                <a:schemeClr val="tx1"/>
              </a:solidFill>
              <a:latin typeface="游ゴシック" panose="020B0400000000000000" pitchFamily="50" charset="-128"/>
              <a:ea typeface="游ゴシック" panose="020B0400000000000000" pitchFamily="50" charset="-128"/>
            </a:endParaRPr>
          </a:p>
          <a:p>
            <a:r>
              <a:rPr kumimoji="1" lang="ja-JP" altLang="en-US" sz="1200" b="1" dirty="0">
                <a:solidFill>
                  <a:schemeClr val="tx1"/>
                </a:solidFill>
                <a:latin typeface="游ゴシック" panose="020B0400000000000000" pitchFamily="50" charset="-128"/>
                <a:ea typeface="游ゴシック" panose="020B0400000000000000" pitchFamily="50" charset="-128"/>
              </a:rPr>
              <a:t>販促効果を求めにくいシナリオの実装を強くご希望</a:t>
            </a:r>
          </a:p>
        </p:txBody>
      </p:sp>
    </p:spTree>
    <p:extLst>
      <p:ext uri="{BB962C8B-B14F-4D97-AF65-F5344CB8AC3E}">
        <p14:creationId xmlns:p14="http://schemas.microsoft.com/office/powerpoint/2010/main" val="2671534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635F8-4DC7-86CB-3C09-3DD61E077E8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512996A-8436-A3FA-35AF-CA4B3028F562}"/>
              </a:ext>
            </a:extLst>
          </p:cNvPr>
          <p:cNvSpPr>
            <a:spLocks noGrp="1"/>
          </p:cNvSpPr>
          <p:nvPr>
            <p:ph type="ctrTitle"/>
          </p:nvPr>
        </p:nvSpPr>
        <p:spPr>
          <a:xfrm>
            <a:off x="311150" y="180296"/>
            <a:ext cx="7799917" cy="339267"/>
          </a:xfrm>
        </p:spPr>
        <p:txBody>
          <a:bodyPr>
            <a:normAutofit/>
          </a:bodyPr>
          <a:lstStyle/>
          <a:p>
            <a:r>
              <a:rPr lang="ja-JP" altLang="en-US" dirty="0"/>
              <a:t>実績（</a:t>
            </a:r>
            <a:r>
              <a:rPr lang="en-US" altLang="ja-JP" dirty="0"/>
              <a:t>Data</a:t>
            </a:r>
            <a:r>
              <a:rPr lang="ja-JP" altLang="en-US" dirty="0"/>
              <a:t>＆</a:t>
            </a:r>
            <a:r>
              <a:rPr lang="en-US" altLang="ja-JP" dirty="0"/>
              <a:t>Digital Growth</a:t>
            </a:r>
            <a:r>
              <a:rPr lang="ja-JP" altLang="en-US" dirty="0"/>
              <a:t>事業部）</a:t>
            </a:r>
          </a:p>
        </p:txBody>
      </p:sp>
      <p:pic>
        <p:nvPicPr>
          <p:cNvPr id="3" name="図 2">
            <a:extLst>
              <a:ext uri="{FF2B5EF4-FFF2-40B4-BE49-F238E27FC236}">
                <a16:creationId xmlns:a16="http://schemas.microsoft.com/office/drawing/2014/main" id="{FBB1C49A-614E-510E-8640-D3FC06AD5CA2}"/>
              </a:ext>
            </a:extLst>
          </p:cNvPr>
          <p:cNvPicPr>
            <a:picLocks noChangeAspect="1"/>
          </p:cNvPicPr>
          <p:nvPr/>
        </p:nvPicPr>
        <p:blipFill>
          <a:blip r:embed="rId3"/>
          <a:stretch>
            <a:fillRect/>
          </a:stretch>
        </p:blipFill>
        <p:spPr>
          <a:xfrm>
            <a:off x="449263" y="1308240"/>
            <a:ext cx="9642240" cy="1981626"/>
          </a:xfrm>
          <a:prstGeom prst="rect">
            <a:avLst/>
          </a:prstGeom>
        </p:spPr>
      </p:pic>
      <p:sp>
        <p:nvSpPr>
          <p:cNvPr id="4" name="正方形/長方形 3">
            <a:extLst>
              <a:ext uri="{FF2B5EF4-FFF2-40B4-BE49-F238E27FC236}">
                <a16:creationId xmlns:a16="http://schemas.microsoft.com/office/drawing/2014/main" id="{8AFFD97F-3AAE-71EC-2638-823979DE7B54}"/>
              </a:ext>
            </a:extLst>
          </p:cNvPr>
          <p:cNvSpPr/>
          <p:nvPr/>
        </p:nvSpPr>
        <p:spPr>
          <a:xfrm>
            <a:off x="584022" y="3769253"/>
            <a:ext cx="9424776" cy="11437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Ø"/>
            </a:pPr>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2020</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年以降のリピート率低減」「</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2020</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年の</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F2</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F3</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転換顧客の割引率の高さ」を加味すると、期間設定や商品限定はするものの、割引施策は効果的と考える（利益率見合い）</a:t>
            </a:r>
            <a:endParaRPr kumimoji="1" lang="en-US" altLang="ja-JP" sz="1000" dirty="0">
              <a:solidFill>
                <a:schemeClr val="tx1"/>
              </a:solidFill>
              <a:latin typeface="游ゴシック Medium" panose="020B0500000000000000" pitchFamily="50" charset="-128"/>
              <a:ea typeface="游ゴシック Medium" panose="020B0500000000000000" pitchFamily="50" charset="-128"/>
            </a:endParaRPr>
          </a:p>
          <a:p>
            <a:pPr marL="171450" indent="-171450">
              <a:buFont typeface="Wingdings" panose="05000000000000000000" pitchFamily="2" charset="2"/>
              <a:buChar char="Ø"/>
            </a:pPr>
            <a:r>
              <a:rPr kumimoji="1" lang="en-US" altLang="ja-JP" sz="1000" dirty="0">
                <a:solidFill>
                  <a:schemeClr val="tx1"/>
                </a:solidFill>
                <a:latin typeface="游ゴシック Medium" panose="020B0500000000000000" pitchFamily="50" charset="-128"/>
                <a:ea typeface="游ゴシック Medium" panose="020B0500000000000000" pitchFamily="50" charset="-128"/>
              </a:rPr>
              <a:t>F2</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転換は</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90</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日まで、</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F3</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転換は</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150</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日までの施策が有効であると推察される</a:t>
            </a:r>
            <a:endParaRPr kumimoji="1" lang="en-US" altLang="ja-JP" sz="1000" dirty="0">
              <a:solidFill>
                <a:schemeClr val="tx1"/>
              </a:solidFill>
              <a:latin typeface="游ゴシック Medium" panose="020B0500000000000000" pitchFamily="50" charset="-128"/>
              <a:ea typeface="游ゴシック Medium" panose="020B0500000000000000" pitchFamily="50" charset="-128"/>
            </a:endParaRPr>
          </a:p>
          <a:p>
            <a:pPr marL="171450" indent="-171450">
              <a:buFont typeface="Wingdings" panose="05000000000000000000" pitchFamily="2" charset="2"/>
              <a:buChar char="Ø"/>
            </a:pPr>
            <a:r>
              <a:rPr kumimoji="1" lang="ja-JP" altLang="en-US" sz="1000" dirty="0">
                <a:solidFill>
                  <a:schemeClr val="tx1"/>
                </a:solidFill>
                <a:latin typeface="游ゴシック Medium" panose="020B0500000000000000" pitchFamily="50" charset="-128"/>
                <a:ea typeface="游ゴシック Medium" panose="020B0500000000000000" pitchFamily="50" charset="-128"/>
              </a:rPr>
              <a:t>本来であれば、個人利用とギフト利用は分けて分析することが望ましい</a:t>
            </a:r>
            <a:endParaRPr kumimoji="1" lang="en-US" altLang="ja-JP" sz="1000" dirty="0">
              <a:solidFill>
                <a:schemeClr val="tx1"/>
              </a:solidFill>
              <a:latin typeface="游ゴシック Medium" panose="020B0500000000000000" pitchFamily="50" charset="-128"/>
              <a:ea typeface="游ゴシック Medium" panose="020B0500000000000000" pitchFamily="50" charset="-128"/>
            </a:endParaRPr>
          </a:p>
          <a:p>
            <a:pPr marL="171450" indent="-171450">
              <a:buFont typeface="Wingdings" panose="05000000000000000000" pitchFamily="2" charset="2"/>
              <a:buChar char="Ø"/>
            </a:pPr>
            <a:r>
              <a:rPr kumimoji="1" lang="ja-JP" altLang="en-US" sz="1000" dirty="0">
                <a:solidFill>
                  <a:schemeClr val="tx1"/>
                </a:solidFill>
                <a:latin typeface="游ゴシック Medium" panose="020B0500000000000000" pitchFamily="50" charset="-128"/>
                <a:ea typeface="游ゴシック Medium" panose="020B0500000000000000" pitchFamily="50" charset="-128"/>
              </a:rPr>
              <a:t>離反（予備）の掘り起こしについても、</a:t>
            </a:r>
            <a:r>
              <a:rPr kumimoji="1" lang="en-US" altLang="ja-JP" sz="1000" dirty="0">
                <a:solidFill>
                  <a:schemeClr val="tx1"/>
                </a:solidFill>
                <a:latin typeface="游ゴシック Medium" panose="020B0500000000000000" pitchFamily="50" charset="-128"/>
                <a:ea typeface="游ゴシック Medium" panose="020B0500000000000000" pitchFamily="50" charset="-128"/>
              </a:rPr>
              <a:t>A/B</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テストなどを踏まえ最適タイミングを見極めた上で、セグメントを絞って強めのオファーによる施策も有効であると推察される</a:t>
            </a:r>
          </a:p>
        </p:txBody>
      </p:sp>
      <p:sp>
        <p:nvSpPr>
          <p:cNvPr id="5" name="正方形/長方形 4">
            <a:extLst>
              <a:ext uri="{FF2B5EF4-FFF2-40B4-BE49-F238E27FC236}">
                <a16:creationId xmlns:a16="http://schemas.microsoft.com/office/drawing/2014/main" id="{2A4862B1-57C4-A4C0-F4FA-2E736241AD0D}"/>
              </a:ext>
            </a:extLst>
          </p:cNvPr>
          <p:cNvSpPr/>
          <p:nvPr/>
        </p:nvSpPr>
        <p:spPr>
          <a:xfrm>
            <a:off x="545633" y="3490628"/>
            <a:ext cx="9463165" cy="313548"/>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游ゴシック Medium" panose="020B0500000000000000" pitchFamily="50" charset="-128"/>
                <a:ea typeface="游ゴシック Medium" panose="020B0500000000000000" pitchFamily="50" charset="-128"/>
              </a:rPr>
              <a:t>分析結果</a:t>
            </a:r>
          </a:p>
        </p:txBody>
      </p:sp>
      <p:sp>
        <p:nvSpPr>
          <p:cNvPr id="6" name="object 25">
            <a:extLst>
              <a:ext uri="{FF2B5EF4-FFF2-40B4-BE49-F238E27FC236}">
                <a16:creationId xmlns:a16="http://schemas.microsoft.com/office/drawing/2014/main" id="{AEA3BE04-4279-56AF-0E99-7B3CC23B6623}"/>
              </a:ext>
            </a:extLst>
          </p:cNvPr>
          <p:cNvSpPr txBox="1"/>
          <p:nvPr/>
        </p:nvSpPr>
        <p:spPr>
          <a:xfrm>
            <a:off x="545632" y="5006421"/>
            <a:ext cx="9218163" cy="166071"/>
          </a:xfrm>
          <a:prstGeom prst="rect">
            <a:avLst/>
          </a:prstGeom>
        </p:spPr>
        <p:txBody>
          <a:bodyPr vert="horz" wrap="square" lIns="0" tIns="12065" rIns="0" bIns="0" rtlCol="0">
            <a:spAutoFit/>
          </a:bodyPr>
          <a:lstStyle/>
          <a:p>
            <a:pPr marL="12065">
              <a:lnSpc>
                <a:spcPct val="100000"/>
              </a:lnSpc>
              <a:spcBef>
                <a:spcPts val="95"/>
              </a:spcBef>
              <a:buSzPct val="93750"/>
              <a:tabLst>
                <a:tab pos="215265" algn="l"/>
              </a:tabLst>
            </a:pPr>
            <a:r>
              <a:rPr lang="ja-JP" altLang="en-US" sz="1000" dirty="0">
                <a:latin typeface="游ゴシック Medium" panose="020B0500000000000000" pitchFamily="50" charset="-128"/>
                <a:ea typeface="游ゴシック Medium" panose="020B0500000000000000" pitchFamily="50" charset="-128"/>
                <a:cs typeface="メイリオ"/>
              </a:rPr>
              <a:t>▼分析結果を元に、現状の課題点を</a:t>
            </a:r>
            <a:r>
              <a:rPr lang="zh-CN" altLang="en-US" sz="1000" dirty="0">
                <a:latin typeface="游ゴシック Medium" panose="020B0500000000000000" pitchFamily="50" charset="-128"/>
                <a:ea typeface="游ゴシック Medium" panose="020B0500000000000000" pitchFamily="50" charset="-128"/>
                <a:cs typeface="メイリオ"/>
              </a:rPr>
              <a:t>浅野撚糸様内</a:t>
            </a:r>
            <a:r>
              <a:rPr lang="ja-JP" altLang="en-US" sz="1000" dirty="0">
                <a:latin typeface="游ゴシック Medium" panose="020B0500000000000000" pitchFamily="50" charset="-128"/>
                <a:ea typeface="游ゴシック Medium" panose="020B0500000000000000" pitchFamily="50" charset="-128"/>
                <a:cs typeface="メイリオ"/>
              </a:rPr>
              <a:t>で認識いただき、「初回から</a:t>
            </a:r>
            <a:r>
              <a:rPr lang="en-US" altLang="ja-JP" sz="1000" dirty="0">
                <a:latin typeface="游ゴシック Medium" panose="020B0500000000000000" pitchFamily="50" charset="-128"/>
                <a:ea typeface="游ゴシック Medium" panose="020B0500000000000000" pitchFamily="50" charset="-128"/>
                <a:cs typeface="メイリオ"/>
              </a:rPr>
              <a:t>90</a:t>
            </a:r>
            <a:r>
              <a:rPr lang="ja-JP" altLang="en-US" sz="1000" dirty="0">
                <a:latin typeface="游ゴシック Medium" panose="020B0500000000000000" pitchFamily="50" charset="-128"/>
                <a:ea typeface="游ゴシック Medium" panose="020B0500000000000000" pitchFamily="50" charset="-128"/>
                <a:cs typeface="メイリオ"/>
              </a:rPr>
              <a:t>日間で</a:t>
            </a:r>
            <a:r>
              <a:rPr lang="en-US" altLang="ja-JP" sz="1000" dirty="0">
                <a:latin typeface="游ゴシック Medium" panose="020B0500000000000000" pitchFamily="50" charset="-128"/>
                <a:ea typeface="游ゴシック Medium" panose="020B0500000000000000" pitchFamily="50" charset="-128"/>
                <a:cs typeface="メイリオ"/>
              </a:rPr>
              <a:t>F2</a:t>
            </a:r>
            <a:r>
              <a:rPr lang="ja-JP" altLang="en-US" sz="1000" dirty="0">
                <a:latin typeface="游ゴシック Medium" panose="020B0500000000000000" pitchFamily="50" charset="-128"/>
                <a:ea typeface="游ゴシック Medium" panose="020B0500000000000000" pitchFamily="50" charset="-128"/>
                <a:cs typeface="メイリオ"/>
              </a:rPr>
              <a:t>転換」を目的としたシナリオを作成しリリース。</a:t>
            </a:r>
            <a:endParaRPr sz="1000" dirty="0">
              <a:latin typeface="游ゴシック Medium" panose="020B0500000000000000" pitchFamily="50" charset="-128"/>
              <a:ea typeface="游ゴシック Medium" panose="020B0500000000000000" pitchFamily="50" charset="-128"/>
              <a:cs typeface="メイリオ"/>
            </a:endParaRPr>
          </a:p>
        </p:txBody>
      </p:sp>
      <p:pic>
        <p:nvPicPr>
          <p:cNvPr id="7" name="図 6">
            <a:extLst>
              <a:ext uri="{FF2B5EF4-FFF2-40B4-BE49-F238E27FC236}">
                <a16:creationId xmlns:a16="http://schemas.microsoft.com/office/drawing/2014/main" id="{8FDB2F75-1D04-A48E-4E01-4F9C2A96E5A2}"/>
              </a:ext>
            </a:extLst>
          </p:cNvPr>
          <p:cNvPicPr>
            <a:picLocks noChangeAspect="1"/>
          </p:cNvPicPr>
          <p:nvPr/>
        </p:nvPicPr>
        <p:blipFill>
          <a:blip r:embed="rId4"/>
          <a:stretch>
            <a:fillRect/>
          </a:stretch>
        </p:blipFill>
        <p:spPr>
          <a:xfrm>
            <a:off x="545633" y="5265906"/>
            <a:ext cx="9463177" cy="1521118"/>
          </a:xfrm>
          <a:prstGeom prst="rect">
            <a:avLst/>
          </a:prstGeom>
          <a:ln>
            <a:solidFill>
              <a:schemeClr val="bg1">
                <a:lumMod val="85000"/>
              </a:schemeClr>
            </a:solidFill>
          </a:ln>
          <a:effectLst>
            <a:outerShdw blurRad="50800" dist="38100" dir="2700000" algn="tl" rotWithShape="0">
              <a:prstClr val="black">
                <a:alpha val="40000"/>
              </a:prstClr>
            </a:outerShdw>
          </a:effectLst>
        </p:spPr>
      </p:pic>
      <p:sp>
        <p:nvSpPr>
          <p:cNvPr id="9" name="字幕 13">
            <a:extLst>
              <a:ext uri="{FF2B5EF4-FFF2-40B4-BE49-F238E27FC236}">
                <a16:creationId xmlns:a16="http://schemas.microsoft.com/office/drawing/2014/main" id="{EC0FFF46-FFD0-ECEC-EF92-4CCFCC3A6550}"/>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簡易データの分析結果を踏まえ、今後の戦略・施策に関する方向性を提示</a:t>
            </a:r>
          </a:p>
        </p:txBody>
      </p:sp>
      <p:sp>
        <p:nvSpPr>
          <p:cNvPr id="10" name="タイトル 1">
            <a:extLst>
              <a:ext uri="{FF2B5EF4-FFF2-40B4-BE49-F238E27FC236}">
                <a16:creationId xmlns:a16="http://schemas.microsoft.com/office/drawing/2014/main" id="{6CC2FB27-F6B4-54EE-926F-6EFD647984C1}"/>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Tree>
    <p:extLst>
      <p:ext uri="{BB962C8B-B14F-4D97-AF65-F5344CB8AC3E}">
        <p14:creationId xmlns:p14="http://schemas.microsoft.com/office/powerpoint/2010/main" val="25862443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523DB-84C0-3C1F-1C75-819F6741574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D55CCDA0-EFD6-1896-5FDE-C0F704B301DC}"/>
              </a:ext>
            </a:extLst>
          </p:cNvPr>
          <p:cNvSpPr>
            <a:spLocks noGrp="1"/>
          </p:cNvSpPr>
          <p:nvPr>
            <p:ph type="ctrTitle"/>
          </p:nvPr>
        </p:nvSpPr>
        <p:spPr>
          <a:xfrm>
            <a:off x="311150" y="180296"/>
            <a:ext cx="7799917" cy="339267"/>
          </a:xfrm>
        </p:spPr>
        <p:txBody>
          <a:bodyPr>
            <a:normAutofit/>
          </a:bodyPr>
          <a:lstStyle/>
          <a:p>
            <a:r>
              <a:rPr lang="ja-JP" altLang="en-US" dirty="0"/>
              <a:t>実績（企画制作部｜純広告）</a:t>
            </a:r>
          </a:p>
        </p:txBody>
      </p:sp>
      <p:sp>
        <p:nvSpPr>
          <p:cNvPr id="10" name="タイトル 1">
            <a:extLst>
              <a:ext uri="{FF2B5EF4-FFF2-40B4-BE49-F238E27FC236}">
                <a16:creationId xmlns:a16="http://schemas.microsoft.com/office/drawing/2014/main" id="{9E0DDEFC-8655-C102-3D60-3D845FF59320}"/>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pic>
        <p:nvPicPr>
          <p:cNvPr id="2" name="図 1">
            <a:extLst>
              <a:ext uri="{FF2B5EF4-FFF2-40B4-BE49-F238E27FC236}">
                <a16:creationId xmlns:a16="http://schemas.microsoft.com/office/drawing/2014/main" id="{0B8597F3-0E33-5A54-0B2E-B471905DD8AB}"/>
              </a:ext>
            </a:extLst>
          </p:cNvPr>
          <p:cNvPicPr>
            <a:picLocks noChangeAspect="1"/>
          </p:cNvPicPr>
          <p:nvPr/>
        </p:nvPicPr>
        <p:blipFill>
          <a:blip r:embed="rId3"/>
          <a:stretch>
            <a:fillRect/>
          </a:stretch>
        </p:blipFill>
        <p:spPr>
          <a:xfrm>
            <a:off x="765523" y="1310508"/>
            <a:ext cx="8734611" cy="5530030"/>
          </a:xfrm>
          <a:prstGeom prst="rect">
            <a:avLst/>
          </a:prstGeom>
        </p:spPr>
      </p:pic>
    </p:spTree>
    <p:extLst>
      <p:ext uri="{BB962C8B-B14F-4D97-AF65-F5344CB8AC3E}">
        <p14:creationId xmlns:p14="http://schemas.microsoft.com/office/powerpoint/2010/main" val="3100100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91935-F4A0-0367-CCF3-78E05ACE6525}"/>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CF48ACA-0527-8220-AE3C-BEE419DB3B34}"/>
              </a:ext>
            </a:extLst>
          </p:cNvPr>
          <p:cNvSpPr>
            <a:spLocks noGrp="1"/>
          </p:cNvSpPr>
          <p:nvPr>
            <p:ph type="ctrTitle"/>
          </p:nvPr>
        </p:nvSpPr>
        <p:spPr>
          <a:xfrm>
            <a:off x="311150" y="180296"/>
            <a:ext cx="7799917" cy="339267"/>
          </a:xfrm>
        </p:spPr>
        <p:txBody>
          <a:bodyPr>
            <a:normAutofit/>
          </a:bodyPr>
          <a:lstStyle/>
          <a:p>
            <a:r>
              <a:rPr lang="ja-JP" altLang="en-US" dirty="0"/>
              <a:t>実績（企画制作部｜記事タイアップ）</a:t>
            </a:r>
          </a:p>
        </p:txBody>
      </p:sp>
      <p:sp>
        <p:nvSpPr>
          <p:cNvPr id="10" name="タイトル 1">
            <a:extLst>
              <a:ext uri="{FF2B5EF4-FFF2-40B4-BE49-F238E27FC236}">
                <a16:creationId xmlns:a16="http://schemas.microsoft.com/office/drawing/2014/main" id="{1528328B-C387-5C5F-97D3-8B1A738246F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pic>
        <p:nvPicPr>
          <p:cNvPr id="3" name="図 2">
            <a:extLst>
              <a:ext uri="{FF2B5EF4-FFF2-40B4-BE49-F238E27FC236}">
                <a16:creationId xmlns:a16="http://schemas.microsoft.com/office/drawing/2014/main" id="{54858684-0BED-CE17-DF74-D275EC68DC74}"/>
              </a:ext>
            </a:extLst>
          </p:cNvPr>
          <p:cNvPicPr>
            <a:picLocks noChangeAspect="1"/>
          </p:cNvPicPr>
          <p:nvPr/>
        </p:nvPicPr>
        <p:blipFill>
          <a:blip r:embed="rId3"/>
          <a:stretch>
            <a:fillRect/>
          </a:stretch>
        </p:blipFill>
        <p:spPr>
          <a:xfrm>
            <a:off x="471674" y="890956"/>
            <a:ext cx="9748463" cy="6092790"/>
          </a:xfrm>
          <a:prstGeom prst="rect">
            <a:avLst/>
          </a:prstGeom>
        </p:spPr>
      </p:pic>
    </p:spTree>
    <p:extLst>
      <p:ext uri="{BB962C8B-B14F-4D97-AF65-F5344CB8AC3E}">
        <p14:creationId xmlns:p14="http://schemas.microsoft.com/office/powerpoint/2010/main" val="2593532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76F10-C077-0E1E-BE57-11621FF471D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1C8C3541-E227-F8B9-9929-4135748A7ED3}"/>
              </a:ext>
            </a:extLst>
          </p:cNvPr>
          <p:cNvSpPr>
            <a:spLocks noGrp="1"/>
          </p:cNvSpPr>
          <p:nvPr>
            <p:ph type="ctrTitle"/>
          </p:nvPr>
        </p:nvSpPr>
        <p:spPr>
          <a:xfrm>
            <a:off x="311150" y="180296"/>
            <a:ext cx="7799917" cy="339267"/>
          </a:xfrm>
        </p:spPr>
        <p:txBody>
          <a:bodyPr>
            <a:normAutofit/>
          </a:bodyPr>
          <a:lstStyle/>
          <a:p>
            <a:r>
              <a:rPr lang="ja-JP" altLang="en-US" dirty="0"/>
              <a:t>実績（企画制作部｜冊子）</a:t>
            </a:r>
          </a:p>
        </p:txBody>
      </p:sp>
      <p:sp>
        <p:nvSpPr>
          <p:cNvPr id="10" name="タイトル 1">
            <a:extLst>
              <a:ext uri="{FF2B5EF4-FFF2-40B4-BE49-F238E27FC236}">
                <a16:creationId xmlns:a16="http://schemas.microsoft.com/office/drawing/2014/main" id="{63045275-8E8A-BF18-1791-23080ABF90F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pic>
        <p:nvPicPr>
          <p:cNvPr id="2" name="図 1">
            <a:extLst>
              <a:ext uri="{FF2B5EF4-FFF2-40B4-BE49-F238E27FC236}">
                <a16:creationId xmlns:a16="http://schemas.microsoft.com/office/drawing/2014/main" id="{1455487B-7FD3-68A1-9757-B55EEA9CCF08}"/>
              </a:ext>
            </a:extLst>
          </p:cNvPr>
          <p:cNvPicPr>
            <a:picLocks noChangeAspect="1"/>
          </p:cNvPicPr>
          <p:nvPr/>
        </p:nvPicPr>
        <p:blipFill>
          <a:blip r:embed="rId3"/>
          <a:stretch>
            <a:fillRect/>
          </a:stretch>
        </p:blipFill>
        <p:spPr>
          <a:xfrm>
            <a:off x="596975" y="942371"/>
            <a:ext cx="9497862" cy="5988456"/>
          </a:xfrm>
          <a:prstGeom prst="rect">
            <a:avLst/>
          </a:prstGeom>
        </p:spPr>
      </p:pic>
    </p:spTree>
    <p:extLst>
      <p:ext uri="{BB962C8B-B14F-4D97-AF65-F5344CB8AC3E}">
        <p14:creationId xmlns:p14="http://schemas.microsoft.com/office/powerpoint/2010/main" val="2495927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96255-08EF-209F-D77F-C77C4AF4E69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57C110B-CBC2-6123-9314-0E04DBFE183A}"/>
              </a:ext>
            </a:extLst>
          </p:cNvPr>
          <p:cNvSpPr>
            <a:spLocks noGrp="1"/>
          </p:cNvSpPr>
          <p:nvPr>
            <p:ph type="ctrTitle"/>
          </p:nvPr>
        </p:nvSpPr>
        <p:spPr>
          <a:xfrm>
            <a:off x="311150" y="180296"/>
            <a:ext cx="7799917" cy="339267"/>
          </a:xfrm>
        </p:spPr>
        <p:txBody>
          <a:bodyPr>
            <a:normAutofit/>
          </a:bodyPr>
          <a:lstStyle/>
          <a:p>
            <a:r>
              <a:rPr lang="ja-JP" altLang="en-US" dirty="0"/>
              <a:t>実績（企画制作部｜</a:t>
            </a:r>
            <a:r>
              <a:rPr lang="en-US" altLang="ja-JP" dirty="0"/>
              <a:t>Web</a:t>
            </a:r>
            <a:r>
              <a:rPr lang="ja-JP" altLang="en-US" dirty="0"/>
              <a:t>デザイン）</a:t>
            </a:r>
          </a:p>
        </p:txBody>
      </p:sp>
      <p:sp>
        <p:nvSpPr>
          <p:cNvPr id="10" name="タイトル 1">
            <a:extLst>
              <a:ext uri="{FF2B5EF4-FFF2-40B4-BE49-F238E27FC236}">
                <a16:creationId xmlns:a16="http://schemas.microsoft.com/office/drawing/2014/main" id="{A2CE3B14-FC42-2891-1C8A-3A3C7C544771}"/>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pic>
        <p:nvPicPr>
          <p:cNvPr id="3" name="図 2">
            <a:extLst>
              <a:ext uri="{FF2B5EF4-FFF2-40B4-BE49-F238E27FC236}">
                <a16:creationId xmlns:a16="http://schemas.microsoft.com/office/drawing/2014/main" id="{A0CBA973-51BB-79B6-5000-A2EB89C75A93}"/>
              </a:ext>
            </a:extLst>
          </p:cNvPr>
          <p:cNvPicPr>
            <a:picLocks noChangeAspect="1"/>
          </p:cNvPicPr>
          <p:nvPr/>
        </p:nvPicPr>
        <p:blipFill>
          <a:blip r:embed="rId3"/>
          <a:stretch>
            <a:fillRect/>
          </a:stretch>
        </p:blipFill>
        <p:spPr>
          <a:xfrm>
            <a:off x="311150" y="1096900"/>
            <a:ext cx="5025508" cy="4784136"/>
          </a:xfrm>
          <a:prstGeom prst="rect">
            <a:avLst/>
          </a:prstGeom>
        </p:spPr>
      </p:pic>
      <p:pic>
        <p:nvPicPr>
          <p:cNvPr id="4" name="図 3">
            <a:extLst>
              <a:ext uri="{FF2B5EF4-FFF2-40B4-BE49-F238E27FC236}">
                <a16:creationId xmlns:a16="http://schemas.microsoft.com/office/drawing/2014/main" id="{4AB2A527-17EF-353A-F45A-963079E65491}"/>
              </a:ext>
            </a:extLst>
          </p:cNvPr>
          <p:cNvPicPr>
            <a:picLocks noChangeAspect="1"/>
          </p:cNvPicPr>
          <p:nvPr/>
        </p:nvPicPr>
        <p:blipFill>
          <a:blip r:embed="rId4"/>
          <a:stretch>
            <a:fillRect/>
          </a:stretch>
        </p:blipFill>
        <p:spPr>
          <a:xfrm>
            <a:off x="5541673" y="1141145"/>
            <a:ext cx="4764586" cy="4517228"/>
          </a:xfrm>
          <a:prstGeom prst="rect">
            <a:avLst/>
          </a:prstGeom>
        </p:spPr>
      </p:pic>
      <p:sp>
        <p:nvSpPr>
          <p:cNvPr id="5" name="タイトル 1">
            <a:extLst>
              <a:ext uri="{FF2B5EF4-FFF2-40B4-BE49-F238E27FC236}">
                <a16:creationId xmlns:a16="http://schemas.microsoft.com/office/drawing/2014/main" id="{416B10F7-454D-286A-AF5E-1CDCB7A98FAE}"/>
              </a:ext>
            </a:extLst>
          </p:cNvPr>
          <p:cNvSpPr txBox="1">
            <a:spLocks/>
          </p:cNvSpPr>
          <p:nvPr/>
        </p:nvSpPr>
        <p:spPr>
          <a:xfrm>
            <a:off x="311150" y="6084020"/>
            <a:ext cx="4129623" cy="55735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93663"/>
            <a:r>
              <a:rPr lang="ja-JP" altLang="en-US" sz="1100" dirty="0">
                <a:latin typeface="游ゴシック" panose="020B0400000000000000" pitchFamily="50" charset="-128"/>
                <a:ea typeface="游ゴシック" panose="020B0400000000000000" pitchFamily="50" charset="-128"/>
              </a:rPr>
              <a:t>▲</a:t>
            </a:r>
            <a:r>
              <a:rPr lang="fi-FI" altLang="ja-JP" sz="1100" dirty="0">
                <a:latin typeface="游ゴシック" panose="020B0400000000000000" pitchFamily="50" charset="-128"/>
                <a:ea typeface="游ゴシック" panose="020B0400000000000000" pitchFamily="50" charset="-128"/>
              </a:rPr>
              <a:t>JAL CARD</a:t>
            </a:r>
            <a:r>
              <a:rPr lang="ja-JP" altLang="fi-FI" sz="1100" dirty="0">
                <a:latin typeface="游ゴシック" panose="020B0400000000000000" pitchFamily="50" charset="-128"/>
                <a:ea typeface="游ゴシック" panose="020B0400000000000000" pitchFamily="50" charset="-128"/>
              </a:rPr>
              <a:t>　リクルートサイト</a:t>
            </a:r>
          </a:p>
          <a:p>
            <a:pPr marL="93663"/>
            <a:r>
              <a:rPr lang="fi-FI" altLang="ja-JP" sz="1100" dirty="0">
                <a:latin typeface="游ゴシック" panose="020B0400000000000000" pitchFamily="50" charset="-128"/>
                <a:ea typeface="游ゴシック" panose="020B0400000000000000" pitchFamily="50" charset="-128"/>
              </a:rPr>
              <a:t>https://jalcard.jal.co.jp/recruit/</a:t>
            </a:r>
            <a:endParaRPr lang="ja-JP" altLang="en-US" sz="1100" dirty="0">
              <a:latin typeface="游ゴシック" panose="020B0400000000000000" pitchFamily="50" charset="-128"/>
              <a:ea typeface="游ゴシック" panose="020B0400000000000000" pitchFamily="50" charset="-128"/>
            </a:endParaRPr>
          </a:p>
        </p:txBody>
      </p:sp>
      <p:sp>
        <p:nvSpPr>
          <p:cNvPr id="6" name="タイトル 1">
            <a:extLst>
              <a:ext uri="{FF2B5EF4-FFF2-40B4-BE49-F238E27FC236}">
                <a16:creationId xmlns:a16="http://schemas.microsoft.com/office/drawing/2014/main" id="{5003E720-0618-EF61-1594-DD6FF6C42990}"/>
              </a:ext>
            </a:extLst>
          </p:cNvPr>
          <p:cNvSpPr txBox="1">
            <a:spLocks/>
          </p:cNvSpPr>
          <p:nvPr/>
        </p:nvSpPr>
        <p:spPr>
          <a:xfrm>
            <a:off x="5425933" y="6096116"/>
            <a:ext cx="4129623" cy="55735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93663"/>
            <a:r>
              <a:rPr lang="ja-JP" altLang="en-US" sz="1100" dirty="0">
                <a:latin typeface="游ゴシック" panose="020B0400000000000000" pitchFamily="50" charset="-128"/>
                <a:ea typeface="游ゴシック" panose="020B0400000000000000" pitchFamily="50" charset="-128"/>
              </a:rPr>
              <a:t>▲乃木坂</a:t>
            </a:r>
            <a:r>
              <a:rPr lang="en-US" altLang="ja-JP" sz="1100" dirty="0">
                <a:latin typeface="游ゴシック" panose="020B0400000000000000" pitchFamily="50" charset="-128"/>
                <a:ea typeface="游ゴシック" panose="020B0400000000000000" pitchFamily="50" charset="-128"/>
              </a:rPr>
              <a:t>46</a:t>
            </a:r>
            <a:r>
              <a:rPr lang="ja-JP" altLang="en-US" sz="1100" dirty="0">
                <a:latin typeface="游ゴシック" panose="020B0400000000000000" pitchFamily="50" charset="-128"/>
                <a:ea typeface="游ゴシック" panose="020B0400000000000000" pitchFamily="50" charset="-128"/>
              </a:rPr>
              <a:t>、</a:t>
            </a:r>
            <a:r>
              <a:rPr lang="en-US" altLang="ja-JP" sz="1100" dirty="0">
                <a:latin typeface="游ゴシック" panose="020B0400000000000000" pitchFamily="50" charset="-128"/>
                <a:ea typeface="游ゴシック" panose="020B0400000000000000" pitchFamily="50" charset="-128"/>
              </a:rPr>
              <a:t>JA</a:t>
            </a:r>
            <a:r>
              <a:rPr lang="ja-JP" altLang="en-US" sz="1100" dirty="0">
                <a:latin typeface="游ゴシック" panose="020B0400000000000000" pitchFamily="50" charset="-128"/>
                <a:ea typeface="游ゴシック" panose="020B0400000000000000" pitchFamily="50" charset="-128"/>
              </a:rPr>
              <a:t>グループ特設ウェブサイト</a:t>
            </a:r>
          </a:p>
          <a:p>
            <a:pPr marL="93663"/>
            <a:r>
              <a:rPr lang="ja-JP" altLang="en-US" sz="1100" dirty="0">
                <a:latin typeface="游ゴシック" panose="020B0400000000000000" pitchFamily="50" charset="-128"/>
                <a:ea typeface="游ゴシック" panose="020B0400000000000000" pitchFamily="50" charset="-128"/>
              </a:rPr>
              <a:t>「国消国産」を考える</a:t>
            </a:r>
            <a:r>
              <a:rPr lang="en-US" altLang="ja-JP" sz="1100" dirty="0">
                <a:latin typeface="游ゴシック" panose="020B0400000000000000" pitchFamily="50" charset="-128"/>
                <a:ea typeface="游ゴシック" panose="020B0400000000000000" pitchFamily="50" charset="-128"/>
              </a:rPr>
              <a:t>https://www.asahi.com/ads/nogizaka46ja/</a:t>
            </a:r>
            <a:endParaRPr lang="ja-JP" altLang="en-US" sz="1100"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724726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D9D1D-D552-EDCC-9851-BAB19E8937D2}"/>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4554A936-39BE-EB88-4ECE-263E8FC527E8}"/>
              </a:ext>
            </a:extLst>
          </p:cNvPr>
          <p:cNvSpPr>
            <a:spLocks noGrp="1"/>
          </p:cNvSpPr>
          <p:nvPr>
            <p:ph type="ctrTitle"/>
          </p:nvPr>
        </p:nvSpPr>
        <p:spPr>
          <a:xfrm>
            <a:off x="311150" y="180296"/>
            <a:ext cx="7799917" cy="339267"/>
          </a:xfrm>
        </p:spPr>
        <p:txBody>
          <a:bodyPr>
            <a:normAutofit/>
          </a:bodyPr>
          <a:lstStyle/>
          <a:p>
            <a:r>
              <a:rPr lang="ja-JP" altLang="en-US" dirty="0"/>
              <a:t>従業員</a:t>
            </a:r>
          </a:p>
        </p:txBody>
      </p:sp>
      <p:sp>
        <p:nvSpPr>
          <p:cNvPr id="7" name="タイトル 1">
            <a:extLst>
              <a:ext uri="{FF2B5EF4-FFF2-40B4-BE49-F238E27FC236}">
                <a16:creationId xmlns:a16="http://schemas.microsoft.com/office/drawing/2014/main" id="{E986E3A9-DA7A-0B0D-24B8-6FDAF291CC2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graphicFrame>
        <p:nvGraphicFramePr>
          <p:cNvPr id="3" name="表 2">
            <a:extLst>
              <a:ext uri="{FF2B5EF4-FFF2-40B4-BE49-F238E27FC236}">
                <a16:creationId xmlns:a16="http://schemas.microsoft.com/office/drawing/2014/main" id="{90A006E8-A161-CC34-9CA9-8B6906CB586D}"/>
              </a:ext>
            </a:extLst>
          </p:cNvPr>
          <p:cNvGraphicFramePr>
            <a:graphicFrameLocks noGrp="1"/>
          </p:cNvGraphicFramePr>
          <p:nvPr>
            <p:extLst>
              <p:ext uri="{D42A27DB-BD31-4B8C-83A1-F6EECF244321}">
                <p14:modId xmlns:p14="http://schemas.microsoft.com/office/powerpoint/2010/main" val="1602408849"/>
              </p:ext>
            </p:extLst>
          </p:nvPr>
        </p:nvGraphicFramePr>
        <p:xfrm>
          <a:off x="244475" y="1084200"/>
          <a:ext cx="10299701" cy="5775377"/>
        </p:xfrm>
        <a:graphic>
          <a:graphicData uri="http://schemas.openxmlformats.org/drawingml/2006/table">
            <a:tbl>
              <a:tblPr/>
              <a:tblGrid>
                <a:gridCol w="300235">
                  <a:extLst>
                    <a:ext uri="{9D8B030D-6E8A-4147-A177-3AD203B41FA5}">
                      <a16:colId xmlns:a16="http://schemas.microsoft.com/office/drawing/2014/main" val="2655848507"/>
                    </a:ext>
                  </a:extLst>
                </a:gridCol>
                <a:gridCol w="675527">
                  <a:extLst>
                    <a:ext uri="{9D8B030D-6E8A-4147-A177-3AD203B41FA5}">
                      <a16:colId xmlns:a16="http://schemas.microsoft.com/office/drawing/2014/main" val="2139569596"/>
                    </a:ext>
                  </a:extLst>
                </a:gridCol>
                <a:gridCol w="675527">
                  <a:extLst>
                    <a:ext uri="{9D8B030D-6E8A-4147-A177-3AD203B41FA5}">
                      <a16:colId xmlns:a16="http://schemas.microsoft.com/office/drawing/2014/main" val="3893929823"/>
                    </a:ext>
                  </a:extLst>
                </a:gridCol>
                <a:gridCol w="333593">
                  <a:extLst>
                    <a:ext uri="{9D8B030D-6E8A-4147-A177-3AD203B41FA5}">
                      <a16:colId xmlns:a16="http://schemas.microsoft.com/office/drawing/2014/main" val="2690490474"/>
                    </a:ext>
                  </a:extLst>
                </a:gridCol>
                <a:gridCol w="725566">
                  <a:extLst>
                    <a:ext uri="{9D8B030D-6E8A-4147-A177-3AD203B41FA5}">
                      <a16:colId xmlns:a16="http://schemas.microsoft.com/office/drawing/2014/main" val="3029697603"/>
                    </a:ext>
                  </a:extLst>
                </a:gridCol>
                <a:gridCol w="825644">
                  <a:extLst>
                    <a:ext uri="{9D8B030D-6E8A-4147-A177-3AD203B41FA5}">
                      <a16:colId xmlns:a16="http://schemas.microsoft.com/office/drawing/2014/main" val="3955302320"/>
                    </a:ext>
                  </a:extLst>
                </a:gridCol>
                <a:gridCol w="1803956">
                  <a:extLst>
                    <a:ext uri="{9D8B030D-6E8A-4147-A177-3AD203B41FA5}">
                      <a16:colId xmlns:a16="http://schemas.microsoft.com/office/drawing/2014/main" val="1395278416"/>
                    </a:ext>
                  </a:extLst>
                </a:gridCol>
                <a:gridCol w="795357">
                  <a:extLst>
                    <a:ext uri="{9D8B030D-6E8A-4147-A177-3AD203B41FA5}">
                      <a16:colId xmlns:a16="http://schemas.microsoft.com/office/drawing/2014/main" val="1582836858"/>
                    </a:ext>
                  </a:extLst>
                </a:gridCol>
                <a:gridCol w="828270">
                  <a:extLst>
                    <a:ext uri="{9D8B030D-6E8A-4147-A177-3AD203B41FA5}">
                      <a16:colId xmlns:a16="http://schemas.microsoft.com/office/drawing/2014/main" val="3982421735"/>
                    </a:ext>
                  </a:extLst>
                </a:gridCol>
                <a:gridCol w="788341">
                  <a:extLst>
                    <a:ext uri="{9D8B030D-6E8A-4147-A177-3AD203B41FA5}">
                      <a16:colId xmlns:a16="http://schemas.microsoft.com/office/drawing/2014/main" val="941526474"/>
                    </a:ext>
                  </a:extLst>
                </a:gridCol>
                <a:gridCol w="2547685">
                  <a:extLst>
                    <a:ext uri="{9D8B030D-6E8A-4147-A177-3AD203B41FA5}">
                      <a16:colId xmlns:a16="http://schemas.microsoft.com/office/drawing/2014/main" val="4162154748"/>
                    </a:ext>
                  </a:extLst>
                </a:gridCol>
              </a:tblGrid>
              <a:tr h="400157">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a:t>
                      </a:r>
                    </a:p>
                  </a:txBody>
                  <a:tcPr marL="3734" marR="3734" marT="3734"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イニシャル</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雇用形態</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性別</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年齢</a:t>
                      </a:r>
                      <a:endPar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勤続年数</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部署</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役職</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26年</a:t>
                      </a: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月分</a:t>
                      </a:r>
                      <a:endPar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endParaRPr>
                    </a:p>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基本給</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26年</a:t>
                      </a: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月分</a:t>
                      </a:r>
                      <a:endPar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endParaRPr>
                    </a:p>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総支給</a:t>
                      </a:r>
                    </a:p>
                  </a:txBody>
                  <a:tcPr marL="3734" marR="3734" marT="373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8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3734" marR="3734" marT="3734" marB="0" anchor="ctr">
                    <a:lnL w="12700" cap="flat" cmpd="sng" algn="ctr">
                      <a:solidFill>
                        <a:srgbClr val="FFFFFF"/>
                      </a:solidFill>
                      <a:prstDash val="solid"/>
                      <a:round/>
                      <a:headEnd type="none" w="med" len="med"/>
                      <a:tailEnd type="none" w="med" len="med"/>
                    </a:lnL>
                    <a:lnR>
                      <a:noFill/>
                    </a:lnR>
                    <a:lnT>
                      <a:noFill/>
                    </a:lnT>
                    <a:lnB w="12700" cap="flat" cmpd="sng" algn="ctr">
                      <a:solidFill>
                        <a:schemeClr val="bg1">
                          <a:lumMod val="85000"/>
                        </a:schemeClr>
                      </a:solidFill>
                      <a:prstDash val="solid"/>
                      <a:round/>
                      <a:headEnd type="none" w="med" len="med"/>
                      <a:tailEnd type="none" w="med" len="med"/>
                    </a:lnB>
                    <a:solidFill>
                      <a:srgbClr val="0B3041"/>
                    </a:solidFill>
                  </a:tcPr>
                </a:tc>
                <a:extLst>
                  <a:ext uri="{0D108BD9-81ED-4DB2-BD59-A6C34878D82A}">
                    <a16:rowId xmlns:a16="http://schemas.microsoft.com/office/drawing/2014/main" val="3282327048"/>
                  </a:ext>
                </a:extLst>
              </a:tr>
              <a:tr h="268761">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原田 淳史</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40歳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854636307"/>
                  </a:ext>
                </a:extLst>
              </a:tr>
              <a:tr h="268761">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加藤 正臣</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53歳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41878114"/>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M.G</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48歳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経営企画部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次長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570,000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1491947"/>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M.N</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業務委託</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部長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ディレクター、</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業務委託</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84613178"/>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Y.N</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43歳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マネージャー</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480,000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550,000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ディレクター</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デザイナー</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80652142"/>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H.Y</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主査</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256,800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デザイナー</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48973160"/>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U.Y</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48歳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主査</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285,300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440,000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Web</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デザイナー</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14732439"/>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S.A</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48歳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主査</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271,000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420,000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ライター</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66505430"/>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T.E</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46歳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242,500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340,000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校閲</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51561560"/>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I.M</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48歳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242,500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340,</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デザイナー</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29868917"/>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K.K</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51歳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企画制作部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206,800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290,000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ライター</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78819354"/>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Y.K</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44歳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部長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875,000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875,000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年俸制のため賞与無し、</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PM</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、データアナリスト</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58588901"/>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K.I</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57歳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マネージャー</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840,000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840,000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年俸制のため賞与無し、エンジニア</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98995705"/>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N.</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H</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32歳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313,800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440,000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ソリューションエンジニア</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30333601"/>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S.T</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49歳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4</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285,300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400,000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PM</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退職予定</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11471014"/>
                  </a:ext>
                </a:extLst>
              </a:tr>
              <a:tr h="268761">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14</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A.Y</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30歳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1</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328,100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515,000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PM</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退職予定</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93673609"/>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I.K</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23歳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313,800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455,000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エンジニア</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69698619"/>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M.W</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24歳</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252,500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375,000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ソリューションエンジニア</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215280"/>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O.F</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確認中</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734" marR="67203"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0</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199,700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280,000</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エンジニア</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07678639"/>
                  </a:ext>
                </a:extLst>
              </a:tr>
              <a:tr h="268761">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a:t>
                      </a: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3E7E9"/>
                    </a:solidFill>
                  </a:tcPr>
                </a:tc>
                <a:tc>
                  <a:txBody>
                    <a:bodyPr/>
                    <a:lstStyle/>
                    <a:p>
                      <a:pPr algn="l"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Y.S</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buNone/>
                      </a:pP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確認中</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734" marR="67203"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0</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年</a:t>
                      </a:r>
                    </a:p>
                  </a:txBody>
                  <a:tcPr marL="6350" marR="11430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Data＆Digital Growth事業部</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299,600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420,000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734"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PM</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7203" marR="3734" marT="3734"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82998046"/>
                  </a:ext>
                </a:extLst>
              </a:tr>
            </a:tbl>
          </a:graphicData>
        </a:graphic>
      </p:graphicFrame>
      <p:sp>
        <p:nvSpPr>
          <p:cNvPr id="5" name="正方形/長方形 4">
            <a:extLst>
              <a:ext uri="{FF2B5EF4-FFF2-40B4-BE49-F238E27FC236}">
                <a16:creationId xmlns:a16="http://schemas.microsoft.com/office/drawing/2014/main" id="{FFF5BD91-C82A-16BB-9741-D583EB05522F}"/>
              </a:ext>
            </a:extLst>
          </p:cNvPr>
          <p:cNvSpPr/>
          <p:nvPr/>
        </p:nvSpPr>
        <p:spPr>
          <a:xfrm>
            <a:off x="10885010" y="1441536"/>
            <a:ext cx="1437977" cy="603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修正済み</a:t>
            </a:r>
          </a:p>
        </p:txBody>
      </p:sp>
    </p:spTree>
    <p:extLst>
      <p:ext uri="{BB962C8B-B14F-4D97-AF65-F5344CB8AC3E}">
        <p14:creationId xmlns:p14="http://schemas.microsoft.com/office/powerpoint/2010/main" val="2704981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組織図</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加藤様においては基本的には現場に出ておらず、提案内容の統括やオーナー業を行っている旨を聴取。</a:t>
            </a:r>
            <a:r>
              <a:rPr lang="en-US" altLang="ja-JP" dirty="0">
                <a:latin typeface="游ゴシック" panose="020B0400000000000000" pitchFamily="50" charset="-128"/>
                <a:ea typeface="游ゴシック" panose="020B0400000000000000" pitchFamily="50" charset="-128"/>
              </a:rPr>
              <a:t>PM</a:t>
            </a:r>
            <a:r>
              <a:rPr lang="ja-JP" altLang="en-US" dirty="0">
                <a:latin typeface="游ゴシック" panose="020B0400000000000000" pitchFamily="50" charset="-128"/>
                <a:ea typeface="游ゴシック" panose="020B0400000000000000" pitchFamily="50" charset="-128"/>
              </a:rPr>
              <a:t>人材の稼働率が圧迫してる場合や特殊案件の場合は、</a:t>
            </a:r>
            <a:r>
              <a:rPr lang="en-US" altLang="ja-JP" dirty="0">
                <a:latin typeface="游ゴシック" panose="020B0400000000000000" pitchFamily="50" charset="-128"/>
                <a:ea typeface="游ゴシック" panose="020B0400000000000000" pitchFamily="50" charset="-128"/>
              </a:rPr>
              <a:t>PM</a:t>
            </a:r>
            <a:r>
              <a:rPr lang="ja-JP" altLang="en-US" dirty="0">
                <a:latin typeface="游ゴシック" panose="020B0400000000000000" pitchFamily="50" charset="-128"/>
                <a:ea typeface="游ゴシック" panose="020B0400000000000000" pitchFamily="50" charset="-128"/>
              </a:rPr>
              <a:t>に立つこともある。</a:t>
            </a:r>
            <a:endParaRPr lang="en-US" altLang="ja-JP" dirty="0">
              <a:latin typeface="游ゴシック" panose="020B0400000000000000" pitchFamily="50" charset="-128"/>
              <a:ea typeface="游ゴシック" panose="020B0400000000000000" pitchFamily="50" charset="-128"/>
            </a:endParaRPr>
          </a:p>
        </p:txBody>
      </p:sp>
      <p:sp>
        <p:nvSpPr>
          <p:cNvPr id="6" name="四角形: 角を丸くする 5">
            <a:extLst>
              <a:ext uri="{FF2B5EF4-FFF2-40B4-BE49-F238E27FC236}">
                <a16:creationId xmlns:a16="http://schemas.microsoft.com/office/drawing/2014/main" id="{7A96DB5C-2DF7-6961-B491-604E8FEA7F84}"/>
              </a:ext>
            </a:extLst>
          </p:cNvPr>
          <p:cNvSpPr/>
          <p:nvPr/>
        </p:nvSpPr>
        <p:spPr>
          <a:xfrm>
            <a:off x="4190551" y="1748979"/>
            <a:ext cx="1644613" cy="503596"/>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游ゴシック" panose="020B0400000000000000" pitchFamily="50" charset="-128"/>
                <a:ea typeface="游ゴシック" panose="020B0400000000000000" pitchFamily="50" charset="-128"/>
              </a:rPr>
              <a:t>加藤　正臣</a:t>
            </a:r>
          </a:p>
        </p:txBody>
      </p:sp>
      <p:sp>
        <p:nvSpPr>
          <p:cNvPr id="7" name="正方形/長方形 6">
            <a:extLst>
              <a:ext uri="{FF2B5EF4-FFF2-40B4-BE49-F238E27FC236}">
                <a16:creationId xmlns:a16="http://schemas.microsoft.com/office/drawing/2014/main" id="{33F894DC-8A8F-4481-9E2D-9E49E01416DA}"/>
              </a:ext>
            </a:extLst>
          </p:cNvPr>
          <p:cNvSpPr/>
          <p:nvPr/>
        </p:nvSpPr>
        <p:spPr>
          <a:xfrm>
            <a:off x="3735454" y="1642803"/>
            <a:ext cx="870115" cy="328273"/>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dirty="0">
                <a:latin typeface="游ゴシック" panose="020B0400000000000000" pitchFamily="50" charset="-128"/>
                <a:ea typeface="游ゴシック" panose="020B0400000000000000" pitchFamily="50" charset="-128"/>
              </a:rPr>
              <a:t>代表取締役</a:t>
            </a:r>
          </a:p>
        </p:txBody>
      </p:sp>
      <p:cxnSp>
        <p:nvCxnSpPr>
          <p:cNvPr id="24" name="コネクタ: カギ線 23">
            <a:extLst>
              <a:ext uri="{FF2B5EF4-FFF2-40B4-BE49-F238E27FC236}">
                <a16:creationId xmlns:a16="http://schemas.microsoft.com/office/drawing/2014/main" id="{7F14F3C5-630D-A582-AC08-F4092DD5CA8D}"/>
              </a:ext>
            </a:extLst>
          </p:cNvPr>
          <p:cNvCxnSpPr>
            <a:cxnSpLocks/>
            <a:stCxn id="6" idx="2"/>
            <a:endCxn id="92" idx="0"/>
          </p:cNvCxnSpPr>
          <p:nvPr/>
        </p:nvCxnSpPr>
        <p:spPr>
          <a:xfrm rot="5400000">
            <a:off x="3188042" y="949991"/>
            <a:ext cx="522233" cy="3127400"/>
          </a:xfrm>
          <a:prstGeom prst="bentConnector3">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コネクタ: カギ線 24">
            <a:extLst>
              <a:ext uri="{FF2B5EF4-FFF2-40B4-BE49-F238E27FC236}">
                <a16:creationId xmlns:a16="http://schemas.microsoft.com/office/drawing/2014/main" id="{D8452CF9-AB0A-2060-72CC-311EB1A3B3EC}"/>
              </a:ext>
            </a:extLst>
          </p:cNvPr>
          <p:cNvCxnSpPr>
            <a:cxnSpLocks/>
            <a:stCxn id="6" idx="2"/>
            <a:endCxn id="96" idx="0"/>
          </p:cNvCxnSpPr>
          <p:nvPr/>
        </p:nvCxnSpPr>
        <p:spPr>
          <a:xfrm rot="5400000">
            <a:off x="4414626" y="2176575"/>
            <a:ext cx="522233" cy="674232"/>
          </a:xfrm>
          <a:prstGeom prst="bentConnector3">
            <a:avLst>
              <a:gd name="adj1" fmla="val 50000"/>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C637D54A-6CE4-9DE7-E268-F91C09A7E948}"/>
              </a:ext>
            </a:extLst>
          </p:cNvPr>
          <p:cNvCxnSpPr>
            <a:cxnSpLocks/>
            <a:stCxn id="6" idx="2"/>
            <a:endCxn id="107" idx="0"/>
          </p:cNvCxnSpPr>
          <p:nvPr/>
        </p:nvCxnSpPr>
        <p:spPr>
          <a:xfrm rot="16200000" flipH="1">
            <a:off x="6187839" y="1077593"/>
            <a:ext cx="522233" cy="2872195"/>
          </a:xfrm>
          <a:prstGeom prst="bentConnector3">
            <a:avLst>
              <a:gd name="adj1" fmla="val 50000"/>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78" name="タイトル 1">
            <a:extLst>
              <a:ext uri="{FF2B5EF4-FFF2-40B4-BE49-F238E27FC236}">
                <a16:creationId xmlns:a16="http://schemas.microsoft.com/office/drawing/2014/main" id="{39C415AF-1A36-E589-7E9A-ABB441A882E9}"/>
              </a:ext>
            </a:extLst>
          </p:cNvPr>
          <p:cNvSpPr txBox="1">
            <a:spLocks/>
          </p:cNvSpPr>
          <p:nvPr/>
        </p:nvSpPr>
        <p:spPr>
          <a:xfrm>
            <a:off x="830249" y="2072066"/>
            <a:ext cx="8947326" cy="3072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000" dirty="0">
                <a:solidFill>
                  <a:srgbClr val="0070C0"/>
                </a:solidFill>
                <a:latin typeface="游ゴシック" panose="020B0400000000000000" pitchFamily="50" charset="-128"/>
                <a:ea typeface="游ゴシック" panose="020B0400000000000000" pitchFamily="50" charset="-128"/>
              </a:rPr>
              <a:t>　★</a:t>
            </a:r>
            <a:r>
              <a:rPr lang="ja-JP" altLang="en-US" sz="1000" dirty="0">
                <a:latin typeface="游ゴシック" panose="020B0400000000000000" pitchFamily="50" charset="-128"/>
                <a:ea typeface="游ゴシック" panose="020B0400000000000000" pitchFamily="50" charset="-128"/>
              </a:rPr>
              <a:t>：キーマン表示</a:t>
            </a:r>
            <a:endParaRPr lang="en-US" altLang="ja-JP" sz="1000" dirty="0">
              <a:latin typeface="游ゴシック" panose="020B0400000000000000" pitchFamily="50" charset="-128"/>
              <a:ea typeface="游ゴシック" panose="020B0400000000000000" pitchFamily="50" charset="-128"/>
            </a:endParaRPr>
          </a:p>
        </p:txBody>
      </p:sp>
      <p:sp>
        <p:nvSpPr>
          <p:cNvPr id="92" name="正方形/長方形 部署">
            <a:extLst>
              <a:ext uri="{FF2B5EF4-FFF2-40B4-BE49-F238E27FC236}">
                <a16:creationId xmlns:a16="http://schemas.microsoft.com/office/drawing/2014/main" id="{2556BDEF-17A0-81ED-F673-83D3B71C8603}"/>
              </a:ext>
            </a:extLst>
          </p:cNvPr>
          <p:cNvSpPr/>
          <p:nvPr/>
        </p:nvSpPr>
        <p:spPr>
          <a:xfrm>
            <a:off x="1085512" y="2774808"/>
            <a:ext cx="1599892" cy="4106390"/>
          </a:xfrm>
          <a:prstGeom prst="rect">
            <a:avLst/>
          </a:prstGeom>
          <a:solidFill>
            <a:srgbClr val="DEEBF7"/>
          </a:solidFill>
          <a:ln w="9525">
            <a:solidFill>
              <a:srgbClr val="0070C0"/>
            </a:solidFill>
          </a:ln>
        </p:spPr>
        <p:txBody>
          <a:bodyPr wrap="square" rtlCol="0" anchor="t"/>
          <a:lstStyle/>
          <a:p>
            <a:endParaRPr lang="ja-JP" altLang="en-US">
              <a:latin typeface="游ゴシック" panose="020B0400000000000000" pitchFamily="50" charset="-128"/>
              <a:ea typeface="游ゴシック" panose="020B0400000000000000" pitchFamily="50" charset="-128"/>
            </a:endParaRPr>
          </a:p>
        </p:txBody>
      </p:sp>
      <p:sp>
        <p:nvSpPr>
          <p:cNvPr id="93" name="テキストボックス 部署名">
            <a:extLst>
              <a:ext uri="{FF2B5EF4-FFF2-40B4-BE49-F238E27FC236}">
                <a16:creationId xmlns:a16="http://schemas.microsoft.com/office/drawing/2014/main" id="{50B0E6C0-EB4E-0DC6-86CE-F5BF539F6876}"/>
              </a:ext>
            </a:extLst>
          </p:cNvPr>
          <p:cNvSpPr txBox="1"/>
          <p:nvPr/>
        </p:nvSpPr>
        <p:spPr>
          <a:xfrm>
            <a:off x="1117510" y="2838804"/>
            <a:ext cx="1535896" cy="266649"/>
          </a:xfrm>
          <a:prstGeom prst="rect">
            <a:avLst/>
          </a:prstGeom>
          <a:noFill/>
        </p:spPr>
        <p:txBody>
          <a:bodyPr wrap="square" lIns="36000" tIns="18000" rIns="36000" bIns="18000" rtlCol="0" anchor="t"/>
          <a:lstStyle/>
          <a:p>
            <a:pPr algn="l"/>
            <a:r>
              <a:rPr kumimoji="1" lang="ja-JP" altLang="en-US" sz="1000" dirty="0">
                <a:solidFill>
                  <a:schemeClr val="tx1"/>
                </a:solidFill>
                <a:latin typeface="游ゴシック" panose="020B0400000000000000" pitchFamily="50" charset="-128"/>
                <a:ea typeface="游ゴシック" panose="020B0400000000000000" pitchFamily="50" charset="-128"/>
              </a:rPr>
              <a:t>経営企画部</a:t>
            </a:r>
          </a:p>
        </p:txBody>
      </p:sp>
      <p:sp>
        <p:nvSpPr>
          <p:cNvPr id="94" name="正方形/長方形 役職">
            <a:extLst>
              <a:ext uri="{FF2B5EF4-FFF2-40B4-BE49-F238E27FC236}">
                <a16:creationId xmlns:a16="http://schemas.microsoft.com/office/drawing/2014/main" id="{C5123C5C-7797-74BE-E684-9CA4CCF1BB3C}"/>
              </a:ext>
            </a:extLst>
          </p:cNvPr>
          <p:cNvSpPr/>
          <p:nvPr/>
        </p:nvSpPr>
        <p:spPr>
          <a:xfrm>
            <a:off x="1298831" y="3180114"/>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次長</a:t>
            </a:r>
          </a:p>
        </p:txBody>
      </p:sp>
      <p:sp>
        <p:nvSpPr>
          <p:cNvPr id="95" name="テキストボックス No">
            <a:extLst>
              <a:ext uri="{FF2B5EF4-FFF2-40B4-BE49-F238E27FC236}">
                <a16:creationId xmlns:a16="http://schemas.microsoft.com/office/drawing/2014/main" id="{34AC9F29-2B4C-2438-1373-9270406D8398}"/>
              </a:ext>
            </a:extLst>
          </p:cNvPr>
          <p:cNvSpPr txBox="1"/>
          <p:nvPr/>
        </p:nvSpPr>
        <p:spPr>
          <a:xfrm>
            <a:off x="1298831" y="3585420"/>
            <a:ext cx="1173254" cy="298647"/>
          </a:xfrm>
          <a:prstGeom prst="rect">
            <a:avLst/>
          </a:prstGeom>
          <a:noFill/>
        </p:spPr>
        <p:txBody>
          <a:bodyPr wrap="square" lIns="18000" tIns="9000" rIns="18000" bIns="9000" rtlCol="0" anchor="t"/>
          <a:lstStyle/>
          <a:p>
            <a:pPr algn="ctr"/>
            <a:r>
              <a:rPr kumimoji="1" lang="ja-JP" altLang="en-US" sz="900" dirty="0">
                <a:solidFill>
                  <a:schemeClr val="tx1"/>
                </a:solidFill>
                <a:latin typeface="游ゴシック" panose="020B0400000000000000" pitchFamily="50" charset="-128"/>
                <a:ea typeface="游ゴシック" panose="020B0400000000000000" pitchFamily="50" charset="-128"/>
              </a:rPr>
              <a:t>前ページNo.1</a:t>
            </a:r>
          </a:p>
        </p:txBody>
      </p:sp>
      <p:sp>
        <p:nvSpPr>
          <p:cNvPr id="96" name="正方形/長方形 部署">
            <a:extLst>
              <a:ext uri="{FF2B5EF4-FFF2-40B4-BE49-F238E27FC236}">
                <a16:creationId xmlns:a16="http://schemas.microsoft.com/office/drawing/2014/main" id="{9346AA1A-19F7-7C1B-0897-C86613345532}"/>
              </a:ext>
            </a:extLst>
          </p:cNvPr>
          <p:cNvSpPr/>
          <p:nvPr/>
        </p:nvSpPr>
        <p:spPr>
          <a:xfrm>
            <a:off x="2898723" y="2774808"/>
            <a:ext cx="2879806" cy="4106390"/>
          </a:xfrm>
          <a:prstGeom prst="rect">
            <a:avLst/>
          </a:prstGeom>
          <a:solidFill>
            <a:srgbClr val="DEEBF7"/>
          </a:solidFill>
          <a:ln w="9525">
            <a:solidFill>
              <a:srgbClr val="0070C0"/>
            </a:solidFill>
          </a:ln>
        </p:spPr>
        <p:txBody>
          <a:bodyPr wrap="square" rtlCol="0" anchor="t"/>
          <a:lstStyle/>
          <a:p>
            <a:endParaRPr lang="ja-JP" altLang="en-US">
              <a:latin typeface="游ゴシック" panose="020B0400000000000000" pitchFamily="50" charset="-128"/>
              <a:ea typeface="游ゴシック" panose="020B0400000000000000" pitchFamily="50" charset="-128"/>
            </a:endParaRPr>
          </a:p>
        </p:txBody>
      </p:sp>
      <p:sp>
        <p:nvSpPr>
          <p:cNvPr id="97" name="テキストボックス 部署名">
            <a:extLst>
              <a:ext uri="{FF2B5EF4-FFF2-40B4-BE49-F238E27FC236}">
                <a16:creationId xmlns:a16="http://schemas.microsoft.com/office/drawing/2014/main" id="{D4246F17-02F7-3EFC-69A9-D0A8A7BCD5F6}"/>
              </a:ext>
            </a:extLst>
          </p:cNvPr>
          <p:cNvSpPr txBox="1"/>
          <p:nvPr/>
        </p:nvSpPr>
        <p:spPr>
          <a:xfrm>
            <a:off x="2930721" y="2838804"/>
            <a:ext cx="2815810" cy="266649"/>
          </a:xfrm>
          <a:prstGeom prst="rect">
            <a:avLst/>
          </a:prstGeom>
          <a:noFill/>
        </p:spPr>
        <p:txBody>
          <a:bodyPr wrap="square" lIns="36000" tIns="18000" rIns="36000" bIns="18000" rtlCol="0" anchor="t"/>
          <a:lstStyle/>
          <a:p>
            <a:pPr algn="l"/>
            <a:r>
              <a:rPr kumimoji="1" lang="ja-JP" altLang="en-US" sz="1000" dirty="0">
                <a:solidFill>
                  <a:schemeClr val="tx1"/>
                </a:solidFill>
                <a:latin typeface="游ゴシック" panose="020B0400000000000000" pitchFamily="50" charset="-128"/>
                <a:ea typeface="游ゴシック" panose="020B0400000000000000" pitchFamily="50" charset="-128"/>
              </a:rPr>
              <a:t>企画制作部</a:t>
            </a:r>
          </a:p>
        </p:txBody>
      </p:sp>
      <p:sp>
        <p:nvSpPr>
          <p:cNvPr id="98" name="テキストボックス 注記">
            <a:extLst>
              <a:ext uri="{FF2B5EF4-FFF2-40B4-BE49-F238E27FC236}">
                <a16:creationId xmlns:a16="http://schemas.microsoft.com/office/drawing/2014/main" id="{87BD5817-3F9F-7822-82D7-7EAD462E6562}"/>
              </a:ext>
            </a:extLst>
          </p:cNvPr>
          <p:cNvSpPr txBox="1"/>
          <p:nvPr/>
        </p:nvSpPr>
        <p:spPr>
          <a:xfrm>
            <a:off x="3751999" y="2945463"/>
            <a:ext cx="1386573" cy="213319"/>
          </a:xfrm>
          <a:prstGeom prst="rect">
            <a:avLst/>
          </a:prstGeom>
          <a:noFill/>
        </p:spPr>
        <p:txBody>
          <a:bodyPr wrap="square" lIns="18000" tIns="9000" rIns="18000" bIns="9000" rtlCol="0" anchor="t"/>
          <a:lstStyle/>
          <a:p>
            <a:pPr algn="r"/>
            <a:r>
              <a:rPr kumimoji="1" lang="ja-JP" altLang="en-US" sz="900" dirty="0">
                <a:solidFill>
                  <a:schemeClr val="tx1"/>
                </a:solidFill>
                <a:latin typeface="游ゴシック" panose="020B0400000000000000" pitchFamily="50" charset="-128"/>
                <a:ea typeface="游ゴシック" panose="020B0400000000000000" pitchFamily="50" charset="-128"/>
              </a:rPr>
              <a:t>※業務委託</a:t>
            </a:r>
          </a:p>
        </p:txBody>
      </p:sp>
      <p:grpSp>
        <p:nvGrpSpPr>
          <p:cNvPr id="124" name="グループ化 123">
            <a:extLst>
              <a:ext uri="{FF2B5EF4-FFF2-40B4-BE49-F238E27FC236}">
                <a16:creationId xmlns:a16="http://schemas.microsoft.com/office/drawing/2014/main" id="{E54CB8D7-696A-2A00-667B-84D566495D60}"/>
              </a:ext>
            </a:extLst>
          </p:cNvPr>
          <p:cNvGrpSpPr/>
          <p:nvPr/>
        </p:nvGrpSpPr>
        <p:grpSpPr>
          <a:xfrm>
            <a:off x="3751999" y="3180114"/>
            <a:ext cx="1173254" cy="703953"/>
            <a:chOff x="3751999" y="3180114"/>
            <a:chExt cx="1173254" cy="703953"/>
          </a:xfrm>
        </p:grpSpPr>
        <p:sp>
          <p:nvSpPr>
            <p:cNvPr id="99" name="正方形/長方形 役職">
              <a:extLst>
                <a:ext uri="{FF2B5EF4-FFF2-40B4-BE49-F238E27FC236}">
                  <a16:creationId xmlns:a16="http://schemas.microsoft.com/office/drawing/2014/main" id="{B0D60755-643A-C401-417A-6DB5D91C091A}"/>
                </a:ext>
              </a:extLst>
            </p:cNvPr>
            <p:cNvSpPr/>
            <p:nvPr/>
          </p:nvSpPr>
          <p:spPr>
            <a:xfrm>
              <a:off x="3751999" y="3180114"/>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部長</a:t>
              </a:r>
            </a:p>
          </p:txBody>
        </p:sp>
        <p:sp>
          <p:nvSpPr>
            <p:cNvPr id="100" name="テキストボックス No">
              <a:extLst>
                <a:ext uri="{FF2B5EF4-FFF2-40B4-BE49-F238E27FC236}">
                  <a16:creationId xmlns:a16="http://schemas.microsoft.com/office/drawing/2014/main" id="{6A822506-6E26-7E60-D6D1-DF5EDA53E4B1}"/>
                </a:ext>
              </a:extLst>
            </p:cNvPr>
            <p:cNvSpPr txBox="1"/>
            <p:nvPr/>
          </p:nvSpPr>
          <p:spPr>
            <a:xfrm>
              <a:off x="3751999" y="3585420"/>
              <a:ext cx="1173254" cy="298647"/>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前ページNo.2</a:t>
              </a:r>
            </a:p>
          </p:txBody>
        </p:sp>
      </p:grpSp>
      <p:grpSp>
        <p:nvGrpSpPr>
          <p:cNvPr id="123" name="グループ化 122">
            <a:extLst>
              <a:ext uri="{FF2B5EF4-FFF2-40B4-BE49-F238E27FC236}">
                <a16:creationId xmlns:a16="http://schemas.microsoft.com/office/drawing/2014/main" id="{B94D5E88-0336-974F-835F-F3A77ABF3FC0}"/>
              </a:ext>
            </a:extLst>
          </p:cNvPr>
          <p:cNvGrpSpPr/>
          <p:nvPr/>
        </p:nvGrpSpPr>
        <p:grpSpPr>
          <a:xfrm>
            <a:off x="3751999" y="4108052"/>
            <a:ext cx="1173254" cy="703953"/>
            <a:chOff x="3751999" y="4172047"/>
            <a:chExt cx="1173254" cy="703953"/>
          </a:xfrm>
        </p:grpSpPr>
        <p:sp>
          <p:nvSpPr>
            <p:cNvPr id="101" name="正方形/長方形 役職">
              <a:extLst>
                <a:ext uri="{FF2B5EF4-FFF2-40B4-BE49-F238E27FC236}">
                  <a16:creationId xmlns:a16="http://schemas.microsoft.com/office/drawing/2014/main" id="{0108B692-2445-CFB8-8E80-B331A4FC1A5D}"/>
                </a:ext>
              </a:extLst>
            </p:cNvPr>
            <p:cNvSpPr/>
            <p:nvPr/>
          </p:nvSpPr>
          <p:spPr>
            <a:xfrm>
              <a:off x="3751999" y="4172047"/>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マネージャー</a:t>
              </a:r>
            </a:p>
          </p:txBody>
        </p:sp>
        <p:sp>
          <p:nvSpPr>
            <p:cNvPr id="102" name="テキストボックス No">
              <a:extLst>
                <a:ext uri="{FF2B5EF4-FFF2-40B4-BE49-F238E27FC236}">
                  <a16:creationId xmlns:a16="http://schemas.microsoft.com/office/drawing/2014/main" id="{E932028C-2913-3CE3-AFBA-E8D8D24E485A}"/>
                </a:ext>
              </a:extLst>
            </p:cNvPr>
            <p:cNvSpPr txBox="1"/>
            <p:nvPr/>
          </p:nvSpPr>
          <p:spPr>
            <a:xfrm>
              <a:off x="3751999" y="4577353"/>
              <a:ext cx="1173254" cy="298647"/>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前ページNo.3</a:t>
              </a:r>
            </a:p>
          </p:txBody>
        </p:sp>
      </p:grpSp>
      <p:grpSp>
        <p:nvGrpSpPr>
          <p:cNvPr id="122" name="グループ化 121">
            <a:extLst>
              <a:ext uri="{FF2B5EF4-FFF2-40B4-BE49-F238E27FC236}">
                <a16:creationId xmlns:a16="http://schemas.microsoft.com/office/drawing/2014/main" id="{F6BCCAE8-608F-31C2-CB0A-B7CCE3063883}"/>
              </a:ext>
            </a:extLst>
          </p:cNvPr>
          <p:cNvGrpSpPr/>
          <p:nvPr/>
        </p:nvGrpSpPr>
        <p:grpSpPr>
          <a:xfrm>
            <a:off x="3751999" y="5035990"/>
            <a:ext cx="1173254" cy="810612"/>
            <a:chOff x="3751999" y="5163980"/>
            <a:chExt cx="1173254" cy="810612"/>
          </a:xfrm>
        </p:grpSpPr>
        <p:sp>
          <p:nvSpPr>
            <p:cNvPr id="103" name="正方形/長方形 役職">
              <a:extLst>
                <a:ext uri="{FF2B5EF4-FFF2-40B4-BE49-F238E27FC236}">
                  <a16:creationId xmlns:a16="http://schemas.microsoft.com/office/drawing/2014/main" id="{13CEB493-2224-7AC9-9FFF-2290E16C8D1C}"/>
                </a:ext>
              </a:extLst>
            </p:cNvPr>
            <p:cNvSpPr/>
            <p:nvPr/>
          </p:nvSpPr>
          <p:spPr>
            <a:xfrm>
              <a:off x="3751999" y="5163980"/>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主査</a:t>
              </a:r>
            </a:p>
          </p:txBody>
        </p:sp>
        <p:sp>
          <p:nvSpPr>
            <p:cNvPr id="104" name="テキストボックス No">
              <a:extLst>
                <a:ext uri="{FF2B5EF4-FFF2-40B4-BE49-F238E27FC236}">
                  <a16:creationId xmlns:a16="http://schemas.microsoft.com/office/drawing/2014/main" id="{BE0576A6-EE26-9F9C-FE04-F742428283E6}"/>
                </a:ext>
              </a:extLst>
            </p:cNvPr>
            <p:cNvSpPr txBox="1"/>
            <p:nvPr/>
          </p:nvSpPr>
          <p:spPr>
            <a:xfrm>
              <a:off x="3751999" y="5569286"/>
              <a:ext cx="1173254" cy="405306"/>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
No.4~6(3名)</a:t>
              </a:r>
            </a:p>
          </p:txBody>
        </p:sp>
      </p:grpSp>
      <p:grpSp>
        <p:nvGrpSpPr>
          <p:cNvPr id="121" name="グループ化 120">
            <a:extLst>
              <a:ext uri="{FF2B5EF4-FFF2-40B4-BE49-F238E27FC236}">
                <a16:creationId xmlns:a16="http://schemas.microsoft.com/office/drawing/2014/main" id="{DC0B064F-5FAF-2A87-79B1-F13BDB26A9C0}"/>
              </a:ext>
            </a:extLst>
          </p:cNvPr>
          <p:cNvGrpSpPr/>
          <p:nvPr/>
        </p:nvGrpSpPr>
        <p:grpSpPr>
          <a:xfrm>
            <a:off x="3751999" y="6070586"/>
            <a:ext cx="1173254" cy="810612"/>
            <a:chOff x="3751999" y="6262573"/>
            <a:chExt cx="1173254" cy="810612"/>
          </a:xfrm>
        </p:grpSpPr>
        <p:sp>
          <p:nvSpPr>
            <p:cNvPr id="105" name="正方形/長方形 役職">
              <a:extLst>
                <a:ext uri="{FF2B5EF4-FFF2-40B4-BE49-F238E27FC236}">
                  <a16:creationId xmlns:a16="http://schemas.microsoft.com/office/drawing/2014/main" id="{C6AF134D-3813-E032-1ACA-4BF265CDB128}"/>
                </a:ext>
              </a:extLst>
            </p:cNvPr>
            <p:cNvSpPr/>
            <p:nvPr/>
          </p:nvSpPr>
          <p:spPr>
            <a:xfrm>
              <a:off x="3751999" y="6262573"/>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担当</a:t>
              </a:r>
            </a:p>
          </p:txBody>
        </p:sp>
        <p:sp>
          <p:nvSpPr>
            <p:cNvPr id="106" name="テキストボックス No">
              <a:extLst>
                <a:ext uri="{FF2B5EF4-FFF2-40B4-BE49-F238E27FC236}">
                  <a16:creationId xmlns:a16="http://schemas.microsoft.com/office/drawing/2014/main" id="{2B40F722-045B-DDE2-42E2-540594CCC56F}"/>
                </a:ext>
              </a:extLst>
            </p:cNvPr>
            <p:cNvSpPr txBox="1"/>
            <p:nvPr/>
          </p:nvSpPr>
          <p:spPr>
            <a:xfrm>
              <a:off x="3751999" y="6667879"/>
              <a:ext cx="1173254" cy="405306"/>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
No.7~9(3名)</a:t>
              </a:r>
            </a:p>
          </p:txBody>
        </p:sp>
      </p:grpSp>
      <p:sp>
        <p:nvSpPr>
          <p:cNvPr id="107" name="正方形/長方形 部署">
            <a:extLst>
              <a:ext uri="{FF2B5EF4-FFF2-40B4-BE49-F238E27FC236}">
                <a16:creationId xmlns:a16="http://schemas.microsoft.com/office/drawing/2014/main" id="{D432F2B8-8C81-C680-42DA-3E7FD2A19597}"/>
              </a:ext>
            </a:extLst>
          </p:cNvPr>
          <p:cNvSpPr/>
          <p:nvPr/>
        </p:nvSpPr>
        <p:spPr>
          <a:xfrm>
            <a:off x="5991847" y="2774808"/>
            <a:ext cx="3786411" cy="4106390"/>
          </a:xfrm>
          <a:prstGeom prst="rect">
            <a:avLst/>
          </a:prstGeom>
          <a:solidFill>
            <a:srgbClr val="DEEBF7"/>
          </a:solidFill>
          <a:ln w="9525">
            <a:solidFill>
              <a:srgbClr val="0070C0"/>
            </a:solidFill>
          </a:ln>
        </p:spPr>
        <p:txBody>
          <a:bodyPr wrap="square" rtlCol="0" anchor="t"/>
          <a:lstStyle/>
          <a:p>
            <a:endParaRPr lang="ja-JP" altLang="en-US">
              <a:latin typeface="游ゴシック" panose="020B0400000000000000" pitchFamily="50" charset="-128"/>
              <a:ea typeface="游ゴシック" panose="020B0400000000000000" pitchFamily="50" charset="-128"/>
            </a:endParaRPr>
          </a:p>
        </p:txBody>
      </p:sp>
      <p:sp>
        <p:nvSpPr>
          <p:cNvPr id="108" name="テキストボックス 部署名">
            <a:extLst>
              <a:ext uri="{FF2B5EF4-FFF2-40B4-BE49-F238E27FC236}">
                <a16:creationId xmlns:a16="http://schemas.microsoft.com/office/drawing/2014/main" id="{09B7C89C-AED4-2D90-04AB-C331CCF79776}"/>
              </a:ext>
            </a:extLst>
          </p:cNvPr>
          <p:cNvSpPr txBox="1"/>
          <p:nvPr/>
        </p:nvSpPr>
        <p:spPr>
          <a:xfrm>
            <a:off x="6023845" y="2838804"/>
            <a:ext cx="3722416" cy="266649"/>
          </a:xfrm>
          <a:prstGeom prst="rect">
            <a:avLst/>
          </a:prstGeom>
          <a:noFill/>
        </p:spPr>
        <p:txBody>
          <a:bodyPr wrap="square" lIns="36000" tIns="18000" rIns="36000" bIns="18000" rtlCol="0" anchor="t"/>
          <a:lstStyle/>
          <a:p>
            <a:pPr algn="l"/>
            <a:r>
              <a:rPr kumimoji="1" lang="ja-JP" altLang="en-US" sz="1000" dirty="0">
                <a:solidFill>
                  <a:schemeClr val="tx1"/>
                </a:solidFill>
                <a:latin typeface="游ゴシック" panose="020B0400000000000000" pitchFamily="50" charset="-128"/>
                <a:ea typeface="游ゴシック" panose="020B0400000000000000" pitchFamily="50" charset="-128"/>
              </a:rPr>
              <a:t>Data＆Digital Growth事業部</a:t>
            </a:r>
          </a:p>
        </p:txBody>
      </p:sp>
      <p:sp>
        <p:nvSpPr>
          <p:cNvPr id="109" name="正方形/長方形 役職">
            <a:extLst>
              <a:ext uri="{FF2B5EF4-FFF2-40B4-BE49-F238E27FC236}">
                <a16:creationId xmlns:a16="http://schemas.microsoft.com/office/drawing/2014/main" id="{CB77B155-ABC7-4DBA-30C1-2EB6E6B01102}"/>
              </a:ext>
            </a:extLst>
          </p:cNvPr>
          <p:cNvSpPr/>
          <p:nvPr/>
        </p:nvSpPr>
        <p:spPr>
          <a:xfrm>
            <a:off x="7298426" y="3180114"/>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部長</a:t>
            </a:r>
          </a:p>
        </p:txBody>
      </p:sp>
      <p:sp>
        <p:nvSpPr>
          <p:cNvPr id="110" name="テキストボックス No">
            <a:extLst>
              <a:ext uri="{FF2B5EF4-FFF2-40B4-BE49-F238E27FC236}">
                <a16:creationId xmlns:a16="http://schemas.microsoft.com/office/drawing/2014/main" id="{F3983A7D-77FE-74CA-3F40-BC56F854FF2C}"/>
              </a:ext>
            </a:extLst>
          </p:cNvPr>
          <p:cNvSpPr txBox="1"/>
          <p:nvPr/>
        </p:nvSpPr>
        <p:spPr>
          <a:xfrm>
            <a:off x="7298426" y="3585420"/>
            <a:ext cx="1173254" cy="298647"/>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前ページNo.10</a:t>
            </a:r>
          </a:p>
        </p:txBody>
      </p:sp>
      <p:sp>
        <p:nvSpPr>
          <p:cNvPr id="111" name="正方形/長方形 役職">
            <a:extLst>
              <a:ext uri="{FF2B5EF4-FFF2-40B4-BE49-F238E27FC236}">
                <a16:creationId xmlns:a16="http://schemas.microsoft.com/office/drawing/2014/main" id="{C6FC6D58-9F73-CEA1-E612-CB653D290201}"/>
              </a:ext>
            </a:extLst>
          </p:cNvPr>
          <p:cNvSpPr/>
          <p:nvPr/>
        </p:nvSpPr>
        <p:spPr>
          <a:xfrm>
            <a:off x="7298426" y="4172047"/>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マネージャー</a:t>
            </a:r>
          </a:p>
        </p:txBody>
      </p:sp>
      <p:sp>
        <p:nvSpPr>
          <p:cNvPr id="112" name="テキストボックス No">
            <a:extLst>
              <a:ext uri="{FF2B5EF4-FFF2-40B4-BE49-F238E27FC236}">
                <a16:creationId xmlns:a16="http://schemas.microsoft.com/office/drawing/2014/main" id="{AD665E93-AEE0-2F34-013B-4CB9C8DB121B}"/>
              </a:ext>
            </a:extLst>
          </p:cNvPr>
          <p:cNvSpPr txBox="1"/>
          <p:nvPr/>
        </p:nvSpPr>
        <p:spPr>
          <a:xfrm>
            <a:off x="7298426" y="4577353"/>
            <a:ext cx="1173254" cy="298647"/>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前ページNo.11</a:t>
            </a:r>
          </a:p>
        </p:txBody>
      </p:sp>
      <p:sp>
        <p:nvSpPr>
          <p:cNvPr id="113" name="正方形/長方形 役職">
            <a:extLst>
              <a:ext uri="{FF2B5EF4-FFF2-40B4-BE49-F238E27FC236}">
                <a16:creationId xmlns:a16="http://schemas.microsoft.com/office/drawing/2014/main" id="{D433D682-EB70-8734-3A44-40278960A216}"/>
              </a:ext>
            </a:extLst>
          </p:cNvPr>
          <p:cNvSpPr/>
          <p:nvPr/>
        </p:nvSpPr>
        <p:spPr>
          <a:xfrm>
            <a:off x="7298426" y="5163980"/>
            <a:ext cx="1173254" cy="373308"/>
          </a:xfrm>
          <a:prstGeom prst="rect">
            <a:avLst/>
          </a:prstGeom>
          <a:solidFill>
            <a:srgbClr val="00B0F0"/>
          </a:solidFill>
          <a:ln>
            <a:noFill/>
          </a:ln>
        </p:spPr>
        <p:txBody>
          <a:bodyPr wrap="none" rtlCol="0" anchor="ctr"/>
          <a:lstStyle/>
          <a:p>
            <a:pPr algn="ctr"/>
            <a:r>
              <a:rPr kumimoji="1" lang="ja-JP" altLang="en-US" sz="1000" b="1" dirty="0">
                <a:solidFill>
                  <a:schemeClr val="bg1"/>
                </a:solidFill>
                <a:latin typeface="游ゴシック" panose="020B0400000000000000" pitchFamily="50" charset="-128"/>
                <a:ea typeface="游ゴシック" panose="020B0400000000000000" pitchFamily="50" charset="-128"/>
              </a:rPr>
              <a:t>担当</a:t>
            </a:r>
          </a:p>
        </p:txBody>
      </p:sp>
      <p:sp>
        <p:nvSpPr>
          <p:cNvPr id="114" name="テキストボックス No">
            <a:extLst>
              <a:ext uri="{FF2B5EF4-FFF2-40B4-BE49-F238E27FC236}">
                <a16:creationId xmlns:a16="http://schemas.microsoft.com/office/drawing/2014/main" id="{4CD686A7-4CE2-90B9-77A1-0C03966A3D85}"/>
              </a:ext>
            </a:extLst>
          </p:cNvPr>
          <p:cNvSpPr txBox="1"/>
          <p:nvPr/>
        </p:nvSpPr>
        <p:spPr>
          <a:xfrm>
            <a:off x="7298426" y="5569286"/>
            <a:ext cx="1173254" cy="405306"/>
          </a:xfrm>
          <a:prstGeom prst="rect">
            <a:avLst/>
          </a:prstGeom>
          <a:noFill/>
        </p:spPr>
        <p:txBody>
          <a:bodyPr wrap="square" lIns="18000" tIns="9000" rIns="18000" bIns="9000" rtlCol="0" anchor="t"/>
          <a:lstStyle/>
          <a:p>
            <a:pPr algn="ctr"/>
            <a:r>
              <a:rPr kumimoji="1" lang="ja-JP" altLang="en-US" sz="900" dirty="0">
                <a:latin typeface="游ゴシック" panose="020B0400000000000000" pitchFamily="50" charset="-128"/>
                <a:ea typeface="游ゴシック" panose="020B0400000000000000" pitchFamily="50" charset="-128"/>
              </a:rPr>
              <a:t>前ページ
No.12~18(7名)</a:t>
            </a:r>
          </a:p>
        </p:txBody>
      </p:sp>
      <p:sp>
        <p:nvSpPr>
          <p:cNvPr id="125" name="タイトル 1">
            <a:extLst>
              <a:ext uri="{FF2B5EF4-FFF2-40B4-BE49-F238E27FC236}">
                <a16:creationId xmlns:a16="http://schemas.microsoft.com/office/drawing/2014/main" id="{1078B3C6-E892-7E1F-F0AA-57135FACA5A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
        <p:nvSpPr>
          <p:cNvPr id="4" name="タイトル 1">
            <a:extLst>
              <a:ext uri="{FF2B5EF4-FFF2-40B4-BE49-F238E27FC236}">
                <a16:creationId xmlns:a16="http://schemas.microsoft.com/office/drawing/2014/main" id="{BFF8385F-FEFF-181D-1EA9-38391DFBD17A}"/>
              </a:ext>
            </a:extLst>
          </p:cNvPr>
          <p:cNvSpPr txBox="1">
            <a:spLocks/>
          </p:cNvSpPr>
          <p:nvPr/>
        </p:nvSpPr>
        <p:spPr>
          <a:xfrm>
            <a:off x="6955332" y="3268895"/>
            <a:ext cx="315246" cy="2418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000" dirty="0">
                <a:solidFill>
                  <a:srgbClr val="0070C0"/>
                </a:solidFill>
                <a:latin typeface="游ゴシック" panose="020B0400000000000000" pitchFamily="50" charset="-128"/>
                <a:ea typeface="游ゴシック" panose="020B0400000000000000" pitchFamily="50" charset="-128"/>
              </a:rPr>
              <a:t>★</a:t>
            </a:r>
            <a:endParaRPr lang="en-US" altLang="ja-JP" sz="1000" dirty="0">
              <a:latin typeface="游ゴシック" panose="020B0400000000000000" pitchFamily="50" charset="-128"/>
              <a:ea typeface="游ゴシック" panose="020B0400000000000000" pitchFamily="50" charset="-128"/>
            </a:endParaRPr>
          </a:p>
        </p:txBody>
      </p:sp>
      <p:sp>
        <p:nvSpPr>
          <p:cNvPr id="8" name="タイトル 1">
            <a:extLst>
              <a:ext uri="{FF2B5EF4-FFF2-40B4-BE49-F238E27FC236}">
                <a16:creationId xmlns:a16="http://schemas.microsoft.com/office/drawing/2014/main" id="{8413E0AB-B8A5-C03C-8900-E31BD9EAC148}"/>
              </a:ext>
            </a:extLst>
          </p:cNvPr>
          <p:cNvSpPr txBox="1">
            <a:spLocks/>
          </p:cNvSpPr>
          <p:nvPr/>
        </p:nvSpPr>
        <p:spPr>
          <a:xfrm>
            <a:off x="6955332" y="4271497"/>
            <a:ext cx="315246" cy="2418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000" dirty="0">
                <a:solidFill>
                  <a:srgbClr val="0070C0"/>
                </a:solidFill>
                <a:latin typeface="游ゴシック" panose="020B0400000000000000" pitchFamily="50" charset="-128"/>
                <a:ea typeface="游ゴシック" panose="020B0400000000000000" pitchFamily="50" charset="-128"/>
              </a:rPr>
              <a:t>★</a:t>
            </a:r>
            <a:endParaRPr lang="en-US" altLang="ja-JP" sz="1000" dirty="0">
              <a:latin typeface="游ゴシック" panose="020B0400000000000000" pitchFamily="50" charset="-128"/>
              <a:ea typeface="游ゴシック" panose="020B0400000000000000" pitchFamily="50" charset="-128"/>
            </a:endParaRPr>
          </a:p>
        </p:txBody>
      </p:sp>
      <p:sp>
        <p:nvSpPr>
          <p:cNvPr id="10" name="タイトル 1">
            <a:extLst>
              <a:ext uri="{FF2B5EF4-FFF2-40B4-BE49-F238E27FC236}">
                <a16:creationId xmlns:a16="http://schemas.microsoft.com/office/drawing/2014/main" id="{44E7D6BD-5C36-36CA-95CB-83FD8ADC4CEF}"/>
              </a:ext>
            </a:extLst>
          </p:cNvPr>
          <p:cNvSpPr txBox="1">
            <a:spLocks/>
          </p:cNvSpPr>
          <p:nvPr/>
        </p:nvSpPr>
        <p:spPr>
          <a:xfrm>
            <a:off x="3436753" y="3236897"/>
            <a:ext cx="315246" cy="2418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000" dirty="0">
                <a:solidFill>
                  <a:srgbClr val="0070C0"/>
                </a:solidFill>
                <a:latin typeface="游ゴシック" panose="020B0400000000000000" pitchFamily="50" charset="-128"/>
                <a:ea typeface="游ゴシック" panose="020B0400000000000000" pitchFamily="50" charset="-128"/>
              </a:rPr>
              <a:t>★</a:t>
            </a:r>
            <a:endParaRPr lang="en-US" altLang="ja-JP" sz="1000" dirty="0">
              <a:latin typeface="游ゴシック" panose="020B0400000000000000" pitchFamily="50" charset="-128"/>
              <a:ea typeface="游ゴシック" panose="020B0400000000000000" pitchFamily="50" charset="-128"/>
            </a:endParaRPr>
          </a:p>
        </p:txBody>
      </p:sp>
      <p:sp>
        <p:nvSpPr>
          <p:cNvPr id="12" name="タイトル 1">
            <a:extLst>
              <a:ext uri="{FF2B5EF4-FFF2-40B4-BE49-F238E27FC236}">
                <a16:creationId xmlns:a16="http://schemas.microsoft.com/office/drawing/2014/main" id="{EE438FEF-81F4-EFCB-0954-938F73DB5DBE}"/>
              </a:ext>
            </a:extLst>
          </p:cNvPr>
          <p:cNvSpPr txBox="1">
            <a:spLocks/>
          </p:cNvSpPr>
          <p:nvPr/>
        </p:nvSpPr>
        <p:spPr>
          <a:xfrm>
            <a:off x="3436753" y="4239499"/>
            <a:ext cx="315246" cy="2418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000" dirty="0">
                <a:solidFill>
                  <a:srgbClr val="0070C0"/>
                </a:solidFill>
                <a:latin typeface="游ゴシック" panose="020B0400000000000000" pitchFamily="50" charset="-128"/>
                <a:ea typeface="游ゴシック" panose="020B0400000000000000" pitchFamily="50" charset="-128"/>
              </a:rPr>
              <a:t>★</a:t>
            </a:r>
            <a:endParaRPr lang="en-US" altLang="ja-JP" sz="1000" dirty="0">
              <a:latin typeface="游ゴシック" panose="020B0400000000000000" pitchFamily="50" charset="-128"/>
              <a:ea typeface="游ゴシック" panose="020B0400000000000000" pitchFamily="50" charset="-128"/>
            </a:endParaRPr>
          </a:p>
        </p:txBody>
      </p:sp>
      <p:sp>
        <p:nvSpPr>
          <p:cNvPr id="3" name="正方形/長方形 2">
            <a:extLst>
              <a:ext uri="{FF2B5EF4-FFF2-40B4-BE49-F238E27FC236}">
                <a16:creationId xmlns:a16="http://schemas.microsoft.com/office/drawing/2014/main" id="{C1DC000A-0992-39CD-0724-C1E8B65AE9E2}"/>
              </a:ext>
            </a:extLst>
          </p:cNvPr>
          <p:cNvSpPr/>
          <p:nvPr/>
        </p:nvSpPr>
        <p:spPr>
          <a:xfrm>
            <a:off x="10885010" y="1441536"/>
            <a:ext cx="1437977" cy="603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修正済み</a:t>
            </a:r>
          </a:p>
        </p:txBody>
      </p:sp>
    </p:spTree>
    <p:extLst>
      <p:ext uri="{BB962C8B-B14F-4D97-AF65-F5344CB8AC3E}">
        <p14:creationId xmlns:p14="http://schemas.microsoft.com/office/powerpoint/2010/main" val="2728612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1151" y="163550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1151" y="376322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8" name="字幕 13">
            <a:extLst>
              <a:ext uri="{FF2B5EF4-FFF2-40B4-BE49-F238E27FC236}">
                <a16:creationId xmlns:a16="http://schemas.microsoft.com/office/drawing/2014/main" id="{B2B57451-0F79-4EA4-E5F7-DD3BE659A77B}"/>
              </a:ext>
            </a:extLst>
          </p:cNvPr>
          <p:cNvSpPr>
            <a:spLocks noGrp="1"/>
          </p:cNvSpPr>
          <p:nvPr>
            <p:ph type="subTitle" idx="1"/>
          </p:nvPr>
        </p:nvSpPr>
        <p:spPr>
          <a:xfrm>
            <a:off x="460675" y="830046"/>
            <a:ext cx="9781875" cy="588454"/>
          </a:xfrm>
        </p:spPr>
        <p:txBody>
          <a:bodyPr>
            <a:noAutofit/>
          </a:bodyPr>
          <a:lstStyle/>
          <a:p>
            <a:r>
              <a:rPr lang="ja-JP" altLang="en-US" dirty="0"/>
              <a:t>対象会社株式（900株）は新設分割の対価として分割会社株主の倉田様へ配当され、倉田様が100%保有。前代表の原田様は2026年5月末に退任済み。加藤様は譲渡後も継続勤務し、提案統括・一部PM業務を担う見込み。</a:t>
            </a:r>
            <a:endParaRPr lang="en-US" altLang="ja-JP" dirty="0"/>
          </a:p>
        </p:txBody>
      </p:sp>
      <p:graphicFrame>
        <p:nvGraphicFramePr>
          <p:cNvPr id="5" name="表 4">
            <a:extLst>
              <a:ext uri="{FF2B5EF4-FFF2-40B4-BE49-F238E27FC236}">
                <a16:creationId xmlns:a16="http://schemas.microsoft.com/office/drawing/2014/main" id="{0E7D012C-F5C2-B7A2-9AC4-2352D2CEAAD8}"/>
              </a:ext>
            </a:extLst>
          </p:cNvPr>
          <p:cNvGraphicFramePr>
            <a:graphicFrameLocks noGrp="1"/>
          </p:cNvGraphicFramePr>
          <p:nvPr>
            <p:extLst>
              <p:ext uri="{D42A27DB-BD31-4B8C-83A1-F6EECF244321}">
                <p14:modId xmlns:p14="http://schemas.microsoft.com/office/powerpoint/2010/main" val="2063115268"/>
              </p:ext>
            </p:extLst>
          </p:nvPr>
        </p:nvGraphicFramePr>
        <p:xfrm>
          <a:off x="311150" y="2355500"/>
          <a:ext cx="10039349" cy="844127"/>
        </p:xfrm>
        <a:graphic>
          <a:graphicData uri="http://schemas.openxmlformats.org/drawingml/2006/table">
            <a:tbl>
              <a:tblPr/>
              <a:tblGrid>
                <a:gridCol w="432976">
                  <a:extLst>
                    <a:ext uri="{9D8B030D-6E8A-4147-A177-3AD203B41FA5}">
                      <a16:colId xmlns:a16="http://schemas.microsoft.com/office/drawing/2014/main" val="1085286723"/>
                    </a:ext>
                  </a:extLst>
                </a:gridCol>
                <a:gridCol w="1454801">
                  <a:extLst>
                    <a:ext uri="{9D8B030D-6E8A-4147-A177-3AD203B41FA5}">
                      <a16:colId xmlns:a16="http://schemas.microsoft.com/office/drawing/2014/main" val="2280991065"/>
                    </a:ext>
                  </a:extLst>
                </a:gridCol>
                <a:gridCol w="1476559">
                  <a:extLst>
                    <a:ext uri="{9D8B030D-6E8A-4147-A177-3AD203B41FA5}">
                      <a16:colId xmlns:a16="http://schemas.microsoft.com/office/drawing/2014/main" val="1031547083"/>
                    </a:ext>
                  </a:extLst>
                </a:gridCol>
                <a:gridCol w="1557992">
                  <a:extLst>
                    <a:ext uri="{9D8B030D-6E8A-4147-A177-3AD203B41FA5}">
                      <a16:colId xmlns:a16="http://schemas.microsoft.com/office/drawing/2014/main" val="2697323618"/>
                    </a:ext>
                  </a:extLst>
                </a:gridCol>
                <a:gridCol w="1340424">
                  <a:extLst>
                    <a:ext uri="{9D8B030D-6E8A-4147-A177-3AD203B41FA5}">
                      <a16:colId xmlns:a16="http://schemas.microsoft.com/office/drawing/2014/main" val="450804140"/>
                    </a:ext>
                  </a:extLst>
                </a:gridCol>
                <a:gridCol w="1340424">
                  <a:extLst>
                    <a:ext uri="{9D8B030D-6E8A-4147-A177-3AD203B41FA5}">
                      <a16:colId xmlns:a16="http://schemas.microsoft.com/office/drawing/2014/main" val="3980722323"/>
                    </a:ext>
                  </a:extLst>
                </a:gridCol>
                <a:gridCol w="2436173">
                  <a:extLst>
                    <a:ext uri="{9D8B030D-6E8A-4147-A177-3AD203B41FA5}">
                      <a16:colId xmlns:a16="http://schemas.microsoft.com/office/drawing/2014/main" val="1882683038"/>
                    </a:ext>
                  </a:extLst>
                </a:gridCol>
              </a:tblGrid>
              <a:tr h="482358">
                <a:tc>
                  <a:txBody>
                    <a:bodyPr/>
                    <a:lstStyle/>
                    <a:p>
                      <a:pPr algn="ctr" fontAlgn="ctr"/>
                      <a:r>
                        <a:rPr 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No.</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名称</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代表者との関係</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本件の認識</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持ち株数</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保有割合</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備考</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EEAF6"/>
                    </a:solidFill>
                  </a:tcPr>
                </a:tc>
                <a:extLst>
                  <a:ext uri="{0D108BD9-81ED-4DB2-BD59-A6C34878D82A}">
                    <a16:rowId xmlns:a16="http://schemas.microsoft.com/office/drawing/2014/main" val="3627117696"/>
                  </a:ext>
                </a:extLst>
              </a:tr>
              <a:tr h="361769">
                <a:tc>
                  <a:txBody>
                    <a:bodyPr/>
                    <a:lstStyle/>
                    <a:p>
                      <a:pPr algn="ctr" fontAlgn="ctr"/>
                      <a:r>
                        <a:rPr lang="en-US" altLang="ja-JP" sz="1200" b="0" i="0" u="none" strike="noStrike" dirty="0">
                          <a:solidFill>
                            <a:schemeClr val="tx1"/>
                          </a:solidFill>
                          <a:effectLst/>
                          <a:latin typeface="游ゴシック Medium" panose="020B0500000000000000" pitchFamily="50" charset="-128"/>
                          <a:ea typeface="游ゴシック Medium" panose="020B0500000000000000" pitchFamily="50" charset="-128"/>
                        </a:rPr>
                        <a:t>1</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倉田　将志</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第三者</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本件既知</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r" fontAlgn="ctr"/>
                      <a:r>
                        <a:rPr lang="en-US" altLang="ja-JP" sz="1200" b="0" i="0" u="none" strike="noStrike" dirty="0">
                          <a:solidFill>
                            <a:schemeClr val="tx1"/>
                          </a:solidFill>
                          <a:effectLst/>
                          <a:latin typeface="游ゴシック Medium" panose="020B0500000000000000" pitchFamily="50" charset="-128"/>
                          <a:ea typeface="游ゴシック Medium" panose="020B0500000000000000" pitchFamily="50" charset="-128"/>
                        </a:rPr>
                        <a:t>900</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r" fontAlgn="ctr"/>
                      <a:r>
                        <a:rPr lang="en-US" altLang="ja-JP" sz="1200" b="0" i="0" u="none" strike="noStrike" dirty="0">
                          <a:solidFill>
                            <a:schemeClr val="tx1"/>
                          </a:solidFill>
                          <a:effectLst/>
                          <a:latin typeface="游ゴシック Medium" panose="020B0500000000000000" pitchFamily="50" charset="-128"/>
                          <a:ea typeface="游ゴシック Medium" panose="020B0500000000000000" pitchFamily="50" charset="-128"/>
                        </a:rPr>
                        <a:t>100.0%</a:t>
                      </a: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事業への関わりは無し</a:t>
                      </a:r>
                      <a:endParaRPr lang="en-US" altLang="ja-JP" sz="1200" b="0" i="0" u="none" strike="noStrike" dirty="0">
                        <a:solidFill>
                          <a:schemeClr val="tx1"/>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2319148083"/>
                  </a:ext>
                </a:extLst>
              </a:tr>
            </a:tbl>
          </a:graphicData>
        </a:graphic>
      </p:graphicFrame>
      <p:graphicFrame>
        <p:nvGraphicFramePr>
          <p:cNvPr id="7" name="表 6">
            <a:extLst>
              <a:ext uri="{FF2B5EF4-FFF2-40B4-BE49-F238E27FC236}">
                <a16:creationId xmlns:a16="http://schemas.microsoft.com/office/drawing/2014/main" id="{E72F617D-FB44-3052-5A38-336D64BF9625}"/>
              </a:ext>
            </a:extLst>
          </p:cNvPr>
          <p:cNvGraphicFramePr>
            <a:graphicFrameLocks noGrp="1"/>
          </p:cNvGraphicFramePr>
          <p:nvPr>
            <p:extLst>
              <p:ext uri="{D42A27DB-BD31-4B8C-83A1-F6EECF244321}">
                <p14:modId xmlns:p14="http://schemas.microsoft.com/office/powerpoint/2010/main" val="50313778"/>
              </p:ext>
            </p:extLst>
          </p:nvPr>
        </p:nvGraphicFramePr>
        <p:xfrm>
          <a:off x="311150" y="4477812"/>
          <a:ext cx="10039349" cy="936755"/>
        </p:xfrm>
        <a:graphic>
          <a:graphicData uri="http://schemas.openxmlformats.org/drawingml/2006/table">
            <a:tbl>
              <a:tblPr/>
              <a:tblGrid>
                <a:gridCol w="394606">
                  <a:extLst>
                    <a:ext uri="{9D8B030D-6E8A-4147-A177-3AD203B41FA5}">
                      <a16:colId xmlns:a16="http://schemas.microsoft.com/office/drawing/2014/main" val="1121546056"/>
                    </a:ext>
                  </a:extLst>
                </a:gridCol>
                <a:gridCol w="1324410">
                  <a:extLst>
                    <a:ext uri="{9D8B030D-6E8A-4147-A177-3AD203B41FA5}">
                      <a16:colId xmlns:a16="http://schemas.microsoft.com/office/drawing/2014/main" val="3377338546"/>
                    </a:ext>
                  </a:extLst>
                </a:gridCol>
                <a:gridCol w="998605">
                  <a:extLst>
                    <a:ext uri="{9D8B030D-6E8A-4147-A177-3AD203B41FA5}">
                      <a16:colId xmlns:a16="http://schemas.microsoft.com/office/drawing/2014/main" val="3229911716"/>
                    </a:ext>
                  </a:extLst>
                </a:gridCol>
                <a:gridCol w="940047">
                  <a:extLst>
                    <a:ext uri="{9D8B030D-6E8A-4147-A177-3AD203B41FA5}">
                      <a16:colId xmlns:a16="http://schemas.microsoft.com/office/drawing/2014/main" val="3243586808"/>
                    </a:ext>
                  </a:extLst>
                </a:gridCol>
                <a:gridCol w="789952">
                  <a:extLst>
                    <a:ext uri="{9D8B030D-6E8A-4147-A177-3AD203B41FA5}">
                      <a16:colId xmlns:a16="http://schemas.microsoft.com/office/drawing/2014/main" val="2501856059"/>
                    </a:ext>
                  </a:extLst>
                </a:gridCol>
                <a:gridCol w="1331633">
                  <a:extLst>
                    <a:ext uri="{9D8B030D-6E8A-4147-A177-3AD203B41FA5}">
                      <a16:colId xmlns:a16="http://schemas.microsoft.com/office/drawing/2014/main" val="2559526222"/>
                    </a:ext>
                  </a:extLst>
                </a:gridCol>
                <a:gridCol w="2223149">
                  <a:extLst>
                    <a:ext uri="{9D8B030D-6E8A-4147-A177-3AD203B41FA5}">
                      <a16:colId xmlns:a16="http://schemas.microsoft.com/office/drawing/2014/main" val="2467318258"/>
                    </a:ext>
                  </a:extLst>
                </a:gridCol>
                <a:gridCol w="2036947">
                  <a:extLst>
                    <a:ext uri="{9D8B030D-6E8A-4147-A177-3AD203B41FA5}">
                      <a16:colId xmlns:a16="http://schemas.microsoft.com/office/drawing/2014/main" val="2375931432"/>
                    </a:ext>
                  </a:extLst>
                </a:gridCol>
              </a:tblGrid>
              <a:tr h="526992">
                <a:tc>
                  <a:txBody>
                    <a:bodyPr/>
                    <a:lstStyle/>
                    <a:p>
                      <a:pPr algn="ctr" fontAlgn="ctr"/>
                      <a:r>
                        <a:rPr 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No.</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氏名</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役職</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本件の認識</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関係</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役員報酬額</a:t>
                      </a:r>
                      <a:endParaRPr lang="en-US" altLang="ja-JP" sz="1050" b="0" i="0" u="none" strike="noStrike" dirty="0">
                        <a:solidFill>
                          <a:schemeClr val="tx1"/>
                        </a:solidFill>
                        <a:effectLst/>
                        <a:latin typeface="游ゴシック Medium" panose="020B0500000000000000" pitchFamily="50" charset="-128"/>
                        <a:ea typeface="游ゴシック Medium" panose="020B0500000000000000" pitchFamily="50" charset="-128"/>
                      </a:endParaRPr>
                    </a:p>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a:t>
                      </a:r>
                      <a:r>
                        <a:rPr lang="en-US" altLang="ja-JP" sz="1050" b="0" i="0" u="none" strike="noStrike" dirty="0">
                          <a:solidFill>
                            <a:schemeClr val="tx1"/>
                          </a:solidFill>
                          <a:effectLst/>
                          <a:latin typeface="游ゴシック Medium" panose="020B0500000000000000" pitchFamily="50" charset="-128"/>
                          <a:ea typeface="游ゴシック Medium" panose="020B0500000000000000" pitchFamily="50" charset="-128"/>
                        </a:rPr>
                        <a:t>2025</a:t>
                      </a: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年</a:t>
                      </a:r>
                      <a:r>
                        <a:rPr lang="en-US" altLang="ja-JP" sz="1050" b="0" i="0" u="none" strike="noStrike" dirty="0">
                          <a:solidFill>
                            <a:schemeClr val="tx1"/>
                          </a:solidFill>
                          <a:effectLst/>
                          <a:latin typeface="游ゴシック Medium" panose="020B0500000000000000" pitchFamily="50" charset="-128"/>
                          <a:ea typeface="游ゴシック Medium" panose="020B0500000000000000" pitchFamily="50" charset="-128"/>
                        </a:rPr>
                        <a:t>7</a:t>
                      </a: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月期）</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en-US" altLang="ja-JP" sz="1050" b="0" i="0" u="none" strike="noStrike" dirty="0">
                          <a:solidFill>
                            <a:schemeClr val="tx1"/>
                          </a:solidFill>
                          <a:effectLst/>
                          <a:latin typeface="游ゴシック Medium" panose="020B0500000000000000" pitchFamily="50" charset="-128"/>
                          <a:ea typeface="游ゴシック Medium" panose="020B0500000000000000" pitchFamily="50" charset="-128"/>
                        </a:rPr>
                        <a:t>M&amp;A</a:t>
                      </a: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後</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tc>
                  <a:txBody>
                    <a:bodyPr/>
                    <a:lstStyle/>
                    <a:p>
                      <a:pPr algn="ctr" fontAlgn="ctr"/>
                      <a:r>
                        <a:rPr lang="ja-JP" altLang="en-US" sz="1050" b="0" i="0" u="none" strike="noStrike" dirty="0">
                          <a:solidFill>
                            <a:schemeClr val="tx1"/>
                          </a:solidFill>
                          <a:effectLst/>
                          <a:latin typeface="游ゴシック Medium" panose="020B0500000000000000" pitchFamily="50" charset="-128"/>
                          <a:ea typeface="游ゴシック Medium" panose="020B0500000000000000" pitchFamily="50" charset="-128"/>
                        </a:rPr>
                        <a:t>業務内容</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AF6"/>
                    </a:solidFill>
                  </a:tcPr>
                </a:tc>
                <a:extLst>
                  <a:ext uri="{0D108BD9-81ED-4DB2-BD59-A6C34878D82A}">
                    <a16:rowId xmlns:a16="http://schemas.microsoft.com/office/drawing/2014/main" val="1620714294"/>
                  </a:ext>
                </a:extLst>
              </a:tr>
              <a:tr h="409763">
                <a:tc>
                  <a:txBody>
                    <a:bodyPr/>
                    <a:lstStyle/>
                    <a:p>
                      <a:pPr algn="ctr" fontAlgn="ctr"/>
                      <a:r>
                        <a:rPr lang="en-US" altLang="ja-JP" sz="1200" b="0" i="0" u="none" strike="noStrike" dirty="0">
                          <a:solidFill>
                            <a:schemeClr val="tx1"/>
                          </a:solidFill>
                          <a:effectLst/>
                          <a:latin typeface="游ゴシック Medium" panose="020B0500000000000000" pitchFamily="50" charset="-128"/>
                          <a:ea typeface="游ゴシック Medium" panose="020B0500000000000000" pitchFamily="50" charset="-128"/>
                        </a:rPr>
                        <a:t>1</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加藤　正臣</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代表取締役</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既知</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第三者</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r>
                        <a:rPr lang="en-US" altLang="ja-JP" sz="1200" b="0" i="0" u="none" strike="noStrike" dirty="0">
                          <a:solidFill>
                            <a:schemeClr val="tx1"/>
                          </a:solidFill>
                          <a:effectLst/>
                          <a:latin typeface="游ゴシック Medium" panose="020B0500000000000000" pitchFamily="50" charset="-128"/>
                          <a:ea typeface="游ゴシック Medium" panose="020B0500000000000000" pitchFamily="50" charset="-128"/>
                        </a:rPr>
                        <a:t>12,000</a:t>
                      </a:r>
                      <a:r>
                        <a:rPr lang="ja-JP" altLang="en-US" sz="1200" b="0" i="0" u="none" strike="noStrike" dirty="0">
                          <a:solidFill>
                            <a:schemeClr val="tx1"/>
                          </a:solidFill>
                          <a:effectLst/>
                          <a:latin typeface="游ゴシック Medium" panose="020B0500000000000000" pitchFamily="50" charset="-128"/>
                          <a:ea typeface="游ゴシック Medium" panose="020B0500000000000000" pitchFamily="50" charset="-128"/>
                        </a:rPr>
                        <a:t>千円</a:t>
                      </a:r>
                    </a:p>
                  </a:txBody>
                  <a:tcPr marL="6350" marR="6350" marT="635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40005" algn="ctr">
                        <a:lnSpc>
                          <a:spcPct val="100000"/>
                        </a:lnSpc>
                        <a:spcBef>
                          <a:spcPts val="535"/>
                        </a:spcBef>
                      </a:pPr>
                      <a:r>
                        <a:rPr lang="ja-JP" altLang="en-US" sz="1200" dirty="0">
                          <a:solidFill>
                            <a:schemeClr val="tx1"/>
                          </a:solidFill>
                          <a:latin typeface="游ゴシック Medium" panose="020B0500000000000000" pitchFamily="50" charset="-128"/>
                          <a:ea typeface="游ゴシック Medium" panose="020B0500000000000000" pitchFamily="50" charset="-128"/>
                          <a:cs typeface="Yu Gothic"/>
                        </a:rPr>
                        <a:t>継続勤務予定</a:t>
                      </a:r>
                    </a:p>
                  </a:txBody>
                  <a:tcPr marL="0" marR="0" marT="67945"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83820" algn="ctr">
                        <a:lnSpc>
                          <a:spcPct val="100000"/>
                        </a:lnSpc>
                        <a:spcBef>
                          <a:spcPts val="100"/>
                        </a:spcBef>
                      </a:pPr>
                      <a:r>
                        <a:rPr lang="ja-JP" altLang="en-US" sz="1200" dirty="0">
                          <a:solidFill>
                            <a:schemeClr val="tx1"/>
                          </a:solidFill>
                          <a:latin typeface="游ゴシック Medium" panose="020B0500000000000000" pitchFamily="50" charset="-128"/>
                          <a:ea typeface="游ゴシック Medium" panose="020B0500000000000000" pitchFamily="50" charset="-128"/>
                          <a:cs typeface="Yu Gothic"/>
                        </a:rPr>
                        <a:t>提案統括、一部</a:t>
                      </a:r>
                      <a:r>
                        <a:rPr lang="en-US" altLang="ja-JP" sz="1200" dirty="0">
                          <a:solidFill>
                            <a:schemeClr val="tx1"/>
                          </a:solidFill>
                          <a:latin typeface="游ゴシック Medium" panose="020B0500000000000000" pitchFamily="50" charset="-128"/>
                          <a:ea typeface="游ゴシック Medium" panose="020B0500000000000000" pitchFamily="50" charset="-128"/>
                          <a:cs typeface="Yu Gothic"/>
                        </a:rPr>
                        <a:t>PM</a:t>
                      </a:r>
                    </a:p>
                  </a:txBody>
                  <a:tcPr marL="0" marR="0" marT="74295"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33847775"/>
                  </a:ext>
                </a:extLst>
              </a:tr>
            </a:tbl>
          </a:graphicData>
        </a:graphic>
      </p:graphicFrame>
      <p:sp>
        <p:nvSpPr>
          <p:cNvPr id="9" name="Google Shape;426;p28">
            <a:extLst>
              <a:ext uri="{FF2B5EF4-FFF2-40B4-BE49-F238E27FC236}">
                <a16:creationId xmlns:a16="http://schemas.microsoft.com/office/drawing/2014/main" id="{52EEADC1-FEE2-E793-C864-8E6FEA33ABBC}"/>
              </a:ext>
            </a:extLst>
          </p:cNvPr>
          <p:cNvSpPr txBox="1"/>
          <p:nvPr/>
        </p:nvSpPr>
        <p:spPr>
          <a:xfrm>
            <a:off x="311150" y="5584130"/>
            <a:ext cx="8170276" cy="275184"/>
          </a:xfrm>
          <a:prstGeom prst="rect">
            <a:avLst/>
          </a:prstGeom>
          <a:noFill/>
          <a:ln>
            <a:noFill/>
          </a:ln>
        </p:spPr>
        <p:txBody>
          <a:bodyPr spcFirstLastPara="1" wrap="square" lIns="36150" tIns="36150" rIns="36150" bIns="36150" anchor="t" anchorCtr="0">
            <a:noAutofit/>
          </a:bodyPr>
          <a:lstStyle/>
          <a:p>
            <a:pPr marL="0" marR="0" lvl="0" indent="0" rtl="0">
              <a:lnSpc>
                <a:spcPct val="100000"/>
              </a:lnSpc>
              <a:spcBef>
                <a:spcPts val="0"/>
              </a:spcBef>
              <a:spcAft>
                <a:spcPts val="0"/>
              </a:spcAft>
              <a:buClr>
                <a:srgbClr val="000000"/>
              </a:buClr>
              <a:buSzPts val="1000"/>
              <a:buFont typeface="Arial"/>
              <a:buNone/>
            </a:pPr>
            <a:r>
              <a:rPr lang="en-US" altLang="ja-JP" sz="105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a:t>
            </a:r>
            <a:r>
              <a:rPr lang="ja-JP" altLang="en-US" sz="105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加藤様の報酬に関しては、</a:t>
            </a:r>
            <a:r>
              <a:rPr lang="ja-JP" altLang="en-US" sz="1050" dirty="0">
                <a:latin typeface="游ゴシック" panose="020B0400000000000000" pitchFamily="50" charset="-128"/>
                <a:ea typeface="游ゴシック" panose="020B0400000000000000" pitchFamily="50" charset="-128"/>
                <a:cs typeface="Yu Gothic"/>
              </a:rPr>
              <a:t>同人が経営する別会社（株式会社</a:t>
            </a:r>
            <a:r>
              <a:rPr lang="en-US" altLang="ja-JP" sz="1050" dirty="0" err="1">
                <a:latin typeface="游ゴシック" panose="020B0400000000000000" pitchFamily="50" charset="-128"/>
                <a:ea typeface="游ゴシック" panose="020B0400000000000000" pitchFamily="50" charset="-128"/>
                <a:cs typeface="Yu Gothic"/>
              </a:rPr>
              <a:t>Rimito</a:t>
            </a:r>
            <a:r>
              <a:rPr lang="ja-JP" altLang="en-US" sz="1050" dirty="0">
                <a:latin typeface="游ゴシック" panose="020B0400000000000000" pitchFamily="50" charset="-128"/>
                <a:ea typeface="游ゴシック" panose="020B0400000000000000" pitchFamily="50" charset="-128"/>
                <a:cs typeface="Yu Gothic"/>
              </a:rPr>
              <a:t>）</a:t>
            </a:r>
            <a:r>
              <a:rPr lang="ja-JP" altLang="en-US" sz="105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へ業務委託費として別途支払あり。</a:t>
            </a:r>
          </a:p>
        </p:txBody>
      </p:sp>
      <p:sp>
        <p:nvSpPr>
          <p:cNvPr id="14" name="タイトル 1">
            <a:extLst>
              <a:ext uri="{FF2B5EF4-FFF2-40B4-BE49-F238E27FC236}">
                <a16:creationId xmlns:a16="http://schemas.microsoft.com/office/drawing/2014/main" id="{96B7EDAC-4168-89CD-D613-D2A36EA7115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
        <p:nvSpPr>
          <p:cNvPr id="6" name="正方形/長方形 5">
            <a:extLst>
              <a:ext uri="{FF2B5EF4-FFF2-40B4-BE49-F238E27FC236}">
                <a16:creationId xmlns:a16="http://schemas.microsoft.com/office/drawing/2014/main" id="{0AC32D01-5C9D-2EDF-BF08-5290143A76B6}"/>
              </a:ext>
            </a:extLst>
          </p:cNvPr>
          <p:cNvSpPr/>
          <p:nvPr/>
        </p:nvSpPr>
        <p:spPr>
          <a:xfrm>
            <a:off x="10885010" y="1441536"/>
            <a:ext cx="1437977" cy="603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修正済み</a:t>
            </a:r>
          </a:p>
        </p:txBody>
      </p:sp>
    </p:spTree>
    <p:extLst>
      <p:ext uri="{BB962C8B-B14F-4D97-AF65-F5344CB8AC3E}">
        <p14:creationId xmlns:p14="http://schemas.microsoft.com/office/powerpoint/2010/main" val="11113659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本社</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lang="ja-JP" altLang="en-US" dirty="0">
                <a:latin typeface="+mj-ea"/>
              </a:rPr>
              <a:t>アクセス（最寄り駅）：築地駅 徒歩</a:t>
            </a:r>
            <a:r>
              <a:rPr lang="en-US" altLang="ja-JP" dirty="0">
                <a:latin typeface="+mj-ea"/>
              </a:rPr>
              <a:t>8</a:t>
            </a:r>
            <a:r>
              <a:rPr lang="ja-JP" altLang="en-US" dirty="0">
                <a:latin typeface="+mj-ea"/>
              </a:rPr>
              <a:t>分 </a:t>
            </a:r>
            <a:r>
              <a:rPr lang="en-US" altLang="ja-JP" dirty="0">
                <a:latin typeface="+mj-ea"/>
              </a:rPr>
              <a:t>/ </a:t>
            </a:r>
            <a:r>
              <a:rPr lang="ja-JP" altLang="en-US" dirty="0">
                <a:latin typeface="+mj-ea"/>
              </a:rPr>
              <a:t>築地市場駅 徒歩</a:t>
            </a:r>
            <a:r>
              <a:rPr lang="en-US" altLang="ja-JP" dirty="0">
                <a:latin typeface="+mj-ea"/>
              </a:rPr>
              <a:t>5</a:t>
            </a:r>
            <a:r>
              <a:rPr lang="ja-JP" altLang="en-US" dirty="0">
                <a:latin typeface="+mj-ea"/>
              </a:rPr>
              <a:t>分 </a:t>
            </a:r>
            <a:r>
              <a:rPr lang="en-US" altLang="ja-JP" dirty="0">
                <a:latin typeface="+mj-ea"/>
              </a:rPr>
              <a:t>/ </a:t>
            </a:r>
            <a:r>
              <a:rPr lang="ja-JP" altLang="en-US" dirty="0">
                <a:latin typeface="+mj-ea"/>
              </a:rPr>
              <a:t>東銀座駅 徒歩</a:t>
            </a:r>
            <a:r>
              <a:rPr lang="en-US" altLang="ja-JP" dirty="0">
                <a:latin typeface="+mj-ea"/>
              </a:rPr>
              <a:t>10</a:t>
            </a:r>
            <a:r>
              <a:rPr lang="ja-JP" altLang="en-US" dirty="0">
                <a:latin typeface="+mj-ea"/>
              </a:rPr>
              <a:t>分 </a:t>
            </a:r>
            <a:r>
              <a:rPr lang="en-US" altLang="ja-JP" dirty="0">
                <a:latin typeface="+mj-ea"/>
              </a:rPr>
              <a:t>/ </a:t>
            </a:r>
            <a:r>
              <a:rPr lang="ja-JP" altLang="en-US" dirty="0">
                <a:latin typeface="+mj-ea"/>
              </a:rPr>
              <a:t>汐留駅 徒歩</a:t>
            </a:r>
            <a:r>
              <a:rPr lang="en-US" altLang="ja-JP" dirty="0">
                <a:latin typeface="+mj-ea"/>
              </a:rPr>
              <a:t>7</a:t>
            </a:r>
            <a:r>
              <a:rPr lang="ja-JP" altLang="en-US" dirty="0">
                <a:latin typeface="+mj-ea"/>
              </a:rPr>
              <a:t>分</a:t>
            </a:r>
            <a:endParaRPr lang="en-US" altLang="ja-JP" dirty="0"/>
          </a:p>
          <a:p>
            <a:endParaRPr lang="en-US" altLang="ja-JP" dirty="0"/>
          </a:p>
          <a:p>
            <a:endParaRPr lang="en-US" altLang="ja-JP" dirty="0">
              <a:latin typeface="+mj-ea"/>
            </a:endParaRPr>
          </a:p>
        </p:txBody>
      </p:sp>
      <p:graphicFrame>
        <p:nvGraphicFramePr>
          <p:cNvPr id="3" name="表 2">
            <a:extLst>
              <a:ext uri="{FF2B5EF4-FFF2-40B4-BE49-F238E27FC236}">
                <a16:creationId xmlns:a16="http://schemas.microsoft.com/office/drawing/2014/main" id="{D4C8829F-1E4B-A7BB-E857-7AD37C24BB33}"/>
              </a:ext>
            </a:extLst>
          </p:cNvPr>
          <p:cNvGraphicFramePr>
            <a:graphicFrameLocks noGrp="1"/>
          </p:cNvGraphicFramePr>
          <p:nvPr>
            <p:extLst>
              <p:ext uri="{D42A27DB-BD31-4B8C-83A1-F6EECF244321}">
                <p14:modId xmlns:p14="http://schemas.microsoft.com/office/powerpoint/2010/main" val="1915940812"/>
              </p:ext>
            </p:extLst>
          </p:nvPr>
        </p:nvGraphicFramePr>
        <p:xfrm>
          <a:off x="311150" y="5764832"/>
          <a:ext cx="10039349" cy="1075706"/>
        </p:xfrm>
        <a:graphic>
          <a:graphicData uri="http://schemas.openxmlformats.org/drawingml/2006/table">
            <a:tbl>
              <a:tblPr/>
              <a:tblGrid>
                <a:gridCol w="1270403">
                  <a:extLst>
                    <a:ext uri="{9D8B030D-6E8A-4147-A177-3AD203B41FA5}">
                      <a16:colId xmlns:a16="http://schemas.microsoft.com/office/drawing/2014/main" val="2611385581"/>
                    </a:ext>
                  </a:extLst>
                </a:gridCol>
                <a:gridCol w="1532549">
                  <a:extLst>
                    <a:ext uri="{9D8B030D-6E8A-4147-A177-3AD203B41FA5}">
                      <a16:colId xmlns:a16="http://schemas.microsoft.com/office/drawing/2014/main" val="4120772386"/>
                    </a:ext>
                  </a:extLst>
                </a:gridCol>
                <a:gridCol w="1175339">
                  <a:extLst>
                    <a:ext uri="{9D8B030D-6E8A-4147-A177-3AD203B41FA5}">
                      <a16:colId xmlns:a16="http://schemas.microsoft.com/office/drawing/2014/main" val="1508898271"/>
                    </a:ext>
                  </a:extLst>
                </a:gridCol>
                <a:gridCol w="1083154">
                  <a:extLst>
                    <a:ext uri="{9D8B030D-6E8A-4147-A177-3AD203B41FA5}">
                      <a16:colId xmlns:a16="http://schemas.microsoft.com/office/drawing/2014/main" val="3614684977"/>
                    </a:ext>
                  </a:extLst>
                </a:gridCol>
                <a:gridCol w="1405797">
                  <a:extLst>
                    <a:ext uri="{9D8B030D-6E8A-4147-A177-3AD203B41FA5}">
                      <a16:colId xmlns:a16="http://schemas.microsoft.com/office/drawing/2014/main" val="382289876"/>
                    </a:ext>
                  </a:extLst>
                </a:gridCol>
                <a:gridCol w="391780">
                  <a:extLst>
                    <a:ext uri="{9D8B030D-6E8A-4147-A177-3AD203B41FA5}">
                      <a16:colId xmlns:a16="http://schemas.microsoft.com/office/drawing/2014/main" val="104386257"/>
                    </a:ext>
                  </a:extLst>
                </a:gridCol>
                <a:gridCol w="737467">
                  <a:extLst>
                    <a:ext uri="{9D8B030D-6E8A-4147-A177-3AD203B41FA5}">
                      <a16:colId xmlns:a16="http://schemas.microsoft.com/office/drawing/2014/main" val="1439581865"/>
                    </a:ext>
                  </a:extLst>
                </a:gridCol>
                <a:gridCol w="1083154">
                  <a:extLst>
                    <a:ext uri="{9D8B030D-6E8A-4147-A177-3AD203B41FA5}">
                      <a16:colId xmlns:a16="http://schemas.microsoft.com/office/drawing/2014/main" val="3008350557"/>
                    </a:ext>
                  </a:extLst>
                </a:gridCol>
                <a:gridCol w="1359706">
                  <a:extLst>
                    <a:ext uri="{9D8B030D-6E8A-4147-A177-3AD203B41FA5}">
                      <a16:colId xmlns:a16="http://schemas.microsoft.com/office/drawing/2014/main" val="306988041"/>
                    </a:ext>
                  </a:extLst>
                </a:gridCol>
              </a:tblGrid>
              <a:tr h="229852">
                <a:tc gridSpan="2">
                  <a:txBody>
                    <a:bodyPr/>
                    <a:lstStyle/>
                    <a:p>
                      <a:pPr algn="l" fontAlgn="ctr"/>
                      <a:r>
                        <a:rPr lang="en-US" altLang="ja-JP" sz="1050" b="0" i="0" u="none" strike="noStrike" dirty="0">
                          <a:solidFill>
                            <a:srgbClr val="161616"/>
                          </a:solidFill>
                          <a:effectLst/>
                          <a:latin typeface="游ゴシック Medium" panose="020B0500000000000000" pitchFamily="50" charset="-128"/>
                          <a:ea typeface="游ゴシック Medium" panose="020B0500000000000000" pitchFamily="50" charset="-128"/>
                        </a:rPr>
                        <a:t>【</a:t>
                      </a:r>
                      <a:r>
                        <a:rPr lang="ja-JP" altLang="en-US" sz="1050" b="0" i="0" u="none" strike="noStrike" dirty="0">
                          <a:solidFill>
                            <a:srgbClr val="161616"/>
                          </a:solidFill>
                          <a:effectLst/>
                          <a:latin typeface="游ゴシック Medium" panose="020B0500000000000000" pitchFamily="50" charset="-128"/>
                          <a:ea typeface="游ゴシック Medium" panose="020B0500000000000000" pitchFamily="50" charset="-128"/>
                        </a:rPr>
                        <a:t>本社事務所｜賃貸</a:t>
                      </a:r>
                      <a:r>
                        <a:rPr lang="en-US" altLang="ja-JP" sz="1050" b="0" i="0" u="none" strike="noStrike" dirty="0">
                          <a:solidFill>
                            <a:srgbClr val="161616"/>
                          </a:solidFill>
                          <a:effectLst/>
                          <a:latin typeface="游ゴシック Medium" panose="020B0500000000000000" pitchFamily="50" charset="-128"/>
                          <a:ea typeface="游ゴシック Medium" panose="020B0500000000000000" pitchFamily="50" charset="-128"/>
                        </a:rPr>
                        <a:t>】</a:t>
                      </a:r>
                    </a:p>
                  </a:txBody>
                  <a:tcPr marL="6791" marR="6791" marT="6791" marB="0" anchor="ctr">
                    <a:lnL>
                      <a:noFill/>
                    </a:lnL>
                    <a:lnR>
                      <a:noFill/>
                    </a:lnR>
                    <a:lnT>
                      <a:noFill/>
                    </a:lnT>
                    <a:lnB>
                      <a:noFill/>
                    </a:lnB>
                    <a:noFill/>
                  </a:tcPr>
                </a:tc>
                <a:tc hMerge="1">
                  <a:txBody>
                    <a:bodyPr/>
                    <a:lstStyle/>
                    <a:p>
                      <a:pPr algn="ctr" fontAlgn="ctr"/>
                      <a:endPar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ctr" fontAlgn="ctr"/>
                      <a:endParaRPr lang="ja-JP" altLang="en-US" sz="105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ctr" fontAlgn="ctr"/>
                      <a:endParaRPr lang="ja-JP" altLang="en-US" sz="105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ctr" fontAlgn="ctr"/>
                      <a:endParaRPr lang="ja-JP" altLang="en-US" sz="105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ctr" fontAlgn="ctr"/>
                      <a:endParaRPr lang="ja-JP" altLang="en-US" sz="105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l" fontAlgn="ctr"/>
                      <a:endParaRPr lang="ja-JP" altLang="en-US" sz="105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l" fontAlgn="ctr"/>
                      <a:endParaRPr lang="ja-JP" altLang="en-US" sz="105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tc>
                  <a:txBody>
                    <a:bodyPr/>
                    <a:lstStyle/>
                    <a:p>
                      <a:pPr algn="l" fontAlgn="ctr"/>
                      <a:endParaRPr lang="ja-JP" altLang="en-US" sz="105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791" marR="6791" marT="6791" marB="0" anchor="ctr">
                    <a:lnL>
                      <a:noFill/>
                    </a:lnL>
                    <a:lnR>
                      <a:noFill/>
                    </a:lnR>
                    <a:lnT>
                      <a:noFill/>
                    </a:lnT>
                    <a:lnB>
                      <a:noFill/>
                    </a:lnB>
                    <a:noFill/>
                  </a:tcPr>
                </a:tc>
                <a:extLst>
                  <a:ext uri="{0D108BD9-81ED-4DB2-BD59-A6C34878D82A}">
                    <a16:rowId xmlns:a16="http://schemas.microsoft.com/office/drawing/2014/main" val="545699993"/>
                  </a:ext>
                </a:extLst>
              </a:tr>
              <a:tr h="404538">
                <a:tc>
                  <a:txBody>
                    <a:body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事業所名</a:t>
                      </a:r>
                    </a:p>
                  </a:txBody>
                  <a:tcPr marL="6791" marR="6791" marT="6791" marB="0" anchor="ctr">
                    <a:lnL>
                      <a:noFill/>
                    </a:lnL>
                    <a:lnR w="19050" cap="flat" cmpd="sng" algn="ctr">
                      <a:solidFill>
                        <a:srgbClr val="FFFFFF"/>
                      </a:solidFill>
                      <a:prstDash val="solid"/>
                      <a:round/>
                      <a:headEnd type="none" w="med" len="med"/>
                      <a:tailEnd type="none" w="med" len="med"/>
                    </a:lnR>
                    <a:lnT>
                      <a:noFill/>
                    </a:lnT>
                    <a:lnB>
                      <a:noFill/>
                    </a:lnB>
                    <a:solidFill>
                      <a:srgbClr val="0070C0"/>
                    </a:solidFill>
                  </a:tcPr>
                </a:tc>
                <a:tc gridSpan="2">
                  <a:txBody>
                    <a:body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所在地（住居表示）</a:t>
                      </a:r>
                    </a:p>
                  </a:txBody>
                  <a:tcPr marL="6791" marR="6791" marT="6791"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hMerge="1">
                  <a:txBody>
                    <a:bodyPr/>
                    <a:lstStyle/>
                    <a:p>
                      <a:endParaRPr kumimoji="1" lang="ja-JP" altLang="en-US"/>
                    </a:p>
                  </a:txBody>
                  <a:tcPr/>
                </a:tc>
                <a:tc>
                  <a:txBody>
                    <a:body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用途</a:t>
                      </a:r>
                    </a:p>
                  </a:txBody>
                  <a:tcPr marL="6791" marR="6791" marT="6791"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貸主</a:t>
                      </a:r>
                    </a:p>
                  </a:txBody>
                  <a:tcPr marL="6791" marR="6791" marT="6791"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gridSpan="2">
                  <a:txBody>
                    <a:bodyPr/>
                    <a:lstStyle/>
                    <a:p>
                      <a:pPr algn="ctr" fontAlgn="ctr"/>
                      <a:r>
                        <a:rPr lang="ja-JP" altLang="en-US" sz="1000" b="1" i="0" u="none" strike="noStrike">
                          <a:solidFill>
                            <a:srgbClr val="FFFFFF"/>
                          </a:solidFill>
                          <a:effectLst/>
                          <a:latin typeface="游ゴシック Medium" panose="020B0500000000000000" pitchFamily="50" charset="-128"/>
                          <a:ea typeface="游ゴシック Medium" panose="020B0500000000000000" pitchFamily="50" charset="-128"/>
                        </a:rPr>
                        <a:t>面積（㎡）</a:t>
                      </a:r>
                    </a:p>
                  </a:txBody>
                  <a:tcPr marL="6791" marR="6791" marT="6791"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hMerge="1">
                  <a:txBody>
                    <a:bodyPr/>
                    <a:lstStyle/>
                    <a:p>
                      <a:endParaRPr kumimoji="1" lang="ja-JP" altLang="en-US"/>
                    </a:p>
                  </a:txBody>
                  <a:tcPr/>
                </a:tc>
                <a:tc>
                  <a:txBody>
                    <a:bodyPr/>
                    <a:lstStyle/>
                    <a:p>
                      <a:pPr algn="ctr" fontAlgn="ctr"/>
                      <a:r>
                        <a:rPr lang="zh-TW"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年間賃料</a:t>
                      </a:r>
                      <a:r>
                        <a:rPr lang="en-US" altLang="zh-TW" sz="1000" b="1" i="0" u="none" strike="noStrike" dirty="0">
                          <a:solidFill>
                            <a:srgbClr val="FFFFFF"/>
                          </a:solidFill>
                          <a:effectLst/>
                          <a:latin typeface="游ゴシック Medium" panose="020B0500000000000000" pitchFamily="50" charset="-128"/>
                          <a:ea typeface="游ゴシック Medium" panose="020B0500000000000000" pitchFamily="50" charset="-128"/>
                        </a:rPr>
                        <a:t>(</a:t>
                      </a:r>
                      <a:r>
                        <a:rPr lang="zh-TW"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千円</a:t>
                      </a:r>
                      <a:r>
                        <a:rPr lang="en-US" altLang="zh-TW" sz="1000" b="1" i="0" u="none" strike="noStrike" dirty="0">
                          <a:solidFill>
                            <a:srgbClr val="FFFFFF"/>
                          </a:solidFill>
                          <a:effectLst/>
                          <a:latin typeface="游ゴシック Medium" panose="020B0500000000000000" pitchFamily="50" charset="-128"/>
                          <a:ea typeface="游ゴシック Medium" panose="020B0500000000000000" pitchFamily="50" charset="-128"/>
                        </a:rPr>
                        <a:t>)</a:t>
                      </a:r>
                    </a:p>
                  </a:txBody>
                  <a:tcPr marL="6791" marR="6791" marT="6791"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敷金・保証金等</a:t>
                      </a:r>
                      <a:endPar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endParaRPr>
                    </a:p>
                    <a:p>
                      <a:pPr algn="ctr" fontAlgn="ctr"/>
                      <a:r>
                        <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rPr>
                        <a:t>(</a:t>
                      </a:r>
                      <a:r>
                        <a:rPr lang="ja-JP" altLang="en-US" sz="1000" b="1" i="0" u="none" strike="noStrike" dirty="0">
                          <a:solidFill>
                            <a:srgbClr val="FFFFFF"/>
                          </a:solidFill>
                          <a:effectLst/>
                          <a:latin typeface="游ゴシック Medium" panose="020B0500000000000000" pitchFamily="50" charset="-128"/>
                          <a:ea typeface="游ゴシック Medium" panose="020B0500000000000000" pitchFamily="50" charset="-128"/>
                        </a:rPr>
                        <a:t>千円</a:t>
                      </a:r>
                      <a:r>
                        <a:rPr lang="en-US" altLang="ja-JP" sz="1000" b="1" i="0" u="none" strike="noStrike" dirty="0">
                          <a:solidFill>
                            <a:srgbClr val="FFFFFF"/>
                          </a:solidFill>
                          <a:effectLst/>
                          <a:latin typeface="游ゴシック Medium" panose="020B0500000000000000" pitchFamily="50" charset="-128"/>
                          <a:ea typeface="游ゴシック Medium" panose="020B0500000000000000" pitchFamily="50" charset="-128"/>
                        </a:rPr>
                        <a:t>)</a:t>
                      </a:r>
                    </a:p>
                  </a:txBody>
                  <a:tcPr marL="6791" marR="6791" marT="6791" marB="0" anchor="ctr">
                    <a:lnL w="19050" cap="flat" cmpd="sng" algn="ctr">
                      <a:solidFill>
                        <a:srgbClr val="FFFFFF"/>
                      </a:solidFill>
                      <a:prstDash val="solid"/>
                      <a:round/>
                      <a:headEnd type="none" w="med" len="med"/>
                      <a:tailEnd type="none" w="med" len="med"/>
                    </a:lnL>
                    <a:lnR>
                      <a:noFill/>
                    </a:lnR>
                    <a:lnT>
                      <a:noFill/>
                    </a:lnT>
                    <a:lnB>
                      <a:noFill/>
                    </a:lnB>
                    <a:solidFill>
                      <a:srgbClr val="0070C0"/>
                    </a:solidFill>
                  </a:tcPr>
                </a:tc>
                <a:extLst>
                  <a:ext uri="{0D108BD9-81ED-4DB2-BD59-A6C34878D82A}">
                    <a16:rowId xmlns:a16="http://schemas.microsoft.com/office/drawing/2014/main" val="1082077414"/>
                  </a:ext>
                </a:extLst>
              </a:tr>
              <a:tr h="441316">
                <a:tc>
                  <a:txBody>
                    <a:bodyPr/>
                    <a:lstStyle/>
                    <a:p>
                      <a:pPr algn="ctr" fontAlgn="ct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本社</a:t>
                      </a:r>
                      <a:b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b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事務所</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tc gridSpan="2">
                  <a:txBody>
                    <a:bodyPr/>
                    <a:lstStyle/>
                    <a:p>
                      <a:pPr algn="l" fontAlgn="ct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東京都中央区築地５丁目３−３</a:t>
                      </a:r>
                      <a:endParaRPr lang="en-US" altLang="ja-JP" sz="1000" b="0" i="0" u="none" strike="noStrike" dirty="0">
                        <a:solidFill>
                          <a:srgbClr val="161616"/>
                        </a:solidFill>
                        <a:effectLst/>
                        <a:latin typeface="游ゴシック Medium" panose="020B0500000000000000" pitchFamily="50" charset="-128"/>
                        <a:ea typeface="游ゴシック Medium" panose="020B0500000000000000" pitchFamily="50" charset="-128"/>
                      </a:endParaRPr>
                    </a:p>
                    <a:p>
                      <a:pPr algn="l" fontAlgn="ct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築地浜離宮ビル</a:t>
                      </a:r>
                      <a:r>
                        <a:rPr lang="en-US" altLang="ja-JP" sz="1000" b="0" i="0" u="none" strike="noStrike" dirty="0">
                          <a:solidFill>
                            <a:srgbClr val="161616"/>
                          </a:solidFill>
                          <a:effectLst/>
                          <a:latin typeface="游ゴシック Medium" panose="020B0500000000000000" pitchFamily="50" charset="-128"/>
                          <a:ea typeface="游ゴシック Medium" panose="020B0500000000000000" pitchFamily="50" charset="-128"/>
                        </a:rPr>
                        <a:t>2F</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tc hMerge="1">
                  <a:txBody>
                    <a:bodyPr/>
                    <a:lstStyle/>
                    <a:p>
                      <a:endParaRPr kumimoji="1" lang="ja-JP" altLang="en-US"/>
                    </a:p>
                  </a:txBody>
                  <a:tcPr/>
                </a:tc>
                <a:tc>
                  <a:txBody>
                    <a:bodyPr/>
                    <a:lstStyle/>
                    <a:p>
                      <a:pPr algn="ctr" fontAlgn="ct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事務所</a:t>
                      </a:r>
                      <a:b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b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（フロア）</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tc>
                  <a:txBody>
                    <a:bodyPr/>
                    <a:lstStyle/>
                    <a:p>
                      <a:pPr algn="ctr" fontAlgn="ctr"/>
                      <a:r>
                        <a:rPr lang="ja-JP" altLang="en-US" sz="1000" b="0" i="0" u="none" strike="noStrike" dirty="0">
                          <a:solidFill>
                            <a:srgbClr val="161616"/>
                          </a:solidFill>
                          <a:effectLst/>
                          <a:latin typeface="游ゴシック Medium" panose="020B0500000000000000" pitchFamily="50" charset="-128"/>
                          <a:ea typeface="游ゴシック Medium" panose="020B0500000000000000" pitchFamily="50" charset="-128"/>
                        </a:rPr>
                        <a:t>東京マツダ販売（株）</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tc gridSpan="2">
                  <a:txBody>
                    <a:bodyPr/>
                    <a:lstStyle/>
                    <a:p>
                      <a:pPr algn="r" fontAlgn="ctr"/>
                      <a:r>
                        <a:rPr lang="en-US" altLang="ja-JP" sz="1000" b="0" i="0" u="none" strike="noStrike" dirty="0">
                          <a:solidFill>
                            <a:srgbClr val="161616"/>
                          </a:solidFill>
                          <a:effectLst/>
                          <a:latin typeface="游ゴシック Medium" panose="020B0500000000000000" pitchFamily="50" charset="-128"/>
                          <a:ea typeface="游ゴシック Medium" panose="020B0500000000000000" pitchFamily="50" charset="-128"/>
                        </a:rPr>
                        <a:t>179.76</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tc hMerge="1">
                  <a:txBody>
                    <a:bodyPr/>
                    <a:lstStyle/>
                    <a:p>
                      <a:endParaRPr kumimoji="1" lang="ja-JP" altLang="en-US"/>
                    </a:p>
                  </a:txBody>
                  <a:tcPr/>
                </a:tc>
                <a:tc>
                  <a:txBody>
                    <a:bodyPr/>
                    <a:lstStyle/>
                    <a:p>
                      <a:pPr algn="r" fontAlgn="ctr"/>
                      <a:r>
                        <a:rPr lang="en-US" altLang="ja-JP" sz="1000" b="0" i="0" u="none" strike="noStrike" dirty="0">
                          <a:solidFill>
                            <a:srgbClr val="161616"/>
                          </a:solidFill>
                          <a:effectLst/>
                          <a:latin typeface="游ゴシック Medium" panose="020B0500000000000000" pitchFamily="50" charset="-128"/>
                          <a:ea typeface="游ゴシック Medium" panose="020B0500000000000000" pitchFamily="50" charset="-128"/>
                        </a:rPr>
                        <a:t>8,023</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tc>
                  <a:txBody>
                    <a:bodyPr/>
                    <a:lstStyle/>
                    <a:p>
                      <a:pPr algn="r" fontAlgn="ctr"/>
                      <a:r>
                        <a:rPr lang="en-US" altLang="ja-JP" sz="1000" b="0" i="0" u="none" strike="noStrike" dirty="0">
                          <a:solidFill>
                            <a:srgbClr val="000000"/>
                          </a:solidFill>
                          <a:effectLst/>
                          <a:latin typeface="游ゴシック Medium" panose="020B0500000000000000" pitchFamily="50" charset="-128"/>
                          <a:ea typeface="游ゴシック Medium" panose="020B0500000000000000" pitchFamily="50" charset="-128"/>
                        </a:rPr>
                        <a:t>6,786</a:t>
                      </a:r>
                    </a:p>
                  </a:txBody>
                  <a:tcPr marL="6791" marR="6791" marT="6791" marB="0" anchor="ctr">
                    <a:lnL>
                      <a:noFill/>
                    </a:lnL>
                    <a:lnR>
                      <a:noFill/>
                    </a:lnR>
                    <a:lnT>
                      <a:noFill/>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4173495753"/>
                  </a:ext>
                </a:extLst>
              </a:tr>
            </a:tbl>
          </a:graphicData>
        </a:graphic>
      </p:graphicFrame>
      <p:pic>
        <p:nvPicPr>
          <p:cNvPr id="4" name="図 3">
            <a:extLst>
              <a:ext uri="{FF2B5EF4-FFF2-40B4-BE49-F238E27FC236}">
                <a16:creationId xmlns:a16="http://schemas.microsoft.com/office/drawing/2014/main" id="{315BBD68-7AEB-CDEE-BC4E-B9BDF040D5D2}"/>
              </a:ext>
            </a:extLst>
          </p:cNvPr>
          <p:cNvPicPr>
            <a:picLocks noChangeAspect="1"/>
          </p:cNvPicPr>
          <p:nvPr/>
        </p:nvPicPr>
        <p:blipFill>
          <a:blip r:embed="rId3"/>
          <a:stretch>
            <a:fillRect/>
          </a:stretch>
        </p:blipFill>
        <p:spPr>
          <a:xfrm>
            <a:off x="3989252" y="2011304"/>
            <a:ext cx="5789373" cy="3406524"/>
          </a:xfrm>
          <a:prstGeom prst="rect">
            <a:avLst/>
          </a:prstGeom>
        </p:spPr>
      </p:pic>
      <p:sp>
        <p:nvSpPr>
          <p:cNvPr id="5" name="二等辺三角形 4">
            <a:extLst>
              <a:ext uri="{FF2B5EF4-FFF2-40B4-BE49-F238E27FC236}">
                <a16:creationId xmlns:a16="http://schemas.microsoft.com/office/drawing/2014/main" id="{7D63E5DF-CEB8-44CB-4AEA-19F1BC2ACF38}"/>
              </a:ext>
            </a:extLst>
          </p:cNvPr>
          <p:cNvSpPr/>
          <p:nvPr/>
        </p:nvSpPr>
        <p:spPr>
          <a:xfrm rot="6049067">
            <a:off x="4496740" y="1948859"/>
            <a:ext cx="904875" cy="4240184"/>
          </a:xfrm>
          <a:prstGeom prst="triangle">
            <a:avLst/>
          </a:prstGeom>
          <a:solidFill>
            <a:schemeClr val="bg1">
              <a:lumMod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Medium" panose="020B0500000000000000" pitchFamily="50" charset="-128"/>
              <a:ea typeface="游ゴシック Medium" panose="020B0500000000000000" pitchFamily="50" charset="-128"/>
            </a:endParaRPr>
          </a:p>
        </p:txBody>
      </p:sp>
      <p:pic>
        <p:nvPicPr>
          <p:cNvPr id="8" name="Picture 2" descr="築地浜離宮ビル(中央区築地)のビル情報【オフィスナビ®】">
            <a:extLst>
              <a:ext uri="{FF2B5EF4-FFF2-40B4-BE49-F238E27FC236}">
                <a16:creationId xmlns:a16="http://schemas.microsoft.com/office/drawing/2014/main" id="{4AFEB29D-E6B4-AA5E-D3DF-7096AEE06B1E}"/>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contrast="20000"/>
                    </a14:imgEffect>
                  </a14:imgLayer>
                </a14:imgProps>
              </a:ext>
              <a:ext uri="{28A0092B-C50C-407E-A947-70E740481C1C}">
                <a14:useLocalDpi xmlns:a14="http://schemas.microsoft.com/office/drawing/2010/main" val="0"/>
              </a:ext>
            </a:extLst>
          </a:blip>
          <a:srcRect t="17779" b="-1"/>
          <a:stretch/>
        </p:blipFill>
        <p:spPr bwMode="auto">
          <a:xfrm>
            <a:off x="311149" y="2011304"/>
            <a:ext cx="2789859" cy="3406524"/>
          </a:xfrm>
          <a:prstGeom prst="rect">
            <a:avLst/>
          </a:prstGeom>
          <a:noFill/>
          <a:extLst>
            <a:ext uri="{909E8E84-426E-40DD-AFC4-6F175D3DCCD1}">
              <a14:hiddenFill xmlns:a14="http://schemas.microsoft.com/office/drawing/2010/main">
                <a:solidFill>
                  <a:srgbClr val="FFFFFF"/>
                </a:solidFill>
              </a14:hiddenFill>
            </a:ext>
          </a:extLst>
        </p:spPr>
      </p:pic>
      <p:sp>
        <p:nvSpPr>
          <p:cNvPr id="12" name="タイトル 1">
            <a:extLst>
              <a:ext uri="{FF2B5EF4-FFF2-40B4-BE49-F238E27FC236}">
                <a16:creationId xmlns:a16="http://schemas.microsoft.com/office/drawing/2014/main" id="{A0ED93E8-DC23-40DD-07BA-185AABB11B2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Tree>
    <p:extLst>
      <p:ext uri="{BB962C8B-B14F-4D97-AF65-F5344CB8AC3E}">
        <p14:creationId xmlns:p14="http://schemas.microsoft.com/office/powerpoint/2010/main" val="6307501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（参考）分割会社の保有不動産　※譲渡対象外</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mj-ea"/>
              </a:rPr>
              <a:t>アクセス</a:t>
            </a:r>
            <a:r>
              <a:rPr lang="en-US" altLang="ja-JP" dirty="0">
                <a:latin typeface="+mj-ea"/>
              </a:rPr>
              <a:t>(</a:t>
            </a:r>
            <a:r>
              <a:rPr lang="ja-JP" altLang="en-US" dirty="0">
                <a:latin typeface="+mj-ea"/>
              </a:rPr>
              <a:t>最寄り駅</a:t>
            </a:r>
            <a:r>
              <a:rPr lang="en-US" altLang="ja-JP" dirty="0">
                <a:latin typeface="+mj-ea"/>
              </a:rPr>
              <a:t>)</a:t>
            </a:r>
            <a:r>
              <a:rPr lang="ja-JP" altLang="en-US" dirty="0">
                <a:latin typeface="+mj-ea"/>
              </a:rPr>
              <a:t>：築地駅</a:t>
            </a:r>
            <a:r>
              <a:rPr lang="en-US" altLang="ja-JP" dirty="0">
                <a:latin typeface="+mj-ea"/>
              </a:rPr>
              <a:t>(</a:t>
            </a:r>
            <a:r>
              <a:rPr lang="ja-JP" altLang="en-US" dirty="0">
                <a:latin typeface="+mj-ea"/>
              </a:rPr>
              <a:t>日比谷線</a:t>
            </a:r>
            <a:r>
              <a:rPr lang="en-US" altLang="ja-JP" dirty="0">
                <a:latin typeface="+mj-ea"/>
              </a:rPr>
              <a:t>) </a:t>
            </a:r>
            <a:r>
              <a:rPr lang="ja-JP" altLang="en-US" dirty="0">
                <a:latin typeface="+mj-ea"/>
              </a:rPr>
              <a:t>徒歩</a:t>
            </a:r>
            <a:r>
              <a:rPr lang="en-US" altLang="ja-JP" dirty="0">
                <a:latin typeface="+mj-ea"/>
              </a:rPr>
              <a:t>1</a:t>
            </a:r>
            <a:r>
              <a:rPr lang="ja-JP" altLang="en-US" dirty="0">
                <a:latin typeface="+mj-ea"/>
              </a:rPr>
              <a:t>分 </a:t>
            </a:r>
            <a:r>
              <a:rPr lang="en-US" altLang="ja-JP" dirty="0">
                <a:latin typeface="+mj-ea"/>
              </a:rPr>
              <a:t>/ </a:t>
            </a:r>
            <a:r>
              <a:rPr lang="ja-JP" altLang="en-US" dirty="0">
                <a:latin typeface="+mj-ea"/>
              </a:rPr>
              <a:t>新富町駅</a:t>
            </a:r>
            <a:r>
              <a:rPr lang="en-US" altLang="ja-JP" dirty="0">
                <a:latin typeface="+mj-ea"/>
              </a:rPr>
              <a:t>(</a:t>
            </a:r>
            <a:r>
              <a:rPr lang="ja-JP" altLang="en-US" dirty="0">
                <a:latin typeface="+mj-ea"/>
              </a:rPr>
              <a:t>有楽町線</a:t>
            </a:r>
            <a:r>
              <a:rPr lang="en-US" altLang="ja-JP" dirty="0">
                <a:latin typeface="+mj-ea"/>
              </a:rPr>
              <a:t>) </a:t>
            </a:r>
            <a:r>
              <a:rPr lang="ja-JP" altLang="en-US" dirty="0">
                <a:latin typeface="+mj-ea"/>
              </a:rPr>
              <a:t>徒歩</a:t>
            </a:r>
            <a:r>
              <a:rPr lang="en-US" altLang="ja-JP" dirty="0">
                <a:latin typeface="+mj-ea"/>
              </a:rPr>
              <a:t>4</a:t>
            </a:r>
            <a:r>
              <a:rPr lang="ja-JP" altLang="en-US" dirty="0">
                <a:latin typeface="+mj-ea"/>
              </a:rPr>
              <a:t>分 </a:t>
            </a:r>
            <a:r>
              <a:rPr lang="en-US" altLang="ja-JP" dirty="0">
                <a:latin typeface="+mj-ea"/>
              </a:rPr>
              <a:t>/ </a:t>
            </a:r>
            <a:r>
              <a:rPr lang="ja-JP" altLang="en-US" dirty="0">
                <a:latin typeface="+mj-ea"/>
              </a:rPr>
              <a:t>東銀座駅</a:t>
            </a:r>
            <a:r>
              <a:rPr lang="en-US" altLang="ja-JP" dirty="0">
                <a:latin typeface="+mj-ea"/>
              </a:rPr>
              <a:t>(</a:t>
            </a:r>
            <a:r>
              <a:rPr lang="ja-JP" altLang="en-US" dirty="0">
                <a:latin typeface="+mj-ea"/>
              </a:rPr>
              <a:t>日比谷線</a:t>
            </a:r>
            <a:r>
              <a:rPr lang="en-US" altLang="ja-JP" dirty="0">
                <a:latin typeface="+mj-ea"/>
              </a:rPr>
              <a:t>) </a:t>
            </a:r>
            <a:r>
              <a:rPr lang="ja-JP" altLang="en-US" dirty="0">
                <a:latin typeface="+mj-ea"/>
              </a:rPr>
              <a:t>徒歩</a:t>
            </a:r>
            <a:r>
              <a:rPr lang="en-US" altLang="ja-JP" dirty="0">
                <a:latin typeface="+mj-ea"/>
              </a:rPr>
              <a:t>7</a:t>
            </a:r>
            <a:r>
              <a:rPr lang="ja-JP" altLang="en-US" dirty="0">
                <a:latin typeface="+mj-ea"/>
              </a:rPr>
              <a:t>分</a:t>
            </a:r>
            <a:endParaRPr lang="en-US" altLang="ja-JP" dirty="0"/>
          </a:p>
          <a:p>
            <a:endParaRPr lang="en-US" altLang="ja-JP" dirty="0"/>
          </a:p>
          <a:p>
            <a:endParaRPr lang="en-US" altLang="ja-JP" dirty="0">
              <a:latin typeface="+mj-ea"/>
            </a:endParaRPr>
          </a:p>
        </p:txBody>
      </p:sp>
      <p:pic>
        <p:nvPicPr>
          <p:cNvPr id="2" name="図 1">
            <a:extLst>
              <a:ext uri="{FF2B5EF4-FFF2-40B4-BE49-F238E27FC236}">
                <a16:creationId xmlns:a16="http://schemas.microsoft.com/office/drawing/2014/main" id="{4867646F-67D7-E5D4-418E-AB31E0D59D2A}"/>
              </a:ext>
            </a:extLst>
          </p:cNvPr>
          <p:cNvPicPr>
            <a:picLocks noChangeAspect="1"/>
          </p:cNvPicPr>
          <p:nvPr/>
        </p:nvPicPr>
        <p:blipFill>
          <a:blip r:embed="rId3"/>
          <a:stretch>
            <a:fillRect/>
          </a:stretch>
        </p:blipFill>
        <p:spPr>
          <a:xfrm>
            <a:off x="4039563" y="1380216"/>
            <a:ext cx="5770684" cy="3409949"/>
          </a:xfrm>
          <a:prstGeom prst="rect">
            <a:avLst/>
          </a:prstGeom>
        </p:spPr>
      </p:pic>
      <p:sp>
        <p:nvSpPr>
          <p:cNvPr id="3" name="二等辺三角形 2">
            <a:extLst>
              <a:ext uri="{FF2B5EF4-FFF2-40B4-BE49-F238E27FC236}">
                <a16:creationId xmlns:a16="http://schemas.microsoft.com/office/drawing/2014/main" id="{8BF92265-C340-B2B0-9E28-29B679B8C01E}"/>
              </a:ext>
            </a:extLst>
          </p:cNvPr>
          <p:cNvSpPr/>
          <p:nvPr/>
        </p:nvSpPr>
        <p:spPr>
          <a:xfrm rot="5961474">
            <a:off x="4711950" y="268485"/>
            <a:ext cx="619701" cy="5309451"/>
          </a:xfrm>
          <a:prstGeom prst="triangle">
            <a:avLst/>
          </a:prstGeom>
          <a:solidFill>
            <a:schemeClr val="bg1">
              <a:lumMod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Medium" panose="020B0500000000000000" pitchFamily="50" charset="-128"/>
              <a:ea typeface="游ゴシック Medium" panose="020B0500000000000000" pitchFamily="50" charset="-128"/>
            </a:endParaRPr>
          </a:p>
        </p:txBody>
      </p:sp>
      <p:pic>
        <p:nvPicPr>
          <p:cNvPr id="5" name="Picture 2">
            <a:extLst>
              <a:ext uri="{FF2B5EF4-FFF2-40B4-BE49-F238E27FC236}">
                <a16:creationId xmlns:a16="http://schemas.microsoft.com/office/drawing/2014/main" id="{00C11002-BD18-65A8-A62F-834E1EBD387F}"/>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341313" y="1380216"/>
            <a:ext cx="2554839" cy="34099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表 5">
            <a:extLst>
              <a:ext uri="{FF2B5EF4-FFF2-40B4-BE49-F238E27FC236}">
                <a16:creationId xmlns:a16="http://schemas.microsoft.com/office/drawing/2014/main" id="{C4A97675-DFAD-03E6-0525-700394281343}"/>
              </a:ext>
            </a:extLst>
          </p:cNvPr>
          <p:cNvGraphicFramePr>
            <a:graphicFrameLocks noGrp="1"/>
          </p:cNvGraphicFramePr>
          <p:nvPr>
            <p:extLst>
              <p:ext uri="{D42A27DB-BD31-4B8C-83A1-F6EECF244321}">
                <p14:modId xmlns:p14="http://schemas.microsoft.com/office/powerpoint/2010/main" val="1527323014"/>
              </p:ext>
            </p:extLst>
          </p:nvPr>
        </p:nvGraphicFramePr>
        <p:xfrm>
          <a:off x="341313" y="5064305"/>
          <a:ext cx="9955215" cy="1719943"/>
        </p:xfrm>
        <a:graphic>
          <a:graphicData uri="http://schemas.openxmlformats.org/drawingml/2006/table">
            <a:tbl>
              <a:tblPr/>
              <a:tblGrid>
                <a:gridCol w="1209747">
                  <a:extLst>
                    <a:ext uri="{9D8B030D-6E8A-4147-A177-3AD203B41FA5}">
                      <a16:colId xmlns:a16="http://schemas.microsoft.com/office/drawing/2014/main" val="4017626008"/>
                    </a:ext>
                  </a:extLst>
                </a:gridCol>
                <a:gridCol w="2870719">
                  <a:extLst>
                    <a:ext uri="{9D8B030D-6E8A-4147-A177-3AD203B41FA5}">
                      <a16:colId xmlns:a16="http://schemas.microsoft.com/office/drawing/2014/main" val="3359141343"/>
                    </a:ext>
                  </a:extLst>
                </a:gridCol>
                <a:gridCol w="641119">
                  <a:extLst>
                    <a:ext uri="{9D8B030D-6E8A-4147-A177-3AD203B41FA5}">
                      <a16:colId xmlns:a16="http://schemas.microsoft.com/office/drawing/2014/main" val="3322543350"/>
                    </a:ext>
                  </a:extLst>
                </a:gridCol>
                <a:gridCol w="641119">
                  <a:extLst>
                    <a:ext uri="{9D8B030D-6E8A-4147-A177-3AD203B41FA5}">
                      <a16:colId xmlns:a16="http://schemas.microsoft.com/office/drawing/2014/main" val="1303065869"/>
                    </a:ext>
                  </a:extLst>
                </a:gridCol>
                <a:gridCol w="1126281">
                  <a:extLst>
                    <a:ext uri="{9D8B030D-6E8A-4147-A177-3AD203B41FA5}">
                      <a16:colId xmlns:a16="http://schemas.microsoft.com/office/drawing/2014/main" val="1093810882"/>
                    </a:ext>
                  </a:extLst>
                </a:gridCol>
                <a:gridCol w="30271">
                  <a:extLst>
                    <a:ext uri="{9D8B030D-6E8A-4147-A177-3AD203B41FA5}">
                      <a16:colId xmlns:a16="http://schemas.microsoft.com/office/drawing/2014/main" val="1735874037"/>
                    </a:ext>
                  </a:extLst>
                </a:gridCol>
                <a:gridCol w="1219799">
                  <a:extLst>
                    <a:ext uri="{9D8B030D-6E8A-4147-A177-3AD203B41FA5}">
                      <a16:colId xmlns:a16="http://schemas.microsoft.com/office/drawing/2014/main" val="3462116424"/>
                    </a:ext>
                  </a:extLst>
                </a:gridCol>
                <a:gridCol w="738720">
                  <a:extLst>
                    <a:ext uri="{9D8B030D-6E8A-4147-A177-3AD203B41FA5}">
                      <a16:colId xmlns:a16="http://schemas.microsoft.com/office/drawing/2014/main" val="3725200927"/>
                    </a:ext>
                  </a:extLst>
                </a:gridCol>
                <a:gridCol w="738720">
                  <a:extLst>
                    <a:ext uri="{9D8B030D-6E8A-4147-A177-3AD203B41FA5}">
                      <a16:colId xmlns:a16="http://schemas.microsoft.com/office/drawing/2014/main" val="1089266138"/>
                    </a:ext>
                  </a:extLst>
                </a:gridCol>
                <a:gridCol w="738720">
                  <a:extLst>
                    <a:ext uri="{9D8B030D-6E8A-4147-A177-3AD203B41FA5}">
                      <a16:colId xmlns:a16="http://schemas.microsoft.com/office/drawing/2014/main" val="4168932190"/>
                    </a:ext>
                  </a:extLst>
                </a:gridCol>
              </a:tblGrid>
              <a:tr h="209749">
                <a:tc>
                  <a:txBody>
                    <a:bodyPr/>
                    <a:lstStyle/>
                    <a:p>
                      <a:pPr algn="l" fontAlgn="ctr"/>
                      <a:r>
                        <a:rPr lang="en-US" altLang="zh-TW" sz="1000" b="0" i="0" u="none" strike="noStrike" dirty="0">
                          <a:solidFill>
                            <a:srgbClr val="161616"/>
                          </a:solidFill>
                          <a:effectLst/>
                          <a:latin typeface="游ゴシック" panose="020B0400000000000000" pitchFamily="50" charset="-128"/>
                          <a:ea typeface="游ゴシック" panose="020B0400000000000000" pitchFamily="50" charset="-128"/>
                        </a:rPr>
                        <a:t>【</a:t>
                      </a:r>
                      <a:r>
                        <a:rPr lang="zh-TW" altLang="en-US" sz="1000" b="0" i="0" u="none" strike="noStrike" dirty="0">
                          <a:solidFill>
                            <a:srgbClr val="161616"/>
                          </a:solidFill>
                          <a:effectLst/>
                          <a:latin typeface="游ゴシック" panose="020B0400000000000000" pitchFamily="50" charset="-128"/>
                          <a:ea typeface="游ゴシック" panose="020B0400000000000000" pitchFamily="50" charset="-128"/>
                        </a:rPr>
                        <a:t>保有不動産一覧</a:t>
                      </a:r>
                      <a:r>
                        <a:rPr lang="en-US" altLang="zh-TW" sz="1000" b="0" i="0" u="none" strike="noStrike" dirty="0">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a:noFill/>
                    </a:lnT>
                    <a:lnB>
                      <a:noFill/>
                    </a:lnB>
                    <a:noFill/>
                  </a:tcPr>
                </a:tc>
                <a:tc>
                  <a:txBody>
                    <a:bodyPr/>
                    <a:lstStyle/>
                    <a:p>
                      <a:pPr algn="ctr" fontAlgn="ctr"/>
                      <a:endPar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endParaRPr lang="ja-JP" altLang="en-US" sz="1000" b="0" i="0" u="none" strike="noStrike">
                        <a:solidFill>
                          <a:srgbClr val="161616"/>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endParaRPr lang="ja-JP" altLang="en-US" sz="1000" b="0" i="0" u="none" strike="noStrike">
                        <a:solidFill>
                          <a:srgbClr val="161616"/>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endParaRPr lang="ja-JP" altLang="en-US" sz="1000" b="0" i="0" u="none" strike="noStrike">
                        <a:solidFill>
                          <a:srgbClr val="161616"/>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endParaRPr lang="ja-JP" altLang="en-US" sz="1000" b="0" i="0" u="none" strike="noStrike">
                        <a:solidFill>
                          <a:srgbClr val="161616"/>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endParaRPr lang="ja-JP" altLang="en-US" sz="1000" b="0" i="0" u="none" strike="noStrike">
                        <a:solidFill>
                          <a:srgbClr val="161616"/>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endParaRPr lang="ja-JP" altLang="en-US"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endParaRPr lang="ja-JP" altLang="en-US"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endParaRPr lang="ja-JP" altLang="en-US"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3169348377"/>
                  </a:ext>
                </a:extLst>
              </a:tr>
              <a:tr h="352379">
                <a:tc>
                  <a:txBody>
                    <a:bodyPr/>
                    <a:lstStyle/>
                    <a:p>
                      <a:pPr algn="ctr" fontAlgn="ct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種類</a:t>
                      </a:r>
                    </a:p>
                  </a:txBody>
                  <a:tcPr marL="0" marR="0" marT="0" marB="0" anchor="ctr">
                    <a:lnL>
                      <a:noFill/>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ja-JP" altLang="en-US" sz="1000" b="1" i="0" u="none" strike="noStrike">
                          <a:solidFill>
                            <a:srgbClr val="FFFFFF"/>
                          </a:solidFill>
                          <a:effectLst/>
                          <a:latin typeface="游ゴシック" panose="020B0400000000000000" pitchFamily="50" charset="-128"/>
                          <a:ea typeface="游ゴシック" panose="020B0400000000000000" pitchFamily="50" charset="-128"/>
                        </a:rPr>
                        <a:t>所在地</a:t>
                      </a:r>
                      <a:br>
                        <a:rPr lang="ja-JP" altLang="en-US" sz="1000" b="1" i="0" u="none" strike="noStrike">
                          <a:solidFill>
                            <a:srgbClr val="FFFFFF"/>
                          </a:solidFill>
                          <a:effectLst/>
                          <a:latin typeface="游ゴシック" panose="020B0400000000000000" pitchFamily="50" charset="-128"/>
                          <a:ea typeface="游ゴシック" panose="020B0400000000000000" pitchFamily="50" charset="-128"/>
                        </a:rPr>
                      </a:br>
                      <a:r>
                        <a:rPr lang="ja-JP" altLang="en-US" sz="1000" b="1" i="0" u="none" strike="noStrike">
                          <a:solidFill>
                            <a:srgbClr val="FFFFFF"/>
                          </a:solidFill>
                          <a:effectLst/>
                          <a:latin typeface="游ゴシック" panose="020B0400000000000000" pitchFamily="50" charset="-128"/>
                          <a:ea typeface="游ゴシック" panose="020B0400000000000000" pitchFamily="50" charset="-128"/>
                        </a:rPr>
                        <a:t>地番・家屋番号</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区分</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所有者</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gridSpan="2">
                  <a:txBody>
                    <a:bodyPr/>
                    <a:lstStyle/>
                    <a:p>
                      <a:pPr algn="ctr" fontAlgn="ct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面積（㎡）</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hMerge="1">
                  <a:txBody>
                    <a:bodyPr/>
                    <a:lstStyle/>
                    <a:p>
                      <a:endParaRPr kumimoji="1" lang="ja-JP" altLang="en-US"/>
                    </a:p>
                  </a:txBody>
                  <a:tcPr/>
                </a:tc>
                <a:tc>
                  <a:txBody>
                    <a:bodyPr/>
                    <a:lstStyle/>
                    <a:p>
                      <a:pPr algn="ctr" fontAlgn="ct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建築年月・事由</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期末簿価</a:t>
                      </a:r>
                      <a:b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b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zh-TW" altLang="en-US" sz="1000" b="1" i="0" u="none" strike="noStrike" dirty="0">
                          <a:solidFill>
                            <a:srgbClr val="FFFFFF"/>
                          </a:solidFill>
                          <a:effectLst/>
                          <a:latin typeface="游ゴシック" panose="020B0400000000000000" pitchFamily="50" charset="-128"/>
                          <a:ea typeface="游ゴシック" panose="020B0400000000000000" pitchFamily="50" charset="-128"/>
                        </a:rPr>
                        <a:t>年間賃料</a:t>
                      </a:r>
                      <a:br>
                        <a:rPr lang="zh-TW" altLang="en-US" sz="1000" b="1" i="0" u="none" strike="noStrike" dirty="0">
                          <a:solidFill>
                            <a:srgbClr val="FFFFFF"/>
                          </a:solidFill>
                          <a:effectLst/>
                          <a:latin typeface="游ゴシック" panose="020B0400000000000000" pitchFamily="50" charset="-128"/>
                          <a:ea typeface="游ゴシック" panose="020B0400000000000000" pitchFamily="50" charset="-128"/>
                        </a:rPr>
                      </a:br>
                      <a:r>
                        <a:rPr lang="zh-TW" altLang="en-US" sz="1000" b="1" i="0" u="none" strike="noStrike" dirty="0">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70C0"/>
                    </a:solidFill>
                  </a:tcPr>
                </a:tc>
                <a:tc>
                  <a:txBody>
                    <a:bodyPr/>
                    <a:lstStyle/>
                    <a:p>
                      <a:pPr algn="ctr" fontAlgn="ctr"/>
                      <a:r>
                        <a:rPr lang="zh-TW" altLang="en-US" sz="1000" b="1" i="0" u="none" strike="noStrike" dirty="0">
                          <a:solidFill>
                            <a:srgbClr val="FFFFFF"/>
                          </a:solidFill>
                          <a:effectLst/>
                          <a:latin typeface="游ゴシック" panose="020B0400000000000000" pitchFamily="50" charset="-128"/>
                          <a:ea typeface="游ゴシック" panose="020B0400000000000000" pitchFamily="50" charset="-128"/>
                        </a:rPr>
                        <a:t>時価評価額</a:t>
                      </a:r>
                      <a:br>
                        <a:rPr lang="zh-TW" altLang="en-US" sz="1000" b="1" i="0" u="none" strike="noStrike" dirty="0">
                          <a:solidFill>
                            <a:srgbClr val="FFFFFF"/>
                          </a:solidFill>
                          <a:effectLst/>
                          <a:latin typeface="游ゴシック" panose="020B0400000000000000" pitchFamily="50" charset="-128"/>
                          <a:ea typeface="游ゴシック" panose="020B0400000000000000" pitchFamily="50" charset="-128"/>
                        </a:rPr>
                      </a:br>
                      <a:r>
                        <a:rPr lang="zh-TW" altLang="en-US" sz="1000" b="1" i="0" u="none" strike="noStrike" dirty="0">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9050" cap="flat" cmpd="sng" algn="ctr">
                      <a:solidFill>
                        <a:srgbClr val="FFFFFF"/>
                      </a:solidFill>
                      <a:prstDash val="solid"/>
                      <a:round/>
                      <a:headEnd type="none" w="med" len="med"/>
                      <a:tailEnd type="none" w="med" len="med"/>
                    </a:lnL>
                    <a:lnR>
                      <a:noFill/>
                    </a:lnR>
                    <a:lnT>
                      <a:noFill/>
                    </a:lnT>
                    <a:lnB>
                      <a:noFill/>
                    </a:lnB>
                    <a:solidFill>
                      <a:srgbClr val="0070C0"/>
                    </a:solidFill>
                  </a:tcPr>
                </a:tc>
                <a:extLst>
                  <a:ext uri="{0D108BD9-81ED-4DB2-BD59-A6C34878D82A}">
                    <a16:rowId xmlns:a16="http://schemas.microsoft.com/office/drawing/2014/main" val="1841689501"/>
                  </a:ext>
                </a:extLst>
              </a:tr>
              <a:tr h="231563">
                <a:tc rowSpan="2">
                  <a:txBody>
                    <a:bodyPr/>
                    <a:lstStyle/>
                    <a:p>
                      <a:pPr algn="ctr" fontAlgn="ct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収益不動産</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a:txBody>
                    <a:bodyPr/>
                    <a:lstStyle/>
                    <a:p>
                      <a:pPr algn="l" fontAlgn="ctr"/>
                      <a:r>
                        <a:rPr lang="zh-TW" altLang="en-US" sz="1000" b="0" i="0" u="none" strike="noStrike" dirty="0">
                          <a:solidFill>
                            <a:srgbClr val="161616"/>
                          </a:solidFill>
                          <a:effectLst/>
                          <a:latin typeface="游ゴシック" panose="020B0400000000000000" pitchFamily="50" charset="-128"/>
                          <a:ea typeface="游ゴシック" panose="020B0400000000000000" pitchFamily="50" charset="-128"/>
                        </a:rPr>
                        <a:t>東京都中央区築地三丁目</a:t>
                      </a:r>
                      <a:r>
                        <a:rPr lang="en-US" altLang="zh-TW" sz="1000" b="0" i="0" u="none" strike="noStrike" dirty="0">
                          <a:solidFill>
                            <a:srgbClr val="161616"/>
                          </a:solidFill>
                          <a:effectLst/>
                          <a:latin typeface="游ゴシック" panose="020B0400000000000000" pitchFamily="50" charset="-128"/>
                          <a:ea typeface="游ゴシック" panose="020B0400000000000000" pitchFamily="50" charset="-128"/>
                        </a:rPr>
                        <a:t>1107</a:t>
                      </a:r>
                      <a:r>
                        <a:rPr lang="zh-TW" altLang="en-US" sz="1000" b="0" i="0" u="none" strike="noStrike" dirty="0">
                          <a:solidFill>
                            <a:srgbClr val="161616"/>
                          </a:solidFill>
                          <a:effectLst/>
                          <a:latin typeface="游ゴシック" panose="020B0400000000000000" pitchFamily="50" charset="-128"/>
                          <a:ea typeface="游ゴシック" panose="020B0400000000000000" pitchFamily="50" charset="-128"/>
                        </a:rPr>
                        <a:t>番</a:t>
                      </a:r>
                      <a:r>
                        <a:rPr lang="en-US" altLang="zh-TW" sz="1000" b="0" i="0" u="none" strike="noStrike" dirty="0">
                          <a:solidFill>
                            <a:srgbClr val="161616"/>
                          </a:solidFill>
                          <a:effectLst/>
                          <a:latin typeface="游ゴシック" panose="020B0400000000000000" pitchFamily="50" charset="-128"/>
                          <a:ea typeface="游ゴシック" panose="020B0400000000000000" pitchFamily="50" charset="-128"/>
                        </a:rPr>
                        <a:t>4</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宅地</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分割会社</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gridSpan="2">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32.74</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hMerge="1">
                  <a:txBody>
                    <a:bodyPr/>
                    <a:lstStyle/>
                    <a:p>
                      <a:endParaRPr kumimoji="1" lang="ja-JP" altLang="en-US"/>
                    </a:p>
                  </a:txBody>
                  <a:tcPr/>
                </a:tc>
                <a:tc>
                  <a:txBody>
                    <a:bodyPr/>
                    <a:lstStyle/>
                    <a:p>
                      <a:pPr algn="ctr" fontAlgn="ct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1995</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年</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3</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月</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7</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日売買</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163,031</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rowSpan="2">
                  <a:txBody>
                    <a:bodyPr/>
                    <a:lstStyle/>
                    <a:p>
                      <a:pPr algn="r" fontAlgn="ct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13,200</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tc rowSpan="2">
                  <a:txBody>
                    <a:bodyPr/>
                    <a:lstStyle/>
                    <a:p>
                      <a:pPr algn="r" fontAlgn="ctr"/>
                      <a:r>
                        <a:rPr lang="en-US" altLang="ja-JP" sz="1000" b="0" i="0" u="none" strike="noStrike" dirty="0">
                          <a:solidFill>
                            <a:srgbClr val="C00000"/>
                          </a:solidFill>
                          <a:effectLst/>
                          <a:latin typeface="游ゴシック" panose="020B0400000000000000" pitchFamily="50" charset="-128"/>
                          <a:ea typeface="游ゴシック" panose="020B0400000000000000" pitchFamily="50" charset="-128"/>
                        </a:rPr>
                        <a:t>330,000</a:t>
                      </a:r>
                    </a:p>
                  </a:txBody>
                  <a:tcPr marL="0" marR="0" marT="0" marB="0" anchor="ctr">
                    <a:lnL>
                      <a:noFill/>
                    </a:lnL>
                    <a:lnR>
                      <a:noFill/>
                    </a:lnR>
                    <a:lnT>
                      <a:noFill/>
                    </a:lnT>
                    <a:lnB w="190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39833964"/>
                  </a:ext>
                </a:extLst>
              </a:tr>
              <a:tr h="231563">
                <a:tc vMerge="1">
                  <a:txBody>
                    <a:bodyPr/>
                    <a:lstStyle/>
                    <a:p>
                      <a:endParaRPr kumimoji="1" lang="ja-JP" altLang="en-US"/>
                    </a:p>
                  </a:txBody>
                  <a:tcPr/>
                </a:tc>
                <a:tc>
                  <a:txBody>
                    <a:bodyPr/>
                    <a:lstStyle/>
                    <a:p>
                      <a:pPr algn="l" fontAlgn="ct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東京都中央区築地三丁目</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1107</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番</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4</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の</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1001</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事務所</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分割会社</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gridSpan="2">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235.60</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hMerge="1">
                  <a:txBody>
                    <a:bodyPr/>
                    <a:lstStyle/>
                    <a:p>
                      <a:endParaRPr kumimoji="1" lang="ja-JP" altLang="en-US"/>
                    </a:p>
                  </a:txBody>
                  <a:tcPr/>
                </a:tc>
                <a:tc>
                  <a:txBody>
                    <a:bodyPr/>
                    <a:lstStyle/>
                    <a:p>
                      <a:pPr algn="ctr" fontAlgn="ct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1993</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年</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2</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月</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5</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日新築</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20,845</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835837549"/>
                  </a:ext>
                </a:extLst>
              </a:tr>
              <a:tr h="231563">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保養所</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l" fontAlgn="ct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神奈川県逗子市小坪</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5-424-3</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居宅</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要確認</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l" fontAlgn="ct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rowSpan="2">
                  <a:txBody>
                    <a:bodyPr/>
                    <a:lstStyle/>
                    <a:p>
                      <a:pPr algn="r" fontAlgn="ct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1,615</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rowSpan="2">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rowSpan="2">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7840068"/>
                  </a:ext>
                </a:extLst>
              </a:tr>
              <a:tr h="231563">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保養所</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l" fontAlgn="ct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静岡県熱海市紅葉ガ丘町</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1868</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番地</a:t>
                      </a: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2</a:t>
                      </a:r>
                      <a:r>
                        <a:rPr lang="ja-JP" altLang="en-US" sz="1000" b="0" i="0" u="none" strike="noStrike" dirty="0">
                          <a:solidFill>
                            <a:srgbClr val="161616"/>
                          </a:solidFill>
                          <a:effectLst/>
                          <a:latin typeface="游ゴシック" panose="020B0400000000000000" pitchFamily="50" charset="-128"/>
                          <a:ea typeface="游ゴシック" panose="020B0400000000000000" pitchFamily="50" charset="-128"/>
                        </a:rPr>
                        <a:t>等</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居宅</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要確認</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l" fontAlgn="ctr"/>
                      <a:r>
                        <a:rPr lang="ja-JP" altLang="en-US" sz="1000" b="0" i="0" u="none" strike="noStrike">
                          <a:solidFill>
                            <a:srgbClr val="161616"/>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a:txBody>
                    <a:bodyPr/>
                    <a:lstStyle/>
                    <a:p>
                      <a:pPr algn="ctr" fontAlgn="ctr"/>
                      <a:r>
                        <a:rPr lang="en-US" altLang="ja-JP" sz="1000" b="0" i="0" u="none" strike="noStrike">
                          <a:solidFill>
                            <a:srgbClr val="161616"/>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599838653"/>
                  </a:ext>
                </a:extLst>
              </a:tr>
              <a:tr h="231563">
                <a:tc gridSpan="9">
                  <a:txBody>
                    <a:bodyPr/>
                    <a:lstStyle/>
                    <a:p>
                      <a:pPr algn="l" fontAlgn="ctr"/>
                      <a:r>
                        <a:rPr lang="en-US" altLang="ja-JP" sz="1000" b="0" i="0" u="none" strike="noStrike" dirty="0">
                          <a:solidFill>
                            <a:srgbClr val="161616"/>
                          </a:solidFill>
                          <a:effectLst/>
                          <a:latin typeface="游ゴシック" panose="020B0400000000000000" pitchFamily="50" charset="-128"/>
                          <a:ea typeface="游ゴシック" panose="020B0400000000000000" pitchFamily="50" charset="-128"/>
                        </a:rPr>
                        <a:t>※1：収益不動産（築地スクエアビル）は表面利回り4%想定の収益還元により評価　※2：分割会社＝株式会社StorehouseField。保養所の帰属は要確認</a:t>
                      </a:r>
                    </a:p>
                  </a:txBody>
                  <a:tcPr marL="0" marR="0" marT="0" marB="0" anchor="ctr">
                    <a:lnL>
                      <a:noFill/>
                    </a:lnL>
                    <a:lnR>
                      <a:noFill/>
                    </a:lnR>
                    <a:lnT w="19050" cap="flat" cmpd="sng" algn="ctr">
                      <a:solidFill>
                        <a:srgbClr val="BFBFBF"/>
                      </a:solidFill>
                      <a:prstDash val="solid"/>
                      <a:round/>
                      <a:headEnd type="none" w="med" len="med"/>
                      <a:tailEnd type="none" w="med" len="med"/>
                    </a:lnT>
                    <a:lnB>
                      <a:noFill/>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l" fontAlgn="ctr"/>
                      <a:endParaRPr lang="ja-JP" altLang="en-US" sz="900" b="0" i="0" u="none" strike="noStrike">
                        <a:solidFill>
                          <a:srgbClr val="161616"/>
                        </a:solidFill>
                        <a:effectLst/>
                        <a:latin typeface="游ゴシック Medium" panose="020B0500000000000000" pitchFamily="50" charset="-128"/>
                        <a:ea typeface="游ゴシック Medium" panose="020B0500000000000000" pitchFamily="50" charset="-128"/>
                      </a:endParaRPr>
                    </a:p>
                  </a:txBody>
                  <a:tcPr marL="0" marR="0" marT="0" marB="0" anchor="ctr">
                    <a:lnL>
                      <a:noFill/>
                    </a:lnL>
                    <a:lnR>
                      <a:noFill/>
                    </a:lnR>
                    <a:lnT w="19050" cap="flat" cmpd="sng" algn="ctr">
                      <a:solidFill>
                        <a:srgbClr val="BFBFBF"/>
                      </a:solidFill>
                      <a:prstDash val="solid"/>
                      <a:round/>
                      <a:headEnd type="none" w="med" len="med"/>
                      <a:tailEnd type="none" w="med" len="med"/>
                    </a:lnT>
                    <a:lnB>
                      <a:noFill/>
                    </a:lnB>
                    <a:noFill/>
                  </a:tcPr>
                </a:tc>
                <a:tc hMerge="1">
                  <a:txBody>
                    <a:bodyPr/>
                    <a:lstStyle/>
                    <a:p>
                      <a:pPr algn="ctr" fontAlgn="ctr"/>
                      <a:endParaRPr lang="ja-JP" altLang="en-US" sz="900" b="0" i="0" u="none" strike="noStrike" dirty="0">
                        <a:solidFill>
                          <a:srgbClr val="161616"/>
                        </a:solidFill>
                        <a:effectLst/>
                        <a:latin typeface="游ゴシック Medium" panose="020B0500000000000000" pitchFamily="50" charset="-128"/>
                        <a:ea typeface="游ゴシック Medium" panose="020B0500000000000000" pitchFamily="50" charset="-128"/>
                      </a:endParaRPr>
                    </a:p>
                  </a:txBody>
                  <a:tcPr marL="0" marR="0" marT="0" marB="0" anchor="ctr">
                    <a:lnL>
                      <a:noFill/>
                    </a:lnL>
                    <a:lnR>
                      <a:noFill/>
                    </a:lnR>
                    <a:lnT w="19050" cap="flat" cmpd="sng" algn="ctr">
                      <a:solidFill>
                        <a:srgbClr val="BFBFBF"/>
                      </a:solidFill>
                      <a:prstDash val="solid"/>
                      <a:round/>
                      <a:headEnd type="none" w="med" len="med"/>
                      <a:tailEnd type="none" w="med" len="med"/>
                    </a:lnT>
                    <a:lnB>
                      <a:noFill/>
                    </a:lnB>
                    <a:noFill/>
                  </a:tcPr>
                </a:tc>
                <a:tc hMerge="1">
                  <a:txBody>
                    <a:bodyPr/>
                    <a:lstStyle/>
                    <a:p>
                      <a:pPr algn="r" fontAlgn="ctr"/>
                      <a:endParaRPr lang="ja-JP" altLang="en-US" sz="900" b="0" i="0" u="none" strike="noStrike" dirty="0">
                        <a:solidFill>
                          <a:srgbClr val="161616"/>
                        </a:solidFill>
                        <a:effectLst/>
                        <a:latin typeface="游ゴシック Medium" panose="020B0500000000000000" pitchFamily="50" charset="-128"/>
                        <a:ea typeface="游ゴシック Medium" panose="020B0500000000000000" pitchFamily="50" charset="-128"/>
                      </a:endParaRPr>
                    </a:p>
                  </a:txBody>
                  <a:tcPr marL="0" marR="0" marT="0" marB="0" anchor="ctr">
                    <a:lnL>
                      <a:noFill/>
                    </a:lnL>
                    <a:lnR>
                      <a:noFill/>
                    </a:lnR>
                    <a:lnT w="19050" cap="flat" cmpd="sng" algn="ctr">
                      <a:solidFill>
                        <a:srgbClr val="BFBFBF"/>
                      </a:solidFill>
                      <a:prstDash val="solid"/>
                      <a:round/>
                      <a:headEnd type="none" w="med" len="med"/>
                      <a:tailEnd type="none" w="med" len="med"/>
                    </a:lnT>
                    <a:lnB>
                      <a:noFill/>
                    </a:lnB>
                    <a:noFill/>
                  </a:tcPr>
                </a:tc>
                <a:tc hMerge="1">
                  <a:txBody>
                    <a:bodyPr/>
                    <a:lstStyle/>
                    <a:p>
                      <a:pPr algn="l" fontAlgn="ctr"/>
                      <a:endParaRPr lang="ja-JP" altLang="en-US" sz="9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0" marR="0" marT="0" marB="0" anchor="ctr">
                    <a:lnL>
                      <a:noFill/>
                    </a:lnL>
                    <a:lnR>
                      <a:noFill/>
                    </a:lnR>
                    <a:lnT w="19050" cap="flat" cmpd="sng" algn="ctr">
                      <a:solidFill>
                        <a:srgbClr val="BFBFBF"/>
                      </a:solidFill>
                      <a:prstDash val="solid"/>
                      <a:round/>
                      <a:headEnd type="none" w="med" len="med"/>
                      <a:tailEnd type="none" w="med" len="med"/>
                    </a:lnT>
                    <a:lnB>
                      <a:noFill/>
                    </a:lnB>
                    <a:noFill/>
                  </a:tcPr>
                </a:tc>
                <a:tc>
                  <a:txBody>
                    <a:bodyPr/>
                    <a:lstStyle/>
                    <a:p>
                      <a:pPr algn="l" fontAlgn="ctr"/>
                      <a:endPar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19050" cap="flat" cmpd="sng" algn="ctr">
                      <a:solidFill>
                        <a:srgbClr val="BFBFBF"/>
                      </a:solidFill>
                      <a:prstDash val="solid"/>
                      <a:round/>
                      <a:headEnd type="none" w="med" len="med"/>
                      <a:tailEnd type="none" w="med" len="med"/>
                    </a:lnT>
                    <a:lnB>
                      <a:noFill/>
                    </a:lnB>
                    <a:noFill/>
                  </a:tcPr>
                </a:tc>
                <a:extLst>
                  <a:ext uri="{0D108BD9-81ED-4DB2-BD59-A6C34878D82A}">
                    <a16:rowId xmlns:a16="http://schemas.microsoft.com/office/drawing/2014/main" val="788123499"/>
                  </a:ext>
                </a:extLst>
              </a:tr>
            </a:tbl>
          </a:graphicData>
        </a:graphic>
      </p:graphicFrame>
      <p:sp>
        <p:nvSpPr>
          <p:cNvPr id="8" name="タイトル 1">
            <a:extLst>
              <a:ext uri="{FF2B5EF4-FFF2-40B4-BE49-F238E27FC236}">
                <a16:creationId xmlns:a16="http://schemas.microsoft.com/office/drawing/2014/main" id="{3DDFDFA3-3C5B-2A66-D372-B1F289C0BA2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実績、組織、拠点等</a:t>
            </a:r>
          </a:p>
        </p:txBody>
      </p:sp>
    </p:spTree>
    <p:extLst>
      <p:ext uri="{BB962C8B-B14F-4D97-AF65-F5344CB8AC3E}">
        <p14:creationId xmlns:p14="http://schemas.microsoft.com/office/powerpoint/2010/main" val="915540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pic>
        <p:nvPicPr>
          <p:cNvPr id="8" name="図 7">
            <a:extLst>
              <a:ext uri="{FF2B5EF4-FFF2-40B4-BE49-F238E27FC236}">
                <a16:creationId xmlns:a16="http://schemas.microsoft.com/office/drawing/2014/main" id="{1724EF15-B582-3E6A-F08D-8028970BADDB}"/>
              </a:ext>
            </a:extLst>
          </p:cNvPr>
          <p:cNvPicPr>
            <a:picLocks noChangeAspect="1"/>
          </p:cNvPicPr>
          <p:nvPr/>
        </p:nvPicPr>
        <p:blipFill>
          <a:blip r:embed="rId3"/>
          <a:stretch>
            <a:fillRect/>
          </a:stretch>
        </p:blipFill>
        <p:spPr>
          <a:xfrm>
            <a:off x="311150" y="887330"/>
            <a:ext cx="8218982" cy="5953208"/>
          </a:xfrm>
          <a:prstGeom prst="rect">
            <a:avLst/>
          </a:prstGeom>
        </p:spPr>
      </p:pic>
      <p:sp>
        <p:nvSpPr>
          <p:cNvPr id="14" name="TextBox 13"/>
          <p:cNvSpPr txBox="1"/>
          <p:nvPr/>
        </p:nvSpPr>
        <p:spPr>
          <a:xfrm>
            <a:off x="8667292" y="914400"/>
            <a:ext cx="1704481" cy="1280160"/>
          </a:xfrm>
          <a:prstGeom prst="rect">
            <a:avLst/>
          </a:prstGeom>
          <a:noFill/>
        </p:spPr>
        <p:txBody>
          <a:bodyPr wrap="square" lIns="0" rIns="0" tIns="0" bIns="0">
            <a:spAutoFit/>
          </a:bodyPr>
          <a:lstStyle/>
          <a:p>
            <a:r>
              <a:rPr sz="900">
                <a:solidFill>
                  <a:srgbClr val="404040"/>
                </a:solidFill>
                <a:latin typeface="游ゴシック"/>
                <a:ea typeface="游ゴシック"/>
              </a:rPr>
              <a:t>※分割前の旧株式会社アドレイ（現：株式会社StorehouseField）の決算数値であり、不動産賃貸事業を含みます。分割後の譲渡対象会社BSはP.11をご参照ください。</a:t>
            </a:r>
          </a:p>
        </p:txBody>
      </p:sp>
    </p:spTree>
    <p:extLst>
      <p:ext uri="{BB962C8B-B14F-4D97-AF65-F5344CB8AC3E}">
        <p14:creationId xmlns:p14="http://schemas.microsoft.com/office/powerpoint/2010/main" val="2877881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pic>
        <p:nvPicPr>
          <p:cNvPr id="8" name="図 7">
            <a:extLst>
              <a:ext uri="{FF2B5EF4-FFF2-40B4-BE49-F238E27FC236}">
                <a16:creationId xmlns:a16="http://schemas.microsoft.com/office/drawing/2014/main" id="{78B64784-B6F8-6DFE-9B0D-EA10A1B252AC}"/>
              </a:ext>
            </a:extLst>
          </p:cNvPr>
          <p:cNvPicPr>
            <a:picLocks noChangeAspect="1"/>
          </p:cNvPicPr>
          <p:nvPr/>
        </p:nvPicPr>
        <p:blipFill>
          <a:blip r:embed="rId3"/>
          <a:stretch>
            <a:fillRect/>
          </a:stretch>
        </p:blipFill>
        <p:spPr>
          <a:xfrm>
            <a:off x="311150" y="775853"/>
            <a:ext cx="8236502" cy="6199949"/>
          </a:xfrm>
          <a:prstGeom prst="rect">
            <a:avLst/>
          </a:prstGeom>
        </p:spPr>
      </p:pic>
      <p:sp>
        <p:nvSpPr>
          <p:cNvPr id="14" name="TextBox 13"/>
          <p:cNvSpPr txBox="1"/>
          <p:nvPr/>
        </p:nvSpPr>
        <p:spPr>
          <a:xfrm>
            <a:off x="8684812" y="914400"/>
            <a:ext cx="1686961" cy="1280160"/>
          </a:xfrm>
          <a:prstGeom prst="rect">
            <a:avLst/>
          </a:prstGeom>
          <a:noFill/>
        </p:spPr>
        <p:txBody>
          <a:bodyPr wrap="square" lIns="0" rIns="0" tIns="0" bIns="0">
            <a:spAutoFit/>
          </a:bodyPr>
          <a:lstStyle/>
          <a:p>
            <a:r>
              <a:rPr sz="900">
                <a:solidFill>
                  <a:srgbClr val="404040"/>
                </a:solidFill>
                <a:latin typeface="游ゴシック"/>
                <a:ea typeface="游ゴシック"/>
              </a:rPr>
              <a:t>※分割前の旧株式会社アドレイ（現：株式会社StorehouseField）の決算数値であり、不動産賃貸事業を含みます。分割後の譲渡対象会社BSはP.11をご参照ください。</a:t>
            </a:r>
          </a:p>
        </p:txBody>
      </p:sp>
    </p:spTree>
    <p:extLst>
      <p:ext uri="{BB962C8B-B14F-4D97-AF65-F5344CB8AC3E}">
        <p14:creationId xmlns:p14="http://schemas.microsoft.com/office/powerpoint/2010/main" val="37409429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pic>
        <p:nvPicPr>
          <p:cNvPr id="6" name="図 5">
            <a:extLst>
              <a:ext uri="{FF2B5EF4-FFF2-40B4-BE49-F238E27FC236}">
                <a16:creationId xmlns:a16="http://schemas.microsoft.com/office/drawing/2014/main" id="{3103C684-8196-869D-15B0-1B9BF678BA27}"/>
              </a:ext>
            </a:extLst>
          </p:cNvPr>
          <p:cNvPicPr>
            <a:picLocks noChangeAspect="1"/>
          </p:cNvPicPr>
          <p:nvPr/>
        </p:nvPicPr>
        <p:blipFill>
          <a:blip r:embed="rId3"/>
          <a:stretch>
            <a:fillRect/>
          </a:stretch>
        </p:blipFill>
        <p:spPr>
          <a:xfrm>
            <a:off x="311150" y="762372"/>
            <a:ext cx="6039954" cy="6215135"/>
          </a:xfrm>
          <a:prstGeom prst="rect">
            <a:avLst/>
          </a:prstGeom>
        </p:spPr>
      </p:pic>
      <p:sp>
        <p:nvSpPr>
          <p:cNvPr id="14" name="TextBox 13"/>
          <p:cNvSpPr txBox="1"/>
          <p:nvPr/>
        </p:nvSpPr>
        <p:spPr>
          <a:xfrm>
            <a:off x="6488264" y="914400"/>
            <a:ext cx="3883509" cy="1280160"/>
          </a:xfrm>
          <a:prstGeom prst="rect">
            <a:avLst/>
          </a:prstGeom>
          <a:noFill/>
        </p:spPr>
        <p:txBody>
          <a:bodyPr wrap="square" lIns="0" rIns="0" tIns="0" bIns="0">
            <a:spAutoFit/>
          </a:bodyPr>
          <a:lstStyle/>
          <a:p>
            <a:r>
              <a:rPr sz="900">
                <a:solidFill>
                  <a:srgbClr val="404040"/>
                </a:solidFill>
                <a:latin typeface="游ゴシック"/>
                <a:ea typeface="游ゴシック"/>
              </a:rPr>
              <a:t>※分割前の旧株式会社アドレイ（現：株式会社StorehouseField）の決算数値であり、不動産賃貸事業を含みます。分割後の譲渡対象会社BSはP.11をご参照ください。</a:t>
            </a:r>
          </a:p>
        </p:txBody>
      </p:sp>
    </p:spTree>
    <p:extLst>
      <p:ext uri="{BB962C8B-B14F-4D97-AF65-F5344CB8AC3E}">
        <p14:creationId xmlns:p14="http://schemas.microsoft.com/office/powerpoint/2010/main" val="1909380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12437</TotalTime>
  <Words>6044</Words>
  <Application>Microsoft Office PowerPoint</Application>
  <PresentationFormat>ユーザー設定</PresentationFormat>
  <Paragraphs>1690</Paragraphs>
  <Slides>40</Slides>
  <Notes>35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40</vt:i4>
      </vt:variant>
    </vt:vector>
  </HeadingPairs>
  <TitlesOfParts>
    <vt:vector size="45" baseType="lpstr">
      <vt:lpstr>游ゴシック</vt:lpstr>
      <vt:lpstr>游ゴシック Medium</vt:lpstr>
      <vt:lpstr>Arial</vt:lpstr>
      <vt:lpstr>Wingdings</vt:lpstr>
      <vt:lpstr>SL_2026</vt:lpstr>
      <vt:lpstr>企業概要書 &lt;広告制作＆CRM導入コンサル@関東&gt;　</vt:lpstr>
      <vt:lpstr>はじめに</vt:lpstr>
      <vt:lpstr>PowerPoint プレゼンテーション</vt:lpstr>
      <vt:lpstr>エグゼクティブサマリー</vt:lpstr>
      <vt:lpstr>基本情報</vt:lpstr>
      <vt:lpstr>事業全体像</vt:lpstr>
      <vt:lpstr>本件スキーム｜会社分割スキーム</vt:lpstr>
      <vt:lpstr>財務ハイライト（部門別売上推移）</vt:lpstr>
      <vt:lpstr>財務ハイライト（事業利益）</vt:lpstr>
      <vt:lpstr>会社分割スキームの前提整理</vt:lpstr>
      <vt:lpstr>分割後BSイメージ（2025年7月期ベース）</vt:lpstr>
      <vt:lpstr>譲渡希望条件</vt:lpstr>
      <vt:lpstr>事業概要</vt:lpstr>
      <vt:lpstr>事業内容</vt:lpstr>
      <vt:lpstr>サービス概要</vt:lpstr>
      <vt:lpstr>業務フロー</vt:lpstr>
      <vt:lpstr>参考）Marketing Cloudについて</vt:lpstr>
      <vt:lpstr>業務フローと納品スケジュール</vt:lpstr>
      <vt:lpstr>料金体系</vt:lpstr>
      <vt:lpstr>パッケージ例｜初期構築フェーズ</vt:lpstr>
      <vt:lpstr>得意先別売上高</vt:lpstr>
      <vt:lpstr>進行中案件_抜粋</vt:lpstr>
      <vt:lpstr>外注費</vt:lpstr>
      <vt:lpstr>実績、組織、拠点等</vt:lpstr>
      <vt:lpstr>実績（Data＆Digital Growth事業部）</vt:lpstr>
      <vt:lpstr>実績（Data＆Digital Growth事業部）</vt:lpstr>
      <vt:lpstr>実績（企画制作部｜純広告）</vt:lpstr>
      <vt:lpstr>実績（企画制作部｜記事タイアップ）</vt:lpstr>
      <vt:lpstr>実績（企画制作部｜冊子）</vt:lpstr>
      <vt:lpstr>実績（企画制作部｜Webデザイン）</vt:lpstr>
      <vt:lpstr>従業員</vt:lpstr>
      <vt:lpstr>組織図</vt:lpstr>
      <vt:lpstr>株主及び役員</vt:lpstr>
      <vt:lpstr>拠点概要（本社）</vt:lpstr>
      <vt:lpstr>保有不動産　※譲渡対象外</vt:lpstr>
      <vt:lpstr>財務情報詳細</vt:lpstr>
      <vt:lpstr>貸借対照表</vt:lpstr>
      <vt:lpstr>損益計算書</vt:lpstr>
      <vt:lpstr>販売費及び一般管理費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田垣内 啓介</cp:lastModifiedBy>
  <cp:revision>189</cp:revision>
  <cp:lastPrinted>2025-10-23T01:12:16Z</cp:lastPrinted>
  <dcterms:created xsi:type="dcterms:W3CDTF">2022-11-09T11:25:01Z</dcterms:created>
  <dcterms:modified xsi:type="dcterms:W3CDTF">2026-09-12T14:32:21Z</dcterms:modified>
</cp:coreProperties>
</file>