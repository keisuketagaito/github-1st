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media/image6.svg" ContentType="image/svg+xml"/>
  <Override PartName="/ppt/media/image7.svg" ContentType="image/svg+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howSpecialPlsOnTitleSld="0" strictFirstAndLastChars="0" saveSubsetFonts="1" autoCompressPictures="0">
  <p:sldMasterIdLst>
    <p:sldMasterId id="2147483653" r:id="rId1"/>
  </p:sldMasterIdLst>
  <p:notesMasterIdLst>
    <p:notesMasterId r:id="rId66"/>
  </p:notesMasterIdLst>
  <p:sldIdLst>
    <p:sldId id="770" r:id="rId2"/>
    <p:sldId id="269" r:id="rId3"/>
    <p:sldId id="693" r:id="rId4"/>
    <p:sldId id="846" r:id="rId72"/>
    <p:sldId id="847" r:id="rId73"/>
    <p:sldId id="848" r:id="rId74"/>
    <p:sldId id="849" r:id="rId75"/>
    <p:sldId id="850" r:id="rId76"/>
    <p:sldId id="851" r:id="rId77"/>
    <p:sldId id="852" r:id="rId78"/>
    <p:sldId id="853" r:id="rId79"/>
    <p:sldId id="854" r:id="rId80"/>
    <p:sldId id="855" r:id="rId81"/>
    <p:sldId id="856" r:id="rId82"/>
    <p:sldId id="857" r:id="rId83"/>
    <p:sldId id="858" r:id="rId84"/>
    <p:sldId id="859" r:id="rId85"/>
    <p:sldId id="860" r:id="rId86"/>
    <p:sldId id="861" r:id="rId87"/>
    <p:sldId id="277" r:id="rId65"/>
  </p:sldIdLst>
  <p:sldSz cx="10691813" cy="7559675"/>
  <p:notesSz cx="6794500" cy="99314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既定のセクション" id="{F15EE332-85E8-464E-BD9B-6722D42356EC}">
          <p14:sldIdLst>
            <p14:sldId id="770"/>
            <p14:sldId id="269"/>
            <p14:sldId id="693"/>
            <p14:sldId id="749"/>
            <p14:sldId id="748"/>
            <p14:sldId id="803"/>
            <p14:sldId id="774"/>
            <p14:sldId id="775"/>
            <p14:sldId id="266"/>
            <p14:sldId id="772"/>
            <p14:sldId id="776"/>
            <p14:sldId id="844"/>
            <p14:sldId id="835"/>
            <p14:sldId id="810"/>
            <p14:sldId id="827"/>
            <p14:sldId id="796"/>
            <p14:sldId id="833"/>
            <p14:sldId id="834"/>
            <p14:sldId id="831"/>
            <p14:sldId id="771"/>
            <p14:sldId id="780"/>
            <p14:sldId id="789"/>
            <p14:sldId id="781"/>
            <p14:sldId id="836"/>
            <p14:sldId id="838"/>
            <p14:sldId id="839"/>
            <p14:sldId id="841"/>
            <p14:sldId id="840"/>
            <p14:sldId id="845"/>
            <p14:sldId id="842"/>
            <p14:sldId id="843"/>
            <p14:sldId id="793"/>
            <p14:sldId id="804"/>
            <p14:sldId id="805"/>
            <p14:sldId id="806"/>
            <p14:sldId id="808"/>
            <p14:sldId id="807"/>
            <p14:sldId id="809"/>
            <p14:sldId id="795"/>
            <p14:sldId id="811"/>
            <p14:sldId id="812"/>
            <p14:sldId id="813"/>
            <p14:sldId id="814"/>
            <p14:sldId id="815"/>
            <p14:sldId id="816"/>
            <p14:sldId id="817"/>
            <p14:sldId id="818"/>
            <p14:sldId id="819"/>
            <p14:sldId id="820"/>
            <p14:sldId id="821"/>
            <p14:sldId id="822"/>
            <p14:sldId id="823"/>
            <p14:sldId id="824"/>
            <p14:sldId id="802"/>
            <p14:sldId id="773"/>
            <p14:sldId id="784"/>
            <p14:sldId id="785"/>
            <p14:sldId id="787"/>
            <p14:sldId id="782"/>
            <p14:sldId id="783"/>
            <p14:sldId id="794"/>
            <p14:sldId id="788"/>
            <p14:sldId id="801"/>
            <p14:sldId id="277"/>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3128" userDrawn="1">
          <p15:clr>
            <a:srgbClr val="A4A3A4"/>
          </p15:clr>
        </p15:guide>
        <p15:guide id="2" pos="2140" userDrawn="1">
          <p15:clr>
            <a:srgbClr val="A4A3A4"/>
          </p15:clr>
        </p15:guide>
      </p15:notes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67" roundtripDataSignature="AMtx7miHo5eoGHrZPWeT5AyeZZ6LkEE/Y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F80"/>
    <a:srgbClr val="E7EFFB"/>
    <a:srgbClr val="E3E7E9"/>
    <a:srgbClr val="1F3864"/>
    <a:srgbClr val="003574"/>
    <a:srgbClr val="003775"/>
    <a:srgbClr val="EBEFF8"/>
    <a:srgbClr val="FBFBFC"/>
    <a:srgbClr val="0B3041"/>
    <a:srgbClr val="ECF2F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E9FEF8D-0F9E-4D7E-9A0F-5DDE6A6739AB}">
  <a:tblStyle styleId="{2E9FEF8D-0F9E-4D7E-9A0F-5DDE6A6739AB}" styleName="Table_0">
    <a:wholeTbl>
      <a:tcTxStyle b="off" i="off">
        <a:font>
          <a:latin typeface="游ゴシック"/>
          <a:ea typeface="游ゴシック"/>
          <a:cs typeface="游ゴシック"/>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9EFF7"/>
          </a:solidFill>
        </a:fill>
      </a:tcStyle>
    </a:wholeTbl>
    <a:band1H>
      <a:tcTxStyle/>
      <a:tcStyle>
        <a:tcBdr/>
        <a:fill>
          <a:solidFill>
            <a:srgbClr val="D0DEEF"/>
          </a:solidFill>
        </a:fill>
      </a:tcStyle>
    </a:band1H>
    <a:band2H>
      <a:tcTxStyle/>
      <a:tcStyle>
        <a:tcBdr/>
      </a:tcStyle>
    </a:band2H>
    <a:band1V>
      <a:tcTxStyle/>
      <a:tcStyle>
        <a:tcBdr/>
        <a:fill>
          <a:solidFill>
            <a:srgbClr val="D0DEEF"/>
          </a:solidFill>
        </a:fill>
      </a:tcStyle>
    </a:band1V>
    <a:band2V>
      <a:tcTxStyle/>
      <a:tcStyle>
        <a:tcBdr/>
      </a:tcStyle>
    </a:band2V>
    <a:lastCol>
      <a:tcTxStyle b="on" i="off">
        <a:font>
          <a:latin typeface="游ゴシック"/>
          <a:ea typeface="游ゴシック"/>
          <a:cs typeface="游ゴシック"/>
        </a:font>
        <a:schemeClr val="lt1"/>
      </a:tcTxStyle>
      <a:tcStyle>
        <a:tcBdr/>
        <a:fill>
          <a:solidFill>
            <a:schemeClr val="accent5"/>
          </a:solidFill>
        </a:fill>
      </a:tcStyle>
    </a:lastCol>
    <a:firstCol>
      <a:tcTxStyle b="on" i="off">
        <a:font>
          <a:latin typeface="游ゴシック"/>
          <a:ea typeface="游ゴシック"/>
          <a:cs typeface="游ゴシック"/>
        </a:font>
        <a:schemeClr val="lt1"/>
      </a:tcTxStyle>
      <a:tcStyle>
        <a:tcBdr/>
        <a:fill>
          <a:solidFill>
            <a:schemeClr val="accent5"/>
          </a:solidFill>
        </a:fill>
      </a:tcStyle>
    </a:firstCol>
    <a:lastRow>
      <a:tcTxStyle b="on" i="off">
        <a:font>
          <a:latin typeface="游ゴシック"/>
          <a:ea typeface="游ゴシック"/>
          <a:cs typeface="游ゴシック"/>
        </a:font>
        <a:schemeClr val="lt1"/>
      </a:tcTxStyle>
      <a:tcStyle>
        <a:tcBdr>
          <a:top>
            <a:ln w="38100" cap="flat" cmpd="sng">
              <a:solidFill>
                <a:schemeClr val="lt1"/>
              </a:solidFill>
              <a:prstDash val="solid"/>
              <a:round/>
              <a:headEnd type="none" w="sm" len="sm"/>
              <a:tailEnd type="none" w="sm" len="sm"/>
            </a:ln>
          </a:top>
        </a:tcBdr>
        <a:fill>
          <a:solidFill>
            <a:schemeClr val="accent5"/>
          </a:solidFill>
        </a:fill>
      </a:tcStyle>
    </a:lastRow>
    <a:seCell>
      <a:tcTxStyle/>
      <a:tcStyle>
        <a:tcBdr/>
      </a:tcStyle>
    </a:seCell>
    <a:swCell>
      <a:tcTxStyle/>
      <a:tcStyle>
        <a:tcBdr/>
      </a:tcStyle>
    </a:swCell>
    <a:firstRow>
      <a:tcTxStyle b="on" i="off">
        <a:font>
          <a:latin typeface="游ゴシック"/>
          <a:ea typeface="游ゴシック"/>
          <a:cs typeface="游ゴシック"/>
        </a:font>
        <a:schemeClr val="lt1"/>
      </a:tcTxStyle>
      <a:tcStyle>
        <a:tcBdr>
          <a:bottom>
            <a:ln w="38100" cap="flat" cmpd="sng">
              <a:solidFill>
                <a:schemeClr val="lt1"/>
              </a:solidFill>
              <a:prstDash val="solid"/>
              <a:round/>
              <a:headEnd type="none" w="sm" len="sm"/>
              <a:tailEnd type="none" w="sm" len="sm"/>
            </a:ln>
          </a:bottom>
        </a:tcBdr>
        <a:fill>
          <a:solidFill>
            <a:schemeClr val="accent5"/>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218" autoAdjust="0"/>
    <p:restoredTop sz="94660"/>
  </p:normalViewPr>
  <p:slideViewPr>
    <p:cSldViewPr snapToGrid="0">
      <p:cViewPr>
        <p:scale>
          <a:sx n="75" d="100"/>
          <a:sy n="75" d="100"/>
        </p:scale>
        <p:origin x="2328" y="612"/>
      </p:cViewPr>
      <p:guideLst/>
    </p:cSldViewPr>
  </p:slideViewPr>
  <p:notesTextViewPr>
    <p:cViewPr>
      <p:scale>
        <a:sx n="1" d="1"/>
        <a:sy n="1" d="1"/>
      </p:scale>
      <p:origin x="0" y="0"/>
    </p:cViewPr>
  </p:notesTextViewPr>
  <p:sorterViewPr>
    <p:cViewPr varScale="1">
      <p:scale>
        <a:sx n="100" d="100"/>
        <a:sy n="100" d="100"/>
      </p:scale>
      <p:origin x="0" y="0"/>
    </p:cViewPr>
  </p:sorterViewPr>
  <p:notesViewPr>
    <p:cSldViewPr snapToGrid="0">
      <p:cViewPr varScale="1">
        <p:scale>
          <a:sx n="100" d="100"/>
          <a:sy n="100" d="100"/>
        </p:scale>
        <p:origin x="0" y="0"/>
      </p:cViewPr>
      <p:guideLst>
        <p:guide orient="horz" pos="3128"/>
        <p:guide pos="2140"/>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65" Type="http://schemas.openxmlformats.org/officeDocument/2006/relationships/slide" Target="slides/slide64.xml"/><Relationship Id="rId66" Type="http://schemas.openxmlformats.org/officeDocument/2006/relationships/notesMaster" Target="notesMasters/notesMaster1.xml"/><Relationship Id="rId67" Type="http://customschemas.google.com/relationships/presentationmetadata" Target="metadata"/><Relationship Id="rId68" Type="http://schemas.openxmlformats.org/officeDocument/2006/relationships/presProps" Target="presProps.xml"/><Relationship Id="rId69" Type="http://schemas.openxmlformats.org/officeDocument/2006/relationships/viewProps" Target="viewProps.xml"/><Relationship Id="rId70" Type="http://schemas.openxmlformats.org/officeDocument/2006/relationships/theme" Target="theme/theme1.xml"/><Relationship Id="rId71" Type="http://schemas.openxmlformats.org/officeDocument/2006/relationships/tableStyles" Target="tableStyles.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千円</c:v>
                </c:pt>
              </c:strCache>
            </c:strRef>
          </c:tx>
          <c:spPr>
            <a:solidFill>
              <a:srgbClr val="0B3041"/>
            </a:solidFill>
          </c:spPr>
          <c:dLbls>
            <c:numFmt formatCode="#,##0;△#,##0" sourceLinked="0"/>
            <c:txPr>
              <a:bodyPr/>
              <a:lstStyle/>
              <a:p>
                <a:pPr>
                  <a:defRPr sz="750"/>
                </a:pPr>
              </a:p>
            </c:txPr>
            <c:dLblPos val="outEnd"/>
            <c:showLegendKey val="0"/>
            <c:showVal val="1"/>
            <c:showCatName val="0"/>
            <c:showSerName val="0"/>
            <c:showPercent val="0"/>
            <c:showBubbleSize val="0"/>
            <c:showLeaderLines val="1"/>
          </c:dLbls>
          <c:cat>
            <c:strRef>
              <c:f>Sheet1!$A$2:$A$5</c:f>
              <c:strCache>
                <c:ptCount val="4"/>
                <c:pt idx="0">
                  <c:v>事業価値EV
（ディスカウント後）</c:v>
                </c:pt>
                <c:pt idx="1">
                  <c:v>現預金＋
保険積立金</c:v>
                </c:pt>
                <c:pt idx="2">
                  <c:v>有利子負債等</c:v>
                </c:pt>
                <c:pt idx="3">
                  <c:v>株式価値
（試算）</c:v>
                </c:pt>
              </c:strCache>
            </c:strRef>
          </c:cat>
          <c:val>
            <c:numRef>
              <c:f>Sheet1!$B$2:$B$5</c:f>
              <c:numCache>
                <c:formatCode>General</c:formatCode>
                <c:ptCount val="4"/>
                <c:pt idx="0">
                  <c:v>100473</c:v>
                </c:pt>
                <c:pt idx="1">
                  <c:v>75962</c:v>
                </c:pt>
                <c:pt idx="2">
                  <c:v>461511</c:v>
                </c:pt>
                <c:pt idx="3">
                  <c:v>-285076</c:v>
                </c:pt>
              </c:numCache>
            </c:numRef>
          </c:val>
        </c:ser>
        <c:gapWidth val="80"/>
        <c:axId val="-2068027336"/>
        <c:axId val="-2113994440"/>
      </c:barChart>
      <c:catAx>
        <c:axId val="-2068027336"/>
        <c:scaling>
          <c:orientation val="minMax"/>
        </c:scaling>
        <c:delete val="0"/>
        <c:axPos val="b"/>
        <c:majorTickMark val="out"/>
        <c:minorTickMark val="none"/>
        <c:tickLblPos val="nextTo"/>
        <c:spPr>
          <a:ln>
            <a:solidFill>
              <a:srgbClr val="A6A6A6"/>
            </a:solidFill>
          </a:ln>
        </c:spPr>
        <c:crossAx val="-2113994440"/>
        <c:crosses val="autoZero"/>
        <c:auto val="1"/>
        <c:lblAlgn val="ctr"/>
        <c:lblOffset val="100"/>
        <c:noMultiLvlLbl val="0"/>
      </c:catAx>
      <c:valAx>
        <c:axId val="-2113994440"/>
        <c:scaling/>
        <c:delete val="0"/>
        <c:axPos val="l"/>
        <c:majorGridlines>
          <c:spPr>
            <a:ln>
              <a:solidFill>
                <a:srgbClr val="E3E7E9"/>
              </a:solidFill>
            </a:ln>
          </c:spPr>
        </c:majorGridlines>
        <c:numFmt formatCode="#,##0;△#,##0" sourceLinked="0"/>
        <c:majorTickMark val="out"/>
        <c:minorTickMark val="none"/>
        <c:tickLblPos val="nextTo"/>
        <c:spPr>
          <a:ln>
            <a:noFill/>
          </a:ln>
        </c:spPr>
        <c:crossAx val="-2068027336"/>
        <c:crosses val="autoZero"/>
      </c:valAx>
    </c:plotArea>
    <c:dispBlanksAs val="gap"/>
  </c:chart>
  <c:txPr>
    <a:bodyPr/>
    <a:lstStyle/>
    <a:p>
      <a:pPr>
        <a:defRPr sz="800">
          <a:latin typeface="游ゴシック"/>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売上高</c:v>
                </c:pt>
              </c:strCache>
            </c:strRef>
          </c:tx>
          <c:spPr>
            <a:solidFill>
              <a:srgbClr val="0B3041"/>
            </a:solidFill>
          </c:spPr>
          <c:dLbls>
            <c:numFmt formatCode="#,##0" sourceLinked="0"/>
            <c:txPr>
              <a:bodyPr/>
              <a:lstStyle/>
              <a:p>
                <a:pPr>
                  <a:defRPr sz="750"/>
                </a:pPr>
              </a:p>
            </c:txPr>
            <c:dLblPos val="outEnd"/>
            <c:showLegendKey val="0"/>
            <c:showVal val="1"/>
            <c:showCatName val="0"/>
            <c:showSerName val="0"/>
            <c:showPercent val="0"/>
            <c:showBubbleSize val="0"/>
            <c:showLeaderLines val="1"/>
          </c:dLbls>
          <c:cat>
            <c:strRef>
              <c:f>Sheet1!$A$2:$A$5</c:f>
              <c:strCache>
                <c:ptCount val="4"/>
                <c:pt idx="0">
                  <c:v>23/3期</c:v>
                </c:pt>
                <c:pt idx="1">
                  <c:v>24/3期</c:v>
                </c:pt>
                <c:pt idx="2">
                  <c:v>25/3期</c:v>
                </c:pt>
                <c:pt idx="3">
                  <c:v>26/3期</c:v>
                </c:pt>
              </c:strCache>
            </c:strRef>
          </c:cat>
          <c:val>
            <c:numRef>
              <c:f>Sheet1!$B$2:$B$5</c:f>
              <c:numCache>
                <c:formatCode>General</c:formatCode>
                <c:ptCount val="4"/>
                <c:pt idx="0">
                  <c:v>284841</c:v>
                </c:pt>
                <c:pt idx="1">
                  <c:v>376221</c:v>
                </c:pt>
                <c:pt idx="2">
                  <c:v>382685</c:v>
                </c:pt>
                <c:pt idx="3">
                  <c:v>405963</c:v>
                </c:pt>
              </c:numCache>
            </c:numRef>
          </c:val>
        </c:ser>
        <c:gapWidth val="80"/>
        <c:axId val="-2068027336"/>
        <c:axId val="-2113994440"/>
      </c:barChart>
      <c:lineChart>
        <c:grouping val="standard"/>
        <c:varyColors val="0"/>
        <c:ser>
          <c:idx val="1"/>
          <c:order val="1"/>
          <c:tx>
            <c:v>EBITDA（右軸）</c:v>
          </c:tx>
          <c:spPr>
            <a:ln w="28575">
              <a:solidFill>
                <a:srgbClr val="0889C9"/>
              </a:solidFill>
            </a:ln>
          </c:spPr>
          <c:marker>
            <c:symbol val="circle"/>
            <c:size val="6"/>
            <c:spPr>
              <a:solidFill>
                <a:srgbClr val="0889C9"/>
              </a:solidFill>
            </c:spPr>
          </c:marker>
          <c:dLbls>
            <c:numFmt formatCode="#,##0;△#,##0" sourceLinked="0"/>
            <c:spPr>
              <a:noFill/>
            </c:spPr>
            <c:txPr>
              <a:bodyPr/>
              <a:lstStyle/>
              <a:p>
                <a:pPr>
                  <a:defRPr sz="750" b="1">
                    <a:solidFill>
                      <a:srgbClr val="0889C9"/>
                    </a:solidFill>
                  </a:defRPr>
                </a:pPr>
                <a:endParaRPr lang="ja-JP"/>
              </a:p>
            </c:txPr>
            <c:dLblPos val="t"/>
            <c:showLegendKey val="0"/>
            <c:showVal val="1"/>
            <c:showCatName val="0"/>
            <c:showSerName val="0"/>
            <c:showPercent val="0"/>
            <c:showBubbleSize val="0"/>
          </c:dLbls>
          <c:cat>
            <c:strLit>
              <c:ptCount val="4"/>
              <c:pt idx="0">
                <c:v>23/3期</c:v>
              </c:pt>
              <c:pt idx="1">
                <c:v>24/3期</c:v>
              </c:pt>
              <c:pt idx="2">
                <c:v>25/3期</c:v>
              </c:pt>
              <c:pt idx="3">
                <c:v>26/3期</c:v>
              </c:pt>
            </c:strLit>
          </c:cat>
          <c:val>
            <c:numLit>
              <c:formatCode>General</c:formatCode>
              <c:ptCount val="4"/>
              <c:pt idx="0">
                <c:v>-8228</c:v>
              </c:pt>
              <c:pt idx="1">
                <c:v>36647</c:v>
              </c:pt>
              <c:pt idx="2">
                <c:v>34077</c:v>
              </c:pt>
              <c:pt idx="3">
                <c:v>30361</c:v>
              </c:pt>
            </c:numLit>
          </c:val>
          <c:smooth val="0"/>
        </c:ser>
        <c:marker val="1"/>
        <c:axId val="90001"/>
        <c:axId val="90002"/>
      </c:lineChart>
      <c:catAx>
        <c:axId val="-2068027336"/>
        <c:scaling>
          <c:orientation val="minMax"/>
        </c:scaling>
        <c:delete val="0"/>
        <c:axPos val="b"/>
        <c:majorTickMark val="out"/>
        <c:minorTickMark val="none"/>
        <c:tickLblPos val="nextTo"/>
        <c:spPr>
          <a:ln>
            <a:solidFill>
              <a:srgbClr val="A6A6A6"/>
            </a:solidFill>
          </a:ln>
        </c:spPr>
        <c:crossAx val="-2113994440"/>
        <c:crosses val="autoZero"/>
        <c:auto val="1"/>
        <c:lblAlgn val="ctr"/>
        <c:lblOffset val="100"/>
        <c:noMultiLvlLbl val="0"/>
      </c:catAx>
      <c:valAx>
        <c:axId val="-2113994440"/>
        <c:scaling>
          <c:min val="0.0"/>
        </c:scaling>
        <c:delete val="0"/>
        <c:axPos val="l"/>
        <c:majorGridlines>
          <c:spPr>
            <a:ln>
              <a:solidFill>
                <a:srgbClr val="E3E7E9"/>
              </a:solidFill>
            </a:ln>
          </c:spPr>
        </c:majorGridlines>
        <c:numFmt formatCode="#,##0" sourceLinked="0"/>
        <c:majorTickMark val="out"/>
        <c:minorTickMark val="none"/>
        <c:tickLblPos val="nextTo"/>
        <c:spPr>
          <a:ln>
            <a:noFill/>
          </a:ln>
        </c:spPr>
        <c:crossAx val="-2068027336"/>
        <c:crosses val="autoZero"/>
      </c:valAx>
      <c:catAx>
        <c:axId val="90001"/>
        <c:scaling>
          <c:orientation val="minMax"/>
        </c:scaling>
        <c:delete val="1"/>
        <c:axPos val="b"/>
        <c:majorTickMark val="none"/>
        <c:minorTickMark val="none"/>
        <c:tickLblPos val="nextTo"/>
        <c:crossAx val="90002"/>
        <c:crosses val="autoZero"/>
        <c:auto val="1"/>
        <c:lblAlgn val="ctr"/>
        <c:lblOffset val="100"/>
        <c:noMultiLvlLbl val="0"/>
      </c:catAx>
      <c:valAx>
        <c:axId val="90002"/>
        <c:scaling>
          <c:orientation val="minMax"/>
        </c:scaling>
        <c:delete val="0"/>
        <c:axPos val="r"/>
        <c:numFmt formatCode="#,##0;△#,##0" sourceLinked="0"/>
        <c:majorTickMark val="none"/>
        <c:minorTickMark val="none"/>
        <c:tickLblPos val="nextTo"/>
        <c:spPr>
          <a:ln>
            <a:noFill/>
          </a:ln>
        </c:spPr>
        <c:crossAx val="90001"/>
        <c:crosses val="max"/>
        <c:crossBetween val="between"/>
      </c:valAx>
    </c:plotArea>
    <c:legend>
      <c:legendPos val="t"/>
      <c:overlay val="0"/>
    </c:legend>
    <c:dispBlanksAs val="gap"/>
  </c:chart>
  <c:txPr>
    <a:bodyPr/>
    <a:lstStyle/>
    <a:p>
      <a:pPr>
        <a:defRPr sz="800">
          <a:latin typeface="游ゴシック"/>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3" y="3"/>
            <a:ext cx="2944030" cy="497571"/>
          </a:xfrm>
          <a:prstGeom prst="rect">
            <a:avLst/>
          </a:prstGeom>
          <a:noFill/>
          <a:ln>
            <a:noFill/>
          </a:ln>
        </p:spPr>
        <p:txBody>
          <a:bodyPr spcFirstLastPara="1" wrap="square" lIns="88156" tIns="44066" rIns="88156" bIns="44066" anchor="t"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7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7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7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7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7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7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7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700" b="0" i="0" u="none" strike="noStrike" cap="none">
                <a:solidFill>
                  <a:schemeClr val="dk1"/>
                </a:solidFill>
                <a:latin typeface="Arial"/>
                <a:ea typeface="Arial"/>
                <a:cs typeface="Arial"/>
                <a:sym typeface="Arial"/>
              </a:defRPr>
            </a:lvl9pPr>
          </a:lstStyle>
          <a:p>
            <a:endParaRPr/>
          </a:p>
        </p:txBody>
      </p:sp>
      <p:sp>
        <p:nvSpPr>
          <p:cNvPr id="4" name="Google Shape;4;n"/>
          <p:cNvSpPr txBox="1">
            <a:spLocks noGrp="1"/>
          </p:cNvSpPr>
          <p:nvPr>
            <p:ph type="dt" idx="10"/>
          </p:nvPr>
        </p:nvSpPr>
        <p:spPr>
          <a:xfrm>
            <a:off x="3848954" y="3"/>
            <a:ext cx="2944029" cy="497571"/>
          </a:xfrm>
          <a:prstGeom prst="rect">
            <a:avLst/>
          </a:prstGeom>
          <a:noFill/>
          <a:ln>
            <a:noFill/>
          </a:ln>
        </p:spPr>
        <p:txBody>
          <a:bodyPr spcFirstLastPara="1" wrap="square" lIns="88156" tIns="44066" rIns="88156" bIns="44066" anchor="t" anchorCtr="0">
            <a:noAutofit/>
          </a:bodyPr>
          <a:lstStyle>
            <a:lvl1pPr marR="0" lvl="0" algn="r"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7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7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7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7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7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7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7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700" b="0" i="0" u="none" strike="noStrike" cap="none">
                <a:solidFill>
                  <a:schemeClr val="dk1"/>
                </a:solidFill>
                <a:latin typeface="Arial"/>
                <a:ea typeface="Arial"/>
                <a:cs typeface="Arial"/>
                <a:sym typeface="Arial"/>
              </a:defRPr>
            </a:lvl9pPr>
          </a:lstStyle>
          <a:p>
            <a:endParaRPr/>
          </a:p>
        </p:txBody>
      </p:sp>
      <p:sp>
        <p:nvSpPr>
          <p:cNvPr id="5" name="Google Shape;5;n"/>
          <p:cNvSpPr>
            <a:spLocks noGrp="1" noRot="1" noChangeAspect="1"/>
          </p:cNvSpPr>
          <p:nvPr>
            <p:ph type="sldImg" idx="3"/>
          </p:nvPr>
        </p:nvSpPr>
        <p:spPr>
          <a:xfrm>
            <a:off x="1027113" y="1241425"/>
            <a:ext cx="4741862" cy="33528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0209" y="4780077"/>
            <a:ext cx="5435600" cy="3909709"/>
          </a:xfrm>
          <a:prstGeom prst="rect">
            <a:avLst/>
          </a:prstGeom>
          <a:noFill/>
          <a:ln>
            <a:noFill/>
          </a:ln>
        </p:spPr>
        <p:txBody>
          <a:bodyPr spcFirstLastPara="1" wrap="square" lIns="88156" tIns="44066" rIns="88156" bIns="44066"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L="914400" marR="0" lvl="1"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2pPr>
            <a:lvl3pPr marL="1371600" marR="0" lvl="2"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3pPr>
            <a:lvl4pPr marL="1828800" marR="0" lvl="3"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4pPr>
            <a:lvl5pPr marL="2286000" marR="0" lvl="4"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6pPr>
            <a:lvl7pPr marL="3200400" marR="0" lvl="6"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7pPr>
            <a:lvl8pPr marL="3657600" marR="0" lvl="7"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8pPr>
            <a:lvl9pPr marL="4114800" marR="0" lvl="8"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9pPr>
          </a:lstStyle>
          <a:p>
            <a:endParaRPr/>
          </a:p>
        </p:txBody>
      </p:sp>
      <p:sp>
        <p:nvSpPr>
          <p:cNvPr id="7" name="Google Shape;7;n"/>
          <p:cNvSpPr txBox="1">
            <a:spLocks noGrp="1"/>
          </p:cNvSpPr>
          <p:nvPr>
            <p:ph type="ftr" idx="11"/>
          </p:nvPr>
        </p:nvSpPr>
        <p:spPr>
          <a:xfrm>
            <a:off x="3" y="9433832"/>
            <a:ext cx="2944030" cy="497571"/>
          </a:xfrm>
          <a:prstGeom prst="rect">
            <a:avLst/>
          </a:prstGeom>
          <a:noFill/>
          <a:ln>
            <a:noFill/>
          </a:ln>
        </p:spPr>
        <p:txBody>
          <a:bodyPr spcFirstLastPara="1" wrap="square" lIns="88156" tIns="44066" rIns="88156" bIns="44066" anchor="b" anchorCtr="0">
            <a:noAutofit/>
          </a:bodyPr>
          <a:lstStyle>
            <a:lvl1pPr marR="0" lvl="0" algn="l" rtl="0">
              <a:spcBef>
                <a:spcPts val="0"/>
              </a:spcBef>
              <a:spcAft>
                <a:spcPts val="0"/>
              </a:spcAft>
              <a:buSzPts val="1400"/>
              <a:buNone/>
              <a:defRPr sz="1200" b="0" i="0" u="none" strike="noStrike" cap="none">
                <a:solidFill>
                  <a:schemeClr val="dk1"/>
                </a:solidFill>
                <a:latin typeface="Arial"/>
                <a:ea typeface="Arial"/>
                <a:cs typeface="Arial"/>
                <a:sym typeface="Arial"/>
              </a:defRPr>
            </a:lvl1pPr>
            <a:lvl2pPr marR="0" lvl="1" algn="l" rtl="0">
              <a:spcBef>
                <a:spcPts val="0"/>
              </a:spcBef>
              <a:spcAft>
                <a:spcPts val="0"/>
              </a:spcAft>
              <a:buSzPts val="1400"/>
              <a:buNone/>
              <a:defRPr sz="1700" b="0" i="0" u="none" strike="noStrike" cap="none">
                <a:solidFill>
                  <a:schemeClr val="dk1"/>
                </a:solidFill>
                <a:latin typeface="Arial"/>
                <a:ea typeface="Arial"/>
                <a:cs typeface="Arial"/>
                <a:sym typeface="Arial"/>
              </a:defRPr>
            </a:lvl2pPr>
            <a:lvl3pPr marR="0" lvl="2" algn="l" rtl="0">
              <a:spcBef>
                <a:spcPts val="0"/>
              </a:spcBef>
              <a:spcAft>
                <a:spcPts val="0"/>
              </a:spcAft>
              <a:buSzPts val="1400"/>
              <a:buNone/>
              <a:defRPr sz="1700" b="0" i="0" u="none" strike="noStrike" cap="none">
                <a:solidFill>
                  <a:schemeClr val="dk1"/>
                </a:solidFill>
                <a:latin typeface="Arial"/>
                <a:ea typeface="Arial"/>
                <a:cs typeface="Arial"/>
                <a:sym typeface="Arial"/>
              </a:defRPr>
            </a:lvl3pPr>
            <a:lvl4pPr marR="0" lvl="3" algn="l" rtl="0">
              <a:spcBef>
                <a:spcPts val="0"/>
              </a:spcBef>
              <a:spcAft>
                <a:spcPts val="0"/>
              </a:spcAft>
              <a:buSzPts val="1400"/>
              <a:buNone/>
              <a:defRPr sz="1700" b="0" i="0" u="none" strike="noStrike" cap="none">
                <a:solidFill>
                  <a:schemeClr val="dk1"/>
                </a:solidFill>
                <a:latin typeface="Arial"/>
                <a:ea typeface="Arial"/>
                <a:cs typeface="Arial"/>
                <a:sym typeface="Arial"/>
              </a:defRPr>
            </a:lvl4pPr>
            <a:lvl5pPr marR="0" lvl="4" algn="l" rtl="0">
              <a:spcBef>
                <a:spcPts val="0"/>
              </a:spcBef>
              <a:spcAft>
                <a:spcPts val="0"/>
              </a:spcAft>
              <a:buSzPts val="1400"/>
              <a:buNone/>
              <a:defRPr sz="1700" b="0" i="0" u="none" strike="noStrike" cap="none">
                <a:solidFill>
                  <a:schemeClr val="dk1"/>
                </a:solidFill>
                <a:latin typeface="Arial"/>
                <a:ea typeface="Arial"/>
                <a:cs typeface="Arial"/>
                <a:sym typeface="Arial"/>
              </a:defRPr>
            </a:lvl5pPr>
            <a:lvl6pPr marR="0" lvl="5" algn="l" rtl="0">
              <a:spcBef>
                <a:spcPts val="0"/>
              </a:spcBef>
              <a:spcAft>
                <a:spcPts val="0"/>
              </a:spcAft>
              <a:buSzPts val="1400"/>
              <a:buNone/>
              <a:defRPr sz="1700" b="0" i="0" u="none" strike="noStrike" cap="none">
                <a:solidFill>
                  <a:schemeClr val="dk1"/>
                </a:solidFill>
                <a:latin typeface="Arial"/>
                <a:ea typeface="Arial"/>
                <a:cs typeface="Arial"/>
                <a:sym typeface="Arial"/>
              </a:defRPr>
            </a:lvl6pPr>
            <a:lvl7pPr marR="0" lvl="6" algn="l" rtl="0">
              <a:spcBef>
                <a:spcPts val="0"/>
              </a:spcBef>
              <a:spcAft>
                <a:spcPts val="0"/>
              </a:spcAft>
              <a:buSzPts val="1400"/>
              <a:buNone/>
              <a:defRPr sz="1700" b="0" i="0" u="none" strike="noStrike" cap="none">
                <a:solidFill>
                  <a:schemeClr val="dk1"/>
                </a:solidFill>
                <a:latin typeface="Arial"/>
                <a:ea typeface="Arial"/>
                <a:cs typeface="Arial"/>
                <a:sym typeface="Arial"/>
              </a:defRPr>
            </a:lvl7pPr>
            <a:lvl8pPr marR="0" lvl="7" algn="l" rtl="0">
              <a:spcBef>
                <a:spcPts val="0"/>
              </a:spcBef>
              <a:spcAft>
                <a:spcPts val="0"/>
              </a:spcAft>
              <a:buSzPts val="1400"/>
              <a:buNone/>
              <a:defRPr sz="1700" b="0" i="0" u="none" strike="noStrike" cap="none">
                <a:solidFill>
                  <a:schemeClr val="dk1"/>
                </a:solidFill>
                <a:latin typeface="Arial"/>
                <a:ea typeface="Arial"/>
                <a:cs typeface="Arial"/>
                <a:sym typeface="Arial"/>
              </a:defRPr>
            </a:lvl8pPr>
            <a:lvl9pPr marR="0" lvl="8" algn="l" rtl="0">
              <a:spcBef>
                <a:spcPts val="0"/>
              </a:spcBef>
              <a:spcAft>
                <a:spcPts val="0"/>
              </a:spcAft>
              <a:buSzPts val="1400"/>
              <a:buNone/>
              <a:defRPr sz="1700" b="0" i="0" u="none" strike="noStrike" cap="none">
                <a:solidFill>
                  <a:schemeClr val="dk1"/>
                </a:solidFill>
                <a:latin typeface="Arial"/>
                <a:ea typeface="Arial"/>
                <a:cs typeface="Arial"/>
                <a:sym typeface="Arial"/>
              </a:defRPr>
            </a:lvl9pPr>
          </a:lstStyle>
          <a:p>
            <a:endParaRPr/>
          </a:p>
        </p:txBody>
      </p:sp>
      <p:sp>
        <p:nvSpPr>
          <p:cNvPr id="8" name="Google Shape;8;n"/>
          <p:cNvSpPr txBox="1">
            <a:spLocks noGrp="1"/>
          </p:cNvSpPr>
          <p:nvPr>
            <p:ph type="sldNum" idx="12"/>
          </p:nvPr>
        </p:nvSpPr>
        <p:spPr>
          <a:xfrm>
            <a:off x="3848954" y="9433832"/>
            <a:ext cx="2944029" cy="497571"/>
          </a:xfrm>
          <a:prstGeom prst="rect">
            <a:avLst/>
          </a:prstGeom>
          <a:noFill/>
          <a:ln>
            <a:noFill/>
          </a:ln>
        </p:spPr>
        <p:txBody>
          <a:bodyPr spcFirstLastPara="1" wrap="square" lIns="88156" tIns="44066" rIns="88156" bIns="44066" anchor="b" anchorCtr="0">
            <a:noAutofit/>
          </a:bodyPr>
          <a:lstStyle/>
          <a:p>
            <a:pPr algn="r"/>
            <a:fld id="{00000000-1234-1234-1234-123412341234}" type="slidenum">
              <a:rPr lang="en-US" altLang="ja-JP" sz="1200" smtClean="0">
                <a:solidFill>
                  <a:schemeClr val="dk1"/>
                </a:solidFill>
              </a:rPr>
              <a:pPr algn="r"/>
              <a:t>‹#›</a:t>
            </a:fld>
            <a:endParaRPr lang="en-US" sz="1200">
              <a:solidFill>
                <a:schemeClr val="dk1"/>
              </a:solidFill>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597"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872A68-D8F2-B22E-7BFA-83527B74627E}"/>
            </a:ext>
          </a:extLst>
        </p:cNvPr>
        <p:cNvGrpSpPr/>
        <p:nvPr/>
      </p:nvGrpSpPr>
      <p:grpSpPr>
        <a:xfrm>
          <a:off x="0" y="0"/>
          <a:ext cx="0" cy="0"/>
          <a:chOff x="0" y="0"/>
          <a:chExt cx="0" cy="0"/>
        </a:xfrm>
      </p:grpSpPr>
      <p:sp>
        <p:nvSpPr>
          <p:cNvPr id="2" name="スライド イメージ プレースホルダー 1">
            <a:extLst>
              <a:ext uri="{FF2B5EF4-FFF2-40B4-BE49-F238E27FC236}">
                <a16:creationId xmlns:a16="http://schemas.microsoft.com/office/drawing/2014/main" id="{C8067325-FBD2-0A2C-AAB1-F7B579EB568F}"/>
              </a:ext>
            </a:extLst>
          </p:cNvPr>
          <p:cNvSpPr>
            <a:spLocks noGrp="1" noRot="1" noChangeAspect="1"/>
          </p:cNvSpPr>
          <p:nvPr>
            <p:ph type="sldImg"/>
          </p:nvPr>
        </p:nvSpPr>
        <p:spPr>
          <a:xfrm>
            <a:off x="688975" y="858838"/>
            <a:ext cx="3275013" cy="2317750"/>
          </a:xfrm>
        </p:spPr>
      </p:sp>
      <p:sp>
        <p:nvSpPr>
          <p:cNvPr id="3" name="ノート プレースホルダー 2">
            <a:extLst>
              <a:ext uri="{FF2B5EF4-FFF2-40B4-BE49-F238E27FC236}">
                <a16:creationId xmlns:a16="http://schemas.microsoft.com/office/drawing/2014/main" id="{7CC41CC2-90D7-5CB1-F482-54299D366ABB}"/>
              </a:ext>
            </a:extLst>
          </p:cNvPr>
          <p:cNvSpPr>
            <a:spLocks noGrp="1"/>
          </p:cNvSpPr>
          <p:nvPr>
            <p:ph type="body" idx="1"/>
          </p:nvPr>
        </p:nvSpPr>
        <p:spPr/>
        <p:txBody>
          <a:bodyPr/>
          <a:lstStyle/>
          <a:p>
            <a:endParaRPr lang="ja-JP" altLang="en-US" dirty="0"/>
          </a:p>
        </p:txBody>
      </p:sp>
      <p:sp>
        <p:nvSpPr>
          <p:cNvPr id="4" name="スライド番号プレースホルダー 3">
            <a:extLst>
              <a:ext uri="{FF2B5EF4-FFF2-40B4-BE49-F238E27FC236}">
                <a16:creationId xmlns:a16="http://schemas.microsoft.com/office/drawing/2014/main" id="{6D654142-6A85-EA5B-5409-B0B81E07C5DC}"/>
              </a:ext>
            </a:extLst>
          </p:cNvPr>
          <p:cNvSpPr>
            <a:spLocks noGrp="1"/>
          </p:cNvSpPr>
          <p:nvPr>
            <p:ph type="sldNum" sz="quarter" idx="5"/>
          </p:nvPr>
        </p:nvSpPr>
        <p:spPr/>
        <p:txBody>
          <a:bodyPr/>
          <a:lstStyle/>
          <a:p>
            <a:fld id="{30FF3BCC-1A43-4D25-8467-E40EF431E2F1}" type="slidenum">
              <a:rPr kumimoji="1" lang="ja-JP" altLang="en-US" smtClean="0"/>
              <a:t>0</a:t>
            </a:fld>
            <a:endParaRPr kumimoji="1" lang="ja-JP" altLang="en-US"/>
          </a:p>
        </p:txBody>
      </p:sp>
    </p:spTree>
    <p:extLst>
      <p:ext uri="{BB962C8B-B14F-4D97-AF65-F5344CB8AC3E}">
        <p14:creationId xmlns:p14="http://schemas.microsoft.com/office/powerpoint/2010/main" val="23596415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a:xfrm>
            <a:off x="836613" y="790575"/>
            <a:ext cx="3014662" cy="2132013"/>
          </a:xfrm>
        </p:spPr>
      </p:sp>
      <p:sp>
        <p:nvSpPr>
          <p:cNvPr id="3" name="ノート プレースホルダー 2"/>
          <p:cNvSpPr>
            <a:spLocks noGrp="1"/>
          </p:cNvSpPr>
          <p:nvPr>
            <p:ph type="body" idx="1"/>
          </p:nvPr>
        </p:nvSpPr>
        <p:spPr/>
        <p:txBody>
          <a:bodyPr/>
          <a:lstStyle/>
          <a:p>
            <a:endParaRPr lang="ja-JP" altLang="en-US" dirty="0"/>
          </a:p>
        </p:txBody>
      </p:sp>
      <p:sp>
        <p:nvSpPr>
          <p:cNvPr id="4" name="スライド番号プレースホルダー 3"/>
          <p:cNvSpPr>
            <a:spLocks noGrp="1"/>
          </p:cNvSpPr>
          <p:nvPr>
            <p:ph type="sldNum" sz="quarter" idx="5"/>
          </p:nvPr>
        </p:nvSpPr>
        <p:spPr/>
        <p:txBody>
          <a:bodyPr/>
          <a:lstStyle/>
          <a:p>
            <a:fld id="{CCD08276-B047-45AB-869B-6FEE4FD0AA7E}" type="slidenum">
              <a:rPr kumimoji="1" lang="ja-JP" altLang="en-US" smtClean="0"/>
              <a:t>1</a:t>
            </a:fld>
            <a:endParaRPr kumimoji="1" lang="ja-JP" altLang="en-US"/>
          </a:p>
        </p:txBody>
      </p:sp>
    </p:spTree>
    <p:extLst>
      <p:ext uri="{BB962C8B-B14F-4D97-AF65-F5344CB8AC3E}">
        <p14:creationId xmlns:p14="http://schemas.microsoft.com/office/powerpoint/2010/main" val="36371673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p2:notes"/>
          <p:cNvSpPr>
            <a:spLocks noGrp="1" noRot="1" noChangeAspect="1"/>
          </p:cNvSpPr>
          <p:nvPr>
            <p:ph type="sldImg" idx="2"/>
          </p:nvPr>
        </p:nvSpPr>
        <p:spPr>
          <a:xfrm>
            <a:off x="692150" y="860425"/>
            <a:ext cx="3278188" cy="231933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6" name="Google Shape;256;p2:notes"/>
          <p:cNvSpPr txBox="1">
            <a:spLocks noGrp="1"/>
          </p:cNvSpPr>
          <p:nvPr>
            <p:ph type="body" idx="1"/>
          </p:nvPr>
        </p:nvSpPr>
        <p:spPr>
          <a:xfrm>
            <a:off x="466729" y="3309247"/>
            <a:ext cx="3729663" cy="2706690"/>
          </a:xfrm>
          <a:prstGeom prst="rect">
            <a:avLst/>
          </a:prstGeom>
          <a:noFill/>
          <a:ln>
            <a:noFill/>
          </a:ln>
        </p:spPr>
        <p:txBody>
          <a:bodyPr spcFirstLastPara="1" wrap="square" lIns="60774" tIns="30388" rIns="60774" bIns="30388" anchor="t" anchorCtr="0">
            <a:noAutofit/>
          </a:bodyPr>
          <a:lstStyle/>
          <a:p>
            <a:endParaRPr dirty="0"/>
          </a:p>
        </p:txBody>
      </p:sp>
      <p:sp>
        <p:nvSpPr>
          <p:cNvPr id="257" name="Google Shape;257;p2:notes"/>
          <p:cNvSpPr txBox="1">
            <a:spLocks noGrp="1"/>
          </p:cNvSpPr>
          <p:nvPr>
            <p:ph type="sldNum" idx="12"/>
          </p:nvPr>
        </p:nvSpPr>
        <p:spPr>
          <a:xfrm>
            <a:off x="2640976" y="6531039"/>
            <a:ext cx="2020060" cy="344469"/>
          </a:xfrm>
          <a:prstGeom prst="rect">
            <a:avLst/>
          </a:prstGeom>
          <a:noFill/>
          <a:ln>
            <a:noFill/>
          </a:ln>
        </p:spPr>
        <p:txBody>
          <a:bodyPr spcFirstLastPara="1" wrap="square" lIns="60774" tIns="30388" rIns="60774" bIns="30388" anchor="b" anchorCtr="0">
            <a:noAutofit/>
          </a:bodyPr>
          <a:lstStyle/>
          <a:p>
            <a:pPr algn="r"/>
            <a:fld id="{00000000-1234-1234-1234-123412341234}" type="slidenum">
              <a:rPr lang="en-US" altLang="ja-JP"/>
              <a:pPr algn="r"/>
              <a:t>2</a:t>
            </a:fld>
            <a:endParaRPr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eg"/><Relationship Id="rId3"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eg"/><Relationship Id="rId3" Type="http://schemas.openxmlformats.org/officeDocument/2006/relationships/image" Target="../media/image6.sv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sv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eg"/><Relationship Id="rId3"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白紙">
    <p:spTree>
      <p:nvGrpSpPr>
        <p:cNvPr id="1" name=""/>
        <p:cNvGrpSpPr/>
        <p:nvPr/>
      </p:nvGrpSpPr>
      <p:grpSpPr>
        <a:xfrm>
          <a:off x="0" y="0"/>
          <a:ext cx="0" cy="0"/>
          <a:chOff x="0" y="0"/>
          <a:chExt cx="0" cy="0"/>
        </a:xfrm>
      </p:grpSpPr>
    </p:spTree>
    <p:extLst>
      <p:ext uri="{BB962C8B-B14F-4D97-AF65-F5344CB8AC3E}">
        <p14:creationId xmlns:p14="http://schemas.microsoft.com/office/powerpoint/2010/main" val="997412218"/>
      </p:ext>
    </p:extLst>
  </p:cSld>
  <p:clrMapOvr>
    <a:masterClrMapping/>
  </p:clrMapOvr>
  <p:extLst>
    <p:ext uri="{DCECCB84-F9BA-43D5-87BE-67443E8EF086}">
      <p15:sldGuideLst xmlns:p15="http://schemas.microsoft.com/office/powerpoint/2012/main">
        <p15:guide id="1" orient="horz" pos="2381" userDrawn="1">
          <p15:clr>
            <a:srgbClr val="FBAE40"/>
          </p15:clr>
        </p15:guide>
        <p15:guide id="2" pos="3367"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表紙">
    <p:spTree>
      <p:nvGrpSpPr>
        <p:cNvPr id="1" name=""/>
        <p:cNvGrpSpPr/>
        <p:nvPr/>
      </p:nvGrpSpPr>
      <p:grpSpPr>
        <a:xfrm>
          <a:off x="0" y="0"/>
          <a:ext cx="0" cy="0"/>
          <a:chOff x="0" y="0"/>
          <a:chExt cx="0" cy="0"/>
        </a:xfrm>
      </p:grpSpPr>
      <p:pic>
        <p:nvPicPr>
          <p:cNvPr id="3" name="図 2" descr="絵と文字の加工写真&#10;&#10;AI 生成コンテンツは誤りを含む可能性があります。">
            <a:extLst>
              <a:ext uri="{FF2B5EF4-FFF2-40B4-BE49-F238E27FC236}">
                <a16:creationId xmlns:a16="http://schemas.microsoft.com/office/drawing/2014/main" id="{995F6558-5E48-7ACD-5E2F-54EE4A6825B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519"/>
            <a:ext cx="10691813" cy="7558636"/>
          </a:xfrm>
          <a:prstGeom prst="rect">
            <a:avLst/>
          </a:prstGeom>
        </p:spPr>
      </p:pic>
      <p:sp>
        <p:nvSpPr>
          <p:cNvPr id="6" name="タイトル 1">
            <a:extLst>
              <a:ext uri="{FF2B5EF4-FFF2-40B4-BE49-F238E27FC236}">
                <a16:creationId xmlns:a16="http://schemas.microsoft.com/office/drawing/2014/main" id="{7D824756-0531-3BBA-09FB-CC8ACB55A36C}"/>
              </a:ext>
            </a:extLst>
          </p:cNvPr>
          <p:cNvSpPr>
            <a:spLocks noGrp="1"/>
          </p:cNvSpPr>
          <p:nvPr>
            <p:ph type="title"/>
          </p:nvPr>
        </p:nvSpPr>
        <p:spPr>
          <a:xfrm>
            <a:off x="885526" y="3467606"/>
            <a:ext cx="9221787" cy="738664"/>
          </a:xfrm>
          <a:prstGeom prst="rect">
            <a:avLst/>
          </a:prstGeom>
          <a:noFill/>
        </p:spPr>
        <p:txBody>
          <a:bodyPr wrap="square" lIns="0" tIns="0" rIns="0" bIns="0" rtlCol="0" anchor="ctr">
            <a:spAutoFit/>
          </a:bodyPr>
          <a:lstStyle>
            <a:lvl1pPr>
              <a:lnSpc>
                <a:spcPct val="100000"/>
              </a:lnSpc>
              <a:defRPr lang="ja-JP" altLang="en-US" sz="4800" b="1" spc="200">
                <a:latin typeface="+mj-lt"/>
                <a:cs typeface="+mn-cs"/>
              </a:defRPr>
            </a:lvl1pPr>
          </a:lstStyle>
          <a:p>
            <a:pPr marL="0" lvl="0" defTabSz="503972"/>
            <a:r>
              <a:rPr kumimoji="1" lang="ja-JP" altLang="en-US" dirty="0"/>
              <a:t>マスター タイトルの書式設定</a:t>
            </a:r>
          </a:p>
        </p:txBody>
      </p:sp>
      <p:pic>
        <p:nvPicPr>
          <p:cNvPr id="4" name="図 3" descr="図形&#10;&#10;中程度の精度で自動的に生成された説明">
            <a:extLst>
              <a:ext uri="{FF2B5EF4-FFF2-40B4-BE49-F238E27FC236}">
                <a16:creationId xmlns:a16="http://schemas.microsoft.com/office/drawing/2014/main" id="{DF75B97B-7722-5333-1DF6-425BD31B0F05}"/>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597898" y="641817"/>
            <a:ext cx="2996516" cy="594316"/>
          </a:xfrm>
          <a:prstGeom prst="rect">
            <a:avLst/>
          </a:prstGeom>
        </p:spPr>
      </p:pic>
      <p:sp>
        <p:nvSpPr>
          <p:cNvPr id="5" name="正方形/長方形 4">
            <a:extLst>
              <a:ext uri="{FF2B5EF4-FFF2-40B4-BE49-F238E27FC236}">
                <a16:creationId xmlns:a16="http://schemas.microsoft.com/office/drawing/2014/main" id="{E7F2AB3F-4E5C-EEA1-723A-7D941C02D057}"/>
              </a:ext>
            </a:extLst>
          </p:cNvPr>
          <p:cNvSpPr/>
          <p:nvPr userDrawn="1"/>
        </p:nvSpPr>
        <p:spPr>
          <a:xfrm>
            <a:off x="-1" y="-1"/>
            <a:ext cx="108000" cy="7560000"/>
          </a:xfrm>
          <a:prstGeom prst="rect">
            <a:avLst/>
          </a:prstGeom>
          <a:gradFill>
            <a:gsLst>
              <a:gs pos="100000">
                <a:schemeClr val="accent4"/>
              </a:gs>
              <a:gs pos="17000">
                <a:schemeClr val="tx2"/>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p>
        </p:txBody>
      </p:sp>
    </p:spTree>
    <p:extLst>
      <p:ext uri="{BB962C8B-B14F-4D97-AF65-F5344CB8AC3E}">
        <p14:creationId xmlns:p14="http://schemas.microsoft.com/office/powerpoint/2010/main" val="10359687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目次">
    <p:spTree>
      <p:nvGrpSpPr>
        <p:cNvPr id="1" name=""/>
        <p:cNvGrpSpPr/>
        <p:nvPr/>
      </p:nvGrpSpPr>
      <p:grpSpPr>
        <a:xfrm>
          <a:off x="0" y="0"/>
          <a:ext cx="0" cy="0"/>
          <a:chOff x="0" y="0"/>
          <a:chExt cx="0" cy="0"/>
        </a:xfrm>
      </p:grpSpPr>
      <p:pic>
        <p:nvPicPr>
          <p:cNvPr id="2" name="図 1" descr="背景パターン&#10;&#10;AI 生成コンテンツは誤りを含む可能性があります。">
            <a:extLst>
              <a:ext uri="{FF2B5EF4-FFF2-40B4-BE49-F238E27FC236}">
                <a16:creationId xmlns:a16="http://schemas.microsoft.com/office/drawing/2014/main" id="{8E967D6D-5B52-5B07-CA48-6817A5CEB27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519"/>
            <a:ext cx="10691813" cy="7558636"/>
          </a:xfrm>
          <a:prstGeom prst="rect">
            <a:avLst/>
          </a:prstGeom>
        </p:spPr>
      </p:pic>
      <p:grpSp>
        <p:nvGrpSpPr>
          <p:cNvPr id="7" name="グループ化 6">
            <a:extLst>
              <a:ext uri="{FF2B5EF4-FFF2-40B4-BE49-F238E27FC236}">
                <a16:creationId xmlns:a16="http://schemas.microsoft.com/office/drawing/2014/main" id="{01D98B25-17B2-272C-53AC-A26D9745042C}"/>
              </a:ext>
            </a:extLst>
          </p:cNvPr>
          <p:cNvGrpSpPr/>
          <p:nvPr userDrawn="1"/>
        </p:nvGrpSpPr>
        <p:grpSpPr>
          <a:xfrm>
            <a:off x="887069" y="3420377"/>
            <a:ext cx="3420000" cy="602349"/>
            <a:chOff x="887069" y="3420377"/>
            <a:chExt cx="3420000" cy="602349"/>
          </a:xfrm>
        </p:grpSpPr>
        <p:sp>
          <p:nvSpPr>
            <p:cNvPr id="9" name="テキスト ボックス 8">
              <a:extLst>
                <a:ext uri="{FF2B5EF4-FFF2-40B4-BE49-F238E27FC236}">
                  <a16:creationId xmlns:a16="http://schemas.microsoft.com/office/drawing/2014/main" id="{C5012DD8-6B05-046F-3AF1-CACA060CA370}"/>
                </a:ext>
              </a:extLst>
            </p:cNvPr>
            <p:cNvSpPr txBox="1"/>
            <p:nvPr/>
          </p:nvSpPr>
          <p:spPr>
            <a:xfrm>
              <a:off x="977069" y="3420377"/>
              <a:ext cx="3240000" cy="492443"/>
            </a:xfrm>
            <a:prstGeom prst="rect">
              <a:avLst/>
            </a:prstGeom>
            <a:noFill/>
          </p:spPr>
          <p:txBody>
            <a:bodyPr wrap="square" lIns="0" tIns="0" rIns="0" bIns="0" anchor="t">
              <a:spAutoFit/>
            </a:bodyPr>
            <a:lstStyle/>
            <a:p>
              <a:pPr algn="ctr"/>
              <a:r>
                <a:rPr lang="ja-JP" altLang="en-US" sz="3200" b="1" dirty="0">
                  <a:latin typeface="+mj-lt"/>
                </a:rPr>
                <a:t>目次</a:t>
              </a:r>
            </a:p>
          </p:txBody>
        </p:sp>
        <p:cxnSp>
          <p:nvCxnSpPr>
            <p:cNvPr id="10" name="直線コネクタ 9">
              <a:extLst>
                <a:ext uri="{FF2B5EF4-FFF2-40B4-BE49-F238E27FC236}">
                  <a16:creationId xmlns:a16="http://schemas.microsoft.com/office/drawing/2014/main" id="{268C069C-EAF1-B7E8-021B-4DF925E86141}"/>
                </a:ext>
              </a:extLst>
            </p:cNvPr>
            <p:cNvCxnSpPr>
              <a:cxnSpLocks/>
            </p:cNvCxnSpPr>
            <p:nvPr/>
          </p:nvCxnSpPr>
          <p:spPr>
            <a:xfrm>
              <a:off x="887069" y="4022726"/>
              <a:ext cx="3420000"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grpSp>
      <p:pic>
        <p:nvPicPr>
          <p:cNvPr id="4" name="図 3" descr="図形&#10;&#10;中程度の精度で自動的に生成された説明">
            <a:extLst>
              <a:ext uri="{FF2B5EF4-FFF2-40B4-BE49-F238E27FC236}">
                <a16:creationId xmlns:a16="http://schemas.microsoft.com/office/drawing/2014/main" id="{DF75B97B-7722-5333-1DF6-425BD31B0F05}"/>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597898" y="641818"/>
            <a:ext cx="1627200" cy="322732"/>
          </a:xfrm>
          <a:prstGeom prst="rect">
            <a:avLst/>
          </a:prstGeom>
        </p:spPr>
      </p:pic>
      <p:sp>
        <p:nvSpPr>
          <p:cNvPr id="12" name="テキスト ボックス 11">
            <a:extLst>
              <a:ext uri="{FF2B5EF4-FFF2-40B4-BE49-F238E27FC236}">
                <a16:creationId xmlns:a16="http://schemas.microsoft.com/office/drawing/2014/main" id="{1A1C1562-A331-DA82-9B95-1B4F0DA08BD0}"/>
              </a:ext>
            </a:extLst>
          </p:cNvPr>
          <p:cNvSpPr txBox="1"/>
          <p:nvPr userDrawn="1"/>
        </p:nvSpPr>
        <p:spPr>
          <a:xfrm>
            <a:off x="9865023" y="7202817"/>
            <a:ext cx="579140" cy="152669"/>
          </a:xfrm>
          <a:prstGeom prst="rect">
            <a:avLst/>
          </a:prstGeom>
          <a:noFill/>
        </p:spPr>
        <p:txBody>
          <a:bodyPr wrap="square" lIns="0" tIns="0" rIns="0" bIns="0" rtlCol="0">
            <a:noAutofit/>
          </a:bodyPr>
          <a:lstStyle/>
          <a:p>
            <a:pPr algn="r"/>
            <a:fld id="{4A9C97F8-90FE-457F-983C-96DAC3349EFE}" type="slidenum">
              <a:rPr kumimoji="1" lang="ja-JP" altLang="en-US" sz="992" smtClean="0">
                <a:solidFill>
                  <a:schemeClr val="accent1"/>
                </a:solidFill>
                <a:latin typeface="+mj-lt"/>
              </a:rPr>
              <a:pPr algn="r"/>
              <a:t>‹#›</a:t>
            </a:fld>
            <a:endParaRPr kumimoji="1" lang="ja-JP" altLang="en-US" sz="992" dirty="0">
              <a:solidFill>
                <a:schemeClr val="accent1"/>
              </a:solidFill>
              <a:latin typeface="+mj-lt"/>
            </a:endParaRPr>
          </a:p>
        </p:txBody>
      </p:sp>
      <p:sp>
        <p:nvSpPr>
          <p:cNvPr id="13" name="Google Shape;14;p31">
            <a:extLst>
              <a:ext uri="{FF2B5EF4-FFF2-40B4-BE49-F238E27FC236}">
                <a16:creationId xmlns:a16="http://schemas.microsoft.com/office/drawing/2014/main" id="{0CB49C29-F967-F011-F3F8-2ED176CC202F}"/>
              </a:ext>
            </a:extLst>
          </p:cNvPr>
          <p:cNvSpPr/>
          <p:nvPr userDrawn="1"/>
        </p:nvSpPr>
        <p:spPr>
          <a:xfrm>
            <a:off x="5516123" y="7220572"/>
            <a:ext cx="4572000" cy="107722"/>
          </a:xfrm>
          <a:prstGeom prst="rect">
            <a:avLst/>
          </a:prstGeom>
          <a:noFill/>
          <a:ln>
            <a:noFill/>
          </a:ln>
        </p:spPr>
        <p:txBody>
          <a:bodyPr spcFirstLastPara="1" wrap="square" lIns="0" tIns="0" rIns="0" bIns="0" anchor="ctr" anchorCtr="0">
            <a:spAutoFit/>
          </a:bodyPr>
          <a:lstStyle/>
          <a:p>
            <a:pPr marL="0" marR="0" lvl="0" indent="0" algn="r" rtl="0">
              <a:spcBef>
                <a:spcPts val="0"/>
              </a:spcBef>
              <a:spcAft>
                <a:spcPts val="0"/>
              </a:spcAft>
              <a:buNone/>
            </a:pPr>
            <a:r>
              <a:rPr lang="ja-JP" sz="700" b="0" i="0" u="none" strike="noStrike" cap="none" dirty="0">
                <a:solidFill>
                  <a:schemeClr val="accent1"/>
                </a:solidFill>
                <a:latin typeface="Arial"/>
                <a:ea typeface="Arial"/>
                <a:cs typeface="Arial"/>
                <a:sym typeface="Arial"/>
              </a:rPr>
              <a:t>Copyright© M＆A Succession Group Inc. All Right Reserved</a:t>
            </a:r>
            <a:endParaRPr sz="700" b="0" i="0" u="none" strike="noStrike" cap="none" dirty="0">
              <a:solidFill>
                <a:schemeClr val="accent1"/>
              </a:solidFill>
              <a:latin typeface="Arial"/>
              <a:ea typeface="Arial"/>
              <a:cs typeface="Arial"/>
              <a:sym typeface="Arial"/>
            </a:endParaRPr>
          </a:p>
        </p:txBody>
      </p:sp>
      <p:sp>
        <p:nvSpPr>
          <p:cNvPr id="3" name="正方形/長方形 2">
            <a:extLst>
              <a:ext uri="{FF2B5EF4-FFF2-40B4-BE49-F238E27FC236}">
                <a16:creationId xmlns:a16="http://schemas.microsoft.com/office/drawing/2014/main" id="{7493C03D-EF3C-73CD-DCFB-960D33F81124}"/>
              </a:ext>
            </a:extLst>
          </p:cNvPr>
          <p:cNvSpPr/>
          <p:nvPr userDrawn="1"/>
        </p:nvSpPr>
        <p:spPr>
          <a:xfrm>
            <a:off x="6933143" y="7209190"/>
            <a:ext cx="640572" cy="144000"/>
          </a:xfrm>
          <a:prstGeom prst="rect">
            <a:avLst/>
          </a:prstGeom>
          <a:no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kumimoji="1" lang="en-US" altLang="ja-JP" sz="800" i="1" dirty="0">
                <a:solidFill>
                  <a:schemeClr val="accent1"/>
                </a:solidFill>
              </a:rPr>
              <a:t>Confidential</a:t>
            </a:r>
          </a:p>
        </p:txBody>
      </p:sp>
    </p:spTree>
    <p:extLst>
      <p:ext uri="{BB962C8B-B14F-4D97-AF65-F5344CB8AC3E}">
        <p14:creationId xmlns:p14="http://schemas.microsoft.com/office/powerpoint/2010/main" val="28014450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中扉">
    <p:spTree>
      <p:nvGrpSpPr>
        <p:cNvPr id="1" name=""/>
        <p:cNvGrpSpPr/>
        <p:nvPr/>
      </p:nvGrpSpPr>
      <p:grpSpPr>
        <a:xfrm>
          <a:off x="0" y="0"/>
          <a:ext cx="0" cy="0"/>
          <a:chOff x="0" y="0"/>
          <a:chExt cx="0" cy="0"/>
        </a:xfrm>
      </p:grpSpPr>
      <p:pic>
        <p:nvPicPr>
          <p:cNvPr id="3" name="図 2" descr="背景パターン&#10;&#10;AI 生成コンテンツは誤りを含む可能性があります。">
            <a:extLst>
              <a:ext uri="{FF2B5EF4-FFF2-40B4-BE49-F238E27FC236}">
                <a16:creationId xmlns:a16="http://schemas.microsoft.com/office/drawing/2014/main" id="{FDE449C2-8B65-9409-394F-45A167C6AEA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519"/>
            <a:ext cx="10691813" cy="7558636"/>
          </a:xfrm>
          <a:prstGeom prst="rect">
            <a:avLst/>
          </a:prstGeom>
        </p:spPr>
      </p:pic>
      <p:sp>
        <p:nvSpPr>
          <p:cNvPr id="5" name="タイトル 1">
            <a:extLst>
              <a:ext uri="{FF2B5EF4-FFF2-40B4-BE49-F238E27FC236}">
                <a16:creationId xmlns:a16="http://schemas.microsoft.com/office/drawing/2014/main" id="{07D600CD-5CAD-A0C8-1E3D-CD1EA5B04422}"/>
              </a:ext>
            </a:extLst>
          </p:cNvPr>
          <p:cNvSpPr>
            <a:spLocks noGrp="1"/>
          </p:cNvSpPr>
          <p:nvPr>
            <p:ph type="title"/>
          </p:nvPr>
        </p:nvSpPr>
        <p:spPr>
          <a:xfrm>
            <a:off x="989013" y="3656161"/>
            <a:ext cx="9221787" cy="615553"/>
          </a:xfrm>
          <a:prstGeom prst="rect">
            <a:avLst/>
          </a:prstGeom>
          <a:noFill/>
        </p:spPr>
        <p:txBody>
          <a:bodyPr wrap="square" lIns="0" tIns="0" rIns="0" bIns="0" rtlCol="0" anchor="ctr">
            <a:spAutoFit/>
          </a:bodyPr>
          <a:lstStyle>
            <a:lvl1pPr>
              <a:lnSpc>
                <a:spcPct val="100000"/>
              </a:lnSpc>
              <a:defRPr lang="ja-JP" altLang="en-US" sz="4000" b="1" spc="200" dirty="0">
                <a:solidFill>
                  <a:schemeClr val="bg1"/>
                </a:solidFill>
                <a:latin typeface="+mj-lt"/>
                <a:cs typeface="+mn-cs"/>
              </a:defRPr>
            </a:lvl1pPr>
          </a:lstStyle>
          <a:p>
            <a:pPr marL="0" lvl="0" defTabSz="503972"/>
            <a:r>
              <a:rPr kumimoji="1" lang="ja-JP" altLang="en-US" dirty="0"/>
              <a:t>マスター タイトルの書式設定</a:t>
            </a:r>
          </a:p>
        </p:txBody>
      </p:sp>
      <p:pic>
        <p:nvPicPr>
          <p:cNvPr id="4" name="グラフィックス 3">
            <a:extLst>
              <a:ext uri="{FF2B5EF4-FFF2-40B4-BE49-F238E27FC236}">
                <a16:creationId xmlns:a16="http://schemas.microsoft.com/office/drawing/2014/main" id="{8D4E6481-3D38-43CE-56D4-0766A151BDBF}"/>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597898" y="641818"/>
            <a:ext cx="1627200" cy="320105"/>
          </a:xfrm>
          <a:prstGeom prst="rect">
            <a:avLst/>
          </a:prstGeom>
        </p:spPr>
      </p:pic>
      <p:sp>
        <p:nvSpPr>
          <p:cNvPr id="7" name="テキスト ボックス 6">
            <a:extLst>
              <a:ext uri="{FF2B5EF4-FFF2-40B4-BE49-F238E27FC236}">
                <a16:creationId xmlns:a16="http://schemas.microsoft.com/office/drawing/2014/main" id="{06F9BFF4-1363-8167-1FD9-7F8105B557A4}"/>
              </a:ext>
            </a:extLst>
          </p:cNvPr>
          <p:cNvSpPr txBox="1"/>
          <p:nvPr userDrawn="1"/>
        </p:nvSpPr>
        <p:spPr>
          <a:xfrm>
            <a:off x="9865023" y="7202817"/>
            <a:ext cx="579140" cy="152669"/>
          </a:xfrm>
          <a:prstGeom prst="rect">
            <a:avLst/>
          </a:prstGeom>
          <a:noFill/>
        </p:spPr>
        <p:txBody>
          <a:bodyPr wrap="square" lIns="0" tIns="0" rIns="0" bIns="0" rtlCol="0">
            <a:noAutofit/>
          </a:bodyPr>
          <a:lstStyle/>
          <a:p>
            <a:pPr algn="r"/>
            <a:fld id="{4A9C97F8-90FE-457F-983C-96DAC3349EFE}" type="slidenum">
              <a:rPr kumimoji="1" lang="ja-JP" altLang="en-US" sz="992" smtClean="0">
                <a:solidFill>
                  <a:schemeClr val="bg1"/>
                </a:solidFill>
                <a:latin typeface="+mj-lt"/>
              </a:rPr>
              <a:pPr algn="r"/>
              <a:t>‹#›</a:t>
            </a:fld>
            <a:endParaRPr kumimoji="1" lang="ja-JP" altLang="en-US" sz="992" dirty="0">
              <a:solidFill>
                <a:schemeClr val="bg1"/>
              </a:solidFill>
              <a:latin typeface="+mj-lt"/>
            </a:endParaRPr>
          </a:p>
        </p:txBody>
      </p:sp>
      <p:sp>
        <p:nvSpPr>
          <p:cNvPr id="8" name="Google Shape;14;p31">
            <a:extLst>
              <a:ext uri="{FF2B5EF4-FFF2-40B4-BE49-F238E27FC236}">
                <a16:creationId xmlns:a16="http://schemas.microsoft.com/office/drawing/2014/main" id="{4768A1B1-9FB9-F183-2D3A-178D813DD52B}"/>
              </a:ext>
            </a:extLst>
          </p:cNvPr>
          <p:cNvSpPr/>
          <p:nvPr userDrawn="1"/>
        </p:nvSpPr>
        <p:spPr>
          <a:xfrm>
            <a:off x="5516123" y="7220572"/>
            <a:ext cx="4572000" cy="107722"/>
          </a:xfrm>
          <a:prstGeom prst="rect">
            <a:avLst/>
          </a:prstGeom>
          <a:noFill/>
          <a:ln>
            <a:noFill/>
          </a:ln>
        </p:spPr>
        <p:txBody>
          <a:bodyPr spcFirstLastPara="1" wrap="square" lIns="0" tIns="0" rIns="0" bIns="0" anchor="ctr" anchorCtr="0">
            <a:spAutoFit/>
          </a:bodyPr>
          <a:lstStyle/>
          <a:p>
            <a:pPr marL="0" marR="0" lvl="0" indent="0" algn="r" rtl="0">
              <a:spcBef>
                <a:spcPts val="0"/>
              </a:spcBef>
              <a:spcAft>
                <a:spcPts val="0"/>
              </a:spcAft>
              <a:buNone/>
            </a:pPr>
            <a:r>
              <a:rPr lang="ja-JP" sz="700" b="0" i="0" u="none" strike="noStrike" cap="none" dirty="0">
                <a:solidFill>
                  <a:schemeClr val="bg1"/>
                </a:solidFill>
                <a:latin typeface="Arial"/>
                <a:ea typeface="Arial"/>
                <a:cs typeface="Arial"/>
                <a:sym typeface="Arial"/>
              </a:rPr>
              <a:t>Copyright© M＆A Succession Group Inc. All Right Reserved</a:t>
            </a:r>
            <a:endParaRPr sz="700" b="0" i="0" u="none" strike="noStrike" cap="none" dirty="0">
              <a:solidFill>
                <a:schemeClr val="bg1"/>
              </a:solidFill>
              <a:latin typeface="Arial"/>
              <a:ea typeface="Arial"/>
              <a:cs typeface="Arial"/>
              <a:sym typeface="Arial"/>
            </a:endParaRPr>
          </a:p>
        </p:txBody>
      </p:sp>
      <p:sp>
        <p:nvSpPr>
          <p:cNvPr id="2" name="正方形/長方形 1">
            <a:extLst>
              <a:ext uri="{FF2B5EF4-FFF2-40B4-BE49-F238E27FC236}">
                <a16:creationId xmlns:a16="http://schemas.microsoft.com/office/drawing/2014/main" id="{00B19FBA-B74F-4E88-0389-543A882445EE}"/>
              </a:ext>
            </a:extLst>
          </p:cNvPr>
          <p:cNvSpPr/>
          <p:nvPr userDrawn="1"/>
        </p:nvSpPr>
        <p:spPr>
          <a:xfrm>
            <a:off x="6933143" y="7209190"/>
            <a:ext cx="640572" cy="144000"/>
          </a:xfrm>
          <a:prstGeom prst="rect">
            <a:avLst/>
          </a:prstGeom>
          <a:noFill/>
          <a:ln w="63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kumimoji="1" lang="en-US" altLang="ja-JP" sz="800" i="1" dirty="0">
                <a:solidFill>
                  <a:schemeClr val="bg1"/>
                </a:solidFill>
              </a:rPr>
              <a:t>Confidential</a:t>
            </a:r>
          </a:p>
        </p:txBody>
      </p:sp>
    </p:spTree>
    <p:extLst>
      <p:ext uri="{BB962C8B-B14F-4D97-AF65-F5344CB8AC3E}">
        <p14:creationId xmlns:p14="http://schemas.microsoft.com/office/powerpoint/2010/main" val="188095093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本編1">
    <p:spTree>
      <p:nvGrpSpPr>
        <p:cNvPr id="1" name=""/>
        <p:cNvGrpSpPr/>
        <p:nvPr/>
      </p:nvGrpSpPr>
      <p:grpSpPr>
        <a:xfrm>
          <a:off x="0" y="0"/>
          <a:ext cx="0" cy="0"/>
          <a:chOff x="0" y="0"/>
          <a:chExt cx="0" cy="0"/>
        </a:xfrm>
      </p:grpSpPr>
      <p:sp>
        <p:nvSpPr>
          <p:cNvPr id="4" name="正方形/長方形 3">
            <a:extLst>
              <a:ext uri="{FF2B5EF4-FFF2-40B4-BE49-F238E27FC236}">
                <a16:creationId xmlns:a16="http://schemas.microsoft.com/office/drawing/2014/main" id="{BA577B03-0430-76D0-A4E3-BD118824A3F8}"/>
              </a:ext>
            </a:extLst>
          </p:cNvPr>
          <p:cNvSpPr/>
          <p:nvPr userDrawn="1"/>
        </p:nvSpPr>
        <p:spPr>
          <a:xfrm>
            <a:off x="-1" y="0"/>
            <a:ext cx="10691814" cy="666000"/>
          </a:xfrm>
          <a:prstGeom prst="rect">
            <a:avLst/>
          </a:prstGeom>
          <a:gradFill>
            <a:gsLst>
              <a:gs pos="88000">
                <a:srgbClr val="006AB1"/>
              </a:gs>
              <a:gs pos="5000">
                <a:schemeClr val="tx2"/>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dirty="0"/>
          </a:p>
        </p:txBody>
      </p:sp>
      <p:sp>
        <p:nvSpPr>
          <p:cNvPr id="31" name="フリーフォーム: 図形 30">
            <a:extLst>
              <a:ext uri="{FF2B5EF4-FFF2-40B4-BE49-F238E27FC236}">
                <a16:creationId xmlns:a16="http://schemas.microsoft.com/office/drawing/2014/main" id="{D9CC89AC-0069-75DF-7665-F8D290946A33}"/>
              </a:ext>
            </a:extLst>
          </p:cNvPr>
          <p:cNvSpPr/>
          <p:nvPr userDrawn="1"/>
        </p:nvSpPr>
        <p:spPr>
          <a:xfrm>
            <a:off x="6714554" y="0"/>
            <a:ext cx="1701594" cy="666001"/>
          </a:xfrm>
          <a:custGeom>
            <a:avLst/>
            <a:gdLst>
              <a:gd name="csX0" fmla="*/ 0 w 1701594"/>
              <a:gd name="csY0" fmla="*/ 0 h 666001"/>
              <a:gd name="csX1" fmla="*/ 1089255 w 1701594"/>
              <a:gd name="csY1" fmla="*/ 0 h 666001"/>
              <a:gd name="csX2" fmla="*/ 1382486 w 1701594"/>
              <a:gd name="csY2" fmla="*/ 0 h 666001"/>
              <a:gd name="csX3" fmla="*/ 1382486 w 1701594"/>
              <a:gd name="csY3" fmla="*/ 183 h 666001"/>
              <a:gd name="csX4" fmla="*/ 1701594 w 1701594"/>
              <a:gd name="csY4" fmla="*/ 381 h 666001"/>
              <a:gd name="csX5" fmla="*/ 1565532 w 1701594"/>
              <a:gd name="csY5" fmla="*/ 333001 h 666001"/>
              <a:gd name="csX6" fmla="*/ 1701594 w 1701594"/>
              <a:gd name="csY6" fmla="*/ 666001 h 666001"/>
              <a:gd name="csX7" fmla="*/ 1382486 w 1701594"/>
              <a:gd name="csY7" fmla="*/ 665803 h 666001"/>
              <a:gd name="csX8" fmla="*/ 1382486 w 1701594"/>
              <a:gd name="csY8" fmla="*/ 666000 h 666001"/>
              <a:gd name="csX9" fmla="*/ 0 w 1701594"/>
              <a:gd name="csY9" fmla="*/ 666000 h 66600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701594" h="666001">
                <a:moveTo>
                  <a:pt x="0" y="0"/>
                </a:moveTo>
                <a:lnTo>
                  <a:pt x="1089255" y="0"/>
                </a:lnTo>
                <a:lnTo>
                  <a:pt x="1382486" y="0"/>
                </a:lnTo>
                <a:lnTo>
                  <a:pt x="1382486" y="183"/>
                </a:lnTo>
                <a:lnTo>
                  <a:pt x="1701594" y="381"/>
                </a:lnTo>
                <a:lnTo>
                  <a:pt x="1565532" y="333001"/>
                </a:lnTo>
                <a:lnTo>
                  <a:pt x="1701594" y="666001"/>
                </a:lnTo>
                <a:lnTo>
                  <a:pt x="1382486" y="665803"/>
                </a:lnTo>
                <a:lnTo>
                  <a:pt x="1382486" y="666000"/>
                </a:lnTo>
                <a:lnTo>
                  <a:pt x="0" y="666000"/>
                </a:lnTo>
                <a:close/>
              </a:path>
            </a:pathLst>
          </a:custGeom>
          <a:gradFill>
            <a:gsLst>
              <a:gs pos="96000">
                <a:schemeClr val="accent4"/>
              </a:gs>
              <a:gs pos="46000">
                <a:schemeClr val="tx2">
                  <a:alpha val="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sz="2263" dirty="0"/>
          </a:p>
        </p:txBody>
      </p:sp>
      <p:sp>
        <p:nvSpPr>
          <p:cNvPr id="3" name="字幕 2">
            <a:extLst>
              <a:ext uri="{FF2B5EF4-FFF2-40B4-BE49-F238E27FC236}">
                <a16:creationId xmlns:a16="http://schemas.microsoft.com/office/drawing/2014/main" id="{E4C44029-31FF-A9F7-06AC-0A055C09D50F}"/>
              </a:ext>
            </a:extLst>
          </p:cNvPr>
          <p:cNvSpPr>
            <a:spLocks noGrp="1"/>
          </p:cNvSpPr>
          <p:nvPr>
            <p:ph type="subTitle" idx="1"/>
          </p:nvPr>
        </p:nvSpPr>
        <p:spPr>
          <a:xfrm>
            <a:off x="460675" y="830046"/>
            <a:ext cx="9781875" cy="241861"/>
          </a:xfrm>
          <a:prstGeom prst="rect">
            <a:avLst/>
          </a:prstGeom>
        </p:spPr>
        <p:txBody>
          <a:bodyPr wrap="square" lIns="0" tIns="0" rIns="0" bIns="0">
            <a:spAutoFit/>
          </a:bodyPr>
          <a:lstStyle>
            <a:lvl1pPr marL="0" indent="0" algn="l">
              <a:lnSpc>
                <a:spcPct val="120000"/>
              </a:lnSpc>
              <a:spcBef>
                <a:spcPts val="0"/>
              </a:spcBef>
              <a:buNone/>
              <a:defRPr sz="1400" b="1" spc="55" baseline="0">
                <a:latin typeface="+mj-ea"/>
                <a:ea typeface="+mj-ea"/>
              </a:defRPr>
            </a:lvl1pPr>
            <a:lvl2pPr marL="503972" indent="0" algn="ctr">
              <a:buNone/>
              <a:defRPr sz="2205"/>
            </a:lvl2pPr>
            <a:lvl3pPr marL="1007943" indent="0" algn="ctr">
              <a:buNone/>
              <a:defRPr sz="1984"/>
            </a:lvl3pPr>
            <a:lvl4pPr marL="1511915" indent="0" algn="ctr">
              <a:buNone/>
              <a:defRPr sz="1764"/>
            </a:lvl4pPr>
            <a:lvl5pPr marL="2015886" indent="0" algn="ctr">
              <a:buNone/>
              <a:defRPr sz="1764"/>
            </a:lvl5pPr>
            <a:lvl6pPr marL="2519858" indent="0" algn="ctr">
              <a:buNone/>
              <a:defRPr sz="1764"/>
            </a:lvl6pPr>
            <a:lvl7pPr marL="3023829" indent="0" algn="ctr">
              <a:buNone/>
              <a:defRPr sz="1764"/>
            </a:lvl7pPr>
            <a:lvl8pPr marL="3527801" indent="0" algn="ctr">
              <a:buNone/>
              <a:defRPr sz="1764"/>
            </a:lvl8pPr>
            <a:lvl9pPr marL="4031772" indent="0" algn="ctr">
              <a:buNone/>
              <a:defRPr sz="1764"/>
            </a:lvl9pPr>
          </a:lstStyle>
          <a:p>
            <a:r>
              <a:rPr kumimoji="1" lang="ja-JP" altLang="en-US" dirty="0"/>
              <a:t>マスター サブタイトルの書式設定</a:t>
            </a:r>
          </a:p>
        </p:txBody>
      </p:sp>
      <p:sp>
        <p:nvSpPr>
          <p:cNvPr id="6" name="テキスト ボックス 5">
            <a:extLst>
              <a:ext uri="{FF2B5EF4-FFF2-40B4-BE49-F238E27FC236}">
                <a16:creationId xmlns:a16="http://schemas.microsoft.com/office/drawing/2014/main" id="{C06A0380-DE0F-1825-615F-4DBC89C8C6DB}"/>
              </a:ext>
            </a:extLst>
          </p:cNvPr>
          <p:cNvSpPr txBox="1"/>
          <p:nvPr userDrawn="1"/>
        </p:nvSpPr>
        <p:spPr>
          <a:xfrm>
            <a:off x="9865023" y="7202817"/>
            <a:ext cx="579140" cy="152669"/>
          </a:xfrm>
          <a:prstGeom prst="rect">
            <a:avLst/>
          </a:prstGeom>
          <a:noFill/>
        </p:spPr>
        <p:txBody>
          <a:bodyPr wrap="square" lIns="0" tIns="0" rIns="0" bIns="0" rtlCol="0">
            <a:noAutofit/>
          </a:bodyPr>
          <a:lstStyle/>
          <a:p>
            <a:pPr algn="r"/>
            <a:fld id="{4A9C97F8-90FE-457F-983C-96DAC3349EFE}" type="slidenum">
              <a:rPr kumimoji="1" lang="ja-JP" altLang="en-US" sz="992" smtClean="0">
                <a:solidFill>
                  <a:schemeClr val="accent1"/>
                </a:solidFill>
                <a:latin typeface="+mj-lt"/>
              </a:rPr>
              <a:pPr algn="r"/>
              <a:t>‹#›</a:t>
            </a:fld>
            <a:endParaRPr kumimoji="1" lang="ja-JP" altLang="en-US" sz="992" dirty="0">
              <a:solidFill>
                <a:schemeClr val="accent1"/>
              </a:solidFill>
              <a:latin typeface="+mj-lt"/>
            </a:endParaRPr>
          </a:p>
        </p:txBody>
      </p:sp>
      <p:pic>
        <p:nvPicPr>
          <p:cNvPr id="8" name="グラフィックス 7">
            <a:extLst>
              <a:ext uri="{FF2B5EF4-FFF2-40B4-BE49-F238E27FC236}">
                <a16:creationId xmlns:a16="http://schemas.microsoft.com/office/drawing/2014/main" id="{15124CEF-AA7F-DF16-7A5C-692E9AB76161}"/>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304801" y="7086114"/>
            <a:ext cx="1625600" cy="322220"/>
          </a:xfrm>
          <a:prstGeom prst="rect">
            <a:avLst/>
          </a:prstGeom>
        </p:spPr>
      </p:pic>
      <p:grpSp>
        <p:nvGrpSpPr>
          <p:cNvPr id="26" name="グループ化 25">
            <a:extLst>
              <a:ext uri="{FF2B5EF4-FFF2-40B4-BE49-F238E27FC236}">
                <a16:creationId xmlns:a16="http://schemas.microsoft.com/office/drawing/2014/main" id="{2864EB89-7DDA-1F5E-BB78-27D39C8659FC}"/>
              </a:ext>
            </a:extLst>
          </p:cNvPr>
          <p:cNvGrpSpPr/>
          <p:nvPr userDrawn="1"/>
        </p:nvGrpSpPr>
        <p:grpSpPr>
          <a:xfrm>
            <a:off x="-1" y="0"/>
            <a:ext cx="252001" cy="666000"/>
            <a:chOff x="-1" y="0"/>
            <a:chExt cx="252001" cy="666000"/>
          </a:xfrm>
        </p:grpSpPr>
        <p:cxnSp>
          <p:nvCxnSpPr>
            <p:cNvPr id="19" name="直線コネクタ 18">
              <a:extLst>
                <a:ext uri="{FF2B5EF4-FFF2-40B4-BE49-F238E27FC236}">
                  <a16:creationId xmlns:a16="http://schemas.microsoft.com/office/drawing/2014/main" id="{05B82C66-0A6E-C82F-B38C-D4495200FAA8}"/>
                </a:ext>
              </a:extLst>
            </p:cNvPr>
            <p:cNvCxnSpPr>
              <a:cxnSpLocks/>
            </p:cNvCxnSpPr>
            <p:nvPr userDrawn="1"/>
          </p:nvCxnSpPr>
          <p:spPr>
            <a:xfrm>
              <a:off x="0" y="333000"/>
              <a:ext cx="252000" cy="0"/>
            </a:xfrm>
            <a:prstGeom prst="line">
              <a:avLst/>
            </a:prstGeom>
            <a:ln>
              <a:solidFill>
                <a:schemeClr val="accent2"/>
              </a:solidFill>
            </a:ln>
          </p:spPr>
          <p:style>
            <a:lnRef idx="2">
              <a:schemeClr val="accent1"/>
            </a:lnRef>
            <a:fillRef idx="0">
              <a:schemeClr val="accent1"/>
            </a:fillRef>
            <a:effectRef idx="1">
              <a:schemeClr val="accent1"/>
            </a:effectRef>
            <a:fontRef idx="minor">
              <a:schemeClr val="tx1"/>
            </a:fontRef>
          </p:style>
        </p:cxnSp>
        <p:sp>
          <p:nvSpPr>
            <p:cNvPr id="11" name="正方形/長方形 10">
              <a:extLst>
                <a:ext uri="{FF2B5EF4-FFF2-40B4-BE49-F238E27FC236}">
                  <a16:creationId xmlns:a16="http://schemas.microsoft.com/office/drawing/2014/main" id="{A6BFD29D-964D-B44D-88A5-439ACA448282}"/>
                </a:ext>
              </a:extLst>
            </p:cNvPr>
            <p:cNvSpPr/>
            <p:nvPr userDrawn="1"/>
          </p:nvSpPr>
          <p:spPr>
            <a:xfrm>
              <a:off x="-1" y="0"/>
              <a:ext cx="108000" cy="666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p>
          </p:txBody>
        </p:sp>
        <p:cxnSp>
          <p:nvCxnSpPr>
            <p:cNvPr id="18" name="直線コネクタ 17">
              <a:extLst>
                <a:ext uri="{FF2B5EF4-FFF2-40B4-BE49-F238E27FC236}">
                  <a16:creationId xmlns:a16="http://schemas.microsoft.com/office/drawing/2014/main" id="{B87BA5C7-32E9-C506-2110-1D5AFE77B082}"/>
                </a:ext>
              </a:extLst>
            </p:cNvPr>
            <p:cNvCxnSpPr>
              <a:cxnSpLocks/>
            </p:cNvCxnSpPr>
            <p:nvPr userDrawn="1"/>
          </p:nvCxnSpPr>
          <p:spPr>
            <a:xfrm>
              <a:off x="-1" y="333000"/>
              <a:ext cx="108000" cy="0"/>
            </a:xfrm>
            <a:prstGeom prst="line">
              <a:avLst/>
            </a:prstGeom>
            <a:ln>
              <a:solidFill>
                <a:schemeClr val="tx2"/>
              </a:solidFill>
            </a:ln>
          </p:spPr>
          <p:style>
            <a:lnRef idx="2">
              <a:schemeClr val="accent1"/>
            </a:lnRef>
            <a:fillRef idx="0">
              <a:schemeClr val="accent1"/>
            </a:fillRef>
            <a:effectRef idx="1">
              <a:schemeClr val="accent1"/>
            </a:effectRef>
            <a:fontRef idx="minor">
              <a:schemeClr val="tx1"/>
            </a:fontRef>
          </p:style>
        </p:cxnSp>
      </p:grpSp>
      <p:sp>
        <p:nvSpPr>
          <p:cNvPr id="2" name="タイトル 1">
            <a:extLst>
              <a:ext uri="{FF2B5EF4-FFF2-40B4-BE49-F238E27FC236}">
                <a16:creationId xmlns:a16="http://schemas.microsoft.com/office/drawing/2014/main" id="{1DA08165-590D-BD55-05E9-10B2D6F8DD63}"/>
              </a:ext>
            </a:extLst>
          </p:cNvPr>
          <p:cNvSpPr>
            <a:spLocks noGrp="1"/>
          </p:cNvSpPr>
          <p:nvPr userDrawn="1">
            <p:ph type="ctrTitle"/>
          </p:nvPr>
        </p:nvSpPr>
        <p:spPr>
          <a:xfrm>
            <a:off x="341313" y="180296"/>
            <a:ext cx="7799917" cy="339267"/>
          </a:xfrm>
          <a:prstGeom prst="rect">
            <a:avLst/>
          </a:prstGeom>
        </p:spPr>
        <p:txBody>
          <a:bodyPr wrap="square" lIns="0" tIns="0" rIns="0" bIns="0" anchor="ctr">
            <a:spAutoFit/>
          </a:bodyPr>
          <a:lstStyle>
            <a:lvl1pPr algn="l">
              <a:lnSpc>
                <a:spcPct val="100000"/>
              </a:lnSpc>
              <a:defRPr sz="2200" b="1" spc="77" baseline="0">
                <a:solidFill>
                  <a:schemeClr val="bg1"/>
                </a:solidFill>
                <a:latin typeface="+mj-lt"/>
              </a:defRPr>
            </a:lvl1pPr>
          </a:lstStyle>
          <a:p>
            <a:r>
              <a:rPr kumimoji="1" lang="ja-JP" altLang="en-US" dirty="0"/>
              <a:t>マスター タイトルの書式設定</a:t>
            </a:r>
          </a:p>
        </p:txBody>
      </p:sp>
      <p:sp>
        <p:nvSpPr>
          <p:cNvPr id="30" name="フリーフォーム: 図形 29">
            <a:extLst>
              <a:ext uri="{FF2B5EF4-FFF2-40B4-BE49-F238E27FC236}">
                <a16:creationId xmlns:a16="http://schemas.microsoft.com/office/drawing/2014/main" id="{0AA6A414-726D-CCFA-2EF2-5B8503BE0A88}"/>
              </a:ext>
            </a:extLst>
          </p:cNvPr>
          <p:cNvSpPr/>
          <p:nvPr userDrawn="1"/>
        </p:nvSpPr>
        <p:spPr>
          <a:xfrm>
            <a:off x="6386286" y="0"/>
            <a:ext cx="1701594" cy="666001"/>
          </a:xfrm>
          <a:custGeom>
            <a:avLst/>
            <a:gdLst>
              <a:gd name="csX0" fmla="*/ 0 w 1701594"/>
              <a:gd name="csY0" fmla="*/ 0 h 666001"/>
              <a:gd name="csX1" fmla="*/ 1089255 w 1701594"/>
              <a:gd name="csY1" fmla="*/ 0 h 666001"/>
              <a:gd name="csX2" fmla="*/ 1382486 w 1701594"/>
              <a:gd name="csY2" fmla="*/ 0 h 666001"/>
              <a:gd name="csX3" fmla="*/ 1382486 w 1701594"/>
              <a:gd name="csY3" fmla="*/ 183 h 666001"/>
              <a:gd name="csX4" fmla="*/ 1701594 w 1701594"/>
              <a:gd name="csY4" fmla="*/ 381 h 666001"/>
              <a:gd name="csX5" fmla="*/ 1565532 w 1701594"/>
              <a:gd name="csY5" fmla="*/ 333001 h 666001"/>
              <a:gd name="csX6" fmla="*/ 1701594 w 1701594"/>
              <a:gd name="csY6" fmla="*/ 666001 h 666001"/>
              <a:gd name="csX7" fmla="*/ 1382486 w 1701594"/>
              <a:gd name="csY7" fmla="*/ 665803 h 666001"/>
              <a:gd name="csX8" fmla="*/ 1382486 w 1701594"/>
              <a:gd name="csY8" fmla="*/ 666000 h 666001"/>
              <a:gd name="csX9" fmla="*/ 0 w 1701594"/>
              <a:gd name="csY9" fmla="*/ 666000 h 66600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701594" h="666001">
                <a:moveTo>
                  <a:pt x="0" y="0"/>
                </a:moveTo>
                <a:lnTo>
                  <a:pt x="1089255" y="0"/>
                </a:lnTo>
                <a:lnTo>
                  <a:pt x="1382486" y="0"/>
                </a:lnTo>
                <a:lnTo>
                  <a:pt x="1382486" y="183"/>
                </a:lnTo>
                <a:lnTo>
                  <a:pt x="1701594" y="381"/>
                </a:lnTo>
                <a:lnTo>
                  <a:pt x="1565532" y="333001"/>
                </a:lnTo>
                <a:lnTo>
                  <a:pt x="1701594" y="666001"/>
                </a:lnTo>
                <a:lnTo>
                  <a:pt x="1382486" y="665803"/>
                </a:lnTo>
                <a:lnTo>
                  <a:pt x="1382486" y="666000"/>
                </a:lnTo>
                <a:lnTo>
                  <a:pt x="0" y="666000"/>
                </a:lnTo>
                <a:close/>
              </a:path>
            </a:pathLst>
          </a:custGeom>
          <a:gradFill>
            <a:gsLst>
              <a:gs pos="100000">
                <a:schemeClr val="accent4"/>
              </a:gs>
              <a:gs pos="8000">
                <a:srgbClr val="0167AB">
                  <a:alpha val="0"/>
                </a:srgb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ja-JP" altLang="en-US" sz="2263"/>
          </a:p>
        </p:txBody>
      </p:sp>
      <p:sp>
        <p:nvSpPr>
          <p:cNvPr id="33" name="Google Shape;14;p31">
            <a:extLst>
              <a:ext uri="{FF2B5EF4-FFF2-40B4-BE49-F238E27FC236}">
                <a16:creationId xmlns:a16="http://schemas.microsoft.com/office/drawing/2014/main" id="{273032A6-EBE9-0147-F9C2-495CA12FDE28}"/>
              </a:ext>
            </a:extLst>
          </p:cNvPr>
          <p:cNvSpPr/>
          <p:nvPr userDrawn="1"/>
        </p:nvSpPr>
        <p:spPr>
          <a:xfrm>
            <a:off x="5516123" y="7220572"/>
            <a:ext cx="4572000" cy="107722"/>
          </a:xfrm>
          <a:prstGeom prst="rect">
            <a:avLst/>
          </a:prstGeom>
          <a:noFill/>
          <a:ln>
            <a:noFill/>
          </a:ln>
        </p:spPr>
        <p:txBody>
          <a:bodyPr spcFirstLastPara="1" wrap="square" lIns="0" tIns="0" rIns="0" bIns="0" anchor="ctr" anchorCtr="0">
            <a:spAutoFit/>
          </a:bodyPr>
          <a:lstStyle/>
          <a:p>
            <a:pPr marL="0" marR="0" lvl="0" indent="0" algn="r" rtl="0">
              <a:spcBef>
                <a:spcPts val="0"/>
              </a:spcBef>
              <a:spcAft>
                <a:spcPts val="0"/>
              </a:spcAft>
              <a:buNone/>
            </a:pPr>
            <a:r>
              <a:rPr lang="ja-JP" sz="700" b="0" i="0" u="none" strike="noStrike" cap="none" dirty="0">
                <a:solidFill>
                  <a:schemeClr val="accent1"/>
                </a:solidFill>
                <a:latin typeface="Arial"/>
                <a:ea typeface="Arial"/>
                <a:cs typeface="Arial"/>
                <a:sym typeface="Arial"/>
              </a:rPr>
              <a:t>Copyright© M＆A Succession Group Inc. All Right Reserved</a:t>
            </a:r>
            <a:endParaRPr sz="700" b="0" i="0" u="none" strike="noStrike" cap="none" dirty="0">
              <a:solidFill>
                <a:schemeClr val="accent1"/>
              </a:solidFill>
              <a:latin typeface="Arial"/>
              <a:ea typeface="Arial"/>
              <a:cs typeface="Arial"/>
              <a:sym typeface="Arial"/>
            </a:endParaRPr>
          </a:p>
        </p:txBody>
      </p:sp>
      <p:sp>
        <p:nvSpPr>
          <p:cNvPr id="5" name="正方形/長方形 4">
            <a:extLst>
              <a:ext uri="{FF2B5EF4-FFF2-40B4-BE49-F238E27FC236}">
                <a16:creationId xmlns:a16="http://schemas.microsoft.com/office/drawing/2014/main" id="{283DDC2C-ECEE-530D-9F1C-6564A5A2BAB9}"/>
              </a:ext>
            </a:extLst>
          </p:cNvPr>
          <p:cNvSpPr/>
          <p:nvPr userDrawn="1"/>
        </p:nvSpPr>
        <p:spPr>
          <a:xfrm>
            <a:off x="6933143" y="7209190"/>
            <a:ext cx="640572" cy="144000"/>
          </a:xfrm>
          <a:prstGeom prst="rect">
            <a:avLst/>
          </a:prstGeom>
          <a:noFill/>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oAutofit/>
          </a:bodyPr>
          <a:lstStyle/>
          <a:p>
            <a:pPr algn="ctr"/>
            <a:r>
              <a:rPr kumimoji="1" lang="en-US" altLang="ja-JP" sz="800" i="1" dirty="0">
                <a:solidFill>
                  <a:schemeClr val="accent1"/>
                </a:solidFill>
              </a:rPr>
              <a:t>Confidential</a:t>
            </a:r>
          </a:p>
        </p:txBody>
      </p:sp>
    </p:spTree>
    <p:extLst>
      <p:ext uri="{BB962C8B-B14F-4D97-AF65-F5344CB8AC3E}">
        <p14:creationId xmlns:p14="http://schemas.microsoft.com/office/powerpoint/2010/main" val="2627557559"/>
      </p:ext>
    </p:extLst>
  </p:cSld>
  <p:clrMapOvr>
    <a:masterClrMapping/>
  </p:clrMapOvr>
  <p:extLst>
    <p:ext uri="{DCECCB84-F9BA-43D5-87BE-67443E8EF086}">
      <p15:sldGuideLst xmlns:p15="http://schemas.microsoft.com/office/powerpoint/2012/main">
        <p15:guide id="2" orient="horz" pos="4309">
          <p15:clr>
            <a:srgbClr val="FBAE40"/>
          </p15:clr>
        </p15:guide>
        <p15:guide id="3" pos="215">
          <p15:clr>
            <a:srgbClr val="A4A3A4"/>
          </p15:clr>
        </p15:guide>
        <p15:guide id="4" pos="6520">
          <p15:clr>
            <a:srgbClr val="A4A3A4"/>
          </p15:clr>
        </p15:guide>
        <p15:guide id="5" pos="283">
          <p15:clr>
            <a:srgbClr val="FBAE40"/>
          </p15:clr>
        </p15:guide>
        <p15:guide id="6" pos="6452">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1_表紙">
    <p:spTree>
      <p:nvGrpSpPr>
        <p:cNvPr id="1" name=""/>
        <p:cNvGrpSpPr/>
        <p:nvPr/>
      </p:nvGrpSpPr>
      <p:grpSpPr>
        <a:xfrm>
          <a:off x="0" y="0"/>
          <a:ext cx="0" cy="0"/>
          <a:chOff x="0" y="0"/>
          <a:chExt cx="0" cy="0"/>
        </a:xfrm>
      </p:grpSpPr>
      <p:pic>
        <p:nvPicPr>
          <p:cNvPr id="3" name="図 2" descr="絵と文字の加工写真&#10;&#10;AI 生成コンテンツは誤りを含む可能性があります。">
            <a:extLst>
              <a:ext uri="{FF2B5EF4-FFF2-40B4-BE49-F238E27FC236}">
                <a16:creationId xmlns:a16="http://schemas.microsoft.com/office/drawing/2014/main" id="{995F6558-5E48-7ACD-5E2F-54EE4A6825BC}"/>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0" y="519"/>
            <a:ext cx="10691813" cy="7558636"/>
          </a:xfrm>
          <a:prstGeom prst="rect">
            <a:avLst/>
          </a:prstGeom>
        </p:spPr>
      </p:pic>
      <p:sp>
        <p:nvSpPr>
          <p:cNvPr id="6" name="タイトル 1">
            <a:extLst>
              <a:ext uri="{FF2B5EF4-FFF2-40B4-BE49-F238E27FC236}">
                <a16:creationId xmlns:a16="http://schemas.microsoft.com/office/drawing/2014/main" id="{7D824756-0531-3BBA-09FB-CC8ACB55A36C}"/>
              </a:ext>
            </a:extLst>
          </p:cNvPr>
          <p:cNvSpPr>
            <a:spLocks noGrp="1"/>
          </p:cNvSpPr>
          <p:nvPr>
            <p:ph type="title"/>
          </p:nvPr>
        </p:nvSpPr>
        <p:spPr>
          <a:xfrm>
            <a:off x="885526" y="3467606"/>
            <a:ext cx="9221787" cy="738664"/>
          </a:xfrm>
          <a:prstGeom prst="rect">
            <a:avLst/>
          </a:prstGeom>
          <a:noFill/>
        </p:spPr>
        <p:txBody>
          <a:bodyPr wrap="square" lIns="0" tIns="0" rIns="0" bIns="0" rtlCol="0" anchor="ctr">
            <a:spAutoFit/>
          </a:bodyPr>
          <a:lstStyle>
            <a:lvl1pPr>
              <a:lnSpc>
                <a:spcPct val="100000"/>
              </a:lnSpc>
              <a:defRPr lang="ja-JP" altLang="en-US" sz="4800" b="1" spc="200">
                <a:latin typeface="+mj-lt"/>
                <a:cs typeface="+mn-cs"/>
              </a:defRPr>
            </a:lvl1pPr>
          </a:lstStyle>
          <a:p>
            <a:pPr marL="0" lvl="0" defTabSz="503972"/>
            <a:r>
              <a:rPr kumimoji="1" lang="ja-JP" altLang="en-US" dirty="0"/>
              <a:t>マスター タイトルの書式設定</a:t>
            </a:r>
          </a:p>
        </p:txBody>
      </p:sp>
      <p:pic>
        <p:nvPicPr>
          <p:cNvPr id="4" name="図 3" descr="図形&#10;&#10;中程度の精度で自動的に生成された説明">
            <a:extLst>
              <a:ext uri="{FF2B5EF4-FFF2-40B4-BE49-F238E27FC236}">
                <a16:creationId xmlns:a16="http://schemas.microsoft.com/office/drawing/2014/main" id="{DF75B97B-7722-5333-1DF6-425BD31B0F05}"/>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597898" y="641817"/>
            <a:ext cx="2996516" cy="594316"/>
          </a:xfrm>
          <a:prstGeom prst="rect">
            <a:avLst/>
          </a:prstGeom>
        </p:spPr>
      </p:pic>
      <p:sp>
        <p:nvSpPr>
          <p:cNvPr id="5" name="正方形/長方形 4">
            <a:extLst>
              <a:ext uri="{FF2B5EF4-FFF2-40B4-BE49-F238E27FC236}">
                <a16:creationId xmlns:a16="http://schemas.microsoft.com/office/drawing/2014/main" id="{E7F2AB3F-4E5C-EEA1-723A-7D941C02D057}"/>
              </a:ext>
            </a:extLst>
          </p:cNvPr>
          <p:cNvSpPr/>
          <p:nvPr userDrawn="1"/>
        </p:nvSpPr>
        <p:spPr>
          <a:xfrm>
            <a:off x="-1" y="-1"/>
            <a:ext cx="108000" cy="7560000"/>
          </a:xfrm>
          <a:prstGeom prst="rect">
            <a:avLst/>
          </a:prstGeom>
          <a:gradFill>
            <a:gsLst>
              <a:gs pos="100000">
                <a:schemeClr val="accent4"/>
              </a:gs>
              <a:gs pos="17000">
                <a:schemeClr val="tx2"/>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2263"/>
          </a:p>
        </p:txBody>
      </p:sp>
    </p:spTree>
    <p:extLst>
      <p:ext uri="{BB962C8B-B14F-4D97-AF65-F5344CB8AC3E}">
        <p14:creationId xmlns:p14="http://schemas.microsoft.com/office/powerpoint/2010/main" val="211118995"/>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58542152"/>
      </p:ext>
    </p:extLst>
  </p:cSld>
  <p:clrMap bg1="lt1" tx1="dk1" bg2="lt2" tx2="dk2" accent1="accent1" accent2="accent2" accent3="accent3" accent4="accent4" accent5="accent5" accent6="accent6" hlink="hlink" folHlink="folHlink"/>
  <p:sldLayoutIdLst>
    <p:sldLayoutId id="2147483654" r:id="rId1"/>
    <p:sldLayoutId id="2147483655" r:id="rId2"/>
    <p:sldLayoutId id="2147483656" r:id="rId3"/>
    <p:sldLayoutId id="2147483657" r:id="rId4"/>
    <p:sldLayoutId id="2147483658" r:id="rId5"/>
    <p:sldLayoutId id="2147483659" r:id="rId6"/>
  </p:sldLayoutIdLst>
  <p:txStyles>
    <p:titleStyle>
      <a:lvl1pPr algn="l" defTabSz="1007943" rtl="0" eaLnBrk="1" latinLnBrk="0" hangingPunct="1">
        <a:lnSpc>
          <a:spcPct val="90000"/>
        </a:lnSpc>
        <a:spcBef>
          <a:spcPct val="0"/>
        </a:spcBef>
        <a:buNone/>
        <a:defRPr kumimoji="1" sz="4850" kern="1200">
          <a:solidFill>
            <a:schemeClr val="tx1"/>
          </a:solidFill>
          <a:latin typeface="+mj-lt"/>
          <a:ea typeface="+mj-ea"/>
          <a:cs typeface="+mj-cs"/>
        </a:defRPr>
      </a:lvl1pPr>
    </p:titleStyle>
    <p:bodyStyle>
      <a:lvl1pPr marL="251986" indent="-251986" algn="l" defTabSz="1007943" rtl="0" eaLnBrk="1" latinLnBrk="0" hangingPunct="1">
        <a:lnSpc>
          <a:spcPct val="90000"/>
        </a:lnSpc>
        <a:spcBef>
          <a:spcPts val="1102"/>
        </a:spcBef>
        <a:buFont typeface="Arial" panose="020B0604020202020204" pitchFamily="34" charset="0"/>
        <a:buChar char="•"/>
        <a:defRPr kumimoji="1" sz="3086" kern="1200">
          <a:solidFill>
            <a:schemeClr val="tx1"/>
          </a:solidFill>
          <a:latin typeface="+mn-lt"/>
          <a:ea typeface="+mn-ea"/>
          <a:cs typeface="+mn-cs"/>
        </a:defRPr>
      </a:lvl1pPr>
      <a:lvl2pPr marL="755957" indent="-251986" algn="l" defTabSz="1007943" rtl="0" eaLnBrk="1" latinLnBrk="0" hangingPunct="1">
        <a:lnSpc>
          <a:spcPct val="90000"/>
        </a:lnSpc>
        <a:spcBef>
          <a:spcPts val="551"/>
        </a:spcBef>
        <a:buFont typeface="Arial" panose="020B0604020202020204" pitchFamily="34" charset="0"/>
        <a:buChar char="•"/>
        <a:defRPr kumimoji="1" sz="2646" kern="1200">
          <a:solidFill>
            <a:schemeClr val="tx1"/>
          </a:solidFill>
          <a:latin typeface="+mn-lt"/>
          <a:ea typeface="+mn-ea"/>
          <a:cs typeface="+mn-cs"/>
        </a:defRPr>
      </a:lvl2pPr>
      <a:lvl3pPr marL="1259929" indent="-251986" algn="l" defTabSz="1007943" rtl="0" eaLnBrk="1" latinLnBrk="0" hangingPunct="1">
        <a:lnSpc>
          <a:spcPct val="90000"/>
        </a:lnSpc>
        <a:spcBef>
          <a:spcPts val="551"/>
        </a:spcBef>
        <a:buFont typeface="Arial" panose="020B0604020202020204" pitchFamily="34" charset="0"/>
        <a:buChar char="•"/>
        <a:defRPr kumimoji="1" sz="2205" kern="1200">
          <a:solidFill>
            <a:schemeClr val="tx1"/>
          </a:solidFill>
          <a:latin typeface="+mn-lt"/>
          <a:ea typeface="+mn-ea"/>
          <a:cs typeface="+mn-cs"/>
        </a:defRPr>
      </a:lvl3pPr>
      <a:lvl4pPr marL="1763900" indent="-251986" algn="l" defTabSz="1007943" rtl="0" eaLnBrk="1" latinLnBrk="0" hangingPunct="1">
        <a:lnSpc>
          <a:spcPct val="90000"/>
        </a:lnSpc>
        <a:spcBef>
          <a:spcPts val="551"/>
        </a:spcBef>
        <a:buFont typeface="Arial" panose="020B0604020202020204" pitchFamily="34" charset="0"/>
        <a:buChar char="•"/>
        <a:defRPr kumimoji="1" sz="1984" kern="1200">
          <a:solidFill>
            <a:schemeClr val="tx1"/>
          </a:solidFill>
          <a:latin typeface="+mn-lt"/>
          <a:ea typeface="+mn-ea"/>
          <a:cs typeface="+mn-cs"/>
        </a:defRPr>
      </a:lvl4pPr>
      <a:lvl5pPr marL="2267872" indent="-251986" algn="l" defTabSz="1007943" rtl="0" eaLnBrk="1" latinLnBrk="0" hangingPunct="1">
        <a:lnSpc>
          <a:spcPct val="90000"/>
        </a:lnSpc>
        <a:spcBef>
          <a:spcPts val="551"/>
        </a:spcBef>
        <a:buFont typeface="Arial" panose="020B0604020202020204" pitchFamily="34" charset="0"/>
        <a:buChar char="•"/>
        <a:defRPr kumimoji="1" sz="1984" kern="1200">
          <a:solidFill>
            <a:schemeClr val="tx1"/>
          </a:solidFill>
          <a:latin typeface="+mn-lt"/>
          <a:ea typeface="+mn-ea"/>
          <a:cs typeface="+mn-cs"/>
        </a:defRPr>
      </a:lvl5pPr>
      <a:lvl6pPr marL="2771844" indent="-251986" algn="l" defTabSz="1007943" rtl="0" eaLnBrk="1" latinLnBrk="0" hangingPunct="1">
        <a:lnSpc>
          <a:spcPct val="90000"/>
        </a:lnSpc>
        <a:spcBef>
          <a:spcPts val="551"/>
        </a:spcBef>
        <a:buFont typeface="Arial" panose="020B0604020202020204" pitchFamily="34" charset="0"/>
        <a:buChar char="•"/>
        <a:defRPr kumimoji="1" sz="1984" kern="1200">
          <a:solidFill>
            <a:schemeClr val="tx1"/>
          </a:solidFill>
          <a:latin typeface="+mn-lt"/>
          <a:ea typeface="+mn-ea"/>
          <a:cs typeface="+mn-cs"/>
        </a:defRPr>
      </a:lvl6pPr>
      <a:lvl7pPr marL="3275815" indent="-251986" algn="l" defTabSz="1007943" rtl="0" eaLnBrk="1" latinLnBrk="0" hangingPunct="1">
        <a:lnSpc>
          <a:spcPct val="90000"/>
        </a:lnSpc>
        <a:spcBef>
          <a:spcPts val="551"/>
        </a:spcBef>
        <a:buFont typeface="Arial" panose="020B0604020202020204" pitchFamily="34" charset="0"/>
        <a:buChar char="•"/>
        <a:defRPr kumimoji="1" sz="1984" kern="1200">
          <a:solidFill>
            <a:schemeClr val="tx1"/>
          </a:solidFill>
          <a:latin typeface="+mn-lt"/>
          <a:ea typeface="+mn-ea"/>
          <a:cs typeface="+mn-cs"/>
        </a:defRPr>
      </a:lvl7pPr>
      <a:lvl8pPr marL="3779787" indent="-251986" algn="l" defTabSz="1007943" rtl="0" eaLnBrk="1" latinLnBrk="0" hangingPunct="1">
        <a:lnSpc>
          <a:spcPct val="90000"/>
        </a:lnSpc>
        <a:spcBef>
          <a:spcPts val="551"/>
        </a:spcBef>
        <a:buFont typeface="Arial" panose="020B0604020202020204" pitchFamily="34" charset="0"/>
        <a:buChar char="•"/>
        <a:defRPr kumimoji="1" sz="1984" kern="1200">
          <a:solidFill>
            <a:schemeClr val="tx1"/>
          </a:solidFill>
          <a:latin typeface="+mn-lt"/>
          <a:ea typeface="+mn-ea"/>
          <a:cs typeface="+mn-cs"/>
        </a:defRPr>
      </a:lvl8pPr>
      <a:lvl9pPr marL="4283758" indent="-251986" algn="l" defTabSz="1007943" rtl="0" eaLnBrk="1" latinLnBrk="0" hangingPunct="1">
        <a:lnSpc>
          <a:spcPct val="90000"/>
        </a:lnSpc>
        <a:spcBef>
          <a:spcPts val="551"/>
        </a:spcBef>
        <a:buFont typeface="Arial" panose="020B0604020202020204" pitchFamily="34" charset="0"/>
        <a:buChar char="•"/>
        <a:defRPr kumimoji="1" sz="1984" kern="1200">
          <a:solidFill>
            <a:schemeClr val="tx1"/>
          </a:solidFill>
          <a:latin typeface="+mn-lt"/>
          <a:ea typeface="+mn-ea"/>
          <a:cs typeface="+mn-cs"/>
        </a:defRPr>
      </a:lvl9pPr>
    </p:bodyStyle>
    <p:otherStyle>
      <a:defPPr>
        <a:defRPr lang="ja-JP"/>
      </a:defPPr>
      <a:lvl1pPr marL="0" algn="l" defTabSz="1007943" rtl="0" eaLnBrk="1" latinLnBrk="0" hangingPunct="1">
        <a:defRPr kumimoji="1" sz="1984" kern="1200">
          <a:solidFill>
            <a:schemeClr val="tx1"/>
          </a:solidFill>
          <a:latin typeface="+mn-lt"/>
          <a:ea typeface="+mn-ea"/>
          <a:cs typeface="+mn-cs"/>
        </a:defRPr>
      </a:lvl1pPr>
      <a:lvl2pPr marL="503972" algn="l" defTabSz="1007943" rtl="0" eaLnBrk="1" latinLnBrk="0" hangingPunct="1">
        <a:defRPr kumimoji="1" sz="1984" kern="1200">
          <a:solidFill>
            <a:schemeClr val="tx1"/>
          </a:solidFill>
          <a:latin typeface="+mn-lt"/>
          <a:ea typeface="+mn-ea"/>
          <a:cs typeface="+mn-cs"/>
        </a:defRPr>
      </a:lvl2pPr>
      <a:lvl3pPr marL="1007943" algn="l" defTabSz="1007943" rtl="0" eaLnBrk="1" latinLnBrk="0" hangingPunct="1">
        <a:defRPr kumimoji="1" sz="1984" kern="1200">
          <a:solidFill>
            <a:schemeClr val="tx1"/>
          </a:solidFill>
          <a:latin typeface="+mn-lt"/>
          <a:ea typeface="+mn-ea"/>
          <a:cs typeface="+mn-cs"/>
        </a:defRPr>
      </a:lvl3pPr>
      <a:lvl4pPr marL="1511915" algn="l" defTabSz="1007943" rtl="0" eaLnBrk="1" latinLnBrk="0" hangingPunct="1">
        <a:defRPr kumimoji="1" sz="1984" kern="1200">
          <a:solidFill>
            <a:schemeClr val="tx1"/>
          </a:solidFill>
          <a:latin typeface="+mn-lt"/>
          <a:ea typeface="+mn-ea"/>
          <a:cs typeface="+mn-cs"/>
        </a:defRPr>
      </a:lvl4pPr>
      <a:lvl5pPr marL="2015886" algn="l" defTabSz="1007943" rtl="0" eaLnBrk="1" latinLnBrk="0" hangingPunct="1">
        <a:defRPr kumimoji="1" sz="1984" kern="1200">
          <a:solidFill>
            <a:schemeClr val="tx1"/>
          </a:solidFill>
          <a:latin typeface="+mn-lt"/>
          <a:ea typeface="+mn-ea"/>
          <a:cs typeface="+mn-cs"/>
        </a:defRPr>
      </a:lvl5pPr>
      <a:lvl6pPr marL="2519858" algn="l" defTabSz="1007943" rtl="0" eaLnBrk="1" latinLnBrk="0" hangingPunct="1">
        <a:defRPr kumimoji="1" sz="1984" kern="1200">
          <a:solidFill>
            <a:schemeClr val="tx1"/>
          </a:solidFill>
          <a:latin typeface="+mn-lt"/>
          <a:ea typeface="+mn-ea"/>
          <a:cs typeface="+mn-cs"/>
        </a:defRPr>
      </a:lvl6pPr>
      <a:lvl7pPr marL="3023829" algn="l" defTabSz="1007943" rtl="0" eaLnBrk="1" latinLnBrk="0" hangingPunct="1">
        <a:defRPr kumimoji="1" sz="1984" kern="1200">
          <a:solidFill>
            <a:schemeClr val="tx1"/>
          </a:solidFill>
          <a:latin typeface="+mn-lt"/>
          <a:ea typeface="+mn-ea"/>
          <a:cs typeface="+mn-cs"/>
        </a:defRPr>
      </a:lvl7pPr>
      <a:lvl8pPr marL="3527801" algn="l" defTabSz="1007943" rtl="0" eaLnBrk="1" latinLnBrk="0" hangingPunct="1">
        <a:defRPr kumimoji="1" sz="1984" kern="1200">
          <a:solidFill>
            <a:schemeClr val="tx1"/>
          </a:solidFill>
          <a:latin typeface="+mn-lt"/>
          <a:ea typeface="+mn-ea"/>
          <a:cs typeface="+mn-cs"/>
        </a:defRPr>
      </a:lvl8pPr>
      <a:lvl9pPr marL="4031772" algn="l" defTabSz="1007943" rtl="0" eaLnBrk="1" latinLnBrk="0" hangingPunct="1">
        <a:defRPr kumimoji="1" sz="1984"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0.jpeg"/><Relationship Id="rId3" Type="http://schemas.openxmlformats.org/officeDocument/2006/relationships/image" Target="../media/image7.sv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chart" Target="../charts/chart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chart" Target="../charts/char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8E6EF2-E355-DFA0-0FDA-00C6AAD69C4F}"/>
            </a:ext>
          </a:extLst>
        </p:cNvPr>
        <p:cNvGrpSpPr/>
        <p:nvPr/>
      </p:nvGrpSpPr>
      <p:grpSpPr>
        <a:xfrm>
          <a:off x="0" y="0"/>
          <a:ext cx="0" cy="0"/>
          <a:chOff x="0" y="0"/>
          <a:chExt cx="0" cy="0"/>
        </a:xfrm>
      </p:grpSpPr>
      <p:sp>
        <p:nvSpPr>
          <p:cNvPr id="3" name="タイトル 2">
            <a:extLst>
              <a:ext uri="{FF2B5EF4-FFF2-40B4-BE49-F238E27FC236}">
                <a16:creationId xmlns:a16="http://schemas.microsoft.com/office/drawing/2014/main" id="{F0EAAA34-63BD-2868-6F6F-9550B61A0EE2}"/>
              </a:ext>
            </a:extLst>
          </p:cNvPr>
          <p:cNvSpPr>
            <a:spLocks noGrp="1"/>
          </p:cNvSpPr>
          <p:nvPr>
            <p:ph type="title"/>
          </p:nvPr>
        </p:nvSpPr>
        <p:spPr>
          <a:xfrm>
            <a:off x="885526" y="3467606"/>
            <a:ext cx="9221787" cy="738664"/>
          </a:xfrm>
        </p:spPr>
        <p:txBody>
          <a:bodyPr/>
          <a:lstStyle/>
          <a:p>
            <a:r>
              <a:rPr lang="ja-JP" altLang="en-US" dirty="0"/>
              <a:t>株式価値評価書  </a:t>
            </a:r>
            <a:r>
              <a:rPr lang="ja-JP" altLang="en-US" sz="2400" dirty="0"/>
              <a:t>&lt;製氷業／埼玉県&gt;</a:t>
            </a:r>
            <a:endParaRPr lang="ja-JP" altLang="en-US" dirty="0"/>
          </a:p>
        </p:txBody>
      </p:sp>
      <p:cxnSp>
        <p:nvCxnSpPr>
          <p:cNvPr id="11" name="直線コネクタ 10">
            <a:extLst>
              <a:ext uri="{FF2B5EF4-FFF2-40B4-BE49-F238E27FC236}">
                <a16:creationId xmlns:a16="http://schemas.microsoft.com/office/drawing/2014/main" id="{B552F00F-DAC8-72B9-D861-43E1B7EF96E4}"/>
              </a:ext>
            </a:extLst>
          </p:cNvPr>
          <p:cNvCxnSpPr>
            <a:cxnSpLocks/>
          </p:cNvCxnSpPr>
          <p:nvPr/>
        </p:nvCxnSpPr>
        <p:spPr>
          <a:xfrm>
            <a:off x="885526" y="4272782"/>
            <a:ext cx="6767299" cy="0"/>
          </a:xfrm>
          <a:prstGeom prst="line">
            <a:avLst/>
          </a:prstGeom>
          <a:ln w="31750">
            <a:solidFill>
              <a:schemeClr val="accent4"/>
            </a:solidFill>
          </a:ln>
        </p:spPr>
        <p:style>
          <a:lnRef idx="1">
            <a:schemeClr val="accent1"/>
          </a:lnRef>
          <a:fillRef idx="0">
            <a:schemeClr val="accent1"/>
          </a:fillRef>
          <a:effectRef idx="0">
            <a:schemeClr val="accent1"/>
          </a:effectRef>
          <a:fontRef idx="minor">
            <a:schemeClr val="tx1"/>
          </a:fontRef>
        </p:style>
      </p:cxnSp>
      <p:sp>
        <p:nvSpPr>
          <p:cNvPr id="6" name="タイトル 2">
            <a:extLst>
              <a:ext uri="{FF2B5EF4-FFF2-40B4-BE49-F238E27FC236}">
                <a16:creationId xmlns:a16="http://schemas.microsoft.com/office/drawing/2014/main" id="{483B0F4A-40C8-4F5B-4490-660AE728BBA5}"/>
              </a:ext>
            </a:extLst>
          </p:cNvPr>
          <p:cNvSpPr txBox="1">
            <a:spLocks/>
          </p:cNvSpPr>
          <p:nvPr/>
        </p:nvSpPr>
        <p:spPr>
          <a:xfrm>
            <a:off x="941798" y="4043874"/>
            <a:ext cx="9221787" cy="738664"/>
          </a:xfrm>
          <a:prstGeom prst="rect">
            <a:avLst/>
          </a:prstGeom>
          <a:noFill/>
        </p:spPr>
        <p:txBody>
          <a:bodyPr wrap="square" lIns="0" tIns="0" rIns="0" bIns="0" rtlCol="0" anchor="ctr">
            <a:spAutoFit/>
          </a:bodyPr>
          <a:lstStyle>
            <a:lvl1pPr algn="l" defTabSz="1007943" rtl="0" eaLnBrk="1" latinLnBrk="0" hangingPunct="1">
              <a:lnSpc>
                <a:spcPct val="100000"/>
              </a:lnSpc>
              <a:spcBef>
                <a:spcPct val="0"/>
              </a:spcBef>
              <a:buNone/>
              <a:defRPr kumimoji="1" lang="ja-JP" altLang="en-US" sz="4800" b="1" kern="1200" spc="200">
                <a:solidFill>
                  <a:schemeClr val="tx1"/>
                </a:solidFill>
                <a:latin typeface="+mj-lt"/>
                <a:ea typeface="+mj-ea"/>
                <a:cs typeface="+mn-cs"/>
              </a:defRPr>
            </a:lvl1pPr>
          </a:lstStyle>
          <a:p>
            <a:pPr>
              <a:buClrTx/>
              <a:buFontTx/>
            </a:pPr>
            <a:r>
              <a:rPr lang="en-US" altLang="ja-JP" sz="1800" dirty="0"/>
              <a:t>Valuation</a:t>
            </a:r>
            <a:r>
              <a:rPr lang="ja-JP" altLang="en-US" sz="1800" dirty="0"/>
              <a:t> </a:t>
            </a:r>
            <a:r>
              <a:rPr lang="en-US" altLang="ja-JP" sz="1800" dirty="0"/>
              <a:t>Report</a:t>
            </a:r>
            <a:r>
              <a:rPr lang="zh-TW" altLang="en-US" dirty="0"/>
              <a:t>　</a:t>
            </a:r>
          </a:p>
        </p:txBody>
      </p:sp>
      <p:sp>
        <p:nvSpPr>
          <p:cNvPr id="12" name="TextBox 11"/>
          <p:cNvSpPr txBox="1"/>
          <p:nvPr/>
        </p:nvSpPr>
        <p:spPr>
          <a:xfrm>
            <a:off x="941832" y="4754880"/>
            <a:ext cx="7315200" cy="274320"/>
          </a:xfrm>
          <a:prstGeom prst="rect">
            <a:avLst/>
          </a:prstGeom>
          <a:noFill/>
        </p:spPr>
        <p:txBody>
          <a:bodyPr wrap="square" anchor="t" lIns="18288" rIns="18288" tIns="18288" bIns="18288"/>
          <a:lstStyle/>
          <a:p>
            <a:pPr algn="l"/>
            <a:r>
              <a:rPr sz="1200" b="0" i="0">
                <a:solidFill>
                  <a:srgbClr val="0B3041"/>
                </a:solidFill>
                <a:latin typeface="游ゴシック"/>
                <a:ea typeface="游ゴシック"/>
              </a:rPr>
              <a:t>評価基準日：2026年3月31日（第67期末）　／　越ヶ谷製氷冷蔵株式会社</a:t>
            </a:r>
          </a:p>
        </p:txBody>
      </p:sp>
    </p:spTree>
    <p:extLst>
      <p:ext uri="{BB962C8B-B14F-4D97-AF65-F5344CB8AC3E}">
        <p14:creationId xmlns:p14="http://schemas.microsoft.com/office/powerpoint/2010/main" val="4336838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87;p2">
            <a:extLst>
              <a:ext uri="{FF2B5EF4-FFF2-40B4-BE49-F238E27FC236}">
                <a16:creationId xmlns:a16="http://schemas.microsoft.com/office/drawing/2014/main" id="{A92DF3A4-79D3-09CF-A0AF-2A2E9BAD2537}"/>
              </a:ext>
            </a:extLst>
          </p:cNvPr>
          <p:cNvSpPr txBox="1"/>
          <p:nvPr/>
        </p:nvSpPr>
        <p:spPr>
          <a:xfrm>
            <a:off x="449263" y="5738246"/>
            <a:ext cx="3372853"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wrap="square" lIns="0" tIns="0" rIns="0" bIns="0" rtlCol="0" anchor="ctr">
            <a:spAutoFit/>
          </a:bodyPr>
          <a:lstStyle>
            <a:defPPr>
              <a:defRPr lang="en-US"/>
            </a:defPPr>
            <a:lvl1pPr marL="180000" indent="-180000">
              <a:buClr>
                <a:schemeClr val="tx2"/>
              </a:buClr>
              <a:buSzPct val="100000"/>
              <a:buFont typeface="游ゴシック" panose="020B0400000000000000" pitchFamily="50" charset="-128"/>
              <a:buChar char="▌"/>
              <a:defRPr sz="1600" b="1" spc="50">
                <a:solidFill>
                  <a:schemeClr val="tx1"/>
                </a:solidFill>
                <a:latin typeface="+mj-ea"/>
                <a:ea typeface="+mj-ea"/>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r>
              <a:rPr lang="ja-JP" altLang="en-US" dirty="0"/>
              <a:t>本件のご照会先</a:t>
            </a:r>
          </a:p>
        </p:txBody>
      </p:sp>
      <p:graphicFrame>
        <p:nvGraphicFramePr>
          <p:cNvPr id="3" name="Google Shape;188;p2">
            <a:extLst>
              <a:ext uri="{FF2B5EF4-FFF2-40B4-BE49-F238E27FC236}">
                <a16:creationId xmlns:a16="http://schemas.microsoft.com/office/drawing/2014/main" id="{6A5E1FF5-E790-97CE-E190-6844BCDD57F5}"/>
              </a:ext>
            </a:extLst>
          </p:cNvPr>
          <p:cNvGraphicFramePr/>
          <p:nvPr>
            <p:extLst>
              <p:ext uri="{D42A27DB-BD31-4B8C-83A1-F6EECF244321}">
                <p14:modId xmlns:p14="http://schemas.microsoft.com/office/powerpoint/2010/main" val="1416780746"/>
              </p:ext>
            </p:extLst>
          </p:nvPr>
        </p:nvGraphicFramePr>
        <p:xfrm>
          <a:off x="449264" y="6120538"/>
          <a:ext cx="9793287" cy="720000"/>
        </p:xfrm>
        <a:graphic>
          <a:graphicData uri="http://schemas.openxmlformats.org/drawingml/2006/table">
            <a:tbl>
              <a:tblPr firstRow="1" bandRow="1">
                <a:noFill/>
              </a:tblPr>
              <a:tblGrid>
                <a:gridCol w="2448322">
                  <a:extLst>
                    <a:ext uri="{9D8B030D-6E8A-4147-A177-3AD203B41FA5}">
                      <a16:colId xmlns:a16="http://schemas.microsoft.com/office/drawing/2014/main" val="20000"/>
                    </a:ext>
                  </a:extLst>
                </a:gridCol>
                <a:gridCol w="2448321">
                  <a:extLst>
                    <a:ext uri="{9D8B030D-6E8A-4147-A177-3AD203B41FA5}">
                      <a16:colId xmlns:a16="http://schemas.microsoft.com/office/drawing/2014/main" val="20001"/>
                    </a:ext>
                  </a:extLst>
                </a:gridCol>
                <a:gridCol w="2448322">
                  <a:extLst>
                    <a:ext uri="{9D8B030D-6E8A-4147-A177-3AD203B41FA5}">
                      <a16:colId xmlns:a16="http://schemas.microsoft.com/office/drawing/2014/main" val="20002"/>
                    </a:ext>
                  </a:extLst>
                </a:gridCol>
                <a:gridCol w="2448322">
                  <a:extLst>
                    <a:ext uri="{9D8B030D-6E8A-4147-A177-3AD203B41FA5}">
                      <a16:colId xmlns:a16="http://schemas.microsoft.com/office/drawing/2014/main" val="20003"/>
                    </a:ext>
                  </a:extLst>
                </a:gridCol>
              </a:tblGrid>
              <a:tr h="360000">
                <a:tc>
                  <a:txBody>
                    <a:bodyPr/>
                    <a:lstStyle/>
                    <a:p>
                      <a:pPr marL="0" marR="0" lvl="0" indent="0" algn="ctr" rtl="0">
                        <a:spcBef>
                          <a:spcPts val="0"/>
                        </a:spcBef>
                        <a:spcAft>
                          <a:spcPts val="0"/>
                        </a:spcAft>
                        <a:buNone/>
                      </a:pPr>
                      <a:r>
                        <a:rPr lang="ja-JP" sz="1200" b="1" u="none" strike="noStrike" cap="none" spc="30" baseline="0" dirty="0">
                          <a:latin typeface="+mj-lt"/>
                          <a:ea typeface="+mj-ea"/>
                        </a:rPr>
                        <a:t>弊社名</a:t>
                      </a:r>
                      <a:endParaRPr sz="1200" b="1" spc="30" baseline="0" dirty="0">
                        <a:latin typeface="+mj-lt"/>
                        <a:ea typeface="+mj-ea"/>
                      </a:endParaRPr>
                    </a:p>
                  </a:txBody>
                  <a:tcPr marL="0" marR="0" marT="0" marB="0" anchor="ctr">
                    <a:lnL w="12700" cap="flat" cmpd="sng">
                      <a:noFill/>
                      <a:prstDash val="solid"/>
                      <a:round/>
                      <a:headEnd type="none" w="sm" len="sm"/>
                      <a:tailEnd type="none" w="sm" len="sm"/>
                    </a:lnL>
                    <a:lnR w="6350" cap="flat" cmpd="sng" algn="ctr">
                      <a:solidFill>
                        <a:schemeClr val="accent1"/>
                      </a:solidFill>
                      <a:prstDash val="solid"/>
                      <a:round/>
                      <a:headEnd type="none" w="med" len="med"/>
                      <a:tailEnd type="none" w="med" len="med"/>
                    </a:lnR>
                    <a:lnT w="9525"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bg2"/>
                    </a:solidFill>
                  </a:tcPr>
                </a:tc>
                <a:tc>
                  <a:txBody>
                    <a:bodyPr/>
                    <a:lstStyle/>
                    <a:p>
                      <a:pPr marL="0" marR="0" lvl="0" indent="0" algn="ctr" rtl="0">
                        <a:spcBef>
                          <a:spcPts val="0"/>
                        </a:spcBef>
                        <a:spcAft>
                          <a:spcPts val="0"/>
                        </a:spcAft>
                        <a:buNone/>
                      </a:pPr>
                      <a:r>
                        <a:rPr lang="ja-JP" sz="1200" b="1" u="none" strike="noStrike" cap="none" spc="30" baseline="0" dirty="0">
                          <a:latin typeface="+mj-lt"/>
                          <a:ea typeface="+mj-ea"/>
                        </a:rPr>
                        <a:t>担当者名</a:t>
                      </a:r>
                      <a:endParaRPr sz="1200" b="1" spc="30" baseline="0" dirty="0">
                        <a:latin typeface="+mj-lt"/>
                        <a:ea typeface="+mj-ea"/>
                      </a:endParaRPr>
                    </a:p>
                  </a:txBody>
                  <a:tcPr marL="0" marR="0" marT="0" marB="0"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9525"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bg2"/>
                    </a:solidFill>
                  </a:tcPr>
                </a:tc>
                <a:tc>
                  <a:txBody>
                    <a:bodyPr/>
                    <a:lstStyle/>
                    <a:p>
                      <a:pPr marL="0" marR="0" lvl="0" indent="0" algn="ctr" rtl="0">
                        <a:spcBef>
                          <a:spcPts val="0"/>
                        </a:spcBef>
                        <a:spcAft>
                          <a:spcPts val="0"/>
                        </a:spcAft>
                        <a:buNone/>
                      </a:pPr>
                      <a:r>
                        <a:rPr lang="ja-JP" sz="1200" b="1" u="none" strike="noStrike" cap="none" spc="30" baseline="0" dirty="0">
                          <a:latin typeface="+mj-lt"/>
                          <a:ea typeface="+mj-ea"/>
                        </a:rPr>
                        <a:t>電話番号</a:t>
                      </a:r>
                      <a:endParaRPr sz="1200" b="1" spc="30" baseline="0" dirty="0">
                        <a:latin typeface="+mj-lt"/>
                        <a:ea typeface="+mj-ea"/>
                      </a:endParaRPr>
                    </a:p>
                  </a:txBody>
                  <a:tcPr marL="0" marR="0" marT="0" marB="0"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2"/>
                    </a:solidFill>
                  </a:tcPr>
                </a:tc>
                <a:tc>
                  <a:txBody>
                    <a:bodyPr/>
                    <a:lstStyle/>
                    <a:p>
                      <a:pPr marL="0" marR="0" lvl="0" indent="0" algn="ctr" rtl="0">
                        <a:spcBef>
                          <a:spcPts val="0"/>
                        </a:spcBef>
                        <a:spcAft>
                          <a:spcPts val="0"/>
                        </a:spcAft>
                        <a:buNone/>
                      </a:pPr>
                      <a:r>
                        <a:rPr lang="ja-JP" sz="1200" b="1" u="none" strike="noStrike" cap="none" spc="30" baseline="0" dirty="0">
                          <a:latin typeface="+mj-lt"/>
                          <a:ea typeface="+mj-ea"/>
                        </a:rPr>
                        <a:t>E-mailアドレス</a:t>
                      </a:r>
                      <a:endParaRPr sz="1200" b="1" spc="30" baseline="0" dirty="0">
                        <a:latin typeface="+mj-lt"/>
                        <a:ea typeface="+mj-ea"/>
                      </a:endParaRPr>
                    </a:p>
                  </a:txBody>
                  <a:tcPr marL="0" marR="0" marT="0" marB="0" anchor="ctr">
                    <a:lnL w="6350" cap="flat" cmpd="sng" algn="ctr">
                      <a:solidFill>
                        <a:schemeClr val="accent1"/>
                      </a:solidFill>
                      <a:prstDash val="solid"/>
                      <a:round/>
                      <a:headEnd type="none" w="med" len="med"/>
                      <a:tailEnd type="none" w="med" len="med"/>
                    </a:lnL>
                    <a:lnR w="12700"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solidFill>
                      <a:schemeClr val="bg2"/>
                    </a:solidFill>
                  </a:tcPr>
                </a:tc>
                <a:extLst>
                  <a:ext uri="{0D108BD9-81ED-4DB2-BD59-A6C34878D82A}">
                    <a16:rowId xmlns:a16="http://schemas.microsoft.com/office/drawing/2014/main" val="10000"/>
                  </a:ext>
                </a:extLst>
              </a:tr>
              <a:tr h="360000">
                <a:tc>
                  <a:txBody>
                    <a:bodyPr/>
                    <a:lstStyle/>
                    <a:p>
                      <a:pPr marL="0" marR="0" lvl="0" indent="0" algn="ctr" rtl="0">
                        <a:spcBef>
                          <a:spcPts val="0"/>
                        </a:spcBef>
                        <a:spcAft>
                          <a:spcPts val="0"/>
                        </a:spcAft>
                        <a:buNone/>
                      </a:pPr>
                      <a:r>
                        <a:rPr lang="ja-JP" altLang="en-US" sz="1200" b="1" u="none" strike="noStrike" cap="none" spc="30" baseline="0" dirty="0">
                          <a:latin typeface="+mj-ea"/>
                          <a:ea typeface="+mj-ea"/>
                        </a:rPr>
                        <a:t>株式会社M&amp;A承継機構</a:t>
                      </a:r>
                      <a:endParaRPr sz="1200" b="1" u="none" strike="noStrike" cap="none" spc="30" baseline="0" dirty="0">
                        <a:latin typeface="+mj-ea"/>
                        <a:ea typeface="+mj-ea"/>
                      </a:endParaRPr>
                    </a:p>
                  </a:txBody>
                  <a:tcPr marL="91450" marR="91450" marT="45725" marB="45725" anchor="ctr">
                    <a:lnL w="12700" cap="flat" cmpd="sng">
                      <a:noFill/>
                      <a:prstDash val="solid"/>
                      <a:round/>
                      <a:headEnd type="none" w="sm" len="sm"/>
                      <a:tailEnd type="none" w="sm" len="sm"/>
                    </a:lnL>
                    <a:lnR w="6350" cap="flat" cmpd="sng" algn="ctr">
                      <a:solidFill>
                        <a:schemeClr val="accent1"/>
                      </a:solidFill>
                      <a:prstDash val="solid"/>
                      <a:round/>
                      <a:headEnd type="none" w="med" len="med"/>
                      <a:tailEnd type="none" w="med" len="med"/>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tc>
                  <a:txBody>
                    <a:bodyPr/>
                    <a:lstStyle/>
                    <a:p>
                      <a:pPr marL="0" marR="0" lvl="0" indent="0" algn="ctr" rtl="0">
                        <a:spcBef>
                          <a:spcPts val="0"/>
                        </a:spcBef>
                        <a:spcAft>
                          <a:spcPts val="0"/>
                        </a:spcAft>
                        <a:buNone/>
                      </a:pPr>
                      <a:r>
                        <a:rPr lang="ja-JP" altLang="en-US" sz="1200" b="1" u="none" strike="noStrike" cap="none" spc="30" baseline="0" dirty="0">
                          <a:latin typeface="+mj-ea"/>
                          <a:ea typeface="+mj-ea"/>
                        </a:rPr>
                        <a:t>田垣内　啓介</a:t>
                      </a:r>
                      <a:endParaRPr sz="1200" b="1" u="none" strike="noStrike" cap="none" spc="30" baseline="0" dirty="0">
                        <a:latin typeface="+mj-ea"/>
                        <a:ea typeface="+mj-ea"/>
                      </a:endParaRPr>
                    </a:p>
                  </a:txBody>
                  <a:tcPr marL="91450" marR="91450" marT="45725" marB="45725"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12700"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tc>
                  <a:txBody>
                    <a:bodyPr/>
                    <a:lstStyle/>
                    <a:p>
                      <a:pPr marL="0" marR="0" lvl="0" indent="0" algn="ctr" rtl="0">
                        <a:spcBef>
                          <a:spcPts val="0"/>
                        </a:spcBef>
                        <a:spcAft>
                          <a:spcPts val="0"/>
                        </a:spcAft>
                        <a:buNone/>
                      </a:pPr>
                      <a:r>
                        <a:rPr lang="en-US" sz="1200" b="1" u="none" strike="noStrike" cap="none" spc="30" baseline="0" dirty="0">
                          <a:latin typeface="+mj-ea"/>
                          <a:ea typeface="+mj-ea"/>
                        </a:rPr>
                        <a:t>080-4737-4326</a:t>
                      </a:r>
                      <a:endParaRPr sz="1200" b="1" u="none" strike="noStrike" cap="none" spc="30" baseline="0" dirty="0">
                        <a:latin typeface="+mj-ea"/>
                        <a:ea typeface="+mj-ea"/>
                      </a:endParaRPr>
                    </a:p>
                  </a:txBody>
                  <a:tcPr marL="91450" marR="91450" marT="45725" marB="45725" anchor="ctr">
                    <a:lnL w="6350" cap="flat" cmpd="sng" algn="ctr">
                      <a:solidFill>
                        <a:schemeClr val="accent1"/>
                      </a:solidFill>
                      <a:prstDash val="solid"/>
                      <a:round/>
                      <a:headEnd type="none" w="med" len="med"/>
                      <a:tailEnd type="none" w="med" len="med"/>
                    </a:lnL>
                    <a:lnR w="6350" cap="flat" cmpd="sng" algn="ctr">
                      <a:solidFill>
                        <a:schemeClr val="accent1"/>
                      </a:solidFill>
                      <a:prstDash val="solid"/>
                      <a:round/>
                      <a:headEnd type="none" w="med" len="med"/>
                      <a:tailEnd type="none" w="med" len="med"/>
                    </a:lnR>
                    <a:lnT w="9525"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tc>
                  <a:txBody>
                    <a:bodyPr/>
                    <a:lstStyle/>
                    <a:p>
                      <a:pPr marL="0" marR="0" lvl="0" indent="0" algn="ctr" rtl="0">
                        <a:spcBef>
                          <a:spcPts val="0"/>
                        </a:spcBef>
                        <a:spcAft>
                          <a:spcPts val="0"/>
                        </a:spcAft>
                        <a:buNone/>
                      </a:pPr>
                      <a:r>
                        <a:rPr lang="en-US" altLang="ja-JP" sz="1200" b="1" u="none" strike="noStrike" cap="none" spc="30" baseline="0" dirty="0">
                          <a:latin typeface="+mj-ea"/>
                          <a:ea typeface="+mj-ea"/>
                        </a:rPr>
                        <a:t>tagaito_keisuke@ma-sg.co.jp</a:t>
                      </a:r>
                      <a:endParaRPr sz="1200" b="1" u="none" strike="noStrike" cap="none" spc="30" baseline="0" dirty="0">
                        <a:latin typeface="+mj-ea"/>
                        <a:ea typeface="+mj-ea"/>
                      </a:endParaRPr>
                    </a:p>
                  </a:txBody>
                  <a:tcPr marL="91450" marR="91450" marT="45725" marB="45725" anchor="ctr">
                    <a:lnL w="6350" cap="flat" cmpd="sng" algn="ctr">
                      <a:solidFill>
                        <a:schemeClr val="accent1"/>
                      </a:solidFill>
                      <a:prstDash val="solid"/>
                      <a:round/>
                      <a:headEnd type="none" w="med" len="med"/>
                      <a:tailEnd type="none" w="med" len="med"/>
                    </a:lnL>
                    <a:lnR w="12700" cap="flat" cmpd="sng">
                      <a:noFill/>
                      <a:prstDash val="solid"/>
                      <a:round/>
                      <a:headEnd type="none" w="sm" len="sm"/>
                      <a:tailEnd type="none" w="sm" len="sm"/>
                    </a:lnR>
                    <a:lnT w="9525" cap="flat" cmpd="sng">
                      <a:noFill/>
                      <a:prstDash val="solid"/>
                      <a:round/>
                      <a:headEnd type="none" w="sm" len="sm"/>
                      <a:tailEnd type="none" w="sm" len="sm"/>
                    </a:lnT>
                    <a:lnB w="12700" cap="flat" cmpd="sng">
                      <a:noFill/>
                      <a:prstDash val="solid"/>
                      <a:round/>
                      <a:headEnd type="none" w="sm" len="sm"/>
                      <a:tailEnd type="none" w="sm" len="sm"/>
                    </a:lnB>
                    <a:lnTlToBr w="12700" cmpd="sng">
                      <a:noFill/>
                      <a:prstDash val="solid"/>
                    </a:lnTlToBr>
                    <a:lnBlToTr w="12700" cmpd="sng">
                      <a:noFill/>
                      <a:prstDash val="solid"/>
                    </a:lnBlToTr>
                    <a:solidFill>
                      <a:schemeClr val="lt1"/>
                    </a:solidFill>
                  </a:tcPr>
                </a:tc>
                <a:extLst>
                  <a:ext uri="{0D108BD9-81ED-4DB2-BD59-A6C34878D82A}">
                    <a16:rowId xmlns:a16="http://schemas.microsoft.com/office/drawing/2014/main" val="10001"/>
                  </a:ext>
                </a:extLst>
              </a:tr>
            </a:tbl>
          </a:graphicData>
        </a:graphic>
      </p:graphicFrame>
      <p:sp>
        <p:nvSpPr>
          <p:cNvPr id="9" name="タイトル 8">
            <a:extLst>
              <a:ext uri="{FF2B5EF4-FFF2-40B4-BE49-F238E27FC236}">
                <a16:creationId xmlns:a16="http://schemas.microsoft.com/office/drawing/2014/main" id="{02B70F11-C06B-AE35-D3C3-0142145E5C0A}"/>
              </a:ext>
            </a:extLst>
          </p:cNvPr>
          <p:cNvSpPr>
            <a:spLocks noGrp="1"/>
          </p:cNvSpPr>
          <p:nvPr>
            <p:ph type="ctrTitle"/>
          </p:nvPr>
        </p:nvSpPr>
        <p:spPr/>
        <p:txBody>
          <a:bodyPr>
            <a:normAutofit/>
          </a:bodyPr>
          <a:lstStyle/>
          <a:p>
            <a:r>
              <a:rPr lang="ja-JP" altLang="en-US" dirty="0"/>
              <a:t>はじめに</a:t>
            </a:r>
          </a:p>
        </p:txBody>
      </p:sp>
      <p:sp>
        <p:nvSpPr>
          <p:cNvPr id="15" name="正方形/長方形 14">
            <a:extLst>
              <a:ext uri="{FF2B5EF4-FFF2-40B4-BE49-F238E27FC236}">
                <a16:creationId xmlns:a16="http://schemas.microsoft.com/office/drawing/2014/main" id="{51A174C3-B2B8-45E2-E11E-021C915BC89C}"/>
              </a:ext>
            </a:extLst>
          </p:cNvPr>
          <p:cNvSpPr/>
          <p:nvPr/>
        </p:nvSpPr>
        <p:spPr>
          <a:xfrm>
            <a:off x="449263" y="863600"/>
            <a:ext cx="8456459" cy="24622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spAutoFit/>
          </a:bodyPr>
          <a:lstStyle/>
          <a:p>
            <a:pPr marL="180000" indent="-180000">
              <a:buClr>
                <a:schemeClr val="tx2"/>
              </a:buClr>
              <a:buSzPct val="100000"/>
              <a:buFont typeface="游ゴシック" panose="020B0400000000000000" pitchFamily="50" charset="-128"/>
              <a:buChar char="▌"/>
            </a:pPr>
            <a:r>
              <a:rPr lang="ja-JP" altLang="en-US" sz="1600" b="1" spc="50" dirty="0">
                <a:solidFill>
                  <a:schemeClr val="tx1"/>
                </a:solidFill>
                <a:latin typeface="+mj-ea"/>
                <a:ea typeface="+mj-ea"/>
              </a:rPr>
              <a:t>重要なご留意事項</a:t>
            </a:r>
          </a:p>
        </p:txBody>
      </p:sp>
      <p:sp>
        <p:nvSpPr>
          <p:cNvPr id="23" name="テキスト ボックス 22">
            <a:extLst>
              <a:ext uri="{FF2B5EF4-FFF2-40B4-BE49-F238E27FC236}">
                <a16:creationId xmlns:a16="http://schemas.microsoft.com/office/drawing/2014/main" id="{B50E1823-5D75-9C7E-3748-4C2C1C220A43}"/>
              </a:ext>
            </a:extLst>
          </p:cNvPr>
          <p:cNvSpPr txBox="1"/>
          <p:nvPr/>
        </p:nvSpPr>
        <p:spPr>
          <a:xfrm>
            <a:off x="449263" y="1234930"/>
            <a:ext cx="9793287" cy="4012958"/>
          </a:xfrm>
          <a:prstGeom prst="rect">
            <a:avLst/>
          </a:prstGeom>
          <a:noFill/>
        </p:spPr>
        <p:txBody>
          <a:bodyPr wrap="square" lIns="0" tIns="0" rIns="0" bIns="0" rtlCol="0">
            <a:spAutoFit/>
          </a:bodyPr>
          <a:lstStyle>
            <a:defPPr marR="0" lvl="0" algn="l" rtl="0">
              <a:lnSpc>
                <a:spcPct val="100000"/>
              </a:lnSpc>
              <a:spcBef>
                <a:spcPts val="0"/>
              </a:spcBef>
              <a:spcAft>
                <a:spcPts val="0"/>
              </a:spcAft>
            </a:defPPr>
            <a:lvl1pPr marL="180000" indent="-180000">
              <a:lnSpc>
                <a:spcPct val="120000"/>
              </a:lnSpc>
              <a:spcAft>
                <a:spcPts val="1200"/>
              </a:spcAft>
              <a:buClr>
                <a:schemeClr val="tx2"/>
              </a:buClr>
              <a:buSzPct val="80000"/>
              <a:buFont typeface="Wingdings" panose="05000000000000000000" pitchFamily="2" charset="2"/>
              <a:buChar char="n"/>
              <a:defRPr kumimoji="1" sz="1200" spc="50">
                <a:latin typeface="+mn-ea"/>
              </a:defRPr>
            </a:lvl1pPr>
          </a:lstStyle>
          <a:p>
            <a:pPr>
              <a:spcAft>
                <a:spcPts val="1800"/>
              </a:spcAft>
            </a:pPr>
            <a:r>
              <a:rPr lang="ja-JP" altLang="en-US" dirty="0">
                <a:ea typeface="+mn-ea"/>
              </a:rPr>
              <a:t>本評価書は、株式会社M&amp;A承継機構（以下「弊社」）が、越ヶ谷製氷冷蔵株式会社（以下「対象会社」）の株式譲渡に関する仲介者として、対象会社の株式価値の目安を把握するために作成した簡易的な試算資料です。</a:t>
            </a:r>
          </a:p>
          <a:p>
            <a:pPr>
              <a:spcAft>
                <a:spcPts val="1800"/>
              </a:spcAft>
            </a:pPr>
            <a:r>
              <a:rPr lang="ja-JP" altLang="en-US" dirty="0">
                <a:ea typeface="+mn-ea"/>
              </a:rPr>
              <a:t>本評価書は、対象会社から受領した決算書（第67期）・勘定科目内訳書・減価償却計算書・法人税申告書、および他の仲介会社が作成した企業概要書に記載された第64〜66期の財務数値に基づいて作成しています。会計監査・財務デューデリジェンスは実施しておらず、受領資料の正確性・完全性を前提としています。</a:t>
            </a:r>
          </a:p>
          <a:p>
            <a:pPr>
              <a:spcAft>
                <a:spcPts val="1800"/>
              </a:spcAft>
            </a:pPr>
            <a:r>
              <a:rPr lang="ja-JP" altLang="en-US" dirty="0">
                <a:ea typeface="+mn-ea"/>
              </a:rPr>
              <a:t>本評価書に記載の株式価値は、公正価値の算定や、取引価格の妥当性に関する意見を表明するものではありません。最終的な譲渡価格は、譲受企業によるデューデリジェンスの結果および当事者間の交渉により決定されます。</a:t>
            </a:r>
          </a:p>
          <a:p>
            <a:pPr>
              <a:spcAft>
                <a:spcPts val="1800"/>
              </a:spcAft>
            </a:pPr>
            <a:r>
              <a:rPr lang="ja-JP" altLang="en-US" dirty="0">
                <a:ea typeface="+mn-ea"/>
              </a:rPr>
              <a:t>資料未受領等により評価できなかった科目は簿価で評価し、その旨を本評価書に記載しています。これらの科目は、追加資料の受領により評価額が変動する可能性があります。</a:t>
            </a:r>
          </a:p>
          <a:p>
            <a:pPr>
              <a:spcAft>
                <a:spcPts val="1800"/>
              </a:spcAft>
            </a:pPr>
            <a:r>
              <a:rPr lang="ja-JP" altLang="en-US" dirty="0">
                <a:ea typeface="+mn-ea"/>
              </a:rPr>
              <a:t>本評価書は内部検討用の資料であり、弊社の書面による承諾なく第三者へ開示することを禁じます。</a:t>
            </a:r>
          </a:p>
        </p:txBody>
      </p:sp>
    </p:spTree>
    <p:extLst>
      <p:ext uri="{BB962C8B-B14F-4D97-AF65-F5344CB8AC3E}">
        <p14:creationId xmlns:p14="http://schemas.microsoft.com/office/powerpoint/2010/main" val="24619439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58"/>
        <p:cNvGrpSpPr/>
        <p:nvPr/>
      </p:nvGrpSpPr>
      <p:grpSpPr>
        <a:xfrm>
          <a:off x="0" y="0"/>
          <a:ext cx="0" cy="0"/>
          <a:chOff x="0" y="0"/>
          <a:chExt cx="0" cy="0"/>
        </a:xfrm>
      </p:grpSpPr>
      <p:sp>
        <p:nvSpPr>
          <p:cNvPr id="259" name="Google Shape;259;p2"/>
          <p:cNvSpPr txBox="1"/>
          <p:nvPr/>
        </p:nvSpPr>
        <p:spPr>
          <a:xfrm>
            <a:off x="6191813" y="2339371"/>
            <a:ext cx="4500000" cy="3570208"/>
          </a:xfrm>
          <a:prstGeom prst="rect">
            <a:avLst/>
          </a:prstGeom>
          <a:noFill/>
          <a:ln>
            <a:noFill/>
          </a:ln>
        </p:spPr>
        <p:txBody>
          <a:bodyPr spcFirstLastPara="1" wrap="square" lIns="0" tIns="0" rIns="0" bIns="0" anchor="t" anchorCtr="0">
            <a:spAutoFit/>
          </a:bodyPr>
          <a:lstStyle/>
          <a:p>
            <a:pPr>
              <a:lnSpc>
                <a:spcPct val="110000"/>
              </a:lnSpc>
              <a:spcAft>
                <a:spcPts val="2400"/>
              </a:spcAft>
              <a:buClr>
                <a:schemeClr val="dk1"/>
              </a:buClr>
              <a:buSzPts val="1400"/>
            </a:pPr>
            <a:r>
              <a:rPr lang="ja-JP" altLang="en-US" sz="2400" b="1" spc="70" dirty="0">
                <a:latin typeface="+mj-lt"/>
                <a:ea typeface="+mj-ea"/>
              </a:rPr>
              <a:t>Valuation Summary</a:t>
            </a:r>
            <a:endParaRPr lang="en-US" altLang="ja-JP" sz="2400" b="1" spc="70" dirty="0">
              <a:latin typeface="+mj-lt"/>
              <a:ea typeface="+mj-ea"/>
            </a:endParaRPr>
          </a:p>
          <a:p>
            <a:pPr>
              <a:lnSpc>
                <a:spcPct val="110000"/>
              </a:lnSpc>
              <a:spcAft>
                <a:spcPts val="2400"/>
              </a:spcAft>
              <a:buClr>
                <a:schemeClr val="dk1"/>
              </a:buClr>
              <a:buSzPts val="1400"/>
            </a:pPr>
            <a:r>
              <a:rPr lang="ja-JP" altLang="en-US" sz="2400" b="1" spc="70" dirty="0">
                <a:latin typeface="+mj-lt"/>
                <a:ea typeface="+mj-ea"/>
              </a:rPr>
              <a:t>Financial Analysis（B/S）</a:t>
            </a:r>
            <a:endParaRPr lang="en-US" altLang="ja-JP" sz="2400" b="1" spc="70" dirty="0">
              <a:latin typeface="+mj-lt"/>
              <a:ea typeface="+mj-ea"/>
            </a:endParaRPr>
          </a:p>
          <a:p>
            <a:pPr>
              <a:lnSpc>
                <a:spcPct val="110000"/>
              </a:lnSpc>
              <a:spcAft>
                <a:spcPts val="2400"/>
              </a:spcAft>
              <a:buClr>
                <a:schemeClr val="dk1"/>
              </a:buClr>
              <a:buSzPts val="1400"/>
            </a:pPr>
            <a:r>
              <a:rPr lang="ja-JP" altLang="en-US" sz="2400" b="1" spc="70" dirty="0">
                <a:latin typeface="+mj-lt"/>
                <a:ea typeface="+mj-ea"/>
              </a:rPr>
              <a:t>Financial Analysis（P/L）</a:t>
            </a:r>
            <a:endParaRPr lang="en-US" altLang="ja-JP" sz="2400" b="1" spc="70" dirty="0">
              <a:latin typeface="+mj-lt"/>
              <a:ea typeface="+mj-ea"/>
            </a:endParaRPr>
          </a:p>
          <a:p>
            <a:pPr>
              <a:lnSpc>
                <a:spcPct val="110000"/>
              </a:lnSpc>
              <a:spcAft>
                <a:spcPts val="2400"/>
              </a:spcAft>
              <a:buClr>
                <a:schemeClr val="dk1"/>
              </a:buClr>
              <a:buSzPts val="1400"/>
            </a:pPr>
            <a:r>
              <a:rPr lang="ja-JP" altLang="en-US" sz="2400" b="1" spc="70" dirty="0">
                <a:latin typeface="+mj-lt"/>
                <a:ea typeface="+mj-ea"/>
              </a:rPr>
              <a:t>Valuation Details</a:t>
            </a:r>
            <a:endParaRPr lang="en-US" altLang="ja-JP" sz="2400" b="1" spc="70" dirty="0">
              <a:latin typeface="+mj-lt"/>
              <a:ea typeface="+mj-ea"/>
            </a:endParaRPr>
          </a:p>
          <a:p>
            <a:pPr>
              <a:lnSpc>
                <a:spcPct val="110000"/>
              </a:lnSpc>
              <a:spcAft>
                <a:spcPts val="2400"/>
              </a:spcAft>
              <a:buClr>
                <a:schemeClr val="dk1"/>
              </a:buClr>
              <a:buSzPts val="1400"/>
            </a:pPr>
            <a:r>
              <a:rPr lang="en-US" altLang="ja-JP" sz="2400" b="1" spc="70" dirty="0">
                <a:latin typeface="+mj-lt"/>
                <a:ea typeface="+mj-ea"/>
              </a:rPr>
              <a:t>要確認事項</a:t>
            </a:r>
          </a:p>
        </p:txBody>
      </p:sp>
      <p:sp>
        <p:nvSpPr>
          <p:cNvPr id="6" name="正方形/長方形 5">
            <a:extLst>
              <a:ext uri="{FF2B5EF4-FFF2-40B4-BE49-F238E27FC236}">
                <a16:creationId xmlns:a16="http://schemas.microsoft.com/office/drawing/2014/main" id="{7237316E-451C-1CCC-A702-B2048F3BE5F0}"/>
              </a:ext>
            </a:extLst>
          </p:cNvPr>
          <p:cNvSpPr/>
          <p:nvPr/>
        </p:nvSpPr>
        <p:spPr>
          <a:xfrm>
            <a:off x="5624542" y="2353556"/>
            <a:ext cx="375386" cy="375386"/>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latin typeface="+mj-lt"/>
              </a:rPr>
              <a:t>1</a:t>
            </a:r>
            <a:endParaRPr kumimoji="1" lang="ja-JP" altLang="en-US" b="1" dirty="0">
              <a:latin typeface="+mj-lt"/>
            </a:endParaRPr>
          </a:p>
        </p:txBody>
      </p:sp>
      <p:sp>
        <p:nvSpPr>
          <p:cNvPr id="9" name="正方形/長方形 8">
            <a:extLst>
              <a:ext uri="{FF2B5EF4-FFF2-40B4-BE49-F238E27FC236}">
                <a16:creationId xmlns:a16="http://schemas.microsoft.com/office/drawing/2014/main" id="{DDB8E843-D87E-F66B-3884-439FB909A0A7}"/>
              </a:ext>
            </a:extLst>
          </p:cNvPr>
          <p:cNvSpPr/>
          <p:nvPr/>
        </p:nvSpPr>
        <p:spPr>
          <a:xfrm>
            <a:off x="5624542" y="3060631"/>
            <a:ext cx="375386" cy="375386"/>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latin typeface="+mj-lt"/>
              </a:rPr>
              <a:t>2</a:t>
            </a:r>
            <a:endParaRPr kumimoji="1" lang="ja-JP" altLang="en-US" b="1" dirty="0">
              <a:latin typeface="+mj-lt"/>
            </a:endParaRPr>
          </a:p>
        </p:txBody>
      </p:sp>
      <p:sp>
        <p:nvSpPr>
          <p:cNvPr id="10" name="正方形/長方形 9">
            <a:extLst>
              <a:ext uri="{FF2B5EF4-FFF2-40B4-BE49-F238E27FC236}">
                <a16:creationId xmlns:a16="http://schemas.microsoft.com/office/drawing/2014/main" id="{FF90FB9F-20F8-D38F-B8AF-4A631E224A11}"/>
              </a:ext>
            </a:extLst>
          </p:cNvPr>
          <p:cNvSpPr/>
          <p:nvPr/>
        </p:nvSpPr>
        <p:spPr>
          <a:xfrm>
            <a:off x="5624542" y="3767706"/>
            <a:ext cx="375386" cy="375386"/>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latin typeface="+mj-lt"/>
              </a:rPr>
              <a:t>3</a:t>
            </a:r>
            <a:endParaRPr kumimoji="1" lang="ja-JP" altLang="en-US" b="1" dirty="0">
              <a:latin typeface="+mj-lt"/>
            </a:endParaRPr>
          </a:p>
        </p:txBody>
      </p:sp>
      <p:sp>
        <p:nvSpPr>
          <p:cNvPr id="11" name="正方形/長方形 10">
            <a:extLst>
              <a:ext uri="{FF2B5EF4-FFF2-40B4-BE49-F238E27FC236}">
                <a16:creationId xmlns:a16="http://schemas.microsoft.com/office/drawing/2014/main" id="{A76F0F70-F53A-8481-50DF-B7EEDD0BEE06}"/>
              </a:ext>
            </a:extLst>
          </p:cNvPr>
          <p:cNvSpPr/>
          <p:nvPr/>
        </p:nvSpPr>
        <p:spPr>
          <a:xfrm>
            <a:off x="5624542" y="4474781"/>
            <a:ext cx="375386" cy="375386"/>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latin typeface="+mj-lt"/>
              </a:rPr>
              <a:t>4</a:t>
            </a:r>
            <a:endParaRPr kumimoji="1" lang="ja-JP" altLang="en-US" b="1" dirty="0">
              <a:latin typeface="+mj-lt"/>
            </a:endParaRPr>
          </a:p>
        </p:txBody>
      </p:sp>
      <p:sp>
        <p:nvSpPr>
          <p:cNvPr id="3" name="正方形/長方形 2">
            <a:extLst>
              <a:ext uri="{FF2B5EF4-FFF2-40B4-BE49-F238E27FC236}">
                <a16:creationId xmlns:a16="http://schemas.microsoft.com/office/drawing/2014/main" id="{DE430CD6-B78A-5CFE-3B87-B7F6C2A9CBEA}"/>
              </a:ext>
            </a:extLst>
          </p:cNvPr>
          <p:cNvSpPr/>
          <p:nvPr/>
        </p:nvSpPr>
        <p:spPr>
          <a:xfrm>
            <a:off x="5624542" y="5181856"/>
            <a:ext cx="375386" cy="375386"/>
          </a:xfrm>
          <a:prstGeom prst="rect">
            <a:avLst/>
          </a:prstGeom>
          <a:gradFill>
            <a:gsLst>
              <a:gs pos="88000">
                <a:srgbClr val="006AB1"/>
              </a:gs>
              <a:gs pos="5000">
                <a:schemeClr val="tx2"/>
              </a:gs>
            </a:gsLst>
            <a:lin ang="3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latin typeface="+mj-lt"/>
              </a:rPr>
              <a:t>5</a:t>
            </a:r>
            <a:endParaRPr kumimoji="1" lang="ja-JP" altLang="en-US" b="1" dirty="0">
              <a:latin typeface="+mj-lt"/>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図 16" descr="背景パターン&#10;&#10;AI 生成コンテンツは誤りを含む可能性があります。">
            <a:extLst>
              <a:ext uri="{FF2B5EF4-FFF2-40B4-BE49-F238E27FC236}">
                <a16:creationId xmlns:a16="http://schemas.microsoft.com/office/drawing/2014/main" id="{38E11F1F-6089-6877-97F2-46DAB0493C33}"/>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0" y="519"/>
            <a:ext cx="10691813" cy="7558636"/>
          </a:xfrm>
          <a:prstGeom prst="rect">
            <a:avLst/>
          </a:prstGeom>
        </p:spPr>
      </p:pic>
      <p:sp>
        <p:nvSpPr>
          <p:cNvPr id="8" name="テキスト ボックス 7">
            <a:extLst>
              <a:ext uri="{FF2B5EF4-FFF2-40B4-BE49-F238E27FC236}">
                <a16:creationId xmlns:a16="http://schemas.microsoft.com/office/drawing/2014/main" id="{9DC24A9B-5E33-B3B6-B79B-2D6D5E5AF179}"/>
              </a:ext>
            </a:extLst>
          </p:cNvPr>
          <p:cNvSpPr txBox="1"/>
          <p:nvPr/>
        </p:nvSpPr>
        <p:spPr>
          <a:xfrm>
            <a:off x="2626785" y="4635223"/>
            <a:ext cx="5604098" cy="276999"/>
          </a:xfrm>
          <a:prstGeom prst="rect">
            <a:avLst/>
          </a:prstGeom>
          <a:noFill/>
        </p:spPr>
        <p:txBody>
          <a:bodyPr wrap="none" lIns="0" tIns="0" rIns="0" bIns="0" rtlCol="0">
            <a:spAutoFit/>
          </a:bodyPr>
          <a:lstStyle/>
          <a:p>
            <a:pPr algn="ctr"/>
            <a:r>
              <a:rPr lang="ja-JP" altLang="en-US" b="1" spc="100" dirty="0">
                <a:latin typeface="+mj-ea"/>
                <a:ea typeface="+mj-ea"/>
              </a:rPr>
              <a:t>企業価値の最大化を通じて、経済に正しい循環を。</a:t>
            </a:r>
          </a:p>
        </p:txBody>
      </p:sp>
      <p:pic>
        <p:nvPicPr>
          <p:cNvPr id="4" name="グラフィックス 3">
            <a:extLst>
              <a:ext uri="{FF2B5EF4-FFF2-40B4-BE49-F238E27FC236}">
                <a16:creationId xmlns:a16="http://schemas.microsoft.com/office/drawing/2014/main" id="{549C4F39-0611-3D63-A333-95F8642EF8D0}"/>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518588" y="3080873"/>
            <a:ext cx="5502236" cy="1090632"/>
          </a:xfrm>
          <a:prstGeom prst="rect">
            <a:avLst/>
          </a:prstGeom>
        </p:spPr>
      </p:pic>
    </p:spTree>
    <p:extLst>
      <p:ext uri="{BB962C8B-B14F-4D97-AF65-F5344CB8AC3E}">
        <p14:creationId xmlns:p14="http://schemas.microsoft.com/office/powerpoint/2010/main" val="3135229745"/>
      </p:ext>
    </p:extLst>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Valuation Summary</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a:lstStyle/>
          <a:p>
            <a:r>
              <a:t>コストアプローチ（年買法）とマーケットアプローチ（EV/EBITDAマルチプル法）を採用。詳細な事業計画が存在しないためインカムアプローチは採用しない。</a:t>
            </a:r>
          </a:p>
        </p:txBody>
      </p:sp>
      <p:sp>
        <p:nvSpPr>
          <p:cNvPr id="3" name="Title 2"/>
          <p:cNvSpPr>
            <a:spLocks noGrp="1"/>
          </p:cNvSpPr>
          <p:nvPr>
            <p:ph type="ctrTitle"/>
          </p:nvPr>
        </p:nvSpPr>
        <p:spPr/>
        <p:txBody>
          <a:bodyPr/>
          <a:lstStyle/>
          <a:p>
            <a:r>
              <a:t>採用するアプローチの選定</a:t>
            </a:r>
          </a:p>
        </p:txBody>
      </p:sp>
      <p:sp>
        <p:nvSpPr>
          <p:cNvPr id="5" name="タイトル 1">
            <a:extLst>
              <a:ext uri="{FF2B5EF4-FFF2-40B4-BE49-F238E27FC236}">
                <a16:creationId xmlns:a16="http://schemas.microsoft.com/office/drawing/2014/main" id="{4F103961-B26C-39D9-FB80-02B45E98D11A}"/>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Valuation Summary</a:t>
            </a:r>
          </a:p>
        </p:txBody>
      </p:sp>
      <p:graphicFrame>
        <p:nvGraphicFramePr>
          <p:cNvPr id="6" name="Table 5"/>
          <p:cNvGraphicFramePr>
            <a:graphicFrameLocks noGrp="1"/>
          </p:cNvGraphicFramePr>
          <p:nvPr/>
        </p:nvGraphicFramePr>
        <p:xfrm>
          <a:off x="338328" y="1508760"/>
          <a:ext cx="10012680" cy="2834640"/>
        </p:xfrm>
        <a:graphic>
          <a:graphicData uri="http://schemas.openxmlformats.org/drawingml/2006/table">
            <a:tbl>
              <a:tblPr firstRow="0" bandRow="0">
                <a:tableStyleId>{5940675A-B579-460E-94D1-54222C63F5DA}</a:tableStyleId>
              </a:tblPr>
              <a:tblGrid>
                <a:gridCol w="1463040"/>
                <a:gridCol w="1828800"/>
                <a:gridCol w="3291840"/>
                <a:gridCol w="640080"/>
                <a:gridCol w="2788920"/>
              </a:tblGrid>
              <a:tr h="566928">
                <a:tc>
                  <a:txBody>
                    <a:bodyPr wrap="square"/>
                    <a:lstStyle/>
                    <a:p>
                      <a:pPr algn="ctr"/>
                      <a:r>
                        <a:rPr sz="950" b="1" i="0">
                          <a:solidFill>
                            <a:srgbClr val="FFFFFF"/>
                          </a:solidFill>
                          <a:latin typeface="游ゴシック"/>
                          <a:ea typeface="游ゴシック"/>
                        </a:rPr>
                        <a:t>アプローチ</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0B3041"/>
                    </a:solidFill>
                  </a:tcPr>
                </a:tc>
                <a:tc>
                  <a:txBody>
                    <a:bodyPr wrap="square"/>
                    <a:lstStyle/>
                    <a:p>
                      <a:pPr algn="ctr"/>
                      <a:r>
                        <a:rPr sz="950" b="1" i="0">
                          <a:solidFill>
                            <a:srgbClr val="FFFFFF"/>
                          </a:solidFill>
                          <a:latin typeface="游ゴシック"/>
                          <a:ea typeface="游ゴシック"/>
                        </a:rPr>
                        <a:t>評価手法</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0B3041"/>
                    </a:solidFill>
                  </a:tcPr>
                </a:tc>
                <a:tc>
                  <a:txBody>
                    <a:bodyPr wrap="square"/>
                    <a:lstStyle/>
                    <a:p>
                      <a:pPr algn="ctr"/>
                      <a:r>
                        <a:rPr sz="950" b="1" i="0">
                          <a:solidFill>
                            <a:srgbClr val="FFFFFF"/>
                          </a:solidFill>
                          <a:latin typeface="游ゴシック"/>
                          <a:ea typeface="游ゴシック"/>
                        </a:rPr>
                        <a:t>概要</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0B3041"/>
                    </a:solidFill>
                  </a:tcPr>
                </a:tc>
                <a:tc>
                  <a:txBody>
                    <a:bodyPr wrap="square"/>
                    <a:lstStyle/>
                    <a:p>
                      <a:pPr algn="ctr"/>
                      <a:r>
                        <a:rPr sz="950" b="1" i="0">
                          <a:solidFill>
                            <a:srgbClr val="FFFFFF"/>
                          </a:solidFill>
                          <a:latin typeface="游ゴシック"/>
                          <a:ea typeface="游ゴシック"/>
                        </a:rPr>
                        <a:t>採否</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0B3041"/>
                    </a:solidFill>
                  </a:tcPr>
                </a:tc>
                <a:tc>
                  <a:txBody>
                    <a:bodyPr wrap="square"/>
                    <a:lstStyle/>
                    <a:p>
                      <a:pPr algn="ctr"/>
                      <a:r>
                        <a:rPr sz="950" b="1" i="0">
                          <a:solidFill>
                            <a:srgbClr val="FFFFFF"/>
                          </a:solidFill>
                          <a:latin typeface="游ゴシック"/>
                          <a:ea typeface="游ゴシック"/>
                        </a:rPr>
                        <a:t>理由</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0B3041"/>
                    </a:solidFill>
                  </a:tcPr>
                </a:tc>
              </a:tr>
              <a:tr h="566928">
                <a:tc>
                  <a:txBody>
                    <a:bodyPr wrap="square"/>
                    <a:lstStyle/>
                    <a:p>
                      <a:pPr algn="l"/>
                      <a:r>
                        <a:rPr sz="950" b="0" i="0">
                          <a:solidFill>
                            <a:srgbClr val="000000"/>
                          </a:solidFill>
                          <a:latin typeface="游ゴシック"/>
                          <a:ea typeface="游ゴシック"/>
                        </a:rPr>
                        <a:t>コストアプローチ</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c>
                  <a:txBody>
                    <a:bodyPr wrap="square"/>
                    <a:lstStyle/>
                    <a:p>
                      <a:pPr algn="l"/>
                      <a:r>
                        <a:rPr sz="950" b="0" i="0">
                          <a:solidFill>
                            <a:srgbClr val="000000"/>
                          </a:solidFill>
                          <a:latin typeface="游ゴシック"/>
                          <a:ea typeface="游ゴシック"/>
                        </a:rPr>
                        <a:t>時価純資産＋営業権法</a:t>
                      </a:r>
                    </a:p>
                    <a:p>
                      <a:pPr algn="l"/>
                      <a:r>
                        <a:rPr sz="950" b="0" i="0">
                          <a:solidFill>
                            <a:srgbClr val="000000"/>
                          </a:solidFill>
                          <a:latin typeface="游ゴシック"/>
                          <a:ea typeface="游ゴシック"/>
                        </a:rPr>
                        <a:t>（年買法）</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c>
                  <a:txBody>
                    <a:bodyPr wrap="square"/>
                    <a:lstStyle/>
                    <a:p>
                      <a:pPr algn="l"/>
                      <a:r>
                        <a:rPr sz="950" b="0" i="0">
                          <a:solidFill>
                            <a:srgbClr val="000000"/>
                          </a:solidFill>
                          <a:latin typeface="游ゴシック"/>
                          <a:ea typeface="游ゴシック"/>
                        </a:rPr>
                        <a:t>修正BSの時価純資産に、税引後の正常営業利益×1〜3年分を営業権として加算</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c>
                  <a:txBody>
                    <a:bodyPr wrap="square"/>
                    <a:lstStyle/>
                    <a:p>
                      <a:pPr algn="ctr"/>
                      <a:r>
                        <a:rPr sz="950" b="0" i="0">
                          <a:solidFill>
                            <a:srgbClr val="000000"/>
                          </a:solidFill>
                          <a:latin typeface="游ゴシック"/>
                          <a:ea typeface="游ゴシック"/>
                        </a:rPr>
                        <a:t>採用</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c>
                  <a:txBody>
                    <a:bodyPr wrap="square"/>
                    <a:lstStyle/>
                    <a:p>
                      <a:pPr algn="l"/>
                      <a:r>
                        <a:rPr sz="950" b="0" i="0">
                          <a:solidFill>
                            <a:srgbClr val="000000"/>
                          </a:solidFill>
                          <a:latin typeface="游ゴシック"/>
                          <a:ea typeface="游ゴシック"/>
                        </a:rPr>
                        <a:t>中小企業M&amp;Aで実務上広く用いられ、譲渡当事者にとって理解しやすい</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r>
              <a:tr h="566928">
                <a:tc>
                  <a:txBody>
                    <a:bodyPr wrap="square"/>
                    <a:lstStyle/>
                    <a:p>
                      <a:pPr algn="l"/>
                      <a:r>
                        <a:rPr sz="950" b="0" i="0">
                          <a:solidFill>
                            <a:srgbClr val="000000"/>
                          </a:solidFill>
                          <a:latin typeface="游ゴシック"/>
                          <a:ea typeface="游ゴシック"/>
                        </a:rPr>
                        <a:t>マーケットアプローチ</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c>
                  <a:txBody>
                    <a:bodyPr wrap="square"/>
                    <a:lstStyle/>
                    <a:p>
                      <a:pPr algn="l"/>
                      <a:r>
                        <a:rPr sz="950" b="0" i="0">
                          <a:solidFill>
                            <a:srgbClr val="000000"/>
                          </a:solidFill>
                          <a:latin typeface="游ゴシック"/>
                          <a:ea typeface="游ゴシック"/>
                        </a:rPr>
                        <a:t>類似会社比準法</a:t>
                      </a:r>
                    </a:p>
                    <a:p>
                      <a:pPr algn="l"/>
                      <a:r>
                        <a:rPr sz="950" b="0" i="0">
                          <a:solidFill>
                            <a:srgbClr val="000000"/>
                          </a:solidFill>
                          <a:latin typeface="游ゴシック"/>
                          <a:ea typeface="游ゴシック"/>
                        </a:rPr>
                        <a:t>（EV/EBITDAマルチプル法）</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c>
                  <a:txBody>
                    <a:bodyPr wrap="square"/>
                    <a:lstStyle/>
                    <a:p>
                      <a:pPr algn="l"/>
                      <a:r>
                        <a:rPr sz="950" b="0" i="0">
                          <a:solidFill>
                            <a:srgbClr val="000000"/>
                          </a:solidFill>
                          <a:latin typeface="游ゴシック"/>
                          <a:ea typeface="游ゴシック"/>
                        </a:rPr>
                        <a:t>正常EBITDAに倍率3〜5倍を乗じた事業価値から、非流動性ディスカウントとネットデットを控除</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c>
                  <a:txBody>
                    <a:bodyPr wrap="square"/>
                    <a:lstStyle/>
                    <a:p>
                      <a:pPr algn="ctr"/>
                      <a:r>
                        <a:rPr sz="950" b="0" i="0">
                          <a:solidFill>
                            <a:srgbClr val="000000"/>
                          </a:solidFill>
                          <a:latin typeface="游ゴシック"/>
                          <a:ea typeface="游ゴシック"/>
                        </a:rPr>
                        <a:t>採用</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c>
                  <a:txBody>
                    <a:bodyPr wrap="square"/>
                    <a:lstStyle/>
                    <a:p>
                      <a:pPr algn="l"/>
                      <a:r>
                        <a:rPr sz="950" b="0" i="0">
                          <a:solidFill>
                            <a:srgbClr val="000000"/>
                          </a:solidFill>
                          <a:latin typeface="游ゴシック"/>
                          <a:ea typeface="游ゴシック"/>
                        </a:rPr>
                        <a:t>装置産業であり償却前の収益力（EBITDA）で評価するのが実態に即する</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r>
              <a:tr h="566928">
                <a:tc>
                  <a:txBody>
                    <a:bodyPr wrap="square"/>
                    <a:lstStyle/>
                    <a:p>
                      <a:pPr algn="l"/>
                      <a:r>
                        <a:rPr sz="950" b="0" i="0">
                          <a:solidFill>
                            <a:srgbClr val="000000"/>
                          </a:solidFill>
                          <a:latin typeface="游ゴシック"/>
                          <a:ea typeface="游ゴシック"/>
                        </a:rPr>
                        <a:t>インカムアプローチ</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l"/>
                      <a:r>
                        <a:rPr sz="950" b="0" i="0">
                          <a:solidFill>
                            <a:srgbClr val="000000"/>
                          </a:solidFill>
                          <a:latin typeface="游ゴシック"/>
                          <a:ea typeface="游ゴシック"/>
                        </a:rPr>
                        <a:t>DCF法・収益還元法</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l"/>
                      <a:r>
                        <a:rPr sz="950" b="0" i="0">
                          <a:solidFill>
                            <a:srgbClr val="000000"/>
                          </a:solidFill>
                          <a:latin typeface="游ゴシック"/>
                          <a:ea typeface="游ゴシック"/>
                        </a:rPr>
                        <a:t>将来キャッシュフローの現在価値</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ctr"/>
                      <a:r>
                        <a:rPr sz="950" b="0" i="0">
                          <a:solidFill>
                            <a:srgbClr val="000000"/>
                          </a:solidFill>
                          <a:latin typeface="游ゴシック"/>
                          <a:ea typeface="游ゴシック"/>
                        </a:rPr>
                        <a:t>不採用</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l"/>
                      <a:r>
                        <a:rPr sz="950" b="0" i="0">
                          <a:solidFill>
                            <a:srgbClr val="000000"/>
                          </a:solidFill>
                          <a:latin typeface="游ゴシック"/>
                          <a:ea typeface="游ゴシック"/>
                        </a:rPr>
                        <a:t>詳細な事業計画が存在せず、合理的な算定が困難</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566928">
                <a:tc>
                  <a:txBody>
                    <a:bodyPr wrap="square"/>
                    <a:lstStyle/>
                    <a:p>
                      <a:pPr algn="l"/>
                      <a:r>
                        <a:rPr sz="950" b="0" i="0">
                          <a:solidFill>
                            <a:srgbClr val="000000"/>
                          </a:solidFill>
                          <a:latin typeface="游ゴシック"/>
                          <a:ea typeface="游ゴシック"/>
                        </a:rPr>
                        <a:t>インカムアプローチ</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l"/>
                      <a:r>
                        <a:rPr sz="950" b="0" i="0">
                          <a:solidFill>
                            <a:srgbClr val="000000"/>
                          </a:solidFill>
                          <a:latin typeface="游ゴシック"/>
                          <a:ea typeface="游ゴシック"/>
                        </a:rPr>
                        <a:t>配当還元法</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l"/>
                      <a:r>
                        <a:rPr sz="950" b="0" i="0">
                          <a:solidFill>
                            <a:srgbClr val="000000"/>
                          </a:solidFill>
                          <a:latin typeface="游ゴシック"/>
                          <a:ea typeface="游ゴシック"/>
                        </a:rPr>
                        <a:t>将来の配当期待額の現在価値</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ctr"/>
                      <a:r>
                        <a:rPr sz="950" b="0" i="0">
                          <a:solidFill>
                            <a:srgbClr val="000000"/>
                          </a:solidFill>
                          <a:latin typeface="游ゴシック"/>
                          <a:ea typeface="游ゴシック"/>
                        </a:rPr>
                        <a:t>不採用</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l"/>
                      <a:r>
                        <a:rPr sz="950" b="0" i="0">
                          <a:solidFill>
                            <a:srgbClr val="000000"/>
                          </a:solidFill>
                          <a:latin typeface="游ゴシック"/>
                          <a:ea typeface="游ゴシック"/>
                        </a:rPr>
                        <a:t>少数株主視点の手法であり、経営権の移転を伴う本件の性質に不適</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bl>
          </a:graphicData>
        </a:graphic>
      </p:graphicFrame>
      <p:sp>
        <p:nvSpPr>
          <p:cNvPr id="7" name="Rectangle 6"/>
          <p:cNvSpPr/>
          <p:nvPr/>
        </p:nvSpPr>
        <p:spPr>
          <a:xfrm>
            <a:off x="338328" y="4572000"/>
            <a:ext cx="10012680" cy="1737360"/>
          </a:xfrm>
          <a:prstGeom prst="rect">
            <a:avLst/>
          </a:prstGeom>
          <a:solidFill>
            <a:srgbClr val="E3E7E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p>
        </p:txBody>
      </p:sp>
      <p:sp>
        <p:nvSpPr>
          <p:cNvPr id="8" name="TextBox 7"/>
          <p:cNvSpPr txBox="1"/>
          <p:nvPr/>
        </p:nvSpPr>
        <p:spPr>
          <a:xfrm>
            <a:off x="521208" y="4663440"/>
            <a:ext cx="9646919" cy="1600200"/>
          </a:xfrm>
          <a:prstGeom prst="rect">
            <a:avLst/>
          </a:prstGeom>
          <a:noFill/>
        </p:spPr>
        <p:txBody>
          <a:bodyPr wrap="square" anchor="t" lIns="18288" rIns="18288" tIns="18288" bIns="18288"/>
          <a:lstStyle/>
          <a:p>
            <a:pPr algn="l"/>
            <a:r>
              <a:rPr sz="1100" b="1" i="0">
                <a:solidFill>
                  <a:srgbClr val="0B3041"/>
                </a:solidFill>
                <a:latin typeface="游ゴシック"/>
                <a:ea typeface="游ゴシック"/>
              </a:rPr>
              <a:t>評価の前提</a:t>
            </a:r>
          </a:p>
          <a:p>
            <a:pPr algn="l"/>
            <a:r>
              <a:rPr sz="950" b="0" i="0">
                <a:solidFill>
                  <a:srgbClr val="000000"/>
                </a:solidFill>
                <a:latin typeface="游ゴシック"/>
                <a:ea typeface="游ゴシック"/>
              </a:rPr>
              <a:t>・評価基準日：2026年3月31日（第67期末）。正常収益力は直近3期（24/3期〜26/3期）を対象とし、加重は直近期50%・前期30%・前々期20%</a:t>
            </a:r>
          </a:p>
          <a:p>
            <a:pPr algn="l"/>
            <a:r>
              <a:rPr sz="950" b="0" i="0">
                <a:solidFill>
                  <a:srgbClr val="000000"/>
                </a:solidFill>
                <a:latin typeface="游ゴシック"/>
                <a:ea typeface="游ゴシック"/>
              </a:rPr>
              <a:t>・実効税率34%。非流動性ディスカウント30%（マーケットアプローチのみ）</a:t>
            </a:r>
          </a:p>
          <a:p>
            <a:pPr algn="l"/>
            <a:r>
              <a:rPr sz="950" b="0" i="0">
                <a:solidFill>
                  <a:srgbClr val="000000"/>
                </a:solidFill>
                <a:latin typeface="游ゴシック"/>
                <a:ea typeface="游ゴシック"/>
              </a:rPr>
              <a:t>・概要書の「調整後EBITDA」と本評価書の「修正後EBITDA」は同一の調整方針（案件マスター「修正PL」）で算定</a:t>
            </a:r>
          </a:p>
          <a:p>
            <a:pPr algn="l"/>
            <a:r>
              <a:rPr sz="950" b="0" i="0">
                <a:solidFill>
                  <a:srgbClr val="000000"/>
                </a:solidFill>
                <a:latin typeface="游ゴシック"/>
                <a:ea typeface="游ゴシック"/>
              </a:rPr>
              <a:t>・数値は全て案件マスター（Excel）から転記。千円未満四捨五入のため合計が一致しない場合がある</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a:lstStyle/>
          <a:p>
            <a:r>
              <a:t>基本ケースでは両手法とも株式価値はマイナス。ネットデット385,549千円が事業価値（75,355〜125,591千円）を上回り、株式価値は備忘価額程度。工場建物の評価が結論を左右する。</a:t>
            </a:r>
          </a:p>
        </p:txBody>
      </p:sp>
      <p:sp>
        <p:nvSpPr>
          <p:cNvPr id="3" name="Title 2"/>
          <p:cNvSpPr>
            <a:spLocks noGrp="1"/>
          </p:cNvSpPr>
          <p:nvPr>
            <p:ph type="ctrTitle"/>
          </p:nvPr>
        </p:nvSpPr>
        <p:spPr/>
        <p:txBody>
          <a:bodyPr/>
          <a:lstStyle/>
          <a:p>
            <a:r>
              <a:t>株式価値の試算結果</a:t>
            </a:r>
          </a:p>
        </p:txBody>
      </p:sp>
      <p:sp>
        <p:nvSpPr>
          <p:cNvPr id="5" name="タイトル 1">
            <a:extLst>
              <a:ext uri="{FF2B5EF4-FFF2-40B4-BE49-F238E27FC236}">
                <a16:creationId xmlns:a16="http://schemas.microsoft.com/office/drawing/2014/main" id="{4F103961-B26C-39D9-FB80-02B45E98D11A}"/>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Valuation Summary</a:t>
            </a:r>
          </a:p>
        </p:txBody>
      </p:sp>
      <p:sp>
        <p:nvSpPr>
          <p:cNvPr id="6" name="TextBox 5"/>
          <p:cNvSpPr txBox="1"/>
          <p:nvPr/>
        </p:nvSpPr>
        <p:spPr>
          <a:xfrm>
            <a:off x="8503920" y="1417320"/>
            <a:ext cx="1828800" cy="182880"/>
          </a:xfrm>
          <a:prstGeom prst="rect">
            <a:avLst/>
          </a:prstGeom>
          <a:noFill/>
        </p:spPr>
        <p:txBody>
          <a:bodyPr wrap="square" anchor="t" lIns="18288" rIns="18288" tIns="18288" bIns="18288"/>
          <a:lstStyle/>
          <a:p>
            <a:pPr algn="r"/>
            <a:r>
              <a:rPr sz="800" b="0" i="0">
                <a:solidFill>
                  <a:srgbClr val="404040"/>
                </a:solidFill>
                <a:latin typeface="游ゴシック"/>
                <a:ea typeface="游ゴシック"/>
              </a:rPr>
              <a:t>（単位：千円）</a:t>
            </a:r>
          </a:p>
        </p:txBody>
      </p:sp>
      <p:graphicFrame>
        <p:nvGraphicFramePr>
          <p:cNvPr id="7" name="Table 6"/>
          <p:cNvGraphicFramePr>
            <a:graphicFrameLocks noGrp="1"/>
          </p:cNvGraphicFramePr>
          <p:nvPr/>
        </p:nvGraphicFramePr>
        <p:xfrm>
          <a:off x="338328" y="1627632"/>
          <a:ext cx="10012680" cy="1645920"/>
        </p:xfrm>
        <a:graphic>
          <a:graphicData uri="http://schemas.openxmlformats.org/drawingml/2006/table">
            <a:tbl>
              <a:tblPr firstRow="0" bandRow="0">
                <a:tableStyleId>{5940675A-B579-460E-94D1-54222C63F5DA}</a:tableStyleId>
              </a:tblPr>
              <a:tblGrid>
                <a:gridCol w="2651760"/>
                <a:gridCol w="1051560"/>
                <a:gridCol w="1051560"/>
                <a:gridCol w="1051560"/>
                <a:gridCol w="4206240"/>
              </a:tblGrid>
              <a:tr h="411480">
                <a:tc>
                  <a:txBody>
                    <a:bodyPr wrap="square"/>
                    <a:lstStyle/>
                    <a:p>
                      <a:pPr algn="ctr"/>
                      <a:r>
                        <a:rPr sz="950" b="1" i="0">
                          <a:solidFill>
                            <a:srgbClr val="FFFFFF"/>
                          </a:solidFill>
                          <a:latin typeface="游ゴシック"/>
                          <a:ea typeface="游ゴシック"/>
                        </a:rPr>
                        <a:t>評価手法</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0B3041"/>
                    </a:solidFill>
                  </a:tcPr>
                </a:tc>
                <a:tc>
                  <a:txBody>
                    <a:bodyPr wrap="square"/>
                    <a:lstStyle/>
                    <a:p>
                      <a:pPr algn="ctr"/>
                      <a:r>
                        <a:rPr sz="950" b="1" i="0">
                          <a:solidFill>
                            <a:srgbClr val="FFFFFF"/>
                          </a:solidFill>
                          <a:latin typeface="游ゴシック"/>
                          <a:ea typeface="游ゴシック"/>
                        </a:rPr>
                        <a:t>下限</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0B3041"/>
                    </a:solidFill>
                  </a:tcPr>
                </a:tc>
                <a:tc>
                  <a:txBody>
                    <a:bodyPr wrap="square"/>
                    <a:lstStyle/>
                    <a:p>
                      <a:pPr algn="ctr"/>
                      <a:r>
                        <a:rPr sz="950" b="1" i="0">
                          <a:solidFill>
                            <a:srgbClr val="FFFFFF"/>
                          </a:solidFill>
                          <a:latin typeface="游ゴシック"/>
                          <a:ea typeface="游ゴシック"/>
                        </a:rPr>
                        <a:t>中央</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0B3041"/>
                    </a:solidFill>
                  </a:tcPr>
                </a:tc>
                <a:tc>
                  <a:txBody>
                    <a:bodyPr wrap="square"/>
                    <a:lstStyle/>
                    <a:p>
                      <a:pPr algn="ctr"/>
                      <a:r>
                        <a:rPr sz="950" b="1" i="0">
                          <a:solidFill>
                            <a:srgbClr val="FFFFFF"/>
                          </a:solidFill>
                          <a:latin typeface="游ゴシック"/>
                          <a:ea typeface="游ゴシック"/>
                        </a:rPr>
                        <a:t>上限</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0B3041"/>
                    </a:solidFill>
                  </a:tcPr>
                </a:tc>
                <a:tc>
                  <a:txBody>
                    <a:bodyPr wrap="square"/>
                    <a:lstStyle/>
                    <a:p>
                      <a:pPr algn="ctr"/>
                      <a:r>
                        <a:rPr sz="950" b="1" i="0">
                          <a:solidFill>
                            <a:srgbClr val="FFFFFF"/>
                          </a:solidFill>
                          <a:latin typeface="游ゴシック"/>
                          <a:ea typeface="游ゴシック"/>
                        </a:rPr>
                        <a:t>主な前提</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0B3041"/>
                    </a:solidFill>
                  </a:tcPr>
                </a:tc>
              </a:tr>
              <a:tr h="411480">
                <a:tc>
                  <a:txBody>
                    <a:bodyPr wrap="square"/>
                    <a:lstStyle/>
                    <a:p>
                      <a:pPr algn="l"/>
                      <a:r>
                        <a:rPr sz="950" b="0" i="0">
                          <a:solidFill>
                            <a:srgbClr val="000000"/>
                          </a:solidFill>
                          <a:latin typeface="游ゴシック"/>
                          <a:ea typeface="游ゴシック"/>
                        </a:rPr>
                        <a:t>コストアプローチ（年買法）</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950" b="0" i="0">
                          <a:solidFill>
                            <a:srgbClr val="000000"/>
                          </a:solidFill>
                          <a:latin typeface="Arial"/>
                          <a:ea typeface="游ゴシック"/>
                        </a:rPr>
                        <a:t>△70,667</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50" b="0" i="0">
                          <a:solidFill>
                            <a:srgbClr val="000000"/>
                          </a:solidFill>
                          <a:latin typeface="Arial"/>
                          <a:ea typeface="游ゴシック"/>
                        </a:rPr>
                        <a:t>△59,892</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50" b="0" i="0">
                          <a:solidFill>
                            <a:srgbClr val="000000"/>
                          </a:solidFill>
                          <a:latin typeface="Arial"/>
                          <a:ea typeface="游ゴシック"/>
                        </a:rPr>
                        <a:t>△49,117</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l"/>
                      <a:r>
                        <a:rPr sz="950" b="0" i="0">
                          <a:solidFill>
                            <a:srgbClr val="000000"/>
                          </a:solidFill>
                          <a:latin typeface="游ゴシック"/>
                          <a:ea typeface="游ゴシック"/>
                        </a:rPr>
                        <a:t>時価純資産△81,442千円＋営業権（基準営業利益10,775千円×1〜3年）</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411480">
                <a:tc>
                  <a:txBody>
                    <a:bodyPr wrap="square"/>
                    <a:lstStyle/>
                    <a:p>
                      <a:pPr algn="l"/>
                      <a:r>
                        <a:rPr sz="950" b="0" i="0">
                          <a:solidFill>
                            <a:srgbClr val="000000"/>
                          </a:solidFill>
                          <a:latin typeface="游ゴシック"/>
                          <a:ea typeface="游ゴシック"/>
                        </a:rPr>
                        <a:t>マーケットアプローチ（EV/EBITDA法）</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950" b="0" i="0">
                          <a:solidFill>
                            <a:srgbClr val="000000"/>
                          </a:solidFill>
                          <a:latin typeface="Arial"/>
                          <a:ea typeface="游ゴシック"/>
                        </a:rPr>
                        <a:t>△310,194</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50" b="0" i="0">
                          <a:solidFill>
                            <a:srgbClr val="000000"/>
                          </a:solidFill>
                          <a:latin typeface="Arial"/>
                          <a:ea typeface="游ゴシック"/>
                        </a:rPr>
                        <a:t>△285,076</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50" b="0" i="0">
                          <a:solidFill>
                            <a:srgbClr val="000000"/>
                          </a:solidFill>
                          <a:latin typeface="Arial"/>
                          <a:ea typeface="游ゴシック"/>
                        </a:rPr>
                        <a:t>△259,958</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l"/>
                      <a:r>
                        <a:rPr sz="950" b="0" i="0">
                          <a:solidFill>
                            <a:srgbClr val="000000"/>
                          </a:solidFill>
                          <a:latin typeface="游ゴシック"/>
                          <a:ea typeface="游ゴシック"/>
                        </a:rPr>
                        <a:t>基準EBITDA35,883千円×3〜5倍×(1-30%)＋ネットキャッシュ△385,549千円</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411480">
                <a:tc>
                  <a:txBody>
                    <a:bodyPr wrap="square"/>
                    <a:lstStyle/>
                    <a:p>
                      <a:pPr algn="l"/>
                      <a:r>
                        <a:rPr sz="950" b="1" i="0">
                          <a:solidFill>
                            <a:srgbClr val="000000"/>
                          </a:solidFill>
                          <a:latin typeface="游ゴシック"/>
                          <a:ea typeface="游ゴシック"/>
                        </a:rPr>
                        <a:t>算定上の株式価値</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c>
                  <a:txBody>
                    <a:bodyPr wrap="square"/>
                    <a:lstStyle/>
                    <a:p>
                      <a:pPr algn="r"/>
                      <a:r>
                        <a:rPr sz="950" b="1" i="0">
                          <a:solidFill>
                            <a:srgbClr val="000000"/>
                          </a:solidFill>
                          <a:latin typeface="Arial"/>
                          <a:ea typeface="游ゴシック"/>
                        </a:rPr>
                        <a:t>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c>
                  <a:txBody>
                    <a:bodyPr wrap="square"/>
                    <a:lstStyle/>
                    <a:p>
                      <a:pPr algn="r"/>
                      <a:r>
                        <a:rPr sz="950" b="1" i="0">
                          <a:solidFill>
                            <a:srgbClr val="000000"/>
                          </a:solidFill>
                          <a:latin typeface="Arial"/>
                          <a:ea typeface="游ゴシック"/>
                        </a:rPr>
                        <a:t>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c>
                  <a:txBody>
                    <a:bodyPr wrap="square"/>
                    <a:lstStyle/>
                    <a:p>
                      <a:pPr algn="r"/>
                      <a:r>
                        <a:rPr sz="950" b="1" i="0">
                          <a:solidFill>
                            <a:srgbClr val="000000"/>
                          </a:solidFill>
                          <a:latin typeface="Arial"/>
                          <a:ea typeface="游ゴシック"/>
                        </a:rPr>
                        <a:t>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c>
                  <a:txBody>
                    <a:bodyPr wrap="square"/>
                    <a:lstStyle/>
                    <a:p>
                      <a:pPr algn="l"/>
                      <a:r>
                        <a:rPr sz="950" b="1" i="0">
                          <a:solidFill>
                            <a:srgbClr val="000000"/>
                          </a:solidFill>
                          <a:latin typeface="游ゴシック"/>
                          <a:ea typeface="游ゴシック"/>
                        </a:rPr>
                        <a:t>両手法ともマイナスのため0円（備忘価額）</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r>
            </a:tbl>
          </a:graphicData>
        </a:graphic>
      </p:graphicFrame>
      <p:sp>
        <p:nvSpPr>
          <p:cNvPr id="8" name="Rectangle 7"/>
          <p:cNvSpPr/>
          <p:nvPr/>
        </p:nvSpPr>
        <p:spPr>
          <a:xfrm>
            <a:off x="338328" y="3456432"/>
            <a:ext cx="54864" cy="182880"/>
          </a:xfrm>
          <a:prstGeom prst="rect">
            <a:avLst/>
          </a:prstGeom>
          <a:solidFill>
            <a:srgbClr val="0889C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p>
        </p:txBody>
      </p:sp>
      <p:sp>
        <p:nvSpPr>
          <p:cNvPr id="9" name="TextBox 8"/>
          <p:cNvSpPr txBox="1"/>
          <p:nvPr/>
        </p:nvSpPr>
        <p:spPr>
          <a:xfrm>
            <a:off x="448056" y="3429000"/>
            <a:ext cx="5376672" cy="237744"/>
          </a:xfrm>
          <a:prstGeom prst="rect">
            <a:avLst/>
          </a:prstGeom>
          <a:noFill/>
        </p:spPr>
        <p:txBody>
          <a:bodyPr wrap="square" anchor="t" lIns="18288" rIns="18288" tIns="18288" bIns="18288"/>
          <a:lstStyle/>
          <a:p>
            <a:pPr algn="l"/>
            <a:r>
              <a:rPr sz="1100" b="1" i="0">
                <a:solidFill>
                  <a:srgbClr val="0B3041"/>
                </a:solidFill>
                <a:latin typeface="游ゴシック"/>
                <a:ea typeface="游ゴシック"/>
              </a:rPr>
              <a:t>事業価値と有利子負債の関係（中央値ベース）</a:t>
            </a:r>
          </a:p>
        </p:txBody>
      </p:sp>
      <p:graphicFrame>
        <p:nvGraphicFramePr>
          <p:cNvPr id="10" name="Chart 9"/>
          <p:cNvGraphicFramePr>
            <a:graphicFrameLocks noGrp="1"/>
          </p:cNvGraphicFramePr>
          <p:nvPr/>
        </p:nvGraphicFramePr>
        <p:xfrm>
          <a:off x="338328" y="3703320"/>
          <a:ext cx="5669280" cy="2743200"/>
        </p:xfrm>
        <a:graphic>
          <a:graphicData uri="http://schemas.openxmlformats.org/drawingml/2006/chart">
            <c:chart xmlns:c="http://schemas.openxmlformats.org/drawingml/2006/chart" r:id="rId2"/>
          </a:graphicData>
        </a:graphic>
      </p:graphicFrame>
      <p:sp>
        <p:nvSpPr>
          <p:cNvPr id="11" name="Rectangle 10"/>
          <p:cNvSpPr/>
          <p:nvPr/>
        </p:nvSpPr>
        <p:spPr>
          <a:xfrm>
            <a:off x="6217920" y="3429000"/>
            <a:ext cx="4114800" cy="3063240"/>
          </a:xfrm>
          <a:prstGeom prst="rect">
            <a:avLst/>
          </a:prstGeom>
          <a:solidFill>
            <a:srgbClr val="FFFFFF"/>
          </a:solidFill>
          <a:ln w="12700">
            <a:solidFill>
              <a:srgbClr val="A6A6A6"/>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p>
        </p:txBody>
      </p:sp>
      <p:sp>
        <p:nvSpPr>
          <p:cNvPr id="12" name="TextBox 11"/>
          <p:cNvSpPr txBox="1"/>
          <p:nvPr/>
        </p:nvSpPr>
        <p:spPr>
          <a:xfrm>
            <a:off x="6217920" y="3502152"/>
            <a:ext cx="4114800" cy="292608"/>
          </a:xfrm>
          <a:prstGeom prst="rect">
            <a:avLst/>
          </a:prstGeom>
          <a:noFill/>
        </p:spPr>
        <p:txBody>
          <a:bodyPr wrap="square" anchor="t" lIns="18288" rIns="18288" tIns="18288" bIns="18288"/>
          <a:lstStyle/>
          <a:p>
            <a:pPr algn="ctr"/>
            <a:r>
              <a:rPr sz="1400" b="1" i="0">
                <a:solidFill>
                  <a:srgbClr val="0B3041"/>
                </a:solidFill>
                <a:latin typeface="Arial"/>
                <a:ea typeface="游ゴシック"/>
              </a:rPr>
              <a:t>Comment</a:t>
            </a:r>
          </a:p>
        </p:txBody>
      </p:sp>
      <p:sp>
        <p:nvSpPr>
          <p:cNvPr id="13" name="TextBox 12"/>
          <p:cNvSpPr txBox="1"/>
          <p:nvPr/>
        </p:nvSpPr>
        <p:spPr>
          <a:xfrm>
            <a:off x="6345936" y="3840480"/>
            <a:ext cx="3858768" cy="2606040"/>
          </a:xfrm>
          <a:prstGeom prst="rect">
            <a:avLst/>
          </a:prstGeom>
          <a:noFill/>
        </p:spPr>
        <p:txBody>
          <a:bodyPr wrap="square" anchor="t" lIns="18288" rIns="18288" tIns="18288" bIns="18288"/>
          <a:lstStyle/>
          <a:p>
            <a:pPr algn="l">
              <a:lnSpc>
                <a:spcPct val="105000"/>
              </a:lnSpc>
              <a:spcBef>
                <a:spcPts val="0"/>
              </a:spcBef>
            </a:pPr>
            <a:r>
              <a:rPr sz="850" b="1" i="0">
                <a:solidFill>
                  <a:srgbClr val="000000"/>
                </a:solidFill>
                <a:latin typeface="游ゴシック"/>
                <a:ea typeface="游ゴシック"/>
              </a:rPr>
              <a:t>≪結論≫</a:t>
            </a:r>
          </a:p>
          <a:p>
            <a:pPr algn="l">
              <a:lnSpc>
                <a:spcPct val="105000"/>
              </a:lnSpc>
            </a:pPr>
            <a:r>
              <a:rPr sz="800" b="0" i="0">
                <a:solidFill>
                  <a:srgbClr val="000000"/>
                </a:solidFill>
                <a:latin typeface="游ゴシック"/>
                <a:ea typeface="游ゴシック"/>
              </a:rPr>
              <a:t>・基本ケースの算定上の株式価値は0円（備忘価額）。</a:t>
            </a:r>
          </a:p>
          <a:p>
            <a:pPr algn="l">
              <a:lnSpc>
                <a:spcPct val="105000"/>
              </a:lnSpc>
              <a:spcBef>
                <a:spcPts val="600"/>
              </a:spcBef>
            </a:pPr>
            <a:r>
              <a:rPr sz="850" b="1" i="0">
                <a:solidFill>
                  <a:srgbClr val="000000"/>
                </a:solidFill>
                <a:latin typeface="游ゴシック"/>
                <a:ea typeface="游ゴシック"/>
              </a:rPr>
              <a:t>≪マイナスとなる要因≫</a:t>
            </a:r>
          </a:p>
          <a:p>
            <a:pPr algn="l">
              <a:lnSpc>
                <a:spcPct val="105000"/>
              </a:lnSpc>
            </a:pPr>
            <a:r>
              <a:rPr sz="800" b="0" i="0">
                <a:solidFill>
                  <a:srgbClr val="000000"/>
                </a:solidFill>
                <a:latin typeface="游ゴシック"/>
                <a:ea typeface="游ゴシック"/>
              </a:rPr>
              <a:t>・有利子負債461,024千円が、事業規模（基準EBITDA35,883千円）の約12.8倍と大きい。</a:t>
            </a:r>
          </a:p>
          <a:p>
            <a:pPr algn="l">
              <a:lnSpc>
                <a:spcPct val="105000"/>
              </a:lnSpc>
            </a:pPr>
            <a:r>
              <a:rPr sz="800" b="0" i="0">
                <a:solidFill>
                  <a:srgbClr val="000000"/>
                </a:solidFill>
                <a:latin typeface="游ゴシック"/>
                <a:ea typeface="游ゴシック"/>
              </a:rPr>
              <a:t>・工場建物は会計上の償却を停止しており、固定資産税評価額への評価替えで168,020千円の評価減。</a:t>
            </a:r>
          </a:p>
          <a:p>
            <a:pPr algn="l">
              <a:lnSpc>
                <a:spcPct val="105000"/>
              </a:lnSpc>
              <a:spcBef>
                <a:spcPts val="600"/>
              </a:spcBef>
            </a:pPr>
            <a:r>
              <a:rPr sz="850" b="1" i="0">
                <a:solidFill>
                  <a:srgbClr val="000000"/>
                </a:solidFill>
                <a:latin typeface="游ゴシック"/>
                <a:ea typeface="游ゴシック"/>
              </a:rPr>
              <a:t>≪感応度≫</a:t>
            </a:r>
          </a:p>
          <a:p>
            <a:pPr algn="l">
              <a:lnSpc>
                <a:spcPct val="105000"/>
              </a:lnSpc>
            </a:pPr>
            <a:r>
              <a:rPr sz="800" b="0" i="0">
                <a:solidFill>
                  <a:srgbClr val="000000"/>
                </a:solidFill>
                <a:latin typeface="游ゴシック"/>
                <a:ea typeface="游ゴシック"/>
              </a:rPr>
              <a:t>・建物を簿価で評価すると年買法は97,353〜118,903千円とプラスに転じる。建物時価の検証（不動産鑑定・再調達原価）が最重要の確認事項。</a:t>
            </a:r>
          </a:p>
          <a:p>
            <a:pPr algn="l">
              <a:lnSpc>
                <a:spcPct val="105000"/>
              </a:lnSpc>
              <a:spcBef>
                <a:spcPts val="600"/>
              </a:spcBef>
            </a:pPr>
            <a:r>
              <a:rPr sz="850" b="1" i="0">
                <a:solidFill>
                  <a:srgbClr val="000000"/>
                </a:solidFill>
                <a:latin typeface="游ゴシック"/>
                <a:ea typeface="游ゴシック"/>
              </a:rPr>
              <a:t>≪交渉上の論点≫</a:t>
            </a:r>
          </a:p>
          <a:p>
            <a:pPr algn="l">
              <a:lnSpc>
                <a:spcPct val="105000"/>
              </a:lnSpc>
            </a:pPr>
            <a:r>
              <a:rPr sz="800" b="0" i="0">
                <a:solidFill>
                  <a:srgbClr val="000000"/>
                </a:solidFill>
                <a:latin typeface="游ゴシック"/>
                <a:ea typeface="游ゴシック"/>
              </a:rPr>
              <a:t>・代表者の連帯保証・担保提供の解除、代表者借入金・資本性ローンの取扱いが実質的な対価となる。</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Financial Analysis（B/S）</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a:lstStyle/>
          <a:p>
            <a:r>
              <a:t>借入金の約定返済と利益の積上げにより純資産は4期で増加したが、借入金は依然として総資産の8割超を占める。</a:t>
            </a:r>
          </a:p>
        </p:txBody>
      </p:sp>
      <p:sp>
        <p:nvSpPr>
          <p:cNvPr id="3" name="Title 2"/>
          <p:cNvSpPr>
            <a:spLocks noGrp="1"/>
          </p:cNvSpPr>
          <p:nvPr>
            <p:ph type="ctrTitle"/>
          </p:nvPr>
        </p:nvSpPr>
        <p:spPr/>
        <p:txBody>
          <a:bodyPr/>
          <a:lstStyle/>
          <a:p>
            <a:r>
              <a:t>過去B/Sの推移</a:t>
            </a:r>
          </a:p>
        </p:txBody>
      </p:sp>
      <p:sp>
        <p:nvSpPr>
          <p:cNvPr id="5" name="タイトル 1">
            <a:extLst>
              <a:ext uri="{FF2B5EF4-FFF2-40B4-BE49-F238E27FC236}">
                <a16:creationId xmlns:a16="http://schemas.microsoft.com/office/drawing/2014/main" id="{4F103961-B26C-39D9-FB80-02B45E98D11A}"/>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財務分析（B/S）</a:t>
            </a:r>
          </a:p>
        </p:txBody>
      </p:sp>
      <p:graphicFrame>
        <p:nvGraphicFramePr>
          <p:cNvPr id="6" name="Table 5"/>
          <p:cNvGraphicFramePr>
            <a:graphicFrameLocks noGrp="1"/>
          </p:cNvGraphicFramePr>
          <p:nvPr/>
        </p:nvGraphicFramePr>
        <p:xfrm>
          <a:off x="338328" y="1481328"/>
          <a:ext cx="6035040" cy="4937760"/>
        </p:xfrm>
        <a:graphic>
          <a:graphicData uri="http://schemas.openxmlformats.org/drawingml/2006/table">
            <a:tbl>
              <a:tblPr firstRow="0" bandRow="0">
                <a:tableStyleId>{5940675A-B579-460E-94D1-54222C63F5DA}</a:tableStyleId>
              </a:tblPr>
              <a:tblGrid>
                <a:gridCol w="2011680"/>
                <a:gridCol w="1005840"/>
                <a:gridCol w="1005840"/>
                <a:gridCol w="1005840"/>
                <a:gridCol w="1005840"/>
              </a:tblGrid>
              <a:tr h="246888">
                <a:tc>
                  <a:txBody>
                    <a:bodyPr wrap="square"/>
                    <a:lstStyle/>
                    <a:p>
                      <a:pPr algn="ctr"/>
                      <a:r>
                        <a:rPr sz="900" b="1" i="0">
                          <a:solidFill>
                            <a:srgbClr val="FFFFFF"/>
                          </a:solidFill>
                          <a:latin typeface="游ゴシック"/>
                          <a:ea typeface="游ゴシック"/>
                        </a:rPr>
                        <a:t>科目</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0B3041"/>
                    </a:solidFill>
                  </a:tcPr>
                </a:tc>
                <a:tc>
                  <a:txBody>
                    <a:bodyPr wrap="square"/>
                    <a:lstStyle/>
                    <a:p>
                      <a:pPr algn="ctr"/>
                      <a:r>
                        <a:rPr sz="900" b="1" i="0">
                          <a:solidFill>
                            <a:srgbClr val="FFFFFF"/>
                          </a:solidFill>
                          <a:latin typeface="游ゴシック"/>
                          <a:ea typeface="游ゴシック"/>
                        </a:rPr>
                        <a:t>23/3期</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0B3041"/>
                    </a:solidFill>
                  </a:tcPr>
                </a:tc>
                <a:tc>
                  <a:txBody>
                    <a:bodyPr wrap="square"/>
                    <a:lstStyle/>
                    <a:p>
                      <a:pPr algn="ctr"/>
                      <a:r>
                        <a:rPr sz="900" b="1" i="0">
                          <a:solidFill>
                            <a:srgbClr val="FFFFFF"/>
                          </a:solidFill>
                          <a:latin typeface="游ゴシック"/>
                          <a:ea typeface="游ゴシック"/>
                        </a:rPr>
                        <a:t>24/3期</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0B3041"/>
                    </a:solidFill>
                  </a:tcPr>
                </a:tc>
                <a:tc>
                  <a:txBody>
                    <a:bodyPr wrap="square"/>
                    <a:lstStyle/>
                    <a:p>
                      <a:pPr algn="ctr"/>
                      <a:r>
                        <a:rPr sz="900" b="1" i="0">
                          <a:solidFill>
                            <a:srgbClr val="FFFFFF"/>
                          </a:solidFill>
                          <a:latin typeface="游ゴシック"/>
                          <a:ea typeface="游ゴシック"/>
                        </a:rPr>
                        <a:t>25/3期</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0B3041"/>
                    </a:solidFill>
                  </a:tcPr>
                </a:tc>
                <a:tc>
                  <a:txBody>
                    <a:bodyPr wrap="square"/>
                    <a:lstStyle/>
                    <a:p>
                      <a:pPr algn="ctr"/>
                      <a:r>
                        <a:rPr sz="900" b="1" i="0">
                          <a:solidFill>
                            <a:srgbClr val="FFFFFF"/>
                          </a:solidFill>
                          <a:latin typeface="游ゴシック"/>
                          <a:ea typeface="游ゴシック"/>
                        </a:rPr>
                        <a:t>26/3期</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0B3041"/>
                    </a:solidFill>
                  </a:tcPr>
                </a:tc>
              </a:tr>
              <a:tr h="246888">
                <a:tc>
                  <a:txBody>
                    <a:bodyPr wrap="square"/>
                    <a:lstStyle/>
                    <a:p>
                      <a:pPr algn="l"/>
                      <a:r>
                        <a:rPr sz="900" b="0" i="0">
                          <a:solidFill>
                            <a:srgbClr val="000000"/>
                          </a:solidFill>
                          <a:latin typeface="游ゴシック"/>
                          <a:ea typeface="游ゴシック"/>
                        </a:rPr>
                        <a:t>現預金（保険積立除く）</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900" b="0" i="0">
                          <a:solidFill>
                            <a:srgbClr val="000000"/>
                          </a:solidFill>
                          <a:latin typeface="Arial"/>
                          <a:ea typeface="游ゴシック"/>
                        </a:rPr>
                        <a:t>105,963</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00" b="0" i="0">
                          <a:solidFill>
                            <a:srgbClr val="000000"/>
                          </a:solidFill>
                          <a:latin typeface="Arial"/>
                          <a:ea typeface="游ゴシック"/>
                        </a:rPr>
                        <a:t>108,835</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00" b="0" i="0">
                          <a:solidFill>
                            <a:srgbClr val="000000"/>
                          </a:solidFill>
                          <a:latin typeface="Arial"/>
                          <a:ea typeface="游ゴシック"/>
                        </a:rPr>
                        <a:t>73,061</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00" b="0" i="0">
                          <a:solidFill>
                            <a:srgbClr val="000000"/>
                          </a:solidFill>
                          <a:latin typeface="Arial"/>
                          <a:ea typeface="游ゴシック"/>
                        </a:rPr>
                        <a:t>66,600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246888">
                <a:tc>
                  <a:txBody>
                    <a:bodyPr wrap="square"/>
                    <a:lstStyle/>
                    <a:p>
                      <a:pPr algn="l"/>
                      <a:r>
                        <a:rPr sz="900" b="0" i="0">
                          <a:solidFill>
                            <a:srgbClr val="000000"/>
                          </a:solidFill>
                          <a:latin typeface="游ゴシック"/>
                          <a:ea typeface="游ゴシック"/>
                        </a:rPr>
                        <a:t>保険積立金</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900" b="0" i="0">
                          <a:solidFill>
                            <a:srgbClr val="000000"/>
                          </a:solidFill>
                          <a:latin typeface="Arial"/>
                          <a:ea typeface="游ゴシック"/>
                        </a:rPr>
                        <a:t>16,994</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00" b="0" i="0">
                          <a:solidFill>
                            <a:srgbClr val="000000"/>
                          </a:solidFill>
                          <a:latin typeface="Arial"/>
                          <a:ea typeface="游ゴシック"/>
                        </a:rPr>
                        <a:t>10,537</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00" b="0" i="0">
                          <a:solidFill>
                            <a:srgbClr val="000000"/>
                          </a:solidFill>
                          <a:latin typeface="Arial"/>
                          <a:ea typeface="游ゴシック"/>
                        </a:rPr>
                        <a:t>11,601</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00" b="0" i="0">
                          <a:solidFill>
                            <a:srgbClr val="000000"/>
                          </a:solidFill>
                          <a:latin typeface="Arial"/>
                          <a:ea typeface="游ゴシック"/>
                        </a:rPr>
                        <a:t>9,362</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246888">
                <a:tc>
                  <a:txBody>
                    <a:bodyPr wrap="square"/>
                    <a:lstStyle/>
                    <a:p>
                      <a:pPr algn="l"/>
                      <a:r>
                        <a:rPr sz="900" b="0" i="0">
                          <a:solidFill>
                            <a:srgbClr val="000000"/>
                          </a:solidFill>
                          <a:latin typeface="游ゴシック"/>
                          <a:ea typeface="游ゴシック"/>
                        </a:rPr>
                        <a:t>売掛金</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900" b="0" i="0">
                          <a:solidFill>
                            <a:srgbClr val="000000"/>
                          </a:solidFill>
                          <a:latin typeface="Arial"/>
                          <a:ea typeface="游ゴシック"/>
                        </a:rPr>
                        <a:t>21,685</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00" b="0" i="0">
                          <a:solidFill>
                            <a:srgbClr val="000000"/>
                          </a:solidFill>
                          <a:latin typeface="Arial"/>
                          <a:ea typeface="游ゴシック"/>
                        </a:rPr>
                        <a:t>29,803</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00" b="0" i="0">
                          <a:solidFill>
                            <a:srgbClr val="000000"/>
                          </a:solidFill>
                          <a:latin typeface="Arial"/>
                          <a:ea typeface="游ゴシック"/>
                        </a:rPr>
                        <a:t>28,301</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00" b="0" i="0">
                          <a:solidFill>
                            <a:srgbClr val="000000"/>
                          </a:solidFill>
                          <a:latin typeface="Arial"/>
                          <a:ea typeface="游ゴシック"/>
                        </a:rPr>
                        <a:t>28,798</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246888">
                <a:tc>
                  <a:txBody>
                    <a:bodyPr wrap="square"/>
                    <a:lstStyle/>
                    <a:p>
                      <a:pPr algn="l"/>
                      <a:r>
                        <a:rPr sz="900" b="0" i="0">
                          <a:solidFill>
                            <a:srgbClr val="000000"/>
                          </a:solidFill>
                          <a:latin typeface="游ゴシック"/>
                          <a:ea typeface="游ゴシック"/>
                        </a:rPr>
                        <a:t>棚卸資産</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900" b="0" i="0">
                          <a:solidFill>
                            <a:srgbClr val="000000"/>
                          </a:solidFill>
                          <a:latin typeface="Arial"/>
                          <a:ea typeface="游ゴシック"/>
                        </a:rPr>
                        <a:t>27,194</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00" b="0" i="0">
                          <a:solidFill>
                            <a:srgbClr val="000000"/>
                          </a:solidFill>
                          <a:latin typeface="Arial"/>
                          <a:ea typeface="游ゴシック"/>
                        </a:rPr>
                        <a:t>30,951</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00" b="0" i="0">
                          <a:solidFill>
                            <a:srgbClr val="000000"/>
                          </a:solidFill>
                          <a:latin typeface="Arial"/>
                          <a:ea typeface="游ゴシック"/>
                        </a:rPr>
                        <a:t>36,590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00" b="0" i="0">
                          <a:solidFill>
                            <a:srgbClr val="000000"/>
                          </a:solidFill>
                          <a:latin typeface="Arial"/>
                          <a:ea typeface="游ゴシック"/>
                        </a:rPr>
                        <a:t>34,491</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246888">
                <a:tc>
                  <a:txBody>
                    <a:bodyPr wrap="square"/>
                    <a:lstStyle/>
                    <a:p>
                      <a:pPr algn="l"/>
                      <a:r>
                        <a:rPr sz="900" b="0" i="0">
                          <a:solidFill>
                            <a:srgbClr val="000000"/>
                          </a:solidFill>
                          <a:latin typeface="游ゴシック"/>
                          <a:ea typeface="游ゴシック"/>
                        </a:rPr>
                        <a:t>その他流動資産</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900" b="0" i="0">
                          <a:solidFill>
                            <a:srgbClr val="000000"/>
                          </a:solidFill>
                          <a:latin typeface="Arial"/>
                          <a:ea typeface="游ゴシック"/>
                        </a:rPr>
                        <a:t>4,370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00" b="0" i="0">
                          <a:solidFill>
                            <a:srgbClr val="000000"/>
                          </a:solidFill>
                          <a:latin typeface="Arial"/>
                          <a:ea typeface="游ゴシック"/>
                        </a:rPr>
                        <a:t>4,807</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00" b="0" i="0">
                          <a:solidFill>
                            <a:srgbClr val="000000"/>
                          </a:solidFill>
                          <a:latin typeface="Arial"/>
                          <a:ea typeface="游ゴシック"/>
                        </a:rPr>
                        <a:t>4,573</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00" b="0" i="0">
                          <a:solidFill>
                            <a:srgbClr val="000000"/>
                          </a:solidFill>
                          <a:latin typeface="Arial"/>
                          <a:ea typeface="游ゴシック"/>
                        </a:rPr>
                        <a:t>3,063</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246888">
                <a:tc>
                  <a:txBody>
                    <a:bodyPr wrap="square"/>
                    <a:lstStyle/>
                    <a:p>
                      <a:pPr algn="l"/>
                      <a:r>
                        <a:rPr sz="900" b="1" i="0">
                          <a:solidFill>
                            <a:srgbClr val="000000"/>
                          </a:solidFill>
                          <a:latin typeface="游ゴシック"/>
                          <a:ea typeface="游ゴシック"/>
                        </a:rPr>
                        <a:t>流動資産合計</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c>
                  <a:txBody>
                    <a:bodyPr wrap="square"/>
                    <a:lstStyle/>
                    <a:p>
                      <a:pPr algn="r"/>
                      <a:r>
                        <a:rPr sz="900" b="1" i="0">
                          <a:solidFill>
                            <a:srgbClr val="000000"/>
                          </a:solidFill>
                          <a:latin typeface="Arial"/>
                          <a:ea typeface="游ゴシック"/>
                        </a:rPr>
                        <a:t>176,206</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c>
                  <a:txBody>
                    <a:bodyPr wrap="square"/>
                    <a:lstStyle/>
                    <a:p>
                      <a:pPr algn="r"/>
                      <a:r>
                        <a:rPr sz="900" b="1" i="0">
                          <a:solidFill>
                            <a:srgbClr val="000000"/>
                          </a:solidFill>
                          <a:latin typeface="Arial"/>
                          <a:ea typeface="游ゴシック"/>
                        </a:rPr>
                        <a:t>184,932</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c>
                  <a:txBody>
                    <a:bodyPr wrap="square"/>
                    <a:lstStyle/>
                    <a:p>
                      <a:pPr algn="r"/>
                      <a:r>
                        <a:rPr sz="900" b="1" i="0">
                          <a:solidFill>
                            <a:srgbClr val="000000"/>
                          </a:solidFill>
                          <a:latin typeface="Arial"/>
                          <a:ea typeface="游ゴシック"/>
                        </a:rPr>
                        <a:t>154,125</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c>
                  <a:txBody>
                    <a:bodyPr wrap="square"/>
                    <a:lstStyle/>
                    <a:p>
                      <a:pPr algn="r"/>
                      <a:r>
                        <a:rPr sz="900" b="1" i="0">
                          <a:solidFill>
                            <a:srgbClr val="000000"/>
                          </a:solidFill>
                          <a:latin typeface="Arial"/>
                          <a:ea typeface="游ゴシック"/>
                        </a:rPr>
                        <a:t>142,314</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r>
              <a:tr h="246888">
                <a:tc>
                  <a:txBody>
                    <a:bodyPr wrap="square"/>
                    <a:lstStyle/>
                    <a:p>
                      <a:pPr algn="l"/>
                      <a:r>
                        <a:rPr sz="900" b="0" i="0">
                          <a:solidFill>
                            <a:srgbClr val="000000"/>
                          </a:solidFill>
                          <a:latin typeface="游ゴシック"/>
                          <a:ea typeface="游ゴシック"/>
                        </a:rPr>
                        <a:t>建物・構築物</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900" b="0" i="0">
                          <a:solidFill>
                            <a:srgbClr val="000000"/>
                          </a:solidFill>
                          <a:latin typeface="Arial"/>
                          <a:ea typeface="游ゴシック"/>
                        </a:rPr>
                        <a:t>261,358</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00" b="0" i="0">
                          <a:solidFill>
                            <a:srgbClr val="000000"/>
                          </a:solidFill>
                          <a:latin typeface="Arial"/>
                          <a:ea typeface="游ゴシック"/>
                        </a:rPr>
                        <a:t>261,358</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00" b="0" i="0">
                          <a:solidFill>
                            <a:srgbClr val="000000"/>
                          </a:solidFill>
                          <a:latin typeface="Arial"/>
                          <a:ea typeface="游ゴシック"/>
                        </a:rPr>
                        <a:t>261,358</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00" b="0" i="0">
                          <a:solidFill>
                            <a:srgbClr val="000000"/>
                          </a:solidFill>
                          <a:latin typeface="Arial"/>
                          <a:ea typeface="游ゴシック"/>
                        </a:rPr>
                        <a:t>261,358</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246888">
                <a:tc>
                  <a:txBody>
                    <a:bodyPr wrap="square"/>
                    <a:lstStyle/>
                    <a:p>
                      <a:pPr algn="l"/>
                      <a:r>
                        <a:rPr sz="900" b="0" i="0">
                          <a:solidFill>
                            <a:srgbClr val="000000"/>
                          </a:solidFill>
                          <a:latin typeface="游ゴシック"/>
                          <a:ea typeface="游ゴシック"/>
                        </a:rPr>
                        <a:t>機械・車両・器具</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900" b="0" i="0">
                          <a:solidFill>
                            <a:srgbClr val="000000"/>
                          </a:solidFill>
                          <a:latin typeface="Arial"/>
                          <a:ea typeface="游ゴシック"/>
                        </a:rPr>
                        <a:t>108,652</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00" b="0" i="0">
                          <a:solidFill>
                            <a:srgbClr val="000000"/>
                          </a:solidFill>
                          <a:latin typeface="Arial"/>
                          <a:ea typeface="游ゴシック"/>
                        </a:rPr>
                        <a:t>114,951</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00" b="0" i="0">
                          <a:solidFill>
                            <a:srgbClr val="000000"/>
                          </a:solidFill>
                          <a:latin typeface="Arial"/>
                          <a:ea typeface="游ゴシック"/>
                        </a:rPr>
                        <a:t>104,612</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00" b="0" i="0">
                          <a:solidFill>
                            <a:srgbClr val="000000"/>
                          </a:solidFill>
                          <a:latin typeface="Arial"/>
                          <a:ea typeface="游ゴシック"/>
                        </a:rPr>
                        <a:t>107,915</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246888">
                <a:tc>
                  <a:txBody>
                    <a:bodyPr wrap="square"/>
                    <a:lstStyle/>
                    <a:p>
                      <a:pPr algn="l"/>
                      <a:r>
                        <a:rPr sz="900" b="0" i="0">
                          <a:solidFill>
                            <a:srgbClr val="000000"/>
                          </a:solidFill>
                          <a:latin typeface="游ゴシック"/>
                          <a:ea typeface="游ゴシック"/>
                        </a:rPr>
                        <a:t>土地</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900" b="0" i="0">
                          <a:solidFill>
                            <a:srgbClr val="000000"/>
                          </a:solidFill>
                          <a:latin typeface="Arial"/>
                          <a:ea typeface="游ゴシック"/>
                        </a:rPr>
                        <a:t>40,442</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00" b="0" i="0">
                          <a:solidFill>
                            <a:srgbClr val="000000"/>
                          </a:solidFill>
                          <a:latin typeface="Arial"/>
                          <a:ea typeface="游ゴシック"/>
                        </a:rPr>
                        <a:t>40,442</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00" b="0" i="0">
                          <a:solidFill>
                            <a:srgbClr val="000000"/>
                          </a:solidFill>
                          <a:latin typeface="Arial"/>
                          <a:ea typeface="游ゴシック"/>
                        </a:rPr>
                        <a:t>40,442</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00" b="0" i="0">
                          <a:solidFill>
                            <a:srgbClr val="000000"/>
                          </a:solidFill>
                          <a:latin typeface="Arial"/>
                          <a:ea typeface="游ゴシック"/>
                        </a:rPr>
                        <a:t>40,442</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246888">
                <a:tc>
                  <a:txBody>
                    <a:bodyPr wrap="square"/>
                    <a:lstStyle/>
                    <a:p>
                      <a:pPr algn="l"/>
                      <a:r>
                        <a:rPr sz="900" b="0" i="0">
                          <a:solidFill>
                            <a:srgbClr val="000000"/>
                          </a:solidFill>
                          <a:latin typeface="游ゴシック"/>
                          <a:ea typeface="游ゴシック"/>
                        </a:rPr>
                        <a:t>無形固定資産・投資等</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900" b="0" i="0">
                          <a:solidFill>
                            <a:srgbClr val="000000"/>
                          </a:solidFill>
                          <a:latin typeface="Arial"/>
                          <a:ea typeface="游ゴシック"/>
                        </a:rPr>
                        <a:t>3,299</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00" b="0" i="0">
                          <a:solidFill>
                            <a:srgbClr val="000000"/>
                          </a:solidFill>
                          <a:latin typeface="Arial"/>
                          <a:ea typeface="游ゴシック"/>
                        </a:rPr>
                        <a:t>1,174</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00" b="0" i="0">
                          <a:solidFill>
                            <a:srgbClr val="000000"/>
                          </a:solidFill>
                          <a:latin typeface="Arial"/>
                          <a:ea typeface="游ゴシック"/>
                        </a:rPr>
                        <a:t>1,174</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00" b="0" i="0">
                          <a:solidFill>
                            <a:srgbClr val="000000"/>
                          </a:solidFill>
                          <a:latin typeface="Arial"/>
                          <a:ea typeface="游ゴシック"/>
                        </a:rPr>
                        <a:t>1,174</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246888">
                <a:tc>
                  <a:txBody>
                    <a:bodyPr wrap="square"/>
                    <a:lstStyle/>
                    <a:p>
                      <a:pPr algn="l"/>
                      <a:r>
                        <a:rPr sz="900" b="1" i="0">
                          <a:solidFill>
                            <a:srgbClr val="000000"/>
                          </a:solidFill>
                          <a:latin typeface="游ゴシック"/>
                          <a:ea typeface="游ゴシック"/>
                        </a:rPr>
                        <a:t>固定資産合計</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c>
                  <a:txBody>
                    <a:bodyPr wrap="square"/>
                    <a:lstStyle/>
                    <a:p>
                      <a:pPr algn="r"/>
                      <a:r>
                        <a:rPr sz="900" b="1" i="0">
                          <a:solidFill>
                            <a:srgbClr val="000000"/>
                          </a:solidFill>
                          <a:latin typeface="Arial"/>
                          <a:ea typeface="游ゴシック"/>
                        </a:rPr>
                        <a:t>413,752</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c>
                  <a:txBody>
                    <a:bodyPr wrap="square"/>
                    <a:lstStyle/>
                    <a:p>
                      <a:pPr algn="r"/>
                      <a:r>
                        <a:rPr sz="900" b="1" i="0">
                          <a:solidFill>
                            <a:srgbClr val="000000"/>
                          </a:solidFill>
                          <a:latin typeface="Arial"/>
                          <a:ea typeface="游ゴシック"/>
                        </a:rPr>
                        <a:t>417,925</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c>
                  <a:txBody>
                    <a:bodyPr wrap="square"/>
                    <a:lstStyle/>
                    <a:p>
                      <a:pPr algn="r"/>
                      <a:r>
                        <a:rPr sz="900" b="1" i="0">
                          <a:solidFill>
                            <a:srgbClr val="000000"/>
                          </a:solidFill>
                          <a:latin typeface="Arial"/>
                          <a:ea typeface="游ゴシック"/>
                        </a:rPr>
                        <a:t>407,586</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c>
                  <a:txBody>
                    <a:bodyPr wrap="square"/>
                    <a:lstStyle/>
                    <a:p>
                      <a:pPr algn="r"/>
                      <a:r>
                        <a:rPr sz="900" b="1" i="0">
                          <a:solidFill>
                            <a:srgbClr val="000000"/>
                          </a:solidFill>
                          <a:latin typeface="Arial"/>
                          <a:ea typeface="游ゴシック"/>
                        </a:rPr>
                        <a:t>410,890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r>
              <a:tr h="246888">
                <a:tc>
                  <a:txBody>
                    <a:bodyPr wrap="square"/>
                    <a:lstStyle/>
                    <a:p>
                      <a:pPr algn="l"/>
                      <a:r>
                        <a:rPr sz="900" b="1" i="0">
                          <a:solidFill>
                            <a:srgbClr val="000000"/>
                          </a:solidFill>
                          <a:latin typeface="游ゴシック"/>
                          <a:ea typeface="游ゴシック"/>
                        </a:rPr>
                        <a:t>資産合計</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c>
                  <a:txBody>
                    <a:bodyPr wrap="square"/>
                    <a:lstStyle/>
                    <a:p>
                      <a:pPr algn="r"/>
                      <a:r>
                        <a:rPr sz="900" b="1" i="0">
                          <a:solidFill>
                            <a:srgbClr val="000000"/>
                          </a:solidFill>
                          <a:latin typeface="Arial"/>
                          <a:ea typeface="游ゴシック"/>
                        </a:rPr>
                        <a:t>589,958</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c>
                  <a:txBody>
                    <a:bodyPr wrap="square"/>
                    <a:lstStyle/>
                    <a:p>
                      <a:pPr algn="r"/>
                      <a:r>
                        <a:rPr sz="900" b="1" i="0">
                          <a:solidFill>
                            <a:srgbClr val="000000"/>
                          </a:solidFill>
                          <a:latin typeface="Arial"/>
                          <a:ea typeface="游ゴシック"/>
                        </a:rPr>
                        <a:t>602,857</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c>
                  <a:txBody>
                    <a:bodyPr wrap="square"/>
                    <a:lstStyle/>
                    <a:p>
                      <a:pPr algn="r"/>
                      <a:r>
                        <a:rPr sz="900" b="1" i="0">
                          <a:solidFill>
                            <a:srgbClr val="000000"/>
                          </a:solidFill>
                          <a:latin typeface="Arial"/>
                          <a:ea typeface="游ゴシック"/>
                        </a:rPr>
                        <a:t>561,712</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c>
                  <a:txBody>
                    <a:bodyPr wrap="square"/>
                    <a:lstStyle/>
                    <a:p>
                      <a:pPr algn="r"/>
                      <a:r>
                        <a:rPr sz="900" b="1" i="0">
                          <a:solidFill>
                            <a:srgbClr val="000000"/>
                          </a:solidFill>
                          <a:latin typeface="Arial"/>
                          <a:ea typeface="游ゴシック"/>
                        </a:rPr>
                        <a:t>553,204</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r>
              <a:tr h="246888">
                <a:tc>
                  <a:txBody>
                    <a:bodyPr wrap="square"/>
                    <a:lstStyle/>
                    <a:p>
                      <a:pPr algn="l"/>
                      <a:r>
                        <a:rPr sz="900" b="0" i="0">
                          <a:solidFill>
                            <a:srgbClr val="000000"/>
                          </a:solidFill>
                          <a:latin typeface="游ゴシック"/>
                          <a:ea typeface="游ゴシック"/>
                        </a:rPr>
                        <a:t>支払手形・買掛金</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900" b="0" i="0">
                          <a:solidFill>
                            <a:srgbClr val="000000"/>
                          </a:solidFill>
                          <a:latin typeface="Arial"/>
                          <a:ea typeface="游ゴシック"/>
                        </a:rPr>
                        <a:t>25,363</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00" b="0" i="0">
                          <a:solidFill>
                            <a:srgbClr val="000000"/>
                          </a:solidFill>
                          <a:latin typeface="Arial"/>
                          <a:ea typeface="游ゴシック"/>
                        </a:rPr>
                        <a:t>26,965</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00" b="0" i="0">
                          <a:solidFill>
                            <a:srgbClr val="000000"/>
                          </a:solidFill>
                          <a:latin typeface="Arial"/>
                          <a:ea typeface="游ゴシック"/>
                        </a:rPr>
                        <a:t>21,261</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00" b="0" i="0">
                          <a:solidFill>
                            <a:srgbClr val="000000"/>
                          </a:solidFill>
                          <a:latin typeface="Arial"/>
                          <a:ea typeface="游ゴシック"/>
                        </a:rPr>
                        <a:t>24,494</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246888">
                <a:tc>
                  <a:txBody>
                    <a:bodyPr wrap="square"/>
                    <a:lstStyle/>
                    <a:p>
                      <a:pPr algn="l"/>
                      <a:r>
                        <a:rPr sz="900" b="0" i="0">
                          <a:solidFill>
                            <a:srgbClr val="000000"/>
                          </a:solidFill>
                          <a:latin typeface="游ゴシック"/>
                          <a:ea typeface="游ゴシック"/>
                        </a:rPr>
                        <a:t>借入金（短期・長期）</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900" b="0" i="0">
                          <a:solidFill>
                            <a:srgbClr val="000000"/>
                          </a:solidFill>
                          <a:latin typeface="Arial"/>
                          <a:ea typeface="游ゴシック"/>
                        </a:rPr>
                        <a:t>530,156</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00" b="0" i="0">
                          <a:solidFill>
                            <a:srgbClr val="000000"/>
                          </a:solidFill>
                          <a:latin typeface="Arial"/>
                          <a:ea typeface="游ゴシック"/>
                        </a:rPr>
                        <a:t>512,787</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00" b="0" i="0">
                          <a:solidFill>
                            <a:srgbClr val="000000"/>
                          </a:solidFill>
                          <a:latin typeface="Arial"/>
                          <a:ea typeface="游ゴシック"/>
                        </a:rPr>
                        <a:t>478,822</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00" b="0" i="0">
                          <a:solidFill>
                            <a:srgbClr val="000000"/>
                          </a:solidFill>
                          <a:latin typeface="Arial"/>
                          <a:ea typeface="游ゴシック"/>
                        </a:rPr>
                        <a:t>461,024</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246888">
                <a:tc>
                  <a:txBody>
                    <a:bodyPr wrap="square"/>
                    <a:lstStyle/>
                    <a:p>
                      <a:pPr algn="l"/>
                      <a:r>
                        <a:rPr sz="900" b="0" i="0">
                          <a:solidFill>
                            <a:srgbClr val="000000"/>
                          </a:solidFill>
                          <a:latin typeface="游ゴシック"/>
                          <a:ea typeface="游ゴシック"/>
                        </a:rPr>
                        <a:t>その他負債</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900" b="0" i="0">
                          <a:solidFill>
                            <a:srgbClr val="000000"/>
                          </a:solidFill>
                          <a:latin typeface="Arial"/>
                          <a:ea typeface="游ゴシック"/>
                        </a:rPr>
                        <a:t>14,620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00" b="0" i="0">
                          <a:solidFill>
                            <a:srgbClr val="000000"/>
                          </a:solidFill>
                          <a:latin typeface="Arial"/>
                          <a:ea typeface="游ゴシック"/>
                        </a:rPr>
                        <a:t>20,856</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00" b="0" i="0">
                          <a:solidFill>
                            <a:srgbClr val="000000"/>
                          </a:solidFill>
                          <a:latin typeface="Arial"/>
                          <a:ea typeface="游ゴシック"/>
                        </a:rPr>
                        <a:t>13,717</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00" b="0" i="0">
                          <a:solidFill>
                            <a:srgbClr val="000000"/>
                          </a:solidFill>
                          <a:latin typeface="Arial"/>
                          <a:ea typeface="游ゴシック"/>
                        </a:rPr>
                        <a:t>18,398</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246888">
                <a:tc>
                  <a:txBody>
                    <a:bodyPr wrap="square"/>
                    <a:lstStyle/>
                    <a:p>
                      <a:pPr algn="l"/>
                      <a:r>
                        <a:rPr sz="900" b="1" i="0">
                          <a:solidFill>
                            <a:srgbClr val="000000"/>
                          </a:solidFill>
                          <a:latin typeface="游ゴシック"/>
                          <a:ea typeface="游ゴシック"/>
                        </a:rPr>
                        <a:t>負債合計</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c>
                  <a:txBody>
                    <a:bodyPr wrap="square"/>
                    <a:lstStyle/>
                    <a:p>
                      <a:pPr algn="r"/>
                      <a:r>
                        <a:rPr sz="900" b="1" i="0">
                          <a:solidFill>
                            <a:srgbClr val="000000"/>
                          </a:solidFill>
                          <a:latin typeface="Arial"/>
                          <a:ea typeface="游ゴシック"/>
                        </a:rPr>
                        <a:t>570,140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c>
                  <a:txBody>
                    <a:bodyPr wrap="square"/>
                    <a:lstStyle/>
                    <a:p>
                      <a:pPr algn="r"/>
                      <a:r>
                        <a:rPr sz="900" b="1" i="0">
                          <a:solidFill>
                            <a:srgbClr val="000000"/>
                          </a:solidFill>
                          <a:latin typeface="Arial"/>
                          <a:ea typeface="游ゴシック"/>
                        </a:rPr>
                        <a:t>560,607</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c>
                  <a:txBody>
                    <a:bodyPr wrap="square"/>
                    <a:lstStyle/>
                    <a:p>
                      <a:pPr algn="r"/>
                      <a:r>
                        <a:rPr sz="900" b="1" i="0">
                          <a:solidFill>
                            <a:srgbClr val="000000"/>
                          </a:solidFill>
                          <a:latin typeface="Arial"/>
                          <a:ea typeface="游ゴシック"/>
                        </a:rPr>
                        <a:t>513,800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c>
                  <a:txBody>
                    <a:bodyPr wrap="square"/>
                    <a:lstStyle/>
                    <a:p>
                      <a:pPr algn="r"/>
                      <a:r>
                        <a:rPr sz="900" b="1" i="0">
                          <a:solidFill>
                            <a:srgbClr val="000000"/>
                          </a:solidFill>
                          <a:latin typeface="Arial"/>
                          <a:ea typeface="游ゴシック"/>
                        </a:rPr>
                        <a:t>503,916</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r>
              <a:tr h="246888">
                <a:tc>
                  <a:txBody>
                    <a:bodyPr wrap="square"/>
                    <a:lstStyle/>
                    <a:p>
                      <a:pPr algn="l"/>
                      <a:r>
                        <a:rPr sz="900" b="1" i="0">
                          <a:solidFill>
                            <a:srgbClr val="000000"/>
                          </a:solidFill>
                          <a:latin typeface="游ゴシック"/>
                          <a:ea typeface="游ゴシック"/>
                        </a:rPr>
                        <a:t>純資産合計</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c>
                  <a:txBody>
                    <a:bodyPr wrap="square"/>
                    <a:lstStyle/>
                    <a:p>
                      <a:pPr algn="r"/>
                      <a:r>
                        <a:rPr sz="900" b="1" i="0">
                          <a:solidFill>
                            <a:srgbClr val="000000"/>
                          </a:solidFill>
                          <a:latin typeface="Arial"/>
                          <a:ea typeface="游ゴシック"/>
                        </a:rPr>
                        <a:t>19,818</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c>
                  <a:txBody>
                    <a:bodyPr wrap="square"/>
                    <a:lstStyle/>
                    <a:p>
                      <a:pPr algn="r"/>
                      <a:r>
                        <a:rPr sz="900" b="1" i="0">
                          <a:solidFill>
                            <a:srgbClr val="000000"/>
                          </a:solidFill>
                          <a:latin typeface="Arial"/>
                          <a:ea typeface="游ゴシック"/>
                        </a:rPr>
                        <a:t>42,250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c>
                  <a:txBody>
                    <a:bodyPr wrap="square"/>
                    <a:lstStyle/>
                    <a:p>
                      <a:pPr algn="r"/>
                      <a:r>
                        <a:rPr sz="900" b="1" i="0">
                          <a:solidFill>
                            <a:srgbClr val="000000"/>
                          </a:solidFill>
                          <a:latin typeface="Arial"/>
                          <a:ea typeface="游ゴシック"/>
                        </a:rPr>
                        <a:t>47,912</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c>
                  <a:txBody>
                    <a:bodyPr wrap="square"/>
                    <a:lstStyle/>
                    <a:p>
                      <a:pPr algn="r"/>
                      <a:r>
                        <a:rPr sz="900" b="1" i="0">
                          <a:solidFill>
                            <a:srgbClr val="000000"/>
                          </a:solidFill>
                          <a:latin typeface="Arial"/>
                          <a:ea typeface="游ゴシック"/>
                        </a:rPr>
                        <a:t>49,288</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r>
              <a:tr h="246888">
                <a:tc>
                  <a:txBody>
                    <a:bodyPr wrap="square"/>
                    <a:lstStyle/>
                    <a:p>
                      <a:pPr algn="l"/>
                      <a:r>
                        <a:rPr sz="900" b="1" i="0">
                          <a:solidFill>
                            <a:srgbClr val="000000"/>
                          </a:solidFill>
                          <a:latin typeface="游ゴシック"/>
                          <a:ea typeface="游ゴシック"/>
                        </a:rPr>
                        <a:t>負債・純資産合計</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c>
                  <a:txBody>
                    <a:bodyPr wrap="square"/>
                    <a:lstStyle/>
                    <a:p>
                      <a:pPr algn="r"/>
                      <a:r>
                        <a:rPr sz="900" b="1" i="0">
                          <a:solidFill>
                            <a:srgbClr val="000000"/>
                          </a:solidFill>
                          <a:latin typeface="Arial"/>
                          <a:ea typeface="游ゴシック"/>
                        </a:rPr>
                        <a:t>589,958</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c>
                  <a:txBody>
                    <a:bodyPr wrap="square"/>
                    <a:lstStyle/>
                    <a:p>
                      <a:pPr algn="r"/>
                      <a:r>
                        <a:rPr sz="900" b="1" i="0">
                          <a:solidFill>
                            <a:srgbClr val="000000"/>
                          </a:solidFill>
                          <a:latin typeface="Arial"/>
                          <a:ea typeface="游ゴシック"/>
                        </a:rPr>
                        <a:t>602,857</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c>
                  <a:txBody>
                    <a:bodyPr wrap="square"/>
                    <a:lstStyle/>
                    <a:p>
                      <a:pPr algn="r"/>
                      <a:r>
                        <a:rPr sz="900" b="1" i="0">
                          <a:solidFill>
                            <a:srgbClr val="000000"/>
                          </a:solidFill>
                          <a:latin typeface="Arial"/>
                          <a:ea typeface="游ゴシック"/>
                        </a:rPr>
                        <a:t>561,712</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c>
                  <a:txBody>
                    <a:bodyPr wrap="square"/>
                    <a:lstStyle/>
                    <a:p>
                      <a:pPr algn="r"/>
                      <a:r>
                        <a:rPr sz="900" b="1" i="0">
                          <a:solidFill>
                            <a:srgbClr val="000000"/>
                          </a:solidFill>
                          <a:latin typeface="Arial"/>
                          <a:ea typeface="游ゴシック"/>
                        </a:rPr>
                        <a:t>553,204</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r>
              <a:tr h="246888">
                <a:tc>
                  <a:txBody>
                    <a:bodyPr wrap="square"/>
                    <a:lstStyle/>
                    <a:p>
                      <a:pPr algn="l"/>
                      <a:r>
                        <a:rPr sz="900" b="0" i="0">
                          <a:solidFill>
                            <a:srgbClr val="000000"/>
                          </a:solidFill>
                          <a:latin typeface="游ゴシック"/>
                          <a:ea typeface="游ゴシック"/>
                        </a:rPr>
                        <a:t>自己資本比率</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900" b="0" i="0">
                          <a:solidFill>
                            <a:srgbClr val="000000"/>
                          </a:solidFill>
                          <a:latin typeface="Arial"/>
                          <a:ea typeface="游ゴシック"/>
                        </a:rPr>
                        <a:t>3.4%</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00" b="0" i="0">
                          <a:solidFill>
                            <a:srgbClr val="000000"/>
                          </a:solidFill>
                          <a:latin typeface="Arial"/>
                          <a:ea typeface="游ゴシック"/>
                        </a:rPr>
                        <a:t>7.0%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00" b="0" i="0">
                          <a:solidFill>
                            <a:srgbClr val="000000"/>
                          </a:solidFill>
                          <a:latin typeface="Arial"/>
                          <a:ea typeface="游ゴシック"/>
                        </a:rPr>
                        <a:t>8.5%</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00" b="0" i="0">
                          <a:solidFill>
                            <a:srgbClr val="000000"/>
                          </a:solidFill>
                          <a:latin typeface="Arial"/>
                          <a:ea typeface="游ゴシック"/>
                        </a:rPr>
                        <a:t>8.9%</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bl>
          </a:graphicData>
        </a:graphic>
      </p:graphicFrame>
      <p:sp>
        <p:nvSpPr>
          <p:cNvPr id="7" name="TextBox 6"/>
          <p:cNvSpPr txBox="1"/>
          <p:nvPr/>
        </p:nvSpPr>
        <p:spPr>
          <a:xfrm>
            <a:off x="4572000" y="1298448"/>
            <a:ext cx="1463040" cy="182880"/>
          </a:xfrm>
          <a:prstGeom prst="rect">
            <a:avLst/>
          </a:prstGeom>
          <a:noFill/>
        </p:spPr>
        <p:txBody>
          <a:bodyPr wrap="square" anchor="t" lIns="18288" rIns="18288" tIns="18288" bIns="18288"/>
          <a:lstStyle/>
          <a:p>
            <a:pPr algn="r"/>
            <a:r>
              <a:rPr sz="800" b="0" i="0">
                <a:solidFill>
                  <a:srgbClr val="404040"/>
                </a:solidFill>
                <a:latin typeface="游ゴシック"/>
                <a:ea typeface="游ゴシック"/>
              </a:rPr>
              <a:t>（単位：千円）</a:t>
            </a:r>
          </a:p>
        </p:txBody>
      </p:sp>
      <p:sp>
        <p:nvSpPr>
          <p:cNvPr id="8" name="Rectangle 7"/>
          <p:cNvSpPr/>
          <p:nvPr/>
        </p:nvSpPr>
        <p:spPr>
          <a:xfrm>
            <a:off x="6537960" y="1481328"/>
            <a:ext cx="3794760" cy="4983480"/>
          </a:xfrm>
          <a:prstGeom prst="rect">
            <a:avLst/>
          </a:prstGeom>
          <a:solidFill>
            <a:srgbClr val="FFFFFF"/>
          </a:solidFill>
          <a:ln w="12700">
            <a:solidFill>
              <a:srgbClr val="A6A6A6"/>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p>
        </p:txBody>
      </p:sp>
      <p:sp>
        <p:nvSpPr>
          <p:cNvPr id="9" name="TextBox 8"/>
          <p:cNvSpPr txBox="1"/>
          <p:nvPr/>
        </p:nvSpPr>
        <p:spPr>
          <a:xfrm>
            <a:off x="6537960" y="1554480"/>
            <a:ext cx="3794760" cy="292608"/>
          </a:xfrm>
          <a:prstGeom prst="rect">
            <a:avLst/>
          </a:prstGeom>
          <a:noFill/>
        </p:spPr>
        <p:txBody>
          <a:bodyPr wrap="square" anchor="t" lIns="18288" rIns="18288" tIns="18288" bIns="18288"/>
          <a:lstStyle/>
          <a:p>
            <a:pPr algn="ctr"/>
            <a:r>
              <a:rPr sz="1400" b="1" i="0">
                <a:solidFill>
                  <a:srgbClr val="0B3041"/>
                </a:solidFill>
                <a:latin typeface="Arial"/>
                <a:ea typeface="游ゴシック"/>
              </a:rPr>
              <a:t>Comment</a:t>
            </a:r>
          </a:p>
        </p:txBody>
      </p:sp>
      <p:sp>
        <p:nvSpPr>
          <p:cNvPr id="10" name="TextBox 9"/>
          <p:cNvSpPr txBox="1"/>
          <p:nvPr/>
        </p:nvSpPr>
        <p:spPr>
          <a:xfrm>
            <a:off x="6665976" y="1892808"/>
            <a:ext cx="3538728" cy="4526280"/>
          </a:xfrm>
          <a:prstGeom prst="rect">
            <a:avLst/>
          </a:prstGeom>
          <a:noFill/>
        </p:spPr>
        <p:txBody>
          <a:bodyPr wrap="square" anchor="t" lIns="18288" rIns="18288" tIns="18288" bIns="18288"/>
          <a:lstStyle/>
          <a:p>
            <a:pPr algn="l">
              <a:lnSpc>
                <a:spcPct val="105000"/>
              </a:lnSpc>
              <a:spcBef>
                <a:spcPts val="0"/>
              </a:spcBef>
            </a:pPr>
            <a:r>
              <a:rPr sz="900" b="1" i="0">
                <a:solidFill>
                  <a:srgbClr val="000000"/>
                </a:solidFill>
                <a:latin typeface="游ゴシック"/>
                <a:ea typeface="游ゴシック"/>
              </a:rPr>
              <a:t>≪資産≫</a:t>
            </a:r>
          </a:p>
          <a:p>
            <a:pPr algn="l">
              <a:lnSpc>
                <a:spcPct val="105000"/>
              </a:lnSpc>
            </a:pPr>
            <a:r>
              <a:rPr sz="850" b="0" i="0">
                <a:solidFill>
                  <a:srgbClr val="000000"/>
                </a:solidFill>
                <a:latin typeface="游ゴシック"/>
                <a:ea typeface="游ゴシック"/>
              </a:rPr>
              <a:t>・工場の土地・建物と機械で資産の約7割を占める装置型の資産構成。</a:t>
            </a:r>
          </a:p>
          <a:p>
            <a:pPr algn="l">
              <a:lnSpc>
                <a:spcPct val="105000"/>
              </a:lnSpc>
            </a:pPr>
            <a:r>
              <a:rPr sz="850" b="0" i="0">
                <a:solidFill>
                  <a:srgbClr val="000000"/>
                </a:solidFill>
                <a:latin typeface="游ゴシック"/>
                <a:ea typeface="游ゴシック"/>
              </a:rPr>
              <a:t>・建物は4期とも259,242千円で、会計上の減価償却を行っていない。</a:t>
            </a:r>
          </a:p>
          <a:p>
            <a:pPr algn="l">
              <a:lnSpc>
                <a:spcPct val="105000"/>
              </a:lnSpc>
            </a:pPr>
            <a:r>
              <a:rPr sz="850" b="0" i="0">
                <a:solidFill>
                  <a:srgbClr val="000000"/>
                </a:solidFill>
                <a:latin typeface="游ゴシック"/>
                <a:ea typeface="游ゴシック"/>
              </a:rPr>
              <a:t>・現預金は25/3期に定期積金の解約等で減少。保険積立金（諸掛金）は現預金に含めて表示されている。</a:t>
            </a:r>
          </a:p>
          <a:p>
            <a:pPr algn="l">
              <a:lnSpc>
                <a:spcPct val="105000"/>
              </a:lnSpc>
              <a:spcBef>
                <a:spcPts val="600"/>
              </a:spcBef>
            </a:pPr>
            <a:r>
              <a:rPr sz="900" b="1" i="0">
                <a:solidFill>
                  <a:srgbClr val="000000"/>
                </a:solidFill>
                <a:latin typeface="游ゴシック"/>
                <a:ea typeface="游ゴシック"/>
              </a:rPr>
              <a:t>≪負債≫</a:t>
            </a:r>
          </a:p>
          <a:p>
            <a:pPr algn="l">
              <a:lnSpc>
                <a:spcPct val="105000"/>
              </a:lnSpc>
            </a:pPr>
            <a:r>
              <a:rPr sz="850" b="0" i="0">
                <a:solidFill>
                  <a:srgbClr val="000000"/>
                </a:solidFill>
                <a:latin typeface="游ゴシック"/>
                <a:ea typeface="游ゴシック"/>
              </a:rPr>
              <a:t>・借入金は23/3期530,156千円から26/3期461,024千円へ減少。</a:t>
            </a:r>
          </a:p>
          <a:p>
            <a:pPr algn="l">
              <a:lnSpc>
                <a:spcPct val="105000"/>
              </a:lnSpc>
            </a:pPr>
            <a:r>
              <a:rPr sz="850" b="0" i="0">
                <a:solidFill>
                  <a:srgbClr val="000000"/>
                </a:solidFill>
                <a:latin typeface="游ゴシック"/>
                <a:ea typeface="游ゴシック"/>
              </a:rPr>
              <a:t>・短期借入金80,000千円は継続的に借換えされている（借換条件は要確認）。</a:t>
            </a:r>
          </a:p>
          <a:p>
            <a:pPr algn="l">
              <a:lnSpc>
                <a:spcPct val="105000"/>
              </a:lnSpc>
              <a:spcBef>
                <a:spcPts val="600"/>
              </a:spcBef>
            </a:pPr>
            <a:r>
              <a:rPr sz="900" b="1" i="0">
                <a:solidFill>
                  <a:srgbClr val="000000"/>
                </a:solidFill>
                <a:latin typeface="游ゴシック"/>
                <a:ea typeface="游ゴシック"/>
              </a:rPr>
              <a:t>≪純資産≫</a:t>
            </a:r>
          </a:p>
          <a:p>
            <a:pPr algn="l">
              <a:lnSpc>
                <a:spcPct val="105000"/>
              </a:lnSpc>
            </a:pPr>
            <a:r>
              <a:rPr sz="850" b="0" i="0">
                <a:solidFill>
                  <a:srgbClr val="000000"/>
                </a:solidFill>
                <a:latin typeface="游ゴシック"/>
                <a:ea typeface="游ゴシック"/>
              </a:rPr>
              <a:t>・26/3期の簿価純資産49,288千円。自己資本比率は8.9%。</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a:lstStyle/>
          <a:p>
            <a:r>
              <a:t>工場建物を固定資産税評価額へ、土地を同評価額÷0.7へ評価替え。資料未受領の科目は簿価で評価し、要確認事項として整理した。</a:t>
            </a:r>
          </a:p>
        </p:txBody>
      </p:sp>
      <p:sp>
        <p:nvSpPr>
          <p:cNvPr id="3" name="Title 2"/>
          <p:cNvSpPr>
            <a:spLocks noGrp="1"/>
          </p:cNvSpPr>
          <p:nvPr>
            <p:ph type="ctrTitle"/>
          </p:nvPr>
        </p:nvSpPr>
        <p:spPr/>
        <p:txBody>
          <a:bodyPr/>
          <a:lstStyle/>
          <a:p>
            <a:r>
              <a:t>評価科目別の検討結果</a:t>
            </a:r>
          </a:p>
        </p:txBody>
      </p:sp>
      <p:sp>
        <p:nvSpPr>
          <p:cNvPr id="5" name="タイトル 1">
            <a:extLst>
              <a:ext uri="{FF2B5EF4-FFF2-40B4-BE49-F238E27FC236}">
                <a16:creationId xmlns:a16="http://schemas.microsoft.com/office/drawing/2014/main" id="{4F103961-B26C-39D9-FB80-02B45E98D11A}"/>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財務分析（B/S）</a:t>
            </a:r>
          </a:p>
        </p:txBody>
      </p:sp>
      <p:graphicFrame>
        <p:nvGraphicFramePr>
          <p:cNvPr id="6" name="Table 5"/>
          <p:cNvGraphicFramePr>
            <a:graphicFrameLocks noGrp="1"/>
          </p:cNvGraphicFramePr>
          <p:nvPr/>
        </p:nvGraphicFramePr>
        <p:xfrm>
          <a:off x="338328" y="1481328"/>
          <a:ext cx="10012680" cy="4389120"/>
        </p:xfrm>
        <a:graphic>
          <a:graphicData uri="http://schemas.openxmlformats.org/drawingml/2006/table">
            <a:tbl>
              <a:tblPr firstRow="0" bandRow="0">
                <a:tableStyleId>{5940675A-B579-460E-94D1-54222C63F5DA}</a:tableStyleId>
              </a:tblPr>
              <a:tblGrid>
                <a:gridCol w="2103120"/>
                <a:gridCol w="1097280"/>
                <a:gridCol w="1097280"/>
                <a:gridCol w="1097280"/>
                <a:gridCol w="4617720"/>
              </a:tblGrid>
              <a:tr h="274320">
                <a:tc>
                  <a:txBody>
                    <a:bodyPr wrap="square"/>
                    <a:lstStyle/>
                    <a:p>
                      <a:pPr algn="ctr"/>
                      <a:r>
                        <a:rPr sz="900" b="1" i="0">
                          <a:solidFill>
                            <a:srgbClr val="FFFFFF"/>
                          </a:solidFill>
                          <a:latin typeface="游ゴシック"/>
                          <a:ea typeface="游ゴシック"/>
                        </a:rPr>
                        <a:t>科目</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0B3041"/>
                    </a:solidFill>
                  </a:tcPr>
                </a:tc>
                <a:tc>
                  <a:txBody>
                    <a:bodyPr wrap="square"/>
                    <a:lstStyle/>
                    <a:p>
                      <a:pPr algn="ctr"/>
                      <a:r>
                        <a:rPr sz="900" b="1" i="0">
                          <a:solidFill>
                            <a:srgbClr val="FFFFFF"/>
                          </a:solidFill>
                          <a:latin typeface="游ゴシック"/>
                          <a:ea typeface="游ゴシック"/>
                        </a:rPr>
                        <a:t>帳簿価額</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0B3041"/>
                    </a:solidFill>
                  </a:tcPr>
                </a:tc>
                <a:tc>
                  <a:txBody>
                    <a:bodyPr wrap="square"/>
                    <a:lstStyle/>
                    <a:p>
                      <a:pPr algn="ctr"/>
                      <a:r>
                        <a:rPr sz="900" b="1" i="0">
                          <a:solidFill>
                            <a:srgbClr val="FFFFFF"/>
                          </a:solidFill>
                          <a:latin typeface="游ゴシック"/>
                          <a:ea typeface="游ゴシック"/>
                        </a:rPr>
                        <a:t>評価差額</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0B3041"/>
                    </a:solidFill>
                  </a:tcPr>
                </a:tc>
                <a:tc>
                  <a:txBody>
                    <a:bodyPr wrap="square"/>
                    <a:lstStyle/>
                    <a:p>
                      <a:pPr algn="ctr"/>
                      <a:r>
                        <a:rPr sz="900" b="1" i="0">
                          <a:solidFill>
                            <a:srgbClr val="FFFFFF"/>
                          </a:solidFill>
                          <a:latin typeface="游ゴシック"/>
                          <a:ea typeface="游ゴシック"/>
                        </a:rPr>
                        <a:t>評価額</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0B3041"/>
                    </a:solidFill>
                  </a:tcPr>
                </a:tc>
                <a:tc>
                  <a:txBody>
                    <a:bodyPr wrap="square"/>
                    <a:lstStyle/>
                    <a:p>
                      <a:pPr algn="ctr"/>
                      <a:r>
                        <a:rPr sz="900" b="1" i="0">
                          <a:solidFill>
                            <a:srgbClr val="FFFFFF"/>
                          </a:solidFill>
                          <a:latin typeface="游ゴシック"/>
                          <a:ea typeface="游ゴシック"/>
                        </a:rPr>
                        <a:t>調整事由</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0B3041"/>
                    </a:solidFill>
                  </a:tcPr>
                </a:tc>
              </a:tr>
              <a:tr h="274320">
                <a:tc>
                  <a:txBody>
                    <a:bodyPr wrap="square"/>
                    <a:lstStyle/>
                    <a:p>
                      <a:pPr algn="l"/>
                      <a:r>
                        <a:rPr sz="900" b="0" i="0">
                          <a:solidFill>
                            <a:srgbClr val="000000"/>
                          </a:solidFill>
                          <a:latin typeface="游ゴシック"/>
                          <a:ea typeface="游ゴシック"/>
                        </a:rPr>
                        <a:t>現金及び預金（保険積立除く）</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900" b="0" i="0">
                          <a:solidFill>
                            <a:srgbClr val="000000"/>
                          </a:solidFill>
                          <a:latin typeface="Arial"/>
                          <a:ea typeface="游ゴシック"/>
                        </a:rPr>
                        <a:t>66,600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00" b="0" i="0">
                          <a:solidFill>
                            <a:srgbClr val="000000"/>
                          </a:solidFill>
                          <a:latin typeface="Arial"/>
                          <a:ea typeface="游ゴシック"/>
                        </a:rPr>
                        <a:t>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00" b="0" i="0">
                          <a:solidFill>
                            <a:srgbClr val="000000"/>
                          </a:solidFill>
                          <a:latin typeface="Arial"/>
                          <a:ea typeface="游ゴシック"/>
                        </a:rPr>
                        <a:t>66,600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l"/>
                      <a:r>
                        <a:rPr sz="900" b="0" i="0">
                          <a:solidFill>
                            <a:srgbClr val="000000"/>
                          </a:solidFill>
                          <a:latin typeface="游ゴシック"/>
                          <a:ea typeface="游ゴシック"/>
                        </a:rPr>
                        <a:t>定期預金の内訳差異6,800千円は要確認</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274320">
                <a:tc>
                  <a:txBody>
                    <a:bodyPr wrap="square"/>
                    <a:lstStyle/>
                    <a:p>
                      <a:pPr algn="l"/>
                      <a:r>
                        <a:rPr sz="900" b="0" i="0">
                          <a:solidFill>
                            <a:srgbClr val="000000"/>
                          </a:solidFill>
                          <a:latin typeface="游ゴシック"/>
                          <a:ea typeface="游ゴシック"/>
                        </a:rPr>
                        <a:t>売掛金</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900" b="0" i="0">
                          <a:solidFill>
                            <a:srgbClr val="000000"/>
                          </a:solidFill>
                          <a:latin typeface="Arial"/>
                          <a:ea typeface="游ゴシック"/>
                        </a:rPr>
                        <a:t>28,798</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00" b="0" i="0">
                          <a:solidFill>
                            <a:srgbClr val="000000"/>
                          </a:solidFill>
                          <a:latin typeface="Arial"/>
                          <a:ea typeface="游ゴシック"/>
                        </a:rPr>
                        <a:t>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00" b="0" i="0">
                          <a:solidFill>
                            <a:srgbClr val="000000"/>
                          </a:solidFill>
                          <a:latin typeface="Arial"/>
                          <a:ea typeface="游ゴシック"/>
                        </a:rPr>
                        <a:t>28,798</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l"/>
                      <a:r>
                        <a:rPr sz="900" b="0" i="0">
                          <a:solidFill>
                            <a:srgbClr val="000000"/>
                          </a:solidFill>
                          <a:latin typeface="游ゴシック"/>
                          <a:ea typeface="游ゴシック"/>
                        </a:rPr>
                        <a:t>年齢表未受領のため簿価</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274320">
                <a:tc>
                  <a:txBody>
                    <a:bodyPr wrap="square"/>
                    <a:lstStyle/>
                    <a:p>
                      <a:pPr algn="l"/>
                      <a:r>
                        <a:rPr sz="900" b="0" i="0">
                          <a:solidFill>
                            <a:srgbClr val="000000"/>
                          </a:solidFill>
                          <a:latin typeface="游ゴシック"/>
                          <a:ea typeface="游ゴシック"/>
                        </a:rPr>
                        <a:t>棚卸資産</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900" b="0" i="0">
                          <a:solidFill>
                            <a:srgbClr val="000000"/>
                          </a:solidFill>
                          <a:latin typeface="Arial"/>
                          <a:ea typeface="游ゴシック"/>
                        </a:rPr>
                        <a:t>34,491</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00" b="0" i="0">
                          <a:solidFill>
                            <a:srgbClr val="000000"/>
                          </a:solidFill>
                          <a:latin typeface="Arial"/>
                          <a:ea typeface="游ゴシック"/>
                        </a:rPr>
                        <a:t>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00" b="0" i="0">
                          <a:solidFill>
                            <a:srgbClr val="000000"/>
                          </a:solidFill>
                          <a:latin typeface="Arial"/>
                          <a:ea typeface="游ゴシック"/>
                        </a:rPr>
                        <a:t>34,491</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l"/>
                      <a:r>
                        <a:rPr sz="900" b="0" i="0">
                          <a:solidFill>
                            <a:srgbClr val="000000"/>
                          </a:solidFill>
                          <a:latin typeface="游ゴシック"/>
                          <a:ea typeface="游ゴシック"/>
                        </a:rPr>
                        <a:t>滞留在庫は要確認のため簿価</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274320">
                <a:tc>
                  <a:txBody>
                    <a:bodyPr wrap="square"/>
                    <a:lstStyle/>
                    <a:p>
                      <a:pPr algn="l"/>
                      <a:r>
                        <a:rPr sz="900" b="0" i="0">
                          <a:solidFill>
                            <a:srgbClr val="000000"/>
                          </a:solidFill>
                          <a:latin typeface="游ゴシック"/>
                          <a:ea typeface="游ゴシック"/>
                        </a:rPr>
                        <a:t>その他流動資産</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900" b="0" i="0">
                          <a:solidFill>
                            <a:srgbClr val="000000"/>
                          </a:solidFill>
                          <a:latin typeface="Arial"/>
                          <a:ea typeface="游ゴシック"/>
                        </a:rPr>
                        <a:t>3,063</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00" b="0" i="0">
                          <a:solidFill>
                            <a:srgbClr val="000000"/>
                          </a:solidFill>
                          <a:latin typeface="Arial"/>
                          <a:ea typeface="游ゴシック"/>
                        </a:rPr>
                        <a:t>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00" b="0" i="0">
                          <a:solidFill>
                            <a:srgbClr val="000000"/>
                          </a:solidFill>
                          <a:latin typeface="Arial"/>
                          <a:ea typeface="游ゴシック"/>
                        </a:rPr>
                        <a:t>3,063</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l"/>
                      <a:r>
                        <a:rPr sz="900" b="0" i="0">
                          <a:solidFill>
                            <a:srgbClr val="000000"/>
                          </a:solidFill>
                          <a:latin typeface="游ゴシック"/>
                          <a:ea typeface="游ゴシック"/>
                        </a:rPr>
                        <a:t>従業員貸付金・未収金・前払費用等</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274320">
                <a:tc>
                  <a:txBody>
                    <a:bodyPr wrap="square"/>
                    <a:lstStyle/>
                    <a:p>
                      <a:pPr algn="l"/>
                      <a:r>
                        <a:rPr sz="900" b="0" i="0">
                          <a:solidFill>
                            <a:srgbClr val="000000"/>
                          </a:solidFill>
                          <a:latin typeface="游ゴシック"/>
                          <a:ea typeface="游ゴシック"/>
                        </a:rPr>
                        <a:t>保険積立金</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900" b="0" i="0">
                          <a:solidFill>
                            <a:srgbClr val="000000"/>
                          </a:solidFill>
                          <a:latin typeface="Arial"/>
                          <a:ea typeface="游ゴシック"/>
                        </a:rPr>
                        <a:t>9,362</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00" b="0" i="0">
                          <a:solidFill>
                            <a:srgbClr val="000000"/>
                          </a:solidFill>
                          <a:latin typeface="Arial"/>
                          <a:ea typeface="游ゴシック"/>
                        </a:rPr>
                        <a:t>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00" b="0" i="0">
                          <a:solidFill>
                            <a:srgbClr val="000000"/>
                          </a:solidFill>
                          <a:latin typeface="Arial"/>
                          <a:ea typeface="游ゴシック"/>
                        </a:rPr>
                        <a:t>9,362</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l"/>
                      <a:r>
                        <a:rPr sz="900" b="0" i="0">
                          <a:solidFill>
                            <a:srgbClr val="000000"/>
                          </a:solidFill>
                          <a:latin typeface="游ゴシック"/>
                          <a:ea typeface="游ゴシック"/>
                        </a:rPr>
                        <a:t>解約返戻金未受領のため簿価（要確認）</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274320">
                <a:tc>
                  <a:txBody>
                    <a:bodyPr wrap="square"/>
                    <a:lstStyle/>
                    <a:p>
                      <a:pPr algn="l"/>
                      <a:r>
                        <a:rPr sz="900" b="0" i="0">
                          <a:solidFill>
                            <a:srgbClr val="000000"/>
                          </a:solidFill>
                          <a:latin typeface="游ゴシック"/>
                          <a:ea typeface="游ゴシック"/>
                        </a:rPr>
                        <a:t>建物</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c>
                  <a:txBody>
                    <a:bodyPr wrap="square"/>
                    <a:lstStyle/>
                    <a:p>
                      <a:pPr algn="r"/>
                      <a:r>
                        <a:rPr sz="900" b="0" i="0">
                          <a:solidFill>
                            <a:srgbClr val="000000"/>
                          </a:solidFill>
                          <a:latin typeface="Arial"/>
                          <a:ea typeface="游ゴシック"/>
                        </a:rPr>
                        <a:t>259,242</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c>
                  <a:txBody>
                    <a:bodyPr wrap="square"/>
                    <a:lstStyle/>
                    <a:p>
                      <a:pPr algn="r"/>
                      <a:r>
                        <a:rPr sz="900" b="0" i="0">
                          <a:solidFill>
                            <a:srgbClr val="000000"/>
                          </a:solidFill>
                          <a:latin typeface="Arial"/>
                          <a:ea typeface="游ゴシック"/>
                        </a:rPr>
                        <a:t>△168,020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c>
                  <a:txBody>
                    <a:bodyPr wrap="square"/>
                    <a:lstStyle/>
                    <a:p>
                      <a:pPr algn="r"/>
                      <a:r>
                        <a:rPr sz="900" b="0" i="0">
                          <a:solidFill>
                            <a:srgbClr val="000000"/>
                          </a:solidFill>
                          <a:latin typeface="Arial"/>
                          <a:ea typeface="游ゴシック"/>
                        </a:rPr>
                        <a:t>91,222</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c>
                  <a:txBody>
                    <a:bodyPr wrap="square"/>
                    <a:lstStyle/>
                    <a:p>
                      <a:pPr algn="l"/>
                      <a:r>
                        <a:rPr sz="900" b="0" i="0">
                          <a:solidFill>
                            <a:srgbClr val="000000"/>
                          </a:solidFill>
                          <a:latin typeface="游ゴシック"/>
                          <a:ea typeface="游ゴシック"/>
                        </a:rPr>
                        <a:t>固定資産税評価額へ評価替え</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r>
              <a:tr h="274320">
                <a:tc>
                  <a:txBody>
                    <a:bodyPr wrap="square"/>
                    <a:lstStyle/>
                    <a:p>
                      <a:pPr algn="l"/>
                      <a:r>
                        <a:rPr sz="900" b="0" i="0">
                          <a:solidFill>
                            <a:srgbClr val="000000"/>
                          </a:solidFill>
                          <a:latin typeface="游ゴシック"/>
                          <a:ea typeface="游ゴシック"/>
                        </a:rPr>
                        <a:t>構築物</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c>
                  <a:txBody>
                    <a:bodyPr wrap="square"/>
                    <a:lstStyle/>
                    <a:p>
                      <a:pPr algn="r"/>
                      <a:r>
                        <a:rPr sz="900" b="0" i="0">
                          <a:solidFill>
                            <a:srgbClr val="000000"/>
                          </a:solidFill>
                          <a:latin typeface="Arial"/>
                          <a:ea typeface="游ゴシック"/>
                        </a:rPr>
                        <a:t>2,116</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c>
                  <a:txBody>
                    <a:bodyPr wrap="square"/>
                    <a:lstStyle/>
                    <a:p>
                      <a:pPr algn="r"/>
                      <a:r>
                        <a:rPr sz="900" b="0" i="0">
                          <a:solidFill>
                            <a:srgbClr val="000000"/>
                          </a:solidFill>
                          <a:latin typeface="Arial"/>
                          <a:ea typeface="游ゴシック"/>
                        </a:rPr>
                        <a:t>△448</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c>
                  <a:txBody>
                    <a:bodyPr wrap="square"/>
                    <a:lstStyle/>
                    <a:p>
                      <a:pPr algn="r"/>
                      <a:r>
                        <a:rPr sz="900" b="0" i="0">
                          <a:solidFill>
                            <a:srgbClr val="000000"/>
                          </a:solidFill>
                          <a:latin typeface="Arial"/>
                          <a:ea typeface="游ゴシック"/>
                        </a:rPr>
                        <a:t>1,669</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c>
                  <a:txBody>
                    <a:bodyPr wrap="square"/>
                    <a:lstStyle/>
                    <a:p>
                      <a:pPr algn="l"/>
                      <a:r>
                        <a:rPr sz="900" b="0" i="0">
                          <a:solidFill>
                            <a:srgbClr val="000000"/>
                          </a:solidFill>
                          <a:latin typeface="游ゴシック"/>
                          <a:ea typeface="游ゴシック"/>
                        </a:rPr>
                        <a:t>当期償却不足額を減額</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r>
              <a:tr h="274320">
                <a:tc>
                  <a:txBody>
                    <a:bodyPr wrap="square"/>
                    <a:lstStyle/>
                    <a:p>
                      <a:pPr algn="l"/>
                      <a:r>
                        <a:rPr sz="900" b="0" i="0">
                          <a:solidFill>
                            <a:srgbClr val="000000"/>
                          </a:solidFill>
                          <a:latin typeface="游ゴシック"/>
                          <a:ea typeface="游ゴシック"/>
                        </a:rPr>
                        <a:t>機械</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c>
                  <a:txBody>
                    <a:bodyPr wrap="square"/>
                    <a:lstStyle/>
                    <a:p>
                      <a:pPr algn="r"/>
                      <a:r>
                        <a:rPr sz="900" b="0" i="0">
                          <a:solidFill>
                            <a:srgbClr val="000000"/>
                          </a:solidFill>
                          <a:latin typeface="Arial"/>
                          <a:ea typeface="游ゴシック"/>
                        </a:rPr>
                        <a:t>99,691</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c>
                  <a:txBody>
                    <a:bodyPr wrap="square"/>
                    <a:lstStyle/>
                    <a:p>
                      <a:pPr algn="r"/>
                      <a:r>
                        <a:rPr sz="900" b="0" i="0">
                          <a:solidFill>
                            <a:srgbClr val="000000"/>
                          </a:solidFill>
                          <a:latin typeface="Arial"/>
                          <a:ea typeface="游ゴシック"/>
                        </a:rPr>
                        <a:t>△3,092</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c>
                  <a:txBody>
                    <a:bodyPr wrap="square"/>
                    <a:lstStyle/>
                    <a:p>
                      <a:pPr algn="r"/>
                      <a:r>
                        <a:rPr sz="900" b="0" i="0">
                          <a:solidFill>
                            <a:srgbClr val="000000"/>
                          </a:solidFill>
                          <a:latin typeface="Arial"/>
                          <a:ea typeface="游ゴシック"/>
                        </a:rPr>
                        <a:t>96,599</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c>
                  <a:txBody>
                    <a:bodyPr wrap="square"/>
                    <a:lstStyle/>
                    <a:p>
                      <a:pPr algn="l"/>
                      <a:r>
                        <a:rPr sz="900" b="0" i="0">
                          <a:solidFill>
                            <a:srgbClr val="000000"/>
                          </a:solidFill>
                          <a:latin typeface="游ゴシック"/>
                          <a:ea typeface="游ゴシック"/>
                        </a:rPr>
                        <a:t>当期償却不足額を減額</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r>
              <a:tr h="274320">
                <a:tc>
                  <a:txBody>
                    <a:bodyPr wrap="square"/>
                    <a:lstStyle/>
                    <a:p>
                      <a:pPr algn="l"/>
                      <a:r>
                        <a:rPr sz="900" b="0" i="0">
                          <a:solidFill>
                            <a:srgbClr val="000000"/>
                          </a:solidFill>
                          <a:latin typeface="游ゴシック"/>
                          <a:ea typeface="游ゴシック"/>
                        </a:rPr>
                        <a:t>車両運搬具・器具備品</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900" b="0" i="0">
                          <a:solidFill>
                            <a:srgbClr val="000000"/>
                          </a:solidFill>
                          <a:latin typeface="Arial"/>
                          <a:ea typeface="游ゴシック"/>
                        </a:rPr>
                        <a:t>8,224</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00" b="0" i="0">
                          <a:solidFill>
                            <a:srgbClr val="000000"/>
                          </a:solidFill>
                          <a:latin typeface="Arial"/>
                          <a:ea typeface="游ゴシック"/>
                        </a:rPr>
                        <a:t>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00" b="0" i="0">
                          <a:solidFill>
                            <a:srgbClr val="000000"/>
                          </a:solidFill>
                          <a:latin typeface="Arial"/>
                          <a:ea typeface="游ゴシック"/>
                        </a:rPr>
                        <a:t>8,224</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l"/>
                      <a:r>
                        <a:rPr sz="900" b="0" i="0">
                          <a:solidFill>
                            <a:srgbClr val="000000"/>
                          </a:solidFill>
                          <a:latin typeface="游ゴシック"/>
                          <a:ea typeface="游ゴシック"/>
                        </a:rPr>
                        <a:t>償却不足なし</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274320">
                <a:tc>
                  <a:txBody>
                    <a:bodyPr wrap="square"/>
                    <a:lstStyle/>
                    <a:p>
                      <a:pPr algn="l"/>
                      <a:r>
                        <a:rPr sz="900" b="0" i="0">
                          <a:solidFill>
                            <a:srgbClr val="000000"/>
                          </a:solidFill>
                          <a:latin typeface="游ゴシック"/>
                          <a:ea typeface="游ゴシック"/>
                        </a:rPr>
                        <a:t>土地</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c>
                  <a:txBody>
                    <a:bodyPr wrap="square"/>
                    <a:lstStyle/>
                    <a:p>
                      <a:pPr algn="r"/>
                      <a:r>
                        <a:rPr sz="900" b="0" i="0">
                          <a:solidFill>
                            <a:srgbClr val="000000"/>
                          </a:solidFill>
                          <a:latin typeface="Arial"/>
                          <a:ea typeface="游ゴシック"/>
                        </a:rPr>
                        <a:t>40,442</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c>
                  <a:txBody>
                    <a:bodyPr wrap="square"/>
                    <a:lstStyle/>
                    <a:p>
                      <a:pPr algn="r"/>
                      <a:r>
                        <a:rPr sz="900" b="0" i="0">
                          <a:solidFill>
                            <a:srgbClr val="000000"/>
                          </a:solidFill>
                          <a:latin typeface="Arial"/>
                          <a:ea typeface="游ゴシック"/>
                        </a:rPr>
                        <a:t>40,830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c>
                  <a:txBody>
                    <a:bodyPr wrap="square"/>
                    <a:lstStyle/>
                    <a:p>
                      <a:pPr algn="r"/>
                      <a:r>
                        <a:rPr sz="900" b="0" i="0">
                          <a:solidFill>
                            <a:srgbClr val="000000"/>
                          </a:solidFill>
                          <a:latin typeface="Arial"/>
                          <a:ea typeface="游ゴシック"/>
                        </a:rPr>
                        <a:t>81,272</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c>
                  <a:txBody>
                    <a:bodyPr wrap="square"/>
                    <a:lstStyle/>
                    <a:p>
                      <a:pPr algn="l"/>
                      <a:r>
                        <a:rPr sz="900" b="0" i="0">
                          <a:solidFill>
                            <a:srgbClr val="000000"/>
                          </a:solidFill>
                          <a:latin typeface="游ゴシック"/>
                          <a:ea typeface="游ゴシック"/>
                        </a:rPr>
                        <a:t>固定資産税評価額÷0.7</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r>
              <a:tr h="274320">
                <a:tc>
                  <a:txBody>
                    <a:bodyPr wrap="square"/>
                    <a:lstStyle/>
                    <a:p>
                      <a:pPr algn="l"/>
                      <a:r>
                        <a:rPr sz="900" b="0" i="0">
                          <a:solidFill>
                            <a:srgbClr val="000000"/>
                          </a:solidFill>
                          <a:latin typeface="游ゴシック"/>
                          <a:ea typeface="游ゴシック"/>
                        </a:rPr>
                        <a:t>特許商標権</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900" b="0" i="0">
                          <a:solidFill>
                            <a:srgbClr val="000000"/>
                          </a:solidFill>
                          <a:latin typeface="Arial"/>
                          <a:ea typeface="游ゴシック"/>
                        </a:rPr>
                        <a:t>354</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00" b="0" i="0">
                          <a:solidFill>
                            <a:srgbClr val="000000"/>
                          </a:solidFill>
                          <a:latin typeface="Arial"/>
                          <a:ea typeface="游ゴシック"/>
                        </a:rPr>
                        <a:t>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00" b="0" i="0">
                          <a:solidFill>
                            <a:srgbClr val="000000"/>
                          </a:solidFill>
                          <a:latin typeface="Arial"/>
                          <a:ea typeface="游ゴシック"/>
                        </a:rPr>
                        <a:t>354</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l"/>
                      <a:r>
                        <a:rPr sz="900" b="0" i="0">
                          <a:solidFill>
                            <a:srgbClr val="000000"/>
                          </a:solidFill>
                          <a:latin typeface="游ゴシック"/>
                          <a:ea typeface="游ゴシック"/>
                        </a:rPr>
                        <a:t>簿価（商標の内容は要確認）</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274320">
                <a:tc>
                  <a:txBody>
                    <a:bodyPr wrap="square"/>
                    <a:lstStyle/>
                    <a:p>
                      <a:pPr algn="l"/>
                      <a:r>
                        <a:rPr sz="900" b="0" i="0">
                          <a:solidFill>
                            <a:srgbClr val="000000"/>
                          </a:solidFill>
                          <a:latin typeface="游ゴシック"/>
                          <a:ea typeface="游ゴシック"/>
                        </a:rPr>
                        <a:t>出資金</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900" b="0" i="0">
                          <a:solidFill>
                            <a:srgbClr val="000000"/>
                          </a:solidFill>
                          <a:latin typeface="Arial"/>
                          <a:ea typeface="游ゴシック"/>
                        </a:rPr>
                        <a:t>820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00" b="0" i="0">
                          <a:solidFill>
                            <a:srgbClr val="000000"/>
                          </a:solidFill>
                          <a:latin typeface="Arial"/>
                          <a:ea typeface="游ゴシック"/>
                        </a:rPr>
                        <a:t>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00" b="0" i="0">
                          <a:solidFill>
                            <a:srgbClr val="000000"/>
                          </a:solidFill>
                          <a:latin typeface="Arial"/>
                          <a:ea typeface="游ゴシック"/>
                        </a:rPr>
                        <a:t>820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l"/>
                      <a:r>
                        <a:rPr sz="900" b="0" i="0">
                          <a:solidFill>
                            <a:srgbClr val="000000"/>
                          </a:solidFill>
                          <a:latin typeface="游ゴシック"/>
                          <a:ea typeface="游ゴシック"/>
                        </a:rPr>
                        <a:t>簿価</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274320">
                <a:tc>
                  <a:txBody>
                    <a:bodyPr wrap="square"/>
                    <a:lstStyle/>
                    <a:p>
                      <a:pPr algn="l"/>
                      <a:r>
                        <a:rPr sz="900" b="0" i="0">
                          <a:solidFill>
                            <a:srgbClr val="000000"/>
                          </a:solidFill>
                          <a:latin typeface="游ゴシック"/>
                          <a:ea typeface="游ゴシック"/>
                        </a:rPr>
                        <a:t>賞与引当金（負債）</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900" b="0" i="0">
                          <a:solidFill>
                            <a:srgbClr val="000000"/>
                          </a:solidFill>
                          <a:latin typeface="Arial"/>
                          <a:ea typeface="游ゴシック"/>
                        </a:rPr>
                        <a:t>-</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00" b="0" i="0">
                          <a:solidFill>
                            <a:srgbClr val="000000"/>
                          </a:solidFill>
                          <a:latin typeface="Arial"/>
                          <a:ea typeface="游ゴシック"/>
                        </a:rPr>
                        <a:t>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00" b="0" i="0">
                          <a:solidFill>
                            <a:srgbClr val="000000"/>
                          </a:solidFill>
                          <a:latin typeface="Arial"/>
                          <a:ea typeface="游ゴシック"/>
                        </a:rPr>
                        <a:t>-</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l"/>
                      <a:r>
                        <a:rPr sz="900" b="0" i="0">
                          <a:solidFill>
                            <a:srgbClr val="000000"/>
                          </a:solidFill>
                          <a:latin typeface="游ゴシック"/>
                          <a:ea typeface="游ゴシック"/>
                        </a:rPr>
                        <a:t>支給規程未確認のため未計上（要確認）</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274320">
                <a:tc>
                  <a:txBody>
                    <a:bodyPr wrap="square"/>
                    <a:lstStyle/>
                    <a:p>
                      <a:pPr algn="l"/>
                      <a:r>
                        <a:rPr sz="900" b="0" i="0">
                          <a:solidFill>
                            <a:srgbClr val="000000"/>
                          </a:solidFill>
                          <a:latin typeface="游ゴシック"/>
                          <a:ea typeface="游ゴシック"/>
                        </a:rPr>
                        <a:t>退職給付引当金（負債）</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900" b="0" i="0">
                          <a:solidFill>
                            <a:srgbClr val="000000"/>
                          </a:solidFill>
                          <a:latin typeface="Arial"/>
                          <a:ea typeface="游ゴシック"/>
                        </a:rPr>
                        <a:t>-</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00" b="0" i="0">
                          <a:solidFill>
                            <a:srgbClr val="000000"/>
                          </a:solidFill>
                          <a:latin typeface="Arial"/>
                          <a:ea typeface="游ゴシック"/>
                        </a:rPr>
                        <a:t>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00" b="0" i="0">
                          <a:solidFill>
                            <a:srgbClr val="000000"/>
                          </a:solidFill>
                          <a:latin typeface="Arial"/>
                          <a:ea typeface="游ゴシック"/>
                        </a:rPr>
                        <a:t>-</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l"/>
                      <a:r>
                        <a:rPr sz="900" b="0" i="0">
                          <a:solidFill>
                            <a:srgbClr val="000000"/>
                          </a:solidFill>
                          <a:latin typeface="游ゴシック"/>
                          <a:ea typeface="游ゴシック"/>
                        </a:rPr>
                        <a:t>退職金規程未確認のため未計上（要確認）</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274320">
                <a:tc>
                  <a:txBody>
                    <a:bodyPr wrap="square"/>
                    <a:lstStyle/>
                    <a:p>
                      <a:pPr algn="l"/>
                      <a:r>
                        <a:rPr sz="900" b="1" i="0">
                          <a:solidFill>
                            <a:srgbClr val="000000"/>
                          </a:solidFill>
                          <a:latin typeface="游ゴシック"/>
                          <a:ea typeface="游ゴシック"/>
                        </a:rPr>
                        <a:t>資産の評価差額 合計</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c>
                  <a:txBody>
                    <a:bodyPr wrap="square"/>
                    <a:lstStyle/>
                    <a:p>
                      <a:pPr algn="r"/>
                      <a:r>
                        <a:rPr sz="900" b="1" i="0">
                          <a:solidFill>
                            <a:srgbClr val="000000"/>
                          </a:solidFill>
                          <a:latin typeface="Arial"/>
                          <a:ea typeface="游ゴシック"/>
                        </a:rPr>
                        <a:t>553,204</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c>
                  <a:txBody>
                    <a:bodyPr wrap="square"/>
                    <a:lstStyle/>
                    <a:p>
                      <a:pPr algn="r"/>
                      <a:r>
                        <a:rPr sz="900" b="1" i="0">
                          <a:solidFill>
                            <a:srgbClr val="000000"/>
                          </a:solidFill>
                          <a:latin typeface="Arial"/>
                          <a:ea typeface="游ゴシック"/>
                        </a:rPr>
                        <a:t>△130,730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c>
                  <a:txBody>
                    <a:bodyPr wrap="square"/>
                    <a:lstStyle/>
                    <a:p>
                      <a:pPr algn="r"/>
                      <a:r>
                        <a:rPr sz="900" b="1" i="0">
                          <a:solidFill>
                            <a:srgbClr val="000000"/>
                          </a:solidFill>
                          <a:latin typeface="Arial"/>
                          <a:ea typeface="游ゴシック"/>
                        </a:rPr>
                        <a:t>422,474</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c>
                  <a:txBody>
                    <a:bodyPr wrap="square"/>
                    <a:lstStyle/>
                    <a:p>
                      <a:pPr algn="l"/>
                      <a:r>
                        <a:rPr sz="900" b="1" i="0">
                          <a:solidFill>
                            <a:srgbClr val="000000"/>
                          </a:solidFill>
                          <a:latin typeface="游ゴシック"/>
                          <a:ea typeface="游ゴシック"/>
                        </a:rPr>
                        <a:t>　</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r>
            </a:tbl>
          </a:graphicData>
        </a:graphic>
      </p:graphicFrame>
      <p:sp>
        <p:nvSpPr>
          <p:cNvPr id="7" name="TextBox 6"/>
          <p:cNvSpPr txBox="1"/>
          <p:nvPr/>
        </p:nvSpPr>
        <p:spPr>
          <a:xfrm>
            <a:off x="5120640" y="1298448"/>
            <a:ext cx="1188720" cy="182880"/>
          </a:xfrm>
          <a:prstGeom prst="rect">
            <a:avLst/>
          </a:prstGeom>
          <a:noFill/>
        </p:spPr>
        <p:txBody>
          <a:bodyPr wrap="square" anchor="t" lIns="18288" rIns="18288" tIns="18288" bIns="18288"/>
          <a:lstStyle/>
          <a:p>
            <a:pPr algn="r"/>
            <a:r>
              <a:rPr sz="800" b="0" i="0">
                <a:solidFill>
                  <a:srgbClr val="404040"/>
                </a:solidFill>
                <a:latin typeface="游ゴシック"/>
                <a:ea typeface="游ゴシック"/>
              </a:rPr>
              <a:t>（単位：千円）</a:t>
            </a:r>
          </a:p>
        </p:txBody>
      </p:sp>
      <p:sp>
        <p:nvSpPr>
          <p:cNvPr id="8" name="TextBox 7"/>
          <p:cNvSpPr txBox="1"/>
          <p:nvPr/>
        </p:nvSpPr>
        <p:spPr>
          <a:xfrm>
            <a:off x="338328" y="5989320"/>
            <a:ext cx="9966960" cy="548640"/>
          </a:xfrm>
          <a:prstGeom prst="rect">
            <a:avLst/>
          </a:prstGeom>
          <a:noFill/>
        </p:spPr>
        <p:txBody>
          <a:bodyPr wrap="square" anchor="t" lIns="18288" rIns="18288" tIns="18288" bIns="18288"/>
          <a:lstStyle/>
          <a:p>
            <a:pPr algn="l"/>
            <a:r>
              <a:rPr sz="800" b="0" i="0">
                <a:solidFill>
                  <a:srgbClr val="404040"/>
                </a:solidFill>
                <a:latin typeface="游ゴシック Medium"/>
                <a:ea typeface="游ゴシック Medium"/>
              </a:rPr>
              <a:t>※土地：固定資産税評価額56,890千円÷0.7＝81,272千円。建物：固定資産税評価額91,222千円（再調達原価法による検証は未実施）。</a:t>
            </a:r>
          </a:p>
          <a:p>
            <a:pPr algn="l"/>
            <a:r>
              <a:rPr sz="800" b="0" i="0">
                <a:solidFill>
                  <a:srgbClr val="404040"/>
                </a:solidFill>
                <a:latin typeface="游ゴシック Medium"/>
                <a:ea typeface="游ゴシック Medium"/>
              </a:rPr>
              <a:t>※構築物・機械：減価償却計算書の当期償却不足額を減額。過年度の累積不足額は資料不足のため未反映。</a:t>
            </a:r>
          </a:p>
          <a:p>
            <a:pPr algn="l"/>
            <a:r>
              <a:rPr sz="800" b="0" i="0">
                <a:solidFill>
                  <a:srgbClr val="404040"/>
                </a:solidFill>
                <a:latin typeface="游ゴシック Medium"/>
                <a:ea typeface="游ゴシック Medium"/>
              </a:rPr>
              <a:t>※評価差額が純額で評価損のため、税効果（繰延税金資産）は回収可能性が不確実として認識しない。</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a:lstStyle/>
          <a:p>
            <a:r>
              <a:t>評価替えにより資産は130,730千円減少し、時価純資産は△81,442千円（簿価純資産49,288千円）となる。</a:t>
            </a:r>
          </a:p>
        </p:txBody>
      </p:sp>
      <p:sp>
        <p:nvSpPr>
          <p:cNvPr id="3" name="Title 2"/>
          <p:cNvSpPr>
            <a:spLocks noGrp="1"/>
          </p:cNvSpPr>
          <p:nvPr>
            <p:ph type="ctrTitle"/>
          </p:nvPr>
        </p:nvSpPr>
        <p:spPr/>
        <p:txBody>
          <a:bodyPr/>
          <a:lstStyle/>
          <a:p>
            <a:r>
              <a:t>修正B/S（評価基準日：2026年3月31日）</a:t>
            </a:r>
          </a:p>
        </p:txBody>
      </p:sp>
      <p:sp>
        <p:nvSpPr>
          <p:cNvPr id="5" name="タイトル 1">
            <a:extLst>
              <a:ext uri="{FF2B5EF4-FFF2-40B4-BE49-F238E27FC236}">
                <a16:creationId xmlns:a16="http://schemas.microsoft.com/office/drawing/2014/main" id="{4F103961-B26C-39D9-FB80-02B45E98D11A}"/>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財務分析（B/S）</a:t>
            </a:r>
          </a:p>
        </p:txBody>
      </p:sp>
      <p:graphicFrame>
        <p:nvGraphicFramePr>
          <p:cNvPr id="6" name="Table 5"/>
          <p:cNvGraphicFramePr>
            <a:graphicFrameLocks noGrp="1"/>
          </p:cNvGraphicFramePr>
          <p:nvPr/>
        </p:nvGraphicFramePr>
        <p:xfrm>
          <a:off x="338328" y="1481328"/>
          <a:ext cx="4846320" cy="4352544"/>
        </p:xfrm>
        <a:graphic>
          <a:graphicData uri="http://schemas.openxmlformats.org/drawingml/2006/table">
            <a:tbl>
              <a:tblPr firstRow="0" bandRow="0">
                <a:tableStyleId>{5940675A-B579-460E-94D1-54222C63F5DA}</a:tableStyleId>
              </a:tblPr>
              <a:tblGrid>
                <a:gridCol w="2103120"/>
                <a:gridCol w="914400"/>
                <a:gridCol w="914400"/>
                <a:gridCol w="914400"/>
              </a:tblGrid>
              <a:tr h="310896">
                <a:tc>
                  <a:txBody>
                    <a:bodyPr wrap="square"/>
                    <a:lstStyle/>
                    <a:p>
                      <a:pPr algn="ctr"/>
                      <a:r>
                        <a:rPr sz="950" b="1" i="0">
                          <a:solidFill>
                            <a:srgbClr val="FFFFFF"/>
                          </a:solidFill>
                          <a:latin typeface="游ゴシック"/>
                          <a:ea typeface="游ゴシック"/>
                        </a:rPr>
                        <a:t>資産の部</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0B3041"/>
                    </a:solidFill>
                  </a:tcPr>
                </a:tc>
                <a:tc>
                  <a:txBody>
                    <a:bodyPr wrap="square"/>
                    <a:lstStyle/>
                    <a:p>
                      <a:pPr algn="ctr"/>
                      <a:r>
                        <a:rPr sz="950" b="1" i="0">
                          <a:solidFill>
                            <a:srgbClr val="FFFFFF"/>
                          </a:solidFill>
                          <a:latin typeface="游ゴシック"/>
                          <a:ea typeface="游ゴシック"/>
                        </a:rPr>
                        <a:t>簿価</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0B3041"/>
                    </a:solidFill>
                  </a:tcPr>
                </a:tc>
                <a:tc>
                  <a:txBody>
                    <a:bodyPr wrap="square"/>
                    <a:lstStyle/>
                    <a:p>
                      <a:pPr algn="ctr"/>
                      <a:r>
                        <a:rPr sz="950" b="1" i="0">
                          <a:solidFill>
                            <a:srgbClr val="FFFFFF"/>
                          </a:solidFill>
                          <a:latin typeface="游ゴシック"/>
                          <a:ea typeface="游ゴシック"/>
                        </a:rPr>
                        <a:t>修正額</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0B3041"/>
                    </a:solidFill>
                  </a:tcPr>
                </a:tc>
                <a:tc>
                  <a:txBody>
                    <a:bodyPr wrap="square"/>
                    <a:lstStyle/>
                    <a:p>
                      <a:pPr algn="ctr"/>
                      <a:r>
                        <a:rPr sz="950" b="1" i="0">
                          <a:solidFill>
                            <a:srgbClr val="FFFFFF"/>
                          </a:solidFill>
                          <a:latin typeface="游ゴシック"/>
                          <a:ea typeface="游ゴシック"/>
                        </a:rPr>
                        <a:t>修正後</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0B3041"/>
                    </a:solidFill>
                  </a:tcPr>
                </a:tc>
              </a:tr>
              <a:tr h="310896">
                <a:tc>
                  <a:txBody>
                    <a:bodyPr wrap="square"/>
                    <a:lstStyle/>
                    <a:p>
                      <a:pPr algn="l"/>
                      <a:r>
                        <a:rPr sz="950" b="0" i="0">
                          <a:solidFill>
                            <a:srgbClr val="000000"/>
                          </a:solidFill>
                          <a:latin typeface="游ゴシック"/>
                          <a:ea typeface="游ゴシック"/>
                        </a:rPr>
                        <a:t>現金及び預金（保険積立除く）</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950" b="0" i="0">
                          <a:solidFill>
                            <a:srgbClr val="000000"/>
                          </a:solidFill>
                          <a:latin typeface="Arial"/>
                          <a:ea typeface="游ゴシック"/>
                        </a:rPr>
                        <a:t>66,600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50" b="0" i="0">
                          <a:solidFill>
                            <a:srgbClr val="000000"/>
                          </a:solidFill>
                          <a:latin typeface="Arial"/>
                          <a:ea typeface="游ゴシック"/>
                        </a:rPr>
                        <a:t>-</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50" b="0" i="0">
                          <a:solidFill>
                            <a:srgbClr val="000000"/>
                          </a:solidFill>
                          <a:latin typeface="Arial"/>
                          <a:ea typeface="游ゴシック"/>
                        </a:rPr>
                        <a:t>66,600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310896">
                <a:tc>
                  <a:txBody>
                    <a:bodyPr wrap="square"/>
                    <a:lstStyle/>
                    <a:p>
                      <a:pPr algn="l"/>
                      <a:r>
                        <a:rPr sz="950" b="0" i="0">
                          <a:solidFill>
                            <a:srgbClr val="000000"/>
                          </a:solidFill>
                          <a:latin typeface="游ゴシック"/>
                          <a:ea typeface="游ゴシック"/>
                        </a:rPr>
                        <a:t>売掛金</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950" b="0" i="0">
                          <a:solidFill>
                            <a:srgbClr val="000000"/>
                          </a:solidFill>
                          <a:latin typeface="Arial"/>
                          <a:ea typeface="游ゴシック"/>
                        </a:rPr>
                        <a:t>28,798</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50" b="0" i="0">
                          <a:solidFill>
                            <a:srgbClr val="000000"/>
                          </a:solidFill>
                          <a:latin typeface="Arial"/>
                          <a:ea typeface="游ゴシック"/>
                        </a:rPr>
                        <a:t>-</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50" b="0" i="0">
                          <a:solidFill>
                            <a:srgbClr val="000000"/>
                          </a:solidFill>
                          <a:latin typeface="Arial"/>
                          <a:ea typeface="游ゴシック"/>
                        </a:rPr>
                        <a:t>28,798</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310896">
                <a:tc>
                  <a:txBody>
                    <a:bodyPr wrap="square"/>
                    <a:lstStyle/>
                    <a:p>
                      <a:pPr algn="l"/>
                      <a:r>
                        <a:rPr sz="950" b="0" i="0">
                          <a:solidFill>
                            <a:srgbClr val="000000"/>
                          </a:solidFill>
                          <a:latin typeface="游ゴシック"/>
                          <a:ea typeface="游ゴシック"/>
                        </a:rPr>
                        <a:t>棚卸資産</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950" b="0" i="0">
                          <a:solidFill>
                            <a:srgbClr val="000000"/>
                          </a:solidFill>
                          <a:latin typeface="Arial"/>
                          <a:ea typeface="游ゴシック"/>
                        </a:rPr>
                        <a:t>34,491</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50" b="0" i="0">
                          <a:solidFill>
                            <a:srgbClr val="000000"/>
                          </a:solidFill>
                          <a:latin typeface="Arial"/>
                          <a:ea typeface="游ゴシック"/>
                        </a:rPr>
                        <a:t>-</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50" b="0" i="0">
                          <a:solidFill>
                            <a:srgbClr val="000000"/>
                          </a:solidFill>
                          <a:latin typeface="Arial"/>
                          <a:ea typeface="游ゴシック"/>
                        </a:rPr>
                        <a:t>34,491</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310896">
                <a:tc>
                  <a:txBody>
                    <a:bodyPr wrap="square"/>
                    <a:lstStyle/>
                    <a:p>
                      <a:pPr algn="l"/>
                      <a:r>
                        <a:rPr sz="950" b="0" i="0">
                          <a:solidFill>
                            <a:srgbClr val="000000"/>
                          </a:solidFill>
                          <a:latin typeface="游ゴシック"/>
                          <a:ea typeface="游ゴシック"/>
                        </a:rPr>
                        <a:t>その他流動資産</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950" b="0" i="0">
                          <a:solidFill>
                            <a:srgbClr val="000000"/>
                          </a:solidFill>
                          <a:latin typeface="Arial"/>
                          <a:ea typeface="游ゴシック"/>
                        </a:rPr>
                        <a:t>3,063</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50" b="0" i="0">
                          <a:solidFill>
                            <a:srgbClr val="000000"/>
                          </a:solidFill>
                          <a:latin typeface="Arial"/>
                          <a:ea typeface="游ゴシック"/>
                        </a:rPr>
                        <a:t>-</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50" b="0" i="0">
                          <a:solidFill>
                            <a:srgbClr val="000000"/>
                          </a:solidFill>
                          <a:latin typeface="Arial"/>
                          <a:ea typeface="游ゴシック"/>
                        </a:rPr>
                        <a:t>3,063</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310896">
                <a:tc>
                  <a:txBody>
                    <a:bodyPr wrap="square"/>
                    <a:lstStyle/>
                    <a:p>
                      <a:pPr algn="l"/>
                      <a:r>
                        <a:rPr sz="950" b="0" i="0">
                          <a:solidFill>
                            <a:srgbClr val="000000"/>
                          </a:solidFill>
                          <a:latin typeface="游ゴシック"/>
                          <a:ea typeface="游ゴシック"/>
                        </a:rPr>
                        <a:t>保険積立金</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950" b="0" i="0">
                          <a:solidFill>
                            <a:srgbClr val="000000"/>
                          </a:solidFill>
                          <a:latin typeface="Arial"/>
                          <a:ea typeface="游ゴシック"/>
                        </a:rPr>
                        <a:t>9,362</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50" b="0" i="0">
                          <a:solidFill>
                            <a:srgbClr val="000000"/>
                          </a:solidFill>
                          <a:latin typeface="Arial"/>
                          <a:ea typeface="游ゴシック"/>
                        </a:rPr>
                        <a:t>-</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50" b="0" i="0">
                          <a:solidFill>
                            <a:srgbClr val="000000"/>
                          </a:solidFill>
                          <a:latin typeface="Arial"/>
                          <a:ea typeface="游ゴシック"/>
                        </a:rPr>
                        <a:t>9,362</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310896">
                <a:tc>
                  <a:txBody>
                    <a:bodyPr wrap="square"/>
                    <a:lstStyle/>
                    <a:p>
                      <a:pPr algn="l"/>
                      <a:r>
                        <a:rPr sz="950" b="0" i="0">
                          <a:solidFill>
                            <a:srgbClr val="000000"/>
                          </a:solidFill>
                          <a:latin typeface="游ゴシック"/>
                          <a:ea typeface="游ゴシック"/>
                        </a:rPr>
                        <a:t>建物</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950" b="0" i="0">
                          <a:solidFill>
                            <a:srgbClr val="000000"/>
                          </a:solidFill>
                          <a:latin typeface="Arial"/>
                          <a:ea typeface="游ゴシック"/>
                        </a:rPr>
                        <a:t>259,242</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50" b="0" i="0">
                          <a:solidFill>
                            <a:srgbClr val="000000"/>
                          </a:solidFill>
                          <a:latin typeface="Arial"/>
                          <a:ea typeface="游ゴシック"/>
                        </a:rPr>
                        <a:t>△168,020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50" b="0" i="0">
                          <a:solidFill>
                            <a:srgbClr val="000000"/>
                          </a:solidFill>
                          <a:latin typeface="Arial"/>
                          <a:ea typeface="游ゴシック"/>
                        </a:rPr>
                        <a:t>91,222</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310896">
                <a:tc>
                  <a:txBody>
                    <a:bodyPr wrap="square"/>
                    <a:lstStyle/>
                    <a:p>
                      <a:pPr algn="l"/>
                      <a:r>
                        <a:rPr sz="950" b="0" i="0">
                          <a:solidFill>
                            <a:srgbClr val="000000"/>
                          </a:solidFill>
                          <a:latin typeface="游ゴシック"/>
                          <a:ea typeface="游ゴシック"/>
                        </a:rPr>
                        <a:t>構築物</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950" b="0" i="0">
                          <a:solidFill>
                            <a:srgbClr val="000000"/>
                          </a:solidFill>
                          <a:latin typeface="Arial"/>
                          <a:ea typeface="游ゴシック"/>
                        </a:rPr>
                        <a:t>2,116</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50" b="0" i="0">
                          <a:solidFill>
                            <a:srgbClr val="000000"/>
                          </a:solidFill>
                          <a:latin typeface="Arial"/>
                          <a:ea typeface="游ゴシック"/>
                        </a:rPr>
                        <a:t>△448</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50" b="0" i="0">
                          <a:solidFill>
                            <a:srgbClr val="000000"/>
                          </a:solidFill>
                          <a:latin typeface="Arial"/>
                          <a:ea typeface="游ゴシック"/>
                        </a:rPr>
                        <a:t>1,669</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310896">
                <a:tc>
                  <a:txBody>
                    <a:bodyPr wrap="square"/>
                    <a:lstStyle/>
                    <a:p>
                      <a:pPr algn="l"/>
                      <a:r>
                        <a:rPr sz="950" b="0" i="0">
                          <a:solidFill>
                            <a:srgbClr val="000000"/>
                          </a:solidFill>
                          <a:latin typeface="游ゴシック"/>
                          <a:ea typeface="游ゴシック"/>
                        </a:rPr>
                        <a:t>機械</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950" b="0" i="0">
                          <a:solidFill>
                            <a:srgbClr val="000000"/>
                          </a:solidFill>
                          <a:latin typeface="Arial"/>
                          <a:ea typeface="游ゴシック"/>
                        </a:rPr>
                        <a:t>99,691</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50" b="0" i="0">
                          <a:solidFill>
                            <a:srgbClr val="000000"/>
                          </a:solidFill>
                          <a:latin typeface="Arial"/>
                          <a:ea typeface="游ゴシック"/>
                        </a:rPr>
                        <a:t>△3,092</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50" b="0" i="0">
                          <a:solidFill>
                            <a:srgbClr val="000000"/>
                          </a:solidFill>
                          <a:latin typeface="Arial"/>
                          <a:ea typeface="游ゴシック"/>
                        </a:rPr>
                        <a:t>96,599</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310896">
                <a:tc>
                  <a:txBody>
                    <a:bodyPr wrap="square"/>
                    <a:lstStyle/>
                    <a:p>
                      <a:pPr algn="l"/>
                      <a:r>
                        <a:rPr sz="950" b="0" i="0">
                          <a:solidFill>
                            <a:srgbClr val="000000"/>
                          </a:solidFill>
                          <a:latin typeface="游ゴシック"/>
                          <a:ea typeface="游ゴシック"/>
                        </a:rPr>
                        <a:t>車両運搬具・器具備品</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950" b="0" i="0">
                          <a:solidFill>
                            <a:srgbClr val="000000"/>
                          </a:solidFill>
                          <a:latin typeface="Arial"/>
                          <a:ea typeface="游ゴシック"/>
                        </a:rPr>
                        <a:t>8,224</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50" b="0" i="0">
                          <a:solidFill>
                            <a:srgbClr val="000000"/>
                          </a:solidFill>
                          <a:latin typeface="Arial"/>
                          <a:ea typeface="游ゴシック"/>
                        </a:rPr>
                        <a:t>-</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50" b="0" i="0">
                          <a:solidFill>
                            <a:srgbClr val="000000"/>
                          </a:solidFill>
                          <a:latin typeface="Arial"/>
                          <a:ea typeface="游ゴシック"/>
                        </a:rPr>
                        <a:t>8,224</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310896">
                <a:tc>
                  <a:txBody>
                    <a:bodyPr wrap="square"/>
                    <a:lstStyle/>
                    <a:p>
                      <a:pPr algn="l"/>
                      <a:r>
                        <a:rPr sz="950" b="0" i="0">
                          <a:solidFill>
                            <a:srgbClr val="000000"/>
                          </a:solidFill>
                          <a:latin typeface="游ゴシック"/>
                          <a:ea typeface="游ゴシック"/>
                        </a:rPr>
                        <a:t>土地</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950" b="0" i="0">
                          <a:solidFill>
                            <a:srgbClr val="000000"/>
                          </a:solidFill>
                          <a:latin typeface="Arial"/>
                          <a:ea typeface="游ゴシック"/>
                        </a:rPr>
                        <a:t>40,442</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50" b="0" i="0">
                          <a:solidFill>
                            <a:srgbClr val="000000"/>
                          </a:solidFill>
                          <a:latin typeface="Arial"/>
                          <a:ea typeface="游ゴシック"/>
                        </a:rPr>
                        <a:t>40,830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50" b="0" i="0">
                          <a:solidFill>
                            <a:srgbClr val="000000"/>
                          </a:solidFill>
                          <a:latin typeface="Arial"/>
                          <a:ea typeface="游ゴシック"/>
                        </a:rPr>
                        <a:t>81,272</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310896">
                <a:tc>
                  <a:txBody>
                    <a:bodyPr wrap="square"/>
                    <a:lstStyle/>
                    <a:p>
                      <a:pPr algn="l"/>
                      <a:r>
                        <a:rPr sz="950" b="0" i="0">
                          <a:solidFill>
                            <a:srgbClr val="000000"/>
                          </a:solidFill>
                          <a:latin typeface="游ゴシック"/>
                          <a:ea typeface="游ゴシック"/>
                        </a:rPr>
                        <a:t>特許商標権</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950" b="0" i="0">
                          <a:solidFill>
                            <a:srgbClr val="000000"/>
                          </a:solidFill>
                          <a:latin typeface="Arial"/>
                          <a:ea typeface="游ゴシック"/>
                        </a:rPr>
                        <a:t>354</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50" b="0" i="0">
                          <a:solidFill>
                            <a:srgbClr val="000000"/>
                          </a:solidFill>
                          <a:latin typeface="Arial"/>
                          <a:ea typeface="游ゴシック"/>
                        </a:rPr>
                        <a:t>-</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50" b="0" i="0">
                          <a:solidFill>
                            <a:srgbClr val="000000"/>
                          </a:solidFill>
                          <a:latin typeface="Arial"/>
                          <a:ea typeface="游ゴシック"/>
                        </a:rPr>
                        <a:t>354</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310896">
                <a:tc>
                  <a:txBody>
                    <a:bodyPr wrap="square"/>
                    <a:lstStyle/>
                    <a:p>
                      <a:pPr algn="l"/>
                      <a:r>
                        <a:rPr sz="950" b="0" i="0">
                          <a:solidFill>
                            <a:srgbClr val="000000"/>
                          </a:solidFill>
                          <a:latin typeface="游ゴシック"/>
                          <a:ea typeface="游ゴシック"/>
                        </a:rPr>
                        <a:t>出資金</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950" b="0" i="0">
                          <a:solidFill>
                            <a:srgbClr val="000000"/>
                          </a:solidFill>
                          <a:latin typeface="Arial"/>
                          <a:ea typeface="游ゴシック"/>
                        </a:rPr>
                        <a:t>820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50" b="0" i="0">
                          <a:solidFill>
                            <a:srgbClr val="000000"/>
                          </a:solidFill>
                          <a:latin typeface="Arial"/>
                          <a:ea typeface="游ゴシック"/>
                        </a:rPr>
                        <a:t>-</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50" b="0" i="0">
                          <a:solidFill>
                            <a:srgbClr val="000000"/>
                          </a:solidFill>
                          <a:latin typeface="Arial"/>
                          <a:ea typeface="游ゴシック"/>
                        </a:rPr>
                        <a:t>820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310896">
                <a:tc>
                  <a:txBody>
                    <a:bodyPr wrap="square"/>
                    <a:lstStyle/>
                    <a:p>
                      <a:pPr algn="l"/>
                      <a:r>
                        <a:rPr sz="950" b="1" i="0">
                          <a:solidFill>
                            <a:srgbClr val="000000"/>
                          </a:solidFill>
                          <a:latin typeface="游ゴシック"/>
                          <a:ea typeface="游ゴシック"/>
                        </a:rPr>
                        <a:t>資産合計</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c>
                  <a:txBody>
                    <a:bodyPr wrap="square"/>
                    <a:lstStyle/>
                    <a:p>
                      <a:pPr algn="r"/>
                      <a:r>
                        <a:rPr sz="950" b="1" i="0">
                          <a:solidFill>
                            <a:srgbClr val="000000"/>
                          </a:solidFill>
                          <a:latin typeface="Arial"/>
                          <a:ea typeface="游ゴシック"/>
                        </a:rPr>
                        <a:t>553,204</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c>
                  <a:txBody>
                    <a:bodyPr wrap="square"/>
                    <a:lstStyle/>
                    <a:p>
                      <a:pPr algn="r"/>
                      <a:r>
                        <a:rPr sz="950" b="1" i="0">
                          <a:solidFill>
                            <a:srgbClr val="000000"/>
                          </a:solidFill>
                          <a:latin typeface="Arial"/>
                          <a:ea typeface="游ゴシック"/>
                        </a:rPr>
                        <a:t>△130,730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c>
                  <a:txBody>
                    <a:bodyPr wrap="square"/>
                    <a:lstStyle/>
                    <a:p>
                      <a:pPr algn="r"/>
                      <a:r>
                        <a:rPr sz="950" b="1" i="0">
                          <a:solidFill>
                            <a:srgbClr val="000000"/>
                          </a:solidFill>
                          <a:latin typeface="Arial"/>
                          <a:ea typeface="游ゴシック"/>
                        </a:rPr>
                        <a:t>422,474</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r>
            </a:tbl>
          </a:graphicData>
        </a:graphic>
      </p:graphicFrame>
      <p:graphicFrame>
        <p:nvGraphicFramePr>
          <p:cNvPr id="7" name="Table 6"/>
          <p:cNvGraphicFramePr>
            <a:graphicFrameLocks noGrp="1"/>
          </p:cNvGraphicFramePr>
          <p:nvPr/>
        </p:nvGraphicFramePr>
        <p:xfrm>
          <a:off x="5440680" y="1481328"/>
          <a:ext cx="4892040" cy="3419856"/>
        </p:xfrm>
        <a:graphic>
          <a:graphicData uri="http://schemas.openxmlformats.org/drawingml/2006/table">
            <a:tbl>
              <a:tblPr firstRow="0" bandRow="0">
                <a:tableStyleId>{5940675A-B579-460E-94D1-54222C63F5DA}</a:tableStyleId>
              </a:tblPr>
              <a:tblGrid>
                <a:gridCol w="2148840"/>
                <a:gridCol w="914400"/>
                <a:gridCol w="914400"/>
                <a:gridCol w="914400"/>
              </a:tblGrid>
              <a:tr h="310896">
                <a:tc>
                  <a:txBody>
                    <a:bodyPr wrap="square"/>
                    <a:lstStyle/>
                    <a:p>
                      <a:pPr algn="ctr"/>
                      <a:r>
                        <a:rPr sz="950" b="1" i="0">
                          <a:solidFill>
                            <a:srgbClr val="FFFFFF"/>
                          </a:solidFill>
                          <a:latin typeface="游ゴシック"/>
                          <a:ea typeface="游ゴシック"/>
                        </a:rPr>
                        <a:t>負債・純資産の部</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0B3041"/>
                    </a:solidFill>
                  </a:tcPr>
                </a:tc>
                <a:tc>
                  <a:txBody>
                    <a:bodyPr wrap="square"/>
                    <a:lstStyle/>
                    <a:p>
                      <a:pPr algn="ctr"/>
                      <a:r>
                        <a:rPr sz="950" b="1" i="0">
                          <a:solidFill>
                            <a:srgbClr val="FFFFFF"/>
                          </a:solidFill>
                          <a:latin typeface="游ゴシック"/>
                          <a:ea typeface="游ゴシック"/>
                        </a:rPr>
                        <a:t>簿価</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0B3041"/>
                    </a:solidFill>
                  </a:tcPr>
                </a:tc>
                <a:tc>
                  <a:txBody>
                    <a:bodyPr wrap="square"/>
                    <a:lstStyle/>
                    <a:p>
                      <a:pPr algn="ctr"/>
                      <a:r>
                        <a:rPr sz="950" b="1" i="0">
                          <a:solidFill>
                            <a:srgbClr val="FFFFFF"/>
                          </a:solidFill>
                          <a:latin typeface="游ゴシック"/>
                          <a:ea typeface="游ゴシック"/>
                        </a:rPr>
                        <a:t>修正額</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0B3041"/>
                    </a:solidFill>
                  </a:tcPr>
                </a:tc>
                <a:tc>
                  <a:txBody>
                    <a:bodyPr wrap="square"/>
                    <a:lstStyle/>
                    <a:p>
                      <a:pPr algn="ctr"/>
                      <a:r>
                        <a:rPr sz="950" b="1" i="0">
                          <a:solidFill>
                            <a:srgbClr val="FFFFFF"/>
                          </a:solidFill>
                          <a:latin typeface="游ゴシック"/>
                          <a:ea typeface="游ゴシック"/>
                        </a:rPr>
                        <a:t>修正後</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0B3041"/>
                    </a:solidFill>
                  </a:tcPr>
                </a:tc>
              </a:tr>
              <a:tr h="310896">
                <a:tc>
                  <a:txBody>
                    <a:bodyPr wrap="square"/>
                    <a:lstStyle/>
                    <a:p>
                      <a:pPr algn="l"/>
                      <a:r>
                        <a:rPr sz="950" b="0" i="0">
                          <a:solidFill>
                            <a:srgbClr val="000000"/>
                          </a:solidFill>
                          <a:latin typeface="游ゴシック"/>
                          <a:ea typeface="游ゴシック"/>
                        </a:rPr>
                        <a:t>支払手形・買掛金</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950" b="0" i="0">
                          <a:solidFill>
                            <a:srgbClr val="000000"/>
                          </a:solidFill>
                          <a:latin typeface="Arial"/>
                          <a:ea typeface="游ゴシック"/>
                        </a:rPr>
                        <a:t>24,494</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50" b="0" i="0">
                          <a:solidFill>
                            <a:srgbClr val="000000"/>
                          </a:solidFill>
                          <a:latin typeface="Arial"/>
                          <a:ea typeface="游ゴシック"/>
                        </a:rPr>
                        <a:t>-</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50" b="0" i="0">
                          <a:solidFill>
                            <a:srgbClr val="000000"/>
                          </a:solidFill>
                          <a:latin typeface="Arial"/>
                          <a:ea typeface="游ゴシック"/>
                        </a:rPr>
                        <a:t>24,494</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310896">
                <a:tc>
                  <a:txBody>
                    <a:bodyPr wrap="square"/>
                    <a:lstStyle/>
                    <a:p>
                      <a:pPr algn="l"/>
                      <a:r>
                        <a:rPr sz="950" b="0" i="0">
                          <a:solidFill>
                            <a:srgbClr val="000000"/>
                          </a:solidFill>
                          <a:latin typeface="游ゴシック"/>
                          <a:ea typeface="游ゴシック"/>
                        </a:rPr>
                        <a:t>借入金（短期・長期）</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950" b="0" i="0">
                          <a:solidFill>
                            <a:srgbClr val="000000"/>
                          </a:solidFill>
                          <a:latin typeface="Arial"/>
                          <a:ea typeface="游ゴシック"/>
                        </a:rPr>
                        <a:t>461,024</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50" b="0" i="0">
                          <a:solidFill>
                            <a:srgbClr val="000000"/>
                          </a:solidFill>
                          <a:latin typeface="Arial"/>
                          <a:ea typeface="游ゴシック"/>
                        </a:rPr>
                        <a:t>-</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50" b="0" i="0">
                          <a:solidFill>
                            <a:srgbClr val="000000"/>
                          </a:solidFill>
                          <a:latin typeface="Arial"/>
                          <a:ea typeface="游ゴシック"/>
                        </a:rPr>
                        <a:t>461,024</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310896">
                <a:tc>
                  <a:txBody>
                    <a:bodyPr wrap="square"/>
                    <a:lstStyle/>
                    <a:p>
                      <a:pPr algn="l"/>
                      <a:r>
                        <a:rPr sz="950" b="0" i="0">
                          <a:solidFill>
                            <a:srgbClr val="000000"/>
                          </a:solidFill>
                          <a:latin typeface="游ゴシック"/>
                          <a:ea typeface="游ゴシック"/>
                        </a:rPr>
                        <a:t>未払金</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950" b="0" i="0">
                          <a:solidFill>
                            <a:srgbClr val="000000"/>
                          </a:solidFill>
                          <a:latin typeface="Arial"/>
                          <a:ea typeface="游ゴシック"/>
                        </a:rPr>
                        <a:t>15,721</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50" b="0" i="0">
                          <a:solidFill>
                            <a:srgbClr val="000000"/>
                          </a:solidFill>
                          <a:latin typeface="Arial"/>
                          <a:ea typeface="游ゴシック"/>
                        </a:rPr>
                        <a:t>-</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50" b="0" i="0">
                          <a:solidFill>
                            <a:srgbClr val="000000"/>
                          </a:solidFill>
                          <a:latin typeface="Arial"/>
                          <a:ea typeface="游ゴシック"/>
                        </a:rPr>
                        <a:t>15,721</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310896">
                <a:tc>
                  <a:txBody>
                    <a:bodyPr wrap="square"/>
                    <a:lstStyle/>
                    <a:p>
                      <a:pPr algn="l"/>
                      <a:r>
                        <a:rPr sz="950" b="0" i="0">
                          <a:solidFill>
                            <a:srgbClr val="000000"/>
                          </a:solidFill>
                          <a:latin typeface="游ゴシック"/>
                          <a:ea typeface="游ゴシック"/>
                        </a:rPr>
                        <a:t>未払法人税等</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950" b="0" i="0">
                          <a:solidFill>
                            <a:srgbClr val="000000"/>
                          </a:solidFill>
                          <a:latin typeface="Arial"/>
                          <a:ea typeface="游ゴシック"/>
                        </a:rPr>
                        <a:t>487</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50" b="0" i="0">
                          <a:solidFill>
                            <a:srgbClr val="000000"/>
                          </a:solidFill>
                          <a:latin typeface="Arial"/>
                          <a:ea typeface="游ゴシック"/>
                        </a:rPr>
                        <a:t>-</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50" b="0" i="0">
                          <a:solidFill>
                            <a:srgbClr val="000000"/>
                          </a:solidFill>
                          <a:latin typeface="Arial"/>
                          <a:ea typeface="游ゴシック"/>
                        </a:rPr>
                        <a:t>487</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310896">
                <a:tc>
                  <a:txBody>
                    <a:bodyPr wrap="square"/>
                    <a:lstStyle/>
                    <a:p>
                      <a:pPr algn="l"/>
                      <a:r>
                        <a:rPr sz="950" b="0" i="0">
                          <a:solidFill>
                            <a:srgbClr val="000000"/>
                          </a:solidFill>
                          <a:latin typeface="游ゴシック"/>
                          <a:ea typeface="游ゴシック"/>
                        </a:rPr>
                        <a:t>その他流動負債</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950" b="0" i="0">
                          <a:solidFill>
                            <a:srgbClr val="000000"/>
                          </a:solidFill>
                          <a:latin typeface="Arial"/>
                          <a:ea typeface="游ゴシック"/>
                        </a:rPr>
                        <a:t>2,190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50" b="0" i="0">
                          <a:solidFill>
                            <a:srgbClr val="000000"/>
                          </a:solidFill>
                          <a:latin typeface="Arial"/>
                          <a:ea typeface="游ゴシック"/>
                        </a:rPr>
                        <a:t>-</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50" b="0" i="0">
                          <a:solidFill>
                            <a:srgbClr val="000000"/>
                          </a:solidFill>
                          <a:latin typeface="Arial"/>
                          <a:ea typeface="游ゴシック"/>
                        </a:rPr>
                        <a:t>2,190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310896">
                <a:tc>
                  <a:txBody>
                    <a:bodyPr wrap="square"/>
                    <a:lstStyle/>
                    <a:p>
                      <a:pPr algn="l"/>
                      <a:r>
                        <a:rPr sz="950" b="0" i="0">
                          <a:solidFill>
                            <a:srgbClr val="000000"/>
                          </a:solidFill>
                          <a:latin typeface="游ゴシック"/>
                          <a:ea typeface="游ゴシック"/>
                        </a:rPr>
                        <a:t>賞与引当金</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950" b="0" i="0">
                          <a:solidFill>
                            <a:srgbClr val="000000"/>
                          </a:solidFill>
                          <a:latin typeface="Arial"/>
                          <a:ea typeface="游ゴシック"/>
                        </a:rPr>
                        <a:t>-</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50" b="0" i="0">
                          <a:solidFill>
                            <a:srgbClr val="000000"/>
                          </a:solidFill>
                          <a:latin typeface="Arial"/>
                          <a:ea typeface="游ゴシック"/>
                        </a:rPr>
                        <a:t>-</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50" b="0" i="0">
                          <a:solidFill>
                            <a:srgbClr val="000000"/>
                          </a:solidFill>
                          <a:latin typeface="Arial"/>
                          <a:ea typeface="游ゴシック"/>
                        </a:rPr>
                        <a:t>-</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310896">
                <a:tc>
                  <a:txBody>
                    <a:bodyPr wrap="square"/>
                    <a:lstStyle/>
                    <a:p>
                      <a:pPr algn="l"/>
                      <a:r>
                        <a:rPr sz="950" b="0" i="0">
                          <a:solidFill>
                            <a:srgbClr val="000000"/>
                          </a:solidFill>
                          <a:latin typeface="游ゴシック"/>
                          <a:ea typeface="游ゴシック"/>
                        </a:rPr>
                        <a:t>退職給付引当金</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950" b="0" i="0">
                          <a:solidFill>
                            <a:srgbClr val="000000"/>
                          </a:solidFill>
                          <a:latin typeface="Arial"/>
                          <a:ea typeface="游ゴシック"/>
                        </a:rPr>
                        <a:t>-</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50" b="0" i="0">
                          <a:solidFill>
                            <a:srgbClr val="000000"/>
                          </a:solidFill>
                          <a:latin typeface="Arial"/>
                          <a:ea typeface="游ゴシック"/>
                        </a:rPr>
                        <a:t>-</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50" b="0" i="0">
                          <a:solidFill>
                            <a:srgbClr val="000000"/>
                          </a:solidFill>
                          <a:latin typeface="Arial"/>
                          <a:ea typeface="游ゴシック"/>
                        </a:rPr>
                        <a:t>-</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310896">
                <a:tc>
                  <a:txBody>
                    <a:bodyPr wrap="square"/>
                    <a:lstStyle/>
                    <a:p>
                      <a:pPr algn="l"/>
                      <a:r>
                        <a:rPr sz="950" b="1" i="0">
                          <a:solidFill>
                            <a:srgbClr val="000000"/>
                          </a:solidFill>
                          <a:latin typeface="游ゴシック"/>
                          <a:ea typeface="游ゴシック"/>
                        </a:rPr>
                        <a:t>負債合計</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950" b="1" i="0">
                          <a:solidFill>
                            <a:srgbClr val="000000"/>
                          </a:solidFill>
                          <a:latin typeface="Arial"/>
                          <a:ea typeface="游ゴシック"/>
                        </a:rPr>
                        <a:t>503,916</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950" b="1" i="0">
                          <a:solidFill>
                            <a:srgbClr val="000000"/>
                          </a:solidFill>
                          <a:latin typeface="Arial"/>
                          <a:ea typeface="游ゴシック"/>
                        </a:rPr>
                        <a:t>-</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950" b="1" i="0">
                          <a:solidFill>
                            <a:srgbClr val="000000"/>
                          </a:solidFill>
                          <a:latin typeface="Arial"/>
                          <a:ea typeface="游ゴシック"/>
                        </a:rPr>
                        <a:t>503,916</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r>
              <a:tr h="310896">
                <a:tc>
                  <a:txBody>
                    <a:bodyPr wrap="square"/>
                    <a:lstStyle/>
                    <a:p>
                      <a:pPr algn="l"/>
                      <a:r>
                        <a:rPr sz="950" b="0" i="0">
                          <a:solidFill>
                            <a:srgbClr val="000000"/>
                          </a:solidFill>
                          <a:latin typeface="游ゴシック"/>
                          <a:ea typeface="游ゴシック"/>
                        </a:rPr>
                        <a:t>評価差額に係る税効果</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950" b="0" i="0">
                          <a:solidFill>
                            <a:srgbClr val="000000"/>
                          </a:solidFill>
                          <a:latin typeface="Arial"/>
                          <a:ea typeface="游ゴシック"/>
                        </a:rPr>
                        <a:t>-</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50" b="0" i="0">
                          <a:solidFill>
                            <a:srgbClr val="000000"/>
                          </a:solidFill>
                          <a:latin typeface="Arial"/>
                          <a:ea typeface="游ゴシック"/>
                        </a:rPr>
                        <a:t>-</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50" b="0" i="0">
                          <a:solidFill>
                            <a:srgbClr val="000000"/>
                          </a:solidFill>
                          <a:latin typeface="Arial"/>
                          <a:ea typeface="游ゴシック"/>
                        </a:rPr>
                        <a:t>-</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310896">
                <a:tc>
                  <a:txBody>
                    <a:bodyPr wrap="square"/>
                    <a:lstStyle/>
                    <a:p>
                      <a:pPr algn="l"/>
                      <a:r>
                        <a:rPr sz="950" b="1" i="0">
                          <a:solidFill>
                            <a:srgbClr val="000000"/>
                          </a:solidFill>
                          <a:latin typeface="游ゴシック"/>
                          <a:ea typeface="游ゴシック"/>
                        </a:rPr>
                        <a:t>純資産（時価純資産）</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c>
                  <a:txBody>
                    <a:bodyPr wrap="square"/>
                    <a:lstStyle/>
                    <a:p>
                      <a:pPr algn="r"/>
                      <a:r>
                        <a:rPr sz="950" b="1" i="0">
                          <a:solidFill>
                            <a:srgbClr val="000000"/>
                          </a:solidFill>
                          <a:latin typeface="Arial"/>
                          <a:ea typeface="游ゴシック"/>
                        </a:rPr>
                        <a:t>49,288</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c>
                  <a:txBody>
                    <a:bodyPr wrap="square"/>
                    <a:lstStyle/>
                    <a:p>
                      <a:pPr algn="r"/>
                      <a:r>
                        <a:rPr sz="950" b="1" i="0">
                          <a:solidFill>
                            <a:srgbClr val="000000"/>
                          </a:solidFill>
                          <a:latin typeface="Arial"/>
                          <a:ea typeface="游ゴシック"/>
                        </a:rPr>
                        <a:t>△130,730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c>
                  <a:txBody>
                    <a:bodyPr wrap="square"/>
                    <a:lstStyle/>
                    <a:p>
                      <a:pPr algn="r"/>
                      <a:r>
                        <a:rPr sz="950" b="1" i="0">
                          <a:solidFill>
                            <a:srgbClr val="000000"/>
                          </a:solidFill>
                          <a:latin typeface="Arial"/>
                          <a:ea typeface="游ゴシック"/>
                        </a:rPr>
                        <a:t>△81,442</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r>
            </a:tbl>
          </a:graphicData>
        </a:graphic>
      </p:graphicFrame>
      <p:sp>
        <p:nvSpPr>
          <p:cNvPr id="8" name="TextBox 7"/>
          <p:cNvSpPr txBox="1"/>
          <p:nvPr/>
        </p:nvSpPr>
        <p:spPr>
          <a:xfrm>
            <a:off x="8686800" y="1298448"/>
            <a:ext cx="1645920" cy="182880"/>
          </a:xfrm>
          <a:prstGeom prst="rect">
            <a:avLst/>
          </a:prstGeom>
          <a:noFill/>
        </p:spPr>
        <p:txBody>
          <a:bodyPr wrap="square" anchor="t" lIns="18288" rIns="18288" tIns="18288" bIns="18288"/>
          <a:lstStyle/>
          <a:p>
            <a:pPr algn="r"/>
            <a:r>
              <a:rPr sz="800" b="0" i="0">
                <a:solidFill>
                  <a:srgbClr val="404040"/>
                </a:solidFill>
                <a:latin typeface="游ゴシック"/>
                <a:ea typeface="游ゴシック"/>
              </a:rPr>
              <a:t>（単位：千円）</a:t>
            </a:r>
          </a:p>
        </p:txBody>
      </p:sp>
      <p:sp>
        <p:nvSpPr>
          <p:cNvPr id="9" name="TextBox 8"/>
          <p:cNvSpPr txBox="1"/>
          <p:nvPr/>
        </p:nvSpPr>
        <p:spPr>
          <a:xfrm>
            <a:off x="338328" y="5989320"/>
            <a:ext cx="9966960" cy="182880"/>
          </a:xfrm>
          <a:prstGeom prst="rect">
            <a:avLst/>
          </a:prstGeom>
          <a:noFill/>
        </p:spPr>
        <p:txBody>
          <a:bodyPr wrap="square" anchor="t" lIns="18288" rIns="18288" tIns="18288" bIns="18288"/>
          <a:lstStyle/>
          <a:p>
            <a:pPr algn="l"/>
            <a:r>
              <a:rPr sz="800" b="0" i="0">
                <a:solidFill>
                  <a:srgbClr val="404040"/>
                </a:solidFill>
                <a:latin typeface="游ゴシック Medium"/>
                <a:ea typeface="游ゴシック Medium"/>
              </a:rPr>
              <a:t>※借入金には代表者借入14,000千円・日本政策金融公庫の資本性ローン105,420千円を含む。評価上はいずれも有利子負債として扱う。</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a:lstStyle/>
          <a:p>
            <a:r>
              <a:t>キャッシュライク75,962千円に対し、デットライク461,511千円。ネットデットは385,549千円。</a:t>
            </a:r>
          </a:p>
        </p:txBody>
      </p:sp>
      <p:sp>
        <p:nvSpPr>
          <p:cNvPr id="3" name="Title 2"/>
          <p:cNvSpPr>
            <a:spLocks noGrp="1"/>
          </p:cNvSpPr>
          <p:nvPr>
            <p:ph type="ctrTitle"/>
          </p:nvPr>
        </p:nvSpPr>
        <p:spPr/>
        <p:txBody>
          <a:bodyPr/>
          <a:lstStyle/>
          <a:p>
            <a:r>
              <a:t>ネットキャッシュの算定</a:t>
            </a:r>
          </a:p>
        </p:txBody>
      </p:sp>
      <p:sp>
        <p:nvSpPr>
          <p:cNvPr id="5" name="タイトル 1">
            <a:extLst>
              <a:ext uri="{FF2B5EF4-FFF2-40B4-BE49-F238E27FC236}">
                <a16:creationId xmlns:a16="http://schemas.microsoft.com/office/drawing/2014/main" id="{4F103961-B26C-39D9-FB80-02B45E98D11A}"/>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財務分析（B/S）</a:t>
            </a:r>
          </a:p>
        </p:txBody>
      </p:sp>
      <p:graphicFrame>
        <p:nvGraphicFramePr>
          <p:cNvPr id="6" name="Table 5"/>
          <p:cNvGraphicFramePr>
            <a:graphicFrameLocks noGrp="1"/>
          </p:cNvGraphicFramePr>
          <p:nvPr/>
        </p:nvGraphicFramePr>
        <p:xfrm>
          <a:off x="338328" y="1481328"/>
          <a:ext cx="10012680" cy="3291840"/>
        </p:xfrm>
        <a:graphic>
          <a:graphicData uri="http://schemas.openxmlformats.org/drawingml/2006/table">
            <a:tbl>
              <a:tblPr firstRow="0" bandRow="0">
                <a:tableStyleId>{5940675A-B579-460E-94D1-54222C63F5DA}</a:tableStyleId>
              </a:tblPr>
              <a:tblGrid>
                <a:gridCol w="1371600"/>
                <a:gridCol w="2926080"/>
                <a:gridCol w="1280160"/>
                <a:gridCol w="4434840"/>
              </a:tblGrid>
              <a:tr h="365760">
                <a:tc>
                  <a:txBody>
                    <a:bodyPr wrap="square"/>
                    <a:lstStyle/>
                    <a:p>
                      <a:pPr algn="ctr"/>
                      <a:r>
                        <a:rPr sz="950" b="1" i="0">
                          <a:solidFill>
                            <a:srgbClr val="FFFFFF"/>
                          </a:solidFill>
                          <a:latin typeface="游ゴシック"/>
                          <a:ea typeface="游ゴシック"/>
                        </a:rPr>
                        <a:t>区分</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0B3041"/>
                    </a:solidFill>
                  </a:tcPr>
                </a:tc>
                <a:tc>
                  <a:txBody>
                    <a:bodyPr wrap="square"/>
                    <a:lstStyle/>
                    <a:p>
                      <a:pPr algn="ctr"/>
                      <a:r>
                        <a:rPr sz="950" b="1" i="0">
                          <a:solidFill>
                            <a:srgbClr val="FFFFFF"/>
                          </a:solidFill>
                          <a:latin typeface="游ゴシック"/>
                          <a:ea typeface="游ゴシック"/>
                        </a:rPr>
                        <a:t>項目</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0B3041"/>
                    </a:solidFill>
                  </a:tcPr>
                </a:tc>
                <a:tc>
                  <a:txBody>
                    <a:bodyPr wrap="square"/>
                    <a:lstStyle/>
                    <a:p>
                      <a:pPr algn="ctr"/>
                      <a:r>
                        <a:rPr sz="950" b="1" i="0">
                          <a:solidFill>
                            <a:srgbClr val="FFFFFF"/>
                          </a:solidFill>
                          <a:latin typeface="游ゴシック"/>
                          <a:ea typeface="游ゴシック"/>
                        </a:rPr>
                        <a:t>金額（千円）</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0B3041"/>
                    </a:solidFill>
                  </a:tcPr>
                </a:tc>
                <a:tc>
                  <a:txBody>
                    <a:bodyPr wrap="square"/>
                    <a:lstStyle/>
                    <a:p>
                      <a:pPr algn="ctr"/>
                      <a:r>
                        <a:rPr sz="950" b="1" i="0">
                          <a:solidFill>
                            <a:srgbClr val="FFFFFF"/>
                          </a:solidFill>
                          <a:latin typeface="游ゴシック"/>
                          <a:ea typeface="游ゴシック"/>
                        </a:rPr>
                        <a:t>判断根拠</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0B3041"/>
                    </a:solidFill>
                  </a:tcPr>
                </a:tc>
              </a:tr>
              <a:tr h="365760">
                <a:tc>
                  <a:txBody>
                    <a:bodyPr wrap="square"/>
                    <a:lstStyle/>
                    <a:p>
                      <a:pPr algn="l"/>
                      <a:r>
                        <a:rPr sz="950" b="0" i="0">
                          <a:solidFill>
                            <a:srgbClr val="000000"/>
                          </a:solidFill>
                          <a:latin typeface="游ゴシック"/>
                          <a:ea typeface="游ゴシック"/>
                        </a:rPr>
                        <a:t>キャッシュライク</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l"/>
                      <a:r>
                        <a:rPr sz="950" b="0" i="0">
                          <a:solidFill>
                            <a:srgbClr val="000000"/>
                          </a:solidFill>
                          <a:latin typeface="游ゴシック"/>
                          <a:ea typeface="游ゴシック"/>
                        </a:rPr>
                        <a:t>現金及び預金（保険積立除く）</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50" b="0" i="0">
                          <a:solidFill>
                            <a:srgbClr val="000000"/>
                          </a:solidFill>
                          <a:latin typeface="Arial"/>
                          <a:ea typeface="游ゴシック"/>
                        </a:rPr>
                        <a:t>66,600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l"/>
                      <a:r>
                        <a:rPr sz="950" b="0" i="0">
                          <a:solidFill>
                            <a:srgbClr val="000000"/>
                          </a:solidFill>
                          <a:latin typeface="游ゴシック"/>
                          <a:ea typeface="游ゴシック"/>
                        </a:rPr>
                        <a:t>キャッシュライク</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365760">
                <a:tc>
                  <a:txBody>
                    <a:bodyPr wrap="square"/>
                    <a:lstStyle/>
                    <a:p>
                      <a:pPr algn="l"/>
                      <a:r>
                        <a:rPr sz="950" b="0" i="0">
                          <a:solidFill>
                            <a:srgbClr val="000000"/>
                          </a:solidFill>
                          <a:latin typeface="游ゴシック"/>
                          <a:ea typeface="游ゴシック"/>
                        </a:rPr>
                        <a:t>　</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l"/>
                      <a:r>
                        <a:rPr sz="950" b="0" i="0">
                          <a:solidFill>
                            <a:srgbClr val="000000"/>
                          </a:solidFill>
                          <a:latin typeface="游ゴシック"/>
                          <a:ea typeface="游ゴシック"/>
                        </a:rPr>
                        <a:t>保険積立金</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50" b="0" i="0">
                          <a:solidFill>
                            <a:srgbClr val="000000"/>
                          </a:solidFill>
                          <a:latin typeface="Arial"/>
                          <a:ea typeface="游ゴシック"/>
                        </a:rPr>
                        <a:t>9,362</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l"/>
                      <a:r>
                        <a:rPr sz="950" b="0" i="0">
                          <a:solidFill>
                            <a:srgbClr val="000000"/>
                          </a:solidFill>
                          <a:latin typeface="游ゴシック"/>
                          <a:ea typeface="游ゴシック"/>
                        </a:rPr>
                        <a:t>換金可能な非事業用資産としてキャッシュライク（解約返戻金で要更新）</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365760">
                <a:tc>
                  <a:txBody>
                    <a:bodyPr wrap="square"/>
                    <a:lstStyle/>
                    <a:p>
                      <a:pPr algn="l"/>
                      <a:r>
                        <a:rPr sz="950" b="1" i="0">
                          <a:solidFill>
                            <a:srgbClr val="000000"/>
                          </a:solidFill>
                          <a:latin typeface="游ゴシック"/>
                          <a:ea typeface="游ゴシック"/>
                        </a:rPr>
                        <a:t>　</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l"/>
                      <a:r>
                        <a:rPr sz="950" b="1" i="0">
                          <a:solidFill>
                            <a:srgbClr val="000000"/>
                          </a:solidFill>
                          <a:latin typeface="游ゴシック"/>
                          <a:ea typeface="游ゴシック"/>
                        </a:rPr>
                        <a:t>キャッシュライク計</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950" b="1" i="0">
                          <a:solidFill>
                            <a:srgbClr val="000000"/>
                          </a:solidFill>
                          <a:latin typeface="Arial"/>
                          <a:ea typeface="游ゴシック"/>
                        </a:rPr>
                        <a:t>75,962</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l"/>
                      <a:r>
                        <a:rPr sz="950" b="1" i="0">
                          <a:solidFill>
                            <a:srgbClr val="000000"/>
                          </a:solidFill>
                          <a:latin typeface="游ゴシック"/>
                          <a:ea typeface="游ゴシック"/>
                        </a:rPr>
                        <a:t>　</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r>
              <a:tr h="365760">
                <a:tc>
                  <a:txBody>
                    <a:bodyPr wrap="square"/>
                    <a:lstStyle/>
                    <a:p>
                      <a:pPr algn="l"/>
                      <a:r>
                        <a:rPr sz="950" b="0" i="0">
                          <a:solidFill>
                            <a:srgbClr val="000000"/>
                          </a:solidFill>
                          <a:latin typeface="游ゴシック"/>
                          <a:ea typeface="游ゴシック"/>
                        </a:rPr>
                        <a:t>デットライク</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l"/>
                      <a:r>
                        <a:rPr sz="950" b="0" i="0">
                          <a:solidFill>
                            <a:srgbClr val="000000"/>
                          </a:solidFill>
                          <a:latin typeface="游ゴシック"/>
                          <a:ea typeface="游ゴシック"/>
                        </a:rPr>
                        <a:t>借入金（金融機関）</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50" b="0" i="0">
                          <a:solidFill>
                            <a:srgbClr val="000000"/>
                          </a:solidFill>
                          <a:latin typeface="Arial"/>
                          <a:ea typeface="游ゴシック"/>
                        </a:rPr>
                        <a:t>447,024</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l"/>
                      <a:r>
                        <a:rPr sz="950" b="0" i="0">
                          <a:solidFill>
                            <a:srgbClr val="000000"/>
                          </a:solidFill>
                          <a:latin typeface="游ゴシック"/>
                          <a:ea typeface="游ゴシック"/>
                        </a:rPr>
                        <a:t>有利子負債。うち日本公庫資本性ローン105,420千円を含む</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365760">
                <a:tc>
                  <a:txBody>
                    <a:bodyPr wrap="square"/>
                    <a:lstStyle/>
                    <a:p>
                      <a:pPr algn="l"/>
                      <a:r>
                        <a:rPr sz="950" b="0" i="0">
                          <a:solidFill>
                            <a:srgbClr val="000000"/>
                          </a:solidFill>
                          <a:latin typeface="游ゴシック"/>
                          <a:ea typeface="游ゴシック"/>
                        </a:rPr>
                        <a:t>　</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l"/>
                      <a:r>
                        <a:rPr sz="950" b="0" i="0">
                          <a:solidFill>
                            <a:srgbClr val="000000"/>
                          </a:solidFill>
                          <a:latin typeface="游ゴシック"/>
                          <a:ea typeface="游ゴシック"/>
                        </a:rPr>
                        <a:t>代表者借入金</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50" b="0" i="0">
                          <a:solidFill>
                            <a:srgbClr val="000000"/>
                          </a:solidFill>
                          <a:latin typeface="Arial"/>
                          <a:ea typeface="游ゴシック"/>
                        </a:rPr>
                        <a:t>14,000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l"/>
                      <a:r>
                        <a:rPr sz="950" b="0" i="0">
                          <a:solidFill>
                            <a:srgbClr val="000000"/>
                          </a:solidFill>
                          <a:latin typeface="游ゴシック"/>
                          <a:ea typeface="游ゴシック"/>
                        </a:rPr>
                        <a:t>代表者からの借入。クロージング時の返済／放棄の取扱いは要協議</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365760">
                <a:tc>
                  <a:txBody>
                    <a:bodyPr wrap="square"/>
                    <a:lstStyle/>
                    <a:p>
                      <a:pPr algn="l"/>
                      <a:r>
                        <a:rPr sz="950" b="0" i="0">
                          <a:solidFill>
                            <a:srgbClr val="000000"/>
                          </a:solidFill>
                          <a:latin typeface="游ゴシック"/>
                          <a:ea typeface="游ゴシック"/>
                        </a:rPr>
                        <a:t>　</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l"/>
                      <a:r>
                        <a:rPr sz="950" b="0" i="0">
                          <a:solidFill>
                            <a:srgbClr val="000000"/>
                          </a:solidFill>
                          <a:latin typeface="游ゴシック"/>
                          <a:ea typeface="游ゴシック"/>
                        </a:rPr>
                        <a:t>未払法人税等</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50" b="0" i="0">
                          <a:solidFill>
                            <a:srgbClr val="000000"/>
                          </a:solidFill>
                          <a:latin typeface="Arial"/>
                          <a:ea typeface="游ゴシック"/>
                        </a:rPr>
                        <a:t>487</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l"/>
                      <a:r>
                        <a:rPr sz="950" b="0" i="0">
                          <a:solidFill>
                            <a:srgbClr val="000000"/>
                          </a:solidFill>
                          <a:latin typeface="游ゴシック"/>
                          <a:ea typeface="游ゴシック"/>
                        </a:rPr>
                        <a:t>デットライク</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365760">
                <a:tc>
                  <a:txBody>
                    <a:bodyPr wrap="square"/>
                    <a:lstStyle/>
                    <a:p>
                      <a:pPr algn="l"/>
                      <a:r>
                        <a:rPr sz="950" b="1" i="0">
                          <a:solidFill>
                            <a:srgbClr val="000000"/>
                          </a:solidFill>
                          <a:latin typeface="游ゴシック"/>
                          <a:ea typeface="游ゴシック"/>
                        </a:rPr>
                        <a:t>　</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l"/>
                      <a:r>
                        <a:rPr sz="950" b="1" i="0">
                          <a:solidFill>
                            <a:srgbClr val="000000"/>
                          </a:solidFill>
                          <a:latin typeface="游ゴシック"/>
                          <a:ea typeface="游ゴシック"/>
                        </a:rPr>
                        <a:t>デットライク計</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950" b="1" i="0">
                          <a:solidFill>
                            <a:srgbClr val="000000"/>
                          </a:solidFill>
                          <a:latin typeface="Arial"/>
                          <a:ea typeface="游ゴシック"/>
                        </a:rPr>
                        <a:t>461,511</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l"/>
                      <a:r>
                        <a:rPr sz="950" b="1" i="0">
                          <a:solidFill>
                            <a:srgbClr val="000000"/>
                          </a:solidFill>
                          <a:latin typeface="游ゴシック"/>
                          <a:ea typeface="游ゴシック"/>
                        </a:rPr>
                        <a:t>　</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r>
              <a:tr h="365760">
                <a:tc>
                  <a:txBody>
                    <a:bodyPr wrap="square"/>
                    <a:lstStyle/>
                    <a:p>
                      <a:pPr algn="l"/>
                      <a:r>
                        <a:rPr sz="950" b="1" i="0">
                          <a:solidFill>
                            <a:srgbClr val="000000"/>
                          </a:solidFill>
                          <a:latin typeface="游ゴシック"/>
                          <a:ea typeface="游ゴシック"/>
                        </a:rPr>
                        <a:t>　</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c>
                  <a:txBody>
                    <a:bodyPr wrap="square"/>
                    <a:lstStyle/>
                    <a:p>
                      <a:pPr algn="l"/>
                      <a:r>
                        <a:rPr sz="950" b="1" i="0">
                          <a:solidFill>
                            <a:srgbClr val="000000"/>
                          </a:solidFill>
                          <a:latin typeface="游ゴシック"/>
                          <a:ea typeface="游ゴシック"/>
                        </a:rPr>
                        <a:t>ネットキャッシュ（△はネットデット）</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c>
                  <a:txBody>
                    <a:bodyPr wrap="square"/>
                    <a:lstStyle/>
                    <a:p>
                      <a:pPr algn="r"/>
                      <a:r>
                        <a:rPr sz="950" b="1" i="0">
                          <a:solidFill>
                            <a:srgbClr val="000000"/>
                          </a:solidFill>
                          <a:latin typeface="Arial"/>
                          <a:ea typeface="游ゴシック"/>
                        </a:rPr>
                        <a:t>△385,549</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c>
                  <a:txBody>
                    <a:bodyPr wrap="square"/>
                    <a:lstStyle/>
                    <a:p>
                      <a:pPr algn="l"/>
                      <a:r>
                        <a:rPr sz="950" b="1" i="0">
                          <a:solidFill>
                            <a:srgbClr val="000000"/>
                          </a:solidFill>
                          <a:latin typeface="游ゴシック"/>
                          <a:ea typeface="游ゴシック"/>
                        </a:rPr>
                        <a:t>　</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r>
            </a:tbl>
          </a:graphicData>
        </a:graphic>
      </p:graphicFrame>
      <p:sp>
        <p:nvSpPr>
          <p:cNvPr id="7" name="TextBox 6"/>
          <p:cNvSpPr txBox="1"/>
          <p:nvPr/>
        </p:nvSpPr>
        <p:spPr>
          <a:xfrm>
            <a:off x="338328" y="5029200"/>
            <a:ext cx="9966960" cy="365760"/>
          </a:xfrm>
          <a:prstGeom prst="rect">
            <a:avLst/>
          </a:prstGeom>
          <a:noFill/>
        </p:spPr>
        <p:txBody>
          <a:bodyPr wrap="square" anchor="t" lIns="18288" rIns="18288" tIns="18288" bIns="18288"/>
          <a:lstStyle/>
          <a:p>
            <a:pPr algn="l"/>
            <a:r>
              <a:rPr sz="800" b="0" i="0">
                <a:solidFill>
                  <a:srgbClr val="404040"/>
                </a:solidFill>
                <a:latin typeface="游ゴシック Medium"/>
                <a:ea typeface="游ゴシック Medium"/>
              </a:rPr>
              <a:t>※（参考）日本政策金融公庫の資本性ローン105,420千円を資本とみなした場合のネットキャッシュは△280,129千円。</a:t>
            </a:r>
          </a:p>
          <a:p>
            <a:pPr algn="l"/>
            <a:r>
              <a:rPr sz="800" b="0" i="0">
                <a:solidFill>
                  <a:srgbClr val="404040"/>
                </a:solidFill>
                <a:latin typeface="游ゴシック Medium"/>
                <a:ea typeface="游ゴシック Medium"/>
              </a:rPr>
              <a:t>※保険積立金は解約返戻金の資料未受領のため簿価。代表者借入金はクロージング時の返済・放棄の取扱いにより変動する。</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Financial Analysis（P/L）</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a:lstStyle/>
          <a:p>
            <a:r>
              <a:t>売上高は4期連続増収。23/3期は電力料の高騰で営業赤字となったが、24/3期以降はEBITDAで30〜37百万円を確保している。</a:t>
            </a:r>
          </a:p>
        </p:txBody>
      </p:sp>
      <p:sp>
        <p:nvSpPr>
          <p:cNvPr id="3" name="Title 2"/>
          <p:cNvSpPr>
            <a:spLocks noGrp="1"/>
          </p:cNvSpPr>
          <p:nvPr>
            <p:ph type="ctrTitle"/>
          </p:nvPr>
        </p:nvSpPr>
        <p:spPr/>
        <p:txBody>
          <a:bodyPr/>
          <a:lstStyle/>
          <a:p>
            <a:r>
              <a:t>過去P/Lの推移</a:t>
            </a:r>
          </a:p>
        </p:txBody>
      </p:sp>
      <p:sp>
        <p:nvSpPr>
          <p:cNvPr id="5" name="タイトル 1">
            <a:extLst>
              <a:ext uri="{FF2B5EF4-FFF2-40B4-BE49-F238E27FC236}">
                <a16:creationId xmlns:a16="http://schemas.microsoft.com/office/drawing/2014/main" id="{4F103961-B26C-39D9-FB80-02B45E98D11A}"/>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財務分析（P/L）</a:t>
            </a:r>
          </a:p>
        </p:txBody>
      </p:sp>
      <p:graphicFrame>
        <p:nvGraphicFramePr>
          <p:cNvPr id="6" name="Chart 5"/>
          <p:cNvGraphicFramePr>
            <a:graphicFrameLocks noGrp="1"/>
          </p:cNvGraphicFramePr>
          <p:nvPr/>
        </p:nvGraphicFramePr>
        <p:xfrm>
          <a:off x="338328" y="1463040"/>
          <a:ext cx="5120640" cy="2743200"/>
        </p:xfrm>
        <a:graphic>
          <a:graphicData uri="http://schemas.openxmlformats.org/drawingml/2006/chart">
            <c:chart xmlns:c="http://schemas.openxmlformats.org/drawingml/2006/chart" r:id="rId2"/>
          </a:graphicData>
        </a:graphic>
      </p:graphicFrame>
      <p:graphicFrame>
        <p:nvGraphicFramePr>
          <p:cNvPr id="7" name="Table 6"/>
          <p:cNvGraphicFramePr>
            <a:graphicFrameLocks noGrp="1"/>
          </p:cNvGraphicFramePr>
          <p:nvPr/>
        </p:nvGraphicFramePr>
        <p:xfrm>
          <a:off x="338328" y="4343400"/>
          <a:ext cx="5120640" cy="2194560"/>
        </p:xfrm>
        <a:graphic>
          <a:graphicData uri="http://schemas.openxmlformats.org/drawingml/2006/table">
            <a:tbl>
              <a:tblPr firstRow="0" bandRow="0">
                <a:tableStyleId>{5940675A-B579-460E-94D1-54222C63F5DA}</a:tableStyleId>
              </a:tblPr>
              <a:tblGrid>
                <a:gridCol w="1828800"/>
                <a:gridCol w="822960"/>
                <a:gridCol w="822960"/>
                <a:gridCol w="822960"/>
                <a:gridCol w="822960"/>
              </a:tblGrid>
              <a:tr h="219456">
                <a:tc>
                  <a:txBody>
                    <a:bodyPr wrap="square"/>
                    <a:lstStyle/>
                    <a:p>
                      <a:pPr algn="ctr"/>
                      <a:r>
                        <a:rPr sz="850" b="1" i="0">
                          <a:solidFill>
                            <a:srgbClr val="FFFFFF"/>
                          </a:solidFill>
                          <a:latin typeface="游ゴシック"/>
                          <a:ea typeface="游ゴシック"/>
                        </a:rPr>
                        <a:t>科目</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0B3041"/>
                    </a:solidFill>
                  </a:tcPr>
                </a:tc>
                <a:tc>
                  <a:txBody>
                    <a:bodyPr wrap="square"/>
                    <a:lstStyle/>
                    <a:p>
                      <a:pPr algn="ctr"/>
                      <a:r>
                        <a:rPr sz="850" b="1" i="0">
                          <a:solidFill>
                            <a:srgbClr val="FFFFFF"/>
                          </a:solidFill>
                          <a:latin typeface="游ゴシック"/>
                          <a:ea typeface="游ゴシック"/>
                        </a:rPr>
                        <a:t>23/3期</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0B3041"/>
                    </a:solidFill>
                  </a:tcPr>
                </a:tc>
                <a:tc>
                  <a:txBody>
                    <a:bodyPr wrap="square"/>
                    <a:lstStyle/>
                    <a:p>
                      <a:pPr algn="ctr"/>
                      <a:r>
                        <a:rPr sz="850" b="1" i="0">
                          <a:solidFill>
                            <a:srgbClr val="FFFFFF"/>
                          </a:solidFill>
                          <a:latin typeface="游ゴシック"/>
                          <a:ea typeface="游ゴシック"/>
                        </a:rPr>
                        <a:t>24/3期</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0B3041"/>
                    </a:solidFill>
                  </a:tcPr>
                </a:tc>
                <a:tc>
                  <a:txBody>
                    <a:bodyPr wrap="square"/>
                    <a:lstStyle/>
                    <a:p>
                      <a:pPr algn="ctr"/>
                      <a:r>
                        <a:rPr sz="850" b="1" i="0">
                          <a:solidFill>
                            <a:srgbClr val="FFFFFF"/>
                          </a:solidFill>
                          <a:latin typeface="游ゴシック"/>
                          <a:ea typeface="游ゴシック"/>
                        </a:rPr>
                        <a:t>25/3期</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0B3041"/>
                    </a:solidFill>
                  </a:tcPr>
                </a:tc>
                <a:tc>
                  <a:txBody>
                    <a:bodyPr wrap="square"/>
                    <a:lstStyle/>
                    <a:p>
                      <a:pPr algn="ctr"/>
                      <a:r>
                        <a:rPr sz="850" b="1" i="0">
                          <a:solidFill>
                            <a:srgbClr val="FFFFFF"/>
                          </a:solidFill>
                          <a:latin typeface="游ゴシック"/>
                          <a:ea typeface="游ゴシック"/>
                        </a:rPr>
                        <a:t>26/3期</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0B3041"/>
                    </a:solidFill>
                  </a:tcPr>
                </a:tc>
              </a:tr>
              <a:tr h="219456">
                <a:tc>
                  <a:txBody>
                    <a:bodyPr wrap="square"/>
                    <a:lstStyle/>
                    <a:p>
                      <a:pPr algn="l"/>
                      <a:r>
                        <a:rPr sz="850" b="1" i="0">
                          <a:solidFill>
                            <a:srgbClr val="000000"/>
                          </a:solidFill>
                          <a:latin typeface="游ゴシック"/>
                          <a:ea typeface="游ゴシック"/>
                        </a:rPr>
                        <a:t>売上高</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850" b="1" i="0">
                          <a:solidFill>
                            <a:srgbClr val="000000"/>
                          </a:solidFill>
                          <a:latin typeface="Arial"/>
                          <a:ea typeface="游ゴシック"/>
                        </a:rPr>
                        <a:t>284,841</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1" i="0">
                          <a:solidFill>
                            <a:srgbClr val="000000"/>
                          </a:solidFill>
                          <a:latin typeface="Arial"/>
                          <a:ea typeface="游ゴシック"/>
                        </a:rPr>
                        <a:t>376,221</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1" i="0">
                          <a:solidFill>
                            <a:srgbClr val="000000"/>
                          </a:solidFill>
                          <a:latin typeface="Arial"/>
                          <a:ea typeface="游ゴシック"/>
                        </a:rPr>
                        <a:t>382,685</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1" i="0">
                          <a:solidFill>
                            <a:srgbClr val="000000"/>
                          </a:solidFill>
                          <a:latin typeface="Arial"/>
                          <a:ea typeface="游ゴシック"/>
                        </a:rPr>
                        <a:t>405,963</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219456">
                <a:tc>
                  <a:txBody>
                    <a:bodyPr wrap="square"/>
                    <a:lstStyle/>
                    <a:p>
                      <a:pPr algn="l"/>
                      <a:r>
                        <a:rPr sz="850" b="0" i="0">
                          <a:solidFill>
                            <a:srgbClr val="000000"/>
                          </a:solidFill>
                          <a:latin typeface="游ゴシック"/>
                          <a:ea typeface="游ゴシック"/>
                        </a:rPr>
                        <a:t>売上総利益</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850" b="0" i="0">
                          <a:solidFill>
                            <a:srgbClr val="000000"/>
                          </a:solidFill>
                          <a:latin typeface="Arial"/>
                          <a:ea typeface="游ゴシック"/>
                        </a:rPr>
                        <a:t>46,248</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0" i="0">
                          <a:solidFill>
                            <a:srgbClr val="000000"/>
                          </a:solidFill>
                          <a:latin typeface="Arial"/>
                          <a:ea typeface="游ゴシック"/>
                        </a:rPr>
                        <a:t>96,567</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0" i="0">
                          <a:solidFill>
                            <a:srgbClr val="000000"/>
                          </a:solidFill>
                          <a:latin typeface="Arial"/>
                          <a:ea typeface="游ゴシック"/>
                        </a:rPr>
                        <a:t>85,384</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0" i="0">
                          <a:solidFill>
                            <a:srgbClr val="000000"/>
                          </a:solidFill>
                          <a:latin typeface="Arial"/>
                          <a:ea typeface="游ゴシック"/>
                        </a:rPr>
                        <a:t>89,374</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219456">
                <a:tc>
                  <a:txBody>
                    <a:bodyPr wrap="square"/>
                    <a:lstStyle/>
                    <a:p>
                      <a:pPr algn="l"/>
                      <a:r>
                        <a:rPr sz="700" b="0" i="0">
                          <a:solidFill>
                            <a:srgbClr val="404040"/>
                          </a:solidFill>
                          <a:latin typeface="游ゴシック"/>
                          <a:ea typeface="游ゴシック"/>
                        </a:rPr>
                        <a:t>　売上総利益率</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700" b="0" i="0">
                          <a:solidFill>
                            <a:srgbClr val="404040"/>
                          </a:solidFill>
                          <a:latin typeface="Arial"/>
                          <a:ea typeface="游ゴシック"/>
                        </a:rPr>
                        <a:t>16.2%</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700" b="0" i="0">
                          <a:solidFill>
                            <a:srgbClr val="404040"/>
                          </a:solidFill>
                          <a:latin typeface="Arial"/>
                          <a:ea typeface="游ゴシック"/>
                        </a:rPr>
                        <a:t>25.7%</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700" b="0" i="0">
                          <a:solidFill>
                            <a:srgbClr val="404040"/>
                          </a:solidFill>
                          <a:latin typeface="Arial"/>
                          <a:ea typeface="游ゴシック"/>
                        </a:rPr>
                        <a:t>22.3%</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700" b="0" i="0">
                          <a:solidFill>
                            <a:srgbClr val="404040"/>
                          </a:solidFill>
                          <a:latin typeface="Arial"/>
                          <a:ea typeface="游ゴシック"/>
                        </a:rPr>
                        <a:t>22.0%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219456">
                <a:tc>
                  <a:txBody>
                    <a:bodyPr wrap="square"/>
                    <a:lstStyle/>
                    <a:p>
                      <a:pPr algn="l"/>
                      <a:r>
                        <a:rPr sz="850" b="1" i="0">
                          <a:solidFill>
                            <a:srgbClr val="000000"/>
                          </a:solidFill>
                          <a:latin typeface="游ゴシック"/>
                          <a:ea typeface="游ゴシック"/>
                        </a:rPr>
                        <a:t>営業利益</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850" b="1" i="0">
                          <a:solidFill>
                            <a:srgbClr val="000000"/>
                          </a:solidFill>
                          <a:latin typeface="Arial"/>
                          <a:ea typeface="游ゴシック"/>
                        </a:rPr>
                        <a:t>△8,248</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1" i="0">
                          <a:solidFill>
                            <a:srgbClr val="000000"/>
                          </a:solidFill>
                          <a:latin typeface="Arial"/>
                          <a:ea typeface="游ゴシック"/>
                        </a:rPr>
                        <a:t>25,325</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1" i="0">
                          <a:solidFill>
                            <a:srgbClr val="000000"/>
                          </a:solidFill>
                          <a:latin typeface="Arial"/>
                          <a:ea typeface="游ゴシック"/>
                        </a:rPr>
                        <a:t>13,659</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1" i="0">
                          <a:solidFill>
                            <a:srgbClr val="000000"/>
                          </a:solidFill>
                          <a:latin typeface="Arial"/>
                          <a:ea typeface="游ゴシック"/>
                        </a:rPr>
                        <a:t>8,025</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219456">
                <a:tc>
                  <a:txBody>
                    <a:bodyPr wrap="square"/>
                    <a:lstStyle/>
                    <a:p>
                      <a:pPr algn="l"/>
                      <a:r>
                        <a:rPr sz="700" b="0" i="0">
                          <a:solidFill>
                            <a:srgbClr val="404040"/>
                          </a:solidFill>
                          <a:latin typeface="游ゴシック"/>
                          <a:ea typeface="游ゴシック"/>
                        </a:rPr>
                        <a:t>　営業利益率</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700" b="0" i="0">
                          <a:solidFill>
                            <a:srgbClr val="404040"/>
                          </a:solidFill>
                          <a:latin typeface="Arial"/>
                          <a:ea typeface="游ゴシック"/>
                        </a:rPr>
                        <a:t>△2.9%</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700" b="0" i="0">
                          <a:solidFill>
                            <a:srgbClr val="404040"/>
                          </a:solidFill>
                          <a:latin typeface="Arial"/>
                          <a:ea typeface="游ゴシック"/>
                        </a:rPr>
                        <a:t>6.7%</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700" b="0" i="0">
                          <a:solidFill>
                            <a:srgbClr val="404040"/>
                          </a:solidFill>
                          <a:latin typeface="Arial"/>
                          <a:ea typeface="游ゴシック"/>
                        </a:rPr>
                        <a:t>3.6%</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700" b="0" i="0">
                          <a:solidFill>
                            <a:srgbClr val="404040"/>
                          </a:solidFill>
                          <a:latin typeface="Arial"/>
                          <a:ea typeface="游ゴシック"/>
                        </a:rPr>
                        <a:t>2.0%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219456">
                <a:tc>
                  <a:txBody>
                    <a:bodyPr wrap="square"/>
                    <a:lstStyle/>
                    <a:p>
                      <a:pPr algn="l"/>
                      <a:r>
                        <a:rPr sz="850" b="0" i="0">
                          <a:solidFill>
                            <a:srgbClr val="000000"/>
                          </a:solidFill>
                          <a:latin typeface="游ゴシック"/>
                          <a:ea typeface="游ゴシック"/>
                        </a:rPr>
                        <a:t>経常利益</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850" b="0" i="0">
                          <a:solidFill>
                            <a:srgbClr val="000000"/>
                          </a:solidFill>
                          <a:latin typeface="Arial"/>
                          <a:ea typeface="游ゴシック"/>
                        </a:rPr>
                        <a:t>△13,265</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0" i="0">
                          <a:solidFill>
                            <a:srgbClr val="000000"/>
                          </a:solidFill>
                          <a:latin typeface="Arial"/>
                          <a:ea typeface="游ゴシック"/>
                        </a:rPr>
                        <a:t>22,792</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0" i="0">
                          <a:solidFill>
                            <a:srgbClr val="000000"/>
                          </a:solidFill>
                          <a:latin typeface="Arial"/>
                          <a:ea typeface="游ゴシック"/>
                        </a:rPr>
                        <a:t>6,021</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0" i="0">
                          <a:solidFill>
                            <a:srgbClr val="000000"/>
                          </a:solidFill>
                          <a:latin typeface="Arial"/>
                          <a:ea typeface="游ゴシック"/>
                        </a:rPr>
                        <a:t>1,864</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219456">
                <a:tc>
                  <a:txBody>
                    <a:bodyPr wrap="square"/>
                    <a:lstStyle/>
                    <a:p>
                      <a:pPr algn="l"/>
                      <a:r>
                        <a:rPr sz="850" b="0" i="0">
                          <a:solidFill>
                            <a:srgbClr val="000000"/>
                          </a:solidFill>
                          <a:latin typeface="游ゴシック"/>
                          <a:ea typeface="游ゴシック"/>
                        </a:rPr>
                        <a:t>当期純利益</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850" b="0" i="0">
                          <a:solidFill>
                            <a:srgbClr val="000000"/>
                          </a:solidFill>
                          <a:latin typeface="Arial"/>
                          <a:ea typeface="游ゴシック"/>
                        </a:rPr>
                        <a:t>△13,625</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0" i="0">
                          <a:solidFill>
                            <a:srgbClr val="000000"/>
                          </a:solidFill>
                          <a:latin typeface="Arial"/>
                          <a:ea typeface="游ゴシック"/>
                        </a:rPr>
                        <a:t>22,432</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0" i="0">
                          <a:solidFill>
                            <a:srgbClr val="000000"/>
                          </a:solidFill>
                          <a:latin typeface="Arial"/>
                          <a:ea typeface="游ゴシック"/>
                        </a:rPr>
                        <a:t>5,661</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0" i="0">
                          <a:solidFill>
                            <a:srgbClr val="000000"/>
                          </a:solidFill>
                          <a:latin typeface="Arial"/>
                          <a:ea typeface="游ゴシック"/>
                        </a:rPr>
                        <a:t>1,377</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219456">
                <a:tc>
                  <a:txBody>
                    <a:bodyPr wrap="square"/>
                    <a:lstStyle/>
                    <a:p>
                      <a:pPr algn="l"/>
                      <a:r>
                        <a:rPr sz="850" b="0" i="0">
                          <a:solidFill>
                            <a:srgbClr val="000000"/>
                          </a:solidFill>
                          <a:latin typeface="游ゴシック"/>
                          <a:ea typeface="游ゴシック"/>
                        </a:rPr>
                        <a:t>減価償却費</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850" b="0" i="0">
                          <a:solidFill>
                            <a:srgbClr val="000000"/>
                          </a:solidFill>
                          <a:latin typeface="Arial"/>
                          <a:ea typeface="游ゴシック"/>
                        </a:rPr>
                        <a:t>20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0" i="0">
                          <a:solidFill>
                            <a:srgbClr val="000000"/>
                          </a:solidFill>
                          <a:latin typeface="Arial"/>
                          <a:ea typeface="游ゴシック"/>
                        </a:rPr>
                        <a:t>11,322</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0" i="0">
                          <a:solidFill>
                            <a:srgbClr val="000000"/>
                          </a:solidFill>
                          <a:latin typeface="Arial"/>
                          <a:ea typeface="游ゴシック"/>
                        </a:rPr>
                        <a:t>20,418</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0" i="0">
                          <a:solidFill>
                            <a:srgbClr val="000000"/>
                          </a:solidFill>
                          <a:latin typeface="Arial"/>
                          <a:ea typeface="游ゴシック"/>
                        </a:rPr>
                        <a:t>22,335</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219456">
                <a:tc>
                  <a:txBody>
                    <a:bodyPr wrap="square"/>
                    <a:lstStyle/>
                    <a:p>
                      <a:pPr algn="l"/>
                      <a:r>
                        <a:rPr sz="850" b="1" i="0">
                          <a:solidFill>
                            <a:srgbClr val="000000"/>
                          </a:solidFill>
                          <a:latin typeface="游ゴシック"/>
                          <a:ea typeface="游ゴシック"/>
                        </a:rPr>
                        <a:t>EBITDA</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850" b="1" i="0">
                          <a:solidFill>
                            <a:srgbClr val="000000"/>
                          </a:solidFill>
                          <a:latin typeface="Arial"/>
                          <a:ea typeface="游ゴシック"/>
                        </a:rPr>
                        <a:t>△8,228</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1" i="0">
                          <a:solidFill>
                            <a:srgbClr val="000000"/>
                          </a:solidFill>
                          <a:latin typeface="Arial"/>
                          <a:ea typeface="游ゴシック"/>
                        </a:rPr>
                        <a:t>36,647</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1" i="0">
                          <a:solidFill>
                            <a:srgbClr val="000000"/>
                          </a:solidFill>
                          <a:latin typeface="Arial"/>
                          <a:ea typeface="游ゴシック"/>
                        </a:rPr>
                        <a:t>34,077</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50" b="1" i="0">
                          <a:solidFill>
                            <a:srgbClr val="000000"/>
                          </a:solidFill>
                          <a:latin typeface="Arial"/>
                          <a:ea typeface="游ゴシック"/>
                        </a:rPr>
                        <a:t>30,361</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bl>
          </a:graphicData>
        </a:graphic>
      </p:graphicFrame>
      <p:sp>
        <p:nvSpPr>
          <p:cNvPr id="8" name="Rectangle 7"/>
          <p:cNvSpPr/>
          <p:nvPr/>
        </p:nvSpPr>
        <p:spPr>
          <a:xfrm>
            <a:off x="5760720" y="1463040"/>
            <a:ext cx="4572000" cy="5029200"/>
          </a:xfrm>
          <a:prstGeom prst="rect">
            <a:avLst/>
          </a:prstGeom>
          <a:solidFill>
            <a:srgbClr val="FFFFFF"/>
          </a:solidFill>
          <a:ln w="12700">
            <a:solidFill>
              <a:srgbClr val="A6A6A6"/>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p>
        </p:txBody>
      </p:sp>
      <p:sp>
        <p:nvSpPr>
          <p:cNvPr id="9" name="TextBox 8"/>
          <p:cNvSpPr txBox="1"/>
          <p:nvPr/>
        </p:nvSpPr>
        <p:spPr>
          <a:xfrm>
            <a:off x="5760720" y="1536192"/>
            <a:ext cx="4572000" cy="292608"/>
          </a:xfrm>
          <a:prstGeom prst="rect">
            <a:avLst/>
          </a:prstGeom>
          <a:noFill/>
        </p:spPr>
        <p:txBody>
          <a:bodyPr wrap="square" anchor="t" lIns="18288" rIns="18288" tIns="18288" bIns="18288"/>
          <a:lstStyle/>
          <a:p>
            <a:pPr algn="ctr"/>
            <a:r>
              <a:rPr sz="1400" b="1" i="0">
                <a:solidFill>
                  <a:srgbClr val="0B3041"/>
                </a:solidFill>
                <a:latin typeface="Arial"/>
                <a:ea typeface="游ゴシック"/>
              </a:rPr>
              <a:t>Comment</a:t>
            </a:r>
          </a:p>
        </p:txBody>
      </p:sp>
      <p:sp>
        <p:nvSpPr>
          <p:cNvPr id="10" name="TextBox 9"/>
          <p:cNvSpPr txBox="1"/>
          <p:nvPr/>
        </p:nvSpPr>
        <p:spPr>
          <a:xfrm>
            <a:off x="5888736" y="1874520"/>
            <a:ext cx="4315968" cy="4572000"/>
          </a:xfrm>
          <a:prstGeom prst="rect">
            <a:avLst/>
          </a:prstGeom>
          <a:noFill/>
        </p:spPr>
        <p:txBody>
          <a:bodyPr wrap="square" anchor="t" lIns="18288" rIns="18288" tIns="18288" bIns="18288"/>
          <a:lstStyle/>
          <a:p>
            <a:pPr algn="l">
              <a:lnSpc>
                <a:spcPct val="105000"/>
              </a:lnSpc>
              <a:spcBef>
                <a:spcPts val="0"/>
              </a:spcBef>
            </a:pPr>
            <a:r>
              <a:rPr sz="900" b="1" i="0">
                <a:solidFill>
                  <a:srgbClr val="000000"/>
                </a:solidFill>
                <a:latin typeface="游ゴシック"/>
                <a:ea typeface="游ゴシック"/>
              </a:rPr>
              <a:t>≪売上高≫</a:t>
            </a:r>
          </a:p>
          <a:p>
            <a:pPr algn="l">
              <a:lnSpc>
                <a:spcPct val="105000"/>
              </a:lnSpc>
            </a:pPr>
            <a:r>
              <a:rPr sz="850" b="0" i="0">
                <a:solidFill>
                  <a:srgbClr val="000000"/>
                </a:solidFill>
                <a:latin typeface="游ゴシック"/>
                <a:ea typeface="游ゴシック"/>
              </a:rPr>
              <a:t>・製氷関係が約9割。7〜8月の盛夏期に年間売上の約3割が集中し、天候の影響を受けやすい。</a:t>
            </a:r>
          </a:p>
          <a:p>
            <a:pPr algn="l">
              <a:lnSpc>
                <a:spcPct val="105000"/>
              </a:lnSpc>
              <a:spcBef>
                <a:spcPts val="600"/>
              </a:spcBef>
            </a:pPr>
            <a:r>
              <a:rPr sz="900" b="1" i="0">
                <a:solidFill>
                  <a:srgbClr val="000000"/>
                </a:solidFill>
                <a:latin typeface="游ゴシック"/>
                <a:ea typeface="游ゴシック"/>
              </a:rPr>
              <a:t>≪売上原価≫</a:t>
            </a:r>
          </a:p>
          <a:p>
            <a:pPr algn="l">
              <a:lnSpc>
                <a:spcPct val="105000"/>
              </a:lnSpc>
            </a:pPr>
            <a:r>
              <a:rPr sz="850" b="0" i="0">
                <a:solidFill>
                  <a:srgbClr val="000000"/>
                </a:solidFill>
                <a:latin typeface="游ゴシック"/>
                <a:ea typeface="游ゴシック"/>
              </a:rPr>
              <a:t>・電力料（動力費）は23/3期42,894千円→24/3期32,386千円へ低下し粗利率が回復。</a:t>
            </a:r>
          </a:p>
          <a:p>
            <a:pPr algn="l">
              <a:lnSpc>
                <a:spcPct val="105000"/>
              </a:lnSpc>
            </a:pPr>
            <a:r>
              <a:rPr sz="850" b="0" i="0">
                <a:solidFill>
                  <a:srgbClr val="000000"/>
                </a:solidFill>
                <a:latin typeface="游ゴシック"/>
                <a:ea typeface="游ゴシック"/>
              </a:rPr>
              <a:t>・減価償却費は23/3期にほぼ計上なし（19,763円）。24/3期以降は11〜22百万円を計上しており、期間比較では償却前のEBITDAが実態に近い。</a:t>
            </a:r>
          </a:p>
          <a:p>
            <a:pPr algn="l">
              <a:lnSpc>
                <a:spcPct val="105000"/>
              </a:lnSpc>
              <a:spcBef>
                <a:spcPts val="600"/>
              </a:spcBef>
            </a:pPr>
            <a:r>
              <a:rPr sz="900" b="1" i="0">
                <a:solidFill>
                  <a:srgbClr val="000000"/>
                </a:solidFill>
                <a:latin typeface="游ゴシック"/>
                <a:ea typeface="游ゴシック"/>
              </a:rPr>
              <a:t>≪販管費≫</a:t>
            </a:r>
          </a:p>
          <a:p>
            <a:pPr algn="l">
              <a:lnSpc>
                <a:spcPct val="105000"/>
              </a:lnSpc>
            </a:pPr>
            <a:r>
              <a:rPr sz="850" b="0" i="0">
                <a:solidFill>
                  <a:srgbClr val="000000"/>
                </a:solidFill>
                <a:latin typeface="游ゴシック"/>
                <a:ea typeface="游ゴシック"/>
              </a:rPr>
              <a:t>・配送運賃が24/3期以降増加（26/3期27,570千円）。</a:t>
            </a:r>
          </a:p>
          <a:p>
            <a:pPr algn="l">
              <a:lnSpc>
                <a:spcPct val="105000"/>
              </a:lnSpc>
            </a:pPr>
            <a:r>
              <a:rPr sz="850" b="0" i="0">
                <a:solidFill>
                  <a:srgbClr val="000000"/>
                </a:solidFill>
                <a:latin typeface="游ゴシック"/>
                <a:ea typeface="游ゴシック"/>
              </a:rPr>
              <a:t>・支払手数料（25/3期3,156千円・26/3期1,765千円）の内容は要確認。</a:t>
            </a:r>
          </a:p>
          <a:p>
            <a:pPr algn="l">
              <a:lnSpc>
                <a:spcPct val="105000"/>
              </a:lnSpc>
              <a:spcBef>
                <a:spcPts val="600"/>
              </a:spcBef>
            </a:pPr>
            <a:r>
              <a:rPr sz="900" b="1" i="0">
                <a:solidFill>
                  <a:srgbClr val="000000"/>
                </a:solidFill>
                <a:latin typeface="游ゴシック"/>
                <a:ea typeface="游ゴシック"/>
              </a:rPr>
              <a:t>≪営業外≫</a:t>
            </a:r>
          </a:p>
          <a:p>
            <a:pPr algn="l">
              <a:lnSpc>
                <a:spcPct val="105000"/>
              </a:lnSpc>
            </a:pPr>
            <a:r>
              <a:rPr sz="850" b="0" i="0">
                <a:solidFill>
                  <a:srgbClr val="000000"/>
                </a:solidFill>
                <a:latin typeface="游ゴシック"/>
                <a:ea typeface="游ゴシック"/>
              </a:rPr>
              <a:t>・支払利息は年6〜8百万円。65期の雑収入8,482千円・雑損5,192千円の内容は要確認。</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a:lstStyle/>
          <a:p>
            <a:r>
              <a:t>臨時的な退職給与を加算した修正後EBITDAは3期とも34〜37百万円で安定。加重平均の基準EBITDAは35,883千円、基準営業利益（税引後）は10,775千円。</a:t>
            </a:r>
          </a:p>
        </p:txBody>
      </p:sp>
      <p:sp>
        <p:nvSpPr>
          <p:cNvPr id="3" name="Title 2"/>
          <p:cNvSpPr>
            <a:spLocks noGrp="1"/>
          </p:cNvSpPr>
          <p:nvPr>
            <p:ph type="ctrTitle"/>
          </p:nvPr>
        </p:nvSpPr>
        <p:spPr/>
        <p:txBody>
          <a:bodyPr/>
          <a:lstStyle/>
          <a:p>
            <a:r>
              <a:t>正常収益力の算定（修正P/L）</a:t>
            </a:r>
          </a:p>
        </p:txBody>
      </p:sp>
      <p:sp>
        <p:nvSpPr>
          <p:cNvPr id="5" name="タイトル 1">
            <a:extLst>
              <a:ext uri="{FF2B5EF4-FFF2-40B4-BE49-F238E27FC236}">
                <a16:creationId xmlns:a16="http://schemas.microsoft.com/office/drawing/2014/main" id="{4F103961-B26C-39D9-FB80-02B45E98D11A}"/>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財務分析（P/L）</a:t>
            </a:r>
          </a:p>
        </p:txBody>
      </p:sp>
      <p:graphicFrame>
        <p:nvGraphicFramePr>
          <p:cNvPr id="6" name="Table 5"/>
          <p:cNvGraphicFramePr>
            <a:graphicFrameLocks noGrp="1"/>
          </p:cNvGraphicFramePr>
          <p:nvPr/>
        </p:nvGraphicFramePr>
        <p:xfrm>
          <a:off x="338328" y="1481328"/>
          <a:ext cx="9601200" cy="2414016"/>
        </p:xfrm>
        <a:graphic>
          <a:graphicData uri="http://schemas.openxmlformats.org/drawingml/2006/table">
            <a:tbl>
              <a:tblPr firstRow="0" bandRow="0">
                <a:tableStyleId>{5940675A-B579-460E-94D1-54222C63F5DA}</a:tableStyleId>
              </a:tblPr>
              <a:tblGrid>
                <a:gridCol w="1371600"/>
                <a:gridCol w="960120"/>
                <a:gridCol w="822960"/>
                <a:gridCol w="960120"/>
                <a:gridCol w="960120"/>
                <a:gridCol w="822960"/>
                <a:gridCol w="960120"/>
                <a:gridCol w="960120"/>
                <a:gridCol w="822960"/>
                <a:gridCol w="960120"/>
              </a:tblGrid>
              <a:tr h="301752">
                <a:tc>
                  <a:txBody>
                    <a:bodyPr wrap="square"/>
                    <a:lstStyle/>
                    <a:p>
                      <a:pPr algn="ctr"/>
                      <a:r>
                        <a:rPr sz="850" b="1" i="0">
                          <a:solidFill>
                            <a:srgbClr val="FFFFFF"/>
                          </a:solidFill>
                          <a:latin typeface="游ゴシック"/>
                          <a:ea typeface="游ゴシック"/>
                        </a:rPr>
                        <a:t>科目</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0B3041"/>
                    </a:solidFill>
                  </a:tcPr>
                </a:tc>
                <a:tc>
                  <a:txBody>
                    <a:bodyPr wrap="square"/>
                    <a:lstStyle/>
                    <a:p>
                      <a:pPr algn="ctr"/>
                      <a:r>
                        <a:rPr sz="850" b="1" i="0">
                          <a:solidFill>
                            <a:srgbClr val="FFFFFF"/>
                          </a:solidFill>
                          <a:latin typeface="游ゴシック"/>
                          <a:ea typeface="游ゴシック"/>
                        </a:rPr>
                        <a:t>24/3期</a:t>
                      </a:r>
                    </a:p>
                    <a:p>
                      <a:pPr algn="ctr"/>
                      <a:r>
                        <a:rPr sz="850" b="1" i="0">
                          <a:solidFill>
                            <a:srgbClr val="FFFFFF"/>
                          </a:solidFill>
                          <a:latin typeface="游ゴシック"/>
                          <a:ea typeface="游ゴシック"/>
                        </a:rPr>
                        <a:t>帳簿</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0B3041"/>
                    </a:solidFill>
                  </a:tcPr>
                </a:tc>
                <a:tc>
                  <a:txBody>
                    <a:bodyPr wrap="square"/>
                    <a:lstStyle/>
                    <a:p>
                      <a:pPr algn="ctr"/>
                      <a:r>
                        <a:rPr sz="850" b="1" i="0">
                          <a:solidFill>
                            <a:srgbClr val="FFFFFF"/>
                          </a:solidFill>
                          <a:latin typeface="游ゴシック"/>
                          <a:ea typeface="游ゴシック"/>
                        </a:rPr>
                        <a:t>修正</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0B3041"/>
                    </a:solidFill>
                  </a:tcPr>
                </a:tc>
                <a:tc>
                  <a:txBody>
                    <a:bodyPr wrap="square"/>
                    <a:lstStyle/>
                    <a:p>
                      <a:pPr algn="ctr"/>
                      <a:r>
                        <a:rPr sz="850" b="1" i="0">
                          <a:solidFill>
                            <a:srgbClr val="FFFFFF"/>
                          </a:solidFill>
                          <a:latin typeface="游ゴシック"/>
                          <a:ea typeface="游ゴシック"/>
                        </a:rPr>
                        <a:t>修正後</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0B3041"/>
                    </a:solidFill>
                  </a:tcPr>
                </a:tc>
                <a:tc>
                  <a:txBody>
                    <a:bodyPr wrap="square"/>
                    <a:lstStyle/>
                    <a:p>
                      <a:pPr algn="ctr"/>
                      <a:r>
                        <a:rPr sz="850" b="1" i="0">
                          <a:solidFill>
                            <a:srgbClr val="FFFFFF"/>
                          </a:solidFill>
                          <a:latin typeface="游ゴシック"/>
                          <a:ea typeface="游ゴシック"/>
                        </a:rPr>
                        <a:t>25/3期</a:t>
                      </a:r>
                    </a:p>
                    <a:p>
                      <a:pPr algn="ctr"/>
                      <a:r>
                        <a:rPr sz="850" b="1" i="0">
                          <a:solidFill>
                            <a:srgbClr val="FFFFFF"/>
                          </a:solidFill>
                          <a:latin typeface="游ゴシック"/>
                          <a:ea typeface="游ゴシック"/>
                        </a:rPr>
                        <a:t>帳簿</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0B3041"/>
                    </a:solidFill>
                  </a:tcPr>
                </a:tc>
                <a:tc>
                  <a:txBody>
                    <a:bodyPr wrap="square"/>
                    <a:lstStyle/>
                    <a:p>
                      <a:pPr algn="ctr"/>
                      <a:r>
                        <a:rPr sz="850" b="1" i="0">
                          <a:solidFill>
                            <a:srgbClr val="FFFFFF"/>
                          </a:solidFill>
                          <a:latin typeface="游ゴシック"/>
                          <a:ea typeface="游ゴシック"/>
                        </a:rPr>
                        <a:t>修正</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0B3041"/>
                    </a:solidFill>
                  </a:tcPr>
                </a:tc>
                <a:tc>
                  <a:txBody>
                    <a:bodyPr wrap="square"/>
                    <a:lstStyle/>
                    <a:p>
                      <a:pPr algn="ctr"/>
                      <a:r>
                        <a:rPr sz="850" b="1" i="0">
                          <a:solidFill>
                            <a:srgbClr val="FFFFFF"/>
                          </a:solidFill>
                          <a:latin typeface="游ゴシック"/>
                          <a:ea typeface="游ゴシック"/>
                        </a:rPr>
                        <a:t>修正後</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0B3041"/>
                    </a:solidFill>
                  </a:tcPr>
                </a:tc>
                <a:tc>
                  <a:txBody>
                    <a:bodyPr wrap="square"/>
                    <a:lstStyle/>
                    <a:p>
                      <a:pPr algn="ctr"/>
                      <a:r>
                        <a:rPr sz="850" b="1" i="0">
                          <a:solidFill>
                            <a:srgbClr val="FFFFFF"/>
                          </a:solidFill>
                          <a:latin typeface="游ゴシック"/>
                          <a:ea typeface="游ゴシック"/>
                        </a:rPr>
                        <a:t>26/3期</a:t>
                      </a:r>
                    </a:p>
                    <a:p>
                      <a:pPr algn="ctr"/>
                      <a:r>
                        <a:rPr sz="850" b="1" i="0">
                          <a:solidFill>
                            <a:srgbClr val="FFFFFF"/>
                          </a:solidFill>
                          <a:latin typeface="游ゴシック"/>
                          <a:ea typeface="游ゴシック"/>
                        </a:rPr>
                        <a:t>帳簿</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0B3041"/>
                    </a:solidFill>
                  </a:tcPr>
                </a:tc>
                <a:tc>
                  <a:txBody>
                    <a:bodyPr wrap="square"/>
                    <a:lstStyle/>
                    <a:p>
                      <a:pPr algn="ctr"/>
                      <a:r>
                        <a:rPr sz="850" b="1" i="0">
                          <a:solidFill>
                            <a:srgbClr val="FFFFFF"/>
                          </a:solidFill>
                          <a:latin typeface="游ゴシック"/>
                          <a:ea typeface="游ゴシック"/>
                        </a:rPr>
                        <a:t>修正</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0B3041"/>
                    </a:solidFill>
                  </a:tcPr>
                </a:tc>
                <a:tc>
                  <a:txBody>
                    <a:bodyPr wrap="square"/>
                    <a:lstStyle/>
                    <a:p>
                      <a:pPr algn="ctr"/>
                      <a:r>
                        <a:rPr sz="850" b="1" i="0">
                          <a:solidFill>
                            <a:srgbClr val="FFFFFF"/>
                          </a:solidFill>
                          <a:latin typeface="游ゴシック"/>
                          <a:ea typeface="游ゴシック"/>
                        </a:rPr>
                        <a:t>修正後</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0B3041"/>
                    </a:solidFill>
                  </a:tcPr>
                </a:tc>
              </a:tr>
              <a:tr h="301752">
                <a:tc>
                  <a:txBody>
                    <a:bodyPr wrap="square"/>
                    <a:lstStyle/>
                    <a:p>
                      <a:pPr algn="l"/>
                      <a:r>
                        <a:rPr sz="900" b="0" i="0">
                          <a:solidFill>
                            <a:srgbClr val="000000"/>
                          </a:solidFill>
                          <a:latin typeface="游ゴシック"/>
                          <a:ea typeface="游ゴシック"/>
                        </a:rPr>
                        <a:t>売上高</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900" b="0" i="0">
                          <a:solidFill>
                            <a:srgbClr val="000000"/>
                          </a:solidFill>
                          <a:latin typeface="Arial"/>
                          <a:ea typeface="游ゴシック"/>
                        </a:rPr>
                        <a:t>376,221</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00" b="0" i="0">
                          <a:solidFill>
                            <a:srgbClr val="000000"/>
                          </a:solidFill>
                          <a:latin typeface="Arial"/>
                          <a:ea typeface="游ゴシック"/>
                        </a:rPr>
                        <a:t>-</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00" b="0" i="0">
                          <a:solidFill>
                            <a:srgbClr val="000000"/>
                          </a:solidFill>
                          <a:latin typeface="Arial"/>
                          <a:ea typeface="游ゴシック"/>
                        </a:rPr>
                        <a:t>376,221</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00" b="0" i="0">
                          <a:solidFill>
                            <a:srgbClr val="000000"/>
                          </a:solidFill>
                          <a:latin typeface="Arial"/>
                          <a:ea typeface="游ゴシック"/>
                        </a:rPr>
                        <a:t>382,685</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00" b="0" i="0">
                          <a:solidFill>
                            <a:srgbClr val="000000"/>
                          </a:solidFill>
                          <a:latin typeface="Arial"/>
                          <a:ea typeface="游ゴシック"/>
                        </a:rPr>
                        <a:t>-</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00" b="0" i="0">
                          <a:solidFill>
                            <a:srgbClr val="000000"/>
                          </a:solidFill>
                          <a:latin typeface="Arial"/>
                          <a:ea typeface="游ゴシック"/>
                        </a:rPr>
                        <a:t>382,685</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00" b="0" i="0">
                          <a:solidFill>
                            <a:srgbClr val="000000"/>
                          </a:solidFill>
                          <a:latin typeface="Arial"/>
                          <a:ea typeface="游ゴシック"/>
                        </a:rPr>
                        <a:t>405,963</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00" b="0" i="0">
                          <a:solidFill>
                            <a:srgbClr val="000000"/>
                          </a:solidFill>
                          <a:latin typeface="Arial"/>
                          <a:ea typeface="游ゴシック"/>
                        </a:rPr>
                        <a:t>-</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00" b="0" i="0">
                          <a:solidFill>
                            <a:srgbClr val="000000"/>
                          </a:solidFill>
                          <a:latin typeface="Arial"/>
                          <a:ea typeface="游ゴシック"/>
                        </a:rPr>
                        <a:t>405,963</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301752">
                <a:tc>
                  <a:txBody>
                    <a:bodyPr wrap="square"/>
                    <a:lstStyle/>
                    <a:p>
                      <a:pPr algn="l"/>
                      <a:r>
                        <a:rPr sz="900" b="0" i="0">
                          <a:solidFill>
                            <a:srgbClr val="000000"/>
                          </a:solidFill>
                          <a:latin typeface="游ゴシック"/>
                          <a:ea typeface="游ゴシック"/>
                        </a:rPr>
                        <a:t>売上原価</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900" b="0" i="0">
                          <a:solidFill>
                            <a:srgbClr val="000000"/>
                          </a:solidFill>
                          <a:latin typeface="Arial"/>
                          <a:ea typeface="游ゴシック"/>
                        </a:rPr>
                        <a:t>279,654</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00" b="0" i="0">
                          <a:solidFill>
                            <a:srgbClr val="000000"/>
                          </a:solidFill>
                          <a:latin typeface="Arial"/>
                          <a:ea typeface="游ゴシック"/>
                        </a:rPr>
                        <a:t>-</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00" b="0" i="0">
                          <a:solidFill>
                            <a:srgbClr val="000000"/>
                          </a:solidFill>
                          <a:latin typeface="Arial"/>
                          <a:ea typeface="游ゴシック"/>
                        </a:rPr>
                        <a:t>279,654</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00" b="0" i="0">
                          <a:solidFill>
                            <a:srgbClr val="000000"/>
                          </a:solidFill>
                          <a:latin typeface="Arial"/>
                          <a:ea typeface="游ゴシック"/>
                        </a:rPr>
                        <a:t>297,300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00" b="0" i="0">
                          <a:solidFill>
                            <a:srgbClr val="000000"/>
                          </a:solidFill>
                          <a:latin typeface="Arial"/>
                          <a:ea typeface="游ゴシック"/>
                        </a:rPr>
                        <a:t>-</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00" b="0" i="0">
                          <a:solidFill>
                            <a:srgbClr val="000000"/>
                          </a:solidFill>
                          <a:latin typeface="Arial"/>
                          <a:ea typeface="游ゴシック"/>
                        </a:rPr>
                        <a:t>297,300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00" b="0" i="0">
                          <a:solidFill>
                            <a:srgbClr val="000000"/>
                          </a:solidFill>
                          <a:latin typeface="Arial"/>
                          <a:ea typeface="游ゴシック"/>
                        </a:rPr>
                        <a:t>316,589</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00" b="0" i="0">
                          <a:solidFill>
                            <a:srgbClr val="000000"/>
                          </a:solidFill>
                          <a:latin typeface="Arial"/>
                          <a:ea typeface="游ゴシック"/>
                        </a:rPr>
                        <a:t>△6,178</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00" b="0" i="0">
                          <a:solidFill>
                            <a:srgbClr val="000000"/>
                          </a:solidFill>
                          <a:latin typeface="Arial"/>
                          <a:ea typeface="游ゴシック"/>
                        </a:rPr>
                        <a:t>310,411</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301752">
                <a:tc>
                  <a:txBody>
                    <a:bodyPr wrap="square"/>
                    <a:lstStyle/>
                    <a:p>
                      <a:pPr algn="l"/>
                      <a:r>
                        <a:rPr sz="900" b="1" i="0">
                          <a:solidFill>
                            <a:srgbClr val="000000"/>
                          </a:solidFill>
                          <a:latin typeface="游ゴシック"/>
                          <a:ea typeface="游ゴシック"/>
                        </a:rPr>
                        <a:t>売上総利益</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900" b="1" i="0">
                          <a:solidFill>
                            <a:srgbClr val="000000"/>
                          </a:solidFill>
                          <a:latin typeface="Arial"/>
                          <a:ea typeface="游ゴシック"/>
                        </a:rPr>
                        <a:t>96,567</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00" b="1" i="0">
                          <a:solidFill>
                            <a:srgbClr val="000000"/>
                          </a:solidFill>
                          <a:latin typeface="Arial"/>
                          <a:ea typeface="游ゴシック"/>
                        </a:rPr>
                        <a:t>-</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00" b="1" i="0">
                          <a:solidFill>
                            <a:srgbClr val="000000"/>
                          </a:solidFill>
                          <a:latin typeface="Arial"/>
                          <a:ea typeface="游ゴシック"/>
                        </a:rPr>
                        <a:t>96,567</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00" b="1" i="0">
                          <a:solidFill>
                            <a:srgbClr val="000000"/>
                          </a:solidFill>
                          <a:latin typeface="Arial"/>
                          <a:ea typeface="游ゴシック"/>
                        </a:rPr>
                        <a:t>85,384</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00" b="1" i="0">
                          <a:solidFill>
                            <a:srgbClr val="000000"/>
                          </a:solidFill>
                          <a:latin typeface="Arial"/>
                          <a:ea typeface="游ゴシック"/>
                        </a:rPr>
                        <a:t>-</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00" b="1" i="0">
                          <a:solidFill>
                            <a:srgbClr val="000000"/>
                          </a:solidFill>
                          <a:latin typeface="Arial"/>
                          <a:ea typeface="游ゴシック"/>
                        </a:rPr>
                        <a:t>85,384</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00" b="1" i="0">
                          <a:solidFill>
                            <a:srgbClr val="000000"/>
                          </a:solidFill>
                          <a:latin typeface="Arial"/>
                          <a:ea typeface="游ゴシック"/>
                        </a:rPr>
                        <a:t>89,374</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00" b="1" i="0">
                          <a:solidFill>
                            <a:srgbClr val="000000"/>
                          </a:solidFill>
                          <a:latin typeface="Arial"/>
                          <a:ea typeface="游ゴシック"/>
                        </a:rPr>
                        <a:t>6,178</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00" b="1" i="0">
                          <a:solidFill>
                            <a:srgbClr val="000000"/>
                          </a:solidFill>
                          <a:latin typeface="Arial"/>
                          <a:ea typeface="游ゴシック"/>
                        </a:rPr>
                        <a:t>95,552</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301752">
                <a:tc>
                  <a:txBody>
                    <a:bodyPr wrap="square"/>
                    <a:lstStyle/>
                    <a:p>
                      <a:pPr algn="l"/>
                      <a:r>
                        <a:rPr sz="900" b="0" i="0">
                          <a:solidFill>
                            <a:srgbClr val="000000"/>
                          </a:solidFill>
                          <a:latin typeface="游ゴシック"/>
                          <a:ea typeface="游ゴシック"/>
                        </a:rPr>
                        <a:t>販管費</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900" b="0" i="0">
                          <a:solidFill>
                            <a:srgbClr val="000000"/>
                          </a:solidFill>
                          <a:latin typeface="Arial"/>
                          <a:ea typeface="游ゴシック"/>
                        </a:rPr>
                        <a:t>71,242</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00" b="0" i="0">
                          <a:solidFill>
                            <a:srgbClr val="000000"/>
                          </a:solidFill>
                          <a:latin typeface="Arial"/>
                          <a:ea typeface="游ゴシック"/>
                        </a:rPr>
                        <a:t>△307</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00" b="0" i="0">
                          <a:solidFill>
                            <a:srgbClr val="000000"/>
                          </a:solidFill>
                          <a:latin typeface="Arial"/>
                          <a:ea typeface="游ゴシック"/>
                        </a:rPr>
                        <a:t>70,935</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00" b="0" i="0">
                          <a:solidFill>
                            <a:srgbClr val="000000"/>
                          </a:solidFill>
                          <a:latin typeface="Arial"/>
                          <a:ea typeface="游ゴシック"/>
                        </a:rPr>
                        <a:t>71,726</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00" b="0" i="0">
                          <a:solidFill>
                            <a:srgbClr val="000000"/>
                          </a:solidFill>
                          <a:latin typeface="Arial"/>
                          <a:ea typeface="游ゴシック"/>
                        </a:rPr>
                        <a:t>-</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00" b="0" i="0">
                          <a:solidFill>
                            <a:srgbClr val="000000"/>
                          </a:solidFill>
                          <a:latin typeface="Arial"/>
                          <a:ea typeface="游ゴシック"/>
                        </a:rPr>
                        <a:t>71,726</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00" b="0" i="0">
                          <a:solidFill>
                            <a:srgbClr val="000000"/>
                          </a:solidFill>
                          <a:latin typeface="Arial"/>
                          <a:ea typeface="游ゴシック"/>
                        </a:rPr>
                        <a:t>81,349</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00" b="0" i="0">
                          <a:solidFill>
                            <a:srgbClr val="000000"/>
                          </a:solidFill>
                          <a:latin typeface="Arial"/>
                          <a:ea typeface="游ゴシック"/>
                        </a:rPr>
                        <a:t>-</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00" b="0" i="0">
                          <a:solidFill>
                            <a:srgbClr val="000000"/>
                          </a:solidFill>
                          <a:latin typeface="Arial"/>
                          <a:ea typeface="游ゴシック"/>
                        </a:rPr>
                        <a:t>81,349</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301752">
                <a:tc>
                  <a:txBody>
                    <a:bodyPr wrap="square"/>
                    <a:lstStyle/>
                    <a:p>
                      <a:pPr algn="l"/>
                      <a:r>
                        <a:rPr sz="900" b="1" i="0">
                          <a:solidFill>
                            <a:srgbClr val="000000"/>
                          </a:solidFill>
                          <a:latin typeface="游ゴシック"/>
                          <a:ea typeface="游ゴシック"/>
                        </a:rPr>
                        <a:t>営業利益</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c>
                  <a:txBody>
                    <a:bodyPr wrap="square"/>
                    <a:lstStyle/>
                    <a:p>
                      <a:pPr algn="r"/>
                      <a:r>
                        <a:rPr sz="900" b="1" i="0">
                          <a:solidFill>
                            <a:srgbClr val="000000"/>
                          </a:solidFill>
                          <a:latin typeface="Arial"/>
                          <a:ea typeface="游ゴシック"/>
                        </a:rPr>
                        <a:t>25,325</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c>
                  <a:txBody>
                    <a:bodyPr wrap="square"/>
                    <a:lstStyle/>
                    <a:p>
                      <a:pPr algn="r"/>
                      <a:r>
                        <a:rPr sz="900" b="1" i="0">
                          <a:solidFill>
                            <a:srgbClr val="000000"/>
                          </a:solidFill>
                          <a:latin typeface="Arial"/>
                          <a:ea typeface="游ゴシック"/>
                        </a:rPr>
                        <a:t>307</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c>
                  <a:txBody>
                    <a:bodyPr wrap="square"/>
                    <a:lstStyle/>
                    <a:p>
                      <a:pPr algn="r"/>
                      <a:r>
                        <a:rPr sz="900" b="1" i="0">
                          <a:solidFill>
                            <a:srgbClr val="000000"/>
                          </a:solidFill>
                          <a:latin typeface="Arial"/>
                          <a:ea typeface="游ゴシック"/>
                        </a:rPr>
                        <a:t>25,632</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c>
                  <a:txBody>
                    <a:bodyPr wrap="square"/>
                    <a:lstStyle/>
                    <a:p>
                      <a:pPr algn="r"/>
                      <a:r>
                        <a:rPr sz="900" b="1" i="0">
                          <a:solidFill>
                            <a:srgbClr val="000000"/>
                          </a:solidFill>
                          <a:latin typeface="Arial"/>
                          <a:ea typeface="游ゴシック"/>
                        </a:rPr>
                        <a:t>13,659</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c>
                  <a:txBody>
                    <a:bodyPr wrap="square"/>
                    <a:lstStyle/>
                    <a:p>
                      <a:pPr algn="r"/>
                      <a:r>
                        <a:rPr sz="900" b="1" i="0">
                          <a:solidFill>
                            <a:srgbClr val="000000"/>
                          </a:solidFill>
                          <a:latin typeface="Arial"/>
                          <a:ea typeface="游ゴシック"/>
                        </a:rPr>
                        <a:t>-</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c>
                  <a:txBody>
                    <a:bodyPr wrap="square"/>
                    <a:lstStyle/>
                    <a:p>
                      <a:pPr algn="r"/>
                      <a:r>
                        <a:rPr sz="900" b="1" i="0">
                          <a:solidFill>
                            <a:srgbClr val="000000"/>
                          </a:solidFill>
                          <a:latin typeface="Arial"/>
                          <a:ea typeface="游ゴシック"/>
                        </a:rPr>
                        <a:t>13,659</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c>
                  <a:txBody>
                    <a:bodyPr wrap="square"/>
                    <a:lstStyle/>
                    <a:p>
                      <a:pPr algn="r"/>
                      <a:r>
                        <a:rPr sz="900" b="1" i="0">
                          <a:solidFill>
                            <a:srgbClr val="000000"/>
                          </a:solidFill>
                          <a:latin typeface="Arial"/>
                          <a:ea typeface="游ゴシック"/>
                        </a:rPr>
                        <a:t>8,025</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c>
                  <a:txBody>
                    <a:bodyPr wrap="square"/>
                    <a:lstStyle/>
                    <a:p>
                      <a:pPr algn="r"/>
                      <a:r>
                        <a:rPr sz="900" b="1" i="0">
                          <a:solidFill>
                            <a:srgbClr val="000000"/>
                          </a:solidFill>
                          <a:latin typeface="Arial"/>
                          <a:ea typeface="游ゴシック"/>
                        </a:rPr>
                        <a:t>6,178</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c>
                  <a:txBody>
                    <a:bodyPr wrap="square"/>
                    <a:lstStyle/>
                    <a:p>
                      <a:pPr algn="r"/>
                      <a:r>
                        <a:rPr sz="900" b="1" i="0">
                          <a:solidFill>
                            <a:srgbClr val="000000"/>
                          </a:solidFill>
                          <a:latin typeface="Arial"/>
                          <a:ea typeface="游ゴシック"/>
                        </a:rPr>
                        <a:t>14,203</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r>
              <a:tr h="301752">
                <a:tc>
                  <a:txBody>
                    <a:bodyPr wrap="square"/>
                    <a:lstStyle/>
                    <a:p>
                      <a:pPr algn="l"/>
                      <a:r>
                        <a:rPr sz="900" b="0" i="0">
                          <a:solidFill>
                            <a:srgbClr val="000000"/>
                          </a:solidFill>
                          <a:latin typeface="游ゴシック"/>
                          <a:ea typeface="游ゴシック"/>
                        </a:rPr>
                        <a:t>減価償却費</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900" b="0" i="0">
                          <a:solidFill>
                            <a:srgbClr val="000000"/>
                          </a:solidFill>
                          <a:latin typeface="Arial"/>
                          <a:ea typeface="游ゴシック"/>
                        </a:rPr>
                        <a:t>11,322</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00" b="0" i="0">
                          <a:solidFill>
                            <a:srgbClr val="000000"/>
                          </a:solidFill>
                          <a:latin typeface="Arial"/>
                          <a:ea typeface="游ゴシック"/>
                        </a:rPr>
                        <a:t>-</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00" b="0" i="0">
                          <a:solidFill>
                            <a:srgbClr val="000000"/>
                          </a:solidFill>
                          <a:latin typeface="Arial"/>
                          <a:ea typeface="游ゴシック"/>
                        </a:rPr>
                        <a:t>11,322</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00" b="0" i="0">
                          <a:solidFill>
                            <a:srgbClr val="000000"/>
                          </a:solidFill>
                          <a:latin typeface="Arial"/>
                          <a:ea typeface="游ゴシック"/>
                        </a:rPr>
                        <a:t>20,418</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00" b="0" i="0">
                          <a:solidFill>
                            <a:srgbClr val="000000"/>
                          </a:solidFill>
                          <a:latin typeface="Arial"/>
                          <a:ea typeface="游ゴシック"/>
                        </a:rPr>
                        <a:t>-</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00" b="0" i="0">
                          <a:solidFill>
                            <a:srgbClr val="000000"/>
                          </a:solidFill>
                          <a:latin typeface="Arial"/>
                          <a:ea typeface="游ゴシック"/>
                        </a:rPr>
                        <a:t>20,418</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00" b="0" i="0">
                          <a:solidFill>
                            <a:srgbClr val="000000"/>
                          </a:solidFill>
                          <a:latin typeface="Arial"/>
                          <a:ea typeface="游ゴシック"/>
                        </a:rPr>
                        <a:t>22,335</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00" b="0" i="0">
                          <a:solidFill>
                            <a:srgbClr val="000000"/>
                          </a:solidFill>
                          <a:latin typeface="Arial"/>
                          <a:ea typeface="游ゴシック"/>
                        </a:rPr>
                        <a:t>-</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00" b="0" i="0">
                          <a:solidFill>
                            <a:srgbClr val="000000"/>
                          </a:solidFill>
                          <a:latin typeface="Arial"/>
                          <a:ea typeface="游ゴシック"/>
                        </a:rPr>
                        <a:t>22,335</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301752">
                <a:tc>
                  <a:txBody>
                    <a:bodyPr wrap="square"/>
                    <a:lstStyle/>
                    <a:p>
                      <a:pPr algn="l"/>
                      <a:r>
                        <a:rPr sz="900" b="1" i="0">
                          <a:solidFill>
                            <a:srgbClr val="000000"/>
                          </a:solidFill>
                          <a:latin typeface="游ゴシック"/>
                          <a:ea typeface="游ゴシック"/>
                        </a:rPr>
                        <a:t>EBITDA</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c>
                  <a:txBody>
                    <a:bodyPr wrap="square"/>
                    <a:lstStyle/>
                    <a:p>
                      <a:pPr algn="r"/>
                      <a:r>
                        <a:rPr sz="900" b="1" i="0">
                          <a:solidFill>
                            <a:srgbClr val="000000"/>
                          </a:solidFill>
                          <a:latin typeface="Arial"/>
                          <a:ea typeface="游ゴシック"/>
                        </a:rPr>
                        <a:t>36,647</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c>
                  <a:txBody>
                    <a:bodyPr wrap="square"/>
                    <a:lstStyle/>
                    <a:p>
                      <a:pPr algn="r"/>
                      <a:r>
                        <a:rPr sz="900" b="1" i="0">
                          <a:solidFill>
                            <a:srgbClr val="000000"/>
                          </a:solidFill>
                          <a:latin typeface="Arial"/>
                          <a:ea typeface="游ゴシック"/>
                        </a:rPr>
                        <a:t>307</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c>
                  <a:txBody>
                    <a:bodyPr wrap="square"/>
                    <a:lstStyle/>
                    <a:p>
                      <a:pPr algn="r"/>
                      <a:r>
                        <a:rPr sz="900" b="1" i="0">
                          <a:solidFill>
                            <a:srgbClr val="000000"/>
                          </a:solidFill>
                          <a:latin typeface="Arial"/>
                          <a:ea typeface="游ゴシック"/>
                        </a:rPr>
                        <a:t>36,954</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c>
                  <a:txBody>
                    <a:bodyPr wrap="square"/>
                    <a:lstStyle/>
                    <a:p>
                      <a:pPr algn="r"/>
                      <a:r>
                        <a:rPr sz="900" b="1" i="0">
                          <a:solidFill>
                            <a:srgbClr val="000000"/>
                          </a:solidFill>
                          <a:latin typeface="Arial"/>
                          <a:ea typeface="游ゴシック"/>
                        </a:rPr>
                        <a:t>34,077</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c>
                  <a:txBody>
                    <a:bodyPr wrap="square"/>
                    <a:lstStyle/>
                    <a:p>
                      <a:pPr algn="r"/>
                      <a:r>
                        <a:rPr sz="900" b="1" i="0">
                          <a:solidFill>
                            <a:srgbClr val="000000"/>
                          </a:solidFill>
                          <a:latin typeface="Arial"/>
                          <a:ea typeface="游ゴシック"/>
                        </a:rPr>
                        <a:t>-</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c>
                  <a:txBody>
                    <a:bodyPr wrap="square"/>
                    <a:lstStyle/>
                    <a:p>
                      <a:pPr algn="r"/>
                      <a:r>
                        <a:rPr sz="900" b="1" i="0">
                          <a:solidFill>
                            <a:srgbClr val="000000"/>
                          </a:solidFill>
                          <a:latin typeface="Arial"/>
                          <a:ea typeface="游ゴシック"/>
                        </a:rPr>
                        <a:t>34,077</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c>
                  <a:txBody>
                    <a:bodyPr wrap="square"/>
                    <a:lstStyle/>
                    <a:p>
                      <a:pPr algn="r"/>
                      <a:r>
                        <a:rPr sz="900" b="1" i="0">
                          <a:solidFill>
                            <a:srgbClr val="000000"/>
                          </a:solidFill>
                          <a:latin typeface="Arial"/>
                          <a:ea typeface="游ゴシック"/>
                        </a:rPr>
                        <a:t>30,361</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c>
                  <a:txBody>
                    <a:bodyPr wrap="square"/>
                    <a:lstStyle/>
                    <a:p>
                      <a:pPr algn="r"/>
                      <a:r>
                        <a:rPr sz="900" b="1" i="0">
                          <a:solidFill>
                            <a:srgbClr val="000000"/>
                          </a:solidFill>
                          <a:latin typeface="Arial"/>
                          <a:ea typeface="游ゴシック"/>
                        </a:rPr>
                        <a:t>6,178</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c>
                  <a:txBody>
                    <a:bodyPr wrap="square"/>
                    <a:lstStyle/>
                    <a:p>
                      <a:pPr algn="r"/>
                      <a:r>
                        <a:rPr sz="900" b="1" i="0">
                          <a:solidFill>
                            <a:srgbClr val="000000"/>
                          </a:solidFill>
                          <a:latin typeface="Arial"/>
                          <a:ea typeface="游ゴシック"/>
                        </a:rPr>
                        <a:t>36,539</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r>
            </a:tbl>
          </a:graphicData>
        </a:graphic>
      </p:graphicFrame>
      <p:sp>
        <p:nvSpPr>
          <p:cNvPr id="7" name="TextBox 6"/>
          <p:cNvSpPr txBox="1"/>
          <p:nvPr/>
        </p:nvSpPr>
        <p:spPr>
          <a:xfrm>
            <a:off x="8686800" y="1298448"/>
            <a:ext cx="1645920" cy="182880"/>
          </a:xfrm>
          <a:prstGeom prst="rect">
            <a:avLst/>
          </a:prstGeom>
          <a:noFill/>
        </p:spPr>
        <p:txBody>
          <a:bodyPr wrap="square" anchor="t" lIns="18288" rIns="18288" tIns="18288" bIns="18288"/>
          <a:lstStyle/>
          <a:p>
            <a:pPr algn="r"/>
            <a:r>
              <a:rPr sz="800" b="0" i="0">
                <a:solidFill>
                  <a:srgbClr val="404040"/>
                </a:solidFill>
                <a:latin typeface="游ゴシック"/>
                <a:ea typeface="游ゴシック"/>
              </a:rPr>
              <a:t>（単位：千円）</a:t>
            </a:r>
          </a:p>
        </p:txBody>
      </p:sp>
      <p:graphicFrame>
        <p:nvGraphicFramePr>
          <p:cNvPr id="8" name="Table 7"/>
          <p:cNvGraphicFramePr>
            <a:graphicFrameLocks noGrp="1"/>
          </p:cNvGraphicFramePr>
          <p:nvPr/>
        </p:nvGraphicFramePr>
        <p:xfrm>
          <a:off x="338328" y="4206240"/>
          <a:ext cx="10012680" cy="1536192"/>
        </p:xfrm>
        <a:graphic>
          <a:graphicData uri="http://schemas.openxmlformats.org/drawingml/2006/table">
            <a:tbl>
              <a:tblPr firstRow="0" bandRow="0">
                <a:tableStyleId>{5940675A-B579-460E-94D1-54222C63F5DA}</a:tableStyleId>
              </a:tblPr>
              <a:tblGrid>
                <a:gridCol w="2468880"/>
                <a:gridCol w="822960"/>
                <a:gridCol w="822960"/>
                <a:gridCol w="822960"/>
                <a:gridCol w="5074920"/>
              </a:tblGrid>
              <a:tr h="384048">
                <a:tc>
                  <a:txBody>
                    <a:bodyPr wrap="square"/>
                    <a:lstStyle/>
                    <a:p>
                      <a:pPr algn="ctr"/>
                      <a:r>
                        <a:rPr sz="900" b="1" i="0">
                          <a:solidFill>
                            <a:srgbClr val="FFFFFF"/>
                          </a:solidFill>
                          <a:latin typeface="游ゴシック"/>
                          <a:ea typeface="游ゴシック"/>
                        </a:rPr>
                        <a:t>調整項目</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0B3041"/>
                    </a:solidFill>
                  </a:tcPr>
                </a:tc>
                <a:tc>
                  <a:txBody>
                    <a:bodyPr wrap="square"/>
                    <a:lstStyle/>
                    <a:p>
                      <a:pPr algn="ctr"/>
                      <a:r>
                        <a:rPr sz="900" b="1" i="0">
                          <a:solidFill>
                            <a:srgbClr val="FFFFFF"/>
                          </a:solidFill>
                          <a:latin typeface="游ゴシック"/>
                          <a:ea typeface="游ゴシック"/>
                        </a:rPr>
                        <a:t>24/3期</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0B3041"/>
                    </a:solidFill>
                  </a:tcPr>
                </a:tc>
                <a:tc>
                  <a:txBody>
                    <a:bodyPr wrap="square"/>
                    <a:lstStyle/>
                    <a:p>
                      <a:pPr algn="ctr"/>
                      <a:r>
                        <a:rPr sz="900" b="1" i="0">
                          <a:solidFill>
                            <a:srgbClr val="FFFFFF"/>
                          </a:solidFill>
                          <a:latin typeface="游ゴシック"/>
                          <a:ea typeface="游ゴシック"/>
                        </a:rPr>
                        <a:t>25/3期</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0B3041"/>
                    </a:solidFill>
                  </a:tcPr>
                </a:tc>
                <a:tc>
                  <a:txBody>
                    <a:bodyPr wrap="square"/>
                    <a:lstStyle/>
                    <a:p>
                      <a:pPr algn="ctr"/>
                      <a:r>
                        <a:rPr sz="900" b="1" i="0">
                          <a:solidFill>
                            <a:srgbClr val="FFFFFF"/>
                          </a:solidFill>
                          <a:latin typeface="游ゴシック"/>
                          <a:ea typeface="游ゴシック"/>
                        </a:rPr>
                        <a:t>26/3期</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0B3041"/>
                    </a:solidFill>
                  </a:tcPr>
                </a:tc>
                <a:tc>
                  <a:txBody>
                    <a:bodyPr wrap="square"/>
                    <a:lstStyle/>
                    <a:p>
                      <a:pPr algn="ctr"/>
                      <a:r>
                        <a:rPr sz="900" b="1" i="0">
                          <a:solidFill>
                            <a:srgbClr val="FFFFFF"/>
                          </a:solidFill>
                          <a:latin typeface="游ゴシック"/>
                          <a:ea typeface="游ゴシック"/>
                        </a:rPr>
                        <a:t>調整理由</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0B3041"/>
                    </a:solidFill>
                  </a:tcPr>
                </a:tc>
              </a:tr>
              <a:tr h="384048">
                <a:tc>
                  <a:txBody>
                    <a:bodyPr wrap="square"/>
                    <a:lstStyle/>
                    <a:p>
                      <a:pPr algn="l"/>
                      <a:r>
                        <a:rPr sz="900" b="0" i="0">
                          <a:solidFill>
                            <a:srgbClr val="000000"/>
                          </a:solidFill>
                          <a:latin typeface="游ゴシック"/>
                          <a:ea typeface="游ゴシック"/>
                        </a:rPr>
                        <a:t>退職給与（製造原価・販管費）</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900" b="0" i="0">
                          <a:solidFill>
                            <a:srgbClr val="000000"/>
                          </a:solidFill>
                          <a:latin typeface="Arial"/>
                          <a:ea typeface="游ゴシック"/>
                        </a:rPr>
                        <a:t>307</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00" b="0" i="0">
                          <a:solidFill>
                            <a:srgbClr val="000000"/>
                          </a:solidFill>
                          <a:latin typeface="Arial"/>
                          <a:ea typeface="游ゴシック"/>
                        </a:rPr>
                        <a:t>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00" b="0" i="0">
                          <a:solidFill>
                            <a:srgbClr val="000000"/>
                          </a:solidFill>
                          <a:latin typeface="Arial"/>
                          <a:ea typeface="游ゴシック"/>
                        </a:rPr>
                        <a:t>6,178</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l"/>
                      <a:r>
                        <a:rPr sz="900" b="0" i="0">
                          <a:solidFill>
                            <a:srgbClr val="000000"/>
                          </a:solidFill>
                          <a:latin typeface="游ゴシック"/>
                          <a:ea typeface="游ゴシック"/>
                        </a:rPr>
                        <a:t>退職者に対する臨時的な支出と推察し加算（退職金規程・対象者は要確認）</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384048">
                <a:tc>
                  <a:txBody>
                    <a:bodyPr wrap="square"/>
                    <a:lstStyle/>
                    <a:p>
                      <a:pPr algn="l"/>
                      <a:r>
                        <a:rPr sz="900" b="0" i="0">
                          <a:solidFill>
                            <a:srgbClr val="000000"/>
                          </a:solidFill>
                          <a:latin typeface="游ゴシック"/>
                          <a:ea typeface="游ゴシック"/>
                        </a:rPr>
                        <a:t>役員報酬（新体制の標準報酬へ置換）</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900" b="0" i="0">
                          <a:solidFill>
                            <a:srgbClr val="000000"/>
                          </a:solidFill>
                          <a:latin typeface="Arial"/>
                          <a:ea typeface="游ゴシック"/>
                        </a:rPr>
                        <a:t>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00" b="0" i="0">
                          <a:solidFill>
                            <a:srgbClr val="000000"/>
                          </a:solidFill>
                          <a:latin typeface="Arial"/>
                          <a:ea typeface="游ゴシック"/>
                        </a:rPr>
                        <a:t>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00" b="0" i="0">
                          <a:solidFill>
                            <a:srgbClr val="000000"/>
                          </a:solidFill>
                          <a:latin typeface="Arial"/>
                          <a:ea typeface="游ゴシック"/>
                        </a:rPr>
                        <a:t>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l"/>
                      <a:r>
                        <a:rPr sz="900" b="0" i="0">
                          <a:solidFill>
                            <a:srgbClr val="000000"/>
                          </a:solidFill>
                          <a:latin typeface="游ゴシック"/>
                          <a:ea typeface="游ゴシック"/>
                        </a:rPr>
                        <a:t>現行7,200千円／年は経営者報酬として過大ではなく、後任経営者の標準報酬と同水準と想定し調整なし</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384048">
                <a:tc>
                  <a:txBody>
                    <a:bodyPr wrap="square"/>
                    <a:lstStyle/>
                    <a:p>
                      <a:pPr algn="l"/>
                      <a:r>
                        <a:rPr sz="900" b="1" i="0">
                          <a:solidFill>
                            <a:srgbClr val="000000"/>
                          </a:solidFill>
                          <a:latin typeface="游ゴシック"/>
                          <a:ea typeface="游ゴシック"/>
                        </a:rPr>
                        <a:t>調整額合計</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c>
                  <a:txBody>
                    <a:bodyPr wrap="square"/>
                    <a:lstStyle/>
                    <a:p>
                      <a:pPr algn="r"/>
                      <a:r>
                        <a:rPr sz="900" b="1" i="0">
                          <a:solidFill>
                            <a:srgbClr val="000000"/>
                          </a:solidFill>
                          <a:latin typeface="Arial"/>
                          <a:ea typeface="游ゴシック"/>
                        </a:rPr>
                        <a:t>307</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c>
                  <a:txBody>
                    <a:bodyPr wrap="square"/>
                    <a:lstStyle/>
                    <a:p>
                      <a:pPr algn="r"/>
                      <a:r>
                        <a:rPr sz="900" b="1" i="0">
                          <a:solidFill>
                            <a:srgbClr val="000000"/>
                          </a:solidFill>
                          <a:latin typeface="Arial"/>
                          <a:ea typeface="游ゴシック"/>
                        </a:rPr>
                        <a:t>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c>
                  <a:txBody>
                    <a:bodyPr wrap="square"/>
                    <a:lstStyle/>
                    <a:p>
                      <a:pPr algn="r"/>
                      <a:r>
                        <a:rPr sz="900" b="1" i="0">
                          <a:solidFill>
                            <a:srgbClr val="000000"/>
                          </a:solidFill>
                          <a:latin typeface="Arial"/>
                          <a:ea typeface="游ゴシック"/>
                        </a:rPr>
                        <a:t>6,178</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c>
                  <a:txBody>
                    <a:bodyPr wrap="square"/>
                    <a:lstStyle/>
                    <a:p>
                      <a:pPr algn="l"/>
                      <a:r>
                        <a:rPr sz="900" b="1" i="0">
                          <a:solidFill>
                            <a:srgbClr val="000000"/>
                          </a:solidFill>
                          <a:latin typeface="游ゴシック"/>
                          <a:ea typeface="游ゴシック"/>
                        </a:rPr>
                        <a:t>　</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r>
            </a:tbl>
          </a:graphicData>
        </a:graphic>
      </p:graphicFrame>
      <p:sp>
        <p:nvSpPr>
          <p:cNvPr id="9" name="TextBox 8"/>
          <p:cNvSpPr txBox="1"/>
          <p:nvPr/>
        </p:nvSpPr>
        <p:spPr>
          <a:xfrm>
            <a:off x="338328" y="5989320"/>
            <a:ext cx="9966960" cy="365760"/>
          </a:xfrm>
          <a:prstGeom prst="rect">
            <a:avLst/>
          </a:prstGeom>
          <a:noFill/>
        </p:spPr>
        <p:txBody>
          <a:bodyPr wrap="square" anchor="t" lIns="18288" rIns="18288" tIns="18288" bIns="18288"/>
          <a:lstStyle/>
          <a:p>
            <a:pPr algn="l"/>
            <a:r>
              <a:rPr sz="800" b="0" i="0">
                <a:solidFill>
                  <a:srgbClr val="404040"/>
                </a:solidFill>
                <a:latin typeface="游ゴシック Medium"/>
                <a:ea typeface="游ゴシック Medium"/>
              </a:rPr>
              <a:t>※調整しなかった項目：建物の償却停止（EBITDAベースのマーケットアプローチを重視することで対応）、支払手数料（内容要確認）、代表者からの駐車場賃借（継続前提）。</a:t>
            </a:r>
          </a:p>
          <a:p>
            <a:pPr algn="l"/>
            <a:r>
              <a:rPr sz="800" b="0" i="0">
                <a:solidFill>
                  <a:srgbClr val="404040"/>
                </a:solidFill>
                <a:latin typeface="游ゴシック Medium"/>
                <a:ea typeface="游ゴシック Medium"/>
              </a:rPr>
              <a:t>※本調整方針は企業概要書の「調整後EBITDA」と同一（案件マスター「修正PL」シート）。</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Valuation Details</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a:lstStyle/>
          <a:p>
            <a:r>
              <a:t>基準営業利益10,775千円に1〜3年を乗じた営業権を時価純資産△81,442千円に加算。株式価値は△70,667〜△49,117千円とマイナス。</a:t>
            </a:r>
          </a:p>
        </p:txBody>
      </p:sp>
      <p:sp>
        <p:nvSpPr>
          <p:cNvPr id="3" name="Title 2"/>
          <p:cNvSpPr>
            <a:spLocks noGrp="1"/>
          </p:cNvSpPr>
          <p:nvPr>
            <p:ph type="ctrTitle"/>
          </p:nvPr>
        </p:nvSpPr>
        <p:spPr/>
        <p:txBody>
          <a:bodyPr/>
          <a:lstStyle/>
          <a:p>
            <a:r>
              <a:t>年買法による算出</a:t>
            </a:r>
          </a:p>
        </p:txBody>
      </p:sp>
      <p:sp>
        <p:nvSpPr>
          <p:cNvPr id="5" name="タイトル 1">
            <a:extLst>
              <a:ext uri="{FF2B5EF4-FFF2-40B4-BE49-F238E27FC236}">
                <a16:creationId xmlns:a16="http://schemas.microsoft.com/office/drawing/2014/main" id="{4F103961-B26C-39D9-FB80-02B45E98D11A}"/>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Valuation Details</a:t>
            </a:r>
          </a:p>
        </p:txBody>
      </p:sp>
      <p:graphicFrame>
        <p:nvGraphicFramePr>
          <p:cNvPr id="6" name="Table 5"/>
          <p:cNvGraphicFramePr>
            <a:graphicFrameLocks noGrp="1"/>
          </p:cNvGraphicFramePr>
          <p:nvPr/>
        </p:nvGraphicFramePr>
        <p:xfrm>
          <a:off x="338328" y="1481328"/>
          <a:ext cx="7680960" cy="2176272"/>
        </p:xfrm>
        <a:graphic>
          <a:graphicData uri="http://schemas.openxmlformats.org/drawingml/2006/table">
            <a:tbl>
              <a:tblPr firstRow="0" bandRow="0">
                <a:tableStyleId>{5940675A-B579-460E-94D1-54222C63F5DA}</a:tableStyleId>
              </a:tblPr>
              <a:tblGrid>
                <a:gridCol w="2743200"/>
                <a:gridCol w="1188720"/>
                <a:gridCol w="1188720"/>
                <a:gridCol w="1188720"/>
                <a:gridCol w="1371600"/>
              </a:tblGrid>
              <a:tr h="310896">
                <a:tc>
                  <a:txBody>
                    <a:bodyPr wrap="square"/>
                    <a:lstStyle/>
                    <a:p>
                      <a:pPr algn="ctr"/>
                      <a:r>
                        <a:rPr sz="950" b="1" i="0">
                          <a:solidFill>
                            <a:srgbClr val="FFFFFF"/>
                          </a:solidFill>
                          <a:latin typeface="游ゴシック"/>
                          <a:ea typeface="游ゴシック"/>
                        </a:rPr>
                        <a:t>項目</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0B3041"/>
                    </a:solidFill>
                  </a:tcPr>
                </a:tc>
                <a:tc>
                  <a:txBody>
                    <a:bodyPr wrap="square"/>
                    <a:lstStyle/>
                    <a:p>
                      <a:pPr algn="ctr"/>
                      <a:r>
                        <a:rPr sz="950" b="1" i="0">
                          <a:solidFill>
                            <a:srgbClr val="FFFFFF"/>
                          </a:solidFill>
                          <a:latin typeface="游ゴシック"/>
                          <a:ea typeface="游ゴシック"/>
                        </a:rPr>
                        <a:t>24/3期</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0B3041"/>
                    </a:solidFill>
                  </a:tcPr>
                </a:tc>
                <a:tc>
                  <a:txBody>
                    <a:bodyPr wrap="square"/>
                    <a:lstStyle/>
                    <a:p>
                      <a:pPr algn="ctr"/>
                      <a:r>
                        <a:rPr sz="950" b="1" i="0">
                          <a:solidFill>
                            <a:srgbClr val="FFFFFF"/>
                          </a:solidFill>
                          <a:latin typeface="游ゴシック"/>
                          <a:ea typeface="游ゴシック"/>
                        </a:rPr>
                        <a:t>25/3期</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0B3041"/>
                    </a:solidFill>
                  </a:tcPr>
                </a:tc>
                <a:tc>
                  <a:txBody>
                    <a:bodyPr wrap="square"/>
                    <a:lstStyle/>
                    <a:p>
                      <a:pPr algn="ctr"/>
                      <a:r>
                        <a:rPr sz="950" b="1" i="0">
                          <a:solidFill>
                            <a:srgbClr val="FFFFFF"/>
                          </a:solidFill>
                          <a:latin typeface="游ゴシック"/>
                          <a:ea typeface="游ゴシック"/>
                        </a:rPr>
                        <a:t>26/3期</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0B3041"/>
                    </a:solidFill>
                  </a:tcPr>
                </a:tc>
                <a:tc>
                  <a:txBody>
                    <a:bodyPr wrap="square"/>
                    <a:lstStyle/>
                    <a:p>
                      <a:pPr algn="ctr"/>
                      <a:r>
                        <a:rPr sz="950" b="1" i="0">
                          <a:solidFill>
                            <a:srgbClr val="FFFFFF"/>
                          </a:solidFill>
                          <a:latin typeface="游ゴシック"/>
                          <a:ea typeface="游ゴシック"/>
                        </a:rPr>
                        <a:t>合計</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0B3041"/>
                    </a:solidFill>
                  </a:tcPr>
                </a:tc>
              </a:tr>
              <a:tr h="310896">
                <a:tc>
                  <a:txBody>
                    <a:bodyPr wrap="square"/>
                    <a:lstStyle/>
                    <a:p>
                      <a:pPr algn="l"/>
                      <a:r>
                        <a:rPr sz="950" b="0" i="0">
                          <a:solidFill>
                            <a:srgbClr val="000000"/>
                          </a:solidFill>
                          <a:latin typeface="游ゴシック"/>
                          <a:ea typeface="游ゴシック"/>
                        </a:rPr>
                        <a:t>修正後営業利益</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950" b="0" i="0">
                          <a:solidFill>
                            <a:srgbClr val="000000"/>
                          </a:solidFill>
                          <a:latin typeface="Arial"/>
                          <a:ea typeface="游ゴシック"/>
                        </a:rPr>
                        <a:t>25,632</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50" b="0" i="0">
                          <a:solidFill>
                            <a:srgbClr val="000000"/>
                          </a:solidFill>
                          <a:latin typeface="Arial"/>
                          <a:ea typeface="游ゴシック"/>
                        </a:rPr>
                        <a:t>13,659</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50" b="0" i="0">
                          <a:solidFill>
                            <a:srgbClr val="000000"/>
                          </a:solidFill>
                          <a:latin typeface="Arial"/>
                          <a:ea typeface="游ゴシック"/>
                        </a:rPr>
                        <a:t>14,203</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50" b="0" i="0">
                          <a:solidFill>
                            <a:srgbClr val="000000"/>
                          </a:solidFill>
                          <a:latin typeface="Arial"/>
                          <a:ea typeface="游ゴシック"/>
                        </a:rPr>
                        <a:t>　</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310896">
                <a:tc>
                  <a:txBody>
                    <a:bodyPr wrap="square"/>
                    <a:lstStyle/>
                    <a:p>
                      <a:pPr algn="l"/>
                      <a:r>
                        <a:rPr sz="950" b="0" i="0">
                          <a:solidFill>
                            <a:srgbClr val="000000"/>
                          </a:solidFill>
                          <a:latin typeface="游ゴシック"/>
                          <a:ea typeface="游ゴシック"/>
                        </a:rPr>
                        <a:t>税考慮額（△34%）</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950" b="0" i="0">
                          <a:solidFill>
                            <a:srgbClr val="000000"/>
                          </a:solidFill>
                          <a:latin typeface="Arial"/>
                          <a:ea typeface="游ゴシック"/>
                        </a:rPr>
                        <a:t>△8,715</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50" b="0" i="0">
                          <a:solidFill>
                            <a:srgbClr val="000000"/>
                          </a:solidFill>
                          <a:latin typeface="Arial"/>
                          <a:ea typeface="游ゴシック"/>
                        </a:rPr>
                        <a:t>△4,644</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50" b="0" i="0">
                          <a:solidFill>
                            <a:srgbClr val="000000"/>
                          </a:solidFill>
                          <a:latin typeface="Arial"/>
                          <a:ea typeface="游ゴシック"/>
                        </a:rPr>
                        <a:t>△4,829</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50" b="0" i="0">
                          <a:solidFill>
                            <a:srgbClr val="000000"/>
                          </a:solidFill>
                          <a:latin typeface="Arial"/>
                          <a:ea typeface="游ゴシック"/>
                        </a:rPr>
                        <a:t>　</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310896">
                <a:tc>
                  <a:txBody>
                    <a:bodyPr wrap="square"/>
                    <a:lstStyle/>
                    <a:p>
                      <a:pPr algn="l"/>
                      <a:r>
                        <a:rPr sz="950" b="0" i="0">
                          <a:solidFill>
                            <a:srgbClr val="000000"/>
                          </a:solidFill>
                          <a:latin typeface="游ゴシック"/>
                          <a:ea typeface="游ゴシック"/>
                        </a:rPr>
                        <a:t>税考慮後営業利益</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950" b="0" i="0">
                          <a:solidFill>
                            <a:srgbClr val="000000"/>
                          </a:solidFill>
                          <a:latin typeface="Arial"/>
                          <a:ea typeface="游ゴシック"/>
                        </a:rPr>
                        <a:t>16,917</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50" b="0" i="0">
                          <a:solidFill>
                            <a:srgbClr val="000000"/>
                          </a:solidFill>
                          <a:latin typeface="Arial"/>
                          <a:ea typeface="游ゴシック"/>
                        </a:rPr>
                        <a:t>9,015</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50" b="0" i="0">
                          <a:solidFill>
                            <a:srgbClr val="000000"/>
                          </a:solidFill>
                          <a:latin typeface="Arial"/>
                          <a:ea typeface="游ゴシック"/>
                        </a:rPr>
                        <a:t>9,374</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50" b="0" i="0">
                          <a:solidFill>
                            <a:srgbClr val="000000"/>
                          </a:solidFill>
                          <a:latin typeface="Arial"/>
                          <a:ea typeface="游ゴシック"/>
                        </a:rPr>
                        <a:t>　</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310896">
                <a:tc>
                  <a:txBody>
                    <a:bodyPr wrap="square"/>
                    <a:lstStyle/>
                    <a:p>
                      <a:pPr algn="l"/>
                      <a:r>
                        <a:rPr sz="950" b="0" i="0">
                          <a:solidFill>
                            <a:srgbClr val="000000"/>
                          </a:solidFill>
                          <a:latin typeface="游ゴシック"/>
                          <a:ea typeface="游ゴシック"/>
                        </a:rPr>
                        <a:t>加重</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950" b="0" i="0">
                          <a:solidFill>
                            <a:srgbClr val="000000"/>
                          </a:solidFill>
                          <a:latin typeface="Arial"/>
                          <a:ea typeface="游ゴシック"/>
                        </a:rPr>
                        <a:t>20%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50" b="0" i="0">
                          <a:solidFill>
                            <a:srgbClr val="000000"/>
                          </a:solidFill>
                          <a:latin typeface="Arial"/>
                          <a:ea typeface="游ゴシック"/>
                        </a:rPr>
                        <a:t>30%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50" b="0" i="0">
                          <a:solidFill>
                            <a:srgbClr val="000000"/>
                          </a:solidFill>
                          <a:latin typeface="Arial"/>
                          <a:ea typeface="游ゴシック"/>
                        </a:rPr>
                        <a:t>50%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50" b="0" i="0">
                          <a:solidFill>
                            <a:srgbClr val="000000"/>
                          </a:solidFill>
                          <a:latin typeface="Arial"/>
                          <a:ea typeface="游ゴシック"/>
                        </a:rPr>
                        <a:t>　</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310896">
                <a:tc>
                  <a:txBody>
                    <a:bodyPr wrap="square"/>
                    <a:lstStyle/>
                    <a:p>
                      <a:pPr algn="l"/>
                      <a:r>
                        <a:rPr sz="950" b="0" i="0">
                          <a:solidFill>
                            <a:srgbClr val="000000"/>
                          </a:solidFill>
                          <a:latin typeface="游ゴシック"/>
                          <a:ea typeface="游ゴシック"/>
                        </a:rPr>
                        <a:t>加重後</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950" b="0" i="0">
                          <a:solidFill>
                            <a:srgbClr val="000000"/>
                          </a:solidFill>
                          <a:latin typeface="Arial"/>
                          <a:ea typeface="游ゴシック"/>
                        </a:rPr>
                        <a:t>3,383</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50" b="0" i="0">
                          <a:solidFill>
                            <a:srgbClr val="000000"/>
                          </a:solidFill>
                          <a:latin typeface="Arial"/>
                          <a:ea typeface="游ゴシック"/>
                        </a:rPr>
                        <a:t>2,704</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50" b="0" i="0">
                          <a:solidFill>
                            <a:srgbClr val="000000"/>
                          </a:solidFill>
                          <a:latin typeface="Arial"/>
                          <a:ea typeface="游ゴシック"/>
                        </a:rPr>
                        <a:t>4,687</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50" b="0" i="0">
                          <a:solidFill>
                            <a:srgbClr val="000000"/>
                          </a:solidFill>
                          <a:latin typeface="Arial"/>
                          <a:ea typeface="游ゴシック"/>
                        </a:rPr>
                        <a:t>　</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310896">
                <a:tc>
                  <a:txBody>
                    <a:bodyPr wrap="square"/>
                    <a:lstStyle/>
                    <a:p>
                      <a:pPr algn="l"/>
                      <a:r>
                        <a:rPr sz="950" b="1" i="0">
                          <a:solidFill>
                            <a:srgbClr val="000000"/>
                          </a:solidFill>
                          <a:latin typeface="游ゴシック"/>
                          <a:ea typeface="游ゴシック"/>
                        </a:rPr>
                        <a:t>基準営業利益（加重平均）</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c>
                  <a:txBody>
                    <a:bodyPr wrap="square"/>
                    <a:lstStyle/>
                    <a:p>
                      <a:pPr algn="r"/>
                      <a:r>
                        <a:rPr sz="950" b="1" i="0">
                          <a:solidFill>
                            <a:srgbClr val="000000"/>
                          </a:solidFill>
                          <a:latin typeface="Arial"/>
                          <a:ea typeface="游ゴシック"/>
                        </a:rPr>
                        <a:t>　</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c>
                  <a:txBody>
                    <a:bodyPr wrap="square"/>
                    <a:lstStyle/>
                    <a:p>
                      <a:pPr algn="r"/>
                      <a:r>
                        <a:rPr sz="950" b="1" i="0">
                          <a:solidFill>
                            <a:srgbClr val="000000"/>
                          </a:solidFill>
                          <a:latin typeface="Arial"/>
                          <a:ea typeface="游ゴシック"/>
                        </a:rPr>
                        <a:t>　</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c>
                  <a:txBody>
                    <a:bodyPr wrap="square"/>
                    <a:lstStyle/>
                    <a:p>
                      <a:pPr algn="r"/>
                      <a:r>
                        <a:rPr sz="950" b="1" i="0">
                          <a:solidFill>
                            <a:srgbClr val="000000"/>
                          </a:solidFill>
                          <a:latin typeface="Arial"/>
                          <a:ea typeface="游ゴシック"/>
                        </a:rPr>
                        <a:t>　</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c>
                  <a:txBody>
                    <a:bodyPr wrap="square"/>
                    <a:lstStyle/>
                    <a:p>
                      <a:pPr algn="r"/>
                      <a:r>
                        <a:rPr sz="950" b="1" i="0">
                          <a:solidFill>
                            <a:srgbClr val="000000"/>
                          </a:solidFill>
                          <a:latin typeface="Arial"/>
                          <a:ea typeface="游ゴシック"/>
                        </a:rPr>
                        <a:t>10,775</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r>
            </a:tbl>
          </a:graphicData>
        </a:graphic>
      </p:graphicFrame>
      <p:graphicFrame>
        <p:nvGraphicFramePr>
          <p:cNvPr id="7" name="Table 6"/>
          <p:cNvGraphicFramePr>
            <a:graphicFrameLocks noGrp="1"/>
          </p:cNvGraphicFramePr>
          <p:nvPr/>
        </p:nvGraphicFramePr>
        <p:xfrm>
          <a:off x="338328" y="3886200"/>
          <a:ext cx="6309360" cy="1737360"/>
        </p:xfrm>
        <a:graphic>
          <a:graphicData uri="http://schemas.openxmlformats.org/drawingml/2006/table">
            <a:tbl>
              <a:tblPr firstRow="0" bandRow="0">
                <a:tableStyleId>{5940675A-B579-460E-94D1-54222C63F5DA}</a:tableStyleId>
              </a:tblPr>
              <a:tblGrid>
                <a:gridCol w="2743200"/>
                <a:gridCol w="1188720"/>
                <a:gridCol w="1188720"/>
                <a:gridCol w="1188720"/>
              </a:tblGrid>
              <a:tr h="347472">
                <a:tc>
                  <a:txBody>
                    <a:bodyPr wrap="square"/>
                    <a:lstStyle/>
                    <a:p>
                      <a:pPr algn="ctr"/>
                      <a:r>
                        <a:rPr sz="950" b="1" i="0">
                          <a:solidFill>
                            <a:srgbClr val="FFFFFF"/>
                          </a:solidFill>
                          <a:latin typeface="游ゴシック"/>
                          <a:ea typeface="游ゴシック"/>
                        </a:rPr>
                        <a:t>　</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0B3041"/>
                    </a:solidFill>
                  </a:tcPr>
                </a:tc>
                <a:tc>
                  <a:txBody>
                    <a:bodyPr wrap="square"/>
                    <a:lstStyle/>
                    <a:p>
                      <a:pPr algn="ctr"/>
                      <a:r>
                        <a:rPr sz="950" b="1" i="0">
                          <a:solidFill>
                            <a:srgbClr val="FFFFFF"/>
                          </a:solidFill>
                          <a:latin typeface="游ゴシック"/>
                          <a:ea typeface="游ゴシック"/>
                        </a:rPr>
                        <a:t>下限（1年）</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0B3041"/>
                    </a:solidFill>
                  </a:tcPr>
                </a:tc>
                <a:tc>
                  <a:txBody>
                    <a:bodyPr wrap="square"/>
                    <a:lstStyle/>
                    <a:p>
                      <a:pPr algn="ctr"/>
                      <a:r>
                        <a:rPr sz="950" b="1" i="0">
                          <a:solidFill>
                            <a:srgbClr val="FFFFFF"/>
                          </a:solidFill>
                          <a:latin typeface="游ゴシック"/>
                          <a:ea typeface="游ゴシック"/>
                        </a:rPr>
                        <a:t>中央（2年）</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0B3041"/>
                    </a:solidFill>
                  </a:tcPr>
                </a:tc>
                <a:tc>
                  <a:txBody>
                    <a:bodyPr wrap="square"/>
                    <a:lstStyle/>
                    <a:p>
                      <a:pPr algn="ctr"/>
                      <a:r>
                        <a:rPr sz="950" b="1" i="0">
                          <a:solidFill>
                            <a:srgbClr val="FFFFFF"/>
                          </a:solidFill>
                          <a:latin typeface="游ゴシック"/>
                          <a:ea typeface="游ゴシック"/>
                        </a:rPr>
                        <a:t>上限（3年）</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0B3041"/>
                    </a:solidFill>
                  </a:tcPr>
                </a:tc>
              </a:tr>
              <a:tr h="347472">
                <a:tc>
                  <a:txBody>
                    <a:bodyPr wrap="square"/>
                    <a:lstStyle/>
                    <a:p>
                      <a:pPr algn="l"/>
                      <a:r>
                        <a:rPr sz="950" b="0" i="0">
                          <a:solidFill>
                            <a:srgbClr val="000000"/>
                          </a:solidFill>
                          <a:latin typeface="游ゴシック"/>
                          <a:ea typeface="游ゴシック"/>
                        </a:rPr>
                        <a:t>営業権</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950" b="0" i="0">
                          <a:solidFill>
                            <a:srgbClr val="000000"/>
                          </a:solidFill>
                          <a:latin typeface="Arial"/>
                          <a:ea typeface="游ゴシック"/>
                        </a:rPr>
                        <a:t>10,775</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50" b="0" i="0">
                          <a:solidFill>
                            <a:srgbClr val="000000"/>
                          </a:solidFill>
                          <a:latin typeface="Arial"/>
                          <a:ea typeface="游ゴシック"/>
                        </a:rPr>
                        <a:t>21,550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50" b="0" i="0">
                          <a:solidFill>
                            <a:srgbClr val="000000"/>
                          </a:solidFill>
                          <a:latin typeface="Arial"/>
                          <a:ea typeface="游ゴシック"/>
                        </a:rPr>
                        <a:t>32,325</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347472">
                <a:tc>
                  <a:txBody>
                    <a:bodyPr wrap="square"/>
                    <a:lstStyle/>
                    <a:p>
                      <a:pPr algn="l"/>
                      <a:r>
                        <a:rPr sz="950" b="0" i="0">
                          <a:solidFill>
                            <a:srgbClr val="000000"/>
                          </a:solidFill>
                          <a:latin typeface="游ゴシック"/>
                          <a:ea typeface="游ゴシック"/>
                        </a:rPr>
                        <a:t>時価純資産</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950" b="0" i="0">
                          <a:solidFill>
                            <a:srgbClr val="000000"/>
                          </a:solidFill>
                          <a:latin typeface="Arial"/>
                          <a:ea typeface="游ゴシック"/>
                        </a:rPr>
                        <a:t>△81,442</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50" b="0" i="0">
                          <a:solidFill>
                            <a:srgbClr val="000000"/>
                          </a:solidFill>
                          <a:latin typeface="Arial"/>
                          <a:ea typeface="游ゴシック"/>
                        </a:rPr>
                        <a:t>△81,442</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50" b="0" i="0">
                          <a:solidFill>
                            <a:srgbClr val="000000"/>
                          </a:solidFill>
                          <a:latin typeface="Arial"/>
                          <a:ea typeface="游ゴシック"/>
                        </a:rPr>
                        <a:t>△81,442</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347472">
                <a:tc>
                  <a:txBody>
                    <a:bodyPr wrap="square"/>
                    <a:lstStyle/>
                    <a:p>
                      <a:pPr algn="l"/>
                      <a:r>
                        <a:rPr sz="950" b="1" i="0">
                          <a:solidFill>
                            <a:srgbClr val="000000"/>
                          </a:solidFill>
                          <a:latin typeface="游ゴシック"/>
                          <a:ea typeface="游ゴシック"/>
                        </a:rPr>
                        <a:t>想定株式価値</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c>
                  <a:txBody>
                    <a:bodyPr wrap="square"/>
                    <a:lstStyle/>
                    <a:p>
                      <a:pPr algn="r"/>
                      <a:r>
                        <a:rPr sz="950" b="1" i="0">
                          <a:solidFill>
                            <a:srgbClr val="000000"/>
                          </a:solidFill>
                          <a:latin typeface="Arial"/>
                          <a:ea typeface="游ゴシック"/>
                        </a:rPr>
                        <a:t>△70,667</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c>
                  <a:txBody>
                    <a:bodyPr wrap="square"/>
                    <a:lstStyle/>
                    <a:p>
                      <a:pPr algn="r"/>
                      <a:r>
                        <a:rPr sz="950" b="1" i="0">
                          <a:solidFill>
                            <a:srgbClr val="000000"/>
                          </a:solidFill>
                          <a:latin typeface="Arial"/>
                          <a:ea typeface="游ゴシック"/>
                        </a:rPr>
                        <a:t>△59,892</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c>
                  <a:txBody>
                    <a:bodyPr wrap="square"/>
                    <a:lstStyle/>
                    <a:p>
                      <a:pPr algn="r"/>
                      <a:r>
                        <a:rPr sz="950" b="1" i="0">
                          <a:solidFill>
                            <a:srgbClr val="000000"/>
                          </a:solidFill>
                          <a:latin typeface="Arial"/>
                          <a:ea typeface="游ゴシック"/>
                        </a:rPr>
                        <a:t>△49,117</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r>
              <a:tr h="347472">
                <a:tc>
                  <a:txBody>
                    <a:bodyPr wrap="square"/>
                    <a:lstStyle/>
                    <a:p>
                      <a:pPr algn="l"/>
                      <a:r>
                        <a:rPr sz="800" b="0" i="0">
                          <a:solidFill>
                            <a:srgbClr val="404040"/>
                          </a:solidFill>
                          <a:latin typeface="游ゴシック"/>
                          <a:ea typeface="游ゴシック"/>
                        </a:rPr>
                        <a:t>（感応度）建物を簿価評価した場合</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800" b="0" i="0">
                          <a:solidFill>
                            <a:srgbClr val="404040"/>
                          </a:solidFill>
                          <a:latin typeface="Arial"/>
                          <a:ea typeface="游ゴシック"/>
                        </a:rPr>
                        <a:t>97,353</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404040"/>
                          </a:solidFill>
                          <a:latin typeface="Arial"/>
                          <a:ea typeface="游ゴシック"/>
                        </a:rPr>
                        <a:t>108,128</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404040"/>
                          </a:solidFill>
                          <a:latin typeface="Arial"/>
                          <a:ea typeface="游ゴシック"/>
                        </a:rPr>
                        <a:t>118,903</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bl>
          </a:graphicData>
        </a:graphic>
      </p:graphicFrame>
      <p:sp>
        <p:nvSpPr>
          <p:cNvPr id="8" name="TextBox 7"/>
          <p:cNvSpPr txBox="1"/>
          <p:nvPr/>
        </p:nvSpPr>
        <p:spPr>
          <a:xfrm>
            <a:off x="7772400" y="1298448"/>
            <a:ext cx="1188720" cy="182880"/>
          </a:xfrm>
          <a:prstGeom prst="rect">
            <a:avLst/>
          </a:prstGeom>
          <a:noFill/>
        </p:spPr>
        <p:txBody>
          <a:bodyPr wrap="square" anchor="t" lIns="18288" rIns="18288" tIns="18288" bIns="18288"/>
          <a:lstStyle/>
          <a:p>
            <a:pPr algn="r"/>
            <a:r>
              <a:rPr sz="800" b="0" i="0">
                <a:solidFill>
                  <a:srgbClr val="404040"/>
                </a:solidFill>
                <a:latin typeface="游ゴシック"/>
                <a:ea typeface="游ゴシック"/>
              </a:rPr>
              <a:t>（単位：千円）</a:t>
            </a:r>
          </a:p>
        </p:txBody>
      </p:sp>
      <p:sp>
        <p:nvSpPr>
          <p:cNvPr id="9" name="Rectangle 8"/>
          <p:cNvSpPr/>
          <p:nvPr/>
        </p:nvSpPr>
        <p:spPr>
          <a:xfrm>
            <a:off x="7680960" y="3886200"/>
            <a:ext cx="2651760" cy="2194560"/>
          </a:xfrm>
          <a:prstGeom prst="rect">
            <a:avLst/>
          </a:prstGeom>
          <a:solidFill>
            <a:srgbClr val="FFFFFF"/>
          </a:solidFill>
          <a:ln w="12700">
            <a:solidFill>
              <a:srgbClr val="A6A6A6"/>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p>
        </p:txBody>
      </p:sp>
      <p:sp>
        <p:nvSpPr>
          <p:cNvPr id="10" name="TextBox 9"/>
          <p:cNvSpPr txBox="1"/>
          <p:nvPr/>
        </p:nvSpPr>
        <p:spPr>
          <a:xfrm>
            <a:off x="7680960" y="3959352"/>
            <a:ext cx="2651760" cy="292608"/>
          </a:xfrm>
          <a:prstGeom prst="rect">
            <a:avLst/>
          </a:prstGeom>
          <a:noFill/>
        </p:spPr>
        <p:txBody>
          <a:bodyPr wrap="square" anchor="t" lIns="18288" rIns="18288" tIns="18288" bIns="18288"/>
          <a:lstStyle/>
          <a:p>
            <a:pPr algn="ctr"/>
            <a:r>
              <a:rPr sz="1100" b="1" i="0">
                <a:solidFill>
                  <a:srgbClr val="0B3041"/>
                </a:solidFill>
                <a:latin typeface="Arial"/>
                <a:ea typeface="游ゴシック"/>
              </a:rPr>
              <a:t>Point</a:t>
            </a:r>
          </a:p>
        </p:txBody>
      </p:sp>
      <p:sp>
        <p:nvSpPr>
          <p:cNvPr id="11" name="TextBox 10"/>
          <p:cNvSpPr txBox="1"/>
          <p:nvPr/>
        </p:nvSpPr>
        <p:spPr>
          <a:xfrm>
            <a:off x="7808976" y="4297680"/>
            <a:ext cx="2395728" cy="1737360"/>
          </a:xfrm>
          <a:prstGeom prst="rect">
            <a:avLst/>
          </a:prstGeom>
          <a:noFill/>
        </p:spPr>
        <p:txBody>
          <a:bodyPr wrap="square" anchor="t" lIns="18288" rIns="18288" tIns="18288" bIns="18288"/>
          <a:lstStyle/>
          <a:p>
            <a:pPr algn="l">
              <a:lnSpc>
                <a:spcPct val="105000"/>
              </a:lnSpc>
              <a:spcBef>
                <a:spcPts val="0"/>
              </a:spcBef>
            </a:pPr>
            <a:r>
              <a:rPr sz="900" b="1" i="0">
                <a:solidFill>
                  <a:srgbClr val="000000"/>
                </a:solidFill>
                <a:latin typeface="游ゴシック"/>
                <a:ea typeface="游ゴシック"/>
              </a:rPr>
              <a:t>≪ポイント≫</a:t>
            </a:r>
          </a:p>
          <a:p>
            <a:pPr algn="l">
              <a:lnSpc>
                <a:spcPct val="105000"/>
              </a:lnSpc>
            </a:pPr>
            <a:r>
              <a:rPr sz="850" b="0" i="0">
                <a:solidFill>
                  <a:srgbClr val="000000"/>
                </a:solidFill>
                <a:latin typeface="游ゴシック"/>
                <a:ea typeface="游ゴシック"/>
              </a:rPr>
              <a:t>・基本ケースでは時価純資産のマイナスを営業権で補えない。</a:t>
            </a:r>
          </a:p>
          <a:p>
            <a:pPr algn="l">
              <a:lnSpc>
                <a:spcPct val="105000"/>
              </a:lnSpc>
            </a:pPr>
            <a:r>
              <a:rPr sz="850" b="0" i="0">
                <a:solidFill>
                  <a:srgbClr val="000000"/>
                </a:solidFill>
                <a:latin typeface="游ゴシック"/>
                <a:ea typeface="游ゴシック"/>
              </a:rPr>
              <a:t>・建物を簿価で評価すると97,353〜118,903千円とプラスに転じ、建物の時価が結論を左右する。</a:t>
            </a:r>
          </a:p>
        </p:txBody>
      </p:sp>
      <p:sp>
        <p:nvSpPr>
          <p:cNvPr id="12" name="TextBox 11"/>
          <p:cNvSpPr txBox="1"/>
          <p:nvPr/>
        </p:nvSpPr>
        <p:spPr>
          <a:xfrm>
            <a:off x="338328" y="6263640"/>
            <a:ext cx="9966960" cy="182880"/>
          </a:xfrm>
          <a:prstGeom prst="rect">
            <a:avLst/>
          </a:prstGeom>
          <a:noFill/>
        </p:spPr>
        <p:txBody>
          <a:bodyPr wrap="square" anchor="t" lIns="18288" rIns="18288" tIns="18288" bIns="18288"/>
          <a:lstStyle/>
          <a:p>
            <a:pPr algn="l"/>
            <a:r>
              <a:rPr sz="800" b="0" i="0">
                <a:solidFill>
                  <a:srgbClr val="404040"/>
                </a:solidFill>
                <a:latin typeface="游ゴシック Medium"/>
                <a:ea typeface="游ゴシック Medium"/>
              </a:rPr>
              <a:t>※営業権倍率1〜3年は国内中小企業M&amp;Aのボリュームゾーン。税考慮は営業利益がマイナスの期は0。</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a:lstStyle/>
          <a:p>
            <a:r>
              <a:t>基準EBITDA35,883千円×3〜5倍の事業価値から非流動性ディスカウント30%を控除。ネットデット385,549千円を差し引くと株式価値は△310,194〜△259,958千円。</a:t>
            </a:r>
          </a:p>
        </p:txBody>
      </p:sp>
      <p:sp>
        <p:nvSpPr>
          <p:cNvPr id="3" name="Title 2"/>
          <p:cNvSpPr>
            <a:spLocks noGrp="1"/>
          </p:cNvSpPr>
          <p:nvPr>
            <p:ph type="ctrTitle"/>
          </p:nvPr>
        </p:nvSpPr>
        <p:spPr/>
        <p:txBody>
          <a:bodyPr/>
          <a:lstStyle/>
          <a:p>
            <a:r>
              <a:t>EV/EBITDAマルチプル法による算出</a:t>
            </a:r>
          </a:p>
        </p:txBody>
      </p:sp>
      <p:sp>
        <p:nvSpPr>
          <p:cNvPr id="5" name="タイトル 1">
            <a:extLst>
              <a:ext uri="{FF2B5EF4-FFF2-40B4-BE49-F238E27FC236}">
                <a16:creationId xmlns:a16="http://schemas.microsoft.com/office/drawing/2014/main" id="{4F103961-B26C-39D9-FB80-02B45E98D11A}"/>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Valuation Details</a:t>
            </a:r>
          </a:p>
        </p:txBody>
      </p:sp>
      <p:graphicFrame>
        <p:nvGraphicFramePr>
          <p:cNvPr id="6" name="Table 5"/>
          <p:cNvGraphicFramePr>
            <a:graphicFrameLocks noGrp="1"/>
          </p:cNvGraphicFramePr>
          <p:nvPr/>
        </p:nvGraphicFramePr>
        <p:xfrm>
          <a:off x="338328" y="1481328"/>
          <a:ext cx="7680960" cy="1554480"/>
        </p:xfrm>
        <a:graphic>
          <a:graphicData uri="http://schemas.openxmlformats.org/drawingml/2006/table">
            <a:tbl>
              <a:tblPr firstRow="0" bandRow="0">
                <a:tableStyleId>{5940675A-B579-460E-94D1-54222C63F5DA}</a:tableStyleId>
              </a:tblPr>
              <a:tblGrid>
                <a:gridCol w="2743200"/>
                <a:gridCol w="1188720"/>
                <a:gridCol w="1188720"/>
                <a:gridCol w="1188720"/>
                <a:gridCol w="1371600"/>
              </a:tblGrid>
              <a:tr h="310896">
                <a:tc>
                  <a:txBody>
                    <a:bodyPr wrap="square"/>
                    <a:lstStyle/>
                    <a:p>
                      <a:pPr algn="ctr"/>
                      <a:r>
                        <a:rPr sz="950" b="1" i="0">
                          <a:solidFill>
                            <a:srgbClr val="FFFFFF"/>
                          </a:solidFill>
                          <a:latin typeface="游ゴシック"/>
                          <a:ea typeface="游ゴシック"/>
                        </a:rPr>
                        <a:t>項目</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0B3041"/>
                    </a:solidFill>
                  </a:tcPr>
                </a:tc>
                <a:tc>
                  <a:txBody>
                    <a:bodyPr wrap="square"/>
                    <a:lstStyle/>
                    <a:p>
                      <a:pPr algn="ctr"/>
                      <a:r>
                        <a:rPr sz="950" b="1" i="0">
                          <a:solidFill>
                            <a:srgbClr val="FFFFFF"/>
                          </a:solidFill>
                          <a:latin typeface="游ゴシック"/>
                          <a:ea typeface="游ゴシック"/>
                        </a:rPr>
                        <a:t>24/3期</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0B3041"/>
                    </a:solidFill>
                  </a:tcPr>
                </a:tc>
                <a:tc>
                  <a:txBody>
                    <a:bodyPr wrap="square"/>
                    <a:lstStyle/>
                    <a:p>
                      <a:pPr algn="ctr"/>
                      <a:r>
                        <a:rPr sz="950" b="1" i="0">
                          <a:solidFill>
                            <a:srgbClr val="FFFFFF"/>
                          </a:solidFill>
                          <a:latin typeface="游ゴシック"/>
                          <a:ea typeface="游ゴシック"/>
                        </a:rPr>
                        <a:t>25/3期</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0B3041"/>
                    </a:solidFill>
                  </a:tcPr>
                </a:tc>
                <a:tc>
                  <a:txBody>
                    <a:bodyPr wrap="square"/>
                    <a:lstStyle/>
                    <a:p>
                      <a:pPr algn="ctr"/>
                      <a:r>
                        <a:rPr sz="950" b="1" i="0">
                          <a:solidFill>
                            <a:srgbClr val="FFFFFF"/>
                          </a:solidFill>
                          <a:latin typeface="游ゴシック"/>
                          <a:ea typeface="游ゴシック"/>
                        </a:rPr>
                        <a:t>26/3期</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0B3041"/>
                    </a:solidFill>
                  </a:tcPr>
                </a:tc>
                <a:tc>
                  <a:txBody>
                    <a:bodyPr wrap="square"/>
                    <a:lstStyle/>
                    <a:p>
                      <a:pPr algn="ctr"/>
                      <a:r>
                        <a:rPr sz="950" b="1" i="0">
                          <a:solidFill>
                            <a:srgbClr val="FFFFFF"/>
                          </a:solidFill>
                          <a:latin typeface="游ゴシック"/>
                          <a:ea typeface="游ゴシック"/>
                        </a:rPr>
                        <a:t>合計</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0B3041"/>
                    </a:solidFill>
                  </a:tcPr>
                </a:tc>
              </a:tr>
              <a:tr h="310896">
                <a:tc>
                  <a:txBody>
                    <a:bodyPr wrap="square"/>
                    <a:lstStyle/>
                    <a:p>
                      <a:pPr algn="l"/>
                      <a:r>
                        <a:rPr sz="950" b="0" i="0">
                          <a:solidFill>
                            <a:srgbClr val="000000"/>
                          </a:solidFill>
                          <a:latin typeface="游ゴシック"/>
                          <a:ea typeface="游ゴシック"/>
                        </a:rPr>
                        <a:t>修正後EBITDA</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950" b="0" i="0">
                          <a:solidFill>
                            <a:srgbClr val="000000"/>
                          </a:solidFill>
                          <a:latin typeface="Arial"/>
                          <a:ea typeface="游ゴシック"/>
                        </a:rPr>
                        <a:t>36,954</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50" b="0" i="0">
                          <a:solidFill>
                            <a:srgbClr val="000000"/>
                          </a:solidFill>
                          <a:latin typeface="Arial"/>
                          <a:ea typeface="游ゴシック"/>
                        </a:rPr>
                        <a:t>34,077</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50" b="0" i="0">
                          <a:solidFill>
                            <a:srgbClr val="000000"/>
                          </a:solidFill>
                          <a:latin typeface="Arial"/>
                          <a:ea typeface="游ゴシック"/>
                        </a:rPr>
                        <a:t>36,539</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50" b="0" i="0">
                          <a:solidFill>
                            <a:srgbClr val="000000"/>
                          </a:solidFill>
                          <a:latin typeface="Arial"/>
                          <a:ea typeface="游ゴシック"/>
                        </a:rPr>
                        <a:t>　</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310896">
                <a:tc>
                  <a:txBody>
                    <a:bodyPr wrap="square"/>
                    <a:lstStyle/>
                    <a:p>
                      <a:pPr algn="l"/>
                      <a:r>
                        <a:rPr sz="950" b="0" i="0">
                          <a:solidFill>
                            <a:srgbClr val="000000"/>
                          </a:solidFill>
                          <a:latin typeface="游ゴシック"/>
                          <a:ea typeface="游ゴシック"/>
                        </a:rPr>
                        <a:t>加重</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950" b="0" i="0">
                          <a:solidFill>
                            <a:srgbClr val="000000"/>
                          </a:solidFill>
                          <a:latin typeface="Arial"/>
                          <a:ea typeface="游ゴシック"/>
                        </a:rPr>
                        <a:t>20%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50" b="0" i="0">
                          <a:solidFill>
                            <a:srgbClr val="000000"/>
                          </a:solidFill>
                          <a:latin typeface="Arial"/>
                          <a:ea typeface="游ゴシック"/>
                        </a:rPr>
                        <a:t>30%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50" b="0" i="0">
                          <a:solidFill>
                            <a:srgbClr val="000000"/>
                          </a:solidFill>
                          <a:latin typeface="Arial"/>
                          <a:ea typeface="游ゴシック"/>
                        </a:rPr>
                        <a:t>50%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50" b="0" i="0">
                          <a:solidFill>
                            <a:srgbClr val="000000"/>
                          </a:solidFill>
                          <a:latin typeface="Arial"/>
                          <a:ea typeface="游ゴシック"/>
                        </a:rPr>
                        <a:t>　</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310896">
                <a:tc>
                  <a:txBody>
                    <a:bodyPr wrap="square"/>
                    <a:lstStyle/>
                    <a:p>
                      <a:pPr algn="l"/>
                      <a:r>
                        <a:rPr sz="950" b="0" i="0">
                          <a:solidFill>
                            <a:srgbClr val="000000"/>
                          </a:solidFill>
                          <a:latin typeface="游ゴシック"/>
                          <a:ea typeface="游ゴシック"/>
                        </a:rPr>
                        <a:t>加重後</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950" b="0" i="0">
                          <a:solidFill>
                            <a:srgbClr val="000000"/>
                          </a:solidFill>
                          <a:latin typeface="Arial"/>
                          <a:ea typeface="游ゴシック"/>
                        </a:rPr>
                        <a:t>7,391</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50" b="0" i="0">
                          <a:solidFill>
                            <a:srgbClr val="000000"/>
                          </a:solidFill>
                          <a:latin typeface="Arial"/>
                          <a:ea typeface="游ゴシック"/>
                        </a:rPr>
                        <a:t>10,223</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50" b="0" i="0">
                          <a:solidFill>
                            <a:srgbClr val="000000"/>
                          </a:solidFill>
                          <a:latin typeface="Arial"/>
                          <a:ea typeface="游ゴシック"/>
                        </a:rPr>
                        <a:t>18,269</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50" b="0" i="0">
                          <a:solidFill>
                            <a:srgbClr val="000000"/>
                          </a:solidFill>
                          <a:latin typeface="Arial"/>
                          <a:ea typeface="游ゴシック"/>
                        </a:rPr>
                        <a:t>　</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310896">
                <a:tc>
                  <a:txBody>
                    <a:bodyPr wrap="square"/>
                    <a:lstStyle/>
                    <a:p>
                      <a:pPr algn="l"/>
                      <a:r>
                        <a:rPr sz="950" b="1" i="0">
                          <a:solidFill>
                            <a:srgbClr val="000000"/>
                          </a:solidFill>
                          <a:latin typeface="游ゴシック"/>
                          <a:ea typeface="游ゴシック"/>
                        </a:rPr>
                        <a:t>基準EBITDA（加重平均）</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c>
                  <a:txBody>
                    <a:bodyPr wrap="square"/>
                    <a:lstStyle/>
                    <a:p>
                      <a:pPr algn="r"/>
                      <a:r>
                        <a:rPr sz="950" b="1" i="0">
                          <a:solidFill>
                            <a:srgbClr val="000000"/>
                          </a:solidFill>
                          <a:latin typeface="Arial"/>
                          <a:ea typeface="游ゴシック"/>
                        </a:rPr>
                        <a:t>　</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c>
                  <a:txBody>
                    <a:bodyPr wrap="square"/>
                    <a:lstStyle/>
                    <a:p>
                      <a:pPr algn="r"/>
                      <a:r>
                        <a:rPr sz="950" b="1" i="0">
                          <a:solidFill>
                            <a:srgbClr val="000000"/>
                          </a:solidFill>
                          <a:latin typeface="Arial"/>
                          <a:ea typeface="游ゴシック"/>
                        </a:rPr>
                        <a:t>　</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c>
                  <a:txBody>
                    <a:bodyPr wrap="square"/>
                    <a:lstStyle/>
                    <a:p>
                      <a:pPr algn="r"/>
                      <a:r>
                        <a:rPr sz="950" b="1" i="0">
                          <a:solidFill>
                            <a:srgbClr val="000000"/>
                          </a:solidFill>
                          <a:latin typeface="Arial"/>
                          <a:ea typeface="游ゴシック"/>
                        </a:rPr>
                        <a:t>　</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c>
                  <a:txBody>
                    <a:bodyPr wrap="square"/>
                    <a:lstStyle/>
                    <a:p>
                      <a:pPr algn="r"/>
                      <a:r>
                        <a:rPr sz="950" b="1" i="0">
                          <a:solidFill>
                            <a:srgbClr val="000000"/>
                          </a:solidFill>
                          <a:latin typeface="Arial"/>
                          <a:ea typeface="游ゴシック"/>
                        </a:rPr>
                        <a:t>35,883</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r>
            </a:tbl>
          </a:graphicData>
        </a:graphic>
      </p:graphicFrame>
      <p:graphicFrame>
        <p:nvGraphicFramePr>
          <p:cNvPr id="7" name="Table 6"/>
          <p:cNvGraphicFramePr>
            <a:graphicFrameLocks noGrp="1"/>
          </p:cNvGraphicFramePr>
          <p:nvPr/>
        </p:nvGraphicFramePr>
        <p:xfrm>
          <a:off x="338328" y="3337560"/>
          <a:ext cx="6309360" cy="2304288"/>
        </p:xfrm>
        <a:graphic>
          <a:graphicData uri="http://schemas.openxmlformats.org/drawingml/2006/table">
            <a:tbl>
              <a:tblPr firstRow="0" bandRow="0">
                <a:tableStyleId>{5940675A-B579-460E-94D1-54222C63F5DA}</a:tableStyleId>
              </a:tblPr>
              <a:tblGrid>
                <a:gridCol w="2743200"/>
                <a:gridCol w="1188720"/>
                <a:gridCol w="1188720"/>
                <a:gridCol w="1188720"/>
              </a:tblGrid>
              <a:tr h="329184">
                <a:tc>
                  <a:txBody>
                    <a:bodyPr wrap="square"/>
                    <a:lstStyle/>
                    <a:p>
                      <a:pPr algn="ctr"/>
                      <a:r>
                        <a:rPr sz="950" b="1" i="0">
                          <a:solidFill>
                            <a:srgbClr val="FFFFFF"/>
                          </a:solidFill>
                          <a:latin typeface="游ゴシック"/>
                          <a:ea typeface="游ゴシック"/>
                        </a:rPr>
                        <a:t>　</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0B3041"/>
                    </a:solidFill>
                  </a:tcPr>
                </a:tc>
                <a:tc>
                  <a:txBody>
                    <a:bodyPr wrap="square"/>
                    <a:lstStyle/>
                    <a:p>
                      <a:pPr algn="ctr"/>
                      <a:r>
                        <a:rPr sz="950" b="1" i="0">
                          <a:solidFill>
                            <a:srgbClr val="FFFFFF"/>
                          </a:solidFill>
                          <a:latin typeface="游ゴシック"/>
                          <a:ea typeface="游ゴシック"/>
                        </a:rPr>
                        <a:t>下限（3倍）</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0B3041"/>
                    </a:solidFill>
                  </a:tcPr>
                </a:tc>
                <a:tc>
                  <a:txBody>
                    <a:bodyPr wrap="square"/>
                    <a:lstStyle/>
                    <a:p>
                      <a:pPr algn="ctr"/>
                      <a:r>
                        <a:rPr sz="950" b="1" i="0">
                          <a:solidFill>
                            <a:srgbClr val="FFFFFF"/>
                          </a:solidFill>
                          <a:latin typeface="游ゴシック"/>
                          <a:ea typeface="游ゴシック"/>
                        </a:rPr>
                        <a:t>中央（4倍）</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0B3041"/>
                    </a:solidFill>
                  </a:tcPr>
                </a:tc>
                <a:tc>
                  <a:txBody>
                    <a:bodyPr wrap="square"/>
                    <a:lstStyle/>
                    <a:p>
                      <a:pPr algn="ctr"/>
                      <a:r>
                        <a:rPr sz="950" b="1" i="0">
                          <a:solidFill>
                            <a:srgbClr val="FFFFFF"/>
                          </a:solidFill>
                          <a:latin typeface="游ゴシック"/>
                          <a:ea typeface="游ゴシック"/>
                        </a:rPr>
                        <a:t>上限（5倍）</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0B3041"/>
                    </a:solidFill>
                  </a:tcPr>
                </a:tc>
              </a:tr>
              <a:tr h="329184">
                <a:tc>
                  <a:txBody>
                    <a:bodyPr wrap="square"/>
                    <a:lstStyle/>
                    <a:p>
                      <a:pPr algn="l"/>
                      <a:r>
                        <a:rPr sz="950" b="0" i="0">
                          <a:solidFill>
                            <a:srgbClr val="000000"/>
                          </a:solidFill>
                          <a:latin typeface="游ゴシック"/>
                          <a:ea typeface="游ゴシック"/>
                        </a:rPr>
                        <a:t>事業価値（EV）</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950" b="0" i="0">
                          <a:solidFill>
                            <a:srgbClr val="000000"/>
                          </a:solidFill>
                          <a:latin typeface="Arial"/>
                          <a:ea typeface="游ゴシック"/>
                        </a:rPr>
                        <a:t>107,650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50" b="0" i="0">
                          <a:solidFill>
                            <a:srgbClr val="000000"/>
                          </a:solidFill>
                          <a:latin typeface="Arial"/>
                          <a:ea typeface="游ゴシック"/>
                        </a:rPr>
                        <a:t>143,533</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50" b="0" i="0">
                          <a:solidFill>
                            <a:srgbClr val="000000"/>
                          </a:solidFill>
                          <a:latin typeface="Arial"/>
                          <a:ea typeface="游ゴシック"/>
                        </a:rPr>
                        <a:t>179,416</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329184">
                <a:tc>
                  <a:txBody>
                    <a:bodyPr wrap="square"/>
                    <a:lstStyle/>
                    <a:p>
                      <a:pPr algn="l"/>
                      <a:r>
                        <a:rPr sz="950" b="0" i="0">
                          <a:solidFill>
                            <a:srgbClr val="000000"/>
                          </a:solidFill>
                          <a:latin typeface="游ゴシック"/>
                          <a:ea typeface="游ゴシック"/>
                        </a:rPr>
                        <a:t>非流動性ディスカウント（△30%）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950" b="0" i="0">
                          <a:solidFill>
                            <a:srgbClr val="000000"/>
                          </a:solidFill>
                          <a:latin typeface="Arial"/>
                          <a:ea typeface="游ゴシック"/>
                        </a:rPr>
                        <a:t>△32,295</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50" b="0" i="0">
                          <a:solidFill>
                            <a:srgbClr val="000000"/>
                          </a:solidFill>
                          <a:latin typeface="Arial"/>
                          <a:ea typeface="游ゴシック"/>
                        </a:rPr>
                        <a:t>△43,060</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50" b="0" i="0">
                          <a:solidFill>
                            <a:srgbClr val="000000"/>
                          </a:solidFill>
                          <a:latin typeface="Arial"/>
                          <a:ea typeface="游ゴシック"/>
                        </a:rPr>
                        <a:t>△53,825</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329184">
                <a:tc>
                  <a:txBody>
                    <a:bodyPr wrap="square"/>
                    <a:lstStyle/>
                    <a:p>
                      <a:pPr algn="l"/>
                      <a:r>
                        <a:rPr sz="950" b="0" i="0">
                          <a:solidFill>
                            <a:srgbClr val="000000"/>
                          </a:solidFill>
                          <a:latin typeface="游ゴシック"/>
                          <a:ea typeface="游ゴシック"/>
                        </a:rPr>
                        <a:t>ディスカウント後事業価値</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950" b="0" i="0">
                          <a:solidFill>
                            <a:srgbClr val="000000"/>
                          </a:solidFill>
                          <a:latin typeface="Arial"/>
                          <a:ea typeface="游ゴシック"/>
                        </a:rPr>
                        <a:t>75,355</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50" b="0" i="0">
                          <a:solidFill>
                            <a:srgbClr val="000000"/>
                          </a:solidFill>
                          <a:latin typeface="Arial"/>
                          <a:ea typeface="游ゴシック"/>
                        </a:rPr>
                        <a:t>100,473</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50" b="0" i="0">
                          <a:solidFill>
                            <a:srgbClr val="000000"/>
                          </a:solidFill>
                          <a:latin typeface="Arial"/>
                          <a:ea typeface="游ゴシック"/>
                        </a:rPr>
                        <a:t>125,591</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329184">
                <a:tc>
                  <a:txBody>
                    <a:bodyPr wrap="square"/>
                    <a:lstStyle/>
                    <a:p>
                      <a:pPr algn="l"/>
                      <a:r>
                        <a:rPr sz="950" b="0" i="0">
                          <a:solidFill>
                            <a:srgbClr val="000000"/>
                          </a:solidFill>
                          <a:latin typeface="游ゴシック"/>
                          <a:ea typeface="游ゴシック"/>
                        </a:rPr>
                        <a:t>ネットキャッシュ</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950" b="0" i="0">
                          <a:solidFill>
                            <a:srgbClr val="000000"/>
                          </a:solidFill>
                          <a:latin typeface="Arial"/>
                          <a:ea typeface="游ゴシック"/>
                        </a:rPr>
                        <a:t>△385,549</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50" b="0" i="0">
                          <a:solidFill>
                            <a:srgbClr val="000000"/>
                          </a:solidFill>
                          <a:latin typeface="Arial"/>
                          <a:ea typeface="游ゴシック"/>
                        </a:rPr>
                        <a:t>△385,549</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950" b="0" i="0">
                          <a:solidFill>
                            <a:srgbClr val="000000"/>
                          </a:solidFill>
                          <a:latin typeface="Arial"/>
                          <a:ea typeface="游ゴシック"/>
                        </a:rPr>
                        <a:t>△385,549</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329184">
                <a:tc>
                  <a:txBody>
                    <a:bodyPr wrap="square"/>
                    <a:lstStyle/>
                    <a:p>
                      <a:pPr algn="l"/>
                      <a:r>
                        <a:rPr sz="950" b="1" i="0">
                          <a:solidFill>
                            <a:srgbClr val="000000"/>
                          </a:solidFill>
                          <a:latin typeface="游ゴシック"/>
                          <a:ea typeface="游ゴシック"/>
                        </a:rPr>
                        <a:t>想定株式価値</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c>
                  <a:txBody>
                    <a:bodyPr wrap="square"/>
                    <a:lstStyle/>
                    <a:p>
                      <a:pPr algn="r"/>
                      <a:r>
                        <a:rPr sz="950" b="1" i="0">
                          <a:solidFill>
                            <a:srgbClr val="000000"/>
                          </a:solidFill>
                          <a:latin typeface="Arial"/>
                          <a:ea typeface="游ゴシック"/>
                        </a:rPr>
                        <a:t>△310,194</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c>
                  <a:txBody>
                    <a:bodyPr wrap="square"/>
                    <a:lstStyle/>
                    <a:p>
                      <a:pPr algn="r"/>
                      <a:r>
                        <a:rPr sz="950" b="1" i="0">
                          <a:solidFill>
                            <a:srgbClr val="000000"/>
                          </a:solidFill>
                          <a:latin typeface="Arial"/>
                          <a:ea typeface="游ゴシック"/>
                        </a:rPr>
                        <a:t>△285,076</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c>
                  <a:txBody>
                    <a:bodyPr wrap="square"/>
                    <a:lstStyle/>
                    <a:p>
                      <a:pPr algn="r"/>
                      <a:r>
                        <a:rPr sz="950" b="1" i="0">
                          <a:solidFill>
                            <a:srgbClr val="000000"/>
                          </a:solidFill>
                          <a:latin typeface="Arial"/>
                          <a:ea typeface="游ゴシック"/>
                        </a:rPr>
                        <a:t>△259,958</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1F3FB"/>
                    </a:solidFill>
                  </a:tcPr>
                </a:tc>
              </a:tr>
              <a:tr h="329184">
                <a:tc>
                  <a:txBody>
                    <a:bodyPr wrap="square"/>
                    <a:lstStyle/>
                    <a:p>
                      <a:pPr algn="l"/>
                      <a:r>
                        <a:rPr sz="800" b="0" i="0">
                          <a:solidFill>
                            <a:srgbClr val="404040"/>
                          </a:solidFill>
                          <a:latin typeface="游ゴシック"/>
                          <a:ea typeface="游ゴシック"/>
                        </a:rPr>
                        <a:t>（参考）資本性ローンを資本とみなした場合</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r"/>
                      <a:r>
                        <a:rPr sz="800" b="0" i="0">
                          <a:solidFill>
                            <a:srgbClr val="404040"/>
                          </a:solidFill>
                          <a:latin typeface="Arial"/>
                          <a:ea typeface="游ゴシック"/>
                        </a:rPr>
                        <a:t>△204,774</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404040"/>
                          </a:solidFill>
                          <a:latin typeface="Arial"/>
                          <a:ea typeface="游ゴシック"/>
                        </a:rPr>
                        <a:t>△179,656</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r"/>
                      <a:r>
                        <a:rPr sz="800" b="0" i="0">
                          <a:solidFill>
                            <a:srgbClr val="404040"/>
                          </a:solidFill>
                          <a:latin typeface="Arial"/>
                          <a:ea typeface="游ゴシック"/>
                        </a:rPr>
                        <a:t>△154,538</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bl>
          </a:graphicData>
        </a:graphic>
      </p:graphicFrame>
      <p:sp>
        <p:nvSpPr>
          <p:cNvPr id="8" name="TextBox 7"/>
          <p:cNvSpPr txBox="1"/>
          <p:nvPr/>
        </p:nvSpPr>
        <p:spPr>
          <a:xfrm>
            <a:off x="7772400" y="1298448"/>
            <a:ext cx="1188720" cy="182880"/>
          </a:xfrm>
          <a:prstGeom prst="rect">
            <a:avLst/>
          </a:prstGeom>
          <a:noFill/>
        </p:spPr>
        <p:txBody>
          <a:bodyPr wrap="square" anchor="t" lIns="18288" rIns="18288" tIns="18288" bIns="18288"/>
          <a:lstStyle/>
          <a:p>
            <a:pPr algn="r"/>
            <a:r>
              <a:rPr sz="800" b="0" i="0">
                <a:solidFill>
                  <a:srgbClr val="404040"/>
                </a:solidFill>
                <a:latin typeface="游ゴシック"/>
                <a:ea typeface="游ゴシック"/>
              </a:rPr>
              <a:t>（単位：千円）</a:t>
            </a:r>
          </a:p>
        </p:txBody>
      </p:sp>
      <p:sp>
        <p:nvSpPr>
          <p:cNvPr id="9" name="Rectangle 8"/>
          <p:cNvSpPr/>
          <p:nvPr/>
        </p:nvSpPr>
        <p:spPr>
          <a:xfrm>
            <a:off x="7680960" y="3337560"/>
            <a:ext cx="2651760" cy="2651760"/>
          </a:xfrm>
          <a:prstGeom prst="rect">
            <a:avLst/>
          </a:prstGeom>
          <a:solidFill>
            <a:srgbClr val="FFFFFF"/>
          </a:solidFill>
          <a:ln w="12700">
            <a:solidFill>
              <a:srgbClr val="A6A6A6"/>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p>
        </p:txBody>
      </p:sp>
      <p:sp>
        <p:nvSpPr>
          <p:cNvPr id="10" name="TextBox 9"/>
          <p:cNvSpPr txBox="1"/>
          <p:nvPr/>
        </p:nvSpPr>
        <p:spPr>
          <a:xfrm>
            <a:off x="7680960" y="3410712"/>
            <a:ext cx="2651760" cy="292608"/>
          </a:xfrm>
          <a:prstGeom prst="rect">
            <a:avLst/>
          </a:prstGeom>
          <a:noFill/>
        </p:spPr>
        <p:txBody>
          <a:bodyPr wrap="square" anchor="t" lIns="18288" rIns="18288" tIns="18288" bIns="18288"/>
          <a:lstStyle/>
          <a:p>
            <a:pPr algn="ctr"/>
            <a:r>
              <a:rPr sz="1100" b="1" i="0">
                <a:solidFill>
                  <a:srgbClr val="0B3041"/>
                </a:solidFill>
                <a:latin typeface="Arial"/>
                <a:ea typeface="游ゴシック"/>
              </a:rPr>
              <a:t>Point</a:t>
            </a:r>
          </a:p>
        </p:txBody>
      </p:sp>
      <p:sp>
        <p:nvSpPr>
          <p:cNvPr id="11" name="TextBox 10"/>
          <p:cNvSpPr txBox="1"/>
          <p:nvPr/>
        </p:nvSpPr>
        <p:spPr>
          <a:xfrm>
            <a:off x="7808976" y="3749039"/>
            <a:ext cx="2395728" cy="2194560"/>
          </a:xfrm>
          <a:prstGeom prst="rect">
            <a:avLst/>
          </a:prstGeom>
          <a:noFill/>
        </p:spPr>
        <p:txBody>
          <a:bodyPr wrap="square" anchor="t" lIns="18288" rIns="18288" tIns="18288" bIns="18288"/>
          <a:lstStyle/>
          <a:p>
            <a:pPr algn="l">
              <a:lnSpc>
                <a:spcPct val="105000"/>
              </a:lnSpc>
              <a:spcBef>
                <a:spcPts val="0"/>
              </a:spcBef>
            </a:pPr>
            <a:r>
              <a:rPr sz="900" b="1" i="0">
                <a:solidFill>
                  <a:srgbClr val="000000"/>
                </a:solidFill>
                <a:latin typeface="游ゴシック"/>
                <a:ea typeface="游ゴシック"/>
              </a:rPr>
              <a:t>≪ポイント≫</a:t>
            </a:r>
          </a:p>
          <a:p>
            <a:pPr algn="l">
              <a:lnSpc>
                <a:spcPct val="105000"/>
              </a:lnSpc>
            </a:pPr>
            <a:r>
              <a:rPr sz="850" b="0" i="0">
                <a:solidFill>
                  <a:srgbClr val="000000"/>
                </a:solidFill>
                <a:latin typeface="游ゴシック"/>
                <a:ea typeface="游ゴシック"/>
              </a:rPr>
              <a:t>・倍率3〜5倍は中小企業M&amp;Aの実務レンジ。</a:t>
            </a:r>
          </a:p>
          <a:p>
            <a:pPr algn="l">
              <a:lnSpc>
                <a:spcPct val="105000"/>
              </a:lnSpc>
            </a:pPr>
            <a:r>
              <a:rPr sz="850" b="0" i="0">
                <a:solidFill>
                  <a:srgbClr val="000000"/>
                </a:solidFill>
                <a:latin typeface="游ゴシック"/>
                <a:ea typeface="游ゴシック"/>
              </a:rPr>
              <a:t>・株式価値がプラスとなるにはEV/EBITDA約15.3倍（ディスカウント前）が必要。</a:t>
            </a:r>
          </a:p>
        </p:txBody>
      </p:sp>
      <p:sp>
        <p:nvSpPr>
          <p:cNvPr id="12" name="TextBox 11"/>
          <p:cNvSpPr txBox="1"/>
          <p:nvPr/>
        </p:nvSpPr>
        <p:spPr>
          <a:xfrm>
            <a:off x="338328" y="6172200"/>
            <a:ext cx="9966960" cy="365760"/>
          </a:xfrm>
          <a:prstGeom prst="rect">
            <a:avLst/>
          </a:prstGeom>
          <a:noFill/>
        </p:spPr>
        <p:txBody>
          <a:bodyPr wrap="square" anchor="t" lIns="18288" rIns="18288" tIns="18288" bIns="18288"/>
          <a:lstStyle/>
          <a:p>
            <a:pPr algn="l"/>
            <a:r>
              <a:rPr sz="800" b="0" i="0">
                <a:solidFill>
                  <a:srgbClr val="404040"/>
                </a:solidFill>
                <a:latin typeface="游ゴシック Medium"/>
                <a:ea typeface="游ゴシック Medium"/>
              </a:rPr>
              <a:t>※非流動性ディスカウント：上場会社の株価倍率には市場性（流動性）が織り込まれているため、非上場株式への適用にあたり控除。</a:t>
            </a:r>
          </a:p>
          <a:p>
            <a:pPr algn="l"/>
            <a:r>
              <a:rPr sz="800" b="0" i="0">
                <a:solidFill>
                  <a:srgbClr val="404040"/>
                </a:solidFill>
                <a:latin typeface="游ゴシック Medium"/>
                <a:ea typeface="游ゴシック Medium"/>
              </a:rPr>
              <a:t>※製氷専業の上場会社は存在しないため、類似上場会社（低温物流・食品）の倍率は算定日時点で別途更新する（案件マスター「参照企業」）。</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要確認事項</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a:lstStyle/>
          <a:p>
            <a:r>
              <a:t>以下の事項は資料未受領等により簿価または仮定で評価しており、追加資料の受領により評価額が変動する。</a:t>
            </a:r>
          </a:p>
        </p:txBody>
      </p:sp>
      <p:sp>
        <p:nvSpPr>
          <p:cNvPr id="3" name="Title 2"/>
          <p:cNvSpPr>
            <a:spLocks noGrp="1"/>
          </p:cNvSpPr>
          <p:nvPr>
            <p:ph type="ctrTitle"/>
          </p:nvPr>
        </p:nvSpPr>
        <p:spPr/>
        <p:txBody>
          <a:bodyPr/>
          <a:lstStyle/>
          <a:p>
            <a:r>
              <a:t>評価に影響する要確認事項</a:t>
            </a:r>
          </a:p>
        </p:txBody>
      </p:sp>
      <p:sp>
        <p:nvSpPr>
          <p:cNvPr id="5" name="タイトル 1">
            <a:extLst>
              <a:ext uri="{FF2B5EF4-FFF2-40B4-BE49-F238E27FC236}">
                <a16:creationId xmlns:a16="http://schemas.microsoft.com/office/drawing/2014/main" id="{4F103961-B26C-39D9-FB80-02B45E98D11A}"/>
              </a:ext>
            </a:extLst>
          </p:cNvPr>
          <p:cNvSpPr txBox="1">
            <a:spLocks/>
          </p:cNvSpPr>
          <p:nvPr/>
        </p:nvSpPr>
        <p:spPr>
          <a:xfrm>
            <a:off x="8366333" y="252154"/>
            <a:ext cx="1984167" cy="184666"/>
          </a:xfrm>
          <a:prstGeom prst="rect">
            <a:avLst/>
          </a:prstGeom>
        </p:spPr>
        <p:txBody>
          <a:bodyPr vert="horz" lIns="0" tIns="0" rIns="0" bIns="0" rtlCol="0" anchor="ctr">
            <a:sp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pPr algn="r">
              <a:lnSpc>
                <a:spcPct val="100000"/>
              </a:lnSpc>
              <a:buClr>
                <a:schemeClr val="bg1"/>
              </a:buClr>
            </a:pPr>
            <a:r>
              <a:rPr lang="ja-JP" altLang="en-US" sz="1200" b="1" spc="55" dirty="0">
                <a:solidFill>
                  <a:schemeClr val="bg1"/>
                </a:solidFill>
              </a:rPr>
              <a:t>要確認事項</a:t>
            </a:r>
          </a:p>
        </p:txBody>
      </p:sp>
      <p:graphicFrame>
        <p:nvGraphicFramePr>
          <p:cNvPr id="6" name="Table 5"/>
          <p:cNvGraphicFramePr>
            <a:graphicFrameLocks noGrp="1"/>
          </p:cNvGraphicFramePr>
          <p:nvPr/>
        </p:nvGraphicFramePr>
        <p:xfrm>
          <a:off x="338328" y="1481328"/>
          <a:ext cx="10012680" cy="4206240"/>
        </p:xfrm>
        <a:graphic>
          <a:graphicData uri="http://schemas.openxmlformats.org/drawingml/2006/table">
            <a:tbl>
              <a:tblPr firstRow="0" bandRow="0">
                <a:tableStyleId>{5940675A-B579-460E-94D1-54222C63F5DA}</a:tableStyleId>
              </a:tblPr>
              <a:tblGrid>
                <a:gridCol w="411480"/>
                <a:gridCol w="1371600"/>
                <a:gridCol w="5394960"/>
                <a:gridCol w="2834640"/>
              </a:tblGrid>
              <a:tr h="420624">
                <a:tc>
                  <a:txBody>
                    <a:bodyPr wrap="square"/>
                    <a:lstStyle/>
                    <a:p>
                      <a:pPr algn="ctr"/>
                      <a:r>
                        <a:rPr sz="900" b="1" i="0">
                          <a:solidFill>
                            <a:srgbClr val="FFFFFF"/>
                          </a:solidFill>
                          <a:latin typeface="游ゴシック"/>
                          <a:ea typeface="游ゴシック"/>
                        </a:rPr>
                        <a:t>No</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0B3041"/>
                    </a:solidFill>
                  </a:tcPr>
                </a:tc>
                <a:tc>
                  <a:txBody>
                    <a:bodyPr wrap="square"/>
                    <a:lstStyle/>
                    <a:p>
                      <a:pPr algn="ctr"/>
                      <a:r>
                        <a:rPr sz="900" b="1" i="0">
                          <a:solidFill>
                            <a:srgbClr val="FFFFFF"/>
                          </a:solidFill>
                          <a:latin typeface="游ゴシック"/>
                          <a:ea typeface="游ゴシック"/>
                        </a:rPr>
                        <a:t>項目</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0B3041"/>
                    </a:solidFill>
                  </a:tcPr>
                </a:tc>
                <a:tc>
                  <a:txBody>
                    <a:bodyPr wrap="square"/>
                    <a:lstStyle/>
                    <a:p>
                      <a:pPr algn="ctr"/>
                      <a:r>
                        <a:rPr sz="900" b="1" i="0">
                          <a:solidFill>
                            <a:srgbClr val="FFFFFF"/>
                          </a:solidFill>
                          <a:latin typeface="游ゴシック"/>
                          <a:ea typeface="游ゴシック"/>
                        </a:rPr>
                        <a:t>確認内容</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0B3041"/>
                    </a:solidFill>
                  </a:tcPr>
                </a:tc>
                <a:tc>
                  <a:txBody>
                    <a:bodyPr wrap="square"/>
                    <a:lstStyle/>
                    <a:p>
                      <a:pPr algn="ctr"/>
                      <a:r>
                        <a:rPr sz="900" b="1" i="0">
                          <a:solidFill>
                            <a:srgbClr val="FFFFFF"/>
                          </a:solidFill>
                          <a:latin typeface="游ゴシック"/>
                          <a:ea typeface="游ゴシック"/>
                        </a:rPr>
                        <a:t>評価への影響</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0B3041"/>
                    </a:solidFill>
                  </a:tcPr>
                </a:tc>
              </a:tr>
              <a:tr h="420624">
                <a:tc>
                  <a:txBody>
                    <a:bodyPr wrap="square"/>
                    <a:lstStyle/>
                    <a:p>
                      <a:pPr algn="ctr"/>
                      <a:r>
                        <a:rPr sz="900" b="0" i="0">
                          <a:solidFill>
                            <a:srgbClr val="000000"/>
                          </a:solidFill>
                          <a:latin typeface="游ゴシック"/>
                          <a:ea typeface="游ゴシック"/>
                        </a:rPr>
                        <a:t>1</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l"/>
                      <a:r>
                        <a:rPr sz="900" b="0" i="0">
                          <a:solidFill>
                            <a:srgbClr val="000000"/>
                          </a:solidFill>
                          <a:latin typeface="游ゴシック"/>
                          <a:ea typeface="游ゴシック"/>
                        </a:rPr>
                        <a:t>建物</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l"/>
                      <a:r>
                        <a:rPr sz="900" b="0" i="0">
                          <a:solidFill>
                            <a:srgbClr val="000000"/>
                          </a:solidFill>
                          <a:latin typeface="游ゴシック"/>
                          <a:ea typeface="游ゴシック"/>
                        </a:rPr>
                        <a:t>会計上の償却停止の経緯、建物簿価（BS259,242千円／内訳書280,673千円）の差異、最新の固定資産税評価額、不動産鑑定等による時価の検証</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l"/>
                      <a:r>
                        <a:rPr sz="900" b="0" i="0">
                          <a:solidFill>
                            <a:srgbClr val="000000"/>
                          </a:solidFill>
                          <a:latin typeface="游ゴシック"/>
                          <a:ea typeface="游ゴシック"/>
                        </a:rPr>
                        <a:t>時価純資産（△168百万円の評価減。簿価評価なら年買法はプラス）</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420624">
                <a:tc>
                  <a:txBody>
                    <a:bodyPr wrap="square"/>
                    <a:lstStyle/>
                    <a:p>
                      <a:pPr algn="ctr"/>
                      <a:r>
                        <a:rPr sz="900" b="0" i="0">
                          <a:solidFill>
                            <a:srgbClr val="000000"/>
                          </a:solidFill>
                          <a:latin typeface="游ゴシック"/>
                          <a:ea typeface="游ゴシック"/>
                        </a:rPr>
                        <a:t>2</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l"/>
                      <a:r>
                        <a:rPr sz="900" b="0" i="0">
                          <a:solidFill>
                            <a:srgbClr val="000000"/>
                          </a:solidFill>
                          <a:latin typeface="游ゴシック"/>
                          <a:ea typeface="游ゴシック"/>
                        </a:rPr>
                        <a:t>定期預金</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l"/>
                      <a:r>
                        <a:rPr sz="900" b="0" i="0">
                          <a:solidFill>
                            <a:srgbClr val="000000"/>
                          </a:solidFill>
                          <a:latin typeface="游ゴシック"/>
                          <a:ea typeface="游ゴシック"/>
                        </a:rPr>
                        <a:t>預貯金内訳（19,601千円）とBS残高（26,401千円）の差異6,800千円、担保差入の有無</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l"/>
                      <a:r>
                        <a:rPr sz="900" b="0" i="0">
                          <a:solidFill>
                            <a:srgbClr val="000000"/>
                          </a:solidFill>
                          <a:latin typeface="游ゴシック"/>
                          <a:ea typeface="游ゴシック"/>
                        </a:rPr>
                        <a:t>ネットキャッシュ</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420624">
                <a:tc>
                  <a:txBody>
                    <a:bodyPr wrap="square"/>
                    <a:lstStyle/>
                    <a:p>
                      <a:pPr algn="ctr"/>
                      <a:r>
                        <a:rPr sz="900" b="0" i="0">
                          <a:solidFill>
                            <a:srgbClr val="000000"/>
                          </a:solidFill>
                          <a:latin typeface="游ゴシック"/>
                          <a:ea typeface="游ゴシック"/>
                        </a:rPr>
                        <a:t>3</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l"/>
                      <a:r>
                        <a:rPr sz="900" b="0" i="0">
                          <a:solidFill>
                            <a:srgbClr val="000000"/>
                          </a:solidFill>
                          <a:latin typeface="游ゴシック"/>
                          <a:ea typeface="游ゴシック"/>
                        </a:rPr>
                        <a:t>保険積立金</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l"/>
                      <a:r>
                        <a:rPr sz="900" b="0" i="0">
                          <a:solidFill>
                            <a:srgbClr val="000000"/>
                          </a:solidFill>
                          <a:latin typeface="游ゴシック"/>
                          <a:ea typeface="游ゴシック"/>
                        </a:rPr>
                        <a:t>大同生命・第一生命の解約返戻金額</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l"/>
                      <a:r>
                        <a:rPr sz="900" b="0" i="0">
                          <a:solidFill>
                            <a:srgbClr val="000000"/>
                          </a:solidFill>
                          <a:latin typeface="游ゴシック"/>
                          <a:ea typeface="游ゴシック"/>
                        </a:rPr>
                        <a:t>時価純資産・ネットキャッシュ</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420624">
                <a:tc>
                  <a:txBody>
                    <a:bodyPr wrap="square"/>
                    <a:lstStyle/>
                    <a:p>
                      <a:pPr algn="ctr"/>
                      <a:r>
                        <a:rPr sz="900" b="0" i="0">
                          <a:solidFill>
                            <a:srgbClr val="000000"/>
                          </a:solidFill>
                          <a:latin typeface="游ゴシック"/>
                          <a:ea typeface="游ゴシック"/>
                        </a:rPr>
                        <a:t>4</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l"/>
                      <a:r>
                        <a:rPr sz="900" b="0" i="0">
                          <a:solidFill>
                            <a:srgbClr val="000000"/>
                          </a:solidFill>
                          <a:latin typeface="游ゴシック"/>
                          <a:ea typeface="游ゴシック"/>
                        </a:rPr>
                        <a:t>売掛金</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l"/>
                      <a:r>
                        <a:rPr sz="900" b="0" i="0">
                          <a:solidFill>
                            <a:srgbClr val="000000"/>
                          </a:solidFill>
                          <a:latin typeface="游ゴシック"/>
                          <a:ea typeface="游ゴシック"/>
                        </a:rPr>
                        <a:t>年齢表・滞留債権、(株)小野田商店の計上区分と関係</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l"/>
                      <a:r>
                        <a:rPr sz="900" b="0" i="0">
                          <a:solidFill>
                            <a:srgbClr val="000000"/>
                          </a:solidFill>
                          <a:latin typeface="游ゴシック"/>
                          <a:ea typeface="游ゴシック"/>
                        </a:rPr>
                        <a:t>時価純資産</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420624">
                <a:tc>
                  <a:txBody>
                    <a:bodyPr wrap="square"/>
                    <a:lstStyle/>
                    <a:p>
                      <a:pPr algn="ctr"/>
                      <a:r>
                        <a:rPr sz="900" b="0" i="0">
                          <a:solidFill>
                            <a:srgbClr val="000000"/>
                          </a:solidFill>
                          <a:latin typeface="游ゴシック"/>
                          <a:ea typeface="游ゴシック"/>
                        </a:rPr>
                        <a:t>5</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l"/>
                      <a:r>
                        <a:rPr sz="900" b="0" i="0">
                          <a:solidFill>
                            <a:srgbClr val="000000"/>
                          </a:solidFill>
                          <a:latin typeface="游ゴシック"/>
                          <a:ea typeface="游ゴシック"/>
                        </a:rPr>
                        <a:t>退職給与</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l"/>
                      <a:r>
                        <a:rPr sz="900" b="0" i="0">
                          <a:solidFill>
                            <a:srgbClr val="000000"/>
                          </a:solidFill>
                          <a:latin typeface="游ゴシック"/>
                          <a:ea typeface="游ゴシック"/>
                        </a:rPr>
                        <a:t>67期6,178千円の対象者・退職金規程・今後の退職予定者</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l"/>
                      <a:r>
                        <a:rPr sz="900" b="0" i="0">
                          <a:solidFill>
                            <a:srgbClr val="000000"/>
                          </a:solidFill>
                          <a:latin typeface="游ゴシック"/>
                          <a:ea typeface="游ゴシック"/>
                        </a:rPr>
                        <a:t>正常収益力（臨時性の判断）・退職給付債務</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420624">
                <a:tc>
                  <a:txBody>
                    <a:bodyPr wrap="square"/>
                    <a:lstStyle/>
                    <a:p>
                      <a:pPr algn="ctr"/>
                      <a:r>
                        <a:rPr sz="900" b="0" i="0">
                          <a:solidFill>
                            <a:srgbClr val="000000"/>
                          </a:solidFill>
                          <a:latin typeface="游ゴシック"/>
                          <a:ea typeface="游ゴシック"/>
                        </a:rPr>
                        <a:t>6</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l"/>
                      <a:r>
                        <a:rPr sz="900" b="0" i="0">
                          <a:solidFill>
                            <a:srgbClr val="000000"/>
                          </a:solidFill>
                          <a:latin typeface="游ゴシック"/>
                          <a:ea typeface="游ゴシック"/>
                        </a:rPr>
                        <a:t>賞与</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l"/>
                      <a:r>
                        <a:rPr sz="900" b="0" i="0">
                          <a:solidFill>
                            <a:srgbClr val="000000"/>
                          </a:solidFill>
                          <a:latin typeface="游ゴシック"/>
                          <a:ea typeface="游ゴシック"/>
                        </a:rPr>
                        <a:t>支給時期・算定期間</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l"/>
                      <a:r>
                        <a:rPr sz="900" b="0" i="0">
                          <a:solidFill>
                            <a:srgbClr val="000000"/>
                          </a:solidFill>
                          <a:latin typeface="游ゴシック"/>
                          <a:ea typeface="游ゴシック"/>
                        </a:rPr>
                        <a:t>賞与引当金（負債）</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420624">
                <a:tc>
                  <a:txBody>
                    <a:bodyPr wrap="square"/>
                    <a:lstStyle/>
                    <a:p>
                      <a:pPr algn="ctr"/>
                      <a:r>
                        <a:rPr sz="900" b="0" i="0">
                          <a:solidFill>
                            <a:srgbClr val="000000"/>
                          </a:solidFill>
                          <a:latin typeface="游ゴシック"/>
                          <a:ea typeface="游ゴシック"/>
                        </a:rPr>
                        <a:t>7</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l"/>
                      <a:r>
                        <a:rPr sz="900" b="0" i="0">
                          <a:solidFill>
                            <a:srgbClr val="000000"/>
                          </a:solidFill>
                          <a:latin typeface="游ゴシック"/>
                          <a:ea typeface="游ゴシック"/>
                        </a:rPr>
                        <a:t>支払手数料</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l"/>
                      <a:r>
                        <a:rPr sz="900" b="0" i="0">
                          <a:solidFill>
                            <a:srgbClr val="000000"/>
                          </a:solidFill>
                          <a:latin typeface="游ゴシック"/>
                          <a:ea typeface="游ゴシック"/>
                        </a:rPr>
                        <a:t>25/3期3,156千円・26/3期1,765千円の内容（一過性か）</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l"/>
                      <a:r>
                        <a:rPr sz="900" b="0" i="0">
                          <a:solidFill>
                            <a:srgbClr val="000000"/>
                          </a:solidFill>
                          <a:latin typeface="游ゴシック"/>
                          <a:ea typeface="游ゴシック"/>
                        </a:rPr>
                        <a:t>正常収益力</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420624">
                <a:tc>
                  <a:txBody>
                    <a:bodyPr wrap="square"/>
                    <a:lstStyle/>
                    <a:p>
                      <a:pPr algn="ctr"/>
                      <a:r>
                        <a:rPr sz="900" b="0" i="0">
                          <a:solidFill>
                            <a:srgbClr val="000000"/>
                          </a:solidFill>
                          <a:latin typeface="游ゴシック"/>
                          <a:ea typeface="游ゴシック"/>
                        </a:rPr>
                        <a:t>8</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l"/>
                      <a:r>
                        <a:rPr sz="900" b="0" i="0">
                          <a:solidFill>
                            <a:srgbClr val="000000"/>
                          </a:solidFill>
                          <a:latin typeface="游ゴシック"/>
                          <a:ea typeface="游ゴシック"/>
                        </a:rPr>
                        <a:t>借入金</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l"/>
                      <a:r>
                        <a:rPr sz="900" b="0" i="0">
                          <a:solidFill>
                            <a:srgbClr val="000000"/>
                          </a:solidFill>
                          <a:latin typeface="游ゴシック"/>
                          <a:ea typeface="游ゴシック"/>
                        </a:rPr>
                        <a:t>代表者借入14,000千円・資本性ローン105,420千円の取扱い、保証・担保の解除条件</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l"/>
                      <a:r>
                        <a:rPr sz="900" b="0" i="0">
                          <a:solidFill>
                            <a:srgbClr val="000000"/>
                          </a:solidFill>
                          <a:latin typeface="游ゴシック"/>
                          <a:ea typeface="游ゴシック"/>
                        </a:rPr>
                        <a:t>ネットキャッシュ・譲渡条件</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r h="420624">
                <a:tc>
                  <a:txBody>
                    <a:bodyPr wrap="square"/>
                    <a:lstStyle/>
                    <a:p>
                      <a:pPr algn="ctr"/>
                      <a:r>
                        <a:rPr sz="900" b="0" i="0">
                          <a:solidFill>
                            <a:srgbClr val="000000"/>
                          </a:solidFill>
                          <a:latin typeface="游ゴシック"/>
                          <a:ea typeface="游ゴシック"/>
                        </a:rPr>
                        <a:t>9</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E3E7E9"/>
                    </a:solidFill>
                  </a:tcPr>
                </a:tc>
                <a:tc>
                  <a:txBody>
                    <a:bodyPr wrap="square"/>
                    <a:lstStyle/>
                    <a:p>
                      <a:pPr algn="l"/>
                      <a:r>
                        <a:rPr sz="900" b="0" i="0">
                          <a:solidFill>
                            <a:srgbClr val="000000"/>
                          </a:solidFill>
                          <a:latin typeface="游ゴシック"/>
                          <a:ea typeface="游ゴシック"/>
                        </a:rPr>
                        <a:t>発行済株式数</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l"/>
                      <a:r>
                        <a:rPr sz="900" b="0" i="0">
                          <a:solidFill>
                            <a:srgbClr val="000000"/>
                          </a:solidFill>
                          <a:latin typeface="游ゴシック"/>
                          <a:ea typeface="游ゴシック"/>
                        </a:rPr>
                        <a:t>登記22,000株／決算注記200株／別表二220株の相違</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c>
                  <a:txBody>
                    <a:bodyPr wrap="square"/>
                    <a:lstStyle/>
                    <a:p>
                      <a:pPr algn="l"/>
                      <a:r>
                        <a:rPr sz="900" b="0" i="0">
                          <a:solidFill>
                            <a:srgbClr val="000000"/>
                          </a:solidFill>
                          <a:latin typeface="游ゴシック"/>
                          <a:ea typeface="游ゴシック"/>
                        </a:rPr>
                        <a:t>1株当たり価値・株式譲渡手続</a:t>
                      </a:r>
                    </a:p>
                  </a:txBody>
                  <a:tcPr marL="45720" marR="45720" marT="9144" marB="9144" anchor="ctr">
                    <a:lnL w="6350" cap="flat" cmpd="sng" algn="ctr">
                      <a:noFill/>
                    </a:lnL>
                    <a:lnR w="6350" cap="flat" cmpd="sng" algn="ctr">
                      <a:noFill/>
                    </a:lnR>
                    <a:lnT w="6350" cap="flat" cmpd="sng" algn="ctr">
                      <a:solidFill>
                        <a:srgbClr val="A6A6A6"/>
                      </a:solidFill>
                    </a:lnT>
                    <a:lnB w="6350" cap="flat" cmpd="sng" algn="ctr">
                      <a:solidFill>
                        <a:srgbClr val="A6A6A6"/>
                      </a:solidFill>
                    </a:lnB>
                    <a:solidFill>
                      <a:srgbClr val="FFFFFF"/>
                    </a:solidFill>
                  </a:tcPr>
                </a:tc>
              </a:tr>
            </a:tbl>
          </a:graphicData>
        </a:graphic>
      </p:graphicFrame>
    </p:spTree>
  </p:cSld>
  <p:clrMapOvr>
    <a:masterClrMapping/>
  </p:clrMapOvr>
</p:sld>
</file>

<file path=ppt/theme/theme1.xml><?xml version="1.0" encoding="utf-8"?>
<a:theme xmlns:a="http://schemas.openxmlformats.org/drawingml/2006/main" name="SL_2026">
  <a:themeElements>
    <a:clrScheme name="M&amp;A">
      <a:dk1>
        <a:srgbClr val="000000"/>
      </a:dk1>
      <a:lt1>
        <a:srgbClr val="FFFFFF"/>
      </a:lt1>
      <a:dk2>
        <a:srgbClr val="0B3041"/>
      </a:dk2>
      <a:lt2>
        <a:srgbClr val="E3E7E9"/>
      </a:lt2>
      <a:accent1>
        <a:srgbClr val="727F88"/>
      </a:accent1>
      <a:accent2>
        <a:srgbClr val="E1F3FB"/>
      </a:accent2>
      <a:accent3>
        <a:srgbClr val="54CCB3"/>
      </a:accent3>
      <a:accent4>
        <a:srgbClr val="0889C9"/>
      </a:accent4>
      <a:accent5>
        <a:srgbClr val="FFFFFF"/>
      </a:accent5>
      <a:accent6>
        <a:srgbClr val="FFFFFF"/>
      </a:accent6>
      <a:hlink>
        <a:srgbClr val="FFFFFF"/>
      </a:hlink>
      <a:folHlink>
        <a:srgbClr val="FFFFFF"/>
      </a:folHlink>
    </a:clrScheme>
    <a:fontScheme name="游ゴシック&amp;Arial">
      <a:majorFont>
        <a:latin typeface="Arial"/>
        <a:ea typeface="游ゴシック"/>
        <a:cs typeface=""/>
      </a:majorFont>
      <a:minorFont>
        <a:latin typeface="Arial"/>
        <a:ea typeface="游ゴシック Medium"/>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18255</TotalTime>
  <Words>19068</Words>
  <Application>Microsoft Office PowerPoint</Application>
  <PresentationFormat>ユーザー設定</PresentationFormat>
  <Paragraphs>7417</Paragraphs>
  <Slides>64</Slides>
  <Notes>52</Notes>
  <HiddenSlides>0</HiddenSlides>
  <MMClips>0</MMClips>
  <ScaleCrop>false</ScaleCrop>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株式会社M&amp;A承継機構</dc:creator>
  <cp:lastModifiedBy/>
  <cp:revision>202</cp:revision>
  <cp:lastPrinted>2026-09-18T11:11:13Z</cp:lastPrinted>
  <dcterms:created xsi:type="dcterms:W3CDTF">2022-11-09T11:25:01Z</dcterms:created>
  <dcterms:modified xsi:type="dcterms:W3CDTF">2026-10-14T13:13:26Z</dcterms:modified>
  <dc:title/>
  <dc:subject/>
  <cp:keywords/>
  <dc:description/>
</cp:coreProperties>
</file>