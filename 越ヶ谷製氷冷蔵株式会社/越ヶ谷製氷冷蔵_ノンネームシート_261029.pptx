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6.svg" ContentType="image/svg+xml"/>
  <Override PartName="/ppt/media/image7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53" r:id="rId1"/>
  </p:sldMasterIdLst>
  <p:notesMasterIdLst>
    <p:notesMasterId r:id="rId66"/>
  </p:notesMasterIdLst>
  <p:sldIdLst>
    <p:sldId id="846" r:id="rId72"/>
  </p:sldIdLst>
  <p:sldSz cx="10691813" cy="7559675"/>
  <p:notesSz cx="6794500" cy="9931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F15EE332-85E8-464E-BD9B-6722D42356EC}">
          <p14:sldIdLst>
            <p14:sldId id="770"/>
            <p14:sldId id="269"/>
            <p14:sldId id="693"/>
            <p14:sldId id="749"/>
            <p14:sldId id="748"/>
            <p14:sldId id="803"/>
            <p14:sldId id="774"/>
            <p14:sldId id="775"/>
            <p14:sldId id="266"/>
            <p14:sldId id="772"/>
            <p14:sldId id="776"/>
            <p14:sldId id="844"/>
            <p14:sldId id="835"/>
            <p14:sldId id="810"/>
            <p14:sldId id="827"/>
            <p14:sldId id="796"/>
            <p14:sldId id="833"/>
            <p14:sldId id="834"/>
            <p14:sldId id="831"/>
            <p14:sldId id="771"/>
            <p14:sldId id="780"/>
            <p14:sldId id="789"/>
            <p14:sldId id="781"/>
            <p14:sldId id="836"/>
            <p14:sldId id="838"/>
            <p14:sldId id="839"/>
            <p14:sldId id="841"/>
            <p14:sldId id="840"/>
            <p14:sldId id="845"/>
            <p14:sldId id="842"/>
            <p14:sldId id="843"/>
            <p14:sldId id="793"/>
            <p14:sldId id="804"/>
            <p14:sldId id="805"/>
            <p14:sldId id="806"/>
            <p14:sldId id="808"/>
            <p14:sldId id="807"/>
            <p14:sldId id="809"/>
            <p14:sldId id="795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02"/>
            <p14:sldId id="773"/>
            <p14:sldId id="784"/>
            <p14:sldId id="785"/>
            <p14:sldId id="787"/>
            <p14:sldId id="782"/>
            <p14:sldId id="783"/>
            <p14:sldId id="794"/>
            <p14:sldId id="788"/>
            <p14:sldId id="801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iHo5eoGHrZPWeT5AyeZZ6LkEE/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0"/>
    <a:srgbClr val="E7EFFB"/>
    <a:srgbClr val="E3E7E9"/>
    <a:srgbClr val="1F3864"/>
    <a:srgbClr val="003574"/>
    <a:srgbClr val="003775"/>
    <a:srgbClr val="EBEFF8"/>
    <a:srgbClr val="FBFBFC"/>
    <a:srgbClr val="0B3041"/>
    <a:srgbClr val="EC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9FEF8D-0F9E-4D7E-9A0F-5DDE6A6739AB}">
  <a:tblStyle styleId="{2E9FEF8D-0F9E-4D7E-9A0F-5DDE6A6739AB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>
        <p:scale>
          <a:sx n="75" d="100"/>
          <a:sy n="75" d="100"/>
        </p:scale>
        <p:origin x="232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6" Type="http://schemas.openxmlformats.org/officeDocument/2006/relationships/notesMaster" Target="notesMasters/notesMaster1.xml"/><Relationship Id="rId67" Type="http://customschemas.google.com/relationships/presentationmetadata" Target="metadata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0B30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75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23/3期</c:v>
                </c:pt>
                <c:pt idx="1">
                  <c:v>24/3期</c:v>
                </c:pt>
                <c:pt idx="2">
                  <c:v>25/3期</c:v>
                </c:pt>
                <c:pt idx="3">
                  <c:v>26/3期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285</c:v>
                </c:pt>
                <c:pt idx="1">
                  <c:v>376</c:v>
                </c:pt>
                <c:pt idx="2">
                  <c:v>383</c:v>
                </c:pt>
                <c:pt idx="3">
                  <c:v>406</c:v>
                </c:pt>
              </c:numCache>
            </c:numRef>
          </c:val>
        </c:ser>
        <c:gapWidth val="8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調整後EBITDA（右軸）</c:v>
          </c:tx>
          <c:spPr>
            <a:ln w="28575">
              <a:solidFill>
                <a:srgbClr val="0889C9"/>
              </a:solidFill>
            </a:ln>
          </c:spPr>
          <c:marker>
            <c:symbol val="circle"/>
            <c:size val="6"/>
            <c:spPr>
              <a:solidFill>
                <a:srgbClr val="0889C9"/>
              </a:solidFill>
            </c:spPr>
          </c:marker>
          <c:dLbls>
            <c:numFmt formatCode="#,##0;△#,##0" sourceLinked="0"/>
            <c:spPr>
              <a:noFill/>
            </c:spPr>
            <c:txPr>
              <a:bodyPr/>
              <a:lstStyle/>
              <a:p>
                <a:pPr>
                  <a:defRPr sz="750" b="1">
                    <a:solidFill>
                      <a:srgbClr val="0889C9"/>
                    </a:solidFill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23/3期</c:v>
              </c:pt>
              <c:pt idx="1">
                <c:v>24/3期</c:v>
              </c:pt>
              <c:pt idx="2">
                <c:v>25/3期</c:v>
              </c:pt>
              <c:pt idx="3">
                <c:v>26/3期</c:v>
              </c:pt>
            </c:strLit>
          </c:cat>
          <c:val>
            <c:numLit>
              <c:formatCode>General</c:formatCode>
              <c:ptCount val="4"/>
              <c:pt idx="0">
                <c:v>-8</c:v>
              </c:pt>
              <c:pt idx="1">
                <c:v>37</c:v>
              </c:pt>
              <c:pt idx="2">
                <c:v>34</c:v>
              </c:pt>
              <c:pt idx="3">
                <c:v>37</c:v>
              </c:pt>
            </c:numLit>
          </c:val>
          <c:smooth val="0"/>
        </c:ser>
        <c:marker val="1"/>
        <c:axId val="90001"/>
        <c:axId val="90002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7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  <c:catAx>
        <c:axId val="9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2"/>
        <c:crosses val="autoZero"/>
        <c:auto val="1"/>
        <c:lblAlgn val="ctr"/>
        <c:lblOffset val="100"/>
        <c:noMultiLvlLbl val="0"/>
      </c:catAx>
      <c:valAx>
        <c:axId val="90002"/>
        <c:scaling>
          <c:orientation val="minMax"/>
        </c:scaling>
        <c:delete val="0"/>
        <c:axPos val="r"/>
        <c:numFmt formatCode="#,##0;△#,##0" sourceLinked="0"/>
        <c:majorTickMark val="none"/>
        <c:minorTickMark val="none"/>
        <c:tickLblPos val="nextTo"/>
        <c:spPr>
          <a:ln>
            <a:noFill/>
          </a:ln>
        </c:spPr>
        <c:crossAx val="90001"/>
        <c:crosses val="max"/>
        <c:crossBetween val="between"/>
      </c:valAx>
    </c:plotArea>
    <c:legend>
      <c:legendPos val="t"/>
      <c:overlay val="0"/>
    </c:legend>
    <c:dispBlanksAs val="gap"/>
  </c:chart>
  <c:txPr>
    <a:bodyPr/>
    <a:lstStyle/>
    <a:p>
      <a:pPr>
        <a:defRPr sz="800">
          <a:latin typeface="游ゴシック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3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954" y="3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27113" y="1241425"/>
            <a:ext cx="4741862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209" y="4780077"/>
            <a:ext cx="5435600" cy="390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433832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954" y="9433832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/>
          <a:p>
            <a:pPr algn="r"/>
            <a:fld id="{00000000-1234-1234-1234-123412341234}" type="slidenum">
              <a:rPr lang="en-US" altLang="ja-JP" sz="1200" smtClean="0">
                <a:solidFill>
                  <a:schemeClr val="dk1"/>
                </a:solidFill>
              </a:rPr>
              <a:pPr algn="r"/>
              <a:t>‹#›</a:t>
            </a:fld>
            <a:endParaRPr 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412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103596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8E967D6D-5B52-5B07-CA48-6817A5CEB2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1D98B25-17B2-272C-53AC-A26D9745042C}"/>
              </a:ext>
            </a:extLst>
          </p:cNvPr>
          <p:cNvGrpSpPr/>
          <p:nvPr userDrawn="1"/>
        </p:nvGrpSpPr>
        <p:grpSpPr>
          <a:xfrm>
            <a:off x="887069" y="3420377"/>
            <a:ext cx="3420000" cy="602349"/>
            <a:chOff x="887069" y="3420377"/>
            <a:chExt cx="3420000" cy="602349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5012DD8-6B05-046F-3AF1-CACA060CA370}"/>
                </a:ext>
              </a:extLst>
            </p:cNvPr>
            <p:cNvSpPr txBox="1"/>
            <p:nvPr/>
          </p:nvSpPr>
          <p:spPr>
            <a:xfrm>
              <a:off x="977069" y="3420377"/>
              <a:ext cx="3240000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ja-JP" altLang="en-US" sz="3200" b="1" dirty="0">
                  <a:latin typeface="+mj-lt"/>
                </a:rPr>
                <a:t>目次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268C069C-EAF1-B7E8-021B-4DF925E86141}"/>
                </a:ext>
              </a:extLst>
            </p:cNvPr>
            <p:cNvCxnSpPr>
              <a:cxnSpLocks/>
            </p:cNvCxnSpPr>
            <p:nvPr/>
          </p:nvCxnSpPr>
          <p:spPr>
            <a:xfrm>
              <a:off x="887069" y="4022726"/>
              <a:ext cx="3420000" cy="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8"/>
            <a:ext cx="1627200" cy="32273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1C1562-A331-DA82-9B95-1B4F0DA08BD0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Google Shape;14;p31">
            <a:extLst>
              <a:ext uri="{FF2B5EF4-FFF2-40B4-BE49-F238E27FC236}">
                <a16:creationId xmlns:a16="http://schemas.microsoft.com/office/drawing/2014/main" id="{0CB49C29-F967-F011-F3F8-2ED176CC202F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93C03D-EF3C-73CD-DCFB-960D33F81124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144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DE449C2-8B65-9409-394F-45A167C6AE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07D600CD-5CAD-A0C8-1E3D-CD1EA5B0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3656161"/>
            <a:ext cx="9221787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000" b="1" spc="200" dirty="0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D4E6481-3D38-43CE-56D4-0766A151B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98" y="641818"/>
            <a:ext cx="1627200" cy="32010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F9BFF4-1363-8167-1FD9-7F8105B557A4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Google Shape;14;p31">
            <a:extLst>
              <a:ext uri="{FF2B5EF4-FFF2-40B4-BE49-F238E27FC236}">
                <a16:creationId xmlns:a16="http://schemas.microsoft.com/office/drawing/2014/main" id="{4768A1B1-9FB9-F183-2D3A-178D813DD52B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B19FBA-B74F-4E88-0389-543A882445EE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bg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095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本編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A577B03-0430-76D0-A4E3-BD118824A3F8}"/>
              </a:ext>
            </a:extLst>
          </p:cNvPr>
          <p:cNvSpPr/>
          <p:nvPr userDrawn="1"/>
        </p:nvSpPr>
        <p:spPr>
          <a:xfrm>
            <a:off x="-1" y="0"/>
            <a:ext cx="10691814" cy="666000"/>
          </a:xfrm>
          <a:prstGeom prst="rect">
            <a:avLst/>
          </a:prstGeom>
          <a:gradFill>
            <a:gsLst>
              <a:gs pos="88000">
                <a:srgbClr val="006AB1"/>
              </a:gs>
              <a:gs pos="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 dirty="0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D9CC89AC-0069-75DF-7665-F8D290946A33}"/>
              </a:ext>
            </a:extLst>
          </p:cNvPr>
          <p:cNvSpPr/>
          <p:nvPr userDrawn="1"/>
        </p:nvSpPr>
        <p:spPr>
          <a:xfrm>
            <a:off x="6714554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96000">
                <a:schemeClr val="accent4"/>
              </a:gs>
              <a:gs pos="46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C44029-31FF-A9F7-06AC-0A055C09D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75" y="830046"/>
            <a:ext cx="9781875" cy="24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1" spc="55" baseline="0">
                <a:latin typeface="+mj-ea"/>
                <a:ea typeface="+mj-ea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6A0380-DE0F-1825-615F-4DBC89C8C6DB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15124CEF-AA7F-DF16-7A5C-692E9AB76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1" y="7086114"/>
            <a:ext cx="1625600" cy="322220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864EB89-7DDA-1F5E-BB78-27D39C8659FC}"/>
              </a:ext>
            </a:extLst>
          </p:cNvPr>
          <p:cNvGrpSpPr/>
          <p:nvPr userDrawn="1"/>
        </p:nvGrpSpPr>
        <p:grpSpPr>
          <a:xfrm>
            <a:off x="-1" y="0"/>
            <a:ext cx="252001" cy="666000"/>
            <a:chOff x="-1" y="0"/>
            <a:chExt cx="252001" cy="666000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5B82C66-0A6E-C82F-B38C-D4495200FA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33000"/>
              <a:ext cx="252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6BFD29D-964D-B44D-88A5-439ACA448282}"/>
                </a:ext>
              </a:extLst>
            </p:cNvPr>
            <p:cNvSpPr/>
            <p:nvPr userDrawn="1"/>
          </p:nvSpPr>
          <p:spPr>
            <a:xfrm>
              <a:off x="-1" y="0"/>
              <a:ext cx="108000" cy="66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263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B87BA5C7-32E9-C506-2110-1D5AFE77B0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333000"/>
              <a:ext cx="108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A08165-590D-BD55-05E9-10B2D6F8DD6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41313" y="180296"/>
            <a:ext cx="7799917" cy="33926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00000"/>
              </a:lnSpc>
              <a:defRPr sz="2200" b="1" spc="7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0AA6A414-726D-CCFA-2EF2-5B8503BE0A88}"/>
              </a:ext>
            </a:extLst>
          </p:cNvPr>
          <p:cNvSpPr/>
          <p:nvPr userDrawn="1"/>
        </p:nvSpPr>
        <p:spPr>
          <a:xfrm>
            <a:off x="6386286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8000">
                <a:srgbClr val="0167A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/>
          </a:p>
        </p:txBody>
      </p:sp>
      <p:sp>
        <p:nvSpPr>
          <p:cNvPr id="33" name="Google Shape;14;p31">
            <a:extLst>
              <a:ext uri="{FF2B5EF4-FFF2-40B4-BE49-F238E27FC236}">
                <a16:creationId xmlns:a16="http://schemas.microsoft.com/office/drawing/2014/main" id="{273032A6-EBE9-0147-F9C2-495CA12FDE28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3DDC2C-ECEE-530D-9F1C-6564A5A2BAB9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27557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309">
          <p15:clr>
            <a:srgbClr val="FBAE40"/>
          </p15:clr>
        </p15:guide>
        <p15:guide id="3" pos="215">
          <p15:clr>
            <a:srgbClr val="A4A3A4"/>
          </p15:clr>
        </p15:guide>
        <p15:guide id="4" pos="6520">
          <p15:clr>
            <a:srgbClr val="A4A3A4"/>
          </p15:clr>
        </p15:guide>
        <p15:guide id="5" pos="283">
          <p15:clr>
            <a:srgbClr val="FBAE40"/>
          </p15:clr>
        </p15:guide>
        <p15:guide id="6" pos="64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2111189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54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関東地方で業歴60年超の純氷メーカー。自社工場で純水から製氷し、大手食品卸を含む安定した販路を有する。後継者不在のため株式譲渡による事業承継を希望。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ノンネームシート（案件概要）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F103961-B26C-39D9-FB80-02B45E98D11A}"/>
              </a:ext>
            </a:extLst>
          </p:cNvPr>
          <p:cNvSpPr txBox="1">
            <a:spLocks/>
          </p:cNvSpPr>
          <p:nvPr/>
        </p:nvSpPr>
        <p:spPr>
          <a:xfrm>
            <a:off x="8366333" y="252154"/>
            <a:ext cx="1984167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buClr>
                <a:schemeClr val="bg1"/>
              </a:buClr>
            </a:pPr>
            <a:r>
              <a:rPr lang="ja-JP" altLang="en-US" sz="1200" b="1" spc="55" dirty="0">
                <a:solidFill>
                  <a:schemeClr val="bg1"/>
                </a:solidFill>
              </a:rPr>
              <a:t>案件No.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81328"/>
            <a:ext cx="4892040" cy="292608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</a:rPr>
              <a:t>対象会社の概要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828800"/>
          <a:ext cx="4892040" cy="3950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36576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内容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0B304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業種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製氷業（純氷・加工氷の製造販売）、冷蔵保管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所在地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関東地方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業歴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1960年代創業（業歴60年超）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売上高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約4.0億円（直近期）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調整後EBITDA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約35百万円（直近3期平均）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従業員数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約25名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主要資産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自社工場（土地・建物）、製氷・冷蔵設備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主要販売先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大手食品卸、氷卸、業務用顧客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譲渡スキーム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株式譲渡（100%）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譲渡理由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後継者不在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希望価格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E3E7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応相談</a:t>
                      </a:r>
                    </a:p>
                  </a:txBody>
                  <a:tcPr marL="45720" marR="45720" marT="9144" marB="9144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</a:lnT>
                    <a:lnB w="6350" cap="flat" cmpd="sng" algn="ctr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0" y="1481328"/>
            <a:ext cx="4846320" cy="292608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</a:rPr>
              <a:t>業績推移（百万円）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0" y="1810512"/>
          <a:ext cx="48463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0" y="4224528"/>
            <a:ext cx="4846320" cy="292608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</a:rPr>
              <a:t>特徴・強み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4572000"/>
            <a:ext cx="292608" cy="292608"/>
          </a:xfrm>
          <a:prstGeom prst="ellipse">
            <a:avLst/>
          </a:prstGeom>
          <a:solidFill>
            <a:srgbClr val="088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35424"/>
            <a:ext cx="448056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 i="0">
                <a:solidFill>
                  <a:srgbClr val="0B3041"/>
                </a:solidFill>
                <a:latin typeface="游ゴシック"/>
                <a:ea typeface="游ゴシック"/>
              </a:rPr>
              <a:t>伝統製法の純氷</a:t>
            </a:r>
          </a:p>
          <a:p>
            <a:pPr algn="l"/>
            <a:r>
              <a:rPr sz="850" b="0" i="0">
                <a:solidFill>
                  <a:srgbClr val="000000"/>
                </a:solidFill>
                <a:latin typeface="游ゴシック"/>
                <a:ea typeface="游ゴシック"/>
              </a:rPr>
              <a:t>自社の純水設備でろ過した水を約48時間かけて凍結。透明度が高く溶けにくい高品質な氷を製造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5029200"/>
            <a:ext cx="292608" cy="292608"/>
          </a:xfrm>
          <a:prstGeom prst="ellipse">
            <a:avLst/>
          </a:prstGeom>
          <a:solidFill>
            <a:srgbClr val="088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992624"/>
            <a:ext cx="448056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 i="0">
                <a:solidFill>
                  <a:srgbClr val="0B3041"/>
                </a:solidFill>
                <a:latin typeface="游ゴシック"/>
                <a:ea typeface="游ゴシック"/>
              </a:rPr>
              <a:t>安定した販路</a:t>
            </a:r>
          </a:p>
          <a:p>
            <a:pPr algn="l"/>
            <a:r>
              <a:rPr sz="850" b="0" i="0">
                <a:solidFill>
                  <a:srgbClr val="000000"/>
                </a:solidFill>
                <a:latin typeface="游ゴシック"/>
                <a:ea typeface="游ゴシック"/>
              </a:rPr>
              <a:t>大手食品卸・氷卸と継続取引。掛売中心で回収も安定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5486400"/>
            <a:ext cx="292608" cy="292608"/>
          </a:xfrm>
          <a:prstGeom prst="ellipse">
            <a:avLst/>
          </a:prstGeom>
          <a:solidFill>
            <a:srgbClr val="088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449824"/>
            <a:ext cx="448056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 i="0">
                <a:solidFill>
                  <a:srgbClr val="0B3041"/>
                </a:solidFill>
                <a:latin typeface="游ゴシック"/>
                <a:ea typeface="游ゴシック"/>
              </a:rPr>
              <a:t>一貫体制</a:t>
            </a:r>
          </a:p>
          <a:p>
            <a:pPr algn="l"/>
            <a:r>
              <a:rPr sz="850" b="0" i="0">
                <a:solidFill>
                  <a:srgbClr val="000000"/>
                </a:solidFill>
                <a:latin typeface="游ゴシック"/>
                <a:ea typeface="游ゴシック"/>
              </a:rPr>
              <a:t>製氷・加工・冷蔵保管・配送を自社で一貫。製氷能力は日産約40トン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0" y="5943600"/>
            <a:ext cx="292608" cy="292608"/>
          </a:xfrm>
          <a:prstGeom prst="ellipse">
            <a:avLst/>
          </a:prstGeom>
          <a:solidFill>
            <a:srgbClr val="088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907024"/>
            <a:ext cx="448056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950" b="1" i="0">
                <a:solidFill>
                  <a:srgbClr val="0B3041"/>
                </a:solidFill>
                <a:latin typeface="游ゴシック"/>
                <a:ea typeface="游ゴシック"/>
              </a:rPr>
              <a:t>シナジー余地（仮説）</a:t>
            </a:r>
          </a:p>
          <a:p>
            <a:pPr algn="l"/>
            <a:r>
              <a:rPr sz="850" b="0" i="0">
                <a:solidFill>
                  <a:srgbClr val="000000"/>
                </a:solidFill>
                <a:latin typeface="游ゴシック"/>
                <a:ea typeface="游ゴシック"/>
              </a:rPr>
              <a:t>食品・物流・飲料関連企業の販路や配送網との連携で、閑散期の稼働向上と商品拡大が見込める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5989320"/>
            <a:ext cx="493776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750" b="0" i="0">
                <a:solidFill>
                  <a:srgbClr val="404040"/>
                </a:solidFill>
                <a:latin typeface="游ゴシック Medium"/>
                <a:ea typeface="游ゴシック Medium"/>
              </a:rPr>
              <a:t>※本資料は対象会社を特定できないよう情報を加工しています。</a:t>
            </a:r>
          </a:p>
          <a:p>
            <a:pPr algn="l"/>
            <a:r>
              <a:rPr sz="750" b="0" i="0">
                <a:solidFill>
                  <a:srgbClr val="404040"/>
                </a:solidFill>
                <a:latin typeface="游ゴシック Medium"/>
                <a:ea typeface="游ゴシック Medium"/>
              </a:rPr>
              <a:t>※詳細資料（企業概要書）は秘密保持契約の締結後に開示いたします。</a:t>
            </a:r>
          </a:p>
          <a:p>
            <a:pPr algn="l"/>
            <a:r>
              <a:rPr sz="750" b="0" i="0">
                <a:solidFill>
                  <a:srgbClr val="404040"/>
                </a:solidFill>
                <a:latin typeface="游ゴシック Medium"/>
                <a:ea typeface="游ゴシック Medium"/>
              </a:rPr>
              <a:t>※数値は概数。調整後EBITDA＝営業利益＋減価償却費＋臨時的費用の調整（詳細は企業概要書参照）。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_2026">
  <a:themeElements>
    <a:clrScheme name="M&amp;A">
      <a:dk1>
        <a:srgbClr val="000000"/>
      </a:dk1>
      <a:lt1>
        <a:srgbClr val="FFFFFF"/>
      </a:lt1>
      <a:dk2>
        <a:srgbClr val="0B3041"/>
      </a:dk2>
      <a:lt2>
        <a:srgbClr val="E3E7E9"/>
      </a:lt2>
      <a:accent1>
        <a:srgbClr val="727F88"/>
      </a:accent1>
      <a:accent2>
        <a:srgbClr val="E1F3FB"/>
      </a:accent2>
      <a:accent3>
        <a:srgbClr val="54CCB3"/>
      </a:accent3>
      <a:accent4>
        <a:srgbClr val="0889C9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游ゴシック&amp;Arial">
      <a:majorFont>
        <a:latin typeface="Arial"/>
        <a:ea typeface="游ゴシック"/>
        <a:cs typeface=""/>
      </a:majorFont>
      <a:minorFont>
        <a:latin typeface="Arial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18255</TotalTime>
  <Words>19068</Words>
  <Application>Microsoft Office PowerPoint</Application>
  <PresentationFormat>ユーザー設定</PresentationFormat>
  <Paragraphs>7417</Paragraphs>
  <Slides>64</Slides>
  <Notes>52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株式会社M&amp;A承継機構</dc:creator>
  <cp:lastModifiedBy/>
  <cp:revision>202</cp:revision>
  <cp:lastPrinted>2026-09-18T11:11:13Z</cp:lastPrinted>
  <dcterms:created xsi:type="dcterms:W3CDTF">2022-11-09T11:25:01Z</dcterms:created>
  <dcterms:modified xsi:type="dcterms:W3CDTF">2026-10-14T13:13:26Z</dcterms:modified>
  <dc:title/>
  <dc:subject/>
  <cp:keywords/>
  <dc:description/>
</cp:coreProperties>
</file>