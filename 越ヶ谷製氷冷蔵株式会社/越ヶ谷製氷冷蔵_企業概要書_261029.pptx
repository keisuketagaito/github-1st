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66"/>
  </p:notesMasterIdLst>
  <p:sldIdLst>
    <p:sldId id="770" r:id="rId2"/>
    <p:sldId id="269" r:id="rId3"/>
    <p:sldId id="693" r:id="rId4"/>
    <p:sldId id="749" r:id="rId5"/>
    <p:sldId id="846" r:id="rId72"/>
    <p:sldId id="847" r:id="rId73"/>
    <p:sldId id="848" r:id="rId74"/>
    <p:sldId id="849" r:id="rId75"/>
    <p:sldId id="266" r:id="rId10"/>
    <p:sldId id="772" r:id="rId11"/>
    <p:sldId id="850" r:id="rId76"/>
    <p:sldId id="851" r:id="rId77"/>
    <p:sldId id="852" r:id="rId78"/>
    <p:sldId id="853" r:id="rId79"/>
    <p:sldId id="854" r:id="rId80"/>
    <p:sldId id="796" r:id="rId17"/>
    <p:sldId id="771" r:id="rId21"/>
    <p:sldId id="855" r:id="rId81"/>
    <p:sldId id="856" r:id="rId82"/>
    <p:sldId id="857" r:id="rId83"/>
    <p:sldId id="858" r:id="rId84"/>
    <p:sldId id="859" r:id="rId85"/>
    <p:sldId id="860" r:id="rId86"/>
    <p:sldId id="773" r:id="rId56"/>
    <p:sldId id="861" r:id="rId87"/>
    <p:sldId id="862" r:id="rId88"/>
    <p:sldId id="863" r:id="rId89"/>
    <p:sldId id="864" r:id="rId90"/>
    <p:sldId id="782" r:id="rId60"/>
    <p:sldId id="865" r:id="rId91"/>
    <p:sldId id="801" r:id="rId64"/>
    <p:sldId id="277" r:id="rId65"/>
  </p:sldIdLst>
  <p:sldSz cx="10691813" cy="7559675"/>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03"/>
            <p14:sldId id="774"/>
            <p14:sldId id="775"/>
            <p14:sldId id="266"/>
            <p14:sldId id="772"/>
            <p14:sldId id="776"/>
            <p14:sldId id="844"/>
            <p14:sldId id="835"/>
            <p14:sldId id="810"/>
            <p14:sldId id="827"/>
            <p14:sldId id="796"/>
            <p14:sldId id="833"/>
            <p14:sldId id="834"/>
            <p14:sldId id="831"/>
            <p14:sldId id="771"/>
            <p14:sldId id="780"/>
            <p14:sldId id="789"/>
            <p14:sldId id="781"/>
            <p14:sldId id="836"/>
            <p14:sldId id="838"/>
            <p14:sldId id="839"/>
            <p14:sldId id="841"/>
            <p14:sldId id="840"/>
            <p14:sldId id="845"/>
            <p14:sldId id="842"/>
            <p14:sldId id="843"/>
            <p14:sldId id="793"/>
            <p14:sldId id="804"/>
            <p14:sldId id="805"/>
            <p14:sldId id="806"/>
            <p14:sldId id="808"/>
            <p14:sldId id="807"/>
            <p14:sldId id="809"/>
            <p14:sldId id="795"/>
            <p14:sldId id="811"/>
            <p14:sldId id="812"/>
            <p14:sldId id="813"/>
            <p14:sldId id="814"/>
            <p14:sldId id="815"/>
            <p14:sldId id="816"/>
            <p14:sldId id="817"/>
            <p14:sldId id="818"/>
            <p14:sldId id="819"/>
            <p14:sldId id="820"/>
            <p14:sldId id="821"/>
            <p14:sldId id="822"/>
            <p14:sldId id="823"/>
            <p14:sldId id="824"/>
            <p14:sldId id="802"/>
            <p14:sldId id="773"/>
            <p14:sldId id="784"/>
            <p14:sldId id="785"/>
            <p14:sldId id="787"/>
            <p14:sldId id="782"/>
            <p14:sldId id="783"/>
            <p14:sldId id="794"/>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28" userDrawn="1">
          <p15:clr>
            <a:srgbClr val="A4A3A4"/>
          </p15:clr>
        </p15:guide>
        <p15:guide id="2" pos="2140"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80"/>
    <a:srgbClr val="E7EFFB"/>
    <a:srgbClr val="E3E7E9"/>
    <a:srgbClr val="1F3864"/>
    <a:srgbClr val="003574"/>
    <a:srgbClr val="003775"/>
    <a:srgbClr val="EBEFF8"/>
    <a:srgbClr val="FBFBFC"/>
    <a:srgbClr val="0B3041"/>
    <a:srgbClr val="ECF2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94660"/>
  </p:normalViewPr>
  <p:slideViewPr>
    <p:cSldViewPr snapToGrid="0">
      <p:cViewPr>
        <p:scale>
          <a:sx n="75" d="100"/>
          <a:sy n="75" d="100"/>
        </p:scale>
        <p:origin x="2328" y="61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10" Type="http://schemas.openxmlformats.org/officeDocument/2006/relationships/slide" Target="slides/slide9.xml"/><Relationship Id="rId11" Type="http://schemas.openxmlformats.org/officeDocument/2006/relationships/slide" Target="slides/slide10.xml"/><Relationship Id="rId17" Type="http://schemas.openxmlformats.org/officeDocument/2006/relationships/slide" Target="slides/slide16.xml"/><Relationship Id="rId21" Type="http://schemas.openxmlformats.org/officeDocument/2006/relationships/slide" Target="slides/slide20.xml"/><Relationship Id="rId56" Type="http://schemas.openxmlformats.org/officeDocument/2006/relationships/slide" Target="slides/slide55.xml"/><Relationship Id="rId60" Type="http://schemas.openxmlformats.org/officeDocument/2006/relationships/slide" Target="slides/slide59.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customschemas.google.com/relationships/presentationmetadata" Target="metadata"/><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構成比</c:v>
                </c:pt>
              </c:strCache>
            </c:strRef>
          </c:tx>
          <c:dPt>
            <c:idx val="0"/>
            <c:spPr>
              <a:solidFill>
                <a:srgbClr val="0B3041"/>
              </a:solidFill>
            </c:spPr>
          </c:dPt>
          <c:dPt>
            <c:idx val="1"/>
            <c:spPr>
              <a:solidFill>
                <a:srgbClr val="0889C9"/>
              </a:solidFill>
            </c:spPr>
          </c:dPt>
          <c:dPt>
            <c:idx val="2"/>
            <c:spPr>
              <a:solidFill>
                <a:srgbClr val="9DC3E6"/>
              </a:solidFill>
            </c:spPr>
          </c:dPt>
          <c:cat>
            <c:strRef>
              <c:f>Sheet1!$A$2:$A$4</c:f>
              <c:strCache>
                <c:ptCount val="3"/>
                <c:pt idx="0">
                  <c:v>凍氷関係（製氷・加工氷の製造販売）</c:v>
                </c:pt>
                <c:pt idx="1">
                  <c:v>物品の斡旋（ドライアイス等の商品販売）</c:v>
                </c:pt>
                <c:pt idx="2">
                  <c:v>冷蔵保管</c:v>
                </c:pt>
              </c:strCache>
            </c:strRef>
          </c:cat>
          <c:val>
            <c:numRef>
              <c:f>Sheet1!$B$2:$B$4</c:f>
              <c:numCache>
                <c:formatCode>General</c:formatCode>
                <c:ptCount val="3"/>
                <c:pt idx="0">
                  <c:v>0.899</c:v>
                </c:pt>
                <c:pt idx="1">
                  <c:v>0.084</c:v>
                </c:pt>
                <c:pt idx="2">
                  <c:v>0.017</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800">
          <a:latin typeface="游ゴシック"/>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借入金</c:v>
                </c:pt>
              </c:strCache>
            </c:strRef>
          </c:tx>
          <c:spPr>
            <a:solidFill>
              <a:srgbClr val="0B3041"/>
            </a:solidFill>
          </c:spPr>
          <c:dLbls>
            <c:numFmt formatCode="#,##0" sourceLinked="0"/>
            <c:txPr>
              <a:bodyPr/>
              <a:lstStyle/>
              <a:p>
                <a:pPr>
                  <a:defRPr sz="700"/>
                </a:pPr>
              </a:p>
            </c:txPr>
            <c:dLblPos val="outEnd"/>
            <c:showLegendKey val="0"/>
            <c:showVal val="1"/>
            <c:showCatName val="0"/>
            <c:showSerName val="0"/>
            <c:showPercent val="0"/>
            <c:showBubbleSize val="0"/>
            <c:showLeaderLines val="1"/>
          </c:dLbls>
          <c:cat>
            <c:strRef>
              <c:f>Sheet1!$A$2:$A$5</c:f>
              <c:strCache>
                <c:ptCount val="4"/>
                <c:pt idx="0">
                  <c:v>23/3期</c:v>
                </c:pt>
                <c:pt idx="1">
                  <c:v>24/3期</c:v>
                </c:pt>
                <c:pt idx="2">
                  <c:v>25/3期</c:v>
                </c:pt>
                <c:pt idx="3">
                  <c:v>26/3期</c:v>
                </c:pt>
              </c:strCache>
            </c:strRef>
          </c:cat>
          <c:val>
            <c:numRef>
              <c:f>Sheet1!$B$2:$B$5</c:f>
              <c:numCache>
                <c:formatCode>General</c:formatCode>
                <c:ptCount val="4"/>
                <c:pt idx="0">
                  <c:v>530156</c:v>
                </c:pt>
                <c:pt idx="1">
                  <c:v>512787</c:v>
                </c:pt>
                <c:pt idx="2">
                  <c:v>478822</c:v>
                </c:pt>
                <c:pt idx="3">
                  <c:v>461024</c:v>
                </c:pt>
              </c:numCache>
            </c:numRef>
          </c:val>
        </c:ser>
        <c:gapWidth val="120"/>
        <c:axId val="-2068027336"/>
        <c:axId val="-2113994440"/>
      </c:barChart>
      <c:lineChart>
        <c:grouping val="standard"/>
        <c:varyColors val="0"/>
        <c:ser>
          <c:idx val="1"/>
          <c:order val="1"/>
          <c:tx>
            <c:v>純資産（右軸）</c:v>
          </c:tx>
          <c:spPr>
            <a:ln w="28575">
              <a:solidFill>
                <a:srgbClr val="0889C9"/>
              </a:solidFill>
            </a:ln>
          </c:spPr>
          <c:marker>
            <c:symbol val="circle"/>
            <c:size val="6"/>
            <c:spPr>
              <a:solidFill>
                <a:srgbClr val="0889C9"/>
              </a:solidFill>
            </c:spPr>
          </c:marker>
          <c:dLbls>
            <c:numFmt formatCode="#,##0" sourceLinked="0"/>
            <c:spPr>
              <a:noFill/>
            </c:spPr>
            <c:txPr>
              <a:bodyPr/>
              <a:lstStyle/>
              <a:p>
                <a:pPr>
                  <a:defRPr sz="750" b="1">
                    <a:solidFill>
                      <a:srgbClr val="0889C9"/>
                    </a:solidFill>
                  </a:defRPr>
                </a:pPr>
                <a:endParaRPr lang="ja-JP"/>
              </a:p>
            </c:txPr>
            <c:dLblPos val="t"/>
            <c:showLegendKey val="0"/>
            <c:showVal val="1"/>
            <c:showCatName val="0"/>
            <c:showSerName val="0"/>
            <c:showPercent val="0"/>
            <c:showBubbleSize val="0"/>
          </c:dLbls>
          <c:cat>
            <c:strLit>
              <c:ptCount val="4"/>
              <c:pt idx="0">
                <c:v>23/3期</c:v>
              </c:pt>
              <c:pt idx="1">
                <c:v>24/3期</c:v>
              </c:pt>
              <c:pt idx="2">
                <c:v>25/3期</c:v>
              </c:pt>
              <c:pt idx="3">
                <c:v>26/3期</c:v>
              </c:pt>
            </c:strLit>
          </c:cat>
          <c:val>
            <c:numLit>
              <c:formatCode>General</c:formatCode>
              <c:ptCount val="4"/>
              <c:pt idx="0">
                <c:v>19818</c:v>
              </c:pt>
              <c:pt idx="1">
                <c:v>42250</c:v>
              </c:pt>
              <c:pt idx="2">
                <c:v>47912</c:v>
              </c:pt>
              <c:pt idx="3">
                <c:v>49288</c:v>
              </c:pt>
            </c:numLit>
          </c:val>
          <c:smooth val="0"/>
        </c:ser>
        <c:marker val="1"/>
        <c:axId val="90001"/>
        <c:axId val="90002"/>
      </c:lineChart>
      <c:catAx>
        <c:axId val="-2068027336"/>
        <c:scaling>
          <c:orientation val="minMax"/>
        </c:scaling>
        <c:delete val="0"/>
        <c:axPos val="b"/>
        <c:majorTickMark val="out"/>
        <c:minorTickMark val="none"/>
        <c:tickLblPos val="nextTo"/>
        <c:spPr>
          <a:ln>
            <a:solidFill>
              <a:srgbClr val="A6A6A6"/>
            </a:solidFill>
          </a:ln>
        </c:spPr>
        <c:crossAx val="-2113994440"/>
        <c:crosses val="autoZero"/>
        <c:auto val="1"/>
        <c:lblAlgn val="ctr"/>
        <c:lblOffset val="100"/>
        <c:noMultiLvlLbl val="0"/>
      </c:catAx>
      <c:valAx>
        <c:axId val="-2113994440"/>
        <c:scaling>
          <c:min val="0.0"/>
        </c:scaling>
        <c:delete val="0"/>
        <c:axPos val="l"/>
        <c:majorGridlines>
          <c:spPr>
            <a:ln>
              <a:solidFill>
                <a:srgbClr val="E3E7E9"/>
              </a:solidFill>
            </a:ln>
          </c:spPr>
        </c:majorGridlines>
        <c:numFmt formatCode="#,##0" sourceLinked="0"/>
        <c:majorTickMark val="out"/>
        <c:minorTickMark val="none"/>
        <c:tickLblPos val="nextTo"/>
        <c:spPr>
          <a:ln>
            <a:noFill/>
          </a:ln>
        </c:spPr>
        <c:crossAx val="-2068027336"/>
        <c:crosses val="autoZero"/>
      </c:valAx>
      <c:catAx>
        <c:axId val="90001"/>
        <c:scaling>
          <c:orientation val="minMax"/>
        </c:scaling>
        <c:delete val="1"/>
        <c:axPos val="b"/>
        <c:majorTickMark val="none"/>
        <c:minorTickMark val="none"/>
        <c:tickLblPos val="nextTo"/>
        <c:crossAx val="90002"/>
        <c:crosses val="autoZero"/>
        <c:auto val="1"/>
        <c:lblAlgn val="ctr"/>
        <c:lblOffset val="100"/>
        <c:noMultiLvlLbl val="0"/>
      </c:catAx>
      <c:valAx>
        <c:axId val="90002"/>
        <c:scaling>
          <c:orientation val="minMax"/>
        </c:scaling>
        <c:delete val="0"/>
        <c:axPos val="r"/>
        <c:numFmt formatCode="#,##0" sourceLinked="0"/>
        <c:majorTickMark val="none"/>
        <c:minorTickMark val="none"/>
        <c:tickLblPos val="nextTo"/>
        <c:spPr>
          <a:ln>
            <a:noFill/>
          </a:ln>
        </c:spPr>
        <c:crossAx val="90001"/>
        <c:crosses val="max"/>
        <c:crossBetween val="between"/>
      </c:valAx>
    </c:plotArea>
    <c:legend>
      <c:legendPos val="t"/>
      <c:overlay val="0"/>
    </c:legend>
    <c:dispBlanksAs val="gap"/>
  </c:chart>
  <c:txPr>
    <a:bodyPr/>
    <a:lstStyle/>
    <a:p>
      <a:pPr>
        <a:defRPr sz="750">
          <a:latin typeface="游ゴシック"/>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売上（凍氷）</c:v>
                </c:pt>
              </c:strCache>
            </c:strRef>
          </c:tx>
          <c:spPr>
            <a:solidFill>
              <a:srgbClr val="0B3041"/>
            </a:solidFill>
          </c:spPr>
          <c:dLbls>
            <c:numFmt formatCode="#,##0" sourceLinked="0"/>
            <c:txPr>
              <a:bodyPr/>
              <a:lstStyle/>
              <a:p>
                <a:pPr>
                  <a:defRPr sz="750"/>
                </a:pPr>
              </a:p>
            </c:txPr>
            <c:dLblPos val="outEnd"/>
            <c:showLegendKey val="0"/>
            <c:showVal val="1"/>
            <c:showCatName val="0"/>
            <c:showSerName val="0"/>
            <c:showPercent val="0"/>
            <c:showBubbleSize val="0"/>
            <c:showLeaderLines val="1"/>
          </c:dLbls>
          <c:cat>
            <c:strRef>
              <c:f>Sheet1!$A$2:$A$13</c:f>
              <c:strCache>
                <c:ptCount val="12"/>
                <c:pt idx="0">
                  <c:v>4月</c:v>
                </c:pt>
                <c:pt idx="1">
                  <c:v>5月</c:v>
                </c:pt>
                <c:pt idx="2">
                  <c:v>6月</c:v>
                </c:pt>
                <c:pt idx="3">
                  <c:v>7月</c:v>
                </c:pt>
                <c:pt idx="4">
                  <c:v>8月</c:v>
                </c:pt>
                <c:pt idx="5">
                  <c:v>9月</c:v>
                </c:pt>
                <c:pt idx="6">
                  <c:v>10月</c:v>
                </c:pt>
                <c:pt idx="7">
                  <c:v>11月</c:v>
                </c:pt>
                <c:pt idx="8">
                  <c:v>12月</c:v>
                </c:pt>
                <c:pt idx="9">
                  <c:v>1月</c:v>
                </c:pt>
                <c:pt idx="10">
                  <c:v>2月</c:v>
                </c:pt>
                <c:pt idx="11">
                  <c:v>3月</c:v>
                </c:pt>
              </c:strCache>
            </c:strRef>
          </c:cat>
          <c:val>
            <c:numRef>
              <c:f>Sheet1!$B$2:$B$13</c:f>
              <c:numCache>
                <c:formatCode>General</c:formatCode>
                <c:ptCount val="12"/>
                <c:pt idx="0">
                  <c:v>35455</c:v>
                </c:pt>
                <c:pt idx="1">
                  <c:v>34880</c:v>
                </c:pt>
                <c:pt idx="2">
                  <c:v>42375</c:v>
                </c:pt>
                <c:pt idx="3">
                  <c:v>65915</c:v>
                </c:pt>
                <c:pt idx="4">
                  <c:v>59983</c:v>
                </c:pt>
                <c:pt idx="5">
                  <c:v>42001</c:v>
                </c:pt>
                <c:pt idx="6">
                  <c:v>26505</c:v>
                </c:pt>
                <c:pt idx="7">
                  <c:v>14285</c:v>
                </c:pt>
                <c:pt idx="8">
                  <c:v>19378</c:v>
                </c:pt>
                <c:pt idx="9">
                  <c:v>14096</c:v>
                </c:pt>
                <c:pt idx="10">
                  <c:v>19502</c:v>
                </c:pt>
                <c:pt idx="11">
                  <c:v>25619</c:v>
                </c:pt>
              </c:numCache>
            </c:numRef>
          </c:val>
        </c:ser>
        <c:gapWidth val="80"/>
        <c:axId val="-2068027336"/>
        <c:axId val="-2113994440"/>
      </c:barChart>
      <c:lineChart>
        <c:grouping val="standard"/>
        <c:varyColors val="0"/>
        <c:ser>
          <c:idx val="1"/>
          <c:order val="1"/>
          <c:tx>
            <c:v>冷蔵保管料（右軸）</c:v>
          </c:tx>
          <c:spPr>
            <a:ln w="28575">
              <a:solidFill>
                <a:srgbClr val="0889C9"/>
              </a:solidFill>
            </a:ln>
          </c:spPr>
          <c:marker>
            <c:symbol val="circle"/>
            <c:size val="6"/>
            <c:spPr>
              <a:solidFill>
                <a:srgbClr val="0889C9"/>
              </a:solidFill>
            </c:spPr>
          </c:marker>
          <c:dLbls>
            <c:numFmt formatCode="#,##0" sourceLinked="0"/>
            <c:spPr>
              <a:noFill/>
            </c:spPr>
            <c:txPr>
              <a:bodyPr/>
              <a:lstStyle/>
              <a:p>
                <a:pPr>
                  <a:defRPr sz="750" b="1">
                    <a:solidFill>
                      <a:srgbClr val="0889C9"/>
                    </a:solidFill>
                  </a:defRPr>
                </a:pPr>
                <a:endParaRPr lang="ja-JP"/>
              </a:p>
            </c:txPr>
            <c:dLblPos val="t"/>
            <c:showLegendKey val="0"/>
            <c:showVal val="1"/>
            <c:showCatName val="0"/>
            <c:showSerName val="0"/>
            <c:showPercent val="0"/>
            <c:showBubbleSize val="0"/>
          </c:dLbls>
          <c:cat>
            <c:strLit>
              <c:ptCount val="12"/>
              <c:pt idx="0">
                <c:v>4月</c:v>
              </c:pt>
              <c:pt idx="1">
                <c:v>5月</c:v>
              </c:pt>
              <c:pt idx="2">
                <c:v>6月</c:v>
              </c:pt>
              <c:pt idx="3">
                <c:v>7月</c:v>
              </c:pt>
              <c:pt idx="4">
                <c:v>8月</c:v>
              </c:pt>
              <c:pt idx="5">
                <c:v>9月</c:v>
              </c:pt>
              <c:pt idx="6">
                <c:v>10月</c:v>
              </c:pt>
              <c:pt idx="7">
                <c:v>11月</c:v>
              </c:pt>
              <c:pt idx="8">
                <c:v>12月</c:v>
              </c:pt>
              <c:pt idx="9">
                <c:v>1月</c:v>
              </c:pt>
              <c:pt idx="10">
                <c:v>2月</c:v>
              </c:pt>
              <c:pt idx="11">
                <c:v>3月</c:v>
              </c:pt>
            </c:strLit>
          </c:cat>
          <c:val>
            <c:numLit>
              <c:formatCode>General</c:formatCode>
              <c:ptCount val="12"/>
              <c:pt idx="0">
                <c:v>108</c:v>
              </c:pt>
              <c:pt idx="1">
                <c:v>106</c:v>
              </c:pt>
              <c:pt idx="2">
                <c:v>144</c:v>
              </c:pt>
              <c:pt idx="3">
                <c:v>93</c:v>
              </c:pt>
              <c:pt idx="4">
                <c:v>89</c:v>
              </c:pt>
              <c:pt idx="5">
                <c:v>144</c:v>
              </c:pt>
              <c:pt idx="6">
                <c:v>505</c:v>
              </c:pt>
              <c:pt idx="7">
                <c:v>1114</c:v>
              </c:pt>
              <c:pt idx="8">
                <c:v>3266</c:v>
              </c:pt>
              <c:pt idx="9">
                <c:v>253</c:v>
              </c:pt>
              <c:pt idx="10">
                <c:v>82</c:v>
              </c:pt>
              <c:pt idx="11">
                <c:v>66</c:v>
              </c:pt>
            </c:numLit>
          </c:val>
          <c:smooth val="0"/>
        </c:ser>
        <c:marker val="1"/>
        <c:axId val="90001"/>
        <c:axId val="90002"/>
      </c:lineChart>
      <c:catAx>
        <c:axId val="-2068027336"/>
        <c:scaling>
          <c:orientation val="minMax"/>
        </c:scaling>
        <c:delete val="0"/>
        <c:axPos val="b"/>
        <c:majorTickMark val="out"/>
        <c:minorTickMark val="none"/>
        <c:tickLblPos val="nextTo"/>
        <c:spPr>
          <a:ln>
            <a:solidFill>
              <a:srgbClr val="A6A6A6"/>
            </a:solidFill>
          </a:ln>
        </c:spPr>
        <c:crossAx val="-2113994440"/>
        <c:crosses val="autoZero"/>
        <c:auto val="1"/>
        <c:lblAlgn val="ctr"/>
        <c:lblOffset val="100"/>
        <c:noMultiLvlLbl val="0"/>
      </c:catAx>
      <c:valAx>
        <c:axId val="-2113994440"/>
        <c:scaling>
          <c:min val="0.0"/>
        </c:scaling>
        <c:delete val="0"/>
        <c:axPos val="l"/>
        <c:majorGridlines>
          <c:spPr>
            <a:ln>
              <a:solidFill>
                <a:srgbClr val="E3E7E9"/>
              </a:solidFill>
            </a:ln>
          </c:spPr>
        </c:majorGridlines>
        <c:numFmt formatCode="#,##0" sourceLinked="0"/>
        <c:majorTickMark val="out"/>
        <c:minorTickMark val="none"/>
        <c:tickLblPos val="nextTo"/>
        <c:spPr>
          <a:ln>
            <a:noFill/>
          </a:ln>
        </c:spPr>
        <c:crossAx val="-2068027336"/>
        <c:crosses val="autoZero"/>
      </c:valAx>
      <c:catAx>
        <c:axId val="90001"/>
        <c:scaling>
          <c:orientation val="minMax"/>
        </c:scaling>
        <c:delete val="1"/>
        <c:axPos val="b"/>
        <c:majorTickMark val="none"/>
        <c:minorTickMark val="none"/>
        <c:tickLblPos val="nextTo"/>
        <c:crossAx val="90002"/>
        <c:crosses val="autoZero"/>
        <c:auto val="1"/>
        <c:lblAlgn val="ctr"/>
        <c:lblOffset val="100"/>
        <c:noMultiLvlLbl val="0"/>
      </c:catAx>
      <c:valAx>
        <c:axId val="90002"/>
        <c:scaling>
          <c:orientation val="minMax"/>
        </c:scaling>
        <c:delete val="0"/>
        <c:axPos val="r"/>
        <c:numFmt formatCode="#,##0" sourceLinked="0"/>
        <c:majorTickMark val="none"/>
        <c:minorTickMark val="none"/>
        <c:tickLblPos val="nextTo"/>
        <c:spPr>
          <a:ln>
            <a:noFill/>
          </a:ln>
        </c:spPr>
        <c:crossAx val="90001"/>
        <c:crosses val="max"/>
        <c:crossBetween val="between"/>
      </c:valAx>
    </c:plotArea>
    <c:legend>
      <c:legendPos val="t"/>
      <c:overlay val="0"/>
    </c:legend>
    <c:dispBlanksAs val="gap"/>
  </c:chart>
  <c:txPr>
    <a:bodyPr/>
    <a:lstStyle/>
    <a:p>
      <a:pPr>
        <a:defRPr sz="800">
          <a:latin typeface="游ゴシック"/>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3" y="3"/>
            <a:ext cx="2944030" cy="497571"/>
          </a:xfrm>
          <a:prstGeom prst="rect">
            <a:avLst/>
          </a:prstGeom>
          <a:noFill/>
          <a:ln>
            <a:noFill/>
          </a:ln>
        </p:spPr>
        <p:txBody>
          <a:bodyPr spcFirstLastPara="1" wrap="square" lIns="88156" tIns="44066" rIns="88156" bIns="44066"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954" y="3"/>
            <a:ext cx="2944029" cy="497571"/>
          </a:xfrm>
          <a:prstGeom prst="rect">
            <a:avLst/>
          </a:prstGeom>
          <a:noFill/>
          <a:ln>
            <a:noFill/>
          </a:ln>
        </p:spPr>
        <p:txBody>
          <a:bodyPr spcFirstLastPara="1" wrap="square" lIns="88156" tIns="44066" rIns="88156" bIns="44066"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027113" y="1241425"/>
            <a:ext cx="4741862" cy="3352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209" y="4780077"/>
            <a:ext cx="5435600" cy="3909709"/>
          </a:xfrm>
          <a:prstGeom prst="rect">
            <a:avLst/>
          </a:prstGeom>
          <a:noFill/>
          <a:ln>
            <a:noFill/>
          </a:ln>
        </p:spPr>
        <p:txBody>
          <a:bodyPr spcFirstLastPara="1" wrap="square" lIns="88156" tIns="44066" rIns="88156" bIns="4406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3" y="9433832"/>
            <a:ext cx="2944030" cy="497571"/>
          </a:xfrm>
          <a:prstGeom prst="rect">
            <a:avLst/>
          </a:prstGeom>
          <a:noFill/>
          <a:ln>
            <a:noFill/>
          </a:ln>
        </p:spPr>
        <p:txBody>
          <a:bodyPr spcFirstLastPara="1" wrap="square" lIns="88156" tIns="44066" rIns="88156" bIns="44066"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954" y="9433832"/>
            <a:ext cx="2944029" cy="497571"/>
          </a:xfrm>
          <a:prstGeom prst="rect">
            <a:avLst/>
          </a:prstGeom>
          <a:noFill/>
          <a:ln>
            <a:noFill/>
          </a:ln>
        </p:spPr>
        <p:txBody>
          <a:bodyPr spcFirstLastPara="1" wrap="square" lIns="88156" tIns="44066" rIns="88156" bIns="44066" anchor="b" anchorCtr="0">
            <a:noAutofit/>
          </a:bodyPr>
          <a:lstStyle/>
          <a:p>
            <a:pPr algn="r"/>
            <a:fld id="{00000000-1234-1234-1234-123412341234}" type="slidenum">
              <a:rPr lang="en-US" altLang="ja-JP" sz="1200" smtClean="0">
                <a:solidFill>
                  <a:schemeClr val="dk1"/>
                </a:solidFill>
              </a:rPr>
              <a:pPr algn="r"/>
              <a:t>‹#›</a:t>
            </a:fld>
            <a:endParaRPr lang="en-US" sz="12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36613" y="790575"/>
            <a:ext cx="3014662" cy="21320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692150" y="860425"/>
            <a:ext cx="3278188" cy="2319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466729" y="3309247"/>
            <a:ext cx="3729663" cy="2706690"/>
          </a:xfrm>
          <a:prstGeom prst="rect">
            <a:avLst/>
          </a:prstGeom>
          <a:noFill/>
          <a:ln>
            <a:noFill/>
          </a:ln>
        </p:spPr>
        <p:txBody>
          <a:bodyPr spcFirstLastPara="1" wrap="square" lIns="60774" tIns="30388" rIns="60774" bIns="30388" anchor="t" anchorCtr="0">
            <a:noAutofit/>
          </a:bodyPr>
          <a:lstStyle/>
          <a:p>
            <a:endParaRPr dirty="0"/>
          </a:p>
        </p:txBody>
      </p:sp>
      <p:sp>
        <p:nvSpPr>
          <p:cNvPr id="257" name="Google Shape;257;p2:notes"/>
          <p:cNvSpPr txBox="1">
            <a:spLocks noGrp="1"/>
          </p:cNvSpPr>
          <p:nvPr>
            <p:ph type="sldNum" idx="12"/>
          </p:nvPr>
        </p:nvSpPr>
        <p:spPr>
          <a:xfrm>
            <a:off x="2640976" y="6531039"/>
            <a:ext cx="2020060" cy="344469"/>
          </a:xfrm>
          <a:prstGeom prst="rect">
            <a:avLst/>
          </a:prstGeom>
          <a:noFill/>
          <a:ln>
            <a:noFill/>
          </a:ln>
        </p:spPr>
        <p:txBody>
          <a:bodyPr spcFirstLastPara="1" wrap="square" lIns="60774" tIns="30388" rIns="60774" bIns="30388"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027113" y="1241425"/>
            <a:ext cx="4741862" cy="3352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680209" y="4780077"/>
            <a:ext cx="5435600" cy="3909709"/>
          </a:xfrm>
          <a:prstGeom prst="rect">
            <a:avLst/>
          </a:prstGeom>
          <a:noFill/>
          <a:ln>
            <a:noFill/>
          </a:ln>
        </p:spPr>
        <p:txBody>
          <a:bodyPr spcFirstLastPara="1" wrap="square" lIns="88156" tIns="44066" rIns="88156" bIns="44066" anchor="t" anchorCtr="0">
            <a:noAutofit/>
          </a:bodyPr>
          <a:lstStyle/>
          <a:p>
            <a:pPr marL="0" indent="0"/>
            <a:endParaRPr/>
          </a:p>
        </p:txBody>
      </p:sp>
      <p:sp>
        <p:nvSpPr>
          <p:cNvPr id="268" name="Google Shape;268;p11:notes"/>
          <p:cNvSpPr txBox="1">
            <a:spLocks noGrp="1"/>
          </p:cNvSpPr>
          <p:nvPr>
            <p:ph type="sldNum" idx="12"/>
          </p:nvPr>
        </p:nvSpPr>
        <p:spPr>
          <a:xfrm>
            <a:off x="3848954" y="9433832"/>
            <a:ext cx="2944029" cy="497571"/>
          </a:xfrm>
          <a:prstGeom prst="rect">
            <a:avLst/>
          </a:prstGeom>
          <a:noFill/>
          <a:ln>
            <a:noFill/>
          </a:ln>
        </p:spPr>
        <p:txBody>
          <a:bodyPr spcFirstLastPara="1" wrap="square" lIns="88156" tIns="44066" rIns="88156" bIns="44066" anchor="b" anchorCtr="0">
            <a:noAutofit/>
          </a:bodyPr>
          <a:lstStyle/>
          <a:p>
            <a:pPr algn="r"/>
            <a:fld id="{00000000-1234-1234-1234-123412341234}" type="slidenum">
              <a:rPr lang="en-US" altLang="ja-JP"/>
              <a:pPr algn="r"/>
              <a:t>8</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36613" y="790575"/>
            <a:ext cx="3014662" cy="21320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15</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8975" y="858838"/>
            <a:ext cx="3275013" cy="2317750"/>
          </a:xfrm>
        </p:spPr>
      </p:sp>
      <p:sp>
        <p:nvSpPr>
          <p:cNvPr id="3" name="ノート プレースホルダー 2"/>
          <p:cNvSpPr>
            <a:spLocks noGrp="1"/>
          </p:cNvSpPr>
          <p:nvPr>
            <p:ph type="body" idx="1"/>
          </p:nvPr>
        </p:nvSpPr>
        <p:spPr/>
        <p:txBody>
          <a:bodyPr/>
          <a:lstStyle/>
          <a:p>
            <a:pPr marL="0" indent="0" defTabSz="629107">
              <a:buClrTx/>
              <a:buSzTx/>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62</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33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jpeg"/><Relationship Id="rId3" Type="http://schemas.openxmlformats.org/officeDocument/2006/relationships/image" Target="../media/image7.sv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a:xfrm>
            <a:off x="885526" y="3467606"/>
            <a:ext cx="9221787" cy="738664"/>
          </a:xfrm>
        </p:spPr>
        <p:txBody>
          <a:bodyPr/>
          <a:lstStyle/>
          <a:p>
            <a:r>
              <a:rPr lang="ja-JP" altLang="en-US" dirty="0"/>
              <a:t>企業概要書  </a:t>
            </a:r>
            <a:r>
              <a:rPr lang="ja-JP" altLang="en-US" sz="2400" dirty="0"/>
              <a:t>&lt;製氷業／埼玉県&gt;</a:t>
            </a:r>
            <a:endParaRPr lang="ja-JP" altLang="en-US" dirty="0"/>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1416780746"/>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株式100％譲渡</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ja-JP" altLang="en-US" spc="50" dirty="0"/>
              <a:t>応相談</a:t>
            </a:r>
            <a:endParaRPr lang="en-US" altLang="ja-JP" spc="50" dirty="0"/>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265966"/>
            <a:ext cx="7074659" cy="1025922"/>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z="1200" spc="50" dirty="0"/>
              <a:t>従業員の継続雇用</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代表者は引継ぎ完了後に退任予定（引継ぎ期間・条件は譲受企業と協議）</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代表者の連帯保証・個人所有土地の担保提供の解除</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代表者借入金（1,400万円）の取扱い・代表者所有駐車場の賃貸借は要協議</a:t>
            </a:r>
            <a:endParaRPr lang="en-US" altLang="ja-JP" sz="1200"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 name="テキスト ボックス 1">
            <a:extLst>
              <a:ext uri="{FF2B5EF4-FFF2-40B4-BE49-F238E27FC236}">
                <a16:creationId xmlns:a16="http://schemas.microsoft.com/office/drawing/2014/main" id="{ACA65C26-85FE-7632-463B-0FBA87B2AA4D}"/>
              </a:ext>
            </a:extLst>
          </p:cNvPr>
          <p:cNvSpPr txBox="1"/>
          <p:nvPr/>
        </p:nvSpPr>
        <p:spPr>
          <a:xfrm>
            <a:off x="3151380" y="6095259"/>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後継者不在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404897"/>
            <a:ext cx="7768831" cy="1101584"/>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65年超の業歴を持つ純氷メーカー・自社ブランド「キングアイス」</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200" b="1" spc="30" dirty="0">
                <a:solidFill>
                  <a:sysClr val="windowText" lastClr="000000"/>
                </a:solidFill>
                <a:latin typeface="+mj-ea"/>
                <a:ea typeface="+mj-ea"/>
              </a:rPr>
              <a:t>1960年創業。自社の純水設備（イオン交換・RO膜）でろ過した水を、アイス缶で約48時間かけて凍結する伝統製法により、透明度が高く溶けにくい純氷を製造。角氷から袋氷・手切りキューブまで幅広い商品を自社で加工する。</a:t>
            </a:r>
            <a:endParaRPr lang="en-US" altLang="ja-JP" sz="1200" b="1" spc="30" dirty="0">
              <a:solidFill>
                <a:sysClr val="windowText" lastClr="000000"/>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039"/>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大手食品卸を含む首都圏の安定した販路と一貫供給体制</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200" b="1" spc="30" dirty="0">
                <a:solidFill>
                  <a:sysClr val="windowText" lastClr="000000"/>
                </a:solidFill>
                <a:latin typeface="+mj-ea"/>
                <a:ea typeface="+mj-ea"/>
              </a:rPr>
              <a:t>(株)日本アクセス・三菱食品(株)等の食品卸や氷卸と継続取引（掛売99%）。製氷・加工・冷蔵保管・配送を自社で一貫して担い、夏季の需要ピークにも製氷能力日産40トン・冷蔵1,000トンの設備で対応する。</a:t>
            </a:r>
            <a:br>
              <a:rPr lang="en-US" altLang="ja-JP" sz="1200" b="1" spc="30" dirty="0">
                <a:solidFill>
                  <a:sysClr val="windowText" lastClr="000000"/>
                </a:solidFill>
                <a:latin typeface="+mj-ea"/>
                <a:ea typeface="+mj-ea"/>
              </a:rPr>
            </a:br>
            <a:endParaRPr lang="en-US" altLang="ja-JP" sz="1200" b="1" spc="30" dirty="0">
              <a:solidFill>
                <a:sysClr val="windowText" lastClr="000000"/>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767"/>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猛暑による需要拡大と設備・物流網を活かした拡張余地（仮説）</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200" b="1" spc="30" dirty="0">
                <a:solidFill>
                  <a:sysClr val="windowText" lastClr="000000"/>
                </a:solidFill>
                <a:latin typeface="+mj-ea"/>
                <a:ea typeface="+mj-ea"/>
              </a:rPr>
              <a:t>夏季需要が売上の約3割を占め、猛暑の長期化は追い風。冬季は冷蔵保管で稼働を補完しており、物流・食品関連の買手の販路・配送網との連携により、閑散期の稼働向上や取扱商品拡大の余地があると想定。</a:t>
            </a:r>
            <a:endParaRPr lang="en-US" altLang="ja-JP" sz="1200" b="1" spc="30" dirty="0">
              <a:solidFill>
                <a:sysClr val="windowText" lastClr="000000"/>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1960年の創業以来65年超、埼玉県越谷市の自社工場で純水を凍結させた「純氷」を製造。角氷・加工氷・袋氷を首都圏の食品卸・氷卸等へ供給し、自社ブランド「キングアイス」を展開する老舗製氷メーカー。</a:t>
            </a:r>
          </a:p>
        </p:txBody>
      </p:sp>
      <p:sp>
        <p:nvSpPr>
          <p:cNvPr id="3" name="Title 2"/>
          <p:cNvSpPr>
            <a:spLocks noGrp="1"/>
          </p:cNvSpPr>
          <p:nvPr>
            <p:ph type="ctrTitle"/>
          </p:nvPr>
        </p:nvSpPr>
        <p:spPr/>
        <p:txBody>
          <a:bodyPr/>
          <a:lstStyle/>
          <a:p>
            <a:r>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Rectangle 5"/>
          <p:cNvSpPr/>
          <p:nvPr/>
        </p:nvSpPr>
        <p:spPr>
          <a:xfrm>
            <a:off x="338328" y="1481328"/>
            <a:ext cx="5989320" cy="2926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200" b="1" i="0">
                <a:solidFill>
                  <a:srgbClr val="FFFFFF"/>
                </a:solidFill>
                <a:latin typeface="游ゴシック"/>
                <a:ea typeface="游ゴシック"/>
              </a:rPr>
              <a:t>会社概要</a:t>
            </a:r>
          </a:p>
        </p:txBody>
      </p:sp>
      <p:graphicFrame>
        <p:nvGraphicFramePr>
          <p:cNvPr id="7" name="Table 6"/>
          <p:cNvGraphicFramePr>
            <a:graphicFrameLocks noGrp="1"/>
          </p:cNvGraphicFramePr>
          <p:nvPr/>
        </p:nvGraphicFramePr>
        <p:xfrm>
          <a:off x="338328" y="1828800"/>
          <a:ext cx="5989320" cy="4608576"/>
        </p:xfrm>
        <a:graphic>
          <a:graphicData uri="http://schemas.openxmlformats.org/drawingml/2006/table">
            <a:tbl>
              <a:tblPr firstRow="0" bandRow="0">
                <a:tableStyleId>{5940675A-B579-460E-94D1-54222C63F5DA}</a:tableStyleId>
              </a:tblPr>
              <a:tblGrid>
                <a:gridCol w="1051560"/>
                <a:gridCol w="4937760"/>
              </a:tblGrid>
              <a:tr h="329184">
                <a:tc>
                  <a:txBody>
                    <a:bodyPr wrap="square"/>
                    <a:lstStyle/>
                    <a:p>
                      <a:pPr algn="ctr"/>
                      <a:r>
                        <a:rPr sz="900" b="1" i="0">
                          <a:solidFill>
                            <a:srgbClr val="FFFFFF"/>
                          </a:solidFill>
                          <a:latin typeface="游ゴシック"/>
                          <a:ea typeface="游ゴシック"/>
                        </a:rPr>
                        <a:t>項目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内容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29184">
                <a:tc>
                  <a:txBody>
                    <a:bodyPr wrap="square"/>
                    <a:lstStyle/>
                    <a:p>
                      <a:pPr algn="l"/>
                      <a:r>
                        <a:rPr sz="900" b="0" i="0">
                          <a:solidFill>
                            <a:srgbClr val="000000"/>
                          </a:solidFill>
                          <a:latin typeface="游ゴシック"/>
                          <a:ea typeface="游ゴシック"/>
                        </a:rPr>
                        <a:t>会社名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越ヶ谷製氷冷蔵株式会社（ブランド：純氷「キングアイス」）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本店所在地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埼玉県越谷市蒲生寿町19番15号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工場・営業所</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越谷工場：越谷市大字平方999-4（平方工業団地内）</a:t>
                      </a:r>
                    </a:p>
                    <a:p>
                      <a:pPr algn="l"/>
                      <a:r>
                        <a:rPr sz="900" b="0" i="0">
                          <a:solidFill>
                            <a:srgbClr val="000000"/>
                          </a:solidFill>
                          <a:latin typeface="游ゴシック"/>
                          <a:ea typeface="游ゴシック"/>
                        </a:rPr>
                        <a:t>松戸営業所：千葉県松戸市稔台5-14-3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設立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1960年（昭和35年）3月18日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資本金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10,000千円（2026年5月15日に11,000千円から減資）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代表者</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代表取締役 小野田 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株主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小野田 洋（100%）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従業員数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25名（常勤役員1名・従業員24名、2026年3月期末）</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事業内容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純氷（角氷・加工氷・袋氷・特殊氷）の製造及び卸小売販売、ドライアイス等の商品販売、冷蔵保管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主要取引先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(株)日本アクセス／(株)日本橋冷凍手島商店／三菱食品(株)／金木屋商事(株)／(株)クールテックサガワ　他</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主要設備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製氷設備4台（日産40トン）、袋詰砕氷設備1台（日産2,500ケース）、冷蔵設備3台（F級1,000トン）</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売上高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405,963千円（2026年3月期）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00" b="0" i="0">
                          <a:solidFill>
                            <a:srgbClr val="000000"/>
                          </a:solidFill>
                          <a:latin typeface="游ゴシック"/>
                          <a:ea typeface="游ゴシック"/>
                        </a:rPr>
                        <a:t>譲渡理由</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後継者不在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8" name="Rectangle 7"/>
          <p:cNvSpPr/>
          <p:nvPr/>
        </p:nvSpPr>
        <p:spPr>
          <a:xfrm>
            <a:off x="6537960" y="1481328"/>
            <a:ext cx="3611880" cy="160020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角氷・純氷（出典：king-ice.com/product.html）</a:t>
            </a:r>
          </a:p>
          <a:p>
            <a:pPr algn="ctr"/>
            <a:r>
              <a:rPr sz="700" b="0" i="0">
                <a:solidFill>
                  <a:srgbClr val="0889C9"/>
                </a:solidFill>
                <a:latin typeface="游ゴシック"/>
                <a:ea typeface="游ゴシック"/>
              </a:rPr>
              <a:t>画像/product_ice.jpg を置いて再生成</a:t>
            </a:r>
          </a:p>
        </p:txBody>
      </p:sp>
      <p:sp>
        <p:nvSpPr>
          <p:cNvPr id="9" name="Rectangle 8"/>
          <p:cNvSpPr/>
          <p:nvPr/>
        </p:nvSpPr>
        <p:spPr>
          <a:xfrm>
            <a:off x="6537960" y="3218688"/>
            <a:ext cx="1737360" cy="141732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袋氷「キングアイス」（king-ice.com/product_04.html）</a:t>
            </a:r>
          </a:p>
          <a:p>
            <a:pPr algn="ctr"/>
            <a:r>
              <a:rPr sz="700" b="0" i="0">
                <a:solidFill>
                  <a:srgbClr val="0889C9"/>
                </a:solidFill>
                <a:latin typeface="游ゴシック"/>
                <a:ea typeface="游ゴシック"/>
              </a:rPr>
              <a:t>画像/product_bag.jpg を置いて再生成</a:t>
            </a:r>
          </a:p>
        </p:txBody>
      </p:sp>
      <p:sp>
        <p:nvSpPr>
          <p:cNvPr id="10" name="Rectangle 9"/>
          <p:cNvSpPr/>
          <p:nvPr/>
        </p:nvSpPr>
        <p:spPr>
          <a:xfrm>
            <a:off x="8412480" y="3218688"/>
            <a:ext cx="1737360" cy="141732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ダイヤアイス（king-ice.com/product_09.html）</a:t>
            </a:r>
          </a:p>
          <a:p>
            <a:pPr algn="ctr"/>
            <a:r>
              <a:rPr sz="700" b="0" i="0">
                <a:solidFill>
                  <a:srgbClr val="0889C9"/>
                </a:solidFill>
                <a:latin typeface="游ゴシック"/>
                <a:ea typeface="游ゴシック"/>
              </a:rPr>
              <a:t>画像/product_dia.jpg を置いて再生成</a:t>
            </a:r>
          </a:p>
        </p:txBody>
      </p:sp>
      <p:sp>
        <p:nvSpPr>
          <p:cNvPr id="11" name="Rectangle 10"/>
          <p:cNvSpPr/>
          <p:nvPr/>
        </p:nvSpPr>
        <p:spPr>
          <a:xfrm>
            <a:off x="6537960" y="4773168"/>
            <a:ext cx="3611880" cy="160020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越谷工場（外観）（king-ice.com/corporate.html）</a:t>
            </a:r>
          </a:p>
          <a:p>
            <a:pPr algn="ctr"/>
            <a:r>
              <a:rPr sz="700" b="0" i="0">
                <a:solidFill>
                  <a:srgbClr val="0889C9"/>
                </a:solidFill>
                <a:latin typeface="游ゴシック"/>
                <a:ea typeface="游ゴシック"/>
              </a:rPr>
              <a:t>画像/factory.jpg を置いて再生成</a:t>
            </a:r>
          </a:p>
        </p:txBody>
      </p:sp>
      <p:sp>
        <p:nvSpPr>
          <p:cNvPr id="12" name="TextBox 11"/>
          <p:cNvSpPr txBox="1"/>
          <p:nvPr/>
        </p:nvSpPr>
        <p:spPr>
          <a:xfrm>
            <a:off x="338328" y="6601968"/>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※資本金は2026年5月15日に11,000千円から10,000千円へ減資（登記）。売上高・従業員数は2026年3月期。</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純水製造から凍結・加工・保管・配送までを自社で一貫して行う製氷事業が売上の約9割。ドライアイス等の商品販売と冷蔵保管を組み合わせ、夏季の需要ピークに対応する供給体制を持つ。</a:t>
            </a:r>
          </a:p>
        </p:txBody>
      </p:sp>
      <p:sp>
        <p:nvSpPr>
          <p:cNvPr id="3" name="Title 2"/>
          <p:cNvSpPr>
            <a:spLocks noGrp="1"/>
          </p:cNvSpPr>
          <p:nvPr>
            <p:ph type="ctrTitle"/>
          </p:nvPr>
        </p:nvSpPr>
        <p:spPr/>
        <p:txBody>
          <a:bodyPr/>
          <a:lstStyle/>
          <a:p>
            <a:r>
              <a:t>事業概要</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Rectangle 5"/>
          <p:cNvSpPr/>
          <p:nvPr/>
        </p:nvSpPr>
        <p:spPr>
          <a:xfrm>
            <a:off x="338328" y="149047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7" name="TextBox 6"/>
          <p:cNvSpPr txBox="1"/>
          <p:nvPr/>
        </p:nvSpPr>
        <p:spPr>
          <a:xfrm>
            <a:off x="448056" y="146304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事業構成（2026年3月期・兼業割合）</a:t>
            </a:r>
          </a:p>
        </p:txBody>
      </p:sp>
      <p:graphicFrame>
        <p:nvGraphicFramePr>
          <p:cNvPr id="8" name="Chart 7"/>
          <p:cNvGraphicFramePr>
            <a:graphicFrameLocks noGrp="1"/>
          </p:cNvGraphicFramePr>
          <p:nvPr/>
        </p:nvGraphicFramePr>
        <p:xfrm>
          <a:off x="338328" y="1783080"/>
          <a:ext cx="2103120" cy="2103120"/>
        </p:xfrm>
        <a:graphic>
          <a:graphicData uri="http://schemas.openxmlformats.org/drawingml/2006/chart">
            <c:chart xmlns:c="http://schemas.openxmlformats.org/drawingml/2006/chart" r:id="rId2"/>
          </a:graphicData>
        </a:graphic>
      </p:graphicFrame>
      <p:sp>
        <p:nvSpPr>
          <p:cNvPr id="9" name="Rectangle 8"/>
          <p:cNvSpPr/>
          <p:nvPr/>
        </p:nvSpPr>
        <p:spPr>
          <a:xfrm>
            <a:off x="2560320" y="1828800"/>
            <a:ext cx="109728" cy="5029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2743200" y="1828800"/>
            <a:ext cx="2468880" cy="548640"/>
          </a:xfrm>
          <a:prstGeom prst="rect">
            <a:avLst/>
          </a:prstGeom>
          <a:noFill/>
        </p:spPr>
        <p:txBody>
          <a:bodyPr wrap="square" anchor="t" lIns="18288" rIns="18288" tIns="18288" bIns="18288"/>
          <a:lstStyle/>
          <a:p>
            <a:pPr algn="l"/>
            <a:r>
              <a:rPr sz="1400" b="1" i="0">
                <a:solidFill>
                  <a:srgbClr val="0B3041"/>
                </a:solidFill>
                <a:latin typeface="Arial"/>
                <a:ea typeface="游ゴシック"/>
              </a:rPr>
              <a:t>89.9%</a:t>
            </a:r>
          </a:p>
          <a:p>
            <a:pPr algn="l"/>
            <a:r>
              <a:rPr sz="850" b="0" i="0">
                <a:solidFill>
                  <a:srgbClr val="000000"/>
                </a:solidFill>
                <a:latin typeface="游ゴシック"/>
                <a:ea typeface="游ゴシック"/>
              </a:rPr>
              <a:t>凍氷関係（製氷・加工氷の製造販売）</a:t>
            </a:r>
          </a:p>
        </p:txBody>
      </p:sp>
      <p:sp>
        <p:nvSpPr>
          <p:cNvPr id="11" name="Rectangle 10"/>
          <p:cNvSpPr/>
          <p:nvPr/>
        </p:nvSpPr>
        <p:spPr>
          <a:xfrm>
            <a:off x="2560320" y="2487168"/>
            <a:ext cx="109728" cy="50292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2" name="TextBox 11"/>
          <p:cNvSpPr txBox="1"/>
          <p:nvPr/>
        </p:nvSpPr>
        <p:spPr>
          <a:xfrm>
            <a:off x="2743200" y="2487168"/>
            <a:ext cx="2468880" cy="548640"/>
          </a:xfrm>
          <a:prstGeom prst="rect">
            <a:avLst/>
          </a:prstGeom>
          <a:noFill/>
        </p:spPr>
        <p:txBody>
          <a:bodyPr wrap="square" anchor="t" lIns="18288" rIns="18288" tIns="18288" bIns="18288"/>
          <a:lstStyle/>
          <a:p>
            <a:pPr algn="l"/>
            <a:r>
              <a:rPr sz="1400" b="1" i="0">
                <a:solidFill>
                  <a:srgbClr val="0889C9"/>
                </a:solidFill>
                <a:latin typeface="Arial"/>
                <a:ea typeface="游ゴシック"/>
              </a:rPr>
              <a:t>8.4%</a:t>
            </a:r>
          </a:p>
          <a:p>
            <a:pPr algn="l"/>
            <a:r>
              <a:rPr sz="850" b="0" i="0">
                <a:solidFill>
                  <a:srgbClr val="000000"/>
                </a:solidFill>
                <a:latin typeface="游ゴシック"/>
                <a:ea typeface="游ゴシック"/>
              </a:rPr>
              <a:t>物品の斡旋（ドライアイス等の商品販売）</a:t>
            </a:r>
          </a:p>
        </p:txBody>
      </p:sp>
      <p:sp>
        <p:nvSpPr>
          <p:cNvPr id="13" name="Rectangle 12"/>
          <p:cNvSpPr/>
          <p:nvPr/>
        </p:nvSpPr>
        <p:spPr>
          <a:xfrm>
            <a:off x="2560320" y="3145536"/>
            <a:ext cx="109728" cy="502920"/>
          </a:xfrm>
          <a:prstGeom prst="rect">
            <a:avLst/>
          </a:prstGeom>
          <a:solidFill>
            <a:srgbClr val="9DC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4" name="TextBox 13"/>
          <p:cNvSpPr txBox="1"/>
          <p:nvPr/>
        </p:nvSpPr>
        <p:spPr>
          <a:xfrm>
            <a:off x="2743200" y="3145536"/>
            <a:ext cx="2468880" cy="548640"/>
          </a:xfrm>
          <a:prstGeom prst="rect">
            <a:avLst/>
          </a:prstGeom>
          <a:noFill/>
        </p:spPr>
        <p:txBody>
          <a:bodyPr wrap="square" anchor="t" lIns="18288" rIns="18288" tIns="18288" bIns="18288"/>
          <a:lstStyle/>
          <a:p>
            <a:pPr algn="l"/>
            <a:r>
              <a:rPr sz="1400" b="1" i="0">
                <a:solidFill>
                  <a:srgbClr val="0889C9"/>
                </a:solidFill>
                <a:latin typeface="Arial"/>
                <a:ea typeface="游ゴシック"/>
              </a:rPr>
              <a:t>1.7%</a:t>
            </a:r>
          </a:p>
          <a:p>
            <a:pPr algn="l"/>
            <a:r>
              <a:rPr sz="850" b="0" i="0">
                <a:solidFill>
                  <a:srgbClr val="000000"/>
                </a:solidFill>
                <a:latin typeface="游ゴシック"/>
                <a:ea typeface="游ゴシック"/>
              </a:rPr>
              <a:t>冷蔵保管</a:t>
            </a:r>
          </a:p>
        </p:txBody>
      </p:sp>
      <p:sp>
        <p:nvSpPr>
          <p:cNvPr id="15" name="TextBox 14"/>
          <p:cNvSpPr txBox="1"/>
          <p:nvPr/>
        </p:nvSpPr>
        <p:spPr>
          <a:xfrm>
            <a:off x="338328" y="3977639"/>
            <a:ext cx="4937760" cy="182880"/>
          </a:xfrm>
          <a:prstGeom prst="rect">
            <a:avLst/>
          </a:prstGeom>
          <a:noFill/>
        </p:spPr>
        <p:txBody>
          <a:bodyPr wrap="square" anchor="t" lIns="18288" rIns="18288" tIns="18288" bIns="18288"/>
          <a:lstStyle/>
          <a:p>
            <a:pPr algn="l"/>
            <a:r>
              <a:rPr sz="750" b="0" i="0">
                <a:solidFill>
                  <a:srgbClr val="404040"/>
                </a:solidFill>
                <a:latin typeface="游ゴシック"/>
                <a:ea typeface="游ゴシック"/>
              </a:rPr>
              <a:t>出所：法人事業概況説明書（第67期）の兼業割合</a:t>
            </a:r>
          </a:p>
        </p:txBody>
      </p:sp>
      <p:sp>
        <p:nvSpPr>
          <p:cNvPr id="16" name="Rectangle 15"/>
          <p:cNvSpPr/>
          <p:nvPr/>
        </p:nvSpPr>
        <p:spPr>
          <a:xfrm>
            <a:off x="5440680" y="149047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7" name="TextBox 16"/>
          <p:cNvSpPr txBox="1"/>
          <p:nvPr/>
        </p:nvSpPr>
        <p:spPr>
          <a:xfrm>
            <a:off x="5550408" y="146304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主要指標</a:t>
            </a:r>
          </a:p>
        </p:txBody>
      </p:sp>
      <p:sp>
        <p:nvSpPr>
          <p:cNvPr id="18" name="Rectangle 17"/>
          <p:cNvSpPr/>
          <p:nvPr/>
        </p:nvSpPr>
        <p:spPr>
          <a:xfrm>
            <a:off x="5440680" y="1810512"/>
            <a:ext cx="2331720" cy="914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9" name="TextBox 18"/>
          <p:cNvSpPr txBox="1"/>
          <p:nvPr/>
        </p:nvSpPr>
        <p:spPr>
          <a:xfrm>
            <a:off x="5440680" y="1901952"/>
            <a:ext cx="2331720" cy="228600"/>
          </a:xfrm>
          <a:prstGeom prst="rect">
            <a:avLst/>
          </a:prstGeom>
          <a:noFill/>
        </p:spPr>
        <p:txBody>
          <a:bodyPr wrap="square" anchor="t" lIns="18288" rIns="18288" tIns="18288" bIns="18288"/>
          <a:lstStyle/>
          <a:p>
            <a:pPr algn="ctr"/>
            <a:r>
              <a:rPr sz="850" b="0" i="0">
                <a:solidFill>
                  <a:srgbClr val="0B3041"/>
                </a:solidFill>
                <a:latin typeface="游ゴシック"/>
                <a:ea typeface="游ゴシック"/>
              </a:rPr>
              <a:t>売上高（26/3期）</a:t>
            </a:r>
          </a:p>
        </p:txBody>
      </p:sp>
      <p:sp>
        <p:nvSpPr>
          <p:cNvPr id="20" name="TextBox 19"/>
          <p:cNvSpPr txBox="1"/>
          <p:nvPr/>
        </p:nvSpPr>
        <p:spPr>
          <a:xfrm>
            <a:off x="5440680" y="2157984"/>
            <a:ext cx="2331720" cy="411480"/>
          </a:xfrm>
          <a:prstGeom prst="rect">
            <a:avLst/>
          </a:prstGeom>
          <a:noFill/>
        </p:spPr>
        <p:txBody>
          <a:bodyPr wrap="square" anchor="t" lIns="18288" rIns="18288" tIns="18288" bIns="18288"/>
          <a:lstStyle/>
          <a:p>
            <a:pPr algn="ctr"/>
            <a:r>
              <a:rPr sz="1600" b="1" i="0">
                <a:solidFill>
                  <a:srgbClr val="0B3041"/>
                </a:solidFill>
                <a:latin typeface="Arial"/>
                <a:ea typeface="游ゴシック"/>
              </a:rPr>
              <a:t>405,963千円</a:t>
            </a:r>
          </a:p>
        </p:txBody>
      </p:sp>
      <p:sp>
        <p:nvSpPr>
          <p:cNvPr id="21" name="Rectangle 20"/>
          <p:cNvSpPr/>
          <p:nvPr/>
        </p:nvSpPr>
        <p:spPr>
          <a:xfrm>
            <a:off x="7909560" y="1810512"/>
            <a:ext cx="2331720" cy="914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22" name="TextBox 21"/>
          <p:cNvSpPr txBox="1"/>
          <p:nvPr/>
        </p:nvSpPr>
        <p:spPr>
          <a:xfrm>
            <a:off x="7909560" y="1901952"/>
            <a:ext cx="2331720" cy="228600"/>
          </a:xfrm>
          <a:prstGeom prst="rect">
            <a:avLst/>
          </a:prstGeom>
          <a:noFill/>
        </p:spPr>
        <p:txBody>
          <a:bodyPr wrap="square" anchor="t" lIns="18288" rIns="18288" tIns="18288" bIns="18288"/>
          <a:lstStyle/>
          <a:p>
            <a:pPr algn="ctr"/>
            <a:r>
              <a:rPr sz="850" b="0" i="0">
                <a:solidFill>
                  <a:srgbClr val="0B3041"/>
                </a:solidFill>
                <a:latin typeface="游ゴシック"/>
                <a:ea typeface="游ゴシック"/>
              </a:rPr>
              <a:t>調整後EBITDA（直近3期平均）</a:t>
            </a:r>
          </a:p>
        </p:txBody>
      </p:sp>
      <p:sp>
        <p:nvSpPr>
          <p:cNvPr id="23" name="TextBox 22"/>
          <p:cNvSpPr txBox="1"/>
          <p:nvPr/>
        </p:nvSpPr>
        <p:spPr>
          <a:xfrm>
            <a:off x="7909560" y="2157984"/>
            <a:ext cx="2331720" cy="411480"/>
          </a:xfrm>
          <a:prstGeom prst="rect">
            <a:avLst/>
          </a:prstGeom>
          <a:noFill/>
        </p:spPr>
        <p:txBody>
          <a:bodyPr wrap="square" anchor="t" lIns="18288" rIns="18288" tIns="18288" bIns="18288"/>
          <a:lstStyle/>
          <a:p>
            <a:pPr algn="ctr"/>
            <a:r>
              <a:rPr sz="1600" b="1" i="0">
                <a:solidFill>
                  <a:srgbClr val="0B3041"/>
                </a:solidFill>
                <a:latin typeface="Arial"/>
                <a:ea typeface="游ゴシック"/>
              </a:rPr>
              <a:t>35,857千円</a:t>
            </a:r>
          </a:p>
        </p:txBody>
      </p:sp>
      <p:sp>
        <p:nvSpPr>
          <p:cNvPr id="24" name="Rectangle 23"/>
          <p:cNvSpPr/>
          <p:nvPr/>
        </p:nvSpPr>
        <p:spPr>
          <a:xfrm>
            <a:off x="5440680" y="2862072"/>
            <a:ext cx="2331720" cy="914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25" name="TextBox 24"/>
          <p:cNvSpPr txBox="1"/>
          <p:nvPr/>
        </p:nvSpPr>
        <p:spPr>
          <a:xfrm>
            <a:off x="5440680" y="2953512"/>
            <a:ext cx="2331720" cy="228600"/>
          </a:xfrm>
          <a:prstGeom prst="rect">
            <a:avLst/>
          </a:prstGeom>
          <a:noFill/>
        </p:spPr>
        <p:txBody>
          <a:bodyPr wrap="square" anchor="t" lIns="18288" rIns="18288" tIns="18288" bIns="18288"/>
          <a:lstStyle/>
          <a:p>
            <a:pPr algn="ctr"/>
            <a:r>
              <a:rPr sz="850" b="0" i="0">
                <a:solidFill>
                  <a:srgbClr val="0B3041"/>
                </a:solidFill>
                <a:latin typeface="游ゴシック"/>
                <a:ea typeface="游ゴシック"/>
              </a:rPr>
              <a:t>製氷能力</a:t>
            </a:r>
          </a:p>
        </p:txBody>
      </p:sp>
      <p:sp>
        <p:nvSpPr>
          <p:cNvPr id="26" name="TextBox 25"/>
          <p:cNvSpPr txBox="1"/>
          <p:nvPr/>
        </p:nvSpPr>
        <p:spPr>
          <a:xfrm>
            <a:off x="5440680" y="3209544"/>
            <a:ext cx="2331720" cy="411480"/>
          </a:xfrm>
          <a:prstGeom prst="rect">
            <a:avLst/>
          </a:prstGeom>
          <a:noFill/>
        </p:spPr>
        <p:txBody>
          <a:bodyPr wrap="square" anchor="t" lIns="18288" rIns="18288" tIns="18288" bIns="18288"/>
          <a:lstStyle/>
          <a:p>
            <a:pPr algn="ctr"/>
            <a:r>
              <a:rPr sz="1600" b="1" i="0">
                <a:solidFill>
                  <a:srgbClr val="0B3041"/>
                </a:solidFill>
                <a:latin typeface="Arial"/>
                <a:ea typeface="游ゴシック"/>
              </a:rPr>
              <a:t>日産40トン</a:t>
            </a:r>
          </a:p>
        </p:txBody>
      </p:sp>
      <p:sp>
        <p:nvSpPr>
          <p:cNvPr id="27" name="Rectangle 26"/>
          <p:cNvSpPr/>
          <p:nvPr/>
        </p:nvSpPr>
        <p:spPr>
          <a:xfrm>
            <a:off x="7909560" y="2862072"/>
            <a:ext cx="2331720" cy="9144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28" name="TextBox 27"/>
          <p:cNvSpPr txBox="1"/>
          <p:nvPr/>
        </p:nvSpPr>
        <p:spPr>
          <a:xfrm>
            <a:off x="7909560" y="2953512"/>
            <a:ext cx="2331720" cy="228600"/>
          </a:xfrm>
          <a:prstGeom prst="rect">
            <a:avLst/>
          </a:prstGeom>
          <a:noFill/>
        </p:spPr>
        <p:txBody>
          <a:bodyPr wrap="square" anchor="t" lIns="18288" rIns="18288" tIns="18288" bIns="18288"/>
          <a:lstStyle/>
          <a:p>
            <a:pPr algn="ctr"/>
            <a:r>
              <a:rPr sz="850" b="0" i="0">
                <a:solidFill>
                  <a:srgbClr val="0B3041"/>
                </a:solidFill>
                <a:latin typeface="游ゴシック"/>
                <a:ea typeface="游ゴシック"/>
              </a:rPr>
              <a:t>従業員数</a:t>
            </a:r>
          </a:p>
        </p:txBody>
      </p:sp>
      <p:sp>
        <p:nvSpPr>
          <p:cNvPr id="29" name="TextBox 28"/>
          <p:cNvSpPr txBox="1"/>
          <p:nvPr/>
        </p:nvSpPr>
        <p:spPr>
          <a:xfrm>
            <a:off x="7909560" y="3209544"/>
            <a:ext cx="2331720" cy="411480"/>
          </a:xfrm>
          <a:prstGeom prst="rect">
            <a:avLst/>
          </a:prstGeom>
          <a:noFill/>
        </p:spPr>
        <p:txBody>
          <a:bodyPr wrap="square" anchor="t" lIns="18288" rIns="18288" tIns="18288" bIns="18288"/>
          <a:lstStyle/>
          <a:p>
            <a:pPr algn="ctr"/>
            <a:r>
              <a:rPr sz="1600" b="1" i="0">
                <a:solidFill>
                  <a:srgbClr val="0B3041"/>
                </a:solidFill>
                <a:latin typeface="Arial"/>
                <a:ea typeface="游ゴシック"/>
              </a:rPr>
              <a:t>25名</a:t>
            </a:r>
          </a:p>
        </p:txBody>
      </p:sp>
      <p:sp>
        <p:nvSpPr>
          <p:cNvPr id="30" name="Rectangle 29"/>
          <p:cNvSpPr/>
          <p:nvPr/>
        </p:nvSpPr>
        <p:spPr>
          <a:xfrm>
            <a:off x="338328" y="423367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31" name="TextBox 30"/>
          <p:cNvSpPr txBox="1"/>
          <p:nvPr/>
        </p:nvSpPr>
        <p:spPr>
          <a:xfrm>
            <a:off x="448056" y="4206240"/>
            <a:ext cx="53766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事業フロー</a:t>
            </a:r>
          </a:p>
        </p:txBody>
      </p:sp>
      <p:sp>
        <p:nvSpPr>
          <p:cNvPr id="32" name="Pentagon 31"/>
          <p:cNvSpPr/>
          <p:nvPr/>
        </p:nvSpPr>
        <p:spPr>
          <a:xfrm>
            <a:off x="338328" y="4526280"/>
            <a:ext cx="1874519" cy="384048"/>
          </a:xfrm>
          <a:prstGeom prst="homePlate">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游ゴシック"/>
                <a:ea typeface="游ゴシック"/>
              </a:rPr>
              <a:t>純水製造</a:t>
            </a:r>
          </a:p>
        </p:txBody>
      </p:sp>
      <p:sp>
        <p:nvSpPr>
          <p:cNvPr id="33" name="Rectangle 32"/>
          <p:cNvSpPr/>
          <p:nvPr/>
        </p:nvSpPr>
        <p:spPr>
          <a:xfrm>
            <a:off x="338328" y="4956048"/>
            <a:ext cx="1737360" cy="566928"/>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0" i="0">
                <a:solidFill>
                  <a:srgbClr val="000000"/>
                </a:solidFill>
                <a:latin typeface="游ゴシック"/>
                <a:ea typeface="游ゴシック"/>
              </a:rPr>
              <a:t>イオン交換・RO膜</a:t>
            </a:r>
          </a:p>
          <a:p>
            <a:pPr algn="ctr"/>
            <a:r>
              <a:rPr sz="900" b="0" i="0">
                <a:solidFill>
                  <a:srgbClr val="000000"/>
                </a:solidFill>
                <a:latin typeface="游ゴシック"/>
                <a:ea typeface="游ゴシック"/>
              </a:rPr>
              <a:t>ろ過装置</a:t>
            </a:r>
          </a:p>
        </p:txBody>
      </p:sp>
      <p:sp>
        <p:nvSpPr>
          <p:cNvPr id="34" name="Pentagon 33"/>
          <p:cNvSpPr/>
          <p:nvPr/>
        </p:nvSpPr>
        <p:spPr>
          <a:xfrm>
            <a:off x="2350008" y="4526280"/>
            <a:ext cx="1874519" cy="384048"/>
          </a:xfrm>
          <a:prstGeom prst="homePlate">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游ゴシック"/>
                <a:ea typeface="游ゴシック"/>
              </a:rPr>
              <a:t>凍結</a:t>
            </a:r>
          </a:p>
        </p:txBody>
      </p:sp>
      <p:sp>
        <p:nvSpPr>
          <p:cNvPr id="35" name="Rectangle 34"/>
          <p:cNvSpPr/>
          <p:nvPr/>
        </p:nvSpPr>
        <p:spPr>
          <a:xfrm>
            <a:off x="2350008" y="4956048"/>
            <a:ext cx="1737360" cy="566928"/>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0" i="0">
                <a:solidFill>
                  <a:srgbClr val="000000"/>
                </a:solidFill>
                <a:latin typeface="游ゴシック"/>
                <a:ea typeface="游ゴシック"/>
              </a:rPr>
              <a:t>アイス缶で</a:t>
            </a:r>
          </a:p>
          <a:p>
            <a:pPr algn="ctr"/>
            <a:r>
              <a:rPr sz="900" b="0" i="0">
                <a:solidFill>
                  <a:srgbClr val="000000"/>
                </a:solidFill>
                <a:latin typeface="游ゴシック"/>
                <a:ea typeface="游ゴシック"/>
              </a:rPr>
              <a:t>約48時間</a:t>
            </a:r>
          </a:p>
        </p:txBody>
      </p:sp>
      <p:sp>
        <p:nvSpPr>
          <p:cNvPr id="36" name="Pentagon 35"/>
          <p:cNvSpPr/>
          <p:nvPr/>
        </p:nvSpPr>
        <p:spPr>
          <a:xfrm>
            <a:off x="4361688" y="4526280"/>
            <a:ext cx="1874519" cy="384048"/>
          </a:xfrm>
          <a:prstGeom prst="homePlate">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游ゴシック"/>
                <a:ea typeface="游ゴシック"/>
              </a:rPr>
              <a:t>加工</a:t>
            </a:r>
          </a:p>
        </p:txBody>
      </p:sp>
      <p:sp>
        <p:nvSpPr>
          <p:cNvPr id="37" name="Rectangle 36"/>
          <p:cNvSpPr/>
          <p:nvPr/>
        </p:nvSpPr>
        <p:spPr>
          <a:xfrm>
            <a:off x="4361688" y="4956048"/>
            <a:ext cx="1737360" cy="566928"/>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0" i="0">
                <a:solidFill>
                  <a:srgbClr val="000000"/>
                </a:solidFill>
                <a:latin typeface="游ゴシック"/>
                <a:ea typeface="游ゴシック"/>
              </a:rPr>
              <a:t>カット・砕氷</a:t>
            </a:r>
          </a:p>
          <a:p>
            <a:pPr algn="ctr"/>
            <a:r>
              <a:rPr sz="900" b="0" i="0">
                <a:solidFill>
                  <a:srgbClr val="000000"/>
                </a:solidFill>
                <a:latin typeface="游ゴシック"/>
                <a:ea typeface="游ゴシック"/>
              </a:rPr>
              <a:t>袋詰</a:t>
            </a:r>
          </a:p>
        </p:txBody>
      </p:sp>
      <p:sp>
        <p:nvSpPr>
          <p:cNvPr id="38" name="Pentagon 37"/>
          <p:cNvSpPr/>
          <p:nvPr/>
        </p:nvSpPr>
        <p:spPr>
          <a:xfrm>
            <a:off x="6373368" y="4526280"/>
            <a:ext cx="1874519" cy="384048"/>
          </a:xfrm>
          <a:prstGeom prst="homePlate">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游ゴシック"/>
                <a:ea typeface="游ゴシック"/>
              </a:rPr>
              <a:t>保管</a:t>
            </a:r>
          </a:p>
        </p:txBody>
      </p:sp>
      <p:sp>
        <p:nvSpPr>
          <p:cNvPr id="39" name="Rectangle 38"/>
          <p:cNvSpPr/>
          <p:nvPr/>
        </p:nvSpPr>
        <p:spPr>
          <a:xfrm>
            <a:off x="6373368" y="4956048"/>
            <a:ext cx="1737360" cy="566928"/>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0" i="0">
                <a:solidFill>
                  <a:srgbClr val="000000"/>
                </a:solidFill>
                <a:latin typeface="游ゴシック"/>
                <a:ea typeface="游ゴシック"/>
              </a:rPr>
              <a:t>冷蔵設備</a:t>
            </a:r>
          </a:p>
          <a:p>
            <a:pPr algn="ctr"/>
            <a:r>
              <a:rPr sz="900" b="0" i="0">
                <a:solidFill>
                  <a:srgbClr val="000000"/>
                </a:solidFill>
                <a:latin typeface="游ゴシック"/>
                <a:ea typeface="游ゴシック"/>
              </a:rPr>
              <a:t>F級1,000トン</a:t>
            </a:r>
          </a:p>
        </p:txBody>
      </p:sp>
      <p:sp>
        <p:nvSpPr>
          <p:cNvPr id="40" name="Rectangle 39"/>
          <p:cNvSpPr/>
          <p:nvPr/>
        </p:nvSpPr>
        <p:spPr>
          <a:xfrm>
            <a:off x="8385048" y="4526280"/>
            <a:ext cx="1874519"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游ゴシック"/>
                <a:ea typeface="游ゴシック"/>
              </a:rPr>
              <a:t>配送・販売</a:t>
            </a:r>
          </a:p>
        </p:txBody>
      </p:sp>
      <p:sp>
        <p:nvSpPr>
          <p:cNvPr id="41" name="Rectangle 40"/>
          <p:cNvSpPr/>
          <p:nvPr/>
        </p:nvSpPr>
        <p:spPr>
          <a:xfrm>
            <a:off x="8385048" y="4956048"/>
            <a:ext cx="1737360" cy="566928"/>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0" i="0">
                <a:solidFill>
                  <a:srgbClr val="000000"/>
                </a:solidFill>
                <a:latin typeface="游ゴシック"/>
                <a:ea typeface="游ゴシック"/>
              </a:rPr>
              <a:t>食品卸・氷卸</a:t>
            </a:r>
          </a:p>
          <a:p>
            <a:pPr algn="ctr"/>
            <a:r>
              <a:rPr sz="900" b="0" i="0">
                <a:solidFill>
                  <a:srgbClr val="000000"/>
                </a:solidFill>
                <a:latin typeface="游ゴシック"/>
                <a:ea typeface="游ゴシック"/>
              </a:rPr>
              <a:t>業務用顧客</a:t>
            </a:r>
          </a:p>
        </p:txBody>
      </p:sp>
      <p:sp>
        <p:nvSpPr>
          <p:cNvPr id="42" name="Rectangle 41"/>
          <p:cNvSpPr/>
          <p:nvPr/>
        </p:nvSpPr>
        <p:spPr>
          <a:xfrm>
            <a:off x="338328" y="5669280"/>
            <a:ext cx="10012680" cy="82296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43" name="Rectangle 42"/>
          <p:cNvSpPr/>
          <p:nvPr/>
        </p:nvSpPr>
        <p:spPr>
          <a:xfrm>
            <a:off x="338328" y="5669280"/>
            <a:ext cx="1188720" cy="82296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i="0">
                <a:solidFill>
                  <a:srgbClr val="FFFFFF"/>
                </a:solidFill>
                <a:latin typeface="游ゴシック"/>
                <a:ea typeface="游ゴシック"/>
              </a:rPr>
              <a:t>強み</a:t>
            </a:r>
          </a:p>
        </p:txBody>
      </p:sp>
      <p:sp>
        <p:nvSpPr>
          <p:cNvPr id="44" name="Oval 43"/>
          <p:cNvSpPr/>
          <p:nvPr/>
        </p:nvSpPr>
        <p:spPr>
          <a:xfrm>
            <a:off x="1691640" y="5916168"/>
            <a:ext cx="292608" cy="292608"/>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游ゴシック"/>
                <a:ea typeface="游ゴシック"/>
              </a:rPr>
              <a:t>✓</a:t>
            </a:r>
          </a:p>
        </p:txBody>
      </p:sp>
      <p:sp>
        <p:nvSpPr>
          <p:cNvPr id="45" name="TextBox 44"/>
          <p:cNvSpPr txBox="1"/>
          <p:nvPr/>
        </p:nvSpPr>
        <p:spPr>
          <a:xfrm>
            <a:off x="2057400" y="5815584"/>
            <a:ext cx="2468880" cy="502920"/>
          </a:xfrm>
          <a:prstGeom prst="rect">
            <a:avLst/>
          </a:prstGeom>
          <a:noFill/>
        </p:spPr>
        <p:txBody>
          <a:bodyPr wrap="square" anchor="ctr" lIns="18288" rIns="18288" tIns="18288" bIns="18288"/>
          <a:lstStyle/>
          <a:p>
            <a:pPr algn="l"/>
            <a:r>
              <a:rPr sz="950" b="1" i="0">
                <a:solidFill>
                  <a:srgbClr val="0B3041"/>
                </a:solidFill>
                <a:latin typeface="游ゴシック"/>
                <a:ea typeface="游ゴシック"/>
              </a:rPr>
              <a:t>65年超の業歴と伝統製法による</a:t>
            </a:r>
          </a:p>
          <a:p>
            <a:pPr algn="l"/>
            <a:r>
              <a:rPr sz="950" b="1" i="0">
                <a:solidFill>
                  <a:srgbClr val="0B3041"/>
                </a:solidFill>
                <a:latin typeface="游ゴシック"/>
                <a:ea typeface="游ゴシック"/>
              </a:rPr>
              <a:t>高品質な純氷（自社ブランド）</a:t>
            </a:r>
          </a:p>
        </p:txBody>
      </p:sp>
      <p:sp>
        <p:nvSpPr>
          <p:cNvPr id="46" name="Oval 45"/>
          <p:cNvSpPr/>
          <p:nvPr/>
        </p:nvSpPr>
        <p:spPr>
          <a:xfrm>
            <a:off x="4572000" y="5916168"/>
            <a:ext cx="292608" cy="292608"/>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游ゴシック"/>
                <a:ea typeface="游ゴシック"/>
              </a:rPr>
              <a:t>✓</a:t>
            </a:r>
          </a:p>
        </p:txBody>
      </p:sp>
      <p:sp>
        <p:nvSpPr>
          <p:cNvPr id="47" name="TextBox 46"/>
          <p:cNvSpPr txBox="1"/>
          <p:nvPr/>
        </p:nvSpPr>
        <p:spPr>
          <a:xfrm>
            <a:off x="4937760" y="5815584"/>
            <a:ext cx="2468880" cy="502920"/>
          </a:xfrm>
          <a:prstGeom prst="rect">
            <a:avLst/>
          </a:prstGeom>
          <a:noFill/>
        </p:spPr>
        <p:txBody>
          <a:bodyPr wrap="square" anchor="ctr" lIns="18288" rIns="18288" tIns="18288" bIns="18288"/>
          <a:lstStyle/>
          <a:p>
            <a:pPr algn="l"/>
            <a:r>
              <a:rPr sz="950" b="1" i="0">
                <a:solidFill>
                  <a:srgbClr val="0B3041"/>
                </a:solidFill>
                <a:latin typeface="游ゴシック"/>
                <a:ea typeface="游ゴシック"/>
              </a:rPr>
              <a:t>大手食品卸を含む首都圏の</a:t>
            </a:r>
          </a:p>
          <a:p>
            <a:pPr algn="l"/>
            <a:r>
              <a:rPr sz="950" b="1" i="0">
                <a:solidFill>
                  <a:srgbClr val="0B3041"/>
                </a:solidFill>
                <a:latin typeface="游ゴシック"/>
                <a:ea typeface="游ゴシック"/>
              </a:rPr>
              <a:t>安定した販路（掛売99%）</a:t>
            </a:r>
          </a:p>
        </p:txBody>
      </p:sp>
      <p:sp>
        <p:nvSpPr>
          <p:cNvPr id="48" name="Oval 47"/>
          <p:cNvSpPr/>
          <p:nvPr/>
        </p:nvSpPr>
        <p:spPr>
          <a:xfrm>
            <a:off x="7452360" y="5916168"/>
            <a:ext cx="292608" cy="292608"/>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游ゴシック"/>
                <a:ea typeface="游ゴシック"/>
              </a:rPr>
              <a:t>✓</a:t>
            </a:r>
          </a:p>
        </p:txBody>
      </p:sp>
      <p:sp>
        <p:nvSpPr>
          <p:cNvPr id="49" name="TextBox 48"/>
          <p:cNvSpPr txBox="1"/>
          <p:nvPr/>
        </p:nvSpPr>
        <p:spPr>
          <a:xfrm>
            <a:off x="7818120" y="5815584"/>
            <a:ext cx="2468880" cy="502920"/>
          </a:xfrm>
          <a:prstGeom prst="rect">
            <a:avLst/>
          </a:prstGeom>
          <a:noFill/>
        </p:spPr>
        <p:txBody>
          <a:bodyPr wrap="square" anchor="ctr" lIns="18288" rIns="18288" tIns="18288" bIns="18288"/>
          <a:lstStyle/>
          <a:p>
            <a:pPr algn="l"/>
            <a:r>
              <a:rPr sz="950" b="1" i="0">
                <a:solidFill>
                  <a:srgbClr val="0B3041"/>
                </a:solidFill>
                <a:latin typeface="游ゴシック"/>
                <a:ea typeface="游ゴシック"/>
              </a:rPr>
              <a:t>製氷・加工・冷蔵・配送の</a:t>
            </a:r>
          </a:p>
          <a:p>
            <a:pPr algn="l"/>
            <a:r>
              <a:rPr sz="950" b="1" i="0">
                <a:solidFill>
                  <a:srgbClr val="0B3041"/>
                </a:solidFill>
                <a:latin typeface="游ゴシック"/>
                <a:ea typeface="游ゴシック"/>
              </a:rPr>
              <a:t>一貫体制と自社保有の工場</a:t>
            </a:r>
          </a:p>
        </p:txBody>
      </p:sp>
      <p:sp>
        <p:nvSpPr>
          <p:cNvPr id="50" name="TextBox 49"/>
          <p:cNvSpPr txBox="1"/>
          <p:nvPr/>
        </p:nvSpPr>
        <p:spPr>
          <a:xfrm>
            <a:off x="338328" y="6583680"/>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※製法・設備の記載は同社公式サイト等の公開情報および法人事業概況説明書による。</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売上高は4期連続で増加し2026年3月期に405,963千円。電力費高騰で営業赤字となった2023年3月期から回復し、臨時的支出を調整した調整後EBITDAは直近3期平均35,857千円で安定。</a:t>
            </a:r>
          </a:p>
        </p:txBody>
      </p:sp>
      <p:sp>
        <p:nvSpPr>
          <p:cNvPr id="3" name="Title 2"/>
          <p:cNvSpPr>
            <a:spLocks noGrp="1"/>
          </p:cNvSpPr>
          <p:nvPr>
            <p:ph type="ctrTitle"/>
          </p:nvPr>
        </p:nvSpPr>
        <p:spPr/>
        <p:txBody>
          <a:bodyPr/>
          <a:lstStyle/>
          <a:p>
            <a:r>
              <a:t>財務ハイライト（P/L）</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TextBox 5"/>
          <p:cNvSpPr txBox="1"/>
          <p:nvPr/>
        </p:nvSpPr>
        <p:spPr>
          <a:xfrm>
            <a:off x="4480560" y="1417320"/>
            <a:ext cx="16459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graphicFrame>
        <p:nvGraphicFramePr>
          <p:cNvPr id="7" name="Table 6"/>
          <p:cNvGraphicFramePr>
            <a:graphicFrameLocks noGrp="1"/>
          </p:cNvGraphicFramePr>
          <p:nvPr/>
        </p:nvGraphicFramePr>
        <p:xfrm>
          <a:off x="338328" y="1627632"/>
          <a:ext cx="6035040" cy="4251960"/>
        </p:xfrm>
        <a:graphic>
          <a:graphicData uri="http://schemas.openxmlformats.org/drawingml/2006/table">
            <a:tbl>
              <a:tblPr firstRow="0" bandRow="0">
                <a:tableStyleId>{5940675A-B579-460E-94D1-54222C63F5DA}</a:tableStyleId>
              </a:tblPr>
              <a:tblGrid>
                <a:gridCol w="1463040"/>
                <a:gridCol w="1143000"/>
                <a:gridCol w="1143000"/>
                <a:gridCol w="1143000"/>
                <a:gridCol w="1143000"/>
              </a:tblGrid>
              <a:tr h="283464">
                <a:tc>
                  <a:txBody>
                    <a:bodyPr wrap="square"/>
                    <a:lstStyle/>
                    <a:p>
                      <a:pPr algn="ctr"/>
                      <a:r>
                        <a:rPr sz="1000" b="1" i="0">
                          <a:solidFill>
                            <a:srgbClr val="FFFFFF"/>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83464">
                <a:tc>
                  <a:txBody>
                    <a:bodyPr wrap="square"/>
                    <a:lstStyle/>
                    <a:p>
                      <a:pPr algn="l"/>
                      <a:r>
                        <a:rPr sz="1000" b="1" i="0">
                          <a:solidFill>
                            <a:srgbClr val="000000"/>
                          </a:solidFill>
                          <a:latin typeface="游ゴシック"/>
                          <a:ea typeface="游ゴシック"/>
                        </a:rPr>
                        <a:t>売上高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1" i="0">
                          <a:solidFill>
                            <a:srgbClr val="000000"/>
                          </a:solidFill>
                          <a:latin typeface="Arial"/>
                          <a:ea typeface="游ゴシック"/>
                        </a:rPr>
                        <a:t>284,841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1" i="0">
                          <a:solidFill>
                            <a:srgbClr val="000000"/>
                          </a:solidFill>
                          <a:latin typeface="Arial"/>
                          <a:ea typeface="游ゴシック"/>
                        </a:rPr>
                        <a:t>376,221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1" i="0">
                          <a:solidFill>
                            <a:srgbClr val="000000"/>
                          </a:solidFill>
                          <a:latin typeface="Arial"/>
                          <a:ea typeface="游ゴシック"/>
                        </a:rPr>
                        <a:t>382,685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1" i="0">
                          <a:solidFill>
                            <a:srgbClr val="000000"/>
                          </a:solidFill>
                          <a:latin typeface="Arial"/>
                          <a:ea typeface="游ゴシック"/>
                        </a:rPr>
                        <a:t>405,963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850" b="0" i="0">
                          <a:solidFill>
                            <a:srgbClr val="404040"/>
                          </a:solidFill>
                          <a:latin typeface="游ゴシック"/>
                          <a:ea typeface="游ゴシック"/>
                        </a:rPr>
                        <a:t>前期比</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40404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132.1%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101.7%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106.1%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1000" b="0" i="0">
                          <a:solidFill>
                            <a:srgbClr val="000000"/>
                          </a:solidFill>
                          <a:latin typeface="游ゴシック"/>
                          <a:ea typeface="游ゴシック"/>
                        </a:rPr>
                        <a:t>売上総利益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46,248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96,567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85,384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89,374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850" b="0" i="0">
                          <a:solidFill>
                            <a:srgbClr val="404040"/>
                          </a:solidFill>
                          <a:latin typeface="游ゴシック"/>
                          <a:ea typeface="游ゴシック"/>
                        </a:rPr>
                        <a:t>利益率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404040"/>
                          </a:solidFill>
                          <a:latin typeface="Arial"/>
                          <a:ea typeface="游ゴシック"/>
                        </a:rPr>
                        <a:t>16.2%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25.7%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22.3%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22.0%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1000" b="1" i="0">
                          <a:solidFill>
                            <a:srgbClr val="000000"/>
                          </a:solidFill>
                          <a:latin typeface="游ゴシック"/>
                          <a:ea typeface="游ゴシック"/>
                        </a:rPr>
                        <a:t>営業利益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1" i="0">
                          <a:solidFill>
                            <a:srgbClr val="000000"/>
                          </a:solidFill>
                          <a:latin typeface="Arial"/>
                          <a:ea typeface="游ゴシック"/>
                        </a:rPr>
                        <a:t>△8,248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1" i="0">
                          <a:solidFill>
                            <a:srgbClr val="000000"/>
                          </a:solidFill>
                          <a:latin typeface="Arial"/>
                          <a:ea typeface="游ゴシック"/>
                        </a:rPr>
                        <a:t>25,325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1" i="0">
                          <a:solidFill>
                            <a:srgbClr val="000000"/>
                          </a:solidFill>
                          <a:latin typeface="Arial"/>
                          <a:ea typeface="游ゴシック"/>
                        </a:rPr>
                        <a:t>13,659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1" i="0">
                          <a:solidFill>
                            <a:srgbClr val="000000"/>
                          </a:solidFill>
                          <a:latin typeface="Arial"/>
                          <a:ea typeface="游ゴシック"/>
                        </a:rPr>
                        <a:t>8,025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850" b="0" i="0">
                          <a:solidFill>
                            <a:srgbClr val="404040"/>
                          </a:solidFill>
                          <a:latin typeface="游ゴシック"/>
                          <a:ea typeface="游ゴシック"/>
                        </a:rPr>
                        <a:t>利益率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404040"/>
                          </a:solidFill>
                          <a:latin typeface="Arial"/>
                          <a:ea typeface="游ゴシック"/>
                        </a:rPr>
                        <a:t>△2.9%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1000" b="0" i="0">
                          <a:solidFill>
                            <a:srgbClr val="000000"/>
                          </a:solidFill>
                          <a:latin typeface="游ゴシック"/>
                          <a:ea typeface="游ゴシック"/>
                        </a:rPr>
                        <a:t>経常利益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△13,265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22,792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6,021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1,864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850" b="0" i="0">
                          <a:solidFill>
                            <a:srgbClr val="404040"/>
                          </a:solidFill>
                          <a:latin typeface="游ゴシック"/>
                          <a:ea typeface="游ゴシック"/>
                        </a:rPr>
                        <a:t>利益率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404040"/>
                          </a:solidFill>
                          <a:latin typeface="Arial"/>
                          <a:ea typeface="游ゴシック"/>
                        </a:rPr>
                        <a:t>△4.7%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1000" b="0" i="0">
                          <a:solidFill>
                            <a:srgbClr val="000000"/>
                          </a:solidFill>
                          <a:latin typeface="游ゴシック"/>
                          <a:ea typeface="游ゴシック"/>
                        </a:rPr>
                        <a:t>当期純利益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△13,625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22,432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5,661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1,377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1000" b="0" i="0">
                          <a:solidFill>
                            <a:srgbClr val="000000"/>
                          </a:solidFill>
                          <a:latin typeface="游ゴシック"/>
                          <a:ea typeface="游ゴシック"/>
                        </a:rPr>
                        <a:t>減価償却費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11,322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20,418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22,335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1000" b="0" i="0">
                          <a:solidFill>
                            <a:srgbClr val="000000"/>
                          </a:solidFill>
                          <a:latin typeface="游ゴシック"/>
                          <a:ea typeface="游ゴシック"/>
                        </a:rPr>
                        <a:t>EBITDA</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△8,228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36,647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34,077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30,361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1000" b="0" i="0">
                          <a:solidFill>
                            <a:srgbClr val="000000"/>
                          </a:solidFill>
                          <a:latin typeface="游ゴシック"/>
                          <a:ea typeface="游ゴシック"/>
                        </a:rPr>
                        <a:t>　退職給与（臨時）</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+6,178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1000" b="0" i="0">
                          <a:solidFill>
                            <a:srgbClr val="000000"/>
                          </a:solidFill>
                          <a:latin typeface="游ゴシック"/>
                          <a:ea typeface="游ゴシック"/>
                        </a:rPr>
                        <a:t>　役員報酬</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83464">
                <a:tc>
                  <a:txBody>
                    <a:bodyPr wrap="square"/>
                    <a:lstStyle/>
                    <a:p>
                      <a:pPr algn="l"/>
                      <a:r>
                        <a:rPr sz="1000" b="1" i="0">
                          <a:solidFill>
                            <a:srgbClr val="000000"/>
                          </a:solidFill>
                          <a:latin typeface="游ゴシック"/>
                          <a:ea typeface="游ゴシック"/>
                        </a:rPr>
                        <a:t>調整後EBITDA</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△8,228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36,954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34,077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36,539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8" name="TextBox 7"/>
          <p:cNvSpPr txBox="1"/>
          <p:nvPr/>
        </p:nvSpPr>
        <p:spPr>
          <a:xfrm>
            <a:off x="338328" y="5943600"/>
            <a:ext cx="6035040" cy="36576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※EBITDA＝営業利益＋減価償却費（製造原価・販管費計上分）。調整後EBITDAの直近2期平均は35,308千円。</a:t>
            </a:r>
          </a:p>
          <a:p>
            <a:pPr algn="l"/>
            <a:r>
              <a:rPr sz="800" b="0" i="0">
                <a:solidFill>
                  <a:srgbClr val="404040"/>
                </a:solidFill>
                <a:latin typeface="游ゴシック Medium"/>
                <a:ea typeface="游ゴシック Medium"/>
              </a:rPr>
              <a:t>※23/3期は評価対象期間外のため調整なし。</a:t>
            </a:r>
          </a:p>
        </p:txBody>
      </p:sp>
      <p:sp>
        <p:nvSpPr>
          <p:cNvPr id="9" name="Rectangle 8"/>
          <p:cNvSpPr/>
          <p:nvPr/>
        </p:nvSpPr>
        <p:spPr>
          <a:xfrm>
            <a:off x="6446520" y="1481328"/>
            <a:ext cx="3886200" cy="3794760"/>
          </a:xfrm>
          <a:prstGeom prst="rect">
            <a:avLst/>
          </a:prstGeom>
          <a:solidFill>
            <a:srgbClr val="FFFFFF"/>
          </a:solidFill>
          <a:ln w="1270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6446520" y="1554480"/>
            <a:ext cx="3886200" cy="292608"/>
          </a:xfrm>
          <a:prstGeom prst="rect">
            <a:avLst/>
          </a:prstGeom>
          <a:noFill/>
        </p:spPr>
        <p:txBody>
          <a:bodyPr wrap="square" anchor="t" lIns="18288" rIns="18288" tIns="18288" bIns="18288"/>
          <a:lstStyle/>
          <a:p>
            <a:pPr algn="ctr"/>
            <a:r>
              <a:rPr sz="1400" b="1" i="0">
                <a:solidFill>
                  <a:srgbClr val="0B3041"/>
                </a:solidFill>
                <a:latin typeface="Arial"/>
                <a:ea typeface="游ゴシック"/>
              </a:rPr>
              <a:t>Comment</a:t>
            </a:r>
          </a:p>
        </p:txBody>
      </p:sp>
      <p:sp>
        <p:nvSpPr>
          <p:cNvPr id="11" name="TextBox 10"/>
          <p:cNvSpPr txBox="1"/>
          <p:nvPr/>
        </p:nvSpPr>
        <p:spPr>
          <a:xfrm>
            <a:off x="6574536" y="1892808"/>
            <a:ext cx="3630168" cy="3337560"/>
          </a:xfrm>
          <a:prstGeom prst="rect">
            <a:avLst/>
          </a:prstGeom>
          <a:noFill/>
        </p:spPr>
        <p:txBody>
          <a:bodyPr wrap="square" anchor="t" lIns="18288" rIns="18288" tIns="18288" bIns="18288"/>
          <a:lstStyle/>
          <a:p>
            <a:pPr algn="l">
              <a:lnSpc>
                <a:spcPct val="105000"/>
              </a:lnSpc>
              <a:spcBef>
                <a:spcPts val="0"/>
              </a:spcBef>
            </a:pPr>
            <a:r>
              <a:rPr sz="900" b="1" i="0">
                <a:solidFill>
                  <a:srgbClr val="000000"/>
                </a:solidFill>
                <a:latin typeface="游ゴシック"/>
                <a:ea typeface="游ゴシック"/>
              </a:rPr>
              <a:t>≪売上高≫</a:t>
            </a:r>
          </a:p>
          <a:p>
            <a:pPr algn="l">
              <a:lnSpc>
                <a:spcPct val="105000"/>
              </a:lnSpc>
            </a:pPr>
            <a:r>
              <a:rPr sz="850" b="0" i="0">
                <a:solidFill>
                  <a:srgbClr val="000000"/>
                </a:solidFill>
                <a:latin typeface="游ゴシック"/>
                <a:ea typeface="游ゴシック"/>
              </a:rPr>
              <a:t>・23/3期284,841千円から24/3期376,221千円（前期比132.1%）へ大きく伸長し、以降も増収を継続。</a:t>
            </a:r>
          </a:p>
          <a:p>
            <a:pPr algn="l">
              <a:lnSpc>
                <a:spcPct val="105000"/>
              </a:lnSpc>
            </a:pPr>
            <a:r>
              <a:rPr sz="850" b="0" i="0">
                <a:solidFill>
                  <a:srgbClr val="000000"/>
                </a:solidFill>
                <a:latin typeface="游ゴシック"/>
                <a:ea typeface="游ゴシック"/>
              </a:rPr>
              <a:t>・製氷関係が約9割を占め、7〜8月の盛夏期に年間売上の約3割が集中する。</a:t>
            </a:r>
          </a:p>
          <a:p>
            <a:pPr algn="l">
              <a:lnSpc>
                <a:spcPct val="105000"/>
              </a:lnSpc>
              <a:spcBef>
                <a:spcPts val="600"/>
              </a:spcBef>
            </a:pPr>
            <a:r>
              <a:rPr sz="900" b="1" i="0">
                <a:solidFill>
                  <a:srgbClr val="000000"/>
                </a:solidFill>
                <a:latin typeface="游ゴシック"/>
                <a:ea typeface="游ゴシック"/>
              </a:rPr>
              <a:t>≪売上総利益≫</a:t>
            </a:r>
          </a:p>
          <a:p>
            <a:pPr algn="l">
              <a:lnSpc>
                <a:spcPct val="105000"/>
              </a:lnSpc>
            </a:pPr>
            <a:r>
              <a:rPr sz="850" b="0" i="0">
                <a:solidFill>
                  <a:srgbClr val="000000"/>
                </a:solidFill>
                <a:latin typeface="游ゴシック"/>
                <a:ea typeface="游ゴシック"/>
              </a:rPr>
              <a:t>・23/3期は電力料（動力費）が42,894千円に膨らみ粗利率16.2%に低下。</a:t>
            </a:r>
          </a:p>
          <a:p>
            <a:pPr algn="l">
              <a:lnSpc>
                <a:spcPct val="105000"/>
              </a:lnSpc>
            </a:pPr>
            <a:r>
              <a:rPr sz="850" b="0" i="0">
                <a:solidFill>
                  <a:srgbClr val="000000"/>
                </a:solidFill>
                <a:latin typeface="游ゴシック"/>
                <a:ea typeface="游ゴシック"/>
              </a:rPr>
              <a:t>・24/3期以降は電力料が32〜34百万円台に落ち着き、粗利率は22〜26%で推移。</a:t>
            </a:r>
          </a:p>
          <a:p>
            <a:pPr algn="l">
              <a:lnSpc>
                <a:spcPct val="105000"/>
              </a:lnSpc>
              <a:spcBef>
                <a:spcPts val="600"/>
              </a:spcBef>
            </a:pPr>
            <a:r>
              <a:rPr sz="900" b="1" i="0">
                <a:solidFill>
                  <a:srgbClr val="000000"/>
                </a:solidFill>
                <a:latin typeface="游ゴシック"/>
                <a:ea typeface="游ゴシック"/>
              </a:rPr>
              <a:t>≪営業利益≫</a:t>
            </a:r>
          </a:p>
          <a:p>
            <a:pPr algn="l">
              <a:lnSpc>
                <a:spcPct val="105000"/>
              </a:lnSpc>
            </a:pPr>
            <a:r>
              <a:rPr sz="850" b="0" i="0">
                <a:solidFill>
                  <a:srgbClr val="000000"/>
                </a:solidFill>
                <a:latin typeface="游ゴシック"/>
                <a:ea typeface="游ゴシック"/>
              </a:rPr>
              <a:t>・配送委託の運賃増加（24/3期22,044千円→26/3期27,570千円）等により、25/3期以降は減益。</a:t>
            </a:r>
          </a:p>
          <a:p>
            <a:pPr algn="l">
              <a:lnSpc>
                <a:spcPct val="105000"/>
              </a:lnSpc>
            </a:pPr>
            <a:r>
              <a:rPr sz="850" b="0" i="0">
                <a:solidFill>
                  <a:srgbClr val="000000"/>
                </a:solidFill>
                <a:latin typeface="游ゴシック"/>
                <a:ea typeface="游ゴシック"/>
              </a:rPr>
              <a:t>・26/3期は臨時的な退職給与6,178千円を含み8,025千円。</a:t>
            </a:r>
          </a:p>
          <a:p>
            <a:pPr algn="l">
              <a:lnSpc>
                <a:spcPct val="105000"/>
              </a:lnSpc>
              <a:spcBef>
                <a:spcPts val="600"/>
              </a:spcBef>
            </a:pPr>
            <a:r>
              <a:rPr sz="900" b="1" i="0">
                <a:solidFill>
                  <a:srgbClr val="000000"/>
                </a:solidFill>
                <a:latin typeface="游ゴシック"/>
                <a:ea typeface="游ゴシック"/>
              </a:rPr>
              <a:t>≪EBITDA≫</a:t>
            </a:r>
          </a:p>
          <a:p>
            <a:pPr algn="l">
              <a:lnSpc>
                <a:spcPct val="105000"/>
              </a:lnSpc>
            </a:pPr>
            <a:r>
              <a:rPr sz="850" b="0" i="0">
                <a:solidFill>
                  <a:srgbClr val="000000"/>
                </a:solidFill>
                <a:latin typeface="游ゴシック"/>
                <a:ea typeface="游ゴシック"/>
              </a:rPr>
              <a:t>・減価償却費は24/3期以降11〜22百万円で推移（23/3期はほぼ未計上）。</a:t>
            </a:r>
          </a:p>
          <a:p>
            <a:pPr algn="l">
              <a:lnSpc>
                <a:spcPct val="105000"/>
              </a:lnSpc>
            </a:pPr>
            <a:r>
              <a:rPr sz="850" b="0" i="0">
                <a:solidFill>
                  <a:srgbClr val="000000"/>
                </a:solidFill>
                <a:latin typeface="游ゴシック"/>
                <a:ea typeface="游ゴシック"/>
              </a:rPr>
              <a:t>・臨時的な退職給与を調整した調整後EBITDAは34〜37百万円で安定し、直近3期平均35,857千円。</a:t>
            </a:r>
          </a:p>
        </p:txBody>
      </p:sp>
      <p:sp>
        <p:nvSpPr>
          <p:cNvPr id="12" name="Rectangle 11"/>
          <p:cNvSpPr/>
          <p:nvPr/>
        </p:nvSpPr>
        <p:spPr>
          <a:xfrm>
            <a:off x="6446520" y="5376672"/>
            <a:ext cx="3886200" cy="1115568"/>
          </a:xfrm>
          <a:prstGeom prst="rect">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3" name="TextBox 12"/>
          <p:cNvSpPr txBox="1"/>
          <p:nvPr/>
        </p:nvSpPr>
        <p:spPr>
          <a:xfrm>
            <a:off x="6565392" y="5422392"/>
            <a:ext cx="3657600" cy="1051560"/>
          </a:xfrm>
          <a:prstGeom prst="rect">
            <a:avLst/>
          </a:prstGeom>
          <a:noFill/>
        </p:spPr>
        <p:txBody>
          <a:bodyPr wrap="square" anchor="t" lIns="18288" rIns="18288" tIns="18288" bIns="18288"/>
          <a:lstStyle/>
          <a:p>
            <a:pPr algn="l"/>
            <a:r>
              <a:rPr sz="950" b="1" i="0">
                <a:solidFill>
                  <a:srgbClr val="000000"/>
                </a:solidFill>
                <a:latin typeface="游ゴシック"/>
                <a:ea typeface="游ゴシック"/>
              </a:rPr>
              <a:t>【調整項目】</a:t>
            </a:r>
          </a:p>
          <a:p>
            <a:pPr algn="l"/>
            <a:r>
              <a:rPr sz="850" b="0" i="0">
                <a:solidFill>
                  <a:srgbClr val="000000"/>
                </a:solidFill>
                <a:latin typeface="游ゴシック"/>
                <a:ea typeface="游ゴシック"/>
              </a:rPr>
              <a:t>≪退職給与≫ 26/3期・24/3期の退職給与は臨時的な支出と推察し加算（要確認）</a:t>
            </a:r>
          </a:p>
          <a:p>
            <a:pPr algn="l"/>
            <a:r>
              <a:rPr sz="850" b="0" i="0">
                <a:solidFill>
                  <a:srgbClr val="000000"/>
                </a:solidFill>
                <a:latin typeface="游ゴシック"/>
                <a:ea typeface="游ゴシック"/>
              </a:rPr>
              <a:t>≪役員報酬≫ 現行7,200千円／年は標準的な水準と想定し調整なし</a:t>
            </a:r>
          </a:p>
          <a:p>
            <a:pPr algn="l"/>
            <a:r>
              <a:rPr sz="950" b="1" i="0">
                <a:solidFill>
                  <a:srgbClr val="0B3041"/>
                </a:solidFill>
                <a:latin typeface="游ゴシック"/>
                <a:ea typeface="游ゴシック"/>
              </a:rPr>
              <a:t>✓ 調整後EBITDA（直近3期平均）は35,857千円</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越谷工場の土地・建物と製氷設備を自社保有する装置型の資産構成。一方で借入金461,024千円を抱え、工場建物は会計上の償却が行われていないため簿価が時価を大きく上回る点に留意を要する。</a:t>
            </a:r>
          </a:p>
        </p:txBody>
      </p:sp>
      <p:sp>
        <p:nvSpPr>
          <p:cNvPr id="3" name="Title 2"/>
          <p:cNvSpPr>
            <a:spLocks noGrp="1"/>
          </p:cNvSpPr>
          <p:nvPr>
            <p:ph type="ctrTitle"/>
          </p:nvPr>
        </p:nvSpPr>
        <p:spPr/>
        <p:txBody>
          <a:bodyPr/>
          <a:lstStyle/>
          <a:p>
            <a:r>
              <a:t>財務ハイライト（B/S）</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TextBox 5"/>
          <p:cNvSpPr txBox="1"/>
          <p:nvPr/>
        </p:nvSpPr>
        <p:spPr>
          <a:xfrm>
            <a:off x="3566160" y="1417320"/>
            <a:ext cx="16459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graphicFrame>
        <p:nvGraphicFramePr>
          <p:cNvPr id="7" name="Table 6"/>
          <p:cNvGraphicFramePr>
            <a:graphicFrameLocks noGrp="1"/>
          </p:cNvGraphicFramePr>
          <p:nvPr/>
        </p:nvGraphicFramePr>
        <p:xfrm>
          <a:off x="338328" y="1627632"/>
          <a:ext cx="4572000" cy="3803904"/>
        </p:xfrm>
        <a:graphic>
          <a:graphicData uri="http://schemas.openxmlformats.org/drawingml/2006/table">
            <a:tbl>
              <a:tblPr firstRow="0" bandRow="0">
                <a:tableStyleId>{5940675A-B579-460E-94D1-54222C63F5DA}</a:tableStyleId>
              </a:tblPr>
              <a:tblGrid>
                <a:gridCol w="1417320"/>
                <a:gridCol w="868680"/>
                <a:gridCol w="1417320"/>
                <a:gridCol w="868680"/>
              </a:tblGrid>
              <a:tr h="292608">
                <a:tc gridSpan="4">
                  <a:txBody>
                    <a:bodyPr wrap="square"/>
                    <a:lstStyle/>
                    <a:p>
                      <a:pPr algn="ctr"/>
                      <a:r>
                        <a:rPr sz="1000" b="1" i="0">
                          <a:solidFill>
                            <a:srgbClr val="FFFFFF"/>
                          </a:solidFill>
                          <a:latin typeface="游ゴシック"/>
                          <a:ea typeface="游ゴシック"/>
                        </a:rPr>
                        <a:t>26/3期（2026年3月31日）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hMerge="1">
                  <a:txBody>
                    <a:bodyPr/>
                    <a:lstStyle/>
                    <a:p/>
                  </a:txBody>
                  <a:tcPr/>
                </a:tc>
                <a:tc hMerge="1">
                  <a:txBody>
                    <a:bodyPr/>
                    <a:lstStyle/>
                    <a:p/>
                  </a:txBody>
                  <a:tcPr/>
                </a:tc>
                <a:tc hMerge="1">
                  <a:txBody>
                    <a:bodyPr/>
                    <a:lstStyle/>
                    <a:p/>
                  </a:txBody>
                  <a:tcPr/>
                </a:tc>
              </a:tr>
              <a:tr h="292608">
                <a:tc>
                  <a:txBody>
                    <a:bodyPr wrap="square"/>
                    <a:lstStyle/>
                    <a:p>
                      <a:pPr algn="l"/>
                      <a:r>
                        <a:rPr sz="1000" b="0" i="0">
                          <a:solidFill>
                            <a:srgbClr val="000000"/>
                          </a:solidFill>
                          <a:latin typeface="游ゴシック"/>
                          <a:ea typeface="游ゴシック"/>
                        </a:rPr>
                        <a:t>現預金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66,600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支払手形・買掛金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24,494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0" i="0">
                          <a:solidFill>
                            <a:srgbClr val="000000"/>
                          </a:solidFill>
                          <a:latin typeface="游ゴシック"/>
                          <a:ea typeface="游ゴシック"/>
                        </a:rPr>
                        <a:t>保険積立金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9,362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短期借入金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80,000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0" i="0">
                          <a:solidFill>
                            <a:srgbClr val="000000"/>
                          </a:solidFill>
                          <a:latin typeface="游ゴシック"/>
                          <a:ea typeface="游ゴシック"/>
                        </a:rPr>
                        <a:t>売掛金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28,798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その他</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18,398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0" i="0">
                          <a:solidFill>
                            <a:srgbClr val="000000"/>
                          </a:solidFill>
                          <a:latin typeface="游ゴシック"/>
                          <a:ea typeface="游ゴシック"/>
                        </a:rPr>
                        <a:t>棚卸資産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34,491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1" i="0">
                          <a:solidFill>
                            <a:srgbClr val="000000"/>
                          </a:solidFill>
                          <a:latin typeface="游ゴシック"/>
                          <a:ea typeface="游ゴシック"/>
                        </a:rPr>
                        <a:t>流動負債</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1" i="0">
                          <a:solidFill>
                            <a:srgbClr val="000000"/>
                          </a:solidFill>
                          <a:latin typeface="Arial"/>
                          <a:ea typeface="游ゴシック"/>
                        </a:rPr>
                        <a:t>122,892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r>
              <a:tr h="292608">
                <a:tc>
                  <a:txBody>
                    <a:bodyPr wrap="square"/>
                    <a:lstStyle/>
                    <a:p>
                      <a:pPr algn="l"/>
                      <a:r>
                        <a:rPr sz="1000" b="0" i="0">
                          <a:solidFill>
                            <a:srgbClr val="000000"/>
                          </a:solidFill>
                          <a:latin typeface="游ゴシック"/>
                          <a:ea typeface="游ゴシック"/>
                        </a:rPr>
                        <a:t>その他</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3,063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長期借入金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381,024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1" i="0">
                          <a:solidFill>
                            <a:srgbClr val="000000"/>
                          </a:solidFill>
                          <a:latin typeface="游ゴシック"/>
                          <a:ea typeface="游ゴシック"/>
                        </a:rPr>
                        <a:t>流動資産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1" i="0">
                          <a:solidFill>
                            <a:srgbClr val="000000"/>
                          </a:solidFill>
                          <a:latin typeface="Arial"/>
                          <a:ea typeface="游ゴシック"/>
                        </a:rPr>
                        <a:t>142,314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00" b="1" i="0">
                          <a:solidFill>
                            <a:srgbClr val="000000"/>
                          </a:solidFill>
                          <a:latin typeface="游ゴシック"/>
                          <a:ea typeface="游ゴシック"/>
                        </a:rPr>
                        <a:t>固定負債</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1" i="0">
                          <a:solidFill>
                            <a:srgbClr val="000000"/>
                          </a:solidFill>
                          <a:latin typeface="Arial"/>
                          <a:ea typeface="游ゴシック"/>
                        </a:rPr>
                        <a:t>381,024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r>
              <a:tr h="292608">
                <a:tc>
                  <a:txBody>
                    <a:bodyPr wrap="square"/>
                    <a:lstStyle/>
                    <a:p>
                      <a:pPr algn="l"/>
                      <a:r>
                        <a:rPr sz="1000" b="0" i="0">
                          <a:solidFill>
                            <a:srgbClr val="000000"/>
                          </a:solidFill>
                          <a:latin typeface="游ゴシック"/>
                          <a:ea typeface="游ゴシック"/>
                        </a:rPr>
                        <a:t>建物・構築物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261,358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1" i="0">
                          <a:solidFill>
                            <a:srgbClr val="000000"/>
                          </a:solidFill>
                          <a:latin typeface="游ゴシック"/>
                          <a:ea typeface="游ゴシック"/>
                        </a:rPr>
                        <a:t>負債合計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1" i="0">
                          <a:solidFill>
                            <a:srgbClr val="000000"/>
                          </a:solidFill>
                          <a:latin typeface="Arial"/>
                          <a:ea typeface="游ゴシック"/>
                        </a:rPr>
                        <a:t>503,916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r>
              <a:tr h="292608">
                <a:tc>
                  <a:txBody>
                    <a:bodyPr wrap="square"/>
                    <a:lstStyle/>
                    <a:p>
                      <a:pPr algn="l"/>
                      <a:r>
                        <a:rPr sz="1000" b="0" i="0">
                          <a:solidFill>
                            <a:srgbClr val="000000"/>
                          </a:solidFill>
                          <a:latin typeface="游ゴシック"/>
                          <a:ea typeface="游ゴシック"/>
                        </a:rPr>
                        <a:t>機械・車両・器具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107,915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資本金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0" i="0">
                          <a:solidFill>
                            <a:srgbClr val="000000"/>
                          </a:solidFill>
                          <a:latin typeface="游ゴシック"/>
                          <a:ea typeface="游ゴシック"/>
                        </a:rPr>
                        <a:t>土地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利益剰余金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38,288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0" i="0">
                          <a:solidFill>
                            <a:srgbClr val="000000"/>
                          </a:solidFill>
                          <a:latin typeface="游ゴシック"/>
                          <a:ea typeface="游ゴシック"/>
                        </a:rPr>
                        <a:t>無形・投資等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1,174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1" i="0">
                          <a:solidFill>
                            <a:srgbClr val="000000"/>
                          </a:solidFill>
                          <a:latin typeface="游ゴシック"/>
                          <a:ea typeface="游ゴシック"/>
                        </a:rPr>
                        <a:t>純資産合計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1" i="0">
                          <a:solidFill>
                            <a:srgbClr val="000000"/>
                          </a:solidFill>
                          <a:latin typeface="Arial"/>
                          <a:ea typeface="游ゴシック"/>
                        </a:rPr>
                        <a:t>49,288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r>
              <a:tr h="292608">
                <a:tc>
                  <a:txBody>
                    <a:bodyPr wrap="square"/>
                    <a:lstStyle/>
                    <a:p>
                      <a:pPr algn="l"/>
                      <a:r>
                        <a:rPr sz="1000" b="1" i="0">
                          <a:solidFill>
                            <a:srgbClr val="000000"/>
                          </a:solidFill>
                          <a:latin typeface="游ゴシック"/>
                          <a:ea typeface="游ゴシック"/>
                        </a:rPr>
                        <a:t>固定資産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1" i="0">
                          <a:solidFill>
                            <a:srgbClr val="000000"/>
                          </a:solidFill>
                          <a:latin typeface="Arial"/>
                          <a:ea typeface="游ゴシック"/>
                        </a:rPr>
                        <a:t>410,890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0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1"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r>
              <a:tr h="292608">
                <a:tc>
                  <a:txBody>
                    <a:bodyPr wrap="square"/>
                    <a:lstStyle/>
                    <a:p>
                      <a:pPr algn="l"/>
                      <a:r>
                        <a:rPr sz="1000" b="1" i="0">
                          <a:solidFill>
                            <a:srgbClr val="000000"/>
                          </a:solidFill>
                          <a:latin typeface="游ゴシック"/>
                          <a:ea typeface="游ゴシック"/>
                        </a:rPr>
                        <a:t>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553,204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1000" b="1" i="0">
                          <a:solidFill>
                            <a:srgbClr val="000000"/>
                          </a:solidFill>
                          <a:latin typeface="游ゴシック"/>
                          <a:ea typeface="游ゴシック"/>
                        </a:rPr>
                        <a:t>負債・純資産合計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553,204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8" name="Rectangle 7"/>
          <p:cNvSpPr/>
          <p:nvPr/>
        </p:nvSpPr>
        <p:spPr>
          <a:xfrm>
            <a:off x="5120640" y="1481328"/>
            <a:ext cx="5212080" cy="3429000"/>
          </a:xfrm>
          <a:prstGeom prst="rect">
            <a:avLst/>
          </a:prstGeom>
          <a:solidFill>
            <a:srgbClr val="FFFFFF"/>
          </a:solidFill>
          <a:ln w="1270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9" name="TextBox 8"/>
          <p:cNvSpPr txBox="1"/>
          <p:nvPr/>
        </p:nvSpPr>
        <p:spPr>
          <a:xfrm>
            <a:off x="5120640" y="1554480"/>
            <a:ext cx="5212080" cy="292608"/>
          </a:xfrm>
          <a:prstGeom prst="rect">
            <a:avLst/>
          </a:prstGeom>
          <a:noFill/>
        </p:spPr>
        <p:txBody>
          <a:bodyPr wrap="square" anchor="t" lIns="18288" rIns="18288" tIns="18288" bIns="18288"/>
          <a:lstStyle/>
          <a:p>
            <a:pPr algn="ctr"/>
            <a:r>
              <a:rPr sz="1400" b="1" i="0">
                <a:solidFill>
                  <a:srgbClr val="0B3041"/>
                </a:solidFill>
                <a:latin typeface="Arial"/>
                <a:ea typeface="游ゴシック"/>
              </a:rPr>
              <a:t>Comment</a:t>
            </a:r>
          </a:p>
        </p:txBody>
      </p:sp>
      <p:sp>
        <p:nvSpPr>
          <p:cNvPr id="10" name="TextBox 9"/>
          <p:cNvSpPr txBox="1"/>
          <p:nvPr/>
        </p:nvSpPr>
        <p:spPr>
          <a:xfrm>
            <a:off x="5248655" y="1892808"/>
            <a:ext cx="4956048" cy="2971800"/>
          </a:xfrm>
          <a:prstGeom prst="rect">
            <a:avLst/>
          </a:prstGeom>
          <a:noFill/>
        </p:spPr>
        <p:txBody>
          <a:bodyPr wrap="square" anchor="t" lIns="18288" rIns="18288" tIns="18288" bIns="18288"/>
          <a:lstStyle/>
          <a:p>
            <a:pPr algn="l">
              <a:lnSpc>
                <a:spcPct val="105000"/>
              </a:lnSpc>
              <a:spcBef>
                <a:spcPts val="0"/>
              </a:spcBef>
            </a:pPr>
            <a:r>
              <a:rPr sz="950" b="1" i="0">
                <a:solidFill>
                  <a:srgbClr val="000000"/>
                </a:solidFill>
                <a:latin typeface="游ゴシック"/>
                <a:ea typeface="游ゴシック"/>
              </a:rPr>
              <a:t>≪現預金・保険積立金≫</a:t>
            </a:r>
          </a:p>
          <a:p>
            <a:pPr algn="l">
              <a:lnSpc>
                <a:spcPct val="105000"/>
              </a:lnSpc>
            </a:pPr>
            <a:r>
              <a:rPr sz="900" b="0" i="0">
                <a:solidFill>
                  <a:srgbClr val="000000"/>
                </a:solidFill>
                <a:latin typeface="游ゴシック"/>
                <a:ea typeface="游ゴシック"/>
              </a:rPr>
              <a:t>・現預金66,600千円（うち定期預金26,401千円）。</a:t>
            </a:r>
          </a:p>
          <a:p>
            <a:pPr algn="l">
              <a:lnSpc>
                <a:spcPct val="105000"/>
              </a:lnSpc>
            </a:pPr>
            <a:r>
              <a:rPr sz="900" b="0" i="0">
                <a:solidFill>
                  <a:srgbClr val="000000"/>
                </a:solidFill>
                <a:latin typeface="游ゴシック"/>
                <a:ea typeface="游ゴシック"/>
              </a:rPr>
              <a:t>・生命保険積立金9,362千円は決算書上「現預金（諸掛金）」に含めて表示されている。</a:t>
            </a:r>
          </a:p>
          <a:p>
            <a:pPr algn="l">
              <a:lnSpc>
                <a:spcPct val="105000"/>
              </a:lnSpc>
              <a:spcBef>
                <a:spcPts val="600"/>
              </a:spcBef>
            </a:pPr>
            <a:r>
              <a:rPr sz="950" b="1" i="0">
                <a:solidFill>
                  <a:srgbClr val="000000"/>
                </a:solidFill>
                <a:latin typeface="游ゴシック"/>
                <a:ea typeface="游ゴシック"/>
              </a:rPr>
              <a:t>≪固定資産≫</a:t>
            </a:r>
          </a:p>
          <a:p>
            <a:pPr algn="l">
              <a:lnSpc>
                <a:spcPct val="105000"/>
              </a:lnSpc>
            </a:pPr>
            <a:r>
              <a:rPr sz="900" b="0" i="0">
                <a:solidFill>
                  <a:srgbClr val="000000"/>
                </a:solidFill>
                <a:latin typeface="游ゴシック"/>
                <a:ea typeface="游ゴシック"/>
              </a:rPr>
              <a:t>・越谷工場の土地40,442千円（固定資産税評価額56,890千円、2,145㎡）、建物259,242千円（同91,222千円）。</a:t>
            </a:r>
          </a:p>
          <a:p>
            <a:pPr algn="l">
              <a:lnSpc>
                <a:spcPct val="105000"/>
              </a:lnSpc>
            </a:pPr>
            <a:r>
              <a:rPr sz="900" b="0" i="0">
                <a:solidFill>
                  <a:srgbClr val="000000"/>
                </a:solidFill>
                <a:latin typeface="游ゴシック"/>
                <a:ea typeface="游ゴシック"/>
              </a:rPr>
              <a:t>・工場建物（1991年建設）は会計上の減価償却を行っておらず、当期の償却不足額は21,745千円。</a:t>
            </a:r>
          </a:p>
          <a:p>
            <a:pPr algn="l">
              <a:lnSpc>
                <a:spcPct val="105000"/>
              </a:lnSpc>
            </a:pPr>
            <a:r>
              <a:rPr sz="900" b="0" i="0">
                <a:solidFill>
                  <a:srgbClr val="000000"/>
                </a:solidFill>
                <a:latin typeface="游ゴシック"/>
                <a:ea typeface="游ゴシック"/>
              </a:rPr>
              <a:t>・機械99,691千円は製氷設備・冷凍機等（127件）。</a:t>
            </a:r>
          </a:p>
          <a:p>
            <a:pPr algn="l">
              <a:lnSpc>
                <a:spcPct val="105000"/>
              </a:lnSpc>
              <a:spcBef>
                <a:spcPts val="600"/>
              </a:spcBef>
            </a:pPr>
            <a:r>
              <a:rPr sz="950" b="1" i="0">
                <a:solidFill>
                  <a:srgbClr val="000000"/>
                </a:solidFill>
                <a:latin typeface="游ゴシック"/>
                <a:ea typeface="游ゴシック"/>
              </a:rPr>
              <a:t>≪借入金≫</a:t>
            </a:r>
          </a:p>
          <a:p>
            <a:pPr algn="l">
              <a:lnSpc>
                <a:spcPct val="105000"/>
              </a:lnSpc>
            </a:pPr>
            <a:r>
              <a:rPr sz="900" b="0" i="0">
                <a:solidFill>
                  <a:srgbClr val="000000"/>
                </a:solidFill>
                <a:latin typeface="游ゴシック"/>
                <a:ea typeface="游ゴシック"/>
              </a:rPr>
              <a:t>・金融機関6行庫で447,024千円、代表者借入14,000千円。</a:t>
            </a:r>
          </a:p>
          <a:p>
            <a:pPr algn="l">
              <a:lnSpc>
                <a:spcPct val="105000"/>
              </a:lnSpc>
            </a:pPr>
            <a:r>
              <a:rPr sz="900" b="0" i="0">
                <a:solidFill>
                  <a:srgbClr val="000000"/>
                </a:solidFill>
                <a:latin typeface="游ゴシック"/>
                <a:ea typeface="游ゴシック"/>
              </a:rPr>
              <a:t>・日本政策金融公庫161,252千円（うち資本性ローン105,420千円）、栃木銀行114,101千円、商工中金79,327千円等。</a:t>
            </a:r>
          </a:p>
          <a:p>
            <a:pPr algn="l">
              <a:lnSpc>
                <a:spcPct val="105000"/>
              </a:lnSpc>
            </a:pPr>
            <a:r>
              <a:rPr sz="900" b="0" i="0">
                <a:solidFill>
                  <a:srgbClr val="000000"/>
                </a:solidFill>
                <a:latin typeface="游ゴシック"/>
                <a:ea typeface="游ゴシック"/>
              </a:rPr>
              <a:t>・代表者が連帯保証・個人所有土地の担保提供を行っている。</a:t>
            </a:r>
          </a:p>
          <a:p>
            <a:pPr algn="l">
              <a:lnSpc>
                <a:spcPct val="105000"/>
              </a:lnSpc>
              <a:spcBef>
                <a:spcPts val="600"/>
              </a:spcBef>
            </a:pPr>
            <a:r>
              <a:rPr sz="950" b="1" i="0">
                <a:solidFill>
                  <a:srgbClr val="000000"/>
                </a:solidFill>
                <a:latin typeface="游ゴシック"/>
                <a:ea typeface="游ゴシック"/>
              </a:rPr>
              <a:t>≪純資産≫</a:t>
            </a:r>
          </a:p>
          <a:p>
            <a:pPr algn="l">
              <a:lnSpc>
                <a:spcPct val="105000"/>
              </a:lnSpc>
            </a:pPr>
            <a:r>
              <a:rPr sz="900" b="0" i="0">
                <a:solidFill>
                  <a:srgbClr val="000000"/>
                </a:solidFill>
                <a:latin typeface="游ゴシック"/>
                <a:ea typeface="游ゴシック"/>
              </a:rPr>
              <a:t>・簿価純資産49,288千円。建物を固定資産税評価額、土地を同評価額÷0.7で評価替えした場合の時価純資産は△81,442千円と試算。</a:t>
            </a:r>
          </a:p>
        </p:txBody>
      </p:sp>
      <p:sp>
        <p:nvSpPr>
          <p:cNvPr id="11" name="Rectangle 10"/>
          <p:cNvSpPr/>
          <p:nvPr/>
        </p:nvSpPr>
        <p:spPr>
          <a:xfrm>
            <a:off x="5120640" y="501091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2" name="TextBox 11"/>
          <p:cNvSpPr txBox="1"/>
          <p:nvPr/>
        </p:nvSpPr>
        <p:spPr>
          <a:xfrm>
            <a:off x="5230368" y="4983480"/>
            <a:ext cx="4462272" cy="237744"/>
          </a:xfrm>
          <a:prstGeom prst="rect">
            <a:avLst/>
          </a:prstGeom>
          <a:noFill/>
        </p:spPr>
        <p:txBody>
          <a:bodyPr wrap="square" anchor="t" lIns="18288" rIns="18288" tIns="18288" bIns="18288"/>
          <a:lstStyle/>
          <a:p>
            <a:pPr algn="l"/>
            <a:r>
              <a:rPr sz="1000" b="1" i="0">
                <a:solidFill>
                  <a:srgbClr val="0B3041"/>
                </a:solidFill>
                <a:latin typeface="游ゴシック"/>
                <a:ea typeface="游ゴシック"/>
              </a:rPr>
              <a:t>借入金・純資産の推移（千円）</a:t>
            </a:r>
          </a:p>
        </p:txBody>
      </p:sp>
      <p:graphicFrame>
        <p:nvGraphicFramePr>
          <p:cNvPr id="13" name="Chart 12"/>
          <p:cNvGraphicFramePr>
            <a:graphicFrameLocks noGrp="1"/>
          </p:cNvGraphicFramePr>
          <p:nvPr/>
        </p:nvGraphicFramePr>
        <p:xfrm>
          <a:off x="5120640" y="5230368"/>
          <a:ext cx="5212080" cy="1325880"/>
        </p:xfrm>
        <a:graphic>
          <a:graphicData uri="http://schemas.openxmlformats.org/drawingml/2006/chart">
            <c:chart xmlns:c="http://schemas.openxmlformats.org/drawingml/2006/chart" r:id="rId2"/>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包装資材・商品を仕入れ、越谷工場で製造した純氷を加工・袋詰めし、首都圏の食品卸・氷卸・業務用顧客へ配送。配送は自社便と運送会社への委託を併用する。</a:t>
            </a:r>
          </a:p>
        </p:txBody>
      </p:sp>
      <p:sp>
        <p:nvSpPr>
          <p:cNvPr id="3" name="Title 2"/>
          <p:cNvSpPr>
            <a:spLocks noGrp="1"/>
          </p:cNvSpPr>
          <p:nvPr>
            <p:ph type="ctrTitle"/>
          </p:nvPr>
        </p:nvSpPr>
        <p:spPr/>
        <p:txBody>
          <a:bodyPr/>
          <a:lstStyle/>
          <a:p>
            <a:r>
              <a:t>事業内容（商流）</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6" name="Rectangle 5"/>
          <p:cNvSpPr/>
          <p:nvPr/>
        </p:nvSpPr>
        <p:spPr>
          <a:xfrm>
            <a:off x="338328" y="1463040"/>
            <a:ext cx="2240280" cy="406908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cxnSp>
        <p:nvCxnSpPr>
          <p:cNvPr id="7" name="Connector 6"/>
          <p:cNvCxnSpPr/>
          <p:nvPr/>
        </p:nvCxnSpPr>
        <p:spPr>
          <a:xfrm>
            <a:off x="338328" y="1463040"/>
            <a:ext cx="2240280" cy="0"/>
          </a:xfrm>
          <a:prstGeom prst="line">
            <a:avLst/>
          </a:prstGeom>
          <a:ln w="38100">
            <a:solidFill>
              <a:srgbClr val="0B304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38328" y="1517904"/>
            <a:ext cx="2240280" cy="274320"/>
          </a:xfrm>
          <a:prstGeom prst="rect">
            <a:avLst/>
          </a:prstGeom>
          <a:noFill/>
        </p:spPr>
        <p:txBody>
          <a:bodyPr wrap="square" anchor="t" lIns="18288" rIns="18288" tIns="18288" bIns="18288"/>
          <a:lstStyle/>
          <a:p>
            <a:pPr algn="ctr"/>
            <a:r>
              <a:rPr sz="1300" b="1" i="0">
                <a:solidFill>
                  <a:srgbClr val="0B3041"/>
                </a:solidFill>
                <a:latin typeface="游ゴシック"/>
                <a:ea typeface="游ゴシック"/>
              </a:rPr>
              <a:t>主要仕入先</a:t>
            </a:r>
          </a:p>
        </p:txBody>
      </p:sp>
      <p:sp>
        <p:nvSpPr>
          <p:cNvPr id="9" name="Rectangle 8"/>
          <p:cNvSpPr/>
          <p:nvPr/>
        </p:nvSpPr>
        <p:spPr>
          <a:xfrm>
            <a:off x="2834640" y="1463040"/>
            <a:ext cx="4754880" cy="406908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cxnSp>
        <p:nvCxnSpPr>
          <p:cNvPr id="10" name="Connector 9"/>
          <p:cNvCxnSpPr/>
          <p:nvPr/>
        </p:nvCxnSpPr>
        <p:spPr>
          <a:xfrm>
            <a:off x="2834640" y="1463040"/>
            <a:ext cx="4754880" cy="0"/>
          </a:xfrm>
          <a:prstGeom prst="line">
            <a:avLst/>
          </a:prstGeom>
          <a:ln w="38100">
            <a:solidFill>
              <a:srgbClr val="0B304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834640" y="1517904"/>
            <a:ext cx="4754880" cy="274320"/>
          </a:xfrm>
          <a:prstGeom prst="rect">
            <a:avLst/>
          </a:prstGeom>
          <a:noFill/>
        </p:spPr>
        <p:txBody>
          <a:bodyPr wrap="square" anchor="t" lIns="18288" rIns="18288" tIns="18288" bIns="18288"/>
          <a:lstStyle/>
          <a:p>
            <a:pPr algn="ctr"/>
            <a:r>
              <a:rPr sz="1300" b="1" i="0">
                <a:solidFill>
                  <a:srgbClr val="0B3041"/>
                </a:solidFill>
                <a:latin typeface="游ゴシック"/>
                <a:ea typeface="游ゴシック"/>
              </a:rPr>
              <a:t>対象会社</a:t>
            </a:r>
          </a:p>
        </p:txBody>
      </p:sp>
      <p:sp>
        <p:nvSpPr>
          <p:cNvPr id="12" name="Rectangle 11"/>
          <p:cNvSpPr/>
          <p:nvPr/>
        </p:nvSpPr>
        <p:spPr>
          <a:xfrm>
            <a:off x="7818120" y="1463040"/>
            <a:ext cx="2514600" cy="406908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cxnSp>
        <p:nvCxnSpPr>
          <p:cNvPr id="13" name="Connector 12"/>
          <p:cNvCxnSpPr/>
          <p:nvPr/>
        </p:nvCxnSpPr>
        <p:spPr>
          <a:xfrm>
            <a:off x="7818120" y="1463040"/>
            <a:ext cx="2514600" cy="0"/>
          </a:xfrm>
          <a:prstGeom prst="line">
            <a:avLst/>
          </a:prstGeom>
          <a:ln w="38100">
            <a:solidFill>
              <a:srgbClr val="0B304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18120" y="1517904"/>
            <a:ext cx="2514600" cy="274320"/>
          </a:xfrm>
          <a:prstGeom prst="rect">
            <a:avLst/>
          </a:prstGeom>
          <a:noFill/>
        </p:spPr>
        <p:txBody>
          <a:bodyPr wrap="square" anchor="t" lIns="18288" rIns="18288" tIns="18288" bIns="18288"/>
          <a:lstStyle/>
          <a:p>
            <a:pPr algn="ctr"/>
            <a:r>
              <a:rPr sz="1300" b="1" i="0">
                <a:solidFill>
                  <a:srgbClr val="0B3041"/>
                </a:solidFill>
                <a:latin typeface="游ゴシック"/>
                <a:ea typeface="游ゴシック"/>
              </a:rPr>
              <a:t>主要販売先</a:t>
            </a:r>
          </a:p>
        </p:txBody>
      </p:sp>
      <p:sp>
        <p:nvSpPr>
          <p:cNvPr id="15" name="Rectangle 14"/>
          <p:cNvSpPr/>
          <p:nvPr/>
        </p:nvSpPr>
        <p:spPr>
          <a:xfrm>
            <a:off x="429768" y="1874519"/>
            <a:ext cx="2057400"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FFFFFF"/>
                </a:solidFill>
                <a:latin typeface="游ゴシック"/>
                <a:ea typeface="游ゴシック"/>
              </a:rPr>
              <a:t>包装資材（段ボール・袋）</a:t>
            </a:r>
          </a:p>
        </p:txBody>
      </p:sp>
      <p:sp>
        <p:nvSpPr>
          <p:cNvPr id="16" name="Rectangle 15"/>
          <p:cNvSpPr/>
          <p:nvPr/>
        </p:nvSpPr>
        <p:spPr>
          <a:xfrm>
            <a:off x="429768" y="2130552"/>
            <a:ext cx="205740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鈴木段ボール工業(株)</a:t>
            </a:r>
          </a:p>
          <a:p>
            <a:pPr algn="ctr"/>
            <a:r>
              <a:rPr sz="850" b="0" i="0">
                <a:solidFill>
                  <a:srgbClr val="000000"/>
                </a:solidFill>
                <a:latin typeface="游ゴシック"/>
                <a:ea typeface="游ゴシック"/>
              </a:rPr>
              <a:t>大三紙業(株)／(株)シモジマ</a:t>
            </a:r>
          </a:p>
          <a:p>
            <a:pPr algn="ctr"/>
            <a:r>
              <a:rPr sz="850" b="0" i="0">
                <a:solidFill>
                  <a:srgbClr val="000000"/>
                </a:solidFill>
                <a:latin typeface="游ゴシック"/>
                <a:ea typeface="游ゴシック"/>
              </a:rPr>
              <a:t>(株)一陽パック</a:t>
            </a:r>
          </a:p>
        </p:txBody>
      </p:sp>
      <p:sp>
        <p:nvSpPr>
          <p:cNvPr id="17" name="Rectangle 16"/>
          <p:cNvSpPr/>
          <p:nvPr/>
        </p:nvSpPr>
        <p:spPr>
          <a:xfrm>
            <a:off x="429768" y="3063239"/>
            <a:ext cx="2057400"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FFFFFF"/>
                </a:solidFill>
                <a:latin typeface="游ゴシック"/>
                <a:ea typeface="游ゴシック"/>
              </a:rPr>
              <a:t>商品（ドライアイス等）</a:t>
            </a:r>
          </a:p>
        </p:txBody>
      </p:sp>
      <p:sp>
        <p:nvSpPr>
          <p:cNvPr id="18" name="Rectangle 17"/>
          <p:cNvSpPr/>
          <p:nvPr/>
        </p:nvSpPr>
        <p:spPr>
          <a:xfrm>
            <a:off x="429768" y="3319272"/>
            <a:ext cx="205740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日本液炭(株)</a:t>
            </a:r>
          </a:p>
        </p:txBody>
      </p:sp>
      <p:sp>
        <p:nvSpPr>
          <p:cNvPr id="19" name="Rectangle 18"/>
          <p:cNvSpPr/>
          <p:nvPr/>
        </p:nvSpPr>
        <p:spPr>
          <a:xfrm>
            <a:off x="429768" y="4251960"/>
            <a:ext cx="2057400"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FFFFFF"/>
                </a:solidFill>
                <a:latin typeface="游ゴシック"/>
                <a:ea typeface="游ゴシック"/>
              </a:rPr>
              <a:t>原水・電力</a:t>
            </a:r>
          </a:p>
        </p:txBody>
      </p:sp>
      <p:sp>
        <p:nvSpPr>
          <p:cNvPr id="20" name="Rectangle 19"/>
          <p:cNvSpPr/>
          <p:nvPr/>
        </p:nvSpPr>
        <p:spPr>
          <a:xfrm>
            <a:off x="429768" y="4507992"/>
            <a:ext cx="205740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越谷松伏水道企業団</a:t>
            </a:r>
          </a:p>
          <a:p>
            <a:pPr algn="ctr"/>
            <a:r>
              <a:rPr sz="850" b="0" i="0">
                <a:solidFill>
                  <a:srgbClr val="000000"/>
                </a:solidFill>
                <a:latin typeface="游ゴシック"/>
                <a:ea typeface="游ゴシック"/>
              </a:rPr>
              <a:t>新電力（電力小売）</a:t>
            </a:r>
          </a:p>
        </p:txBody>
      </p:sp>
      <p:sp>
        <p:nvSpPr>
          <p:cNvPr id="21" name="Rectangle 20"/>
          <p:cNvSpPr/>
          <p:nvPr/>
        </p:nvSpPr>
        <p:spPr>
          <a:xfrm>
            <a:off x="7909560" y="1874519"/>
            <a:ext cx="2331720"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FFFFFF"/>
                </a:solidFill>
                <a:latin typeface="游ゴシック"/>
                <a:ea typeface="游ゴシック"/>
              </a:rPr>
              <a:t>食品卸</a:t>
            </a:r>
          </a:p>
        </p:txBody>
      </p:sp>
      <p:sp>
        <p:nvSpPr>
          <p:cNvPr id="22" name="Rectangle 21"/>
          <p:cNvSpPr/>
          <p:nvPr/>
        </p:nvSpPr>
        <p:spPr>
          <a:xfrm>
            <a:off x="7909560" y="2130552"/>
            <a:ext cx="2331720"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(株)日本アクセス</a:t>
            </a:r>
          </a:p>
          <a:p>
            <a:pPr algn="ctr"/>
            <a:r>
              <a:rPr sz="850" b="0" i="0">
                <a:solidFill>
                  <a:srgbClr val="000000"/>
                </a:solidFill>
                <a:latin typeface="游ゴシック"/>
                <a:ea typeface="游ゴシック"/>
              </a:rPr>
              <a:t>三菱食品(株)</a:t>
            </a:r>
          </a:p>
          <a:p>
            <a:pPr algn="ctr"/>
            <a:r>
              <a:rPr sz="850" b="0" i="0">
                <a:solidFill>
                  <a:srgbClr val="000000"/>
                </a:solidFill>
                <a:latin typeface="游ゴシック"/>
                <a:ea typeface="游ゴシック"/>
              </a:rPr>
              <a:t>(株)日本橋冷凍手島商店</a:t>
            </a:r>
          </a:p>
          <a:p>
            <a:pPr algn="ctr"/>
            <a:r>
              <a:rPr sz="850" b="0" i="0">
                <a:solidFill>
                  <a:srgbClr val="000000"/>
                </a:solidFill>
                <a:latin typeface="游ゴシック"/>
                <a:ea typeface="游ゴシック"/>
              </a:rPr>
              <a:t>金木屋商事(株)</a:t>
            </a:r>
          </a:p>
        </p:txBody>
      </p:sp>
      <p:sp>
        <p:nvSpPr>
          <p:cNvPr id="23" name="Rectangle 22"/>
          <p:cNvSpPr/>
          <p:nvPr/>
        </p:nvSpPr>
        <p:spPr>
          <a:xfrm>
            <a:off x="7909560" y="3200400"/>
            <a:ext cx="2331720"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FFFFFF"/>
                </a:solidFill>
                <a:latin typeface="游ゴシック"/>
                <a:ea typeface="游ゴシック"/>
              </a:rPr>
              <a:t>氷卸・業務用</a:t>
            </a:r>
          </a:p>
        </p:txBody>
      </p:sp>
      <p:sp>
        <p:nvSpPr>
          <p:cNvPr id="24" name="Rectangle 23"/>
          <p:cNvSpPr/>
          <p:nvPr/>
        </p:nvSpPr>
        <p:spPr>
          <a:xfrm>
            <a:off x="7909560" y="3456432"/>
            <a:ext cx="233172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(株)クールテックサガワ</a:t>
            </a:r>
          </a:p>
          <a:p>
            <a:pPr algn="ctr"/>
            <a:r>
              <a:rPr sz="850" b="0" i="0">
                <a:solidFill>
                  <a:srgbClr val="000000"/>
                </a:solidFill>
                <a:latin typeface="游ゴシック"/>
                <a:ea typeface="游ゴシック"/>
              </a:rPr>
              <a:t>(株)ニチレイ・アイス</a:t>
            </a:r>
          </a:p>
          <a:p>
            <a:pPr algn="ctr"/>
            <a:r>
              <a:rPr sz="850" b="0" i="0">
                <a:solidFill>
                  <a:srgbClr val="000000"/>
                </a:solidFill>
                <a:latin typeface="游ゴシック"/>
                <a:ea typeface="游ゴシック"/>
              </a:rPr>
              <a:t>(株)小野田商店</a:t>
            </a:r>
          </a:p>
        </p:txBody>
      </p:sp>
      <p:sp>
        <p:nvSpPr>
          <p:cNvPr id="25" name="Rectangle 24"/>
          <p:cNvSpPr/>
          <p:nvPr/>
        </p:nvSpPr>
        <p:spPr>
          <a:xfrm>
            <a:off x="7909560" y="4297679"/>
            <a:ext cx="2331720" cy="25603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FFFFFF"/>
                </a:solidFill>
                <a:latin typeface="游ゴシック"/>
                <a:ea typeface="游ゴシック"/>
              </a:rPr>
              <a:t>その他</a:t>
            </a:r>
          </a:p>
        </p:txBody>
      </p:sp>
      <p:sp>
        <p:nvSpPr>
          <p:cNvPr id="26" name="Rectangle 25"/>
          <p:cNvSpPr/>
          <p:nvPr/>
        </p:nvSpPr>
        <p:spPr>
          <a:xfrm>
            <a:off x="7909560" y="4553712"/>
            <a:ext cx="233172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スーパー・飲食店・イベント等</a:t>
            </a:r>
          </a:p>
        </p:txBody>
      </p:sp>
      <p:sp>
        <p:nvSpPr>
          <p:cNvPr id="27" name="Rectangle 26"/>
          <p:cNvSpPr/>
          <p:nvPr/>
        </p:nvSpPr>
        <p:spPr>
          <a:xfrm>
            <a:off x="2971800" y="1874519"/>
            <a:ext cx="448056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FFFFFF"/>
                </a:solidFill>
                <a:latin typeface="游ゴシック"/>
                <a:ea typeface="游ゴシック"/>
              </a:rPr>
              <a:t>越谷工場（埼玉県越谷市・平方工業団地）</a:t>
            </a:r>
          </a:p>
        </p:txBody>
      </p:sp>
      <p:sp>
        <p:nvSpPr>
          <p:cNvPr id="28" name="Rectangle 27"/>
          <p:cNvSpPr/>
          <p:nvPr/>
        </p:nvSpPr>
        <p:spPr>
          <a:xfrm>
            <a:off x="3017520" y="2240280"/>
            <a:ext cx="822960" cy="56692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0B3041"/>
                </a:solidFill>
                <a:latin typeface="游ゴシック"/>
                <a:ea typeface="游ゴシック"/>
              </a:rPr>
              <a:t>純水製造</a:t>
            </a:r>
          </a:p>
        </p:txBody>
      </p:sp>
      <p:sp>
        <p:nvSpPr>
          <p:cNvPr id="29" name="Right Arrow 28"/>
          <p:cNvSpPr/>
          <p:nvPr/>
        </p:nvSpPr>
        <p:spPr>
          <a:xfrm>
            <a:off x="3840480" y="2450592"/>
            <a:ext cx="64008" cy="128016"/>
          </a:xfrm>
          <a:prstGeom prst="rightArrow">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30" name="Rectangle 29"/>
          <p:cNvSpPr/>
          <p:nvPr/>
        </p:nvSpPr>
        <p:spPr>
          <a:xfrm>
            <a:off x="3904487" y="2240280"/>
            <a:ext cx="822960" cy="56692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0B3041"/>
                </a:solidFill>
                <a:latin typeface="游ゴシック"/>
                <a:ea typeface="游ゴシック"/>
              </a:rPr>
              <a:t>アイス缶</a:t>
            </a:r>
          </a:p>
          <a:p>
            <a:pPr algn="ctr"/>
            <a:r>
              <a:rPr sz="850" b="1" i="0">
                <a:solidFill>
                  <a:srgbClr val="0B3041"/>
                </a:solidFill>
                <a:latin typeface="游ゴシック"/>
                <a:ea typeface="游ゴシック"/>
              </a:rPr>
              <a:t>凍結</a:t>
            </a:r>
          </a:p>
        </p:txBody>
      </p:sp>
      <p:sp>
        <p:nvSpPr>
          <p:cNvPr id="31" name="Right Arrow 30"/>
          <p:cNvSpPr/>
          <p:nvPr/>
        </p:nvSpPr>
        <p:spPr>
          <a:xfrm>
            <a:off x="4727448" y="2450592"/>
            <a:ext cx="64008" cy="128016"/>
          </a:xfrm>
          <a:prstGeom prst="rightArrow">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32" name="Rectangle 31"/>
          <p:cNvSpPr/>
          <p:nvPr/>
        </p:nvSpPr>
        <p:spPr>
          <a:xfrm>
            <a:off x="4791456" y="2240280"/>
            <a:ext cx="822960" cy="56692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0B3041"/>
                </a:solidFill>
                <a:latin typeface="游ゴシック"/>
                <a:ea typeface="游ゴシック"/>
              </a:rPr>
              <a:t>揚氷</a:t>
            </a:r>
          </a:p>
          <a:p>
            <a:pPr algn="ctr"/>
            <a:r>
              <a:rPr sz="850" b="1" i="0">
                <a:solidFill>
                  <a:srgbClr val="0B3041"/>
                </a:solidFill>
                <a:latin typeface="游ゴシック"/>
                <a:ea typeface="游ゴシック"/>
              </a:rPr>
              <a:t>（角氷）</a:t>
            </a:r>
          </a:p>
        </p:txBody>
      </p:sp>
      <p:sp>
        <p:nvSpPr>
          <p:cNvPr id="33" name="Right Arrow 32"/>
          <p:cNvSpPr/>
          <p:nvPr/>
        </p:nvSpPr>
        <p:spPr>
          <a:xfrm>
            <a:off x="5614416" y="2450592"/>
            <a:ext cx="64008" cy="128016"/>
          </a:xfrm>
          <a:prstGeom prst="rightArrow">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34" name="Rectangle 33"/>
          <p:cNvSpPr/>
          <p:nvPr/>
        </p:nvSpPr>
        <p:spPr>
          <a:xfrm>
            <a:off x="5678424" y="2240280"/>
            <a:ext cx="822960" cy="56692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0B3041"/>
                </a:solidFill>
                <a:latin typeface="游ゴシック"/>
                <a:ea typeface="游ゴシック"/>
              </a:rPr>
              <a:t>加工・袋詰</a:t>
            </a:r>
          </a:p>
        </p:txBody>
      </p:sp>
      <p:sp>
        <p:nvSpPr>
          <p:cNvPr id="35" name="Right Arrow 34"/>
          <p:cNvSpPr/>
          <p:nvPr/>
        </p:nvSpPr>
        <p:spPr>
          <a:xfrm>
            <a:off x="6501384" y="2450592"/>
            <a:ext cx="64008" cy="128016"/>
          </a:xfrm>
          <a:prstGeom prst="rightArrow">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36" name="Rectangle 35"/>
          <p:cNvSpPr/>
          <p:nvPr/>
        </p:nvSpPr>
        <p:spPr>
          <a:xfrm>
            <a:off x="6565392" y="2240280"/>
            <a:ext cx="822960" cy="566928"/>
          </a:xfrm>
          <a:prstGeom prst="rect">
            <a:avLst/>
          </a:prstGeom>
          <a:solidFill>
            <a:srgbClr val="FFFFFF"/>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0B3041"/>
                </a:solidFill>
                <a:latin typeface="游ゴシック"/>
                <a:ea typeface="游ゴシック"/>
              </a:rPr>
              <a:t>冷蔵保管</a:t>
            </a:r>
          </a:p>
        </p:txBody>
      </p:sp>
      <p:sp>
        <p:nvSpPr>
          <p:cNvPr id="37" name="TextBox 36"/>
          <p:cNvSpPr txBox="1"/>
          <p:nvPr/>
        </p:nvSpPr>
        <p:spPr>
          <a:xfrm>
            <a:off x="3017520" y="2852928"/>
            <a:ext cx="4389120" cy="365760"/>
          </a:xfrm>
          <a:prstGeom prst="rect">
            <a:avLst/>
          </a:prstGeom>
          <a:noFill/>
        </p:spPr>
        <p:txBody>
          <a:bodyPr wrap="square" anchor="t" lIns="18288" rIns="18288" tIns="18288" bIns="18288"/>
          <a:lstStyle/>
          <a:p>
            <a:pPr algn="ctr"/>
            <a:r>
              <a:rPr sz="800" b="0" i="0">
                <a:solidFill>
                  <a:srgbClr val="404040"/>
                </a:solidFill>
                <a:latin typeface="游ゴシック"/>
                <a:ea typeface="游ゴシック"/>
              </a:rPr>
              <a:t>製氷設備4台（日産40トン）・袋詰砕氷設備（日産2,500ケース）・冷蔵設備（F級1,000トン）</a:t>
            </a:r>
          </a:p>
        </p:txBody>
      </p:sp>
      <p:sp>
        <p:nvSpPr>
          <p:cNvPr id="38" name="Rectangle 37"/>
          <p:cNvSpPr/>
          <p:nvPr/>
        </p:nvSpPr>
        <p:spPr>
          <a:xfrm>
            <a:off x="2971800" y="3291840"/>
            <a:ext cx="219456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1" i="0">
                <a:solidFill>
                  <a:srgbClr val="FFFFFF"/>
                </a:solidFill>
                <a:latin typeface="游ゴシック"/>
                <a:ea typeface="游ゴシック"/>
              </a:rPr>
              <a:t>松戸営業所（千葉県松戸市）</a:t>
            </a:r>
          </a:p>
        </p:txBody>
      </p:sp>
      <p:sp>
        <p:nvSpPr>
          <p:cNvPr id="39" name="Rectangle 38"/>
          <p:cNvSpPr/>
          <p:nvPr/>
        </p:nvSpPr>
        <p:spPr>
          <a:xfrm>
            <a:off x="2971800" y="3566160"/>
            <a:ext cx="21945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角氷・加工氷・凍氷雑品の販売拠点</a:t>
            </a:r>
          </a:p>
          <a:p>
            <a:pPr algn="ctr"/>
            <a:r>
              <a:rPr sz="850" b="0" i="0">
                <a:solidFill>
                  <a:srgbClr val="000000"/>
                </a:solidFill>
                <a:latin typeface="游ゴシック"/>
                <a:ea typeface="游ゴシック"/>
              </a:rPr>
              <a:t>従業員5名</a:t>
            </a:r>
          </a:p>
        </p:txBody>
      </p:sp>
      <p:sp>
        <p:nvSpPr>
          <p:cNvPr id="40" name="Rectangle 39"/>
          <p:cNvSpPr/>
          <p:nvPr/>
        </p:nvSpPr>
        <p:spPr>
          <a:xfrm>
            <a:off x="5257800" y="3291840"/>
            <a:ext cx="219456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00" b="1" i="0">
                <a:solidFill>
                  <a:srgbClr val="FFFFFF"/>
                </a:solidFill>
                <a:latin typeface="游ゴシック"/>
                <a:ea typeface="游ゴシック"/>
              </a:rPr>
              <a:t>商品販売・冷蔵保管</a:t>
            </a:r>
          </a:p>
        </p:txBody>
      </p:sp>
      <p:sp>
        <p:nvSpPr>
          <p:cNvPr id="41" name="Rectangle 40"/>
          <p:cNvSpPr/>
          <p:nvPr/>
        </p:nvSpPr>
        <p:spPr>
          <a:xfrm>
            <a:off x="5257800" y="3566160"/>
            <a:ext cx="21945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ドライアイス等の商品販売</a:t>
            </a:r>
          </a:p>
          <a:p>
            <a:pPr algn="ctr"/>
            <a:r>
              <a:rPr sz="850" b="0" i="0">
                <a:solidFill>
                  <a:srgbClr val="000000"/>
                </a:solidFill>
                <a:latin typeface="游ゴシック"/>
                <a:ea typeface="游ゴシック"/>
              </a:rPr>
              <a:t>冷蔵庫での寄託物品の保管</a:t>
            </a:r>
          </a:p>
        </p:txBody>
      </p:sp>
      <p:graphicFrame>
        <p:nvGraphicFramePr>
          <p:cNvPr id="42" name="Table 41"/>
          <p:cNvGraphicFramePr>
            <a:graphicFrameLocks noGrp="1"/>
          </p:cNvGraphicFramePr>
          <p:nvPr/>
        </p:nvGraphicFramePr>
        <p:xfrm>
          <a:off x="2971800" y="4251960"/>
          <a:ext cx="4480560" cy="713232"/>
        </p:xfrm>
        <a:graphic>
          <a:graphicData uri="http://schemas.openxmlformats.org/drawingml/2006/table">
            <a:tbl>
              <a:tblPr firstRow="0" bandRow="0">
                <a:tableStyleId>{5940675A-B579-460E-94D1-54222C63F5DA}</a:tableStyleId>
              </a:tblPr>
              <a:tblGrid>
                <a:gridCol w="2194560"/>
                <a:gridCol w="1188720"/>
                <a:gridCol w="1097280"/>
              </a:tblGrid>
              <a:tr h="237744">
                <a:tc>
                  <a:txBody>
                    <a:bodyPr wrap="square"/>
                    <a:lstStyle/>
                    <a:p>
                      <a:pPr algn="ctr"/>
                      <a:r>
                        <a:rPr sz="850" b="1" i="0">
                          <a:solidFill>
                            <a:srgbClr val="FFFFFF"/>
                          </a:solidFill>
                          <a:latin typeface="游ゴシック"/>
                          <a:ea typeface="游ゴシック"/>
                        </a:rPr>
                        <a:t>拠点別売上（26/3期）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構成比</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37744">
                <a:tc>
                  <a:txBody>
                    <a:bodyPr wrap="square"/>
                    <a:lstStyle/>
                    <a:p>
                      <a:pPr algn="l"/>
                      <a:r>
                        <a:rPr sz="850" b="0" i="0">
                          <a:solidFill>
                            <a:srgbClr val="000000"/>
                          </a:solidFill>
                          <a:latin typeface="游ゴシック"/>
                          <a:ea typeface="游ゴシック"/>
                        </a:rPr>
                        <a:t>越谷工場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358,456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37744">
                <a:tc>
                  <a:txBody>
                    <a:bodyPr wrap="square"/>
                    <a:lstStyle/>
                    <a:p>
                      <a:pPr algn="l"/>
                      <a:r>
                        <a:rPr sz="850" b="0" i="0">
                          <a:solidFill>
                            <a:srgbClr val="000000"/>
                          </a:solidFill>
                          <a:latin typeface="游ゴシック"/>
                          <a:ea typeface="游ゴシック"/>
                        </a:rPr>
                        <a:t>松戸営業所</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47,508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43" name="TextBox 42"/>
          <p:cNvSpPr txBox="1"/>
          <p:nvPr/>
        </p:nvSpPr>
        <p:spPr>
          <a:xfrm>
            <a:off x="2971800" y="5010912"/>
            <a:ext cx="4480560" cy="411480"/>
          </a:xfrm>
          <a:prstGeom prst="rect">
            <a:avLst/>
          </a:prstGeom>
          <a:noFill/>
        </p:spPr>
        <p:txBody>
          <a:bodyPr wrap="square" anchor="t" lIns="18288" rIns="18288" tIns="18288" bIns="18288"/>
          <a:lstStyle/>
          <a:p>
            <a:pPr algn="l"/>
            <a:r>
              <a:rPr sz="750" b="0" i="0">
                <a:solidFill>
                  <a:srgbClr val="404040"/>
                </a:solidFill>
                <a:latin typeface="游ゴシック"/>
                <a:ea typeface="游ゴシック"/>
              </a:rPr>
              <a:t>出所：売上高等の事業所別内訳書（第67期）。登記上の本店（越谷市蒲生寿町）は管理のみ</a:t>
            </a:r>
          </a:p>
        </p:txBody>
      </p:sp>
      <p:sp>
        <p:nvSpPr>
          <p:cNvPr id="44" name="Right Arrow 43"/>
          <p:cNvSpPr/>
          <p:nvPr/>
        </p:nvSpPr>
        <p:spPr>
          <a:xfrm>
            <a:off x="2596896" y="2971800"/>
            <a:ext cx="219456" cy="329184"/>
          </a:xfrm>
          <a:prstGeom prst="rightArrow">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45" name="TextBox 44"/>
          <p:cNvSpPr txBox="1"/>
          <p:nvPr/>
        </p:nvSpPr>
        <p:spPr>
          <a:xfrm>
            <a:off x="2587752" y="2057400"/>
            <a:ext cx="237744" cy="822960"/>
          </a:xfrm>
          <a:prstGeom prst="rect">
            <a:avLst/>
          </a:prstGeom>
          <a:noFill/>
        </p:spPr>
        <p:txBody>
          <a:bodyPr wrap="square" anchor="t" lIns="18288" rIns="18288" tIns="18288" bIns="18288"/>
          <a:lstStyle/>
          <a:p>
            <a:pPr algn="ctr"/>
            <a:r>
              <a:rPr sz="850" b="1" i="0">
                <a:solidFill>
                  <a:srgbClr val="0889C9"/>
                </a:solidFill>
                <a:latin typeface="游ゴシック"/>
                <a:ea typeface="游ゴシック"/>
              </a:rPr>
              <a:t>仕</a:t>
            </a:r>
          </a:p>
          <a:p>
            <a:pPr algn="ctr"/>
            <a:r>
              <a:rPr sz="850" b="1" i="0">
                <a:solidFill>
                  <a:srgbClr val="0889C9"/>
                </a:solidFill>
                <a:latin typeface="游ゴシック"/>
                <a:ea typeface="游ゴシック"/>
              </a:rPr>
              <a:t>入</a:t>
            </a:r>
          </a:p>
        </p:txBody>
      </p:sp>
      <p:sp>
        <p:nvSpPr>
          <p:cNvPr id="46" name="Right Arrow 45"/>
          <p:cNvSpPr/>
          <p:nvPr/>
        </p:nvSpPr>
        <p:spPr>
          <a:xfrm>
            <a:off x="7598664" y="2971800"/>
            <a:ext cx="219456" cy="329184"/>
          </a:xfrm>
          <a:prstGeom prst="rightArrow">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47" name="TextBox 46"/>
          <p:cNvSpPr txBox="1"/>
          <p:nvPr/>
        </p:nvSpPr>
        <p:spPr>
          <a:xfrm>
            <a:off x="7589520" y="2057400"/>
            <a:ext cx="237744" cy="822960"/>
          </a:xfrm>
          <a:prstGeom prst="rect">
            <a:avLst/>
          </a:prstGeom>
          <a:noFill/>
        </p:spPr>
        <p:txBody>
          <a:bodyPr wrap="square" anchor="t" lIns="18288" rIns="18288" tIns="18288" bIns="18288"/>
          <a:lstStyle/>
          <a:p>
            <a:pPr algn="ctr"/>
            <a:r>
              <a:rPr sz="850" b="1" i="0">
                <a:solidFill>
                  <a:srgbClr val="0889C9"/>
                </a:solidFill>
                <a:latin typeface="游ゴシック"/>
                <a:ea typeface="游ゴシック"/>
              </a:rPr>
              <a:t>販</a:t>
            </a:r>
          </a:p>
          <a:p>
            <a:pPr algn="ctr"/>
            <a:r>
              <a:rPr sz="850" b="1" i="0">
                <a:solidFill>
                  <a:srgbClr val="0889C9"/>
                </a:solidFill>
                <a:latin typeface="游ゴシック"/>
                <a:ea typeface="游ゴシック"/>
              </a:rPr>
              <a:t>売</a:t>
            </a:r>
          </a:p>
        </p:txBody>
      </p:sp>
      <p:sp>
        <p:nvSpPr>
          <p:cNvPr id="48" name="Rectangle 47"/>
          <p:cNvSpPr/>
          <p:nvPr/>
        </p:nvSpPr>
        <p:spPr>
          <a:xfrm>
            <a:off x="2834640" y="5669280"/>
            <a:ext cx="4754880" cy="82296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cxnSp>
        <p:nvCxnSpPr>
          <p:cNvPr id="49" name="Connector 48"/>
          <p:cNvCxnSpPr/>
          <p:nvPr/>
        </p:nvCxnSpPr>
        <p:spPr>
          <a:xfrm>
            <a:off x="2834640" y="5669280"/>
            <a:ext cx="4754880" cy="0"/>
          </a:xfrm>
          <a:prstGeom prst="line">
            <a:avLst/>
          </a:prstGeom>
          <a:ln w="38100">
            <a:solidFill>
              <a:srgbClr val="0B3041"/>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834640" y="5696712"/>
            <a:ext cx="4754880" cy="237744"/>
          </a:xfrm>
          <a:prstGeom prst="rect">
            <a:avLst/>
          </a:prstGeom>
          <a:noFill/>
        </p:spPr>
        <p:txBody>
          <a:bodyPr wrap="square" anchor="t" lIns="18288" rIns="18288" tIns="18288" bIns="18288"/>
          <a:lstStyle/>
          <a:p>
            <a:pPr algn="ctr"/>
            <a:r>
              <a:rPr sz="1100" b="1" i="0">
                <a:solidFill>
                  <a:srgbClr val="0B3041"/>
                </a:solidFill>
                <a:latin typeface="游ゴシック"/>
                <a:ea typeface="游ゴシック"/>
              </a:rPr>
              <a:t>主要外注・委託先</a:t>
            </a:r>
          </a:p>
        </p:txBody>
      </p:sp>
      <p:sp>
        <p:nvSpPr>
          <p:cNvPr id="51" name="TextBox 50"/>
          <p:cNvSpPr txBox="1"/>
          <p:nvPr/>
        </p:nvSpPr>
        <p:spPr>
          <a:xfrm>
            <a:off x="2926080" y="5961888"/>
            <a:ext cx="4572000" cy="502920"/>
          </a:xfrm>
          <a:prstGeom prst="rect">
            <a:avLst/>
          </a:prstGeom>
          <a:noFill/>
        </p:spPr>
        <p:txBody>
          <a:bodyPr wrap="square" anchor="t" lIns="18288" rIns="18288" tIns="18288" bIns="18288"/>
          <a:lstStyle/>
          <a:p>
            <a:pPr algn="l"/>
            <a:r>
              <a:rPr sz="850" b="0" i="0">
                <a:solidFill>
                  <a:srgbClr val="000000"/>
                </a:solidFill>
                <a:latin typeface="游ゴシック"/>
                <a:ea typeface="游ゴシック"/>
              </a:rPr>
              <a:t>配送委託：倉橋運送・鴻池運輸(株) 等（運賃 26/3期 27,570千円）</a:t>
            </a:r>
          </a:p>
          <a:p>
            <a:pPr algn="l"/>
            <a:r>
              <a:rPr sz="850" b="0" i="0">
                <a:solidFill>
                  <a:srgbClr val="000000"/>
                </a:solidFill>
                <a:latin typeface="游ゴシック"/>
                <a:ea typeface="游ゴシック"/>
              </a:rPr>
              <a:t>人材派遣：(株)ヒューマンアイ・(株)スタッフサービス 等（繁忙期の製造要員）</a:t>
            </a:r>
          </a:p>
        </p:txBody>
      </p:sp>
      <p:sp>
        <p:nvSpPr>
          <p:cNvPr id="52" name="Isosceles Triangle 51"/>
          <p:cNvSpPr/>
          <p:nvPr/>
        </p:nvSpPr>
        <p:spPr>
          <a:xfrm rot="5400000">
            <a:off x="5074920" y="5550408"/>
            <a:ext cx="274320" cy="118872"/>
          </a:xfrm>
          <a:prstGeom prst="triangl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53" name="TextBox 52"/>
          <p:cNvSpPr txBox="1"/>
          <p:nvPr/>
        </p:nvSpPr>
        <p:spPr>
          <a:xfrm>
            <a:off x="7818120" y="5669280"/>
            <a:ext cx="2514600" cy="822960"/>
          </a:xfrm>
          <a:prstGeom prst="rect">
            <a:avLst/>
          </a:prstGeom>
          <a:noFill/>
        </p:spPr>
        <p:txBody>
          <a:bodyPr wrap="square" anchor="t" lIns="18288" rIns="18288" tIns="18288" bIns="18288"/>
          <a:lstStyle/>
          <a:p>
            <a:pPr algn="l"/>
            <a:r>
              <a:rPr sz="800" b="0" i="0">
                <a:solidFill>
                  <a:srgbClr val="404040"/>
                </a:solidFill>
                <a:latin typeface="游ゴシック"/>
                <a:ea typeface="游ゴシック"/>
              </a:rPr>
              <a:t>【取引条件】</a:t>
            </a:r>
          </a:p>
          <a:p>
            <a:pPr algn="l"/>
            <a:r>
              <a:rPr sz="800" b="0" i="0">
                <a:solidFill>
                  <a:srgbClr val="404040"/>
                </a:solidFill>
                <a:latin typeface="游ゴシック"/>
                <a:ea typeface="游ゴシック"/>
              </a:rPr>
              <a:t>販売：月末締め翌月末回収（掛売99%）</a:t>
            </a:r>
          </a:p>
          <a:p>
            <a:pPr algn="l"/>
            <a:r>
              <a:rPr sz="800" b="0" i="0">
                <a:solidFill>
                  <a:srgbClr val="404040"/>
                </a:solidFill>
                <a:latin typeface="游ゴシック"/>
                <a:ea typeface="游ゴシック"/>
              </a:rPr>
              <a:t>仕入・外注：月末締め翌月20日払い</a:t>
            </a:r>
          </a:p>
        </p:txBody>
      </p:sp>
      <p:sp>
        <p:nvSpPr>
          <p:cNvPr id="54" name="TextBox 53"/>
          <p:cNvSpPr txBox="1"/>
          <p:nvPr/>
        </p:nvSpPr>
        <p:spPr>
          <a:xfrm>
            <a:off x="338328" y="5669280"/>
            <a:ext cx="2240280" cy="822960"/>
          </a:xfrm>
          <a:prstGeom prst="rect">
            <a:avLst/>
          </a:prstGeom>
          <a:noFill/>
        </p:spPr>
        <p:txBody>
          <a:bodyPr wrap="square" anchor="t" lIns="18288" rIns="18288" tIns="18288" bIns="18288"/>
          <a:lstStyle/>
          <a:p>
            <a:pPr algn="l"/>
            <a:r>
              <a:rPr sz="750" b="0" i="0">
                <a:solidFill>
                  <a:srgbClr val="404040"/>
                </a:solidFill>
                <a:latin typeface="游ゴシック"/>
                <a:ea typeface="游ゴシック"/>
              </a:rPr>
              <a:t>※(株)日本橋冷凍手島商店は販売先かつ資材の仕入先。</a:t>
            </a:r>
          </a:p>
          <a:p>
            <a:pPr algn="l"/>
            <a:r>
              <a:rPr sz="750" b="0" i="0">
                <a:solidFill>
                  <a:srgbClr val="404040"/>
                </a:solidFill>
                <a:latin typeface="游ゴシック"/>
                <a:ea typeface="游ゴシック"/>
              </a:rPr>
              <a:t>※(株)小野田商店との資本・人的関係は要確認。</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ろ過した純水をアイス缶に注ぎ、低温のブラインで約48時間かけてゆっくり凍らせる伝統製法を採用。空気で撹拌しながら不純物を中心に集めて除去するため、透明度が高く硬く溶けにくい純氷ができる。</a:t>
            </a:r>
          </a:p>
        </p:txBody>
      </p:sp>
      <p:sp>
        <p:nvSpPr>
          <p:cNvPr id="3" name="Title 2"/>
          <p:cNvSpPr>
            <a:spLocks noGrp="1"/>
          </p:cNvSpPr>
          <p:nvPr>
            <p:ph type="ctrTitle"/>
          </p:nvPr>
        </p:nvSpPr>
        <p:spPr/>
        <p:txBody>
          <a:bodyPr/>
          <a:lstStyle/>
          <a:p>
            <a:r>
              <a:t>純氷の製造工程</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6" name="Pentagon 5"/>
          <p:cNvSpPr/>
          <p:nvPr/>
        </p:nvSpPr>
        <p:spPr>
          <a:xfrm>
            <a:off x="338328" y="1508760"/>
            <a:ext cx="1627632" cy="438912"/>
          </a:xfrm>
          <a:prstGeom prst="homePlate">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FFFFFF"/>
                </a:solidFill>
                <a:latin typeface="游ゴシック"/>
                <a:ea typeface="游ゴシック"/>
              </a:rPr>
              <a:t>① 原水・純水製造</a:t>
            </a:r>
          </a:p>
        </p:txBody>
      </p:sp>
      <p:sp>
        <p:nvSpPr>
          <p:cNvPr id="7" name="Rectangle 6"/>
          <p:cNvSpPr/>
          <p:nvPr/>
        </p:nvSpPr>
        <p:spPr>
          <a:xfrm>
            <a:off x="384048" y="2057400"/>
            <a:ext cx="1508760" cy="109728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原水・純水製造（king-ice.com/junhyo.html）</a:t>
            </a:r>
          </a:p>
          <a:p>
            <a:pPr algn="ctr"/>
            <a:r>
              <a:rPr sz="700" b="0" i="0">
                <a:solidFill>
                  <a:srgbClr val="0889C9"/>
                </a:solidFill>
                <a:latin typeface="游ゴシック"/>
                <a:ea typeface="游ゴシック"/>
              </a:rPr>
              <a:t>画像/proc_1.jpg を置いて再生成</a:t>
            </a:r>
          </a:p>
        </p:txBody>
      </p:sp>
      <p:sp>
        <p:nvSpPr>
          <p:cNvPr id="8" name="Rectangle 7"/>
          <p:cNvSpPr/>
          <p:nvPr/>
        </p:nvSpPr>
        <p:spPr>
          <a:xfrm>
            <a:off x="384048" y="3246120"/>
            <a:ext cx="1508760" cy="123444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36576" tIns="36576" bIns="36576"/>
          <a:lstStyle/>
          <a:p>
            <a:pPr algn="l"/>
            <a:r>
              <a:rPr sz="850" b="0" i="0">
                <a:solidFill>
                  <a:srgbClr val="000000"/>
                </a:solidFill>
                <a:latin typeface="游ゴシック"/>
                <a:ea typeface="游ゴシック"/>
              </a:rPr>
              <a:t>原水を自社の純水装置でろ過。1964年にイオン交換方式、1990年に逆浸透膜（RO）ろ過装置を導入</a:t>
            </a:r>
          </a:p>
        </p:txBody>
      </p:sp>
      <p:sp>
        <p:nvSpPr>
          <p:cNvPr id="9" name="Chevron 8"/>
          <p:cNvSpPr/>
          <p:nvPr/>
        </p:nvSpPr>
        <p:spPr>
          <a:xfrm>
            <a:off x="2011680" y="1508760"/>
            <a:ext cx="1627632" cy="438912"/>
          </a:xfrm>
          <a:prstGeom prst="chevron">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FFFFFF"/>
                </a:solidFill>
                <a:latin typeface="游ゴシック"/>
                <a:ea typeface="游ゴシック"/>
              </a:rPr>
              <a:t>② 注水</a:t>
            </a:r>
          </a:p>
        </p:txBody>
      </p:sp>
      <p:sp>
        <p:nvSpPr>
          <p:cNvPr id="10" name="Rectangle 9"/>
          <p:cNvSpPr/>
          <p:nvPr/>
        </p:nvSpPr>
        <p:spPr>
          <a:xfrm>
            <a:off x="2057400" y="2057400"/>
            <a:ext cx="1508760" cy="109728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注水（king-ice.com/junhyo.html）</a:t>
            </a:r>
          </a:p>
          <a:p>
            <a:pPr algn="ctr"/>
            <a:r>
              <a:rPr sz="700" b="0" i="0">
                <a:solidFill>
                  <a:srgbClr val="0889C9"/>
                </a:solidFill>
                <a:latin typeface="游ゴシック"/>
                <a:ea typeface="游ゴシック"/>
              </a:rPr>
              <a:t>画像/proc_2.jpg を置いて再生成</a:t>
            </a:r>
          </a:p>
        </p:txBody>
      </p:sp>
      <p:sp>
        <p:nvSpPr>
          <p:cNvPr id="11" name="Rectangle 10"/>
          <p:cNvSpPr/>
          <p:nvPr/>
        </p:nvSpPr>
        <p:spPr>
          <a:xfrm>
            <a:off x="2057400" y="3246120"/>
            <a:ext cx="1508760" cy="123444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36576" tIns="36576" bIns="36576"/>
          <a:lstStyle/>
          <a:p>
            <a:pPr algn="l"/>
            <a:r>
              <a:rPr sz="850" b="0" i="0">
                <a:solidFill>
                  <a:srgbClr val="000000"/>
                </a:solidFill>
                <a:latin typeface="游ゴシック"/>
                <a:ea typeface="游ゴシック"/>
              </a:rPr>
              <a:t>純水をアイス缶（製氷缶）へ注水し、缶グリッドごとブライン槽へ</a:t>
            </a:r>
          </a:p>
        </p:txBody>
      </p:sp>
      <p:sp>
        <p:nvSpPr>
          <p:cNvPr id="12" name="Chevron 11"/>
          <p:cNvSpPr/>
          <p:nvPr/>
        </p:nvSpPr>
        <p:spPr>
          <a:xfrm>
            <a:off x="3685032" y="1508760"/>
            <a:ext cx="1627632" cy="438912"/>
          </a:xfrm>
          <a:prstGeom prst="chevron">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FFFFFF"/>
                </a:solidFill>
                <a:latin typeface="游ゴシック"/>
                <a:ea typeface="游ゴシック"/>
              </a:rPr>
              <a:t>③ 凍結</a:t>
            </a:r>
          </a:p>
        </p:txBody>
      </p:sp>
      <p:sp>
        <p:nvSpPr>
          <p:cNvPr id="13" name="Rectangle 12"/>
          <p:cNvSpPr/>
          <p:nvPr/>
        </p:nvSpPr>
        <p:spPr>
          <a:xfrm>
            <a:off x="3730752" y="2057400"/>
            <a:ext cx="1508760" cy="109728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凍結（king-ice.com/junhyo.html）</a:t>
            </a:r>
          </a:p>
          <a:p>
            <a:pPr algn="ctr"/>
            <a:r>
              <a:rPr sz="700" b="0" i="0">
                <a:solidFill>
                  <a:srgbClr val="0889C9"/>
                </a:solidFill>
                <a:latin typeface="游ゴシック"/>
                <a:ea typeface="游ゴシック"/>
              </a:rPr>
              <a:t>画像/proc_3.jpg を置いて再生成</a:t>
            </a:r>
          </a:p>
        </p:txBody>
      </p:sp>
      <p:sp>
        <p:nvSpPr>
          <p:cNvPr id="14" name="Rectangle 13"/>
          <p:cNvSpPr/>
          <p:nvPr/>
        </p:nvSpPr>
        <p:spPr>
          <a:xfrm>
            <a:off x="3730752" y="3246120"/>
            <a:ext cx="1508760" cy="123444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36576" tIns="36576" bIns="36576"/>
          <a:lstStyle/>
          <a:p>
            <a:pPr algn="l"/>
            <a:r>
              <a:rPr sz="850" b="0" i="0">
                <a:solidFill>
                  <a:srgbClr val="000000"/>
                </a:solidFill>
                <a:latin typeface="游ゴシック"/>
                <a:ea typeface="游ゴシック"/>
              </a:rPr>
              <a:t>約－12℃のブラインで約48時間かけて凍結。空気撹拌で不純物を中央に集めて吸い取る</a:t>
            </a:r>
          </a:p>
        </p:txBody>
      </p:sp>
      <p:sp>
        <p:nvSpPr>
          <p:cNvPr id="15" name="Chevron 14"/>
          <p:cNvSpPr/>
          <p:nvPr/>
        </p:nvSpPr>
        <p:spPr>
          <a:xfrm>
            <a:off x="5358384" y="1508760"/>
            <a:ext cx="1627632" cy="438912"/>
          </a:xfrm>
          <a:prstGeom prst="chevron">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FFFFFF"/>
                </a:solidFill>
                <a:latin typeface="游ゴシック"/>
                <a:ea typeface="游ゴシック"/>
              </a:rPr>
              <a:t>④ 揚氷・脱缶</a:t>
            </a:r>
          </a:p>
        </p:txBody>
      </p:sp>
      <p:sp>
        <p:nvSpPr>
          <p:cNvPr id="16" name="Rectangle 15"/>
          <p:cNvSpPr/>
          <p:nvPr/>
        </p:nvSpPr>
        <p:spPr>
          <a:xfrm>
            <a:off x="5404104" y="2057400"/>
            <a:ext cx="1508760" cy="109728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揚氷・脱缶（king-ice.com/junhyo.html）</a:t>
            </a:r>
          </a:p>
          <a:p>
            <a:pPr algn="ctr"/>
            <a:r>
              <a:rPr sz="700" b="0" i="0">
                <a:solidFill>
                  <a:srgbClr val="0889C9"/>
                </a:solidFill>
                <a:latin typeface="游ゴシック"/>
                <a:ea typeface="游ゴシック"/>
              </a:rPr>
              <a:t>画像/proc_4.jpg を置いて再生成</a:t>
            </a:r>
          </a:p>
        </p:txBody>
      </p:sp>
      <p:sp>
        <p:nvSpPr>
          <p:cNvPr id="17" name="Rectangle 16"/>
          <p:cNvSpPr/>
          <p:nvPr/>
        </p:nvSpPr>
        <p:spPr>
          <a:xfrm>
            <a:off x="5404104" y="3246120"/>
            <a:ext cx="1508760" cy="123444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36576" tIns="36576" bIns="36576"/>
          <a:lstStyle/>
          <a:p>
            <a:pPr algn="l"/>
            <a:r>
              <a:rPr sz="850" b="0" i="0">
                <a:solidFill>
                  <a:srgbClr val="000000"/>
                </a:solidFill>
                <a:latin typeface="游ゴシック"/>
                <a:ea typeface="游ゴシック"/>
              </a:rPr>
              <a:t>約135kgの角氷として揚氷。氷の基本となる製品</a:t>
            </a:r>
          </a:p>
        </p:txBody>
      </p:sp>
      <p:sp>
        <p:nvSpPr>
          <p:cNvPr id="18" name="Chevron 17"/>
          <p:cNvSpPr/>
          <p:nvPr/>
        </p:nvSpPr>
        <p:spPr>
          <a:xfrm>
            <a:off x="7031736" y="1508760"/>
            <a:ext cx="1627632" cy="438912"/>
          </a:xfrm>
          <a:prstGeom prst="chevron">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FFFFFF"/>
                </a:solidFill>
                <a:latin typeface="游ゴシック"/>
                <a:ea typeface="游ゴシック"/>
              </a:rPr>
              <a:t>⑤ 加工・袋詰</a:t>
            </a:r>
          </a:p>
        </p:txBody>
      </p:sp>
      <p:sp>
        <p:nvSpPr>
          <p:cNvPr id="19" name="Rectangle 18"/>
          <p:cNvSpPr/>
          <p:nvPr/>
        </p:nvSpPr>
        <p:spPr>
          <a:xfrm>
            <a:off x="7077456" y="2057400"/>
            <a:ext cx="1508760" cy="109728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加工・袋詰（king-ice.com/junhyo.html）</a:t>
            </a:r>
          </a:p>
          <a:p>
            <a:pPr algn="ctr"/>
            <a:r>
              <a:rPr sz="700" b="0" i="0">
                <a:solidFill>
                  <a:srgbClr val="0889C9"/>
                </a:solidFill>
                <a:latin typeface="游ゴシック"/>
                <a:ea typeface="游ゴシック"/>
              </a:rPr>
              <a:t>画像/proc_5.jpg を置いて再生成</a:t>
            </a:r>
          </a:p>
        </p:txBody>
      </p:sp>
      <p:sp>
        <p:nvSpPr>
          <p:cNvPr id="20" name="Rectangle 19"/>
          <p:cNvSpPr/>
          <p:nvPr/>
        </p:nvSpPr>
        <p:spPr>
          <a:xfrm>
            <a:off x="7077456" y="3246120"/>
            <a:ext cx="1508760" cy="123444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36576" tIns="36576" bIns="36576"/>
          <a:lstStyle/>
          <a:p>
            <a:pPr algn="l"/>
            <a:r>
              <a:rPr sz="850" b="0" i="0">
                <a:solidFill>
                  <a:srgbClr val="000000"/>
                </a:solidFill>
                <a:latin typeface="游ゴシック"/>
                <a:ea typeface="游ゴシック"/>
              </a:rPr>
              <a:t>カット・砕氷・袋詰（キングアイス1.1kg〜）、手切りのダイヤアイス、板氷 等</a:t>
            </a:r>
          </a:p>
        </p:txBody>
      </p:sp>
      <p:sp>
        <p:nvSpPr>
          <p:cNvPr id="21" name="Chevron 20"/>
          <p:cNvSpPr/>
          <p:nvPr/>
        </p:nvSpPr>
        <p:spPr>
          <a:xfrm>
            <a:off x="8705088" y="1508760"/>
            <a:ext cx="1627632" cy="438912"/>
          </a:xfrm>
          <a:prstGeom prst="chevron">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FFFFFF"/>
                </a:solidFill>
                <a:latin typeface="游ゴシック"/>
                <a:ea typeface="游ゴシック"/>
              </a:rPr>
              <a:t>⑥ 保管・出荷</a:t>
            </a:r>
          </a:p>
        </p:txBody>
      </p:sp>
      <p:sp>
        <p:nvSpPr>
          <p:cNvPr id="22" name="Rectangle 21"/>
          <p:cNvSpPr/>
          <p:nvPr/>
        </p:nvSpPr>
        <p:spPr>
          <a:xfrm>
            <a:off x="8750808" y="2057400"/>
            <a:ext cx="1508760" cy="109728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保管・出荷（king-ice.com/junhyo.html）</a:t>
            </a:r>
          </a:p>
          <a:p>
            <a:pPr algn="ctr"/>
            <a:r>
              <a:rPr sz="700" b="0" i="0">
                <a:solidFill>
                  <a:srgbClr val="0889C9"/>
                </a:solidFill>
                <a:latin typeface="游ゴシック"/>
                <a:ea typeface="游ゴシック"/>
              </a:rPr>
              <a:t>画像/proc_6.jpg を置いて再生成</a:t>
            </a:r>
          </a:p>
        </p:txBody>
      </p:sp>
      <p:sp>
        <p:nvSpPr>
          <p:cNvPr id="23" name="Rectangle 22"/>
          <p:cNvSpPr/>
          <p:nvPr/>
        </p:nvSpPr>
        <p:spPr>
          <a:xfrm>
            <a:off x="8750808" y="3246120"/>
            <a:ext cx="1508760" cy="123444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36576" tIns="36576" bIns="36576"/>
          <a:lstStyle/>
          <a:p>
            <a:pPr algn="l"/>
            <a:r>
              <a:rPr sz="850" b="0" i="0">
                <a:solidFill>
                  <a:srgbClr val="000000"/>
                </a:solidFill>
                <a:latin typeface="游ゴシック"/>
                <a:ea typeface="游ゴシック"/>
              </a:rPr>
              <a:t>冷蔵設備で保管し、自社便・委託便で配送</a:t>
            </a:r>
          </a:p>
        </p:txBody>
      </p:sp>
      <p:sp>
        <p:nvSpPr>
          <p:cNvPr id="24" name="Rectangle 23"/>
          <p:cNvSpPr/>
          <p:nvPr/>
        </p:nvSpPr>
        <p:spPr>
          <a:xfrm>
            <a:off x="338328" y="4672584"/>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25" name="TextBox 24"/>
          <p:cNvSpPr txBox="1"/>
          <p:nvPr/>
        </p:nvSpPr>
        <p:spPr>
          <a:xfrm>
            <a:off x="448056" y="4645152"/>
            <a:ext cx="53766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主要設備（法人事業概況説明書）</a:t>
            </a:r>
          </a:p>
        </p:txBody>
      </p:sp>
      <p:graphicFrame>
        <p:nvGraphicFramePr>
          <p:cNvPr id="26" name="Table 25"/>
          <p:cNvGraphicFramePr>
            <a:graphicFrameLocks noGrp="1"/>
          </p:cNvGraphicFramePr>
          <p:nvPr/>
        </p:nvGraphicFramePr>
        <p:xfrm>
          <a:off x="338328" y="4956048"/>
          <a:ext cx="3749040" cy="1097280"/>
        </p:xfrm>
        <a:graphic>
          <a:graphicData uri="http://schemas.openxmlformats.org/drawingml/2006/table">
            <a:tbl>
              <a:tblPr firstRow="0" bandRow="0">
                <a:tableStyleId>{5940675A-B579-460E-94D1-54222C63F5DA}</a:tableStyleId>
              </a:tblPr>
              <a:tblGrid>
                <a:gridCol w="1554480"/>
                <a:gridCol w="731520"/>
                <a:gridCol w="1463040"/>
              </a:tblGrid>
              <a:tr h="274320">
                <a:tc>
                  <a:txBody>
                    <a:bodyPr wrap="square"/>
                    <a:lstStyle/>
                    <a:p>
                      <a:pPr algn="ctr"/>
                      <a:r>
                        <a:rPr sz="950" b="1" i="0">
                          <a:solidFill>
                            <a:srgbClr val="FFFFFF"/>
                          </a:solidFill>
                          <a:latin typeface="游ゴシック"/>
                          <a:ea typeface="游ゴシック"/>
                        </a:rPr>
                        <a:t>設備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台数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能力</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74320">
                <a:tc>
                  <a:txBody>
                    <a:bodyPr wrap="square"/>
                    <a:lstStyle/>
                    <a:p>
                      <a:pPr algn="l"/>
                      <a:r>
                        <a:rPr sz="950" b="0" i="0">
                          <a:solidFill>
                            <a:srgbClr val="000000"/>
                          </a:solidFill>
                          <a:latin typeface="游ゴシック"/>
                          <a:ea typeface="游ゴシック"/>
                        </a:rPr>
                        <a:t>製氷設備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4台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日産40トン</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0" i="0">
                          <a:solidFill>
                            <a:srgbClr val="000000"/>
                          </a:solidFill>
                          <a:latin typeface="游ゴシック"/>
                          <a:ea typeface="游ゴシック"/>
                        </a:rPr>
                        <a:t>袋詰砕氷設備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1台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日産2,500ケース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0" i="0">
                          <a:solidFill>
                            <a:srgbClr val="000000"/>
                          </a:solidFill>
                          <a:latin typeface="游ゴシック"/>
                          <a:ea typeface="游ゴシック"/>
                        </a:rPr>
                        <a:t>冷蔵設備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3台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F級 1,000トン</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27" name="Rectangle 26"/>
          <p:cNvSpPr/>
          <p:nvPr/>
        </p:nvSpPr>
        <p:spPr>
          <a:xfrm>
            <a:off x="4434840" y="4663440"/>
            <a:ext cx="5897880" cy="178308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28" name="TextBox 27"/>
          <p:cNvSpPr txBox="1"/>
          <p:nvPr/>
        </p:nvSpPr>
        <p:spPr>
          <a:xfrm>
            <a:off x="4572000" y="4736592"/>
            <a:ext cx="5669280" cy="1691640"/>
          </a:xfrm>
          <a:prstGeom prst="rect">
            <a:avLst/>
          </a:prstGeom>
          <a:noFill/>
        </p:spPr>
        <p:txBody>
          <a:bodyPr wrap="square" anchor="t" lIns="18288" rIns="18288" tIns="18288" bIns="18288"/>
          <a:lstStyle/>
          <a:p>
            <a:pPr algn="l"/>
            <a:r>
              <a:rPr sz="1050" b="1" i="0">
                <a:solidFill>
                  <a:srgbClr val="0B3041"/>
                </a:solidFill>
                <a:latin typeface="游ゴシック"/>
                <a:ea typeface="游ゴシック"/>
              </a:rPr>
              <a:t>純氷の特徴（同社公式サイト等の公開情報）</a:t>
            </a:r>
          </a:p>
          <a:p>
            <a:pPr algn="l"/>
            <a:r>
              <a:rPr sz="950" b="0" i="0">
                <a:solidFill>
                  <a:srgbClr val="000000"/>
                </a:solidFill>
                <a:latin typeface="游ゴシック"/>
                <a:ea typeface="游ゴシック"/>
              </a:rPr>
              <a:t>・結晶の並びが規則的で透明度が高く、硬く割れにくい</a:t>
            </a:r>
          </a:p>
          <a:p>
            <a:pPr algn="l"/>
            <a:r>
              <a:rPr sz="950" b="0" i="0">
                <a:solidFill>
                  <a:srgbClr val="000000"/>
                </a:solidFill>
                <a:latin typeface="游ゴシック"/>
                <a:ea typeface="游ゴシック"/>
              </a:rPr>
              <a:t>・熱が伝わりにくく溶けにくい、溶け方が一定で飲料の味を損ねにくい</a:t>
            </a:r>
          </a:p>
          <a:p>
            <a:pPr algn="l"/>
            <a:r>
              <a:rPr sz="950" b="0" i="0">
                <a:solidFill>
                  <a:srgbClr val="000000"/>
                </a:solidFill>
                <a:latin typeface="游ゴシック"/>
                <a:ea typeface="游ゴシック"/>
              </a:rPr>
              <a:t>・料亭・日本料理店などの飲食店や、ぶっかき氷・ロックアイス用途で使用</a:t>
            </a:r>
          </a:p>
          <a:p>
            <a:pPr algn="l"/>
            <a:r>
              <a:rPr sz="950" b="0" i="0">
                <a:solidFill>
                  <a:srgbClr val="000000"/>
                </a:solidFill>
                <a:latin typeface="游ゴシック"/>
                <a:ea typeface="游ゴシック"/>
              </a:rPr>
              <a:t>・自社ブランド「キングアイス」（1.1kg／2kg／3kg袋、板氷、かき氷用キューブ 等）</a:t>
            </a:r>
          </a:p>
        </p:txBody>
      </p:sp>
      <p:sp>
        <p:nvSpPr>
          <p:cNvPr id="29" name="TextBox 28"/>
          <p:cNvSpPr txBox="1"/>
          <p:nvPr/>
        </p:nvSpPr>
        <p:spPr>
          <a:xfrm>
            <a:off x="338328" y="6583680"/>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※原水の取水方法（上水道か地下水か）、製氷缶の数量・1回あたり生産量、稼働率は要確認。</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売上は気温に連動する季節性が高く、7〜8月の2か月で年間の31.5%を占める。冬季（11〜2月）は売上が夏季の約1/4に落ち込む一方、冷蔵保管料が増加し閑散期の設備稼働を補っている。</a:t>
            </a:r>
          </a:p>
        </p:txBody>
      </p:sp>
      <p:sp>
        <p:nvSpPr>
          <p:cNvPr id="3" name="Title 2"/>
          <p:cNvSpPr>
            <a:spLocks noGrp="1"/>
          </p:cNvSpPr>
          <p:nvPr>
            <p:ph type="ctrTitle"/>
          </p:nvPr>
        </p:nvSpPr>
        <p:spPr/>
        <p:txBody>
          <a:bodyPr/>
          <a:lstStyle/>
          <a:p>
            <a:r>
              <a:t>月別売上高（季節性）</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graphicFrame>
        <p:nvGraphicFramePr>
          <p:cNvPr id="6" name="Chart 5"/>
          <p:cNvGraphicFramePr>
            <a:graphicFrameLocks noGrp="1"/>
          </p:cNvGraphicFramePr>
          <p:nvPr/>
        </p:nvGraphicFramePr>
        <p:xfrm>
          <a:off x="338328" y="1463040"/>
          <a:ext cx="6400800" cy="3291840"/>
        </p:xfrm>
        <a:graphic>
          <a:graphicData uri="http://schemas.openxmlformats.org/drawingml/2006/chart">
            <c:chart xmlns:c="http://schemas.openxmlformats.org/drawingml/2006/chart" r:id="rId2"/>
          </a:graphicData>
        </a:graphic>
      </p:graphicFrame>
      <p:sp>
        <p:nvSpPr>
          <p:cNvPr id="7" name="TextBox 6"/>
          <p:cNvSpPr txBox="1"/>
          <p:nvPr/>
        </p:nvSpPr>
        <p:spPr>
          <a:xfrm>
            <a:off x="5029200" y="1325880"/>
            <a:ext cx="16459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graphicFrame>
        <p:nvGraphicFramePr>
          <p:cNvPr id="8" name="Table 7"/>
          <p:cNvGraphicFramePr>
            <a:graphicFrameLocks noGrp="1"/>
          </p:cNvGraphicFramePr>
          <p:nvPr/>
        </p:nvGraphicFramePr>
        <p:xfrm>
          <a:off x="338328" y="4892040"/>
          <a:ext cx="8659368" cy="1481328"/>
        </p:xfrm>
        <a:graphic>
          <a:graphicData uri="http://schemas.openxmlformats.org/drawingml/2006/table">
            <a:tbl>
              <a:tblPr firstRow="0" bandRow="0">
                <a:tableStyleId>{5940675A-B579-460E-94D1-54222C63F5DA}</a:tableStyleId>
              </a:tblPr>
              <a:tblGrid>
                <a:gridCol w="1143000"/>
                <a:gridCol w="566928"/>
                <a:gridCol w="566928"/>
                <a:gridCol w="566928"/>
                <a:gridCol w="566928"/>
                <a:gridCol w="566928"/>
                <a:gridCol w="566928"/>
                <a:gridCol w="566928"/>
                <a:gridCol w="566928"/>
                <a:gridCol w="566928"/>
                <a:gridCol w="566928"/>
                <a:gridCol w="566928"/>
                <a:gridCol w="566928"/>
                <a:gridCol w="713232"/>
              </a:tblGrid>
              <a:tr h="246888">
                <a:tc>
                  <a:txBody>
                    <a:bodyPr wrap="square"/>
                    <a:lstStyle/>
                    <a:p>
                      <a:pPr algn="ctr"/>
                      <a:r>
                        <a:rPr sz="800" b="1" i="0">
                          <a:solidFill>
                            <a:srgbClr val="FFFFFF"/>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4月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5月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6月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7月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8月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9月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10月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11月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12月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1月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3月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46888">
                <a:tc>
                  <a:txBody>
                    <a:bodyPr wrap="square"/>
                    <a:lstStyle/>
                    <a:p>
                      <a:pPr algn="l"/>
                      <a:r>
                        <a:rPr sz="800" b="1" i="0">
                          <a:solidFill>
                            <a:srgbClr val="000000"/>
                          </a:solidFill>
                          <a:latin typeface="游ゴシック"/>
                          <a:ea typeface="游ゴシック"/>
                        </a:rPr>
                        <a:t>売上（凍氷）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35,455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34,880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42,375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65,915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59,983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42,001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26,505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14,285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19,378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14,096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19,502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25,619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399,994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800" b="0" i="0">
                          <a:solidFill>
                            <a:srgbClr val="000000"/>
                          </a:solidFill>
                          <a:latin typeface="游ゴシック"/>
                          <a:ea typeface="游ゴシック"/>
                        </a:rPr>
                        <a:t>保管料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108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106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144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93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144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1,114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3,266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5,970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800" b="0" i="0">
                          <a:solidFill>
                            <a:srgbClr val="000000"/>
                          </a:solidFill>
                          <a:latin typeface="游ゴシック"/>
                          <a:ea typeface="游ゴシック"/>
                        </a:rPr>
                        <a:t>原材料仕入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8,267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6,190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6,404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11,489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12,127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8,234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5,121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4,272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1,650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4,331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2,618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6,410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77,113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800" b="0" i="0">
                          <a:solidFill>
                            <a:srgbClr val="000000"/>
                          </a:solidFill>
                          <a:latin typeface="游ゴシック"/>
                          <a:ea typeface="游ゴシック"/>
                        </a:rPr>
                        <a:t>人件費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6,111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5,778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6,020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13,121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6,896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5,844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5,295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4,838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8,643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4,822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5,005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5,787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78,160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800" b="0" i="0">
                          <a:solidFill>
                            <a:srgbClr val="000000"/>
                          </a:solidFill>
                          <a:latin typeface="游ゴシック"/>
                          <a:ea typeface="游ゴシック"/>
                        </a:rPr>
                        <a:t>従事員数（人）</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9" name="Rectangle 8"/>
          <p:cNvSpPr/>
          <p:nvPr/>
        </p:nvSpPr>
        <p:spPr>
          <a:xfrm>
            <a:off x="6903720" y="1463040"/>
            <a:ext cx="3429000" cy="3291840"/>
          </a:xfrm>
          <a:prstGeom prst="rect">
            <a:avLst/>
          </a:prstGeom>
          <a:solidFill>
            <a:srgbClr val="FFFFFF"/>
          </a:solidFill>
          <a:ln w="1270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6903720" y="1536192"/>
            <a:ext cx="3429000" cy="292608"/>
          </a:xfrm>
          <a:prstGeom prst="rect">
            <a:avLst/>
          </a:prstGeom>
          <a:noFill/>
        </p:spPr>
        <p:txBody>
          <a:bodyPr wrap="square" anchor="t" lIns="18288" rIns="18288" tIns="18288" bIns="18288"/>
          <a:lstStyle/>
          <a:p>
            <a:pPr algn="ctr"/>
            <a:r>
              <a:rPr sz="1400" b="1" i="0">
                <a:solidFill>
                  <a:srgbClr val="0B3041"/>
                </a:solidFill>
                <a:latin typeface="Arial"/>
                <a:ea typeface="游ゴシック"/>
              </a:rPr>
              <a:t>Comment</a:t>
            </a:r>
          </a:p>
        </p:txBody>
      </p:sp>
      <p:sp>
        <p:nvSpPr>
          <p:cNvPr id="11" name="TextBox 10"/>
          <p:cNvSpPr txBox="1"/>
          <p:nvPr/>
        </p:nvSpPr>
        <p:spPr>
          <a:xfrm>
            <a:off x="7031736" y="1874520"/>
            <a:ext cx="3172968" cy="2834640"/>
          </a:xfrm>
          <a:prstGeom prst="rect">
            <a:avLst/>
          </a:prstGeom>
          <a:noFill/>
        </p:spPr>
        <p:txBody>
          <a:bodyPr wrap="square" anchor="t" lIns="18288" rIns="18288" tIns="18288" bIns="18288"/>
          <a:lstStyle/>
          <a:p>
            <a:pPr algn="l">
              <a:lnSpc>
                <a:spcPct val="105000"/>
              </a:lnSpc>
              <a:spcBef>
                <a:spcPts val="0"/>
              </a:spcBef>
            </a:pPr>
            <a:r>
              <a:rPr sz="900" b="1" i="0">
                <a:solidFill>
                  <a:srgbClr val="000000"/>
                </a:solidFill>
                <a:latin typeface="游ゴシック"/>
                <a:ea typeface="游ゴシック"/>
              </a:rPr>
              <a:t>≪季節性≫</a:t>
            </a:r>
          </a:p>
          <a:p>
            <a:pPr algn="l">
              <a:lnSpc>
                <a:spcPct val="105000"/>
              </a:lnSpc>
            </a:pPr>
            <a:r>
              <a:rPr sz="850" b="0" i="0">
                <a:solidFill>
                  <a:srgbClr val="000000"/>
                </a:solidFill>
                <a:latin typeface="游ゴシック"/>
                <a:ea typeface="游ゴシック"/>
              </a:rPr>
              <a:t>・7月65,915千円・8月59,983千円がピーク。6〜9月の4か月で年間の52.6%。</a:t>
            </a:r>
          </a:p>
          <a:p>
            <a:pPr algn="l">
              <a:lnSpc>
                <a:spcPct val="105000"/>
              </a:lnSpc>
            </a:pPr>
            <a:r>
              <a:rPr sz="850" b="0" i="0">
                <a:solidFill>
                  <a:srgbClr val="000000"/>
                </a:solidFill>
                <a:latin typeface="游ゴシック"/>
                <a:ea typeface="游ゴシック"/>
              </a:rPr>
              <a:t>・11〜2月は月14〜20百万円程度。</a:t>
            </a:r>
          </a:p>
          <a:p>
            <a:pPr algn="l">
              <a:lnSpc>
                <a:spcPct val="105000"/>
              </a:lnSpc>
              <a:spcBef>
                <a:spcPts val="600"/>
              </a:spcBef>
            </a:pPr>
            <a:r>
              <a:rPr sz="900" b="1" i="0">
                <a:solidFill>
                  <a:srgbClr val="000000"/>
                </a:solidFill>
                <a:latin typeface="游ゴシック"/>
                <a:ea typeface="游ゴシック"/>
              </a:rPr>
              <a:t>≪費用・人員≫</a:t>
            </a:r>
          </a:p>
          <a:p>
            <a:pPr algn="l">
              <a:lnSpc>
                <a:spcPct val="105000"/>
              </a:lnSpc>
            </a:pPr>
            <a:r>
              <a:rPr sz="850" b="0" i="0">
                <a:solidFill>
                  <a:srgbClr val="000000"/>
                </a:solidFill>
                <a:latin typeface="游ゴシック"/>
                <a:ea typeface="游ゴシック"/>
              </a:rPr>
              <a:t>・人件費は7月・12月に賞与支給で増加。従事員数は23〜26名でほぼ一定であり、繁忙期は人材派遣で補完。</a:t>
            </a:r>
          </a:p>
          <a:p>
            <a:pPr algn="l">
              <a:lnSpc>
                <a:spcPct val="105000"/>
              </a:lnSpc>
              <a:spcBef>
                <a:spcPts val="600"/>
              </a:spcBef>
            </a:pPr>
            <a:r>
              <a:rPr sz="900" b="1" i="0">
                <a:solidFill>
                  <a:srgbClr val="000000"/>
                </a:solidFill>
                <a:latin typeface="游ゴシック"/>
                <a:ea typeface="游ゴシック"/>
              </a:rPr>
              <a:t>≪冷蔵保管≫</a:t>
            </a:r>
          </a:p>
          <a:p>
            <a:pPr algn="l">
              <a:lnSpc>
                <a:spcPct val="105000"/>
              </a:lnSpc>
            </a:pPr>
            <a:r>
              <a:rPr sz="850" b="0" i="0">
                <a:solidFill>
                  <a:srgbClr val="000000"/>
                </a:solidFill>
                <a:latin typeface="游ゴシック"/>
                <a:ea typeface="游ゴシック"/>
              </a:rPr>
              <a:t>・保管料は11〜12月に増加（12月3,266千円）。年末商戦期の食品保管需要と推察。</a:t>
            </a:r>
          </a:p>
        </p:txBody>
      </p:sp>
      <p:sp>
        <p:nvSpPr>
          <p:cNvPr id="12" name="TextBox 11"/>
          <p:cNvSpPr txBox="1"/>
          <p:nvPr/>
        </p:nvSpPr>
        <p:spPr>
          <a:xfrm>
            <a:off x="338328" y="6629400"/>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※出所：第67期（2026年3月期）法人事業概況説明書。単位：千円。</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大手食品卸の(株)日本アクセス・三菱食品(株)をはじめ、食品卸・氷卸との継続的な取引関係を有する。上位7社で期末売掛金の約7割を占め、特定先への過度な依存はない。</a:t>
            </a:r>
          </a:p>
        </p:txBody>
      </p:sp>
      <p:sp>
        <p:nvSpPr>
          <p:cNvPr id="3" name="Title 2"/>
          <p:cNvSpPr>
            <a:spLocks noGrp="1"/>
          </p:cNvSpPr>
          <p:nvPr>
            <p:ph type="ctrTitle"/>
          </p:nvPr>
        </p:nvSpPr>
        <p:spPr/>
        <p:txBody>
          <a:bodyPr/>
          <a:lstStyle/>
          <a:p>
            <a:r>
              <a:t>主要販売先（期末売掛金残高）</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6" name="TextBox 5"/>
          <p:cNvSpPr txBox="1"/>
          <p:nvPr/>
        </p:nvSpPr>
        <p:spPr>
          <a:xfrm>
            <a:off x="8595360" y="1353312"/>
            <a:ext cx="173736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graphicFrame>
        <p:nvGraphicFramePr>
          <p:cNvPr id="7" name="Table 6"/>
          <p:cNvGraphicFramePr>
            <a:graphicFrameLocks noGrp="1"/>
          </p:cNvGraphicFramePr>
          <p:nvPr/>
        </p:nvGraphicFramePr>
        <p:xfrm>
          <a:off x="338328" y="1572768"/>
          <a:ext cx="9509760" cy="3621024"/>
        </p:xfrm>
        <a:graphic>
          <a:graphicData uri="http://schemas.openxmlformats.org/drawingml/2006/table">
            <a:tbl>
              <a:tblPr firstRow="0" bandRow="0">
                <a:tableStyleId>{5940675A-B579-460E-94D1-54222C63F5DA}</a:tableStyleId>
              </a:tblPr>
              <a:tblGrid>
                <a:gridCol w="3017520"/>
                <a:gridCol w="1325880"/>
                <a:gridCol w="1325880"/>
                <a:gridCol w="1325880"/>
                <a:gridCol w="1325880"/>
                <a:gridCol w="1188720"/>
              </a:tblGrid>
              <a:tr h="329184">
                <a:tc>
                  <a:txBody>
                    <a:bodyPr wrap="square"/>
                    <a:lstStyle/>
                    <a:p>
                      <a:pPr algn="ctr"/>
                      <a:r>
                        <a:rPr sz="900" b="1" i="0">
                          <a:solidFill>
                            <a:srgbClr val="FFFFFF"/>
                          </a:solidFill>
                          <a:latin typeface="游ゴシック"/>
                          <a:ea typeface="游ゴシック"/>
                        </a:rPr>
                        <a:t>取引先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23/3期</a:t>
                      </a:r>
                    </a:p>
                    <a:p>
                      <a:pPr algn="ctr"/>
                      <a:r>
                        <a:rPr sz="900" b="1" i="0">
                          <a:solidFill>
                            <a:srgbClr val="FFFFFF"/>
                          </a:solidFill>
                          <a:latin typeface="游ゴシック"/>
                          <a:ea typeface="游ゴシック"/>
                        </a:rPr>
                        <a:t>残高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24/3期</a:t>
                      </a:r>
                    </a:p>
                    <a:p>
                      <a:pPr algn="ctr"/>
                      <a:r>
                        <a:rPr sz="900" b="1" i="0">
                          <a:solidFill>
                            <a:srgbClr val="FFFFFF"/>
                          </a:solidFill>
                          <a:latin typeface="游ゴシック"/>
                          <a:ea typeface="游ゴシック"/>
                        </a:rPr>
                        <a:t>残高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25/3期</a:t>
                      </a:r>
                    </a:p>
                    <a:p>
                      <a:pPr algn="ctr"/>
                      <a:r>
                        <a:rPr sz="900" b="1" i="0">
                          <a:solidFill>
                            <a:srgbClr val="FFFFFF"/>
                          </a:solidFill>
                          <a:latin typeface="游ゴシック"/>
                          <a:ea typeface="游ゴシック"/>
                        </a:rPr>
                        <a:t>残高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26/3期</a:t>
                      </a:r>
                    </a:p>
                    <a:p>
                      <a:pPr algn="ctr"/>
                      <a:r>
                        <a:rPr sz="900" b="1" i="0">
                          <a:solidFill>
                            <a:srgbClr val="FFFFFF"/>
                          </a:solidFill>
                          <a:latin typeface="游ゴシック"/>
                          <a:ea typeface="游ゴシック"/>
                        </a:rPr>
                        <a:t>残高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26/3期</a:t>
                      </a:r>
                    </a:p>
                    <a:p>
                      <a:pPr algn="ctr"/>
                      <a:r>
                        <a:rPr sz="900" b="1" i="0">
                          <a:solidFill>
                            <a:srgbClr val="FFFFFF"/>
                          </a:solidFill>
                          <a:latin typeface="游ゴシック"/>
                          <a:ea typeface="游ゴシック"/>
                        </a:rPr>
                        <a:t>構成比</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29184">
                <a:tc>
                  <a:txBody>
                    <a:bodyPr wrap="square"/>
                    <a:lstStyle/>
                    <a:p>
                      <a:pPr algn="l"/>
                      <a:r>
                        <a:rPr sz="1000" b="0" i="0">
                          <a:solidFill>
                            <a:srgbClr val="000000"/>
                          </a:solidFill>
                          <a:latin typeface="游ゴシック"/>
                          <a:ea typeface="游ゴシック"/>
                        </a:rPr>
                        <a:t>1. (株)日本橋冷凍手島商店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3,795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4,596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6,566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22.8%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1000" b="0" i="0">
                          <a:solidFill>
                            <a:srgbClr val="000000"/>
                          </a:solidFill>
                          <a:latin typeface="游ゴシック"/>
                          <a:ea typeface="游ゴシック"/>
                        </a:rPr>
                        <a:t>2. (株)日本アクセス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6,927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8,502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3,942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4,451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15.5%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1000" b="0" i="0">
                          <a:solidFill>
                            <a:srgbClr val="000000"/>
                          </a:solidFill>
                          <a:latin typeface="游ゴシック"/>
                          <a:ea typeface="游ゴシック"/>
                        </a:rPr>
                        <a:t>3. 三菱食品(株)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1,869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1,942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2,294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2,559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8.9%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1000" b="0" i="0">
                          <a:solidFill>
                            <a:srgbClr val="000000"/>
                          </a:solidFill>
                          <a:latin typeface="游ゴシック"/>
                          <a:ea typeface="游ゴシック"/>
                        </a:rPr>
                        <a:t>4. 金木屋商事(株)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1,539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1,580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1,436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1,921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1000" b="0" i="0">
                          <a:solidFill>
                            <a:srgbClr val="000000"/>
                          </a:solidFill>
                          <a:latin typeface="游ゴシック"/>
                          <a:ea typeface="游ゴシック"/>
                        </a:rPr>
                        <a:t>5. (株)小野田商店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1,468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2,256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1,724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1000" b="0" i="0">
                          <a:solidFill>
                            <a:srgbClr val="000000"/>
                          </a:solidFill>
                          <a:latin typeface="游ゴシック"/>
                          <a:ea typeface="游ゴシック"/>
                        </a:rPr>
                        <a:t>6. (株)クールテックサガワ</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1,794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1,852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1,421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1000" b="0" i="0">
                          <a:solidFill>
                            <a:srgbClr val="000000"/>
                          </a:solidFill>
                          <a:latin typeface="游ゴシック"/>
                          <a:ea typeface="游ゴシック"/>
                        </a:rPr>
                        <a:t>7. (株)ニチレイ・アイス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1,344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1,485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1,003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1,076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1000" b="0" i="0">
                          <a:solidFill>
                            <a:srgbClr val="000000"/>
                          </a:solidFill>
                          <a:latin typeface="游ゴシック"/>
                          <a:ea typeface="游ゴシック"/>
                        </a:rPr>
                        <a:t>8. (株)双日食品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2,172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1000" b="0" i="0">
                          <a:solidFill>
                            <a:srgbClr val="000000"/>
                          </a:solidFill>
                          <a:latin typeface="游ゴシック"/>
                          <a:ea typeface="游ゴシック"/>
                        </a:rPr>
                        <a:t>その他（複数社）</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7,835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9,237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10,922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9,081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1000" b="1" i="0">
                          <a:solidFill>
                            <a:srgbClr val="000000"/>
                          </a:solidFill>
                          <a:latin typeface="游ゴシック"/>
                          <a:ea typeface="游ゴシック"/>
                        </a:rPr>
                        <a:t>期末売掛金 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21,685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29,803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28,301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28,798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8" name="TextBox 7"/>
          <p:cNvSpPr txBox="1"/>
          <p:nvPr/>
        </p:nvSpPr>
        <p:spPr>
          <a:xfrm>
            <a:off x="338328" y="5715000"/>
            <a:ext cx="9966960" cy="54864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※取引先別の売上高データは未受領のため、期末売掛金残高（月末締め翌月末回収）を取引規模の代理指標として表示。取引先別売上高はデータルームにて開示予定。</a:t>
            </a:r>
          </a:p>
          <a:p>
            <a:pPr algn="l"/>
            <a:r>
              <a:rPr sz="800" b="0" i="0">
                <a:solidFill>
                  <a:srgbClr val="404040"/>
                </a:solidFill>
                <a:latin typeface="游ゴシック Medium"/>
                <a:ea typeface="游ゴシック Medium"/>
              </a:rPr>
              <a:t>※26/3期の上位7社の残高構成比は68.5%。23/3〜25/3期は受領資料、26/3期は勘定科目内訳書による。</a:t>
            </a:r>
          </a:p>
          <a:p>
            <a:pPr algn="l"/>
            <a:r>
              <a:rPr sz="800" b="0" i="0">
                <a:solidFill>
                  <a:srgbClr val="404040"/>
                </a:solidFill>
                <a:latin typeface="游ゴシック Medium"/>
                <a:ea typeface="游ゴシック Medium"/>
              </a:rPr>
              <a:t>※26/3期の内訳書は上位先の合計が残高を1,724千円上回るため、その他は残高との差額で表示（(株)小野田商店の計上区分は要確認）。</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仕入は包装資材（段ボール・袋）とドライアイス等の商品が中心。原価の主要項目は人件費・電力料・原材料で、販管費では配送運賃の比重が大きい。</a:t>
            </a:r>
          </a:p>
        </p:txBody>
      </p:sp>
      <p:sp>
        <p:nvSpPr>
          <p:cNvPr id="3" name="Title 2"/>
          <p:cNvSpPr>
            <a:spLocks noGrp="1"/>
          </p:cNvSpPr>
          <p:nvPr>
            <p:ph type="ctrTitle"/>
          </p:nvPr>
        </p:nvSpPr>
        <p:spPr/>
        <p:txBody>
          <a:bodyPr/>
          <a:lstStyle/>
          <a:p>
            <a:r>
              <a:t>主要仕入先・主要経費</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6" name="Rectangle 5"/>
          <p:cNvSpPr/>
          <p:nvPr/>
        </p:nvSpPr>
        <p:spPr>
          <a:xfrm>
            <a:off x="338328" y="144475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7" name="TextBox 6"/>
          <p:cNvSpPr txBox="1"/>
          <p:nvPr/>
        </p:nvSpPr>
        <p:spPr>
          <a:xfrm>
            <a:off x="448056" y="141732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主要仕入先（26/3期末 買掛金残高）</a:t>
            </a:r>
          </a:p>
        </p:txBody>
      </p:sp>
      <p:graphicFrame>
        <p:nvGraphicFramePr>
          <p:cNvPr id="8" name="Table 7"/>
          <p:cNvGraphicFramePr>
            <a:graphicFrameLocks noGrp="1"/>
          </p:cNvGraphicFramePr>
          <p:nvPr/>
        </p:nvGraphicFramePr>
        <p:xfrm>
          <a:off x="338328" y="1719072"/>
          <a:ext cx="5212080" cy="2633472"/>
        </p:xfrm>
        <a:graphic>
          <a:graphicData uri="http://schemas.openxmlformats.org/drawingml/2006/table">
            <a:tbl>
              <a:tblPr firstRow="0" bandRow="0">
                <a:tableStyleId>{5940675A-B579-460E-94D1-54222C63F5DA}</a:tableStyleId>
              </a:tblPr>
              <a:tblGrid>
                <a:gridCol w="2103120"/>
                <a:gridCol w="1600200"/>
                <a:gridCol w="868680"/>
                <a:gridCol w="640080"/>
              </a:tblGrid>
              <a:tr h="292608">
                <a:tc>
                  <a:txBody>
                    <a:bodyPr wrap="square"/>
                    <a:lstStyle/>
                    <a:p>
                      <a:pPr algn="ctr"/>
                      <a:r>
                        <a:rPr sz="900" b="1" i="0">
                          <a:solidFill>
                            <a:srgbClr val="FFFFFF"/>
                          </a:solidFill>
                          <a:latin typeface="游ゴシック"/>
                          <a:ea typeface="游ゴシック"/>
                        </a:rPr>
                        <a:t>仕入先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内容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残高(千円)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構成比</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92608">
                <a:tc>
                  <a:txBody>
                    <a:bodyPr wrap="square"/>
                    <a:lstStyle/>
                    <a:p>
                      <a:pPr algn="l"/>
                      <a:r>
                        <a:rPr sz="900" b="0" i="0">
                          <a:solidFill>
                            <a:srgbClr val="000000"/>
                          </a:solidFill>
                          <a:latin typeface="游ゴシック"/>
                          <a:ea typeface="游ゴシック"/>
                        </a:rPr>
                        <a:t>鈴木段ボール工業(株)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資材（段ボール）</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1,711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900" b="0" i="0">
                          <a:solidFill>
                            <a:srgbClr val="000000"/>
                          </a:solidFill>
                          <a:latin typeface="游ゴシック"/>
                          <a:ea typeface="游ゴシック"/>
                        </a:rPr>
                        <a:t>大三紙業(株)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資材</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1,698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900" b="0" i="0">
                          <a:solidFill>
                            <a:srgbClr val="000000"/>
                          </a:solidFill>
                          <a:latin typeface="游ゴシック"/>
                          <a:ea typeface="游ゴシック"/>
                        </a:rPr>
                        <a:t>日本液炭(株)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商品（ドライアイス等）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1,402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16.8%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900" b="0" i="0">
                          <a:solidFill>
                            <a:srgbClr val="000000"/>
                          </a:solidFill>
                          <a:latin typeface="游ゴシック"/>
                          <a:ea typeface="游ゴシック"/>
                        </a:rPr>
                        <a:t>(株)日本橋冷凍手島商店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資材</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1,276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900" b="0" i="0">
                          <a:solidFill>
                            <a:srgbClr val="000000"/>
                          </a:solidFill>
                          <a:latin typeface="游ゴシック"/>
                          <a:ea typeface="游ゴシック"/>
                        </a:rPr>
                        <a:t>越谷松伏水道企業団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水道料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900" b="0" i="0">
                          <a:solidFill>
                            <a:srgbClr val="000000"/>
                          </a:solidFill>
                          <a:latin typeface="游ゴシック"/>
                          <a:ea typeface="游ゴシック"/>
                        </a:rPr>
                        <a:t>(株)シモジマ</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資材（包装資材）</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972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900" b="0" i="0">
                          <a:solidFill>
                            <a:srgbClr val="000000"/>
                          </a:solidFill>
                          <a:latin typeface="游ゴシック"/>
                          <a:ea typeface="游ゴシック"/>
                        </a:rPr>
                        <a:t>(株)一陽パック</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資材（包装資材）</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146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900" b="1" i="0">
                          <a:solidFill>
                            <a:srgbClr val="000000"/>
                          </a:solidFill>
                          <a:latin typeface="游ゴシック"/>
                          <a:ea typeface="游ゴシック"/>
                        </a:rPr>
                        <a:t>買掛金 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0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8,358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9" name="Rectangle 8"/>
          <p:cNvSpPr/>
          <p:nvPr/>
        </p:nvSpPr>
        <p:spPr>
          <a:xfrm>
            <a:off x="5760720" y="144475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5870448" y="141732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主要経費支払先（26/3期末 未払金残高）</a:t>
            </a:r>
          </a:p>
        </p:txBody>
      </p:sp>
      <p:graphicFrame>
        <p:nvGraphicFramePr>
          <p:cNvPr id="11" name="Table 10"/>
          <p:cNvGraphicFramePr>
            <a:graphicFrameLocks noGrp="1"/>
          </p:cNvGraphicFramePr>
          <p:nvPr/>
        </p:nvGraphicFramePr>
        <p:xfrm>
          <a:off x="5760720" y="1719072"/>
          <a:ext cx="4572000" cy="2633472"/>
        </p:xfrm>
        <a:graphic>
          <a:graphicData uri="http://schemas.openxmlformats.org/drawingml/2006/table">
            <a:tbl>
              <a:tblPr firstRow="0" bandRow="0">
                <a:tableStyleId>{5940675A-B579-460E-94D1-54222C63F5DA}</a:tableStyleId>
              </a:tblPr>
              <a:tblGrid>
                <a:gridCol w="2377440"/>
                <a:gridCol w="1325880"/>
                <a:gridCol w="868680"/>
              </a:tblGrid>
              <a:tr h="292608">
                <a:tc>
                  <a:txBody>
                    <a:bodyPr wrap="square"/>
                    <a:lstStyle/>
                    <a:p>
                      <a:pPr algn="ctr"/>
                      <a:r>
                        <a:rPr sz="850" b="1" i="0">
                          <a:solidFill>
                            <a:srgbClr val="FFFFFF"/>
                          </a:solidFill>
                          <a:latin typeface="游ゴシック"/>
                          <a:ea typeface="游ゴシック"/>
                        </a:rPr>
                        <a:t>支払先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内容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残高(千円)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92608">
                <a:tc>
                  <a:txBody>
                    <a:bodyPr wrap="square"/>
                    <a:lstStyle/>
                    <a:p>
                      <a:pPr algn="l"/>
                      <a:r>
                        <a:rPr sz="850" b="0" i="0">
                          <a:solidFill>
                            <a:srgbClr val="000000"/>
                          </a:solidFill>
                          <a:latin typeface="游ゴシック"/>
                          <a:ea typeface="游ゴシック"/>
                        </a:rPr>
                        <a:t>大森工業(株)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850" b="0" i="0">
                          <a:solidFill>
                            <a:srgbClr val="000000"/>
                          </a:solidFill>
                          <a:latin typeface="游ゴシック"/>
                          <a:ea typeface="游ゴシック"/>
                        </a:rPr>
                        <a:t>缶グリッド部品一式</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2,633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850" b="0" i="0">
                          <a:solidFill>
                            <a:srgbClr val="000000"/>
                          </a:solidFill>
                          <a:latin typeface="游ゴシック"/>
                          <a:ea typeface="游ゴシック"/>
                        </a:rPr>
                        <a:t>バンブーパワートレーディング合同会社</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850" b="0" i="0">
                          <a:solidFill>
                            <a:srgbClr val="000000"/>
                          </a:solidFill>
                          <a:latin typeface="游ゴシック"/>
                          <a:ea typeface="游ゴシック"/>
                        </a:rPr>
                        <a:t>電気料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1,563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850" b="0" i="0">
                          <a:solidFill>
                            <a:srgbClr val="000000"/>
                          </a:solidFill>
                          <a:latin typeface="游ゴシック"/>
                          <a:ea typeface="游ゴシック"/>
                        </a:rPr>
                        <a:t>(株)ヒューマンアイ</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850" b="0" i="0">
                          <a:solidFill>
                            <a:srgbClr val="000000"/>
                          </a:solidFill>
                          <a:latin typeface="游ゴシック"/>
                          <a:ea typeface="游ゴシック"/>
                        </a:rPr>
                        <a:t>人材派遣料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1,030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850" b="0" i="0">
                          <a:solidFill>
                            <a:srgbClr val="000000"/>
                          </a:solidFill>
                          <a:latin typeface="游ゴシック"/>
                          <a:ea typeface="游ゴシック"/>
                        </a:rPr>
                        <a:t>鴻池運輸(株)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850" b="0" i="0">
                          <a:solidFill>
                            <a:srgbClr val="000000"/>
                          </a:solidFill>
                          <a:latin typeface="游ゴシック"/>
                          <a:ea typeface="游ゴシック"/>
                        </a:rPr>
                        <a:t>配送料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850" b="0" i="0">
                          <a:solidFill>
                            <a:srgbClr val="000000"/>
                          </a:solidFill>
                          <a:latin typeface="游ゴシック"/>
                          <a:ea typeface="游ゴシック"/>
                        </a:rPr>
                        <a:t>南日本日野自動車(株)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850" b="0" i="0">
                          <a:solidFill>
                            <a:srgbClr val="000000"/>
                          </a:solidFill>
                          <a:latin typeface="游ゴシック"/>
                          <a:ea typeface="游ゴシック"/>
                        </a:rPr>
                        <a:t>車両整備費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850" b="0" i="0">
                          <a:solidFill>
                            <a:srgbClr val="000000"/>
                          </a:solidFill>
                          <a:latin typeface="游ゴシック"/>
                          <a:ea typeface="游ゴシック"/>
                        </a:rPr>
                        <a:t>ロジスネクスト東京(株)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850" b="0" i="0">
                          <a:solidFill>
                            <a:srgbClr val="000000"/>
                          </a:solidFill>
                          <a:latin typeface="游ゴシック"/>
                          <a:ea typeface="游ゴシック"/>
                        </a:rPr>
                        <a:t>車両整備費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850" b="0" i="0">
                          <a:solidFill>
                            <a:srgbClr val="000000"/>
                          </a:solidFill>
                          <a:latin typeface="游ゴシック"/>
                          <a:ea typeface="游ゴシック"/>
                        </a:rPr>
                        <a:t>倉橋運送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850" b="0" i="0">
                          <a:solidFill>
                            <a:srgbClr val="000000"/>
                          </a:solidFill>
                          <a:latin typeface="游ゴシック"/>
                          <a:ea typeface="游ゴシック"/>
                        </a:rPr>
                        <a:t>運賃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850" b="0" i="0">
                          <a:solidFill>
                            <a:srgbClr val="000000"/>
                          </a:solidFill>
                          <a:latin typeface="游ゴシック"/>
                          <a:ea typeface="游ゴシック"/>
                        </a:rPr>
                        <a:t>三浦工業(株)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850" b="0" i="0">
                          <a:solidFill>
                            <a:srgbClr val="000000"/>
                          </a:solidFill>
                          <a:latin typeface="游ゴシック"/>
                          <a:ea typeface="游ゴシック"/>
                        </a:rPr>
                        <a:t>水処理装置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12" name="Rectangle 11"/>
          <p:cNvSpPr/>
          <p:nvPr/>
        </p:nvSpPr>
        <p:spPr>
          <a:xfrm>
            <a:off x="338328" y="459943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3" name="TextBox 12"/>
          <p:cNvSpPr txBox="1"/>
          <p:nvPr/>
        </p:nvSpPr>
        <p:spPr>
          <a:xfrm>
            <a:off x="448056" y="4572000"/>
            <a:ext cx="53766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主要費用の推移（千円）</a:t>
            </a:r>
          </a:p>
        </p:txBody>
      </p:sp>
      <p:graphicFrame>
        <p:nvGraphicFramePr>
          <p:cNvPr id="14" name="Table 13"/>
          <p:cNvGraphicFramePr>
            <a:graphicFrameLocks noGrp="1"/>
          </p:cNvGraphicFramePr>
          <p:nvPr/>
        </p:nvGraphicFramePr>
        <p:xfrm>
          <a:off x="338328" y="4864608"/>
          <a:ext cx="7315200" cy="1536192"/>
        </p:xfrm>
        <a:graphic>
          <a:graphicData uri="http://schemas.openxmlformats.org/drawingml/2006/table">
            <a:tbl>
              <a:tblPr firstRow="0" bandRow="0">
                <a:tableStyleId>{5940675A-B579-460E-94D1-54222C63F5DA}</a:tableStyleId>
              </a:tblPr>
              <a:tblGrid>
                <a:gridCol w="2743200"/>
                <a:gridCol w="1143000"/>
                <a:gridCol w="1143000"/>
                <a:gridCol w="1143000"/>
                <a:gridCol w="1143000"/>
              </a:tblGrid>
              <a:tr h="256032">
                <a:tc>
                  <a:txBody>
                    <a:bodyPr wrap="square"/>
                    <a:lstStyle/>
                    <a:p>
                      <a:pPr algn="ctr"/>
                      <a:r>
                        <a:rPr sz="900" b="1" i="0">
                          <a:solidFill>
                            <a:srgbClr val="FFFFFF"/>
                          </a:solidFill>
                          <a:latin typeface="游ゴシック"/>
                          <a:ea typeface="游ゴシック"/>
                        </a:rPr>
                        <a:t>費目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56032">
                <a:tc>
                  <a:txBody>
                    <a:bodyPr wrap="square"/>
                    <a:lstStyle/>
                    <a:p>
                      <a:pPr algn="l"/>
                      <a:r>
                        <a:rPr sz="900" b="0" i="0">
                          <a:solidFill>
                            <a:srgbClr val="000000"/>
                          </a:solidFill>
                          <a:latin typeface="游ゴシック"/>
                          <a:ea typeface="游ゴシック"/>
                        </a:rPr>
                        <a:t>原材料仕入高（包装資材等）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66,992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83,257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79,984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77,113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56032">
                <a:tc>
                  <a:txBody>
                    <a:bodyPr wrap="square"/>
                    <a:lstStyle/>
                    <a:p>
                      <a:pPr algn="l"/>
                      <a:r>
                        <a:rPr sz="900" b="0" i="0">
                          <a:solidFill>
                            <a:srgbClr val="000000"/>
                          </a:solidFill>
                          <a:latin typeface="游ゴシック"/>
                          <a:ea typeface="游ゴシック"/>
                        </a:rPr>
                        <a:t>労務費＋販管人件費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108,136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117,781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107,806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123,480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56032">
                <a:tc>
                  <a:txBody>
                    <a:bodyPr wrap="square"/>
                    <a:lstStyle/>
                    <a:p>
                      <a:pPr algn="l"/>
                      <a:r>
                        <a:rPr sz="900" b="0" i="0">
                          <a:solidFill>
                            <a:srgbClr val="000000"/>
                          </a:solidFill>
                          <a:latin typeface="游ゴシック"/>
                          <a:ea typeface="游ゴシック"/>
                        </a:rPr>
                        <a:t>電力料（動力費・製造＋販管）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45,016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33,983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35,704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35,387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56032">
                <a:tc>
                  <a:txBody>
                    <a:bodyPr wrap="square"/>
                    <a:lstStyle/>
                    <a:p>
                      <a:pPr algn="l"/>
                      <a:r>
                        <a:rPr sz="900" b="0" i="0">
                          <a:solidFill>
                            <a:srgbClr val="000000"/>
                          </a:solidFill>
                          <a:latin typeface="游ゴシック"/>
                          <a:ea typeface="游ゴシック"/>
                        </a:rPr>
                        <a:t>配送運賃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13,003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22,044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21,570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27,570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56032">
                <a:tc>
                  <a:txBody>
                    <a:bodyPr wrap="square"/>
                    <a:lstStyle/>
                    <a:p>
                      <a:pPr algn="l"/>
                      <a:r>
                        <a:rPr sz="900" b="0" i="0">
                          <a:solidFill>
                            <a:srgbClr val="000000"/>
                          </a:solidFill>
                          <a:latin typeface="游ゴシック"/>
                          <a:ea typeface="游ゴシック"/>
                        </a:rPr>
                        <a:t>外注作業費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2,916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5,681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13,627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11,435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15" name="Rectangle 14"/>
          <p:cNvSpPr/>
          <p:nvPr/>
        </p:nvSpPr>
        <p:spPr>
          <a:xfrm>
            <a:off x="7818120" y="4572000"/>
            <a:ext cx="2514600" cy="1920240"/>
          </a:xfrm>
          <a:prstGeom prst="rect">
            <a:avLst/>
          </a:prstGeom>
          <a:solidFill>
            <a:srgbClr val="FFFFFF"/>
          </a:solidFill>
          <a:ln w="1270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6" name="TextBox 15"/>
          <p:cNvSpPr txBox="1"/>
          <p:nvPr/>
        </p:nvSpPr>
        <p:spPr>
          <a:xfrm>
            <a:off x="7818120" y="4645152"/>
            <a:ext cx="2514600" cy="292608"/>
          </a:xfrm>
          <a:prstGeom prst="rect">
            <a:avLst/>
          </a:prstGeom>
          <a:noFill/>
        </p:spPr>
        <p:txBody>
          <a:bodyPr wrap="square" anchor="t" lIns="18288" rIns="18288" tIns="18288" bIns="18288"/>
          <a:lstStyle/>
          <a:p>
            <a:pPr algn="ctr"/>
            <a:r>
              <a:rPr sz="1100" b="1" i="0">
                <a:solidFill>
                  <a:srgbClr val="0B3041"/>
                </a:solidFill>
                <a:latin typeface="Arial"/>
                <a:ea typeface="游ゴシック"/>
              </a:rPr>
              <a:t>Point</a:t>
            </a:r>
          </a:p>
        </p:txBody>
      </p:sp>
      <p:sp>
        <p:nvSpPr>
          <p:cNvPr id="17" name="TextBox 16"/>
          <p:cNvSpPr txBox="1"/>
          <p:nvPr/>
        </p:nvSpPr>
        <p:spPr>
          <a:xfrm>
            <a:off x="7946136" y="4983480"/>
            <a:ext cx="2258568" cy="1463040"/>
          </a:xfrm>
          <a:prstGeom prst="rect">
            <a:avLst/>
          </a:prstGeom>
          <a:noFill/>
        </p:spPr>
        <p:txBody>
          <a:bodyPr wrap="square" anchor="t" lIns="18288" rIns="18288" tIns="18288" bIns="18288"/>
          <a:lstStyle/>
          <a:p>
            <a:pPr algn="l">
              <a:lnSpc>
                <a:spcPct val="105000"/>
              </a:lnSpc>
              <a:spcBef>
                <a:spcPts val="0"/>
              </a:spcBef>
            </a:pPr>
            <a:r>
              <a:rPr sz="850" b="1" i="0">
                <a:solidFill>
                  <a:srgbClr val="000000"/>
                </a:solidFill>
                <a:latin typeface="游ゴシック"/>
                <a:ea typeface="游ゴシック"/>
              </a:rPr>
              <a:t>≪コスト構造≫</a:t>
            </a:r>
          </a:p>
          <a:p>
            <a:pPr algn="l">
              <a:lnSpc>
                <a:spcPct val="105000"/>
              </a:lnSpc>
            </a:pPr>
            <a:r>
              <a:rPr sz="800" b="0" i="0">
                <a:solidFill>
                  <a:srgbClr val="000000"/>
                </a:solidFill>
                <a:latin typeface="游ゴシック"/>
                <a:ea typeface="游ゴシック"/>
              </a:rPr>
              <a:t>・電力料は23/3期に42,894千円まで上昇後、24/3期以降は32〜34百万円台。</a:t>
            </a:r>
          </a:p>
          <a:p>
            <a:pPr algn="l">
              <a:lnSpc>
                <a:spcPct val="105000"/>
              </a:lnSpc>
            </a:pPr>
            <a:r>
              <a:rPr sz="800" b="0" i="0">
                <a:solidFill>
                  <a:srgbClr val="000000"/>
                </a:solidFill>
                <a:latin typeface="游ゴシック"/>
                <a:ea typeface="游ゴシック"/>
              </a:rPr>
              <a:t>・配送運賃は売上拡大に伴い増加傾向。</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代表取締役の下、工場長が越谷工場・松戸営業所の現場を統括する体制。経理・総務は一部を外部（会計事務所）に委託している。</a:t>
            </a:r>
          </a:p>
        </p:txBody>
      </p:sp>
      <p:sp>
        <p:nvSpPr>
          <p:cNvPr id="3" name="Title 2"/>
          <p:cNvSpPr>
            <a:spLocks noGrp="1"/>
          </p:cNvSpPr>
          <p:nvPr>
            <p:ph type="ctrTitle"/>
          </p:nvPr>
        </p:nvSpPr>
        <p:spPr/>
        <p:txBody>
          <a:bodyPr/>
          <a:lstStyle/>
          <a:p>
            <a:r>
              <a:t>組織図</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Rounded Rectangle 5"/>
          <p:cNvSpPr/>
          <p:nvPr/>
        </p:nvSpPr>
        <p:spPr>
          <a:xfrm>
            <a:off x="3291840" y="1463040"/>
            <a:ext cx="2377440" cy="457200"/>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200" b="1" i="0">
                <a:solidFill>
                  <a:srgbClr val="FFFFFF"/>
                </a:solidFill>
                <a:latin typeface="游ゴシック"/>
                <a:ea typeface="游ゴシック"/>
              </a:rPr>
              <a:t>株主総会</a:t>
            </a:r>
          </a:p>
        </p:txBody>
      </p:sp>
      <p:sp>
        <p:nvSpPr>
          <p:cNvPr id="7" name="Rounded Rectangle 6"/>
          <p:cNvSpPr/>
          <p:nvPr/>
        </p:nvSpPr>
        <p:spPr>
          <a:xfrm>
            <a:off x="3291840" y="2148840"/>
            <a:ext cx="2377440" cy="566928"/>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200" b="1" i="0">
                <a:solidFill>
                  <a:srgbClr val="FFFFFF"/>
                </a:solidFill>
                <a:latin typeface="游ゴシック"/>
                <a:ea typeface="游ゴシック"/>
              </a:rPr>
              <a:t>代表取締役</a:t>
            </a:r>
          </a:p>
          <a:p>
            <a:pPr algn="ctr"/>
            <a:r>
              <a:rPr sz="1000" b="0" i="0">
                <a:solidFill>
                  <a:srgbClr val="FFFFFF"/>
                </a:solidFill>
                <a:latin typeface="游ゴシック"/>
                <a:ea typeface="游ゴシック"/>
              </a:rPr>
              <a:t>小野田 洋</a:t>
            </a:r>
          </a:p>
        </p:txBody>
      </p:sp>
      <p:sp>
        <p:nvSpPr>
          <p:cNvPr id="8" name="Rounded Rectangle 7"/>
          <p:cNvSpPr/>
          <p:nvPr/>
        </p:nvSpPr>
        <p:spPr>
          <a:xfrm>
            <a:off x="3291840" y="2944368"/>
            <a:ext cx="2377440" cy="502920"/>
          </a:xfrm>
          <a:prstGeom prst="round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00" b="1" i="0">
                <a:solidFill>
                  <a:srgbClr val="FFFFFF"/>
                </a:solidFill>
                <a:latin typeface="游ゴシック"/>
                <a:ea typeface="游ゴシック"/>
              </a:rPr>
              <a:t>工場長</a:t>
            </a:r>
          </a:p>
          <a:p>
            <a:pPr algn="ctr"/>
            <a:r>
              <a:rPr sz="750" b="0" i="0">
                <a:solidFill>
                  <a:srgbClr val="FFFFFF"/>
                </a:solidFill>
                <a:latin typeface="游ゴシック"/>
                <a:ea typeface="游ゴシック"/>
              </a:rPr>
              <a:t>S氏（本社・工場・松戸営業所の責任者）</a:t>
            </a:r>
          </a:p>
        </p:txBody>
      </p:sp>
      <p:cxnSp>
        <p:nvCxnSpPr>
          <p:cNvPr id="9" name="Connector 8"/>
          <p:cNvCxnSpPr/>
          <p:nvPr/>
        </p:nvCxnSpPr>
        <p:spPr>
          <a:xfrm>
            <a:off x="4480560" y="1920240"/>
            <a:ext cx="0" cy="228600"/>
          </a:xfrm>
          <a:prstGeom prst="line">
            <a:avLst/>
          </a:prstGeom>
          <a:ln w="15875">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480560" y="2715768"/>
            <a:ext cx="0" cy="228600"/>
          </a:xfrm>
          <a:prstGeom prst="line">
            <a:avLst/>
          </a:prstGeom>
          <a:ln w="15875">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80560" y="3447288"/>
            <a:ext cx="0" cy="256032"/>
          </a:xfrm>
          <a:prstGeom prst="line">
            <a:avLst/>
          </a:prstGeom>
          <a:ln w="15875">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51560" y="3703320"/>
            <a:ext cx="7635240" cy="0"/>
          </a:xfrm>
          <a:prstGeom prst="line">
            <a:avLst/>
          </a:prstGeom>
          <a:ln w="15875">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211580" y="3703320"/>
            <a:ext cx="0" cy="228600"/>
          </a:xfrm>
          <a:prstGeom prst="line">
            <a:avLst/>
          </a:prstGeom>
          <a:ln w="15875">
            <a:solidFill>
              <a:srgbClr val="0B304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20040" y="3931920"/>
            <a:ext cx="1783080" cy="365760"/>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50" b="1" i="0">
                <a:solidFill>
                  <a:srgbClr val="FFFFFF"/>
                </a:solidFill>
                <a:latin typeface="游ゴシック"/>
                <a:ea typeface="游ゴシック"/>
              </a:rPr>
              <a:t>財務・経理・総務</a:t>
            </a:r>
          </a:p>
        </p:txBody>
      </p:sp>
      <p:sp>
        <p:nvSpPr>
          <p:cNvPr id="15" name="Rectangle 14"/>
          <p:cNvSpPr/>
          <p:nvPr/>
        </p:nvSpPr>
        <p:spPr>
          <a:xfrm>
            <a:off x="320040" y="4343400"/>
            <a:ext cx="1783080" cy="50292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2名（C氏・S氏）</a:t>
            </a:r>
          </a:p>
          <a:p>
            <a:pPr algn="ctr"/>
            <a:r>
              <a:rPr sz="850" b="0" i="0">
                <a:solidFill>
                  <a:srgbClr val="000000"/>
                </a:solidFill>
                <a:latin typeface="游ゴシック"/>
                <a:ea typeface="游ゴシック"/>
              </a:rPr>
              <a:t>※一部外部委託</a:t>
            </a:r>
          </a:p>
        </p:txBody>
      </p:sp>
      <p:cxnSp>
        <p:nvCxnSpPr>
          <p:cNvPr id="16" name="Connector 15"/>
          <p:cNvCxnSpPr/>
          <p:nvPr/>
        </p:nvCxnSpPr>
        <p:spPr>
          <a:xfrm>
            <a:off x="3223260" y="3703320"/>
            <a:ext cx="0" cy="228600"/>
          </a:xfrm>
          <a:prstGeom prst="line">
            <a:avLst/>
          </a:prstGeom>
          <a:ln w="15875">
            <a:solidFill>
              <a:srgbClr val="0B304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331720" y="3931920"/>
            <a:ext cx="1783080" cy="365760"/>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50" b="1" i="0">
                <a:solidFill>
                  <a:srgbClr val="FFFFFF"/>
                </a:solidFill>
                <a:latin typeface="游ゴシック"/>
                <a:ea typeface="游ゴシック"/>
              </a:rPr>
              <a:t>営業部門</a:t>
            </a:r>
          </a:p>
        </p:txBody>
      </p:sp>
      <p:sp>
        <p:nvSpPr>
          <p:cNvPr id="18" name="Rectangle 17"/>
          <p:cNvSpPr/>
          <p:nvPr/>
        </p:nvSpPr>
        <p:spPr>
          <a:xfrm>
            <a:off x="2331720" y="4343400"/>
            <a:ext cx="1783080" cy="50292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1名（M氏）</a:t>
            </a:r>
          </a:p>
        </p:txBody>
      </p:sp>
      <p:cxnSp>
        <p:nvCxnSpPr>
          <p:cNvPr id="19" name="Connector 18"/>
          <p:cNvCxnSpPr/>
          <p:nvPr/>
        </p:nvCxnSpPr>
        <p:spPr>
          <a:xfrm>
            <a:off x="5852160" y="3703320"/>
            <a:ext cx="0" cy="228600"/>
          </a:xfrm>
          <a:prstGeom prst="line">
            <a:avLst/>
          </a:prstGeom>
          <a:ln w="15875">
            <a:solidFill>
              <a:srgbClr val="0B304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343400" y="3931920"/>
            <a:ext cx="3017520" cy="365760"/>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50" b="1" i="0">
                <a:solidFill>
                  <a:srgbClr val="FFFFFF"/>
                </a:solidFill>
                <a:latin typeface="游ゴシック"/>
                <a:ea typeface="游ゴシック"/>
              </a:rPr>
              <a:t>越谷工場</a:t>
            </a:r>
          </a:p>
        </p:txBody>
      </p:sp>
      <p:cxnSp>
        <p:nvCxnSpPr>
          <p:cNvPr id="21" name="Connector 20"/>
          <p:cNvCxnSpPr/>
          <p:nvPr/>
        </p:nvCxnSpPr>
        <p:spPr>
          <a:xfrm>
            <a:off x="8572500" y="3703320"/>
            <a:ext cx="0" cy="228600"/>
          </a:xfrm>
          <a:prstGeom prst="line">
            <a:avLst/>
          </a:prstGeom>
          <a:ln w="15875">
            <a:solidFill>
              <a:srgbClr val="0B304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680960" y="3931920"/>
            <a:ext cx="1783080" cy="365760"/>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50" b="1" i="0">
                <a:solidFill>
                  <a:srgbClr val="FFFFFF"/>
                </a:solidFill>
                <a:latin typeface="游ゴシック"/>
                <a:ea typeface="游ゴシック"/>
              </a:rPr>
              <a:t>松戸営業所</a:t>
            </a:r>
          </a:p>
        </p:txBody>
      </p:sp>
      <p:sp>
        <p:nvSpPr>
          <p:cNvPr id="23" name="Rectangle 22"/>
          <p:cNvSpPr/>
          <p:nvPr/>
        </p:nvSpPr>
        <p:spPr>
          <a:xfrm>
            <a:off x="7680960" y="4343400"/>
            <a:ext cx="1783080" cy="50292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0" i="0">
                <a:solidFill>
                  <a:srgbClr val="000000"/>
                </a:solidFill>
                <a:latin typeface="游ゴシック"/>
                <a:ea typeface="游ゴシック"/>
              </a:rPr>
              <a:t>責任者（M氏）</a:t>
            </a:r>
          </a:p>
          <a:p>
            <a:pPr algn="ctr"/>
            <a:r>
              <a:rPr sz="850" b="0" i="0">
                <a:solidFill>
                  <a:srgbClr val="000000"/>
                </a:solidFill>
                <a:latin typeface="游ゴシック"/>
                <a:ea typeface="游ゴシック"/>
              </a:rPr>
              <a:t>従業員5名</a:t>
            </a:r>
          </a:p>
        </p:txBody>
      </p:sp>
      <p:cxnSp>
        <p:nvCxnSpPr>
          <p:cNvPr id="24" name="Connector 23"/>
          <p:cNvCxnSpPr/>
          <p:nvPr/>
        </p:nvCxnSpPr>
        <p:spPr>
          <a:xfrm>
            <a:off x="4800600" y="429768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343400" y="4434840"/>
            <a:ext cx="960120" cy="310896"/>
          </a:xfrm>
          <a:prstGeom prst="round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FFFFFF"/>
                </a:solidFill>
                <a:latin typeface="游ゴシック"/>
                <a:ea typeface="游ゴシック"/>
              </a:rPr>
              <a:t>製造部門</a:t>
            </a:r>
          </a:p>
        </p:txBody>
      </p:sp>
      <p:sp>
        <p:nvSpPr>
          <p:cNvPr id="26" name="Rectangle 25"/>
          <p:cNvSpPr/>
          <p:nvPr/>
        </p:nvSpPr>
        <p:spPr>
          <a:xfrm>
            <a:off x="4343400" y="4773168"/>
            <a:ext cx="960120" cy="475488"/>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00" b="0" i="0">
                <a:solidFill>
                  <a:srgbClr val="000000"/>
                </a:solidFill>
                <a:latin typeface="游ゴシック"/>
                <a:ea typeface="游ゴシック"/>
              </a:rPr>
              <a:t>揚氷（H氏）</a:t>
            </a:r>
          </a:p>
          <a:p>
            <a:pPr algn="ctr"/>
            <a:r>
              <a:rPr sz="800" b="0" i="0">
                <a:solidFill>
                  <a:srgbClr val="000000"/>
                </a:solidFill>
                <a:latin typeface="游ゴシック"/>
                <a:ea typeface="游ゴシック"/>
              </a:rPr>
              <a:t>加工（M氏）</a:t>
            </a:r>
          </a:p>
        </p:txBody>
      </p:sp>
      <p:cxnSp>
        <p:nvCxnSpPr>
          <p:cNvPr id="27" name="Connector 26"/>
          <p:cNvCxnSpPr/>
          <p:nvPr/>
        </p:nvCxnSpPr>
        <p:spPr>
          <a:xfrm>
            <a:off x="5824728" y="429768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367528" y="4434840"/>
            <a:ext cx="960120" cy="310896"/>
          </a:xfrm>
          <a:prstGeom prst="round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FFFFFF"/>
                </a:solidFill>
                <a:latin typeface="游ゴシック"/>
                <a:ea typeface="游ゴシック"/>
              </a:rPr>
              <a:t>配送部門</a:t>
            </a:r>
          </a:p>
        </p:txBody>
      </p:sp>
      <p:sp>
        <p:nvSpPr>
          <p:cNvPr id="29" name="Rectangle 28"/>
          <p:cNvSpPr/>
          <p:nvPr/>
        </p:nvSpPr>
        <p:spPr>
          <a:xfrm>
            <a:off x="5367528" y="4773168"/>
            <a:ext cx="960120" cy="475488"/>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00" b="0" i="0">
                <a:solidFill>
                  <a:srgbClr val="000000"/>
                </a:solidFill>
                <a:latin typeface="游ゴシック"/>
                <a:ea typeface="游ゴシック"/>
              </a:rPr>
              <a:t>K氏</a:t>
            </a:r>
          </a:p>
        </p:txBody>
      </p:sp>
      <p:cxnSp>
        <p:nvCxnSpPr>
          <p:cNvPr id="30" name="Connector 29"/>
          <p:cNvCxnSpPr/>
          <p:nvPr/>
        </p:nvCxnSpPr>
        <p:spPr>
          <a:xfrm>
            <a:off x="6848856" y="4297680"/>
            <a:ext cx="0" cy="1371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391656" y="4434840"/>
            <a:ext cx="960120" cy="310896"/>
          </a:xfrm>
          <a:prstGeom prst="round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50" b="1" i="0">
                <a:solidFill>
                  <a:srgbClr val="FFFFFF"/>
                </a:solidFill>
                <a:latin typeface="游ゴシック"/>
                <a:ea typeface="游ゴシック"/>
              </a:rPr>
              <a:t>品質検査</a:t>
            </a:r>
          </a:p>
        </p:txBody>
      </p:sp>
      <p:sp>
        <p:nvSpPr>
          <p:cNvPr id="32" name="Rectangle 31"/>
          <p:cNvSpPr/>
          <p:nvPr/>
        </p:nvSpPr>
        <p:spPr>
          <a:xfrm>
            <a:off x="6391656" y="4773168"/>
            <a:ext cx="960120" cy="475488"/>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800" b="0" i="0">
                <a:solidFill>
                  <a:srgbClr val="000000"/>
                </a:solidFill>
                <a:latin typeface="游ゴシック"/>
                <a:ea typeface="游ゴシック"/>
              </a:rPr>
              <a:t>代表者が担当</a:t>
            </a:r>
          </a:p>
        </p:txBody>
      </p:sp>
      <p:sp>
        <p:nvSpPr>
          <p:cNvPr id="33" name="Rectangle 32"/>
          <p:cNvSpPr/>
          <p:nvPr/>
        </p:nvSpPr>
        <p:spPr>
          <a:xfrm>
            <a:off x="6400800" y="1463040"/>
            <a:ext cx="3931920" cy="16002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34" name="TextBox 33"/>
          <p:cNvSpPr txBox="1"/>
          <p:nvPr/>
        </p:nvSpPr>
        <p:spPr>
          <a:xfrm>
            <a:off x="6537960" y="1536192"/>
            <a:ext cx="3703320" cy="1481328"/>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【人員構成】（2026年3月期末）</a:t>
            </a:r>
          </a:p>
          <a:p>
            <a:pPr algn="l"/>
            <a:r>
              <a:rPr sz="1000" b="0" i="0">
                <a:solidFill>
                  <a:srgbClr val="000000"/>
                </a:solidFill>
                <a:latin typeface="游ゴシック"/>
                <a:ea typeface="游ゴシック"/>
              </a:rPr>
              <a:t>　役員　　　　　　：1名（代表取締役）</a:t>
            </a:r>
          </a:p>
          <a:p>
            <a:pPr algn="l"/>
            <a:r>
              <a:rPr sz="1000" b="0" i="0">
                <a:solidFill>
                  <a:srgbClr val="000000"/>
                </a:solidFill>
                <a:latin typeface="游ゴシック"/>
                <a:ea typeface="游ゴシック"/>
              </a:rPr>
              <a:t>　従業員（越谷工場）：19名</a:t>
            </a:r>
          </a:p>
          <a:p>
            <a:pPr algn="l"/>
            <a:r>
              <a:rPr sz="1000" b="0" i="0">
                <a:solidFill>
                  <a:srgbClr val="000000"/>
                </a:solidFill>
                <a:latin typeface="游ゴシック"/>
                <a:ea typeface="游ゴシック"/>
              </a:rPr>
              <a:t>　従業員（松戸営業所）：5名</a:t>
            </a:r>
          </a:p>
          <a:p>
            <a:pPr algn="l"/>
            <a:r>
              <a:rPr sz="1000" b="1" i="0">
                <a:solidFill>
                  <a:srgbClr val="000000"/>
                </a:solidFill>
                <a:latin typeface="游ゴシック"/>
                <a:ea typeface="游ゴシック"/>
              </a:rPr>
              <a:t>　合計　　　　　　：25名</a:t>
            </a:r>
          </a:p>
          <a:p>
            <a:pPr algn="l"/>
            <a:r>
              <a:rPr sz="850" b="0" i="0">
                <a:solidFill>
                  <a:srgbClr val="404040"/>
                </a:solidFill>
                <a:latin typeface="游ゴシック"/>
                <a:ea typeface="游ゴシック"/>
              </a:rPr>
              <a:t>　※月別従事員数は23〜26名で推移</a:t>
            </a:r>
          </a:p>
        </p:txBody>
      </p:sp>
      <p:sp>
        <p:nvSpPr>
          <p:cNvPr id="35" name="TextBox 34"/>
          <p:cNvSpPr txBox="1"/>
          <p:nvPr/>
        </p:nvSpPr>
        <p:spPr>
          <a:xfrm>
            <a:off x="338328" y="5532120"/>
            <a:ext cx="9966960" cy="36576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※図中の氏名はイニシャル表記。役割分担は受領資料に基づく。品質検査部門は代表者が担当しているため、譲渡後の引継ぎ方法は要確認。</a:t>
            </a:r>
          </a:p>
          <a:p>
            <a:pPr algn="l"/>
            <a:r>
              <a:rPr sz="800" b="0" i="0">
                <a:solidFill>
                  <a:srgbClr val="404040"/>
                </a:solidFill>
                <a:latin typeface="游ゴシック Medium"/>
                <a:ea typeface="游ゴシック Medium"/>
              </a:rPr>
              <a:t>※従業員一覧（年齢・勤続年数・資格・雇用形態）は未受領のため、データルームにて開示予定。</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代表取締役の小野田洋氏が発行済株式の100%を保有するオーナー企業。取締役会・監査役は設置しておらず、株式の譲渡には株主総会の承認を要する。</a:t>
            </a:r>
          </a:p>
        </p:txBody>
      </p:sp>
      <p:sp>
        <p:nvSpPr>
          <p:cNvPr id="3" name="Title 2"/>
          <p:cNvSpPr>
            <a:spLocks noGrp="1"/>
          </p:cNvSpPr>
          <p:nvPr>
            <p:ph type="ctrTitle"/>
          </p:nvPr>
        </p:nvSpPr>
        <p:spPr/>
        <p:txBody>
          <a:bodyPr/>
          <a:lstStyle/>
          <a:p>
            <a:r>
              <a:t>株主及び役員</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Rectangle 5"/>
          <p:cNvSpPr/>
          <p:nvPr/>
        </p:nvSpPr>
        <p:spPr>
          <a:xfrm>
            <a:off x="338328" y="149047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7" name="TextBox 6"/>
          <p:cNvSpPr txBox="1"/>
          <p:nvPr/>
        </p:nvSpPr>
        <p:spPr>
          <a:xfrm>
            <a:off x="448056" y="146304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株主</a:t>
            </a:r>
          </a:p>
        </p:txBody>
      </p:sp>
      <p:graphicFrame>
        <p:nvGraphicFramePr>
          <p:cNvPr id="8" name="Table 7"/>
          <p:cNvGraphicFramePr>
            <a:graphicFrameLocks noGrp="1"/>
          </p:cNvGraphicFramePr>
          <p:nvPr/>
        </p:nvGraphicFramePr>
        <p:xfrm>
          <a:off x="338328" y="1783080"/>
          <a:ext cx="9966960" cy="932688"/>
        </p:xfrm>
        <a:graphic>
          <a:graphicData uri="http://schemas.openxmlformats.org/drawingml/2006/table">
            <a:tbl>
              <a:tblPr firstRow="0" bandRow="0">
                <a:tableStyleId>{5940675A-B579-460E-94D1-54222C63F5DA}</a:tableStyleId>
              </a:tblPr>
              <a:tblGrid>
                <a:gridCol w="457200"/>
                <a:gridCol w="2011680"/>
                <a:gridCol w="1645920"/>
                <a:gridCol w="1463040"/>
                <a:gridCol w="914400"/>
                <a:gridCol w="3474720"/>
              </a:tblGrid>
              <a:tr h="310896">
                <a:tc>
                  <a:txBody>
                    <a:bodyPr wrap="square"/>
                    <a:lstStyle/>
                    <a:p>
                      <a:pPr algn="ctr"/>
                      <a:r>
                        <a:rPr sz="1000" b="1" i="0">
                          <a:solidFill>
                            <a:srgbClr val="FFFFFF"/>
                          </a:solidFill>
                          <a:latin typeface="游ゴシック"/>
                          <a:ea typeface="游ゴシック"/>
                        </a:rPr>
                        <a:t>No</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氏名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役職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保有株式数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比率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備考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1000" b="0" i="0">
                          <a:solidFill>
                            <a:srgbClr val="000000"/>
                          </a:solidFill>
                          <a:latin typeface="游ゴシック"/>
                          <a:ea typeface="游ゴシック"/>
                        </a:rPr>
                        <a:t>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小野田 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代表取締役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22,000株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株式数は登記記載（要確認※）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100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1000" b="1" i="0">
                          <a:solidFill>
                            <a:srgbClr val="000000"/>
                          </a:solidFill>
                          <a:latin typeface="游ゴシック"/>
                          <a:ea typeface="游ゴシック"/>
                        </a:rPr>
                        <a:t>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100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22,000株</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100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9" name="Rectangle 8"/>
          <p:cNvSpPr/>
          <p:nvPr/>
        </p:nvSpPr>
        <p:spPr>
          <a:xfrm>
            <a:off x="338328" y="299923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448056" y="297180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役員</a:t>
            </a:r>
          </a:p>
        </p:txBody>
      </p:sp>
      <p:graphicFrame>
        <p:nvGraphicFramePr>
          <p:cNvPr id="11" name="Table 10"/>
          <p:cNvGraphicFramePr>
            <a:graphicFrameLocks noGrp="1"/>
          </p:cNvGraphicFramePr>
          <p:nvPr/>
        </p:nvGraphicFramePr>
        <p:xfrm>
          <a:off x="338328" y="3291840"/>
          <a:ext cx="9966960" cy="621792"/>
        </p:xfrm>
        <a:graphic>
          <a:graphicData uri="http://schemas.openxmlformats.org/drawingml/2006/table">
            <a:tbl>
              <a:tblPr firstRow="0" bandRow="0">
                <a:tableStyleId>{5940675A-B579-460E-94D1-54222C63F5DA}</a:tableStyleId>
              </a:tblPr>
              <a:tblGrid>
                <a:gridCol w="457200"/>
                <a:gridCol w="2011680"/>
                <a:gridCol w="1645920"/>
                <a:gridCol w="1463040"/>
                <a:gridCol w="1828800"/>
                <a:gridCol w="2560320"/>
              </a:tblGrid>
              <a:tr h="310896">
                <a:tc>
                  <a:txBody>
                    <a:bodyPr wrap="square"/>
                    <a:lstStyle/>
                    <a:p>
                      <a:pPr algn="ctr"/>
                      <a:r>
                        <a:rPr sz="1000" b="1" i="0">
                          <a:solidFill>
                            <a:srgbClr val="FFFFFF"/>
                          </a:solidFill>
                          <a:latin typeface="游ゴシック"/>
                          <a:ea typeface="游ゴシック"/>
                        </a:rPr>
                        <a:t>No</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氏名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役職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役員報酬(年)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M&amp;A後の進退</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備考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1000" b="0" i="0">
                          <a:solidFill>
                            <a:srgbClr val="000000"/>
                          </a:solidFill>
                          <a:latin typeface="游ゴシック"/>
                          <a:ea typeface="游ゴシック"/>
                        </a:rPr>
                        <a:t>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小野田 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代表取締役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7,200千円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引継ぎ後に退任予定</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2020年5月重任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12" name="Rectangle 11"/>
          <p:cNvSpPr/>
          <p:nvPr/>
        </p:nvSpPr>
        <p:spPr>
          <a:xfrm>
            <a:off x="338328" y="4160520"/>
            <a:ext cx="4754880" cy="100584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3" name="TextBox 12"/>
          <p:cNvSpPr txBox="1"/>
          <p:nvPr/>
        </p:nvSpPr>
        <p:spPr>
          <a:xfrm>
            <a:off x="448056" y="4206240"/>
            <a:ext cx="4572000" cy="960120"/>
          </a:xfrm>
          <a:prstGeom prst="rect">
            <a:avLst/>
          </a:prstGeom>
          <a:noFill/>
        </p:spPr>
        <p:txBody>
          <a:bodyPr wrap="square" anchor="t" lIns="18288" rIns="18288" tIns="18288" bIns="18288"/>
          <a:lstStyle/>
          <a:p>
            <a:pPr algn="l"/>
            <a:r>
              <a:rPr sz="1000" b="0" i="0">
                <a:solidFill>
                  <a:srgbClr val="000000"/>
                </a:solidFill>
                <a:latin typeface="游ゴシック"/>
                <a:ea typeface="游ゴシック"/>
              </a:rPr>
              <a:t>株券発行有無：株券発行会社（定款の定め）</a:t>
            </a:r>
          </a:p>
          <a:p>
            <a:pPr algn="l"/>
            <a:r>
              <a:rPr sz="1000" b="0" i="0">
                <a:solidFill>
                  <a:srgbClr val="000000"/>
                </a:solidFill>
                <a:latin typeface="游ゴシック"/>
                <a:ea typeface="游ゴシック"/>
              </a:rPr>
              <a:t>譲渡承認機関：株主総会</a:t>
            </a:r>
          </a:p>
          <a:p>
            <a:pPr algn="l"/>
            <a:r>
              <a:rPr sz="1000" b="0" i="0">
                <a:solidFill>
                  <a:srgbClr val="000000"/>
                </a:solidFill>
                <a:latin typeface="游ゴシック"/>
                <a:ea typeface="游ゴシック"/>
              </a:rPr>
              <a:t>取締役会　　：設置なし</a:t>
            </a:r>
          </a:p>
          <a:p>
            <a:pPr algn="l"/>
            <a:r>
              <a:rPr sz="1000" b="0" i="0">
                <a:solidFill>
                  <a:srgbClr val="000000"/>
                </a:solidFill>
                <a:latin typeface="游ゴシック"/>
                <a:ea typeface="游ゴシック"/>
              </a:rPr>
              <a:t>監査役　　　：設置なし</a:t>
            </a:r>
          </a:p>
        </p:txBody>
      </p:sp>
      <p:sp>
        <p:nvSpPr>
          <p:cNvPr id="14" name="TextBox 13"/>
          <p:cNvSpPr txBox="1"/>
          <p:nvPr/>
        </p:nvSpPr>
        <p:spPr>
          <a:xfrm>
            <a:off x="338328" y="5852160"/>
            <a:ext cx="9966960" cy="36576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※発行済株式数は登記上22,000株。決算書の株主資本等変動計算書注記（200株）・法人税申告書別表二（220株）と記載が異なるため、株主名簿・定款で確認中（要確認）。</a:t>
            </a:r>
          </a:p>
          <a:p>
            <a:pPr algn="l"/>
            <a:r>
              <a:rPr sz="800" b="0" i="0">
                <a:solidFill>
                  <a:srgbClr val="404040"/>
                </a:solidFill>
                <a:latin typeface="游ゴシック Medium"/>
                <a:ea typeface="游ゴシック Medium"/>
              </a:rPr>
              <a:t>※株券発行会社のため、株式譲渡には株券の交付を要する。株券の現存状況は要確認。</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越谷市平方工業団地内の自社工場（土地2,145㎡・建物約2,094㎡）を中核拠点とし、千葉県松戸市に販売拠点の営業所を賃借している。</a:t>
            </a:r>
          </a:p>
        </p:txBody>
      </p:sp>
      <p:sp>
        <p:nvSpPr>
          <p:cNvPr id="3" name="Title 2"/>
          <p:cNvSpPr>
            <a:spLocks noGrp="1"/>
          </p:cNvSpPr>
          <p:nvPr>
            <p:ph type="ctrTitle"/>
          </p:nvPr>
        </p:nvSpPr>
        <p:spPr/>
        <p:txBody>
          <a:bodyPr/>
          <a:lstStyle/>
          <a:p>
            <a:r>
              <a:t>拠点概要</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graphicFrame>
        <p:nvGraphicFramePr>
          <p:cNvPr id="6" name="Table 5"/>
          <p:cNvGraphicFramePr>
            <a:graphicFrameLocks noGrp="1"/>
          </p:cNvGraphicFramePr>
          <p:nvPr/>
        </p:nvGraphicFramePr>
        <p:xfrm>
          <a:off x="338328" y="1481328"/>
          <a:ext cx="10012679" cy="1554480"/>
        </p:xfrm>
        <a:graphic>
          <a:graphicData uri="http://schemas.openxmlformats.org/drawingml/2006/table">
            <a:tbl>
              <a:tblPr firstRow="0" bandRow="0">
                <a:tableStyleId>{5940675A-B579-460E-94D1-54222C63F5DA}</a:tableStyleId>
              </a:tblPr>
              <a:tblGrid>
                <a:gridCol w="1280160"/>
                <a:gridCol w="2651760"/>
                <a:gridCol w="2103120"/>
                <a:gridCol w="1874519"/>
                <a:gridCol w="731520"/>
                <a:gridCol w="1371600"/>
              </a:tblGrid>
              <a:tr h="310896">
                <a:tc>
                  <a:txBody>
                    <a:bodyPr wrap="square"/>
                    <a:lstStyle/>
                    <a:p>
                      <a:pPr algn="ctr"/>
                      <a:r>
                        <a:rPr sz="950" b="1" i="0">
                          <a:solidFill>
                            <a:srgbClr val="FFFFFF"/>
                          </a:solidFill>
                          <a:latin typeface="游ゴシック"/>
                          <a:ea typeface="游ゴシック"/>
                        </a:rPr>
                        <a:t>拠点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所在地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用途</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所有／賃借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従業員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延床面積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950" b="0" i="0">
                          <a:solidFill>
                            <a:srgbClr val="000000"/>
                          </a:solidFill>
                          <a:latin typeface="游ゴシック"/>
                          <a:ea typeface="游ゴシック"/>
                        </a:rPr>
                        <a:t>越谷工場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埼玉県越谷市大字平方999-4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製氷・加工・冷蔵保管・配送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所有（土地・建物）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19名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2,065㎡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松戸営業所</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千葉県松戸市稔台5-14-3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角氷・加工氷等の販売</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賃借（年1,200千円）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5名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本店（登記）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埼玉県越谷市蒲生寿町19-15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管理（代表者住所）</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駐車場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埼玉県越谷市蒲生寿町19-15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駐車場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代表者から賃借（年545千円）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7" name="Rectangle 6"/>
          <p:cNvSpPr/>
          <p:nvPr/>
        </p:nvSpPr>
        <p:spPr>
          <a:xfrm>
            <a:off x="338328" y="3154680"/>
            <a:ext cx="4892040" cy="310896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越谷工場（外観）（king-ice.com/corporate.html）</a:t>
            </a:r>
          </a:p>
          <a:p>
            <a:pPr algn="ctr"/>
            <a:r>
              <a:rPr sz="700" b="0" i="0">
                <a:solidFill>
                  <a:srgbClr val="0889C9"/>
                </a:solidFill>
                <a:latin typeface="游ゴシック"/>
                <a:ea typeface="游ゴシック"/>
              </a:rPr>
              <a:t>画像/factory.jpg を置いて再生成</a:t>
            </a:r>
          </a:p>
        </p:txBody>
      </p:sp>
      <p:sp>
        <p:nvSpPr>
          <p:cNvPr id="8" name="Rectangle 7"/>
          <p:cNvSpPr/>
          <p:nvPr/>
        </p:nvSpPr>
        <p:spPr>
          <a:xfrm>
            <a:off x="5440680" y="3154680"/>
            <a:ext cx="4892040" cy="3108960"/>
          </a:xfrm>
          <a:prstGeom prst="rect">
            <a:avLst/>
          </a:prstGeom>
          <a:solidFill>
            <a:srgbClr val="F4F6F7"/>
          </a:solidFill>
          <a:ln w="952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000" b="1" i="0">
                <a:solidFill>
                  <a:srgbClr val="404040"/>
                </a:solidFill>
                <a:latin typeface="游ゴシック"/>
                <a:ea typeface="游ゴシック"/>
              </a:rPr>
              <a:t>写真差替え枠</a:t>
            </a:r>
          </a:p>
          <a:p>
            <a:pPr algn="ctr"/>
            <a:r>
              <a:rPr sz="750" b="0" i="0">
                <a:solidFill>
                  <a:srgbClr val="404040"/>
                </a:solidFill>
                <a:latin typeface="游ゴシック"/>
                <a:ea typeface="游ゴシック"/>
              </a:rPr>
              <a:t>所在地地図（越谷工場・松戸営業所）</a:t>
            </a:r>
          </a:p>
          <a:p>
            <a:pPr algn="ctr"/>
            <a:r>
              <a:rPr sz="700" b="0" i="0">
                <a:solidFill>
                  <a:srgbClr val="0889C9"/>
                </a:solidFill>
                <a:latin typeface="游ゴシック"/>
                <a:ea typeface="游ゴシック"/>
              </a:rPr>
              <a:t>画像/map.jpg を置いて再生成</a:t>
            </a:r>
          </a:p>
        </p:txBody>
      </p:sp>
      <p:sp>
        <p:nvSpPr>
          <p:cNvPr id="9" name="TextBox 8"/>
          <p:cNvSpPr txBox="1"/>
          <p:nvPr/>
        </p:nvSpPr>
        <p:spPr>
          <a:xfrm>
            <a:off x="338328" y="6446520"/>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※延床面積は事業所別内訳書の記載。越谷工場建物は登記上2,093.87㎡で差異あり（要確認）。本店所在地は代表者住所と同一で、実務上の拠点は越谷工場。</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越谷工場の土地・建物を会社所有。固定資産税評価額は土地56,890千円・建物91,222千円で、工場は日本政策金融公庫の担保に供されている。</a:t>
            </a:r>
          </a:p>
        </p:txBody>
      </p:sp>
      <p:sp>
        <p:nvSpPr>
          <p:cNvPr id="3" name="Title 2"/>
          <p:cNvSpPr>
            <a:spLocks noGrp="1"/>
          </p:cNvSpPr>
          <p:nvPr>
            <p:ph type="ctrTitle"/>
          </p:nvPr>
        </p:nvSpPr>
        <p:spPr/>
        <p:txBody>
          <a:bodyPr/>
          <a:lstStyle/>
          <a:p>
            <a:r>
              <a:t>不動産概況</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Rectangle 5"/>
          <p:cNvSpPr/>
          <p:nvPr/>
        </p:nvSpPr>
        <p:spPr>
          <a:xfrm>
            <a:off x="338328" y="149047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7" name="TextBox 6"/>
          <p:cNvSpPr txBox="1"/>
          <p:nvPr/>
        </p:nvSpPr>
        <p:spPr>
          <a:xfrm>
            <a:off x="448056" y="146304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所有不動産</a:t>
            </a:r>
          </a:p>
        </p:txBody>
      </p:sp>
      <p:graphicFrame>
        <p:nvGraphicFramePr>
          <p:cNvPr id="8" name="Table 7"/>
          <p:cNvGraphicFramePr>
            <a:graphicFrameLocks noGrp="1"/>
          </p:cNvGraphicFramePr>
          <p:nvPr/>
        </p:nvGraphicFramePr>
        <p:xfrm>
          <a:off x="338328" y="1783080"/>
          <a:ext cx="9966960" cy="1316736"/>
        </p:xfrm>
        <a:graphic>
          <a:graphicData uri="http://schemas.openxmlformats.org/drawingml/2006/table">
            <a:tbl>
              <a:tblPr firstRow="0" bandRow="0">
                <a:tableStyleId>{5940675A-B579-460E-94D1-54222C63F5DA}</a:tableStyleId>
              </a:tblPr>
              <a:tblGrid>
                <a:gridCol w="411480"/>
                <a:gridCol w="640080"/>
                <a:gridCol w="914400"/>
                <a:gridCol w="2651760"/>
                <a:gridCol w="1051560"/>
                <a:gridCol w="1463040"/>
                <a:gridCol w="1691640"/>
                <a:gridCol w="1143000"/>
              </a:tblGrid>
              <a:tr h="329184">
                <a:tc>
                  <a:txBody>
                    <a:bodyPr wrap="square"/>
                    <a:lstStyle/>
                    <a:p>
                      <a:pPr algn="ctr"/>
                      <a:r>
                        <a:rPr sz="950" b="1" i="0">
                          <a:solidFill>
                            <a:srgbClr val="FFFFFF"/>
                          </a:solidFill>
                          <a:latin typeface="游ゴシック"/>
                          <a:ea typeface="游ゴシック"/>
                        </a:rPr>
                        <a:t>No</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種類</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区分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所在地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面積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26/3期末簿価(千円)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固定資産税評価額(千円)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担保</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29184">
                <a:tc>
                  <a:txBody>
                    <a:bodyPr wrap="square"/>
                    <a:lstStyle/>
                    <a:p>
                      <a:pPr algn="l"/>
                      <a:r>
                        <a:rPr sz="950" b="0" i="0">
                          <a:solidFill>
                            <a:srgbClr val="000000"/>
                          </a:solidFill>
                          <a:latin typeface="游ゴシック"/>
                          <a:ea typeface="游ゴシック"/>
                        </a:rPr>
                        <a:t>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土地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越谷工場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埼玉県越谷市大字平方999-4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2,145.18㎡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56,890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日本公庫</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50" b="0" i="0">
                          <a:solidFill>
                            <a:srgbClr val="000000"/>
                          </a:solidFill>
                          <a:latin typeface="游ゴシック"/>
                          <a:ea typeface="游ゴシック"/>
                        </a:rPr>
                        <a:t>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建物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越谷工場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同上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2,093.87㎡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259,242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91,222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日本公庫</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299,684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148,112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9" name="Rectangle 8"/>
          <p:cNvSpPr/>
          <p:nvPr/>
        </p:nvSpPr>
        <p:spPr>
          <a:xfrm>
            <a:off x="338328" y="3364991"/>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448056" y="333756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賃借不動産</a:t>
            </a:r>
          </a:p>
        </p:txBody>
      </p:sp>
      <p:graphicFrame>
        <p:nvGraphicFramePr>
          <p:cNvPr id="11" name="Table 10"/>
          <p:cNvGraphicFramePr>
            <a:graphicFrameLocks noGrp="1"/>
          </p:cNvGraphicFramePr>
          <p:nvPr/>
        </p:nvGraphicFramePr>
        <p:xfrm>
          <a:off x="338328" y="3657600"/>
          <a:ext cx="9966960" cy="1243584"/>
        </p:xfrm>
        <a:graphic>
          <a:graphicData uri="http://schemas.openxmlformats.org/drawingml/2006/table">
            <a:tbl>
              <a:tblPr firstRow="0" bandRow="0">
                <a:tableStyleId>{5940675A-B579-460E-94D1-54222C63F5DA}</a:tableStyleId>
              </a:tblPr>
              <a:tblGrid>
                <a:gridCol w="411480"/>
                <a:gridCol w="1645920"/>
                <a:gridCol w="2651760"/>
                <a:gridCol w="1463040"/>
                <a:gridCol w="1280160"/>
                <a:gridCol w="2514600"/>
              </a:tblGrid>
              <a:tr h="310896">
                <a:tc>
                  <a:txBody>
                    <a:bodyPr wrap="square"/>
                    <a:lstStyle/>
                    <a:p>
                      <a:pPr algn="ctr"/>
                      <a:r>
                        <a:rPr sz="950" b="1" i="0">
                          <a:solidFill>
                            <a:srgbClr val="FFFFFF"/>
                          </a:solidFill>
                          <a:latin typeface="游ゴシック"/>
                          <a:ea typeface="游ゴシック"/>
                        </a:rPr>
                        <a:t>No</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区分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所在地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貸主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年間賃料(千円)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備考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950" b="0" i="0">
                          <a:solidFill>
                            <a:srgbClr val="000000"/>
                          </a:solidFill>
                          <a:latin typeface="游ゴシック"/>
                          <a:ea typeface="游ゴシック"/>
                        </a:rPr>
                        <a:t>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店舗（松戸営業所）</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千葉県松戸市稔台5-14-3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法人（第三者）</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駐車場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埼玉県越谷市蒲生寿町19-15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代表者</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545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代表者からの賃借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1,745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12" name="TextBox 11"/>
          <p:cNvSpPr txBox="1"/>
          <p:nvPr/>
        </p:nvSpPr>
        <p:spPr>
          <a:xfrm>
            <a:off x="338328" y="5257800"/>
            <a:ext cx="9966960" cy="54864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※固定資産税評価額は2025年3月期時点の資料による。最新年度の評価証明書は要確認。</a:t>
            </a:r>
          </a:p>
          <a:p>
            <a:pPr algn="l"/>
            <a:r>
              <a:rPr sz="800" b="0" i="0">
                <a:solidFill>
                  <a:srgbClr val="404040"/>
                </a:solidFill>
                <a:latin typeface="游ゴシック Medium"/>
                <a:ea typeface="游ゴシック Medium"/>
              </a:rPr>
              <a:t>※建物の簿価は会計上の減価償却を行っていないため、固定資産税評価額を大きく上回る（内訳書記載の簿価280,673千円とBS残高259,242千円にも差異あり・要確認）。</a:t>
            </a:r>
          </a:p>
          <a:p>
            <a:pPr algn="l"/>
            <a:r>
              <a:rPr sz="800" b="0" i="0">
                <a:solidFill>
                  <a:srgbClr val="404040"/>
                </a:solidFill>
                <a:latin typeface="游ゴシック Medium"/>
                <a:ea typeface="游ゴシック Medium"/>
              </a:rPr>
              <a:t>※代表者個人所有の土地を栃木銀行・商工組合中央金庫の借入担保に提供している（会社資産ではないため上表に含まない）。</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製氷設備4台・袋詰砕氷設備・冷蔵設備を保有。機械は127件・取得価額375百万円に上り、近年も製氷設備の更新・修繕投資を継続している。</a:t>
            </a:r>
          </a:p>
        </p:txBody>
      </p:sp>
      <p:sp>
        <p:nvSpPr>
          <p:cNvPr id="3" name="Title 2"/>
          <p:cNvSpPr>
            <a:spLocks noGrp="1"/>
          </p:cNvSpPr>
          <p:nvPr>
            <p:ph type="ctrTitle"/>
          </p:nvPr>
        </p:nvSpPr>
        <p:spPr/>
        <p:txBody>
          <a:bodyPr/>
          <a:lstStyle/>
          <a:p>
            <a:r>
              <a:t>保有設備</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Rectangle 5"/>
          <p:cNvSpPr/>
          <p:nvPr/>
        </p:nvSpPr>
        <p:spPr>
          <a:xfrm>
            <a:off x="338328" y="149047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7" name="TextBox 6"/>
          <p:cNvSpPr txBox="1"/>
          <p:nvPr/>
        </p:nvSpPr>
        <p:spPr>
          <a:xfrm>
            <a:off x="448056" y="146304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主要設備</a:t>
            </a:r>
          </a:p>
        </p:txBody>
      </p:sp>
      <p:graphicFrame>
        <p:nvGraphicFramePr>
          <p:cNvPr id="8" name="Table 7"/>
          <p:cNvGraphicFramePr>
            <a:graphicFrameLocks noGrp="1"/>
          </p:cNvGraphicFramePr>
          <p:nvPr/>
        </p:nvGraphicFramePr>
        <p:xfrm>
          <a:off x="338328" y="1783080"/>
          <a:ext cx="8961120" cy="1243584"/>
        </p:xfrm>
        <a:graphic>
          <a:graphicData uri="http://schemas.openxmlformats.org/drawingml/2006/table">
            <a:tbl>
              <a:tblPr firstRow="0" bandRow="0">
                <a:tableStyleId>{5940675A-B579-460E-94D1-54222C63F5DA}</a:tableStyleId>
              </a:tblPr>
              <a:tblGrid>
                <a:gridCol w="1828800"/>
                <a:gridCol w="822960"/>
                <a:gridCol w="1737360"/>
                <a:gridCol w="4572000"/>
              </a:tblGrid>
              <a:tr h="310896">
                <a:tc>
                  <a:txBody>
                    <a:bodyPr wrap="square"/>
                    <a:lstStyle/>
                    <a:p>
                      <a:pPr algn="ctr"/>
                      <a:r>
                        <a:rPr sz="1000" b="1" i="0">
                          <a:solidFill>
                            <a:srgbClr val="FFFFFF"/>
                          </a:solidFill>
                          <a:latin typeface="游ゴシック"/>
                          <a:ea typeface="游ゴシック"/>
                        </a:rPr>
                        <a:t>設備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台数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能力</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備考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1000" b="0" i="0">
                          <a:solidFill>
                            <a:srgbClr val="000000"/>
                          </a:solidFill>
                          <a:latin typeface="游ゴシック"/>
                          <a:ea typeface="游ゴシック"/>
                        </a:rPr>
                        <a:t>製氷設備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00" b="0" i="0">
                          <a:solidFill>
                            <a:srgbClr val="000000"/>
                          </a:solidFill>
                          <a:latin typeface="游ゴシック"/>
                          <a:ea typeface="游ゴシック"/>
                        </a:rPr>
                        <a:t>4台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日産40トン</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法人事業概況説明書（第67期）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1000" b="0" i="0">
                          <a:solidFill>
                            <a:srgbClr val="000000"/>
                          </a:solidFill>
                          <a:latin typeface="游ゴシック"/>
                          <a:ea typeface="游ゴシック"/>
                        </a:rPr>
                        <a:t>袋詰砕氷設備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00" b="0" i="0">
                          <a:solidFill>
                            <a:srgbClr val="000000"/>
                          </a:solidFill>
                          <a:latin typeface="游ゴシック"/>
                          <a:ea typeface="游ゴシック"/>
                        </a:rPr>
                        <a:t>1台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日産2,500ケース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法人事業概況説明書（第67期）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1000" b="0" i="0">
                          <a:solidFill>
                            <a:srgbClr val="000000"/>
                          </a:solidFill>
                          <a:latin typeface="游ゴシック"/>
                          <a:ea typeface="游ゴシック"/>
                        </a:rPr>
                        <a:t>冷蔵設備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00" b="0" i="0">
                          <a:solidFill>
                            <a:srgbClr val="000000"/>
                          </a:solidFill>
                          <a:latin typeface="游ゴシック"/>
                          <a:ea typeface="游ゴシック"/>
                        </a:rPr>
                        <a:t>3台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F級 1,000トン</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1000" b="0" i="0">
                          <a:solidFill>
                            <a:srgbClr val="000000"/>
                          </a:solidFill>
                          <a:latin typeface="游ゴシック"/>
                          <a:ea typeface="游ゴシック"/>
                        </a:rPr>
                        <a:t>法人事業概況説明書（第67期）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9" name="Rectangle 8"/>
          <p:cNvSpPr/>
          <p:nvPr/>
        </p:nvSpPr>
        <p:spPr>
          <a:xfrm>
            <a:off x="338328" y="322783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448056" y="320040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償却資産の状況（第67期 減価償却計算書）</a:t>
            </a:r>
          </a:p>
        </p:txBody>
      </p:sp>
      <p:graphicFrame>
        <p:nvGraphicFramePr>
          <p:cNvPr id="11" name="Table 10"/>
          <p:cNvGraphicFramePr>
            <a:graphicFrameLocks noGrp="1"/>
          </p:cNvGraphicFramePr>
          <p:nvPr/>
        </p:nvGraphicFramePr>
        <p:xfrm>
          <a:off x="338328" y="3520440"/>
          <a:ext cx="8686800" cy="2048256"/>
        </p:xfrm>
        <a:graphic>
          <a:graphicData uri="http://schemas.openxmlformats.org/drawingml/2006/table">
            <a:tbl>
              <a:tblPr firstRow="0" bandRow="0">
                <a:tableStyleId>{5940675A-B579-460E-94D1-54222C63F5DA}</a:tableStyleId>
              </a:tblPr>
              <a:tblGrid>
                <a:gridCol w="1645920"/>
                <a:gridCol w="822960"/>
                <a:gridCol w="1554480"/>
                <a:gridCol w="1554480"/>
                <a:gridCol w="1554480"/>
                <a:gridCol w="1554480"/>
              </a:tblGrid>
              <a:tr h="292608">
                <a:tc>
                  <a:txBody>
                    <a:bodyPr wrap="square"/>
                    <a:lstStyle/>
                    <a:p>
                      <a:pPr algn="ctr"/>
                      <a:r>
                        <a:rPr sz="100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件数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取得価額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期末簿価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当期償却額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00" b="1" i="0">
                          <a:solidFill>
                            <a:srgbClr val="FFFFFF"/>
                          </a:solidFill>
                          <a:latin typeface="游ゴシック"/>
                          <a:ea typeface="游ゴシック"/>
                        </a:rPr>
                        <a:t>当期償却不足額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92608">
                <a:tc>
                  <a:txBody>
                    <a:bodyPr wrap="square"/>
                    <a:lstStyle/>
                    <a:p>
                      <a:pPr algn="l"/>
                      <a:r>
                        <a:rPr sz="1000" b="0" i="0">
                          <a:solidFill>
                            <a:srgbClr val="000000"/>
                          </a:solidFill>
                          <a:latin typeface="游ゴシック"/>
                          <a:ea typeface="游ゴシック"/>
                        </a:rPr>
                        <a:t>建物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5件</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325,235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259,242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21,745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0" i="0">
                          <a:solidFill>
                            <a:srgbClr val="000000"/>
                          </a:solidFill>
                          <a:latin typeface="游ゴシック"/>
                          <a:ea typeface="游ゴシック"/>
                        </a:rPr>
                        <a:t>構築物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12件</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14,746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2,116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448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0" i="0">
                          <a:solidFill>
                            <a:srgbClr val="000000"/>
                          </a:solidFill>
                          <a:latin typeface="游ゴシック"/>
                          <a:ea typeface="游ゴシック"/>
                        </a:rPr>
                        <a:t>機械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127件</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374,956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99,691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19,089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3,092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0" i="0">
                          <a:solidFill>
                            <a:srgbClr val="000000"/>
                          </a:solidFill>
                          <a:latin typeface="游ゴシック"/>
                          <a:ea typeface="游ゴシック"/>
                        </a:rPr>
                        <a:t>車両運搬具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23件</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49,705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4,905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2,441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0" i="0">
                          <a:solidFill>
                            <a:srgbClr val="000000"/>
                          </a:solidFill>
                          <a:latin typeface="游ゴシック"/>
                          <a:ea typeface="游ゴシック"/>
                        </a:rPr>
                        <a:t>器具備品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1000" b="0" i="0">
                          <a:solidFill>
                            <a:srgbClr val="000000"/>
                          </a:solidFill>
                          <a:latin typeface="Arial"/>
                          <a:ea typeface="游ゴシック"/>
                        </a:rPr>
                        <a:t>18件</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9,896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3,319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806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10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92608">
                <a:tc>
                  <a:txBody>
                    <a:bodyPr wrap="square"/>
                    <a:lstStyle/>
                    <a:p>
                      <a:pPr algn="l"/>
                      <a:r>
                        <a:rPr sz="1000" b="1" i="0">
                          <a:solidFill>
                            <a:srgbClr val="000000"/>
                          </a:solidFill>
                          <a:latin typeface="游ゴシック"/>
                          <a:ea typeface="游ゴシック"/>
                        </a:rPr>
                        <a:t>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185件</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774,538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369,273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22,335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1000" b="1" i="0">
                          <a:solidFill>
                            <a:srgbClr val="000000"/>
                          </a:solidFill>
                          <a:latin typeface="Arial"/>
                          <a:ea typeface="游ゴシック"/>
                        </a:rPr>
                        <a:t>25,286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12" name="TextBox 11"/>
          <p:cNvSpPr txBox="1"/>
          <p:nvPr/>
        </p:nvSpPr>
        <p:spPr>
          <a:xfrm>
            <a:off x="7132320" y="3291840"/>
            <a:ext cx="155448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13" name="TextBox 12"/>
          <p:cNvSpPr txBox="1"/>
          <p:nvPr/>
        </p:nvSpPr>
        <p:spPr>
          <a:xfrm>
            <a:off x="338328" y="5715000"/>
            <a:ext cx="9966960" cy="36576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※建物（越谷工場、1991年3月取得）は当期の償却を行っておらず、当期償却不足額21,745千円。償却資産の明細（185件）はデータルームにて開示予定。</a:t>
            </a:r>
          </a:p>
          <a:p>
            <a:pPr algn="l"/>
            <a:r>
              <a:rPr sz="800" b="0" i="0">
                <a:solidFill>
                  <a:srgbClr val="404040"/>
                </a:solidFill>
                <a:latin typeface="游ゴシック Medium"/>
                <a:ea typeface="游ゴシック Medium"/>
              </a:rPr>
              <a:t>※主要設備の更新時期・修繕計画は要確認。</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氷雪製造業・氷雪販売業の食品営業許可を取得。借入は日本政策金融公庫・地方銀行・信用金庫等の6行庫で、代表者が連帯保証・担保提供を行っている。</a:t>
            </a:r>
          </a:p>
        </p:txBody>
      </p:sp>
      <p:sp>
        <p:nvSpPr>
          <p:cNvPr id="3" name="Title 2"/>
          <p:cNvSpPr>
            <a:spLocks noGrp="1"/>
          </p:cNvSpPr>
          <p:nvPr>
            <p:ph type="ctrTitle"/>
          </p:nvPr>
        </p:nvSpPr>
        <p:spPr/>
        <p:txBody>
          <a:bodyPr/>
          <a:lstStyle/>
          <a:p>
            <a:r>
              <a:t>許認可・取引金融機関</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Rectangle 5"/>
          <p:cNvSpPr/>
          <p:nvPr/>
        </p:nvSpPr>
        <p:spPr>
          <a:xfrm>
            <a:off x="338328" y="149047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7" name="TextBox 6"/>
          <p:cNvSpPr txBox="1"/>
          <p:nvPr/>
        </p:nvSpPr>
        <p:spPr>
          <a:xfrm>
            <a:off x="448056" y="146304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許認可</a:t>
            </a:r>
          </a:p>
        </p:txBody>
      </p:sp>
      <p:graphicFrame>
        <p:nvGraphicFramePr>
          <p:cNvPr id="8" name="Table 7"/>
          <p:cNvGraphicFramePr>
            <a:graphicFrameLocks noGrp="1"/>
          </p:cNvGraphicFramePr>
          <p:nvPr/>
        </p:nvGraphicFramePr>
        <p:xfrm>
          <a:off x="338328" y="1783080"/>
          <a:ext cx="9966960" cy="932688"/>
        </p:xfrm>
        <a:graphic>
          <a:graphicData uri="http://schemas.openxmlformats.org/drawingml/2006/table">
            <a:tbl>
              <a:tblPr firstRow="0" bandRow="0">
                <a:tableStyleId>{5940675A-B579-460E-94D1-54222C63F5DA}</a:tableStyleId>
              </a:tblPr>
              <a:tblGrid>
                <a:gridCol w="2743200"/>
                <a:gridCol w="1737360"/>
                <a:gridCol w="1463040"/>
                <a:gridCol w="4023360"/>
              </a:tblGrid>
              <a:tr h="310896">
                <a:tc>
                  <a:txBody>
                    <a:bodyPr wrap="square"/>
                    <a:lstStyle/>
                    <a:p>
                      <a:pPr algn="ctr"/>
                      <a:r>
                        <a:rPr sz="950" b="1" i="0">
                          <a:solidFill>
                            <a:srgbClr val="FFFFFF"/>
                          </a:solidFill>
                          <a:latin typeface="游ゴシック"/>
                          <a:ea typeface="游ゴシック"/>
                        </a:rPr>
                        <a:t>名称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番号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許可日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備考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950" b="0" i="0">
                          <a:solidFill>
                            <a:srgbClr val="000000"/>
                          </a:solidFill>
                          <a:latin typeface="游ゴシック"/>
                          <a:ea typeface="游ゴシック"/>
                        </a:rPr>
                        <a:t>営業許可書（氷雪製造業）</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指令保生食第792号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2021年3月3日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有効期限・更新状況 要確認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食品営業許可証（氷雪販売業）</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第2020-1号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2021年1月15日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5年更新（2026年1月が更新期限）→更新状況 要確認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9" name="Rectangle 8"/>
          <p:cNvSpPr/>
          <p:nvPr/>
        </p:nvSpPr>
        <p:spPr>
          <a:xfrm>
            <a:off x="338328" y="2907791"/>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448056" y="2880360"/>
            <a:ext cx="44622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借入金の状況（2026年3月期末）</a:t>
            </a:r>
          </a:p>
        </p:txBody>
      </p:sp>
      <p:graphicFrame>
        <p:nvGraphicFramePr>
          <p:cNvPr id="11" name="Table 10"/>
          <p:cNvGraphicFramePr>
            <a:graphicFrameLocks noGrp="1"/>
          </p:cNvGraphicFramePr>
          <p:nvPr/>
        </p:nvGraphicFramePr>
        <p:xfrm>
          <a:off x="338328" y="3200400"/>
          <a:ext cx="9966960" cy="2743200"/>
        </p:xfrm>
        <a:graphic>
          <a:graphicData uri="http://schemas.openxmlformats.org/drawingml/2006/table">
            <a:tbl>
              <a:tblPr firstRow="0" bandRow="0">
                <a:tableStyleId>{5940675A-B579-460E-94D1-54222C63F5DA}</a:tableStyleId>
              </a:tblPr>
              <a:tblGrid>
                <a:gridCol w="2743200"/>
                <a:gridCol w="1371600"/>
                <a:gridCol w="1371600"/>
                <a:gridCol w="4480560"/>
              </a:tblGrid>
              <a:tr h="274320">
                <a:tc>
                  <a:txBody>
                    <a:bodyPr wrap="square"/>
                    <a:lstStyle/>
                    <a:p>
                      <a:pPr algn="ctr"/>
                      <a:r>
                        <a:rPr sz="950" b="1" i="0">
                          <a:solidFill>
                            <a:srgbClr val="FFFFFF"/>
                          </a:solidFill>
                          <a:latin typeface="游ゴシック"/>
                          <a:ea typeface="游ゴシック"/>
                        </a:rPr>
                        <a:t>借入先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期末残高(千円)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支払利息(千円)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担保・備考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74320">
                <a:tc>
                  <a:txBody>
                    <a:bodyPr wrap="square"/>
                    <a:lstStyle/>
                    <a:p>
                      <a:pPr algn="l"/>
                      <a:r>
                        <a:rPr sz="950" b="0" i="0">
                          <a:solidFill>
                            <a:srgbClr val="000000"/>
                          </a:solidFill>
                          <a:latin typeface="游ゴシック"/>
                          <a:ea typeface="游ゴシック"/>
                        </a:rPr>
                        <a:t>栃木銀行 弥十郎支店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114,101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2,494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社長所有土地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0" i="0">
                          <a:solidFill>
                            <a:srgbClr val="000000"/>
                          </a:solidFill>
                          <a:latin typeface="游ゴシック"/>
                          <a:ea typeface="游ゴシック"/>
                        </a:rPr>
                        <a:t>日本政策金融公庫 池袋支店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161,252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2,105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工場土地・建物（うち資本性ローン105,420千円）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0" i="0">
                          <a:solidFill>
                            <a:srgbClr val="000000"/>
                          </a:solidFill>
                          <a:latin typeface="游ゴシック"/>
                          <a:ea typeface="游ゴシック"/>
                        </a:rPr>
                        <a:t>商工組合中央金庫 本店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79,327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1,633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社長所有土地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0" i="0">
                          <a:solidFill>
                            <a:srgbClr val="000000"/>
                          </a:solidFill>
                          <a:latin typeface="游ゴシック"/>
                          <a:ea typeface="游ゴシック"/>
                        </a:rPr>
                        <a:t>足利銀行 越谷支店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38,013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818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0" i="0">
                          <a:solidFill>
                            <a:srgbClr val="000000"/>
                          </a:solidFill>
                          <a:latin typeface="游ゴシック"/>
                          <a:ea typeface="游ゴシック"/>
                        </a:rPr>
                        <a:t>埼玉縣信用金庫 春日部支店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27,936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0" i="0">
                          <a:solidFill>
                            <a:srgbClr val="000000"/>
                          </a:solidFill>
                          <a:latin typeface="游ゴシック"/>
                          <a:ea typeface="游ゴシック"/>
                        </a:rPr>
                        <a:t>埼玉りそな銀行 越谷支店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26,395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440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0" i="0">
                          <a:solidFill>
                            <a:srgbClr val="000000"/>
                          </a:solidFill>
                          <a:latin typeface="游ゴシック"/>
                          <a:ea typeface="游ゴシック"/>
                        </a:rPr>
                        <a:t>小野田 洋（代表者）</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14,000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代表者からの借入金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0" i="0">
                          <a:solidFill>
                            <a:srgbClr val="000000"/>
                          </a:solidFill>
                          <a:latin typeface="游ゴシック"/>
                          <a:ea typeface="游ゴシック"/>
                        </a:rPr>
                        <a:t>保証料（埼玉県信用保証協会）</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560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保証付融資あり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50" b="1" i="0">
                          <a:solidFill>
                            <a:srgbClr val="000000"/>
                          </a:solidFill>
                          <a:latin typeface="游ゴシック"/>
                          <a:ea typeface="游ゴシック"/>
                        </a:rPr>
                        <a:t>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461,024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8,407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借入金の返済進捗と利益の積上げにより、純資産は4期で19,818千円から49,288千円へ増加。</a:t>
            </a:r>
          </a:p>
        </p:txBody>
      </p:sp>
      <p:sp>
        <p:nvSpPr>
          <p:cNvPr id="3" name="Title 2"/>
          <p:cNvSpPr>
            <a:spLocks noGrp="1"/>
          </p:cNvSpPr>
          <p:nvPr>
            <p:ph type="ctrTitle"/>
          </p:nvPr>
        </p:nvSpPr>
        <p:spPr/>
        <p:txBody>
          <a:bodyPr/>
          <a:lstStyle/>
          <a:p>
            <a:r>
              <a:t>貸借対照表</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graphicFrame>
        <p:nvGraphicFramePr>
          <p:cNvPr id="6" name="Table 5"/>
          <p:cNvGraphicFramePr>
            <a:graphicFrameLocks noGrp="1"/>
          </p:cNvGraphicFramePr>
          <p:nvPr/>
        </p:nvGraphicFramePr>
        <p:xfrm>
          <a:off x="338328" y="1371600"/>
          <a:ext cx="4873752" cy="5179136"/>
        </p:xfrm>
        <a:graphic>
          <a:graphicData uri="http://schemas.openxmlformats.org/drawingml/2006/table">
            <a:tbl>
              <a:tblPr firstRow="0" bandRow="0">
                <a:tableStyleId>{5940675A-B579-460E-94D1-54222C63F5DA}</a:tableStyleId>
              </a:tblPr>
              <a:tblGrid>
                <a:gridCol w="1508760"/>
                <a:gridCol w="841248"/>
                <a:gridCol w="841248"/>
                <a:gridCol w="841248"/>
                <a:gridCol w="841248"/>
              </a:tblGrid>
              <a:tr h="161848">
                <a:tc>
                  <a:txBody>
                    <a:bodyPr wrap="square"/>
                    <a:lstStyle/>
                    <a:p>
                      <a:pPr algn="ctr"/>
                      <a:r>
                        <a:rPr sz="800" b="1" i="0">
                          <a:solidFill>
                            <a:srgbClr val="FFFFFF"/>
                          </a:solidFill>
                          <a:latin typeface="游ゴシック"/>
                          <a:ea typeface="游ゴシック"/>
                        </a:rPr>
                        <a:t>資産の部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161848">
                <a:tc>
                  <a:txBody>
                    <a:bodyPr wrap="square"/>
                    <a:lstStyle/>
                    <a:p>
                      <a:pPr algn="l"/>
                      <a:r>
                        <a:rPr sz="800" b="1" i="0">
                          <a:solidFill>
                            <a:srgbClr val="000000"/>
                          </a:solidFill>
                          <a:latin typeface="游ゴシック"/>
                          <a:ea typeface="游ゴシック"/>
                        </a:rPr>
                        <a:t>（現金・預金）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122,957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119,372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84,662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75,962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現金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1,522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3,464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2,184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3,077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当座預金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25,179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18,567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28,532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17,248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普通預金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39,607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54,199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15,945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19,873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定期預金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16,401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16,401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26,401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26,401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定期積金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23,254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16,204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諸掛金（保険積立）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16,994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10,537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11,601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9,362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（当座資産）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21,685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29,803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28,301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28,798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売掛金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21,685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29,803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28,301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28,798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（棚卸資産）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27,194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30,951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36,590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34,491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商品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14,642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15,902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13,825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20,661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原材料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11,853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14,320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22,007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12,953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仕掛品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699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729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758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（流動資産諸口）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4,370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4,807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4,573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3,063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前渡金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貸付金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579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預け金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未収金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1,780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2,441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2,333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2,355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前払費用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2,390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1,133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293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流動資産合計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176,206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184,932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154,125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142,314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161848">
                <a:tc>
                  <a:txBody>
                    <a:bodyPr wrap="square"/>
                    <a:lstStyle/>
                    <a:p>
                      <a:pPr algn="l"/>
                      <a:r>
                        <a:rPr sz="800" b="1" i="0">
                          <a:solidFill>
                            <a:srgbClr val="000000"/>
                          </a:solidFill>
                          <a:latin typeface="游ゴシック"/>
                          <a:ea typeface="游ゴシック"/>
                        </a:rPr>
                        <a:t>（有形固定資産）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410,452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416,751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406,412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409,715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建物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259,242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259,242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259,242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259,242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構築物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2,116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2,116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2,116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2,116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機械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96,494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103,380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94,934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99,691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車両運搬具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8,636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6,375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5,554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4,905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器具備品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3,523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5,197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4,125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3,319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土地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（無形固定資産）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354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（投資等）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2,945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820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820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820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固定資産合計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413,752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417,925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407,586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410,890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161848">
                <a:tc>
                  <a:txBody>
                    <a:bodyPr wrap="square"/>
                    <a:lstStyle/>
                    <a:p>
                      <a:pPr algn="l"/>
                      <a:r>
                        <a:rPr sz="800" b="1" i="0">
                          <a:solidFill>
                            <a:srgbClr val="000000"/>
                          </a:solidFill>
                          <a:latin typeface="游ゴシック"/>
                          <a:ea typeface="游ゴシック"/>
                        </a:rPr>
                        <a:t>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589,958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602,857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561,712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553,204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graphicFrame>
        <p:nvGraphicFramePr>
          <p:cNvPr id="7" name="Table 6"/>
          <p:cNvGraphicFramePr>
            <a:graphicFrameLocks noGrp="1"/>
          </p:cNvGraphicFramePr>
          <p:nvPr/>
        </p:nvGraphicFramePr>
        <p:xfrm>
          <a:off x="5349240" y="1371600"/>
          <a:ext cx="4873752" cy="2913264"/>
        </p:xfrm>
        <a:graphic>
          <a:graphicData uri="http://schemas.openxmlformats.org/drawingml/2006/table">
            <a:tbl>
              <a:tblPr firstRow="0" bandRow="0">
                <a:tableStyleId>{5940675A-B579-460E-94D1-54222C63F5DA}</a:tableStyleId>
              </a:tblPr>
              <a:tblGrid>
                <a:gridCol w="1508760"/>
                <a:gridCol w="841248"/>
                <a:gridCol w="841248"/>
                <a:gridCol w="841248"/>
                <a:gridCol w="841248"/>
              </a:tblGrid>
              <a:tr h="161848">
                <a:tc>
                  <a:txBody>
                    <a:bodyPr wrap="square"/>
                    <a:lstStyle/>
                    <a:p>
                      <a:pPr algn="ctr"/>
                      <a:r>
                        <a:rPr sz="800" b="1" i="0">
                          <a:solidFill>
                            <a:srgbClr val="FFFFFF"/>
                          </a:solidFill>
                          <a:latin typeface="游ゴシック"/>
                          <a:ea typeface="游ゴシック"/>
                        </a:rPr>
                        <a:t>負債・純資産の部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161848">
                <a:tc>
                  <a:txBody>
                    <a:bodyPr wrap="square"/>
                    <a:lstStyle/>
                    <a:p>
                      <a:pPr algn="l"/>
                      <a:r>
                        <a:rPr sz="800" b="1" i="0">
                          <a:solidFill>
                            <a:srgbClr val="000000"/>
                          </a:solidFill>
                          <a:latin typeface="游ゴシック"/>
                          <a:ea typeface="游ゴシック"/>
                        </a:rPr>
                        <a:t>（流動負債）</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119,984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157,820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114,978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122,892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支払手形</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15,965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20,349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16,480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16,135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買掛金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9,399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6,615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4,782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8,358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短期借入金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80,000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110,000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80,000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80,000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未払金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11,657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17,794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10,599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15,721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預り金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2,598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2,698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2,754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2,190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仮受金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未払法人税等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360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（固定負債）</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450,156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402,787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398,822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381,024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長期借入金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450,156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402,787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398,822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381,024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負債合計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570,140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560,607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513,800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503,916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161848">
                <a:tc>
                  <a:txBody>
                    <a:bodyPr wrap="square"/>
                    <a:lstStyle/>
                    <a:p>
                      <a:pPr algn="l"/>
                      <a:r>
                        <a:rPr sz="800" b="0" i="0">
                          <a:solidFill>
                            <a:srgbClr val="000000"/>
                          </a:solidFill>
                          <a:latin typeface="游ゴシック"/>
                          <a:ea typeface="游ゴシック"/>
                        </a:rPr>
                        <a:t>資本金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利益準備金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5,000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別途積立金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10,000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10,000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10,000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10,000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0" i="0">
                          <a:solidFill>
                            <a:srgbClr val="000000"/>
                          </a:solidFill>
                          <a:latin typeface="游ゴシック"/>
                          <a:ea typeface="游ゴシック"/>
                        </a:rPr>
                        <a:t>繰越利益剰余金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△6,182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16,250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21,912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23,288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1848">
                <a:tc>
                  <a:txBody>
                    <a:bodyPr wrap="square"/>
                    <a:lstStyle/>
                    <a:p>
                      <a:pPr algn="l"/>
                      <a:r>
                        <a:rPr sz="800" b="1" i="0">
                          <a:solidFill>
                            <a:srgbClr val="000000"/>
                          </a:solidFill>
                          <a:latin typeface="游ゴシック"/>
                          <a:ea typeface="游ゴシック"/>
                        </a:rPr>
                        <a:t>純資産合計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19,818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42,250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47,912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49,288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161848">
                <a:tc>
                  <a:txBody>
                    <a:bodyPr wrap="square"/>
                    <a:lstStyle/>
                    <a:p>
                      <a:pPr algn="l"/>
                      <a:r>
                        <a:rPr sz="800" b="1" i="0">
                          <a:solidFill>
                            <a:srgbClr val="000000"/>
                          </a:solidFill>
                          <a:latin typeface="游ゴシック"/>
                          <a:ea typeface="游ゴシック"/>
                        </a:rPr>
                        <a:t>負債・純資産合計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589,958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602,857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561,712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553,204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8" name="TextBox 7"/>
          <p:cNvSpPr txBox="1"/>
          <p:nvPr/>
        </p:nvSpPr>
        <p:spPr>
          <a:xfrm>
            <a:off x="8686800" y="1188720"/>
            <a:ext cx="16459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9" name="TextBox 8"/>
          <p:cNvSpPr txBox="1"/>
          <p:nvPr/>
        </p:nvSpPr>
        <p:spPr>
          <a:xfrm>
            <a:off x="5349240" y="4434840"/>
            <a:ext cx="4873752" cy="1463040"/>
          </a:xfrm>
          <a:prstGeom prst="rect">
            <a:avLst/>
          </a:prstGeom>
          <a:noFill/>
        </p:spPr>
        <p:txBody>
          <a:bodyPr wrap="square" anchor="t" lIns="18288" rIns="18288" tIns="18288" bIns="18288"/>
          <a:lstStyle/>
          <a:p>
            <a:pPr algn="l"/>
            <a:r>
              <a:rPr sz="900" b="1" i="0">
                <a:solidFill>
                  <a:srgbClr val="0B3041"/>
                </a:solidFill>
                <a:latin typeface="游ゴシック"/>
                <a:ea typeface="游ゴシック"/>
              </a:rPr>
              <a:t>【留意事項】</a:t>
            </a:r>
          </a:p>
          <a:p>
            <a:pPr algn="l"/>
            <a:r>
              <a:rPr sz="800" b="0" i="0">
                <a:solidFill>
                  <a:srgbClr val="000000"/>
                </a:solidFill>
                <a:latin typeface="游ゴシック"/>
                <a:ea typeface="游ゴシック"/>
              </a:rPr>
              <a:t>・諸掛金は生命保険の積立金（67期：大同生命8,462千円・第一生命901千円）。</a:t>
            </a:r>
          </a:p>
          <a:p>
            <a:pPr algn="l"/>
            <a:r>
              <a:rPr sz="800" b="0" i="0">
                <a:solidFill>
                  <a:srgbClr val="000000"/>
                </a:solidFill>
                <a:latin typeface="游ゴシック"/>
                <a:ea typeface="游ゴシック"/>
              </a:rPr>
              <a:t>・建物は会計上の減価償却を行っておらず、4期とも同額。</a:t>
            </a:r>
          </a:p>
          <a:p>
            <a:pPr algn="l"/>
            <a:r>
              <a:rPr sz="800" b="0" i="0">
                <a:solidFill>
                  <a:srgbClr val="000000"/>
                </a:solidFill>
                <a:latin typeface="游ゴシック"/>
                <a:ea typeface="游ゴシック"/>
              </a:rPr>
              <a:t>・67期末の借入金461,024千円のうち代表者借入14,000千円、日本公庫の資本性ローン105,420千円。</a:t>
            </a:r>
          </a:p>
          <a:p>
            <a:pPr algn="l"/>
            <a:r>
              <a:rPr sz="800" b="0" i="0">
                <a:solidFill>
                  <a:srgbClr val="000000"/>
                </a:solidFill>
                <a:latin typeface="游ゴシック"/>
                <a:ea typeface="游ゴシック"/>
              </a:rPr>
              <a:t>・資本金は2026年5月15日に10,000千円へ減資（登記）。</a:t>
            </a:r>
          </a:p>
          <a:p>
            <a:pPr algn="l"/>
            <a:r>
              <a:rPr sz="800" b="0" i="0">
                <a:solidFill>
                  <a:srgbClr val="000000"/>
                </a:solidFill>
                <a:latin typeface="游ゴシック"/>
                <a:ea typeface="游ゴシック"/>
              </a:rPr>
              <a:t>・23/3〜25/3期は受領資料、26/3期は決算報告書による。</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売上総利益率は2023年3月期の16.2%から、2024年3月期以降は22〜26%へ回復して推移。</a:t>
            </a:r>
          </a:p>
        </p:txBody>
      </p:sp>
      <p:sp>
        <p:nvSpPr>
          <p:cNvPr id="3" name="Title 2"/>
          <p:cNvSpPr>
            <a:spLocks noGrp="1"/>
          </p:cNvSpPr>
          <p:nvPr>
            <p:ph type="ctrTitle"/>
          </p:nvPr>
        </p:nvSpPr>
        <p:spPr/>
        <p:txBody>
          <a:bodyPr/>
          <a:lstStyle/>
          <a:p>
            <a:r>
              <a:t>損益計算書</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graphicFrame>
        <p:nvGraphicFramePr>
          <p:cNvPr id="6" name="Table 5"/>
          <p:cNvGraphicFramePr>
            <a:graphicFrameLocks noGrp="1"/>
          </p:cNvGraphicFramePr>
          <p:nvPr/>
        </p:nvGraphicFramePr>
        <p:xfrm>
          <a:off x="338328" y="1371600"/>
          <a:ext cx="8028432" cy="5045653"/>
        </p:xfrm>
        <a:graphic>
          <a:graphicData uri="http://schemas.openxmlformats.org/drawingml/2006/table">
            <a:tbl>
              <a:tblPr firstRow="0" bandRow="0">
                <a:tableStyleId>{5940675A-B579-460E-94D1-54222C63F5DA}</a:tableStyleId>
              </a:tblPr>
              <a:tblGrid>
                <a:gridCol w="1920240"/>
                <a:gridCol w="960120"/>
                <a:gridCol w="566928"/>
                <a:gridCol w="960120"/>
                <a:gridCol w="566928"/>
                <a:gridCol w="960120"/>
                <a:gridCol w="566928"/>
                <a:gridCol w="960120"/>
                <a:gridCol w="566928"/>
              </a:tblGrid>
              <a:tr h="162763">
                <a:tc>
                  <a:txBody>
                    <a:bodyPr wrap="square"/>
                    <a:lstStyle/>
                    <a:p>
                      <a:pPr algn="ctr"/>
                      <a:r>
                        <a:rPr sz="80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売上比</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売上比</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売上比</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00" b="1" i="0">
                          <a:solidFill>
                            <a:srgbClr val="FFFFFF"/>
                          </a:solidFill>
                          <a:latin typeface="游ゴシック"/>
                          <a:ea typeface="游ゴシック"/>
                        </a:rPr>
                        <a:t>売上比</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162763">
                <a:tc>
                  <a:txBody>
                    <a:bodyPr wrap="square"/>
                    <a:lstStyle/>
                    <a:p>
                      <a:pPr algn="l"/>
                      <a:r>
                        <a:rPr sz="800" b="1" i="0">
                          <a:solidFill>
                            <a:srgbClr val="000000"/>
                          </a:solidFill>
                          <a:latin typeface="游ゴシック"/>
                          <a:ea typeface="游ゴシック"/>
                        </a:rPr>
                        <a:t>売上高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284,841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376,221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382,685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405,963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100.0%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売上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278,786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97.9%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369,928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98.3%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376,243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98.3%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399,994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98.5%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保管料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6,025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6,273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5,970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受入手数料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1" i="0">
                          <a:solidFill>
                            <a:srgbClr val="000000"/>
                          </a:solidFill>
                          <a:latin typeface="游ゴシック"/>
                          <a:ea typeface="游ゴシック"/>
                        </a:rPr>
                        <a:t>売上原価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238,593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83.8%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279,654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74.3%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297,300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77.7%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316,589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78.0%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期首商品棚卸高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14,945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5.2%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14,642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3.9%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15,902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13,825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3.4%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商品仕入高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15,151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32,597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42,388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11.1%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41,446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10.2%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期末商品棚卸高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14,642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15,902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13,825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20,661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当期製品製造原価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223,139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78.3%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248,317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66.0%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252,835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66.1%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281,980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69.5%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1" i="0">
                          <a:solidFill>
                            <a:srgbClr val="000000"/>
                          </a:solidFill>
                          <a:latin typeface="游ゴシック"/>
                          <a:ea typeface="游ゴシック"/>
                        </a:rPr>
                        <a:t>売上総利益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46,248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16.2%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96,567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25.7%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85,384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22.3%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89,374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22.0%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162763">
                <a:tc>
                  <a:txBody>
                    <a:bodyPr wrap="square"/>
                    <a:lstStyle/>
                    <a:p>
                      <a:pPr algn="l"/>
                      <a:r>
                        <a:rPr sz="800" b="1" i="0">
                          <a:solidFill>
                            <a:srgbClr val="000000"/>
                          </a:solidFill>
                          <a:latin typeface="游ゴシック"/>
                          <a:ea typeface="游ゴシック"/>
                        </a:rPr>
                        <a:t>販売費及び一般管理費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54,495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19.1%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71,242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18.9%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71,726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18.7%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81,349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給与関係費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21,464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7.5%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21,065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23,458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23,528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資産管理費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5,426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5,194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5,119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6,635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輸送関係費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20,950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33,504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8.9%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29,685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37,541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交際販売関係費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800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951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965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831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事務処理費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4,118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5,359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4,947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6,821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税金公課・減価償却費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1,736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5,169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4,396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4,229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支払手数料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3,156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1,765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1" i="0">
                          <a:solidFill>
                            <a:srgbClr val="000000"/>
                          </a:solidFill>
                          <a:latin typeface="游ゴシック"/>
                          <a:ea typeface="游ゴシック"/>
                        </a:rPr>
                        <a:t>営業利益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△8,248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25,325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13,659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8,025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162763">
                <a:tc>
                  <a:txBody>
                    <a:bodyPr wrap="square"/>
                    <a:lstStyle/>
                    <a:p>
                      <a:pPr algn="l"/>
                      <a:r>
                        <a:rPr sz="800" b="1" i="0">
                          <a:solidFill>
                            <a:srgbClr val="000000"/>
                          </a:solidFill>
                          <a:latin typeface="游ゴシック"/>
                          <a:ea typeface="游ゴシック"/>
                        </a:rPr>
                        <a:t>営業外収益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1,258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8,814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381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2,783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受取利息・配当金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雑収入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1,251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8,482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342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2,687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1" i="0">
                          <a:solidFill>
                            <a:srgbClr val="000000"/>
                          </a:solidFill>
                          <a:latin typeface="游ゴシック"/>
                          <a:ea typeface="游ゴシック"/>
                        </a:rPr>
                        <a:t>営業外費用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6,276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11,347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8,018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8,945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支払利息</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6,117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6,155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8,018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8,407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0" i="0">
                          <a:solidFill>
                            <a:srgbClr val="000000"/>
                          </a:solidFill>
                          <a:latin typeface="游ゴシック"/>
                          <a:ea typeface="游ゴシック"/>
                        </a:rPr>
                        <a:t>　雑損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000000"/>
                          </a:solidFill>
                          <a:latin typeface="Arial"/>
                          <a:ea typeface="游ゴシック"/>
                        </a:rPr>
                        <a:t>158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5,192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000000"/>
                          </a:solidFill>
                          <a:latin typeface="Arial"/>
                          <a:ea typeface="游ゴシック"/>
                        </a:rPr>
                        <a:t>538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1" i="0">
                          <a:solidFill>
                            <a:srgbClr val="000000"/>
                          </a:solidFill>
                          <a:latin typeface="游ゴシック"/>
                          <a:ea typeface="游ゴシック"/>
                        </a:rPr>
                        <a:t>経常利益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△13,265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22,792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6,021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1,864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162763">
                <a:tc>
                  <a:txBody>
                    <a:bodyPr wrap="square"/>
                    <a:lstStyle/>
                    <a:p>
                      <a:pPr algn="l"/>
                      <a:r>
                        <a:rPr sz="800" b="1" i="0">
                          <a:solidFill>
                            <a:srgbClr val="000000"/>
                          </a:solidFill>
                          <a:latin typeface="游ゴシック"/>
                          <a:ea typeface="游ゴシック"/>
                        </a:rPr>
                        <a:t>特別損益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1" i="0">
                          <a:solidFill>
                            <a:srgbClr val="000000"/>
                          </a:solidFill>
                          <a:latin typeface="游ゴシック"/>
                          <a:ea typeface="游ゴシック"/>
                        </a:rPr>
                        <a:t>税引前当期純利益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△13,265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22,792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6,021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1,864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1" i="0">
                          <a:solidFill>
                            <a:srgbClr val="000000"/>
                          </a:solidFill>
                          <a:latin typeface="游ゴシック"/>
                          <a:ea typeface="游ゴシック"/>
                        </a:rPr>
                        <a:t>法人税等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1" i="0">
                          <a:solidFill>
                            <a:srgbClr val="000000"/>
                          </a:solidFill>
                          <a:latin typeface="Arial"/>
                          <a:ea typeface="游ゴシック"/>
                        </a:rPr>
                        <a:t>360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360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1" i="0">
                          <a:solidFill>
                            <a:srgbClr val="000000"/>
                          </a:solidFill>
                          <a:latin typeface="Arial"/>
                          <a:ea typeface="游ゴシック"/>
                        </a:rPr>
                        <a:t>487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1" i="0">
                          <a:solidFill>
                            <a:srgbClr val="404040"/>
                          </a:solidFill>
                          <a:latin typeface="Arial"/>
                          <a:ea typeface="游ゴシック"/>
                        </a:rPr>
                        <a:t>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162763">
                <a:tc>
                  <a:txBody>
                    <a:bodyPr wrap="square"/>
                    <a:lstStyle/>
                    <a:p>
                      <a:pPr algn="l"/>
                      <a:r>
                        <a:rPr sz="800" b="1" i="0">
                          <a:solidFill>
                            <a:srgbClr val="000000"/>
                          </a:solidFill>
                          <a:latin typeface="游ゴシック"/>
                          <a:ea typeface="游ゴシック"/>
                        </a:rPr>
                        <a:t>当期純利益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△13,625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22,432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5,661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00" b="1" i="0">
                          <a:solidFill>
                            <a:srgbClr val="000000"/>
                          </a:solidFill>
                          <a:latin typeface="Arial"/>
                          <a:ea typeface="游ゴシック"/>
                        </a:rPr>
                        <a:t>1,377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700" b="1" i="0">
                          <a:solidFill>
                            <a:srgbClr val="404040"/>
                          </a:solidFill>
                          <a:latin typeface="Arial"/>
                          <a:ea typeface="游ゴシック"/>
                        </a:rPr>
                        <a:t>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7" name="TextBox 6"/>
          <p:cNvSpPr txBox="1"/>
          <p:nvPr/>
        </p:nvSpPr>
        <p:spPr>
          <a:xfrm>
            <a:off x="6949440" y="1188720"/>
            <a:ext cx="16459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8" name="TextBox 7"/>
          <p:cNvSpPr txBox="1"/>
          <p:nvPr/>
        </p:nvSpPr>
        <p:spPr>
          <a:xfrm>
            <a:off x="338328" y="6583680"/>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※65期の雑収入8,482千円・雑損5,192千円、66〜67期の支払手数料の内容は要確認。67期の雑収入には保険満期返戻金2,296千円を含む。</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製造原価の主要項目は労務費・原材料（包装資材）・電力料（動力費）・減価償却費。</a:t>
            </a:r>
          </a:p>
        </p:txBody>
      </p:sp>
      <p:sp>
        <p:nvSpPr>
          <p:cNvPr id="3" name="Title 2"/>
          <p:cNvSpPr>
            <a:spLocks noGrp="1"/>
          </p:cNvSpPr>
          <p:nvPr>
            <p:ph type="ctrTitle"/>
          </p:nvPr>
        </p:nvSpPr>
        <p:spPr/>
        <p:txBody>
          <a:bodyPr/>
          <a:lstStyle/>
          <a:p>
            <a:r>
              <a:t>製造原価報告書</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graphicFrame>
        <p:nvGraphicFramePr>
          <p:cNvPr id="6" name="Table 5"/>
          <p:cNvGraphicFramePr>
            <a:graphicFrameLocks noGrp="1"/>
          </p:cNvGraphicFramePr>
          <p:nvPr/>
        </p:nvGraphicFramePr>
        <p:xfrm>
          <a:off x="338328" y="1371600"/>
          <a:ext cx="4937760" cy="5029200"/>
        </p:xfrm>
        <a:graphic>
          <a:graphicData uri="http://schemas.openxmlformats.org/drawingml/2006/table">
            <a:tbl>
              <a:tblPr firstRow="0" bandRow="0">
                <a:tableStyleId>{5940675A-B579-460E-94D1-54222C63F5DA}</a:tableStyleId>
              </a:tblPr>
              <a:tblGrid>
                <a:gridCol w="1828800"/>
                <a:gridCol w="777240"/>
                <a:gridCol w="777240"/>
                <a:gridCol w="777240"/>
                <a:gridCol w="777240"/>
              </a:tblGrid>
              <a:tr h="228600">
                <a:tc>
                  <a:txBody>
                    <a:bodyPr wrap="square"/>
                    <a:lstStyle/>
                    <a:p>
                      <a:pPr algn="ctr"/>
                      <a:r>
                        <a:rPr sz="85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28600">
                <a:tc>
                  <a:txBody>
                    <a:bodyPr wrap="square"/>
                    <a:lstStyle/>
                    <a:p>
                      <a:pPr algn="l"/>
                      <a:r>
                        <a:rPr sz="850" b="1" i="0">
                          <a:solidFill>
                            <a:srgbClr val="000000"/>
                          </a:solidFill>
                          <a:latin typeface="游ゴシック"/>
                          <a:ea typeface="游ゴシック"/>
                        </a:rPr>
                        <a:t>原材料費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66,758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80,790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72,296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86,167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原材料期首棚卸高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11,620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11,853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14,320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22,007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原材料仕入高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66,992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83,257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79,984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77,113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原材料期末棚卸高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11,853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14,320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22,007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12,953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労務費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86,672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96,716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84,347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99,953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給与</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66,416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75,755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63,545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69,596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賞与</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5,935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5,940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4,920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8,564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退職給与</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6,178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法定福利費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11,279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12,199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12,504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12,962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厚生福利費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1,758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1,788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1,376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通勤費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1,284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1,033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1,158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1,276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製造経費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66,816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65,160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82,594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84,545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設備保守料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2,474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1,768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損害保険料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908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912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941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1,192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備品費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2,764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2,569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借上料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5,245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5,010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5,010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5,047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修繕費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3,239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4,173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6,554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7,542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光熱費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動力費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42,894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32,386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33,957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33,685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薬品諸油費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2,657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3,427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3,972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3,513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消耗品費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1,563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746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1,237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graphicFrame>
        <p:nvGraphicFramePr>
          <p:cNvPr id="7" name="Table 6"/>
          <p:cNvGraphicFramePr>
            <a:graphicFrameLocks noGrp="1"/>
          </p:cNvGraphicFramePr>
          <p:nvPr/>
        </p:nvGraphicFramePr>
        <p:xfrm>
          <a:off x="5349240" y="1371600"/>
          <a:ext cx="4937760" cy="3886200"/>
        </p:xfrm>
        <a:graphic>
          <a:graphicData uri="http://schemas.openxmlformats.org/drawingml/2006/table">
            <a:tbl>
              <a:tblPr firstRow="0" bandRow="0">
                <a:tableStyleId>{5940675A-B579-460E-94D1-54222C63F5DA}</a:tableStyleId>
              </a:tblPr>
              <a:tblGrid>
                <a:gridCol w="1828800"/>
                <a:gridCol w="777240"/>
                <a:gridCol w="777240"/>
                <a:gridCol w="777240"/>
                <a:gridCol w="777240"/>
              </a:tblGrid>
              <a:tr h="228600">
                <a:tc>
                  <a:txBody>
                    <a:bodyPr wrap="square"/>
                    <a:lstStyle/>
                    <a:p>
                      <a:pPr algn="ctr"/>
                      <a:r>
                        <a:rPr sz="85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28600">
                <a:tc>
                  <a:txBody>
                    <a:bodyPr wrap="square"/>
                    <a:lstStyle/>
                    <a:p>
                      <a:pPr algn="l"/>
                      <a:r>
                        <a:rPr sz="850" b="0" i="0">
                          <a:solidFill>
                            <a:srgbClr val="000000"/>
                          </a:solidFill>
                          <a:latin typeface="游ゴシック"/>
                          <a:ea typeface="游ゴシック"/>
                        </a:rPr>
                        <a:t>　衛生費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1,349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1,312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1,300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1,077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車輛関係費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938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2,064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1,566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1,054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車輛保険料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通信費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新聞図書費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会議研修費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組合費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427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411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475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雑費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1,675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1,084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2,441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2,055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税金公課</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3,259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3,255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3,213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3,228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減価償却費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8,324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17,893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19,820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外注加工費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2,916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5,681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13,627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11,435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外注作業費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2,916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5,681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13,627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11,435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製造勘定</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△119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期首仕掛品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675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期末仕掛品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699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当期製品製造原価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50" b="1" i="0">
                          <a:solidFill>
                            <a:srgbClr val="000000"/>
                          </a:solidFill>
                          <a:latin typeface="Arial"/>
                          <a:ea typeface="游ゴシック"/>
                        </a:rPr>
                        <a:t>223,139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50" b="1" i="0">
                          <a:solidFill>
                            <a:srgbClr val="000000"/>
                          </a:solidFill>
                          <a:latin typeface="Arial"/>
                          <a:ea typeface="游ゴシック"/>
                        </a:rPr>
                        <a:t>248,317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50" b="1" i="0">
                          <a:solidFill>
                            <a:srgbClr val="000000"/>
                          </a:solidFill>
                          <a:latin typeface="Arial"/>
                          <a:ea typeface="游ゴシック"/>
                        </a:rPr>
                        <a:t>252,835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50" b="1" i="0">
                          <a:solidFill>
                            <a:srgbClr val="000000"/>
                          </a:solidFill>
                          <a:latin typeface="Arial"/>
                          <a:ea typeface="游ゴシック"/>
                        </a:rPr>
                        <a:t>281,980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8" name="TextBox 7"/>
          <p:cNvSpPr txBox="1"/>
          <p:nvPr/>
        </p:nvSpPr>
        <p:spPr>
          <a:xfrm>
            <a:off x="8686800" y="1188720"/>
            <a:ext cx="16459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9" name="TextBox 8"/>
          <p:cNvSpPr txBox="1"/>
          <p:nvPr/>
        </p:nvSpPr>
        <p:spPr>
          <a:xfrm>
            <a:off x="338328" y="6355080"/>
            <a:ext cx="9966960" cy="36576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※原材料は段ボール・ビニール袋等の包装資材。動力費は製氷・冷蔵設備の電力料。</a:t>
            </a:r>
          </a:p>
          <a:p>
            <a:pPr algn="l"/>
            <a:r>
              <a:rPr sz="800" b="0" i="0">
                <a:solidFill>
                  <a:srgbClr val="404040"/>
                </a:solidFill>
                <a:latin typeface="游ゴシック Medium"/>
                <a:ea typeface="游ゴシック Medium"/>
              </a:rPr>
              <a:t>※減価償却費は64期（23/3期）にほぼ計上なし。67期の退職給与6,178千円は臨時的な支出と推察（要確認）。</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販管費の中心は配送運賃を含む輸送関係費と給与関係費。運賃は売上拡大に伴い増加傾向。</a:t>
            </a:r>
          </a:p>
        </p:txBody>
      </p:sp>
      <p:sp>
        <p:nvSpPr>
          <p:cNvPr id="3" name="Title 2"/>
          <p:cNvSpPr>
            <a:spLocks noGrp="1"/>
          </p:cNvSpPr>
          <p:nvPr>
            <p:ph type="ctrTitle"/>
          </p:nvPr>
        </p:nvSpPr>
        <p:spPr/>
        <p:txBody>
          <a:bodyPr/>
          <a:lstStyle/>
          <a:p>
            <a:r>
              <a:t>販売費及び一般管理費</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graphicFrame>
        <p:nvGraphicFramePr>
          <p:cNvPr id="6" name="Table 5"/>
          <p:cNvGraphicFramePr>
            <a:graphicFrameLocks noGrp="1"/>
          </p:cNvGraphicFramePr>
          <p:nvPr/>
        </p:nvGraphicFramePr>
        <p:xfrm>
          <a:off x="338328" y="1371600"/>
          <a:ext cx="4937760" cy="4343400"/>
        </p:xfrm>
        <a:graphic>
          <a:graphicData uri="http://schemas.openxmlformats.org/drawingml/2006/table">
            <a:tbl>
              <a:tblPr firstRow="0" bandRow="0">
                <a:tableStyleId>{5940675A-B579-460E-94D1-54222C63F5DA}</a:tableStyleId>
              </a:tblPr>
              <a:tblGrid>
                <a:gridCol w="1828800"/>
                <a:gridCol w="777240"/>
                <a:gridCol w="777240"/>
                <a:gridCol w="777240"/>
                <a:gridCol w="777240"/>
              </a:tblGrid>
              <a:tr h="228600">
                <a:tc>
                  <a:txBody>
                    <a:bodyPr wrap="square"/>
                    <a:lstStyle/>
                    <a:p>
                      <a:pPr algn="ctr"/>
                      <a:r>
                        <a:rPr sz="85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28600">
                <a:tc>
                  <a:txBody>
                    <a:bodyPr wrap="square"/>
                    <a:lstStyle/>
                    <a:p>
                      <a:pPr algn="l"/>
                      <a:r>
                        <a:rPr sz="850" b="1" i="0">
                          <a:solidFill>
                            <a:srgbClr val="000000"/>
                          </a:solidFill>
                          <a:latin typeface="游ゴシック"/>
                          <a:ea typeface="游ゴシック"/>
                        </a:rPr>
                        <a:t>給与関係費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21,464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21,065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23,458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23,528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役員報酬</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7,200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7,200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給与</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10,599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10,109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11,967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11,507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賞与</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723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972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1,413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退職給与</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法定福利費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2,715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2,541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3,066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3,154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退職共済金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福利厚生費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通勤費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102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134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資産管理費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5,426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5,194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5,119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6,635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設備保守料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備品費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166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地代家賃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1,745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1,745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借上料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1,037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935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修繕費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679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1,052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水道料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動力費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2,122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1,597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1,746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消耗品費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graphicFrame>
        <p:nvGraphicFramePr>
          <p:cNvPr id="7" name="Table 6"/>
          <p:cNvGraphicFramePr>
            <a:graphicFrameLocks noGrp="1"/>
          </p:cNvGraphicFramePr>
          <p:nvPr/>
        </p:nvGraphicFramePr>
        <p:xfrm>
          <a:off x="5349240" y="1371600"/>
          <a:ext cx="4937760" cy="5029200"/>
        </p:xfrm>
        <a:graphic>
          <a:graphicData uri="http://schemas.openxmlformats.org/drawingml/2006/table">
            <a:tbl>
              <a:tblPr firstRow="0" bandRow="0">
                <a:tableStyleId>{5940675A-B579-460E-94D1-54222C63F5DA}</a:tableStyleId>
              </a:tblPr>
              <a:tblGrid>
                <a:gridCol w="1828800"/>
                <a:gridCol w="777240"/>
                <a:gridCol w="777240"/>
                <a:gridCol w="777240"/>
                <a:gridCol w="777240"/>
              </a:tblGrid>
              <a:tr h="228600">
                <a:tc>
                  <a:txBody>
                    <a:bodyPr wrap="square"/>
                    <a:lstStyle/>
                    <a:p>
                      <a:pPr algn="ctr"/>
                      <a:r>
                        <a:rPr sz="85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28600">
                <a:tc>
                  <a:txBody>
                    <a:bodyPr wrap="square"/>
                    <a:lstStyle/>
                    <a:p>
                      <a:pPr algn="l"/>
                      <a:r>
                        <a:rPr sz="850" b="1" i="0">
                          <a:solidFill>
                            <a:srgbClr val="000000"/>
                          </a:solidFill>
                          <a:latin typeface="游ゴシック"/>
                          <a:ea typeface="游ゴシック"/>
                        </a:rPr>
                        <a:t>輸送関係費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20,950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33,504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29,685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37,541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車輛関係費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6,732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9,546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6,158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8,554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車輛保険料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865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627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車輛借上料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350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1,050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1,281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運賃</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13,003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22,044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21,570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27,570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交際販売関係費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800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951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965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831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交際接待費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販売関係費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81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広告宣伝費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642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719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事務処理費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4,118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5,359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4,947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6,821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事務関係費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2,036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2,269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4,667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通信費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1,100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1,097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新聞図書費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旅費交通費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511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234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355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会議研修費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組合費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雑費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383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1,284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1,301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456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その他</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1,736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5,169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4,396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4,229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税金公課</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1,736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2,170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1,871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1,714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0" i="0">
                          <a:solidFill>
                            <a:srgbClr val="000000"/>
                          </a:solidFill>
                          <a:latin typeface="游ゴシック"/>
                          <a:ea typeface="游ゴシック"/>
                        </a:rPr>
                        <a:t>　減価償却費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2,999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2,525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2,515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28600">
                <a:tc>
                  <a:txBody>
                    <a:bodyPr wrap="square"/>
                    <a:lstStyle/>
                    <a:p>
                      <a:pPr algn="l"/>
                      <a:r>
                        <a:rPr sz="850" b="1" i="0">
                          <a:solidFill>
                            <a:srgbClr val="000000"/>
                          </a:solidFill>
                          <a:latin typeface="游ゴシック"/>
                          <a:ea typeface="游ゴシック"/>
                        </a:rPr>
                        <a:t>販売費及び一般管理費 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50" b="1" i="0">
                          <a:solidFill>
                            <a:srgbClr val="000000"/>
                          </a:solidFill>
                          <a:latin typeface="Arial"/>
                          <a:ea typeface="游ゴシック"/>
                        </a:rPr>
                        <a:t>54,495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50" b="1" i="0">
                          <a:solidFill>
                            <a:srgbClr val="000000"/>
                          </a:solidFill>
                          <a:latin typeface="Arial"/>
                          <a:ea typeface="游ゴシック"/>
                        </a:rPr>
                        <a:t>71,242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50" b="1" i="0">
                          <a:solidFill>
                            <a:srgbClr val="000000"/>
                          </a:solidFill>
                          <a:latin typeface="Arial"/>
                          <a:ea typeface="游ゴシック"/>
                        </a:rPr>
                        <a:t>68,570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850" b="1" i="0">
                          <a:solidFill>
                            <a:srgbClr val="000000"/>
                          </a:solidFill>
                          <a:latin typeface="Arial"/>
                          <a:ea typeface="游ゴシック"/>
                        </a:rPr>
                        <a:t>79,584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8" name="TextBox 7"/>
          <p:cNvSpPr txBox="1"/>
          <p:nvPr/>
        </p:nvSpPr>
        <p:spPr>
          <a:xfrm>
            <a:off x="8686800" y="1188720"/>
            <a:ext cx="16459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9" name="TextBox 8"/>
          <p:cNvSpPr txBox="1"/>
          <p:nvPr/>
        </p:nvSpPr>
        <p:spPr>
          <a:xfrm>
            <a:off x="338328" y="6492240"/>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※地代家賃は松戸営業所の店舗賃料1,200千円と代表者からの駐車場賃借545千円。支払手数料（一般業務費）は損益計算書に別掲。</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1960年に越谷で創業。早くから純水設備を導入し、品質にこだわった純氷の製造を65年以上にわたり継続している。</a:t>
            </a:r>
          </a:p>
        </p:txBody>
      </p:sp>
      <p:sp>
        <p:nvSpPr>
          <p:cNvPr id="3" name="Title 2"/>
          <p:cNvSpPr>
            <a:spLocks noGrp="1"/>
          </p:cNvSpPr>
          <p:nvPr>
            <p:ph type="ctrTitle"/>
          </p:nvPr>
        </p:nvSpPr>
        <p:spPr/>
        <p:txBody>
          <a:bodyPr/>
          <a:lstStyle/>
          <a:p>
            <a:r>
              <a:t>沿革</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Appendix</a:t>
            </a:r>
          </a:p>
        </p:txBody>
      </p:sp>
      <p:graphicFrame>
        <p:nvGraphicFramePr>
          <p:cNvPr id="6" name="Table 5"/>
          <p:cNvGraphicFramePr>
            <a:graphicFrameLocks noGrp="1"/>
          </p:cNvGraphicFramePr>
          <p:nvPr/>
        </p:nvGraphicFramePr>
        <p:xfrm>
          <a:off x="338328" y="1508760"/>
          <a:ext cx="9966960" cy="3840480"/>
        </p:xfrm>
        <a:graphic>
          <a:graphicData uri="http://schemas.openxmlformats.org/drawingml/2006/table">
            <a:tbl>
              <a:tblPr firstRow="0" bandRow="0">
                <a:tableStyleId>{5940675A-B579-460E-94D1-54222C63F5DA}</a:tableStyleId>
              </a:tblPr>
              <a:tblGrid>
                <a:gridCol w="2377440"/>
                <a:gridCol w="7589520"/>
              </a:tblGrid>
              <a:tr h="384048">
                <a:tc>
                  <a:txBody>
                    <a:bodyPr wrap="square"/>
                    <a:lstStyle/>
                    <a:p>
                      <a:pPr algn="ctr"/>
                      <a:r>
                        <a:rPr sz="1050" b="1" i="0">
                          <a:solidFill>
                            <a:srgbClr val="FFFFFF"/>
                          </a:solidFill>
                          <a:latin typeface="游ゴシック"/>
                          <a:ea typeface="游ゴシック"/>
                        </a:rPr>
                        <a:t>年月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1050" b="1" i="0">
                          <a:solidFill>
                            <a:srgbClr val="FFFFFF"/>
                          </a:solidFill>
                          <a:latin typeface="游ゴシック"/>
                          <a:ea typeface="游ゴシック"/>
                        </a:rPr>
                        <a:t>主な出来事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84048">
                <a:tc>
                  <a:txBody>
                    <a:bodyPr wrap="square"/>
                    <a:lstStyle/>
                    <a:p>
                      <a:pPr algn="l"/>
                      <a:r>
                        <a:rPr sz="1050" b="0" i="0">
                          <a:solidFill>
                            <a:srgbClr val="000000"/>
                          </a:solidFill>
                          <a:latin typeface="游ゴシック"/>
                          <a:ea typeface="游ゴシック"/>
                        </a:rPr>
                        <a:t>1960年（昭和35年）3月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50" b="0" i="0">
                          <a:solidFill>
                            <a:srgbClr val="000000"/>
                          </a:solidFill>
                          <a:latin typeface="游ゴシック"/>
                          <a:ea typeface="游ゴシック"/>
                        </a:rPr>
                        <a:t>越ヶ谷製氷冷蔵株式会社を設立。越谷工場で操業開始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1050" b="0" i="0">
                          <a:solidFill>
                            <a:srgbClr val="000000"/>
                          </a:solidFill>
                          <a:latin typeface="游ゴシック"/>
                          <a:ea typeface="游ゴシック"/>
                        </a:rPr>
                        <a:t>1964年（昭和39年）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50" b="0" i="0">
                          <a:solidFill>
                            <a:srgbClr val="000000"/>
                          </a:solidFill>
                          <a:latin typeface="游ゴシック"/>
                          <a:ea typeface="游ゴシック"/>
                        </a:rPr>
                        <a:t>越谷工場に純水装置（イオン交換方式）を導入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1050" b="0" i="0">
                          <a:solidFill>
                            <a:srgbClr val="000000"/>
                          </a:solidFill>
                          <a:latin typeface="游ゴシック"/>
                          <a:ea typeface="游ゴシック"/>
                        </a:rPr>
                        <a:t>1972年（昭和47年）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50" b="0" i="0">
                          <a:solidFill>
                            <a:srgbClr val="000000"/>
                          </a:solidFill>
                          <a:latin typeface="游ゴシック"/>
                          <a:ea typeface="游ゴシック"/>
                        </a:rPr>
                        <a:t>本社を越谷市蒲生寿町へ移転</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1050" b="0" i="0">
                          <a:solidFill>
                            <a:srgbClr val="000000"/>
                          </a:solidFill>
                          <a:latin typeface="游ゴシック"/>
                          <a:ea typeface="游ゴシック"/>
                        </a:rPr>
                        <a:t>1990年（平成2年）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50" b="0" i="0">
                          <a:solidFill>
                            <a:srgbClr val="000000"/>
                          </a:solidFill>
                          <a:latin typeface="游ゴシック"/>
                          <a:ea typeface="游ゴシック"/>
                        </a:rPr>
                        <a:t>逆浸透膜（RO）ろ過装置を導入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1050" b="0" i="0">
                          <a:solidFill>
                            <a:srgbClr val="000000"/>
                          </a:solidFill>
                          <a:latin typeface="游ゴシック"/>
                          <a:ea typeface="游ゴシック"/>
                        </a:rPr>
                        <a:t>1991年（平成3年）3月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50" b="0" i="0">
                          <a:solidFill>
                            <a:srgbClr val="000000"/>
                          </a:solidFill>
                          <a:latin typeface="游ゴシック"/>
                          <a:ea typeface="游ゴシック"/>
                        </a:rPr>
                        <a:t>越谷工場（現工場棟）を建設</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1050" b="0" i="0">
                          <a:solidFill>
                            <a:srgbClr val="000000"/>
                          </a:solidFill>
                          <a:latin typeface="游ゴシック"/>
                          <a:ea typeface="游ゴシック"/>
                        </a:rPr>
                        <a:t>2008年（平成20年）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50" b="0" i="0">
                          <a:solidFill>
                            <a:srgbClr val="000000"/>
                          </a:solidFill>
                          <a:latin typeface="游ゴシック"/>
                          <a:ea typeface="游ゴシック"/>
                        </a:rPr>
                        <a:t>越谷工場 外壁塗装工事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1050" b="0" i="0">
                          <a:solidFill>
                            <a:srgbClr val="000000"/>
                          </a:solidFill>
                          <a:latin typeface="游ゴシック"/>
                          <a:ea typeface="游ゴシック"/>
                        </a:rPr>
                        <a:t>2012年（平成24年）4月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50" b="0" i="0">
                          <a:solidFill>
                            <a:srgbClr val="000000"/>
                          </a:solidFill>
                          <a:latin typeface="游ゴシック"/>
                          <a:ea typeface="游ゴシック"/>
                        </a:rPr>
                        <a:t>増資により資本金11,000千円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1050" b="0" i="0">
                          <a:solidFill>
                            <a:srgbClr val="000000"/>
                          </a:solidFill>
                          <a:latin typeface="游ゴシック"/>
                          <a:ea typeface="游ゴシック"/>
                        </a:rPr>
                        <a:t>2020年（令和2年）5月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50" b="0" i="0">
                          <a:solidFill>
                            <a:srgbClr val="000000"/>
                          </a:solidFill>
                          <a:latin typeface="游ゴシック"/>
                          <a:ea typeface="游ゴシック"/>
                        </a:rPr>
                        <a:t>株式の譲渡制限に関する規定を変更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1050" b="0" i="0">
                          <a:solidFill>
                            <a:srgbClr val="000000"/>
                          </a:solidFill>
                          <a:latin typeface="游ゴシック"/>
                          <a:ea typeface="游ゴシック"/>
                        </a:rPr>
                        <a:t>2026年（令和8年）5月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1050" b="0" i="0">
                          <a:solidFill>
                            <a:srgbClr val="000000"/>
                          </a:solidFill>
                          <a:latin typeface="游ゴシック"/>
                          <a:ea typeface="游ゴシック"/>
                        </a:rPr>
                        <a:t>減資により資本金10,000千円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7" name="TextBox 6"/>
          <p:cNvSpPr txBox="1"/>
          <p:nvPr/>
        </p:nvSpPr>
        <p:spPr>
          <a:xfrm>
            <a:off x="338328" y="6309360"/>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※1960〜1990年の記載は同社公式サイト等の公開情報、その他は登記・減価償却計算書による。代表者の経歴は要確認。</a:t>
            </a:r>
          </a:p>
        </p:txBody>
      </p:sp>
    </p:spTree>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18255</TotalTime>
  <Words>19068</Words>
  <Application>Microsoft Office PowerPoint</Application>
  <PresentationFormat>ユーザー設定</PresentationFormat>
  <Paragraphs>7417</Paragraphs>
  <Slides>64</Slides>
  <Notes>52</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株式会社M&amp;A承継機構</dc:creator>
  <cp:lastModifiedBy/>
  <cp:revision>202</cp:revision>
  <cp:lastPrinted>2026-09-18T11:11:13Z</cp:lastPrinted>
  <dcterms:created xsi:type="dcterms:W3CDTF">2022-11-09T11:25:01Z</dcterms:created>
  <dcterms:modified xsi:type="dcterms:W3CDTF">2026-10-14T13:13:26Z</dcterms:modified>
  <dc:title/>
  <dc:subject/>
  <cp:keywords/>
  <dc:description/>
</cp:coreProperties>
</file>