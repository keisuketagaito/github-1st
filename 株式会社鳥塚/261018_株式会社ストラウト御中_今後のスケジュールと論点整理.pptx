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12"/>
  </p:notesMasterIdLst>
  <p:sldIdLst>
    <p:sldId id="267" r:id="rId2"/>
    <p:sldId id="257" r:id="rId3"/>
    <p:sldId id="258" r:id="rId4"/>
    <p:sldId id="274" r:id="rId17"/>
    <p:sldId id="275" r:id="rId16"/>
    <p:sldId id="259" r:id="rId7"/>
    <p:sldId id="261" r:id="rId8"/>
    <p:sldId id="273" r:id="rId9"/>
    <p:sldId id="276" r:id="rId15"/>
    <p:sldId id="277" r:id="rId14"/>
    <p:sldId id="272" r:id="rId10"/>
    <p:sldId id="266" r:id="rId11"/>
  </p:sldIdLst>
  <p:sldSz cx="9144000" cy="6858000" type="screen4x3"/>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A4A3A4"/>
          </p15:clr>
        </p15:guide>
        <p15:guide id="2" pos="544">
          <p15:clr>
            <a:srgbClr val="A4A3A4"/>
          </p15:clr>
        </p15:guide>
        <p15:guide id="3" pos="4830">
          <p15:clr>
            <a:srgbClr val="A4A3A4"/>
          </p15:clr>
        </p15:guide>
        <p15:guide id="4" orient="horz" pos="3634">
          <p15:clr>
            <a:srgbClr val="A4A3A4"/>
          </p15:clr>
        </p15:guide>
        <p15:guide id="5" pos="4014">
          <p15:clr>
            <a:srgbClr val="A4A3A4"/>
          </p15:clr>
        </p15:guide>
        <p15:guide id="6" pos="188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jiAUO8oj/B8Y2YCkMKoHUmkZ4y+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7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6B9113-0DA6-4419-ABC6-697280B0F4CE}">
  <a:tblStyle styleId="{FA6B9113-0DA6-4419-ABC6-697280B0F4C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836" y="102"/>
      </p:cViewPr>
      <p:guideLst>
        <p:guide orient="horz"/>
        <p:guide pos="544"/>
        <p:guide pos="4830"/>
        <p:guide orient="horz" pos="3634"/>
        <p:guide pos="4014"/>
        <p:guide pos="18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4" Type="http://schemas.openxmlformats.org/officeDocument/2006/relationships/slide" Target="slides/slide14.xml"/><Relationship Id="rId15" Type="http://schemas.openxmlformats.org/officeDocument/2006/relationships/slide" Target="slides/slide13.xml"/><Relationship Id="rId16" Type="http://schemas.openxmlformats.org/officeDocument/2006/relationships/slide" Target="slides/slide12.xml"/><Relationship Id="rId17" Type="http://schemas.openxmlformats.org/officeDocument/2006/relationships/slide" Target="slides/slide11.xml"/><Relationship Id="rId18" Type="http://customschemas.google.com/relationships/presentationmetadata" Target="meta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2944072" cy="496491"/>
          </a:xfrm>
          <a:prstGeom prst="rect">
            <a:avLst/>
          </a:prstGeom>
          <a:noFill/>
          <a:ln>
            <a:noFill/>
          </a:ln>
        </p:spPr>
        <p:txBody>
          <a:bodyPr spcFirstLastPara="1" wrap="square" lIns="91281" tIns="45641" rIns="91281" bIns="45641"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844" y="0"/>
            <a:ext cx="2944072" cy="496491"/>
          </a:xfrm>
          <a:prstGeom prst="rect">
            <a:avLst/>
          </a:prstGeom>
          <a:noFill/>
          <a:ln>
            <a:noFill/>
          </a:ln>
        </p:spPr>
        <p:txBody>
          <a:bodyPr spcFirstLastPara="1" wrap="square" lIns="91281" tIns="45641" rIns="91281" bIns="45641"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433324"/>
            <a:ext cx="2944072" cy="496490"/>
          </a:xfrm>
          <a:prstGeom prst="rect">
            <a:avLst/>
          </a:prstGeom>
          <a:noFill/>
          <a:ln>
            <a:noFill/>
          </a:ln>
        </p:spPr>
        <p:txBody>
          <a:bodyPr spcFirstLastPara="1" wrap="square" lIns="91281" tIns="45641" rIns="91281" bIns="45641"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notes"/>
          <p:cNvSpPr txBox="1">
            <a:spLocks noGrp="1"/>
          </p:cNvSpPr>
          <p:nvPr>
            <p:ph type="body" idx="1"/>
          </p:nvPr>
        </p:nvSpPr>
        <p:spPr>
          <a:xfrm>
            <a:off x="679768" y="4717455"/>
            <a:ext cx="5434966" cy="4468416"/>
          </a:xfrm>
          <a:prstGeom prst="rect">
            <a:avLst/>
          </a:prstGeom>
        </p:spPr>
        <p:txBody>
          <a:bodyPr spcFirstLastPara="1" wrap="square" lIns="91281" tIns="45641" rIns="91281" bIns="45641" anchor="t" anchorCtr="0">
            <a:noAutofit/>
          </a:bodyPr>
          <a:lstStyle/>
          <a:p>
            <a:pPr marL="0" indent="0"/>
            <a:endParaRPr/>
          </a:p>
        </p:txBody>
      </p:sp>
      <p:sp>
        <p:nvSpPr>
          <p:cNvPr id="194" name="Google Shape;194;p2: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3: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02" name="Google Shape;202;p3: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2</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4: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1" name="Google Shape;211;p4: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12" name="Google Shape;212;p4: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6: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1" name="Google Shape;231;p6: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sz="800"/>
          </a:p>
        </p:txBody>
      </p:sp>
      <p:sp>
        <p:nvSpPr>
          <p:cNvPr id="232" name="Google Shape;232;p6: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1: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6" name="Google Shape;286;p11: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87" name="Google Shape;287;p11: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A8C01E1-DC73-47CA-8AB3-0AF12820F4D0}" type="datetime1">
              <a:rPr kumimoji="1" lang="ja-JP" altLang="en-US" smtClean="0"/>
              <a:pPr/>
              <a:t>2026/9/8</a:t>
            </a:fld>
            <a:endParaRPr kumimoji="1" lang="ja-JP"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kumimoji="1" lang="ja-JP"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532FAFD-9931-440E-831C-5FB57402A186}" type="slidenum">
              <a:rPr kumimoji="1" lang="ja-JP" altLang="en-US" smtClean="0"/>
              <a:pPr/>
              <a:t>‹#›</a:t>
            </a:fld>
            <a:endParaRPr kumimoji="1" lang="ja-JP" altLang="en-US"/>
          </a:p>
        </p:txBody>
      </p:sp>
      <p:sp>
        <p:nvSpPr>
          <p:cNvPr id="7" name="正方形/長方形 6">
            <a:extLst>
              <a:ext uri="{FF2B5EF4-FFF2-40B4-BE49-F238E27FC236}">
                <a16:creationId xmlns:a16="http://schemas.microsoft.com/office/drawing/2014/main" id="{53A5FD5A-0BDD-4A81-9722-D58D9DC7A6CB}"/>
              </a:ext>
            </a:extLst>
          </p:cNvPr>
          <p:cNvSpPr/>
          <p:nvPr userDrawn="1"/>
        </p:nvSpPr>
        <p:spPr bwMode="gray">
          <a:xfrm>
            <a:off x="-908" y="6095965"/>
            <a:ext cx="9149670" cy="77041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pic>
        <p:nvPicPr>
          <p:cNvPr id="8" name="図 7">
            <a:extLst>
              <a:ext uri="{FF2B5EF4-FFF2-40B4-BE49-F238E27FC236}">
                <a16:creationId xmlns:a16="http://schemas.microsoft.com/office/drawing/2014/main" id="{BE0725ED-E3D5-40AF-86AE-6DF05682A332}"/>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gray">
          <a:xfrm>
            <a:off x="-1587" y="-2704"/>
            <a:ext cx="9144000" cy="6096000"/>
          </a:xfrm>
          <a:prstGeom prst="rect">
            <a:avLst/>
          </a:prstGeom>
        </p:spPr>
      </p:pic>
      <p:sp>
        <p:nvSpPr>
          <p:cNvPr id="9" name="フリーフォーム 14">
            <a:extLst>
              <a:ext uri="{FF2B5EF4-FFF2-40B4-BE49-F238E27FC236}">
                <a16:creationId xmlns:a16="http://schemas.microsoft.com/office/drawing/2014/main" id="{777E065D-7ABE-4B71-94D8-7961F25F23F3}"/>
              </a:ext>
            </a:extLst>
          </p:cNvPr>
          <p:cNvSpPr/>
          <p:nvPr userDrawn="1"/>
        </p:nvSpPr>
        <p:spPr bwMode="gray">
          <a:xfrm>
            <a:off x="-3" y="3288845"/>
            <a:ext cx="9149444" cy="3566886"/>
          </a:xfrm>
          <a:custGeom>
            <a:avLst/>
            <a:gdLst>
              <a:gd name="connsiteX0" fmla="*/ 0 w 9144000"/>
              <a:gd name="connsiteY0" fmla="*/ 0 h 5167086"/>
              <a:gd name="connsiteX1" fmla="*/ 9144000 w 9144000"/>
              <a:gd name="connsiteY1" fmla="*/ 3454400 h 5167086"/>
              <a:gd name="connsiteX2" fmla="*/ 9144000 w 9144000"/>
              <a:gd name="connsiteY2" fmla="*/ 5167086 h 5167086"/>
              <a:gd name="connsiteX3" fmla="*/ 14514 w 9144000"/>
              <a:gd name="connsiteY3" fmla="*/ 5167086 h 5167086"/>
              <a:gd name="connsiteX4" fmla="*/ 0 w 9144000"/>
              <a:gd name="connsiteY4" fmla="*/ 0 h 5167086"/>
              <a:gd name="connsiteX0" fmla="*/ 4550241 w 9129486"/>
              <a:gd name="connsiteY0" fmla="*/ 0 h 3439886"/>
              <a:gd name="connsiteX1" fmla="*/ 9129486 w 9129486"/>
              <a:gd name="connsiteY1" fmla="*/ 1727200 h 3439886"/>
              <a:gd name="connsiteX2" fmla="*/ 9129486 w 9129486"/>
              <a:gd name="connsiteY2" fmla="*/ 3439886 h 3439886"/>
              <a:gd name="connsiteX3" fmla="*/ 0 w 9129486"/>
              <a:gd name="connsiteY3" fmla="*/ 3439886 h 3439886"/>
              <a:gd name="connsiteX4" fmla="*/ 4550241 w 9129486"/>
              <a:gd name="connsiteY4" fmla="*/ 0 h 3439886"/>
              <a:gd name="connsiteX0" fmla="*/ 4550241 w 9129486"/>
              <a:gd name="connsiteY0" fmla="*/ 0 h 3439886"/>
              <a:gd name="connsiteX1" fmla="*/ 9129486 w 9129486"/>
              <a:gd name="connsiteY1" fmla="*/ 1727200 h 3439886"/>
              <a:gd name="connsiteX2" fmla="*/ 9129486 w 9129486"/>
              <a:gd name="connsiteY2" fmla="*/ 3439886 h 3439886"/>
              <a:gd name="connsiteX3" fmla="*/ 0 w 9129486"/>
              <a:gd name="connsiteY3" fmla="*/ 3439886 h 3439886"/>
              <a:gd name="connsiteX4" fmla="*/ 1394763 w 9129486"/>
              <a:gd name="connsiteY4" fmla="*/ 2416629 h 3439886"/>
              <a:gd name="connsiteX5" fmla="*/ 4550241 w 9129486"/>
              <a:gd name="connsiteY5" fmla="*/ 0 h 3439886"/>
              <a:gd name="connsiteX0" fmla="*/ 4550264 w 9129509"/>
              <a:gd name="connsiteY0" fmla="*/ 0 h 3439886"/>
              <a:gd name="connsiteX1" fmla="*/ 9129509 w 9129509"/>
              <a:gd name="connsiteY1" fmla="*/ 1727200 h 3439886"/>
              <a:gd name="connsiteX2" fmla="*/ 9129509 w 9129509"/>
              <a:gd name="connsiteY2" fmla="*/ 3439886 h 3439886"/>
              <a:gd name="connsiteX3" fmla="*/ 23 w 9129509"/>
              <a:gd name="connsiteY3" fmla="*/ 3439886 h 3439886"/>
              <a:gd name="connsiteX4" fmla="*/ 0 w 9129509"/>
              <a:gd name="connsiteY4" fmla="*/ 2073729 h 3439886"/>
              <a:gd name="connsiteX5" fmla="*/ 4550264 w 9129509"/>
              <a:gd name="connsiteY5" fmla="*/ 0 h 3439886"/>
              <a:gd name="connsiteX0" fmla="*/ 4195228 w 9129509"/>
              <a:gd name="connsiteY0" fmla="*/ 0 h 3566886"/>
              <a:gd name="connsiteX1" fmla="*/ 9129509 w 9129509"/>
              <a:gd name="connsiteY1" fmla="*/ 1854200 h 3566886"/>
              <a:gd name="connsiteX2" fmla="*/ 9129509 w 9129509"/>
              <a:gd name="connsiteY2" fmla="*/ 3566886 h 3566886"/>
              <a:gd name="connsiteX3" fmla="*/ 23 w 9129509"/>
              <a:gd name="connsiteY3" fmla="*/ 3566886 h 3566886"/>
              <a:gd name="connsiteX4" fmla="*/ 0 w 9129509"/>
              <a:gd name="connsiteY4" fmla="*/ 2200729 h 3566886"/>
              <a:gd name="connsiteX5" fmla="*/ 4195228 w 9129509"/>
              <a:gd name="connsiteY5" fmla="*/ 0 h 3566886"/>
              <a:gd name="connsiteX0" fmla="*/ 4207908 w 9142189"/>
              <a:gd name="connsiteY0" fmla="*/ 0 h 3566886"/>
              <a:gd name="connsiteX1" fmla="*/ 9142189 w 9142189"/>
              <a:gd name="connsiteY1" fmla="*/ 1854200 h 3566886"/>
              <a:gd name="connsiteX2" fmla="*/ 9142189 w 9142189"/>
              <a:gd name="connsiteY2" fmla="*/ 3566886 h 3566886"/>
              <a:gd name="connsiteX3" fmla="*/ 12703 w 9142189"/>
              <a:gd name="connsiteY3" fmla="*/ 3566886 h 3566886"/>
              <a:gd name="connsiteX4" fmla="*/ 0 w 9142189"/>
              <a:gd name="connsiteY4" fmla="*/ 2784929 h 3566886"/>
              <a:gd name="connsiteX5" fmla="*/ 4207908 w 9142189"/>
              <a:gd name="connsiteY5" fmla="*/ 0 h 3566886"/>
              <a:gd name="connsiteX0" fmla="*/ 4207908 w 9142189"/>
              <a:gd name="connsiteY0" fmla="*/ 0 h 3566886"/>
              <a:gd name="connsiteX1" fmla="*/ 9142189 w 9142189"/>
              <a:gd name="connsiteY1" fmla="*/ 1854200 h 3566886"/>
              <a:gd name="connsiteX2" fmla="*/ 9142189 w 9142189"/>
              <a:gd name="connsiteY2" fmla="*/ 3566886 h 3566886"/>
              <a:gd name="connsiteX3" fmla="*/ 6363 w 9142189"/>
              <a:gd name="connsiteY3" fmla="*/ 3563711 h 3566886"/>
              <a:gd name="connsiteX4" fmla="*/ 0 w 9142189"/>
              <a:gd name="connsiteY4" fmla="*/ 2784929 h 3566886"/>
              <a:gd name="connsiteX5" fmla="*/ 4207908 w 9142189"/>
              <a:gd name="connsiteY5" fmla="*/ 0 h 3566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2189" h="3566886">
                <a:moveTo>
                  <a:pt x="4207908" y="0"/>
                </a:moveTo>
                <a:lnTo>
                  <a:pt x="9142189" y="1854200"/>
                </a:lnTo>
                <a:lnTo>
                  <a:pt x="9142189" y="3566886"/>
                </a:lnTo>
                <a:lnTo>
                  <a:pt x="6363" y="3563711"/>
                </a:lnTo>
                <a:cubicBezTo>
                  <a:pt x="6355" y="3108325"/>
                  <a:pt x="8" y="3240315"/>
                  <a:pt x="0" y="2784929"/>
                </a:cubicBezTo>
                <a:lnTo>
                  <a:pt x="4207908" y="0"/>
                </a:lnTo>
                <a:close/>
              </a:path>
            </a:pathLst>
          </a:cu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lang="ja-JP" altLang="en-US" sz="950" dirty="0">
              <a:solidFill>
                <a:srgbClr val="404E0A"/>
              </a:solidFill>
              <a:latin typeface="Arial" panose="020B0604020202020204" pitchFamily="34" charset="0"/>
              <a:ea typeface="Meiryo UI"/>
              <a:cs typeface="Arial" panose="020B0604020202020204" pitchFamily="34" charset="0"/>
            </a:endParaRPr>
          </a:p>
        </p:txBody>
      </p:sp>
      <p:sp>
        <p:nvSpPr>
          <p:cNvPr id="10" name="フリーフォーム 15">
            <a:extLst>
              <a:ext uri="{FF2B5EF4-FFF2-40B4-BE49-F238E27FC236}">
                <a16:creationId xmlns:a16="http://schemas.microsoft.com/office/drawing/2014/main" id="{926D8226-CCF4-4B52-89D3-BA412321F7D6}"/>
              </a:ext>
            </a:extLst>
          </p:cNvPr>
          <p:cNvSpPr/>
          <p:nvPr userDrawn="1"/>
        </p:nvSpPr>
        <p:spPr bwMode="gray">
          <a:xfrm>
            <a:off x="-9693" y="1696954"/>
            <a:ext cx="4206240" cy="4388367"/>
          </a:xfrm>
          <a:custGeom>
            <a:avLst/>
            <a:gdLst>
              <a:gd name="connsiteX0" fmla="*/ 4572000 w 4572000"/>
              <a:gd name="connsiteY0" fmla="*/ 1741715 h 5138058"/>
              <a:gd name="connsiteX1" fmla="*/ 0 w 4572000"/>
              <a:gd name="connsiteY1" fmla="*/ 5138058 h 5138058"/>
              <a:gd name="connsiteX2" fmla="*/ 0 w 4572000"/>
              <a:gd name="connsiteY2" fmla="*/ 0 h 5138058"/>
              <a:gd name="connsiteX3" fmla="*/ 4572000 w 4572000"/>
              <a:gd name="connsiteY3" fmla="*/ 1741715 h 5138058"/>
              <a:gd name="connsiteX0" fmla="*/ 4572000 w 4572000"/>
              <a:gd name="connsiteY0" fmla="*/ 1741715 h 5161504"/>
              <a:gd name="connsiteX1" fmla="*/ 0 w 4572000"/>
              <a:gd name="connsiteY1" fmla="*/ 5161504 h 5161504"/>
              <a:gd name="connsiteX2" fmla="*/ 0 w 4572000"/>
              <a:gd name="connsiteY2" fmla="*/ 0 h 5161504"/>
              <a:gd name="connsiteX3" fmla="*/ 4572000 w 4572000"/>
              <a:gd name="connsiteY3" fmla="*/ 1741715 h 5161504"/>
              <a:gd name="connsiteX0" fmla="*/ 4572000 w 4572000"/>
              <a:gd name="connsiteY0" fmla="*/ 1741715 h 5173227"/>
              <a:gd name="connsiteX1" fmla="*/ 0 w 4572000"/>
              <a:gd name="connsiteY1" fmla="*/ 5173227 h 5173227"/>
              <a:gd name="connsiteX2" fmla="*/ 0 w 4572000"/>
              <a:gd name="connsiteY2" fmla="*/ 0 h 5173227"/>
              <a:gd name="connsiteX3" fmla="*/ 4572000 w 4572000"/>
              <a:gd name="connsiteY3" fmla="*/ 1741715 h 5173227"/>
              <a:gd name="connsiteX0" fmla="*/ 4572000 w 4572000"/>
              <a:gd name="connsiteY0" fmla="*/ 1741715 h 3801627"/>
              <a:gd name="connsiteX1" fmla="*/ 0 w 4572000"/>
              <a:gd name="connsiteY1" fmla="*/ 3801627 h 3801627"/>
              <a:gd name="connsiteX2" fmla="*/ 0 w 4572000"/>
              <a:gd name="connsiteY2" fmla="*/ 0 h 3801627"/>
              <a:gd name="connsiteX3" fmla="*/ 4572000 w 4572000"/>
              <a:gd name="connsiteY3" fmla="*/ 1741715 h 3801627"/>
              <a:gd name="connsiteX0" fmla="*/ 4191000 w 4191000"/>
              <a:gd name="connsiteY0" fmla="*/ 1589315 h 3801627"/>
              <a:gd name="connsiteX1" fmla="*/ 0 w 4191000"/>
              <a:gd name="connsiteY1" fmla="*/ 3801627 h 3801627"/>
              <a:gd name="connsiteX2" fmla="*/ 0 w 4191000"/>
              <a:gd name="connsiteY2" fmla="*/ 0 h 3801627"/>
              <a:gd name="connsiteX3" fmla="*/ 4191000 w 4191000"/>
              <a:gd name="connsiteY3" fmla="*/ 1589315 h 3801627"/>
              <a:gd name="connsiteX0" fmla="*/ 4191000 w 4191000"/>
              <a:gd name="connsiteY0" fmla="*/ 1589315 h 4373127"/>
              <a:gd name="connsiteX1" fmla="*/ 0 w 4191000"/>
              <a:gd name="connsiteY1" fmla="*/ 4373127 h 4373127"/>
              <a:gd name="connsiteX2" fmla="*/ 0 w 4191000"/>
              <a:gd name="connsiteY2" fmla="*/ 0 h 4373127"/>
              <a:gd name="connsiteX3" fmla="*/ 4191000 w 4191000"/>
              <a:gd name="connsiteY3" fmla="*/ 1589315 h 4373127"/>
              <a:gd name="connsiteX0" fmla="*/ 4206240 w 4206240"/>
              <a:gd name="connsiteY0" fmla="*/ 1596935 h 4373127"/>
              <a:gd name="connsiteX1" fmla="*/ 0 w 4206240"/>
              <a:gd name="connsiteY1" fmla="*/ 4373127 h 4373127"/>
              <a:gd name="connsiteX2" fmla="*/ 0 w 4206240"/>
              <a:gd name="connsiteY2" fmla="*/ 0 h 4373127"/>
              <a:gd name="connsiteX3" fmla="*/ 4206240 w 4206240"/>
              <a:gd name="connsiteY3" fmla="*/ 1596935 h 4373127"/>
              <a:gd name="connsiteX0" fmla="*/ 4206240 w 4206240"/>
              <a:gd name="connsiteY0" fmla="*/ 1596935 h 4388367"/>
              <a:gd name="connsiteX1" fmla="*/ 0 w 4206240"/>
              <a:gd name="connsiteY1" fmla="*/ 4388367 h 4388367"/>
              <a:gd name="connsiteX2" fmla="*/ 0 w 4206240"/>
              <a:gd name="connsiteY2" fmla="*/ 0 h 4388367"/>
              <a:gd name="connsiteX3" fmla="*/ 4206240 w 4206240"/>
              <a:gd name="connsiteY3" fmla="*/ 1596935 h 4388367"/>
            </a:gdLst>
            <a:ahLst/>
            <a:cxnLst>
              <a:cxn ang="0">
                <a:pos x="connsiteX0" y="connsiteY0"/>
              </a:cxn>
              <a:cxn ang="0">
                <a:pos x="connsiteX1" y="connsiteY1"/>
              </a:cxn>
              <a:cxn ang="0">
                <a:pos x="connsiteX2" y="connsiteY2"/>
              </a:cxn>
              <a:cxn ang="0">
                <a:pos x="connsiteX3" y="connsiteY3"/>
              </a:cxn>
            </a:cxnLst>
            <a:rect l="l" t="t" r="r" b="b"/>
            <a:pathLst>
              <a:path w="4206240" h="4388367">
                <a:moveTo>
                  <a:pt x="4206240" y="1596935"/>
                </a:moveTo>
                <a:lnTo>
                  <a:pt x="0" y="4388367"/>
                </a:lnTo>
                <a:lnTo>
                  <a:pt x="0" y="0"/>
                </a:lnTo>
                <a:lnTo>
                  <a:pt x="4206240" y="1596935"/>
                </a:lnTo>
                <a:close/>
              </a:path>
            </a:pathLst>
          </a:custGeom>
          <a:solidFill>
            <a:schemeClr val="accent1">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sp>
        <p:nvSpPr>
          <p:cNvPr id="11" name="フリーフォーム 16">
            <a:extLst>
              <a:ext uri="{FF2B5EF4-FFF2-40B4-BE49-F238E27FC236}">
                <a16:creationId xmlns:a16="http://schemas.microsoft.com/office/drawing/2014/main" id="{11B64292-33AE-44EA-BA23-685311A8C144}"/>
              </a:ext>
            </a:extLst>
          </p:cNvPr>
          <p:cNvSpPr/>
          <p:nvPr userDrawn="1"/>
        </p:nvSpPr>
        <p:spPr bwMode="gray">
          <a:xfrm>
            <a:off x="12698" y="-5518"/>
            <a:ext cx="9110863" cy="3307645"/>
          </a:xfrm>
          <a:custGeom>
            <a:avLst/>
            <a:gdLst>
              <a:gd name="connsiteX0" fmla="*/ 0 w 9173029"/>
              <a:gd name="connsiteY0" fmla="*/ 1712686 h 3439886"/>
              <a:gd name="connsiteX1" fmla="*/ 2235200 w 9173029"/>
              <a:gd name="connsiteY1" fmla="*/ 29029 h 3439886"/>
              <a:gd name="connsiteX2" fmla="*/ 9173029 w 9173029"/>
              <a:gd name="connsiteY2" fmla="*/ 0 h 3439886"/>
              <a:gd name="connsiteX3" fmla="*/ 4601029 w 9173029"/>
              <a:gd name="connsiteY3" fmla="*/ 3439886 h 3439886"/>
              <a:gd name="connsiteX4" fmla="*/ 0 w 9173029"/>
              <a:gd name="connsiteY4" fmla="*/ 1712686 h 3439886"/>
              <a:gd name="connsiteX0" fmla="*/ 0 w 9173029"/>
              <a:gd name="connsiteY0" fmla="*/ 1712686 h 3468914"/>
              <a:gd name="connsiteX1" fmla="*/ 2235200 w 9173029"/>
              <a:gd name="connsiteY1" fmla="*/ 29029 h 3468914"/>
              <a:gd name="connsiteX2" fmla="*/ 9173029 w 9173029"/>
              <a:gd name="connsiteY2" fmla="*/ 0 h 3468914"/>
              <a:gd name="connsiteX3" fmla="*/ 4528458 w 9173029"/>
              <a:gd name="connsiteY3" fmla="*/ 3468914 h 3468914"/>
              <a:gd name="connsiteX4" fmla="*/ 0 w 9173029"/>
              <a:gd name="connsiteY4" fmla="*/ 1712686 h 3468914"/>
              <a:gd name="connsiteX0" fmla="*/ 0 w 9173029"/>
              <a:gd name="connsiteY0" fmla="*/ 1741714 h 3468914"/>
              <a:gd name="connsiteX1" fmla="*/ 2235200 w 9173029"/>
              <a:gd name="connsiteY1" fmla="*/ 29029 h 3468914"/>
              <a:gd name="connsiteX2" fmla="*/ 9173029 w 9173029"/>
              <a:gd name="connsiteY2" fmla="*/ 0 h 3468914"/>
              <a:gd name="connsiteX3" fmla="*/ 4528458 w 9173029"/>
              <a:gd name="connsiteY3" fmla="*/ 3468914 h 3468914"/>
              <a:gd name="connsiteX4" fmla="*/ 0 w 9173029"/>
              <a:gd name="connsiteY4" fmla="*/ 1741714 h 3468914"/>
              <a:gd name="connsiteX0" fmla="*/ 0 w 9173029"/>
              <a:gd name="connsiteY0" fmla="*/ 1741714 h 3468914"/>
              <a:gd name="connsiteX1" fmla="*/ 2235200 w 9173029"/>
              <a:gd name="connsiteY1" fmla="*/ 29029 h 3468914"/>
              <a:gd name="connsiteX2" fmla="*/ 9173029 w 9173029"/>
              <a:gd name="connsiteY2" fmla="*/ 0 h 3468914"/>
              <a:gd name="connsiteX3" fmla="*/ 7762304 w 9173029"/>
              <a:gd name="connsiteY3" fmla="*/ 1017946 h 3468914"/>
              <a:gd name="connsiteX4" fmla="*/ 4528458 w 9173029"/>
              <a:gd name="connsiteY4" fmla="*/ 3468914 h 3468914"/>
              <a:gd name="connsiteX5" fmla="*/ 0 w 9173029"/>
              <a:gd name="connsiteY5" fmla="*/ 1741714 h 3468914"/>
              <a:gd name="connsiteX0" fmla="*/ 0 w 9173029"/>
              <a:gd name="connsiteY0" fmla="*/ 1741714 h 3468914"/>
              <a:gd name="connsiteX1" fmla="*/ 2235200 w 9173029"/>
              <a:gd name="connsiteY1" fmla="*/ 29029 h 3468914"/>
              <a:gd name="connsiteX2" fmla="*/ 9173029 w 9173029"/>
              <a:gd name="connsiteY2" fmla="*/ 0 h 3468914"/>
              <a:gd name="connsiteX3" fmla="*/ 9108504 w 9173029"/>
              <a:gd name="connsiteY3" fmla="*/ 1386246 h 3468914"/>
              <a:gd name="connsiteX4" fmla="*/ 4528458 w 9173029"/>
              <a:gd name="connsiteY4" fmla="*/ 3468914 h 3468914"/>
              <a:gd name="connsiteX5" fmla="*/ 0 w 9173029"/>
              <a:gd name="connsiteY5" fmla="*/ 1741714 h 3468914"/>
              <a:gd name="connsiteX0" fmla="*/ 0 w 9147629"/>
              <a:gd name="connsiteY0" fmla="*/ 1716314 h 3443514"/>
              <a:gd name="connsiteX1" fmla="*/ 2235200 w 9147629"/>
              <a:gd name="connsiteY1" fmla="*/ 3629 h 3443514"/>
              <a:gd name="connsiteX2" fmla="*/ 9147629 w 9147629"/>
              <a:gd name="connsiteY2" fmla="*/ 0 h 3443514"/>
              <a:gd name="connsiteX3" fmla="*/ 9108504 w 9147629"/>
              <a:gd name="connsiteY3" fmla="*/ 1360846 h 3443514"/>
              <a:gd name="connsiteX4" fmla="*/ 4528458 w 9147629"/>
              <a:gd name="connsiteY4" fmla="*/ 3443514 h 3443514"/>
              <a:gd name="connsiteX5" fmla="*/ 0 w 9147629"/>
              <a:gd name="connsiteY5" fmla="*/ 1716314 h 3443514"/>
              <a:gd name="connsiteX0" fmla="*/ 0 w 9147629"/>
              <a:gd name="connsiteY0" fmla="*/ 1716314 h 3443514"/>
              <a:gd name="connsiteX1" fmla="*/ 2235200 w 9147629"/>
              <a:gd name="connsiteY1" fmla="*/ 3629 h 3443514"/>
              <a:gd name="connsiteX2" fmla="*/ 9147629 w 9147629"/>
              <a:gd name="connsiteY2" fmla="*/ 0 h 3443514"/>
              <a:gd name="connsiteX3" fmla="*/ 9133904 w 9147629"/>
              <a:gd name="connsiteY3" fmla="*/ 1360846 h 3443514"/>
              <a:gd name="connsiteX4" fmla="*/ 4528458 w 9147629"/>
              <a:gd name="connsiteY4" fmla="*/ 3443514 h 3443514"/>
              <a:gd name="connsiteX5" fmla="*/ 0 w 9147629"/>
              <a:gd name="connsiteY5" fmla="*/ 1716314 h 3443514"/>
              <a:gd name="connsiteX0" fmla="*/ 0 w 9134929"/>
              <a:gd name="connsiteY0" fmla="*/ 1716314 h 3443514"/>
              <a:gd name="connsiteX1" fmla="*/ 2235200 w 9134929"/>
              <a:gd name="connsiteY1" fmla="*/ 3629 h 3443514"/>
              <a:gd name="connsiteX2" fmla="*/ 9134929 w 9134929"/>
              <a:gd name="connsiteY2" fmla="*/ 0 h 3443514"/>
              <a:gd name="connsiteX3" fmla="*/ 9133904 w 9134929"/>
              <a:gd name="connsiteY3" fmla="*/ 1360846 h 3443514"/>
              <a:gd name="connsiteX4" fmla="*/ 4528458 w 9134929"/>
              <a:gd name="connsiteY4" fmla="*/ 3443514 h 3443514"/>
              <a:gd name="connsiteX5" fmla="*/ 0 w 9134929"/>
              <a:gd name="connsiteY5" fmla="*/ 1716314 h 3443514"/>
              <a:gd name="connsiteX0" fmla="*/ 0 w 9134929"/>
              <a:gd name="connsiteY0" fmla="*/ 1716314 h 3443514"/>
              <a:gd name="connsiteX1" fmla="*/ 3771900 w 9134929"/>
              <a:gd name="connsiteY1" fmla="*/ 16329 h 3443514"/>
              <a:gd name="connsiteX2" fmla="*/ 9134929 w 9134929"/>
              <a:gd name="connsiteY2" fmla="*/ 0 h 3443514"/>
              <a:gd name="connsiteX3" fmla="*/ 9133904 w 9134929"/>
              <a:gd name="connsiteY3" fmla="*/ 1360846 h 3443514"/>
              <a:gd name="connsiteX4" fmla="*/ 4528458 w 9134929"/>
              <a:gd name="connsiteY4" fmla="*/ 3443514 h 3443514"/>
              <a:gd name="connsiteX5" fmla="*/ 0 w 9134929"/>
              <a:gd name="connsiteY5" fmla="*/ 1716314 h 3443514"/>
              <a:gd name="connsiteX0" fmla="*/ 0 w 9134929"/>
              <a:gd name="connsiteY0" fmla="*/ 1716314 h 1716314"/>
              <a:gd name="connsiteX1" fmla="*/ 3771900 w 9134929"/>
              <a:gd name="connsiteY1" fmla="*/ 16329 h 1716314"/>
              <a:gd name="connsiteX2" fmla="*/ 9134929 w 9134929"/>
              <a:gd name="connsiteY2" fmla="*/ 0 h 1716314"/>
              <a:gd name="connsiteX3" fmla="*/ 9133904 w 9134929"/>
              <a:gd name="connsiteY3" fmla="*/ 1360846 h 1716314"/>
              <a:gd name="connsiteX4" fmla="*/ 0 w 9134929"/>
              <a:gd name="connsiteY4" fmla="*/ 1716314 h 1716314"/>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25385 h 3325717"/>
              <a:gd name="connsiteX1" fmla="*/ 2590800 w 9134929"/>
              <a:gd name="connsiteY1" fmla="*/ 0 h 3325717"/>
              <a:gd name="connsiteX2" fmla="*/ 9134929 w 9134929"/>
              <a:gd name="connsiteY2" fmla="*/ 9071 h 3325717"/>
              <a:gd name="connsiteX3" fmla="*/ 4193604 w 9134929"/>
              <a:gd name="connsiteY3" fmla="*/ 3325717 h 3325717"/>
              <a:gd name="connsiteX4" fmla="*/ 0 w 9134929"/>
              <a:gd name="connsiteY4" fmla="*/ 1725385 h 3325717"/>
              <a:gd name="connsiteX0" fmla="*/ 0 w 9147629"/>
              <a:gd name="connsiteY0" fmla="*/ 1712685 h 3325717"/>
              <a:gd name="connsiteX1" fmla="*/ 2603500 w 9147629"/>
              <a:gd name="connsiteY1" fmla="*/ 0 h 3325717"/>
              <a:gd name="connsiteX2" fmla="*/ 9147629 w 9147629"/>
              <a:gd name="connsiteY2" fmla="*/ 9071 h 3325717"/>
              <a:gd name="connsiteX3" fmla="*/ 4206304 w 9147629"/>
              <a:gd name="connsiteY3" fmla="*/ 3325717 h 3325717"/>
              <a:gd name="connsiteX4" fmla="*/ 0 w 9147629"/>
              <a:gd name="connsiteY4" fmla="*/ 1712685 h 3325717"/>
              <a:gd name="connsiteX0" fmla="*/ 0 w 9155249"/>
              <a:gd name="connsiteY0" fmla="*/ 1720305 h 3325717"/>
              <a:gd name="connsiteX1" fmla="*/ 2611120 w 9155249"/>
              <a:gd name="connsiteY1" fmla="*/ 0 h 3325717"/>
              <a:gd name="connsiteX2" fmla="*/ 9155249 w 9155249"/>
              <a:gd name="connsiteY2" fmla="*/ 9071 h 3325717"/>
              <a:gd name="connsiteX3" fmla="*/ 4213924 w 9155249"/>
              <a:gd name="connsiteY3" fmla="*/ 3325717 h 3325717"/>
              <a:gd name="connsiteX4" fmla="*/ 0 w 9155249"/>
              <a:gd name="connsiteY4" fmla="*/ 1720305 h 3325717"/>
              <a:gd name="connsiteX0" fmla="*/ 0 w 9170489"/>
              <a:gd name="connsiteY0" fmla="*/ 1720305 h 3325717"/>
              <a:gd name="connsiteX1" fmla="*/ 2626360 w 9170489"/>
              <a:gd name="connsiteY1" fmla="*/ 0 h 3325717"/>
              <a:gd name="connsiteX2" fmla="*/ 9170489 w 9170489"/>
              <a:gd name="connsiteY2" fmla="*/ 9071 h 3325717"/>
              <a:gd name="connsiteX3" fmla="*/ 4229164 w 9170489"/>
              <a:gd name="connsiteY3" fmla="*/ 3325717 h 3325717"/>
              <a:gd name="connsiteX4" fmla="*/ 0 w 9170489"/>
              <a:gd name="connsiteY4" fmla="*/ 1720305 h 3325717"/>
              <a:gd name="connsiteX0" fmla="*/ 0 w 9141914"/>
              <a:gd name="connsiteY0" fmla="*/ 1720305 h 3325717"/>
              <a:gd name="connsiteX1" fmla="*/ 2626360 w 9141914"/>
              <a:gd name="connsiteY1" fmla="*/ 0 h 3325717"/>
              <a:gd name="connsiteX2" fmla="*/ 9141914 w 9141914"/>
              <a:gd name="connsiteY2" fmla="*/ 9071 h 3325717"/>
              <a:gd name="connsiteX3" fmla="*/ 4229164 w 9141914"/>
              <a:gd name="connsiteY3" fmla="*/ 3325717 h 3325717"/>
              <a:gd name="connsiteX4" fmla="*/ 0 w 9141914"/>
              <a:gd name="connsiteY4" fmla="*/ 1720305 h 3325717"/>
              <a:gd name="connsiteX0" fmla="*/ 0 w 9141914"/>
              <a:gd name="connsiteY0" fmla="*/ 1730284 h 3335696"/>
              <a:gd name="connsiteX1" fmla="*/ 2626360 w 9141914"/>
              <a:gd name="connsiteY1" fmla="*/ 9979 h 3335696"/>
              <a:gd name="connsiteX2" fmla="*/ 9141914 w 9141914"/>
              <a:gd name="connsiteY2" fmla="*/ 0 h 3335696"/>
              <a:gd name="connsiteX3" fmla="*/ 4229164 w 9141914"/>
              <a:gd name="connsiteY3" fmla="*/ 3335696 h 3335696"/>
              <a:gd name="connsiteX4" fmla="*/ 0 w 9141914"/>
              <a:gd name="connsiteY4" fmla="*/ 1730284 h 3335696"/>
              <a:gd name="connsiteX0" fmla="*/ 0 w 9141914"/>
              <a:gd name="connsiteY0" fmla="*/ 1730284 h 3335696"/>
              <a:gd name="connsiteX1" fmla="*/ 2626361 w 9141914"/>
              <a:gd name="connsiteY1" fmla="*/ 3570 h 3335696"/>
              <a:gd name="connsiteX2" fmla="*/ 9141914 w 9141914"/>
              <a:gd name="connsiteY2" fmla="*/ 0 h 3335696"/>
              <a:gd name="connsiteX3" fmla="*/ 4229164 w 9141914"/>
              <a:gd name="connsiteY3" fmla="*/ 3335696 h 3335696"/>
              <a:gd name="connsiteX4" fmla="*/ 0 w 9141914"/>
              <a:gd name="connsiteY4" fmla="*/ 1730284 h 3335696"/>
              <a:gd name="connsiteX0" fmla="*/ 0 w 9141914"/>
              <a:gd name="connsiteY0" fmla="*/ 1733123 h 3338535"/>
              <a:gd name="connsiteX1" fmla="*/ 2626362 w 9141914"/>
              <a:gd name="connsiteY1" fmla="*/ 0 h 3338535"/>
              <a:gd name="connsiteX2" fmla="*/ 9141914 w 9141914"/>
              <a:gd name="connsiteY2" fmla="*/ 2839 h 3338535"/>
              <a:gd name="connsiteX3" fmla="*/ 4229164 w 9141914"/>
              <a:gd name="connsiteY3" fmla="*/ 3338535 h 3338535"/>
              <a:gd name="connsiteX4" fmla="*/ 0 w 9141914"/>
              <a:gd name="connsiteY4" fmla="*/ 1733123 h 3338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1914" h="3338535">
                <a:moveTo>
                  <a:pt x="0" y="1733123"/>
                </a:moveTo>
                <a:lnTo>
                  <a:pt x="2626362" y="0"/>
                </a:lnTo>
                <a:lnTo>
                  <a:pt x="9141914" y="2839"/>
                </a:lnTo>
                <a:cubicBezTo>
                  <a:pt x="8176372" y="672354"/>
                  <a:pt x="4902606" y="2872220"/>
                  <a:pt x="4229164" y="3338535"/>
                </a:cubicBezTo>
                <a:lnTo>
                  <a:pt x="0" y="1733123"/>
                </a:lnTo>
                <a:close/>
              </a:path>
            </a:pathLst>
          </a:custGeom>
          <a:solidFill>
            <a:schemeClr val="accent5">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pic>
        <p:nvPicPr>
          <p:cNvPr id="16" name="図 15">
            <a:extLst>
              <a:ext uri="{FF2B5EF4-FFF2-40B4-BE49-F238E27FC236}">
                <a16:creationId xmlns:a16="http://schemas.microsoft.com/office/drawing/2014/main" id="{685FB373-B5FA-79B7-0E96-E4888A83273D}"/>
              </a:ext>
            </a:extLst>
          </p:cNvPr>
          <p:cNvPicPr>
            <a:picLocks noChangeAspect="1"/>
          </p:cNvPicPr>
          <p:nvPr userDrawn="1"/>
        </p:nvPicPr>
        <p:blipFill>
          <a:blip r:embed="rId4"/>
          <a:stretch>
            <a:fillRect/>
          </a:stretch>
        </p:blipFill>
        <p:spPr>
          <a:xfrm>
            <a:off x="6010455" y="6169428"/>
            <a:ext cx="2807022" cy="552048"/>
          </a:xfrm>
          <a:prstGeom prst="rect">
            <a:avLst/>
          </a:prstGeom>
        </p:spPr>
      </p:pic>
    </p:spTree>
    <p:extLst>
      <p:ext uri="{BB962C8B-B14F-4D97-AF65-F5344CB8AC3E}">
        <p14:creationId xmlns:p14="http://schemas.microsoft.com/office/powerpoint/2010/main" val="3417613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2_ユーザー設定レイアウト">
  <p:cSld name="2_ユーザー設定レイアウト">
    <p:spTree>
      <p:nvGrpSpPr>
        <p:cNvPr id="1" name="Shape 20"/>
        <p:cNvGrpSpPr/>
        <p:nvPr/>
      </p:nvGrpSpPr>
      <p:grpSpPr>
        <a:xfrm>
          <a:off x="0" y="0"/>
          <a:ext cx="0" cy="0"/>
          <a:chOff x="0" y="0"/>
          <a:chExt cx="0" cy="0"/>
        </a:xfrm>
      </p:grpSpPr>
      <p:pic>
        <p:nvPicPr>
          <p:cNvPr id="21" name="Google Shape;21;p14"/>
          <p:cNvPicPr preferRelativeResize="0"/>
          <p:nvPr/>
        </p:nvPicPr>
        <p:blipFill rotWithShape="1">
          <a:blip r:embed="rId2">
            <a:alphaModFix/>
          </a:blip>
          <a:srcRect/>
          <a:stretch/>
        </p:blipFill>
        <p:spPr>
          <a:xfrm>
            <a:off x="-2046" y="2276475"/>
            <a:ext cx="1008000" cy="4581525"/>
          </a:xfrm>
          <a:prstGeom prst="rect">
            <a:avLst/>
          </a:prstGeom>
          <a:noFill/>
          <a:ln>
            <a:noFill/>
          </a:ln>
        </p:spPr>
      </p:pic>
      <p:sp>
        <p:nvSpPr>
          <p:cNvPr id="22" name="Google Shape;22;p14"/>
          <p:cNvSpPr/>
          <p:nvPr/>
        </p:nvSpPr>
        <p:spPr>
          <a:xfrm>
            <a:off x="999116" y="-11151"/>
            <a:ext cx="1008000" cy="6863082"/>
          </a:xfrm>
          <a:prstGeom prst="rect">
            <a:avLst/>
          </a:prstGeom>
          <a:solidFill>
            <a:schemeClr val="accent5">
              <a:lumMod val="75000"/>
            </a:scheme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b="0" i="0" u="none" strike="noStrike" cap="none">
              <a:solidFill>
                <a:srgbClr val="404E0A"/>
              </a:solidFill>
              <a:latin typeface="Arial"/>
              <a:ea typeface="Arial"/>
              <a:cs typeface="Arial"/>
              <a:sym typeface="Arial"/>
            </a:endParaRPr>
          </a:p>
        </p:txBody>
      </p:sp>
      <p:sp>
        <p:nvSpPr>
          <p:cNvPr id="23" name="Google Shape;23;p14"/>
          <p:cNvSpPr/>
          <p:nvPr/>
        </p:nvSpPr>
        <p:spPr>
          <a:xfrm>
            <a:off x="-2046" y="0"/>
            <a:ext cx="1008112" cy="6858000"/>
          </a:xfrm>
          <a:prstGeom prst="rect">
            <a:avLst/>
          </a:prstGeom>
          <a:gradFill>
            <a:gsLst>
              <a:gs pos="0">
                <a:srgbClr val="D8D8D8"/>
              </a:gs>
              <a:gs pos="46000">
                <a:srgbClr val="FFFFFF">
                  <a:alpha val="40000"/>
                </a:srgbClr>
              </a:gs>
              <a:gs pos="100000">
                <a:srgbClr val="FFFFFF">
                  <a:alpha val="40000"/>
                </a:srgbClr>
              </a:gs>
            </a:gsLst>
            <a:lin ang="5400000" scaled="0"/>
          </a:gra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b="0" i="0" u="none" strike="noStrike" cap="none">
              <a:solidFill>
                <a:srgbClr val="404E0A"/>
              </a:solidFill>
              <a:latin typeface="Arial"/>
              <a:ea typeface="Arial"/>
              <a:cs typeface="Arial"/>
              <a:sym typeface="Arial"/>
            </a:endParaRPr>
          </a:p>
        </p:txBody>
      </p:sp>
      <p:sp>
        <p:nvSpPr>
          <p:cNvPr id="24" name="Google Shape;24;p14"/>
          <p:cNvSpPr/>
          <p:nvPr/>
        </p:nvSpPr>
        <p:spPr>
          <a:xfrm>
            <a:off x="1283924" y="2105561"/>
            <a:ext cx="2379177" cy="1323439"/>
          </a:xfrm>
          <a:prstGeom prst="rect">
            <a:avLst/>
          </a:prstGeom>
          <a:noFill/>
          <a:ln>
            <a:noFill/>
          </a:ln>
        </p:spPr>
        <p:txBody>
          <a:bodyPr spcFirstLastPara="1" wrap="square" lIns="91425" tIns="45700" rIns="91425" bIns="45700" anchor="b" anchorCtr="0">
            <a:spAutoFit/>
          </a:bodyPr>
          <a:lstStyle/>
          <a:p>
            <a:pPr marL="0" marR="0" lvl="0" indent="0" algn="l" rtl="0">
              <a:spcBef>
                <a:spcPts val="0"/>
              </a:spcBef>
              <a:spcAft>
                <a:spcPts val="0"/>
              </a:spcAft>
              <a:buNone/>
            </a:pPr>
            <a:r>
              <a:rPr lang="ja-JP" sz="8000" b="1" i="0" u="none" strike="noStrike" cap="none">
                <a:solidFill>
                  <a:schemeClr val="lt1"/>
                </a:solidFill>
                <a:latin typeface="Arial"/>
                <a:ea typeface="Arial"/>
                <a:cs typeface="Arial"/>
                <a:sym typeface="Arial"/>
              </a:rPr>
              <a:t>S</a:t>
            </a:r>
            <a:r>
              <a:rPr lang="ja-JP" sz="4000" b="1" i="0" u="none" strike="noStrike" cap="none">
                <a:solidFill>
                  <a:srgbClr val="7F7F7F"/>
                </a:solidFill>
                <a:latin typeface="Arial"/>
                <a:ea typeface="Arial"/>
                <a:cs typeface="Arial"/>
                <a:sym typeface="Arial"/>
              </a:rPr>
              <a:t>ection</a:t>
            </a:r>
            <a:endParaRPr sz="8000" b="1" i="0" u="none" strike="noStrike" cap="none">
              <a:solidFill>
                <a:srgbClr val="7F7F7F"/>
              </a:solidFill>
              <a:latin typeface="Arial"/>
              <a:ea typeface="Arial"/>
              <a:cs typeface="Arial"/>
              <a:sym typeface="Arial"/>
            </a:endParaRPr>
          </a:p>
        </p:txBody>
      </p:sp>
      <p:cxnSp>
        <p:nvCxnSpPr>
          <p:cNvPr id="25" name="Google Shape;25;p14"/>
          <p:cNvCxnSpPr/>
          <p:nvPr/>
        </p:nvCxnSpPr>
        <p:spPr>
          <a:xfrm>
            <a:off x="2007005" y="3155538"/>
            <a:ext cx="7136995" cy="0"/>
          </a:xfrm>
          <a:prstGeom prst="straightConnector1">
            <a:avLst/>
          </a:prstGeom>
          <a:noFill/>
          <a:ln w="12700" cap="flat" cmpd="sng">
            <a:solidFill>
              <a:srgbClr val="7F7F7F"/>
            </a:solidFill>
            <a:prstDash val="solid"/>
            <a:round/>
            <a:headEnd type="none" w="sm" len="sm"/>
            <a:tailEnd type="none" w="sm" len="sm"/>
          </a:ln>
        </p:spPr>
      </p:cxnSp>
      <p:sp>
        <p:nvSpPr>
          <p:cNvPr id="26" name="Google Shape;26;p14"/>
          <p:cNvSpPr txBox="1"/>
          <p:nvPr/>
        </p:nvSpPr>
        <p:spPr>
          <a:xfrm>
            <a:off x="2123728" y="3162548"/>
            <a:ext cx="6696744" cy="5883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300" b="0" i="0" u="none" strike="noStrike" cap="none">
              <a:solidFill>
                <a:srgbClr val="5C5C5C"/>
              </a:solidFill>
              <a:latin typeface="Arial"/>
              <a:ea typeface="Arial"/>
              <a:cs typeface="Arial"/>
              <a:sym typeface="Arial"/>
            </a:endParaRPr>
          </a:p>
        </p:txBody>
      </p:sp>
      <p:sp>
        <p:nvSpPr>
          <p:cNvPr id="27" name="Google Shape;27;p14"/>
          <p:cNvSpPr txBox="1">
            <a:spLocks noGrp="1"/>
          </p:cNvSpPr>
          <p:nvPr>
            <p:ph type="subTitle" idx="1"/>
          </p:nvPr>
        </p:nvSpPr>
        <p:spPr>
          <a:xfrm>
            <a:off x="2007005" y="3163812"/>
            <a:ext cx="6813467" cy="841252"/>
          </a:xfrm>
          <a:prstGeom prst="rect">
            <a:avLst/>
          </a:prstGeom>
          <a:noFill/>
          <a:ln>
            <a:noFill/>
          </a:ln>
        </p:spPr>
        <p:txBody>
          <a:bodyPr spcFirstLastPara="1" wrap="square" lIns="91425" tIns="45700" rIns="91425" bIns="45700" anchor="t" anchorCtr="0">
            <a:noAutofit/>
          </a:bodyPr>
          <a:lstStyle>
            <a:lvl1pPr marR="0" lvl="0" algn="r" rtl="0">
              <a:lnSpc>
                <a:spcPct val="120000"/>
              </a:lnSpc>
              <a:spcBef>
                <a:spcPts val="460"/>
              </a:spcBef>
              <a:spcAft>
                <a:spcPts val="0"/>
              </a:spcAft>
              <a:buClr>
                <a:schemeClr val="dk2"/>
              </a:buClr>
              <a:buSzPts val="1725"/>
              <a:buFont typeface="Noto Sans Symbols"/>
              <a:buNone/>
              <a:defRPr sz="2300" b="0" i="0" u="none" strike="noStrike" cap="none">
                <a:solidFill>
                  <a:schemeClr val="dk1"/>
                </a:solidFill>
                <a:latin typeface="Arial"/>
                <a:ea typeface="Arial"/>
                <a:cs typeface="Arial"/>
                <a:sym typeface="Arial"/>
              </a:defRPr>
            </a:lvl1pPr>
            <a:lvl2pPr marR="0" lvl="1" algn="ctr" rtl="0">
              <a:lnSpc>
                <a:spcPct val="120000"/>
              </a:lnSpc>
              <a:spcBef>
                <a:spcPts val="460"/>
              </a:spcBef>
              <a:spcAft>
                <a:spcPts val="0"/>
              </a:spcAft>
              <a:buClr>
                <a:schemeClr val="dk2"/>
              </a:buClr>
              <a:buSzPts val="986"/>
              <a:buFont typeface="Arial"/>
              <a:buNone/>
              <a:defRPr sz="1315" b="0" i="0" u="none" strike="noStrike" cap="none">
                <a:solidFill>
                  <a:srgbClr val="8A8A8A"/>
                </a:solidFill>
                <a:latin typeface="Arial"/>
                <a:ea typeface="Arial"/>
                <a:cs typeface="Arial"/>
                <a:sym typeface="Arial"/>
              </a:defRPr>
            </a:lvl2pPr>
            <a:lvl3pPr marR="0" lvl="2" algn="ctr" rtl="0">
              <a:lnSpc>
                <a:spcPct val="120000"/>
              </a:lnSpc>
              <a:spcBef>
                <a:spcPts val="263"/>
              </a:spcBef>
              <a:spcAft>
                <a:spcPts val="0"/>
              </a:spcAft>
              <a:buClr>
                <a:schemeClr val="dk2"/>
              </a:buClr>
              <a:buSzPts val="564"/>
              <a:buFont typeface="Noto Sans Symbols"/>
              <a:buNone/>
              <a:defRPr sz="1128" b="0" i="0" u="none" strike="noStrike" cap="none">
                <a:solidFill>
                  <a:srgbClr val="8A8A8A"/>
                </a:solidFill>
                <a:latin typeface="Arial"/>
                <a:ea typeface="Arial"/>
                <a:cs typeface="Arial"/>
                <a:sym typeface="Arial"/>
              </a:defRPr>
            </a:lvl3pPr>
            <a:lvl4pPr marR="0" lvl="3"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4pPr>
            <a:lvl5pPr marR="0" lvl="4"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5pPr>
            <a:lvl6pPr marR="0" lvl="5"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6pPr>
            <a:lvl7pPr marR="0" lvl="6"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7pPr>
            <a:lvl8pPr marR="0" lvl="7"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8pPr>
            <a:lvl9pPr marR="0" lvl="8"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8_タイトルとコンテンツ">
  <p:cSld name="8_タイトルとコンテンツ">
    <p:spTree>
      <p:nvGrpSpPr>
        <p:cNvPr id="1" name="Shape 28"/>
        <p:cNvGrpSpPr/>
        <p:nvPr/>
      </p:nvGrpSpPr>
      <p:grpSpPr>
        <a:xfrm>
          <a:off x="0" y="0"/>
          <a:ext cx="0" cy="0"/>
          <a:chOff x="0" y="0"/>
          <a:chExt cx="0" cy="0"/>
        </a:xfrm>
      </p:grpSpPr>
      <p:sp>
        <p:nvSpPr>
          <p:cNvPr id="29" name="Google Shape;29;p15"/>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30" name="Google Shape;30;p15"/>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31" name="Google Shape;31;p15"/>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p:nvPr/>
        </p:nvSpPr>
        <p:spPr>
          <a:xfrm>
            <a:off x="0" y="116632"/>
            <a:ext cx="251520" cy="180000"/>
          </a:xfrm>
          <a:prstGeom prst="parallelogram">
            <a:avLst>
              <a:gd name="adj" fmla="val 0"/>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33" name="Google Shape;33;p15"/>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34" name="Google Shape;34;p15"/>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i="0" u="none" strike="noStrike" cap="none">
                <a:solidFill>
                  <a:srgbClr val="F14040"/>
                </a:solidFill>
                <a:latin typeface="Arial"/>
                <a:ea typeface="Arial"/>
                <a:cs typeface="Arial"/>
                <a:sym typeface="Arial"/>
              </a:rPr>
              <a:t>秘・貴社限り</a:t>
            </a:r>
            <a:endParaRPr sz="1300" b="1" i="0" u="none" strike="noStrike" cap="none">
              <a:solidFill>
                <a:srgbClr val="F1404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3_ユーザー設定レイアウト">
  <p:cSld name="3_ユーザー設定レイアウト">
    <p:spTree>
      <p:nvGrpSpPr>
        <p:cNvPr id="1" name="Shape 35"/>
        <p:cNvGrpSpPr/>
        <p:nvPr/>
      </p:nvGrpSpPr>
      <p:grpSpPr>
        <a:xfrm>
          <a:off x="0" y="0"/>
          <a:ext cx="0" cy="0"/>
          <a:chOff x="0" y="0"/>
          <a:chExt cx="0" cy="0"/>
        </a:xfrm>
      </p:grpSpPr>
      <p:pic>
        <p:nvPicPr>
          <p:cNvPr id="2" name="図 1">
            <a:extLst>
              <a:ext uri="{FF2B5EF4-FFF2-40B4-BE49-F238E27FC236}">
                <a16:creationId xmlns:a16="http://schemas.microsoft.com/office/drawing/2014/main" id="{605BB4BF-543F-A367-8E13-697CF7E15331}"/>
              </a:ext>
            </a:extLst>
          </p:cNvPr>
          <p:cNvPicPr>
            <a:picLocks noChangeAspect="1"/>
          </p:cNvPicPr>
          <p:nvPr userDrawn="1"/>
        </p:nvPicPr>
        <p:blipFill>
          <a:blip r:embed="rId2"/>
          <a:stretch>
            <a:fillRect/>
          </a:stretch>
        </p:blipFill>
        <p:spPr>
          <a:xfrm>
            <a:off x="1282431" y="2795061"/>
            <a:ext cx="6446837" cy="126787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タイトルとコンテンツ">
  <p:cSld name="2_タイトルとコンテンツ">
    <p:spTree>
      <p:nvGrpSpPr>
        <p:cNvPr id="1" name="Shape 37"/>
        <p:cNvGrpSpPr/>
        <p:nvPr/>
      </p:nvGrpSpPr>
      <p:grpSpPr>
        <a:xfrm>
          <a:off x="0" y="0"/>
          <a:ext cx="0" cy="0"/>
          <a:chOff x="0" y="0"/>
          <a:chExt cx="0" cy="0"/>
        </a:xfrm>
      </p:grpSpPr>
      <p:sp>
        <p:nvSpPr>
          <p:cNvPr id="38" name="Google Shape;38;p17"/>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39" name="Google Shape;39;p17"/>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0" name="Google Shape;40;p17"/>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タイトルとコンテンツ">
  <p:cSld name="4_タイトルとコンテンツ">
    <p:spTree>
      <p:nvGrpSpPr>
        <p:cNvPr id="1" name="Shape 41"/>
        <p:cNvGrpSpPr/>
        <p:nvPr/>
      </p:nvGrpSpPr>
      <p:grpSpPr>
        <a:xfrm>
          <a:off x="0" y="0"/>
          <a:ext cx="0" cy="0"/>
          <a:chOff x="0" y="0"/>
          <a:chExt cx="0" cy="0"/>
        </a:xfrm>
      </p:grpSpPr>
      <p:sp>
        <p:nvSpPr>
          <p:cNvPr id="42" name="Google Shape;42;p18"/>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43" name="Google Shape;43;p18"/>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4" name="Google Shape;44;p18"/>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8"/>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46"/>
        <p:cNvGrpSpPr/>
        <p:nvPr/>
      </p:nvGrpSpPr>
      <p:grpSpPr>
        <a:xfrm>
          <a:off x="0" y="0"/>
          <a:ext cx="0" cy="0"/>
          <a:chOff x="0" y="0"/>
          <a:chExt cx="0" cy="0"/>
        </a:xfrm>
      </p:grpSpPr>
      <p:sp>
        <p:nvSpPr>
          <p:cNvPr id="47" name="Google Shape;47;p19"/>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48" name="Google Shape;48;p19"/>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9" name="Google Shape;49;p19"/>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9"/>
          <p:cNvSpPr/>
          <p:nvPr/>
        </p:nvSpPr>
        <p:spPr>
          <a:xfrm>
            <a:off x="0" y="116632"/>
            <a:ext cx="251520" cy="180000"/>
          </a:xfrm>
          <a:prstGeom prst="parallelogram">
            <a:avLst>
              <a:gd name="adj" fmla="val 0"/>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51" name="Google Shape;51;p19"/>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cxnSp>
        <p:nvCxnSpPr>
          <p:cNvPr id="52" name="Google Shape;52;p19"/>
          <p:cNvCxnSpPr/>
          <p:nvPr/>
        </p:nvCxnSpPr>
        <p:spPr>
          <a:xfrm>
            <a:off x="367281" y="1124744"/>
            <a:ext cx="8424613" cy="0"/>
          </a:xfrm>
          <a:prstGeom prst="straightConnector1">
            <a:avLst/>
          </a:prstGeom>
          <a:noFill/>
          <a:ln w="12700" cap="flat" cmpd="sng">
            <a:solidFill>
              <a:srgbClr val="5A5A5A"/>
            </a:solidFill>
            <a:prstDash val="solid"/>
            <a:round/>
            <a:headEnd type="none" w="sm" len="sm"/>
            <a:tailEnd type="none" w="sm" len="sm"/>
          </a:ln>
        </p:spPr>
      </p:cxnSp>
      <p:grpSp>
        <p:nvGrpSpPr>
          <p:cNvPr id="53" name="Google Shape;53;p19"/>
          <p:cNvGrpSpPr/>
          <p:nvPr/>
        </p:nvGrpSpPr>
        <p:grpSpPr>
          <a:xfrm>
            <a:off x="467544" y="764600"/>
            <a:ext cx="577253" cy="284455"/>
            <a:chOff x="467544" y="764600"/>
            <a:chExt cx="577253" cy="284455"/>
          </a:xfrm>
        </p:grpSpPr>
        <p:sp>
          <p:nvSpPr>
            <p:cNvPr id="54" name="Google Shape;54;p19"/>
            <p:cNvSpPr txBox="1"/>
            <p:nvPr/>
          </p:nvSpPr>
          <p:spPr>
            <a:xfrm>
              <a:off x="467544" y="764600"/>
              <a:ext cx="576064" cy="284455"/>
            </a:xfrm>
            <a:prstGeom prst="rect">
              <a:avLst/>
            </a:prstGeom>
            <a:noFill/>
            <a:ln w="127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20000"/>
                </a:buClr>
                <a:buSzPts val="1400"/>
                <a:buFont typeface="Trebuchet MS"/>
                <a:buNone/>
              </a:pPr>
              <a:r>
                <a:rPr lang="ja-JP" sz="1400" b="1" i="0" u="none" strike="noStrike" cap="none">
                  <a:solidFill>
                    <a:srgbClr val="A20000"/>
                  </a:solidFill>
                  <a:latin typeface="Trebuchet MS"/>
                  <a:ea typeface="Trebuchet MS"/>
                  <a:cs typeface="Trebuchet MS"/>
                  <a:sym typeface="Trebuchet MS"/>
                </a:rPr>
                <a:t>POINT</a:t>
              </a:r>
              <a:endParaRPr sz="1400" b="1" i="0" u="none" strike="noStrike" cap="none">
                <a:solidFill>
                  <a:srgbClr val="252525"/>
                </a:solidFill>
                <a:latin typeface="Arial"/>
                <a:ea typeface="Arial"/>
                <a:cs typeface="Arial"/>
                <a:sym typeface="Arial"/>
              </a:endParaRPr>
            </a:p>
          </p:txBody>
        </p:sp>
        <p:cxnSp>
          <p:nvCxnSpPr>
            <p:cNvPr id="55" name="Google Shape;55;p19"/>
            <p:cNvCxnSpPr/>
            <p:nvPr/>
          </p:nvCxnSpPr>
          <p:spPr>
            <a:xfrm>
              <a:off x="1043608" y="816196"/>
              <a:ext cx="1189" cy="174404"/>
            </a:xfrm>
            <a:prstGeom prst="straightConnector1">
              <a:avLst/>
            </a:prstGeom>
            <a:noFill/>
            <a:ln w="12700" cap="flat" cmpd="sng">
              <a:solidFill>
                <a:schemeClr val="accent6"/>
              </a:solidFill>
              <a:prstDash val="solid"/>
              <a:round/>
              <a:headEnd type="none" w="sm" len="sm"/>
              <a:tailEnd type="none" w="sm" len="sm"/>
            </a:ln>
          </p:spPr>
        </p:cxnSp>
      </p:grpSp>
      <p:sp>
        <p:nvSpPr>
          <p:cNvPr id="56" name="Google Shape;56;p19"/>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タイトル スライド">
  <p:cSld name="1_タイトル スライド">
    <p:spTree>
      <p:nvGrpSpPr>
        <p:cNvPr id="1" name="Shape 57"/>
        <p:cNvGrpSpPr/>
        <p:nvPr/>
      </p:nvGrpSpPr>
      <p:grpSpPr>
        <a:xfrm>
          <a:off x="0" y="0"/>
          <a:ext cx="0" cy="0"/>
          <a:chOff x="0" y="0"/>
          <a:chExt cx="0" cy="0"/>
        </a:xfrm>
      </p:grpSpPr>
      <p:sp>
        <p:nvSpPr>
          <p:cNvPr id="58" name="Google Shape;58;p20"/>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2_タイトル スライド">
  <p:cSld name="2_タイトル スライド">
    <p:spTree>
      <p:nvGrpSpPr>
        <p:cNvPr id="1" name="Shape 5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タイトルとコンテンツ">
  <p:cSld name="3_タイトルとコンテンツ">
    <p:bg>
      <p:bgPr>
        <a:solidFill>
          <a:schemeClr val="lt1"/>
        </a:solidFill>
        <a:effectLst/>
      </p:bgPr>
    </p:bg>
    <p:spTree>
      <p:nvGrpSpPr>
        <p:cNvPr id="1" name="Shape 60"/>
        <p:cNvGrpSpPr/>
        <p:nvPr/>
      </p:nvGrpSpPr>
      <p:grpSpPr>
        <a:xfrm>
          <a:off x="0" y="0"/>
          <a:ext cx="0" cy="0"/>
          <a:chOff x="0" y="0"/>
          <a:chExt cx="0" cy="0"/>
        </a:xfrm>
      </p:grpSpPr>
      <p:grpSp>
        <p:nvGrpSpPr>
          <p:cNvPr id="61" name="Google Shape;61;p22"/>
          <p:cNvGrpSpPr/>
          <p:nvPr/>
        </p:nvGrpSpPr>
        <p:grpSpPr>
          <a:xfrm>
            <a:off x="395536" y="836710"/>
            <a:ext cx="8352929" cy="5688633"/>
            <a:chOff x="395536" y="836710"/>
            <a:chExt cx="8352929" cy="5688633"/>
          </a:xfrm>
        </p:grpSpPr>
        <p:cxnSp>
          <p:nvCxnSpPr>
            <p:cNvPr id="62" name="Google Shape;62;p22"/>
            <p:cNvCxnSpPr/>
            <p:nvPr/>
          </p:nvCxnSpPr>
          <p:spPr>
            <a:xfrm>
              <a:off x="47160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3" name="Google Shape;63;p22"/>
            <p:cNvCxnSpPr/>
            <p:nvPr/>
          </p:nvCxnSpPr>
          <p:spPr>
            <a:xfrm>
              <a:off x="48600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4" name="Google Shape;64;p22"/>
            <p:cNvCxnSpPr/>
            <p:nvPr/>
          </p:nvCxnSpPr>
          <p:spPr>
            <a:xfrm>
              <a:off x="50040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5" name="Google Shape;65;p22"/>
            <p:cNvCxnSpPr/>
            <p:nvPr/>
          </p:nvCxnSpPr>
          <p:spPr>
            <a:xfrm>
              <a:off x="514806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6" name="Google Shape;66;p22"/>
            <p:cNvCxnSpPr/>
            <p:nvPr/>
          </p:nvCxnSpPr>
          <p:spPr>
            <a:xfrm>
              <a:off x="529208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7" name="Google Shape;67;p22"/>
            <p:cNvCxnSpPr/>
            <p:nvPr/>
          </p:nvCxnSpPr>
          <p:spPr>
            <a:xfrm>
              <a:off x="543609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8" name="Google Shape;68;p22"/>
            <p:cNvCxnSpPr/>
            <p:nvPr/>
          </p:nvCxnSpPr>
          <p:spPr>
            <a:xfrm>
              <a:off x="558011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9" name="Google Shape;69;p22"/>
            <p:cNvCxnSpPr/>
            <p:nvPr/>
          </p:nvCxnSpPr>
          <p:spPr>
            <a:xfrm>
              <a:off x="572412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0" name="Google Shape;70;p22"/>
            <p:cNvCxnSpPr/>
            <p:nvPr/>
          </p:nvCxnSpPr>
          <p:spPr>
            <a:xfrm>
              <a:off x="586814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1" name="Google Shape;71;p22"/>
            <p:cNvCxnSpPr/>
            <p:nvPr/>
          </p:nvCxnSpPr>
          <p:spPr>
            <a:xfrm>
              <a:off x="601216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2" name="Google Shape;72;p22"/>
            <p:cNvCxnSpPr/>
            <p:nvPr/>
          </p:nvCxnSpPr>
          <p:spPr>
            <a:xfrm>
              <a:off x="615617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3" name="Google Shape;73;p22"/>
            <p:cNvCxnSpPr/>
            <p:nvPr/>
          </p:nvCxnSpPr>
          <p:spPr>
            <a:xfrm>
              <a:off x="630019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4" name="Google Shape;74;p22"/>
            <p:cNvCxnSpPr/>
            <p:nvPr/>
          </p:nvCxnSpPr>
          <p:spPr>
            <a:xfrm>
              <a:off x="644420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5" name="Google Shape;75;p22"/>
            <p:cNvCxnSpPr/>
            <p:nvPr/>
          </p:nvCxnSpPr>
          <p:spPr>
            <a:xfrm>
              <a:off x="658822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6" name="Google Shape;76;p22"/>
            <p:cNvCxnSpPr/>
            <p:nvPr/>
          </p:nvCxnSpPr>
          <p:spPr>
            <a:xfrm>
              <a:off x="673224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7" name="Google Shape;77;p22"/>
            <p:cNvCxnSpPr/>
            <p:nvPr/>
          </p:nvCxnSpPr>
          <p:spPr>
            <a:xfrm>
              <a:off x="687625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8" name="Google Shape;78;p22"/>
            <p:cNvCxnSpPr/>
            <p:nvPr/>
          </p:nvCxnSpPr>
          <p:spPr>
            <a:xfrm>
              <a:off x="702027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9" name="Google Shape;79;p22"/>
            <p:cNvCxnSpPr/>
            <p:nvPr/>
          </p:nvCxnSpPr>
          <p:spPr>
            <a:xfrm>
              <a:off x="716428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0" name="Google Shape;80;p22"/>
            <p:cNvCxnSpPr/>
            <p:nvPr/>
          </p:nvCxnSpPr>
          <p:spPr>
            <a:xfrm>
              <a:off x="730830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1" name="Google Shape;81;p22"/>
            <p:cNvCxnSpPr/>
            <p:nvPr/>
          </p:nvCxnSpPr>
          <p:spPr>
            <a:xfrm>
              <a:off x="745232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2" name="Google Shape;82;p22"/>
            <p:cNvCxnSpPr/>
            <p:nvPr/>
          </p:nvCxnSpPr>
          <p:spPr>
            <a:xfrm>
              <a:off x="759633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3" name="Google Shape;83;p22"/>
            <p:cNvCxnSpPr/>
            <p:nvPr/>
          </p:nvCxnSpPr>
          <p:spPr>
            <a:xfrm>
              <a:off x="77403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4" name="Google Shape;84;p22"/>
            <p:cNvCxnSpPr/>
            <p:nvPr/>
          </p:nvCxnSpPr>
          <p:spPr>
            <a:xfrm>
              <a:off x="78843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5" name="Google Shape;85;p22"/>
            <p:cNvCxnSpPr/>
            <p:nvPr/>
          </p:nvCxnSpPr>
          <p:spPr>
            <a:xfrm>
              <a:off x="80283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6" name="Google Shape;86;p22"/>
            <p:cNvCxnSpPr/>
            <p:nvPr/>
          </p:nvCxnSpPr>
          <p:spPr>
            <a:xfrm>
              <a:off x="817240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7" name="Google Shape;87;p22"/>
            <p:cNvCxnSpPr/>
            <p:nvPr/>
          </p:nvCxnSpPr>
          <p:spPr>
            <a:xfrm>
              <a:off x="83164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8" name="Google Shape;88;p22"/>
            <p:cNvCxnSpPr/>
            <p:nvPr/>
          </p:nvCxnSpPr>
          <p:spPr>
            <a:xfrm>
              <a:off x="86044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9" name="Google Shape;89;p22"/>
            <p:cNvCxnSpPr/>
            <p:nvPr/>
          </p:nvCxnSpPr>
          <p:spPr>
            <a:xfrm>
              <a:off x="84604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0" name="Google Shape;90;p22"/>
            <p:cNvCxnSpPr/>
            <p:nvPr/>
          </p:nvCxnSpPr>
          <p:spPr>
            <a:xfrm>
              <a:off x="5395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1" name="Google Shape;91;p22"/>
            <p:cNvCxnSpPr/>
            <p:nvPr/>
          </p:nvCxnSpPr>
          <p:spPr>
            <a:xfrm>
              <a:off x="6835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2" name="Google Shape;92;p22"/>
            <p:cNvCxnSpPr/>
            <p:nvPr/>
          </p:nvCxnSpPr>
          <p:spPr>
            <a:xfrm>
              <a:off x="8275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3" name="Google Shape;93;p22"/>
            <p:cNvCxnSpPr/>
            <p:nvPr/>
          </p:nvCxnSpPr>
          <p:spPr>
            <a:xfrm>
              <a:off x="97160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4" name="Google Shape;94;p22"/>
            <p:cNvCxnSpPr/>
            <p:nvPr/>
          </p:nvCxnSpPr>
          <p:spPr>
            <a:xfrm>
              <a:off x="11156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5" name="Google Shape;95;p22"/>
            <p:cNvCxnSpPr/>
            <p:nvPr/>
          </p:nvCxnSpPr>
          <p:spPr>
            <a:xfrm>
              <a:off x="12596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6" name="Google Shape;96;p22"/>
            <p:cNvCxnSpPr/>
            <p:nvPr/>
          </p:nvCxnSpPr>
          <p:spPr>
            <a:xfrm>
              <a:off x="14036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7" name="Google Shape;97;p22"/>
            <p:cNvCxnSpPr/>
            <p:nvPr/>
          </p:nvCxnSpPr>
          <p:spPr>
            <a:xfrm>
              <a:off x="154766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8" name="Google Shape;98;p22"/>
            <p:cNvCxnSpPr/>
            <p:nvPr/>
          </p:nvCxnSpPr>
          <p:spPr>
            <a:xfrm>
              <a:off x="169168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9" name="Google Shape;99;p22"/>
            <p:cNvCxnSpPr/>
            <p:nvPr/>
          </p:nvCxnSpPr>
          <p:spPr>
            <a:xfrm>
              <a:off x="183569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0" name="Google Shape;100;p22"/>
            <p:cNvCxnSpPr/>
            <p:nvPr/>
          </p:nvCxnSpPr>
          <p:spPr>
            <a:xfrm>
              <a:off x="197971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1" name="Google Shape;101;p22"/>
            <p:cNvCxnSpPr/>
            <p:nvPr/>
          </p:nvCxnSpPr>
          <p:spPr>
            <a:xfrm>
              <a:off x="212372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2" name="Google Shape;102;p22"/>
            <p:cNvCxnSpPr/>
            <p:nvPr/>
          </p:nvCxnSpPr>
          <p:spPr>
            <a:xfrm>
              <a:off x="226774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3" name="Google Shape;103;p22"/>
            <p:cNvCxnSpPr/>
            <p:nvPr/>
          </p:nvCxnSpPr>
          <p:spPr>
            <a:xfrm>
              <a:off x="241176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4" name="Google Shape;104;p22"/>
            <p:cNvCxnSpPr/>
            <p:nvPr/>
          </p:nvCxnSpPr>
          <p:spPr>
            <a:xfrm>
              <a:off x="255577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5" name="Google Shape;105;p22"/>
            <p:cNvCxnSpPr/>
            <p:nvPr/>
          </p:nvCxnSpPr>
          <p:spPr>
            <a:xfrm>
              <a:off x="269979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6" name="Google Shape;106;p22"/>
            <p:cNvCxnSpPr/>
            <p:nvPr/>
          </p:nvCxnSpPr>
          <p:spPr>
            <a:xfrm>
              <a:off x="284380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7" name="Google Shape;107;p22"/>
            <p:cNvCxnSpPr/>
            <p:nvPr/>
          </p:nvCxnSpPr>
          <p:spPr>
            <a:xfrm>
              <a:off x="298782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8" name="Google Shape;108;p22"/>
            <p:cNvCxnSpPr/>
            <p:nvPr/>
          </p:nvCxnSpPr>
          <p:spPr>
            <a:xfrm>
              <a:off x="313184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9" name="Google Shape;109;p22"/>
            <p:cNvCxnSpPr/>
            <p:nvPr/>
          </p:nvCxnSpPr>
          <p:spPr>
            <a:xfrm>
              <a:off x="327585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0" name="Google Shape;110;p22"/>
            <p:cNvCxnSpPr/>
            <p:nvPr/>
          </p:nvCxnSpPr>
          <p:spPr>
            <a:xfrm>
              <a:off x="341987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1" name="Google Shape;111;p22"/>
            <p:cNvCxnSpPr/>
            <p:nvPr/>
          </p:nvCxnSpPr>
          <p:spPr>
            <a:xfrm>
              <a:off x="356388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2" name="Google Shape;112;p22"/>
            <p:cNvCxnSpPr/>
            <p:nvPr/>
          </p:nvCxnSpPr>
          <p:spPr>
            <a:xfrm>
              <a:off x="370790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3" name="Google Shape;113;p22"/>
            <p:cNvCxnSpPr/>
            <p:nvPr/>
          </p:nvCxnSpPr>
          <p:spPr>
            <a:xfrm>
              <a:off x="385192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4" name="Google Shape;114;p22"/>
            <p:cNvCxnSpPr/>
            <p:nvPr/>
          </p:nvCxnSpPr>
          <p:spPr>
            <a:xfrm>
              <a:off x="399593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5" name="Google Shape;115;p22"/>
            <p:cNvCxnSpPr/>
            <p:nvPr/>
          </p:nvCxnSpPr>
          <p:spPr>
            <a:xfrm>
              <a:off x="42839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6" name="Google Shape;116;p22"/>
            <p:cNvCxnSpPr/>
            <p:nvPr/>
          </p:nvCxnSpPr>
          <p:spPr>
            <a:xfrm>
              <a:off x="41399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7" name="Google Shape;117;p22"/>
            <p:cNvCxnSpPr/>
            <p:nvPr/>
          </p:nvCxnSpPr>
          <p:spPr>
            <a:xfrm>
              <a:off x="44279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8" name="Google Shape;118;p22"/>
            <p:cNvCxnSpPr/>
            <p:nvPr/>
          </p:nvCxnSpPr>
          <p:spPr>
            <a:xfrm rot="10800000">
              <a:off x="396464" y="3501008"/>
              <a:ext cx="8352000" cy="0"/>
            </a:xfrm>
            <a:prstGeom prst="straightConnector1">
              <a:avLst/>
            </a:prstGeom>
            <a:noFill/>
            <a:ln w="9525" cap="flat" cmpd="sng">
              <a:solidFill>
                <a:srgbClr val="D8D8D8"/>
              </a:solidFill>
              <a:prstDash val="solid"/>
              <a:round/>
              <a:headEnd type="none" w="sm" len="sm"/>
              <a:tailEnd type="none" w="sm" len="sm"/>
            </a:ln>
          </p:spPr>
        </p:cxnSp>
        <p:cxnSp>
          <p:nvCxnSpPr>
            <p:cNvPr id="119" name="Google Shape;119;p22"/>
            <p:cNvCxnSpPr/>
            <p:nvPr/>
          </p:nvCxnSpPr>
          <p:spPr>
            <a:xfrm rot="10800000">
              <a:off x="396464" y="3356992"/>
              <a:ext cx="8352000" cy="0"/>
            </a:xfrm>
            <a:prstGeom prst="straightConnector1">
              <a:avLst/>
            </a:prstGeom>
            <a:noFill/>
            <a:ln w="9525" cap="flat" cmpd="sng">
              <a:solidFill>
                <a:srgbClr val="D8D8D8"/>
              </a:solidFill>
              <a:prstDash val="solid"/>
              <a:round/>
              <a:headEnd type="none" w="sm" len="sm"/>
              <a:tailEnd type="none" w="sm" len="sm"/>
            </a:ln>
          </p:spPr>
        </p:cxnSp>
        <p:cxnSp>
          <p:nvCxnSpPr>
            <p:cNvPr id="120" name="Google Shape;120;p22"/>
            <p:cNvCxnSpPr/>
            <p:nvPr/>
          </p:nvCxnSpPr>
          <p:spPr>
            <a:xfrm rot="10800000">
              <a:off x="396464" y="3212976"/>
              <a:ext cx="8352000" cy="0"/>
            </a:xfrm>
            <a:prstGeom prst="straightConnector1">
              <a:avLst/>
            </a:prstGeom>
            <a:noFill/>
            <a:ln w="9525" cap="flat" cmpd="sng">
              <a:solidFill>
                <a:srgbClr val="D8D8D8"/>
              </a:solidFill>
              <a:prstDash val="solid"/>
              <a:round/>
              <a:headEnd type="none" w="sm" len="sm"/>
              <a:tailEnd type="none" w="sm" len="sm"/>
            </a:ln>
          </p:spPr>
        </p:cxnSp>
        <p:cxnSp>
          <p:nvCxnSpPr>
            <p:cNvPr id="121" name="Google Shape;121;p22"/>
            <p:cNvCxnSpPr/>
            <p:nvPr/>
          </p:nvCxnSpPr>
          <p:spPr>
            <a:xfrm rot="10800000">
              <a:off x="396464" y="3068960"/>
              <a:ext cx="8352000" cy="0"/>
            </a:xfrm>
            <a:prstGeom prst="straightConnector1">
              <a:avLst/>
            </a:prstGeom>
            <a:noFill/>
            <a:ln w="9525" cap="flat" cmpd="sng">
              <a:solidFill>
                <a:srgbClr val="D8D8D8"/>
              </a:solidFill>
              <a:prstDash val="solid"/>
              <a:round/>
              <a:headEnd type="none" w="sm" len="sm"/>
              <a:tailEnd type="none" w="sm" len="sm"/>
            </a:ln>
          </p:spPr>
        </p:cxnSp>
        <p:cxnSp>
          <p:nvCxnSpPr>
            <p:cNvPr id="122" name="Google Shape;122;p22"/>
            <p:cNvCxnSpPr/>
            <p:nvPr/>
          </p:nvCxnSpPr>
          <p:spPr>
            <a:xfrm rot="10800000">
              <a:off x="396464" y="2924944"/>
              <a:ext cx="8352000" cy="0"/>
            </a:xfrm>
            <a:prstGeom prst="straightConnector1">
              <a:avLst/>
            </a:prstGeom>
            <a:noFill/>
            <a:ln w="9525" cap="flat" cmpd="sng">
              <a:solidFill>
                <a:srgbClr val="D8D8D8"/>
              </a:solidFill>
              <a:prstDash val="solid"/>
              <a:round/>
              <a:headEnd type="none" w="sm" len="sm"/>
              <a:tailEnd type="none" w="sm" len="sm"/>
            </a:ln>
          </p:spPr>
        </p:cxnSp>
        <p:cxnSp>
          <p:nvCxnSpPr>
            <p:cNvPr id="123" name="Google Shape;123;p22"/>
            <p:cNvCxnSpPr/>
            <p:nvPr/>
          </p:nvCxnSpPr>
          <p:spPr>
            <a:xfrm rot="10800000">
              <a:off x="396464" y="2780928"/>
              <a:ext cx="8352000" cy="0"/>
            </a:xfrm>
            <a:prstGeom prst="straightConnector1">
              <a:avLst/>
            </a:prstGeom>
            <a:noFill/>
            <a:ln w="9525" cap="flat" cmpd="sng">
              <a:solidFill>
                <a:srgbClr val="D8D8D8"/>
              </a:solidFill>
              <a:prstDash val="solid"/>
              <a:round/>
              <a:headEnd type="none" w="sm" len="sm"/>
              <a:tailEnd type="none" w="sm" len="sm"/>
            </a:ln>
          </p:spPr>
        </p:cxnSp>
        <p:cxnSp>
          <p:nvCxnSpPr>
            <p:cNvPr id="124" name="Google Shape;124;p22"/>
            <p:cNvCxnSpPr/>
            <p:nvPr/>
          </p:nvCxnSpPr>
          <p:spPr>
            <a:xfrm rot="10800000">
              <a:off x="396464" y="2636912"/>
              <a:ext cx="8352000" cy="0"/>
            </a:xfrm>
            <a:prstGeom prst="straightConnector1">
              <a:avLst/>
            </a:prstGeom>
            <a:noFill/>
            <a:ln w="9525" cap="flat" cmpd="sng">
              <a:solidFill>
                <a:srgbClr val="D8D8D8"/>
              </a:solidFill>
              <a:prstDash val="solid"/>
              <a:round/>
              <a:headEnd type="none" w="sm" len="sm"/>
              <a:tailEnd type="none" w="sm" len="sm"/>
            </a:ln>
          </p:spPr>
        </p:cxnSp>
        <p:cxnSp>
          <p:nvCxnSpPr>
            <p:cNvPr id="125" name="Google Shape;125;p22"/>
            <p:cNvCxnSpPr/>
            <p:nvPr/>
          </p:nvCxnSpPr>
          <p:spPr>
            <a:xfrm rot="10800000">
              <a:off x="396464" y="2492896"/>
              <a:ext cx="8352000" cy="0"/>
            </a:xfrm>
            <a:prstGeom prst="straightConnector1">
              <a:avLst/>
            </a:prstGeom>
            <a:noFill/>
            <a:ln w="9525" cap="flat" cmpd="sng">
              <a:solidFill>
                <a:srgbClr val="D8D8D8"/>
              </a:solidFill>
              <a:prstDash val="solid"/>
              <a:round/>
              <a:headEnd type="none" w="sm" len="sm"/>
              <a:tailEnd type="none" w="sm" len="sm"/>
            </a:ln>
          </p:spPr>
        </p:cxnSp>
        <p:cxnSp>
          <p:nvCxnSpPr>
            <p:cNvPr id="126" name="Google Shape;126;p22"/>
            <p:cNvCxnSpPr/>
            <p:nvPr/>
          </p:nvCxnSpPr>
          <p:spPr>
            <a:xfrm rot="10800000">
              <a:off x="396464" y="2348880"/>
              <a:ext cx="8352000" cy="0"/>
            </a:xfrm>
            <a:prstGeom prst="straightConnector1">
              <a:avLst/>
            </a:prstGeom>
            <a:noFill/>
            <a:ln w="9525" cap="flat" cmpd="sng">
              <a:solidFill>
                <a:srgbClr val="D8D8D8"/>
              </a:solidFill>
              <a:prstDash val="solid"/>
              <a:round/>
              <a:headEnd type="none" w="sm" len="sm"/>
              <a:tailEnd type="none" w="sm" len="sm"/>
            </a:ln>
          </p:spPr>
        </p:cxnSp>
        <p:cxnSp>
          <p:nvCxnSpPr>
            <p:cNvPr id="127" name="Google Shape;127;p22"/>
            <p:cNvCxnSpPr/>
            <p:nvPr/>
          </p:nvCxnSpPr>
          <p:spPr>
            <a:xfrm rot="10800000">
              <a:off x="396464" y="2204864"/>
              <a:ext cx="8352000" cy="0"/>
            </a:xfrm>
            <a:prstGeom prst="straightConnector1">
              <a:avLst/>
            </a:prstGeom>
            <a:noFill/>
            <a:ln w="9525" cap="flat" cmpd="sng">
              <a:solidFill>
                <a:srgbClr val="D8D8D8"/>
              </a:solidFill>
              <a:prstDash val="solid"/>
              <a:round/>
              <a:headEnd type="none" w="sm" len="sm"/>
              <a:tailEnd type="none" w="sm" len="sm"/>
            </a:ln>
          </p:spPr>
        </p:cxnSp>
        <p:cxnSp>
          <p:nvCxnSpPr>
            <p:cNvPr id="128" name="Google Shape;128;p22"/>
            <p:cNvCxnSpPr/>
            <p:nvPr/>
          </p:nvCxnSpPr>
          <p:spPr>
            <a:xfrm rot="10800000">
              <a:off x="396464" y="2060848"/>
              <a:ext cx="8352000" cy="0"/>
            </a:xfrm>
            <a:prstGeom prst="straightConnector1">
              <a:avLst/>
            </a:prstGeom>
            <a:noFill/>
            <a:ln w="9525" cap="flat" cmpd="sng">
              <a:solidFill>
                <a:srgbClr val="D8D8D8"/>
              </a:solidFill>
              <a:prstDash val="solid"/>
              <a:round/>
              <a:headEnd type="none" w="sm" len="sm"/>
              <a:tailEnd type="none" w="sm" len="sm"/>
            </a:ln>
          </p:spPr>
        </p:cxnSp>
        <p:cxnSp>
          <p:nvCxnSpPr>
            <p:cNvPr id="129" name="Google Shape;129;p22"/>
            <p:cNvCxnSpPr/>
            <p:nvPr/>
          </p:nvCxnSpPr>
          <p:spPr>
            <a:xfrm rot="10800000">
              <a:off x="396464" y="1916832"/>
              <a:ext cx="8352000" cy="0"/>
            </a:xfrm>
            <a:prstGeom prst="straightConnector1">
              <a:avLst/>
            </a:prstGeom>
            <a:noFill/>
            <a:ln w="9525" cap="flat" cmpd="sng">
              <a:solidFill>
                <a:srgbClr val="D8D8D8"/>
              </a:solidFill>
              <a:prstDash val="solid"/>
              <a:round/>
              <a:headEnd type="none" w="sm" len="sm"/>
              <a:tailEnd type="none" w="sm" len="sm"/>
            </a:ln>
          </p:spPr>
        </p:cxnSp>
        <p:cxnSp>
          <p:nvCxnSpPr>
            <p:cNvPr id="130" name="Google Shape;130;p22"/>
            <p:cNvCxnSpPr/>
            <p:nvPr/>
          </p:nvCxnSpPr>
          <p:spPr>
            <a:xfrm rot="10800000">
              <a:off x="396464" y="1772816"/>
              <a:ext cx="8352000" cy="0"/>
            </a:xfrm>
            <a:prstGeom prst="straightConnector1">
              <a:avLst/>
            </a:prstGeom>
            <a:noFill/>
            <a:ln w="9525" cap="flat" cmpd="sng">
              <a:solidFill>
                <a:srgbClr val="D8D8D8"/>
              </a:solidFill>
              <a:prstDash val="solid"/>
              <a:round/>
              <a:headEnd type="none" w="sm" len="sm"/>
              <a:tailEnd type="none" w="sm" len="sm"/>
            </a:ln>
          </p:spPr>
        </p:cxnSp>
        <p:cxnSp>
          <p:nvCxnSpPr>
            <p:cNvPr id="131" name="Google Shape;131;p22"/>
            <p:cNvCxnSpPr/>
            <p:nvPr/>
          </p:nvCxnSpPr>
          <p:spPr>
            <a:xfrm rot="10800000">
              <a:off x="396464" y="1628800"/>
              <a:ext cx="8352000" cy="0"/>
            </a:xfrm>
            <a:prstGeom prst="straightConnector1">
              <a:avLst/>
            </a:prstGeom>
            <a:noFill/>
            <a:ln w="9525" cap="flat" cmpd="sng">
              <a:solidFill>
                <a:srgbClr val="D8D8D8"/>
              </a:solidFill>
              <a:prstDash val="solid"/>
              <a:round/>
              <a:headEnd type="none" w="sm" len="sm"/>
              <a:tailEnd type="none" w="sm" len="sm"/>
            </a:ln>
          </p:spPr>
        </p:cxnSp>
        <p:cxnSp>
          <p:nvCxnSpPr>
            <p:cNvPr id="132" name="Google Shape;132;p22"/>
            <p:cNvCxnSpPr/>
            <p:nvPr/>
          </p:nvCxnSpPr>
          <p:spPr>
            <a:xfrm rot="10800000">
              <a:off x="396464" y="1484784"/>
              <a:ext cx="8352000" cy="0"/>
            </a:xfrm>
            <a:prstGeom prst="straightConnector1">
              <a:avLst/>
            </a:prstGeom>
            <a:noFill/>
            <a:ln w="9525" cap="flat" cmpd="sng">
              <a:solidFill>
                <a:srgbClr val="D8D8D8"/>
              </a:solidFill>
              <a:prstDash val="solid"/>
              <a:round/>
              <a:headEnd type="none" w="sm" len="sm"/>
              <a:tailEnd type="none" w="sm" len="sm"/>
            </a:ln>
          </p:spPr>
        </p:cxnSp>
        <p:cxnSp>
          <p:nvCxnSpPr>
            <p:cNvPr id="133" name="Google Shape;133;p22"/>
            <p:cNvCxnSpPr/>
            <p:nvPr/>
          </p:nvCxnSpPr>
          <p:spPr>
            <a:xfrm rot="10800000">
              <a:off x="396464" y="1340768"/>
              <a:ext cx="8352000" cy="0"/>
            </a:xfrm>
            <a:prstGeom prst="straightConnector1">
              <a:avLst/>
            </a:prstGeom>
            <a:noFill/>
            <a:ln w="9525" cap="flat" cmpd="sng">
              <a:solidFill>
                <a:srgbClr val="D8D8D8"/>
              </a:solidFill>
              <a:prstDash val="solid"/>
              <a:round/>
              <a:headEnd type="none" w="sm" len="sm"/>
              <a:tailEnd type="none" w="sm" len="sm"/>
            </a:ln>
          </p:spPr>
        </p:cxnSp>
        <p:cxnSp>
          <p:nvCxnSpPr>
            <p:cNvPr id="134" name="Google Shape;134;p22"/>
            <p:cNvCxnSpPr/>
            <p:nvPr/>
          </p:nvCxnSpPr>
          <p:spPr>
            <a:xfrm rot="10800000">
              <a:off x="396464" y="1196752"/>
              <a:ext cx="8352000" cy="0"/>
            </a:xfrm>
            <a:prstGeom prst="straightConnector1">
              <a:avLst/>
            </a:prstGeom>
            <a:noFill/>
            <a:ln w="9525" cap="flat" cmpd="sng">
              <a:solidFill>
                <a:srgbClr val="D8D8D8"/>
              </a:solidFill>
              <a:prstDash val="solid"/>
              <a:round/>
              <a:headEnd type="none" w="sm" len="sm"/>
              <a:tailEnd type="none" w="sm" len="sm"/>
            </a:ln>
          </p:spPr>
        </p:cxnSp>
        <p:cxnSp>
          <p:nvCxnSpPr>
            <p:cNvPr id="135" name="Google Shape;135;p22"/>
            <p:cNvCxnSpPr/>
            <p:nvPr/>
          </p:nvCxnSpPr>
          <p:spPr>
            <a:xfrm rot="10800000">
              <a:off x="396464" y="1052736"/>
              <a:ext cx="8352000" cy="0"/>
            </a:xfrm>
            <a:prstGeom prst="straightConnector1">
              <a:avLst/>
            </a:prstGeom>
            <a:noFill/>
            <a:ln w="9525" cap="flat" cmpd="sng">
              <a:solidFill>
                <a:srgbClr val="D8D8D8"/>
              </a:solidFill>
              <a:prstDash val="solid"/>
              <a:round/>
              <a:headEnd type="none" w="sm" len="sm"/>
              <a:tailEnd type="none" w="sm" len="sm"/>
            </a:ln>
          </p:spPr>
        </p:cxnSp>
        <p:cxnSp>
          <p:nvCxnSpPr>
            <p:cNvPr id="136" name="Google Shape;136;p22"/>
            <p:cNvCxnSpPr/>
            <p:nvPr/>
          </p:nvCxnSpPr>
          <p:spPr>
            <a:xfrm rot="10800000">
              <a:off x="395536" y="3789040"/>
              <a:ext cx="8351992" cy="0"/>
            </a:xfrm>
            <a:prstGeom prst="straightConnector1">
              <a:avLst/>
            </a:prstGeom>
            <a:noFill/>
            <a:ln w="9525" cap="flat" cmpd="sng">
              <a:solidFill>
                <a:srgbClr val="D8D8D8"/>
              </a:solidFill>
              <a:prstDash val="solid"/>
              <a:round/>
              <a:headEnd type="none" w="sm" len="sm"/>
              <a:tailEnd type="none" w="sm" len="sm"/>
            </a:ln>
          </p:spPr>
        </p:cxnSp>
        <p:cxnSp>
          <p:nvCxnSpPr>
            <p:cNvPr id="137" name="Google Shape;137;p22"/>
            <p:cNvCxnSpPr/>
            <p:nvPr/>
          </p:nvCxnSpPr>
          <p:spPr>
            <a:xfrm rot="10800000">
              <a:off x="395536" y="4221088"/>
              <a:ext cx="8351992" cy="0"/>
            </a:xfrm>
            <a:prstGeom prst="straightConnector1">
              <a:avLst/>
            </a:prstGeom>
            <a:noFill/>
            <a:ln w="9525" cap="flat" cmpd="sng">
              <a:solidFill>
                <a:srgbClr val="D8D8D8"/>
              </a:solidFill>
              <a:prstDash val="solid"/>
              <a:round/>
              <a:headEnd type="none" w="sm" len="sm"/>
              <a:tailEnd type="none" w="sm" len="sm"/>
            </a:ln>
          </p:spPr>
        </p:cxnSp>
        <p:cxnSp>
          <p:nvCxnSpPr>
            <p:cNvPr id="138" name="Google Shape;138;p22"/>
            <p:cNvCxnSpPr/>
            <p:nvPr/>
          </p:nvCxnSpPr>
          <p:spPr>
            <a:xfrm rot="10800000">
              <a:off x="395536" y="4077072"/>
              <a:ext cx="8351992" cy="0"/>
            </a:xfrm>
            <a:prstGeom prst="straightConnector1">
              <a:avLst/>
            </a:prstGeom>
            <a:noFill/>
            <a:ln w="9525" cap="flat" cmpd="sng">
              <a:solidFill>
                <a:srgbClr val="D8D8D8"/>
              </a:solidFill>
              <a:prstDash val="solid"/>
              <a:round/>
              <a:headEnd type="none" w="sm" len="sm"/>
              <a:tailEnd type="none" w="sm" len="sm"/>
            </a:ln>
          </p:spPr>
        </p:cxnSp>
        <p:cxnSp>
          <p:nvCxnSpPr>
            <p:cNvPr id="139" name="Google Shape;139;p22"/>
            <p:cNvCxnSpPr/>
            <p:nvPr/>
          </p:nvCxnSpPr>
          <p:spPr>
            <a:xfrm rot="10800000">
              <a:off x="395536" y="393305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0" name="Google Shape;140;p22"/>
            <p:cNvCxnSpPr/>
            <p:nvPr/>
          </p:nvCxnSpPr>
          <p:spPr>
            <a:xfrm rot="10800000">
              <a:off x="395536" y="465313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1" name="Google Shape;141;p22"/>
            <p:cNvCxnSpPr/>
            <p:nvPr/>
          </p:nvCxnSpPr>
          <p:spPr>
            <a:xfrm rot="10800000">
              <a:off x="395536" y="4509120"/>
              <a:ext cx="8351992" cy="0"/>
            </a:xfrm>
            <a:prstGeom prst="straightConnector1">
              <a:avLst/>
            </a:prstGeom>
            <a:noFill/>
            <a:ln w="9525" cap="flat" cmpd="sng">
              <a:solidFill>
                <a:srgbClr val="D8D8D8"/>
              </a:solidFill>
              <a:prstDash val="solid"/>
              <a:round/>
              <a:headEnd type="none" w="sm" len="sm"/>
              <a:tailEnd type="none" w="sm" len="sm"/>
            </a:ln>
          </p:spPr>
        </p:cxnSp>
        <p:cxnSp>
          <p:nvCxnSpPr>
            <p:cNvPr id="142" name="Google Shape;142;p22"/>
            <p:cNvCxnSpPr/>
            <p:nvPr/>
          </p:nvCxnSpPr>
          <p:spPr>
            <a:xfrm rot="10800000">
              <a:off x="395536" y="4365104"/>
              <a:ext cx="8351992" cy="0"/>
            </a:xfrm>
            <a:prstGeom prst="straightConnector1">
              <a:avLst/>
            </a:prstGeom>
            <a:noFill/>
            <a:ln w="9525" cap="flat" cmpd="sng">
              <a:solidFill>
                <a:srgbClr val="D8D8D8"/>
              </a:solidFill>
              <a:prstDash val="solid"/>
              <a:round/>
              <a:headEnd type="none" w="sm" len="sm"/>
              <a:tailEnd type="none" w="sm" len="sm"/>
            </a:ln>
          </p:spPr>
        </p:cxnSp>
        <p:cxnSp>
          <p:nvCxnSpPr>
            <p:cNvPr id="143" name="Google Shape;143;p22"/>
            <p:cNvCxnSpPr/>
            <p:nvPr/>
          </p:nvCxnSpPr>
          <p:spPr>
            <a:xfrm rot="10800000">
              <a:off x="395536" y="5085184"/>
              <a:ext cx="8351992" cy="0"/>
            </a:xfrm>
            <a:prstGeom prst="straightConnector1">
              <a:avLst/>
            </a:prstGeom>
            <a:noFill/>
            <a:ln w="9525" cap="flat" cmpd="sng">
              <a:solidFill>
                <a:srgbClr val="D8D8D8"/>
              </a:solidFill>
              <a:prstDash val="solid"/>
              <a:round/>
              <a:headEnd type="none" w="sm" len="sm"/>
              <a:tailEnd type="none" w="sm" len="sm"/>
            </a:ln>
          </p:spPr>
        </p:cxnSp>
        <p:cxnSp>
          <p:nvCxnSpPr>
            <p:cNvPr id="144" name="Google Shape;144;p22"/>
            <p:cNvCxnSpPr/>
            <p:nvPr/>
          </p:nvCxnSpPr>
          <p:spPr>
            <a:xfrm rot="10800000">
              <a:off x="395536" y="4941168"/>
              <a:ext cx="8351992" cy="0"/>
            </a:xfrm>
            <a:prstGeom prst="straightConnector1">
              <a:avLst/>
            </a:prstGeom>
            <a:noFill/>
            <a:ln w="9525" cap="flat" cmpd="sng">
              <a:solidFill>
                <a:srgbClr val="D8D8D8"/>
              </a:solidFill>
              <a:prstDash val="solid"/>
              <a:round/>
              <a:headEnd type="none" w="sm" len="sm"/>
              <a:tailEnd type="none" w="sm" len="sm"/>
            </a:ln>
          </p:spPr>
        </p:cxnSp>
        <p:cxnSp>
          <p:nvCxnSpPr>
            <p:cNvPr id="145" name="Google Shape;145;p22"/>
            <p:cNvCxnSpPr/>
            <p:nvPr/>
          </p:nvCxnSpPr>
          <p:spPr>
            <a:xfrm rot="10800000">
              <a:off x="395536" y="4797152"/>
              <a:ext cx="8351992" cy="0"/>
            </a:xfrm>
            <a:prstGeom prst="straightConnector1">
              <a:avLst/>
            </a:prstGeom>
            <a:noFill/>
            <a:ln w="9525" cap="flat" cmpd="sng">
              <a:solidFill>
                <a:srgbClr val="D8D8D8"/>
              </a:solidFill>
              <a:prstDash val="solid"/>
              <a:round/>
              <a:headEnd type="none" w="sm" len="sm"/>
              <a:tailEnd type="none" w="sm" len="sm"/>
            </a:ln>
          </p:spPr>
        </p:cxnSp>
        <p:cxnSp>
          <p:nvCxnSpPr>
            <p:cNvPr id="146" name="Google Shape;146;p22"/>
            <p:cNvCxnSpPr/>
            <p:nvPr/>
          </p:nvCxnSpPr>
          <p:spPr>
            <a:xfrm rot="10800000">
              <a:off x="395536" y="5517232"/>
              <a:ext cx="8351992" cy="0"/>
            </a:xfrm>
            <a:prstGeom prst="straightConnector1">
              <a:avLst/>
            </a:prstGeom>
            <a:noFill/>
            <a:ln w="9525" cap="flat" cmpd="sng">
              <a:solidFill>
                <a:srgbClr val="D8D8D8"/>
              </a:solidFill>
              <a:prstDash val="solid"/>
              <a:round/>
              <a:headEnd type="none" w="sm" len="sm"/>
              <a:tailEnd type="none" w="sm" len="sm"/>
            </a:ln>
          </p:spPr>
        </p:cxnSp>
        <p:cxnSp>
          <p:nvCxnSpPr>
            <p:cNvPr id="147" name="Google Shape;147;p22"/>
            <p:cNvCxnSpPr/>
            <p:nvPr/>
          </p:nvCxnSpPr>
          <p:spPr>
            <a:xfrm rot="10800000">
              <a:off x="395536" y="537321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8" name="Google Shape;148;p22"/>
            <p:cNvCxnSpPr/>
            <p:nvPr/>
          </p:nvCxnSpPr>
          <p:spPr>
            <a:xfrm rot="10800000">
              <a:off x="395536" y="5229200"/>
              <a:ext cx="8351992" cy="0"/>
            </a:xfrm>
            <a:prstGeom prst="straightConnector1">
              <a:avLst/>
            </a:prstGeom>
            <a:noFill/>
            <a:ln w="9525" cap="flat" cmpd="sng">
              <a:solidFill>
                <a:srgbClr val="D8D8D8"/>
              </a:solidFill>
              <a:prstDash val="solid"/>
              <a:round/>
              <a:headEnd type="none" w="sm" len="sm"/>
              <a:tailEnd type="none" w="sm" len="sm"/>
            </a:ln>
          </p:spPr>
        </p:cxnSp>
        <p:cxnSp>
          <p:nvCxnSpPr>
            <p:cNvPr id="149" name="Google Shape;149;p22"/>
            <p:cNvCxnSpPr/>
            <p:nvPr/>
          </p:nvCxnSpPr>
          <p:spPr>
            <a:xfrm rot="10800000">
              <a:off x="395536" y="5949280"/>
              <a:ext cx="8351992" cy="0"/>
            </a:xfrm>
            <a:prstGeom prst="straightConnector1">
              <a:avLst/>
            </a:prstGeom>
            <a:noFill/>
            <a:ln w="9525" cap="flat" cmpd="sng">
              <a:solidFill>
                <a:srgbClr val="D8D8D8"/>
              </a:solidFill>
              <a:prstDash val="solid"/>
              <a:round/>
              <a:headEnd type="none" w="sm" len="sm"/>
              <a:tailEnd type="none" w="sm" len="sm"/>
            </a:ln>
          </p:spPr>
        </p:cxnSp>
        <p:cxnSp>
          <p:nvCxnSpPr>
            <p:cNvPr id="150" name="Google Shape;150;p22"/>
            <p:cNvCxnSpPr/>
            <p:nvPr/>
          </p:nvCxnSpPr>
          <p:spPr>
            <a:xfrm rot="10800000">
              <a:off x="395536" y="5805264"/>
              <a:ext cx="8351992" cy="0"/>
            </a:xfrm>
            <a:prstGeom prst="straightConnector1">
              <a:avLst/>
            </a:prstGeom>
            <a:noFill/>
            <a:ln w="9525" cap="flat" cmpd="sng">
              <a:solidFill>
                <a:srgbClr val="D8D8D8"/>
              </a:solidFill>
              <a:prstDash val="solid"/>
              <a:round/>
              <a:headEnd type="none" w="sm" len="sm"/>
              <a:tailEnd type="none" w="sm" len="sm"/>
            </a:ln>
          </p:spPr>
        </p:cxnSp>
        <p:cxnSp>
          <p:nvCxnSpPr>
            <p:cNvPr id="151" name="Google Shape;151;p22"/>
            <p:cNvCxnSpPr/>
            <p:nvPr/>
          </p:nvCxnSpPr>
          <p:spPr>
            <a:xfrm rot="10800000">
              <a:off x="395536" y="5661248"/>
              <a:ext cx="8351992" cy="0"/>
            </a:xfrm>
            <a:prstGeom prst="straightConnector1">
              <a:avLst/>
            </a:prstGeom>
            <a:noFill/>
            <a:ln w="9525" cap="flat" cmpd="sng">
              <a:solidFill>
                <a:srgbClr val="D8D8D8"/>
              </a:solidFill>
              <a:prstDash val="solid"/>
              <a:round/>
              <a:headEnd type="none" w="sm" len="sm"/>
              <a:tailEnd type="none" w="sm" len="sm"/>
            </a:ln>
          </p:spPr>
        </p:cxnSp>
        <p:cxnSp>
          <p:nvCxnSpPr>
            <p:cNvPr id="152" name="Google Shape;152;p22"/>
            <p:cNvCxnSpPr/>
            <p:nvPr/>
          </p:nvCxnSpPr>
          <p:spPr>
            <a:xfrm rot="10800000">
              <a:off x="395536" y="6381328"/>
              <a:ext cx="8351992" cy="0"/>
            </a:xfrm>
            <a:prstGeom prst="straightConnector1">
              <a:avLst/>
            </a:prstGeom>
            <a:noFill/>
            <a:ln w="9525" cap="flat" cmpd="sng">
              <a:solidFill>
                <a:srgbClr val="D8D8D8"/>
              </a:solidFill>
              <a:prstDash val="solid"/>
              <a:round/>
              <a:headEnd type="none" w="sm" len="sm"/>
              <a:tailEnd type="none" w="sm" len="sm"/>
            </a:ln>
          </p:spPr>
        </p:cxnSp>
        <p:cxnSp>
          <p:nvCxnSpPr>
            <p:cNvPr id="153" name="Google Shape;153;p22"/>
            <p:cNvCxnSpPr/>
            <p:nvPr/>
          </p:nvCxnSpPr>
          <p:spPr>
            <a:xfrm rot="10800000">
              <a:off x="395536" y="6237312"/>
              <a:ext cx="8351992" cy="0"/>
            </a:xfrm>
            <a:prstGeom prst="straightConnector1">
              <a:avLst/>
            </a:prstGeom>
            <a:noFill/>
            <a:ln w="9525" cap="flat" cmpd="sng">
              <a:solidFill>
                <a:srgbClr val="D8D8D8"/>
              </a:solidFill>
              <a:prstDash val="solid"/>
              <a:round/>
              <a:headEnd type="none" w="sm" len="sm"/>
              <a:tailEnd type="none" w="sm" len="sm"/>
            </a:ln>
          </p:spPr>
        </p:cxnSp>
        <p:cxnSp>
          <p:nvCxnSpPr>
            <p:cNvPr id="154" name="Google Shape;154;p22"/>
            <p:cNvCxnSpPr/>
            <p:nvPr/>
          </p:nvCxnSpPr>
          <p:spPr>
            <a:xfrm rot="10800000">
              <a:off x="395536" y="6093296"/>
              <a:ext cx="8351992" cy="0"/>
            </a:xfrm>
            <a:prstGeom prst="straightConnector1">
              <a:avLst/>
            </a:prstGeom>
            <a:noFill/>
            <a:ln w="9525" cap="flat" cmpd="sng">
              <a:solidFill>
                <a:srgbClr val="D8D8D8"/>
              </a:solidFill>
              <a:prstDash val="solid"/>
              <a:round/>
              <a:headEnd type="none" w="sm" len="sm"/>
              <a:tailEnd type="none" w="sm" len="sm"/>
            </a:ln>
          </p:spPr>
        </p:cxnSp>
        <p:cxnSp>
          <p:nvCxnSpPr>
            <p:cNvPr id="155" name="Google Shape;155;p22"/>
            <p:cNvCxnSpPr/>
            <p:nvPr/>
          </p:nvCxnSpPr>
          <p:spPr>
            <a:xfrm rot="10800000">
              <a:off x="396464" y="908720"/>
              <a:ext cx="8352000" cy="0"/>
            </a:xfrm>
            <a:prstGeom prst="straightConnector1">
              <a:avLst/>
            </a:prstGeom>
            <a:noFill/>
            <a:ln w="9525" cap="flat" cmpd="sng">
              <a:solidFill>
                <a:srgbClr val="D8D8D8"/>
              </a:solidFill>
              <a:prstDash val="solid"/>
              <a:round/>
              <a:headEnd type="none" w="sm" len="sm"/>
              <a:tailEnd type="none" w="sm" len="sm"/>
            </a:ln>
          </p:spPr>
        </p:cxnSp>
        <p:sp>
          <p:nvSpPr>
            <p:cNvPr id="156" name="Google Shape;156;p22"/>
            <p:cNvSpPr/>
            <p:nvPr/>
          </p:nvSpPr>
          <p:spPr>
            <a:xfrm>
              <a:off x="395536" y="836710"/>
              <a:ext cx="8352929" cy="5688633"/>
            </a:xfrm>
            <a:prstGeom prst="rect">
              <a:avLst/>
            </a:prstGeom>
            <a:noFill/>
            <a:ln w="12700" cap="flat" cmpd="sng">
              <a:solidFill>
                <a:srgbClr val="D8D8D8"/>
              </a:solidFill>
              <a:prstDash val="solid"/>
              <a:round/>
              <a:headEnd type="none" w="sm" len="sm"/>
              <a:tailEnd type="none" w="sm" len="sm"/>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cxnSp>
          <p:nvCxnSpPr>
            <p:cNvPr id="157" name="Google Shape;157;p22"/>
            <p:cNvCxnSpPr>
              <a:stCxn id="156" idx="0"/>
              <a:endCxn id="156" idx="2"/>
            </p:cNvCxnSpPr>
            <p:nvPr/>
          </p:nvCxnSpPr>
          <p:spPr>
            <a:xfrm>
              <a:off x="4572001" y="836710"/>
              <a:ext cx="0" cy="5688600"/>
            </a:xfrm>
            <a:prstGeom prst="straightConnector1">
              <a:avLst/>
            </a:prstGeom>
            <a:noFill/>
            <a:ln w="12700" cap="flat" cmpd="sng">
              <a:solidFill>
                <a:srgbClr val="D8D8D8"/>
              </a:solidFill>
              <a:prstDash val="solid"/>
              <a:round/>
              <a:headEnd type="none" w="sm" len="sm"/>
              <a:tailEnd type="none" w="sm" len="sm"/>
            </a:ln>
          </p:spPr>
        </p:cxnSp>
        <p:cxnSp>
          <p:nvCxnSpPr>
            <p:cNvPr id="158" name="Google Shape;158;p22"/>
            <p:cNvCxnSpPr/>
            <p:nvPr/>
          </p:nvCxnSpPr>
          <p:spPr>
            <a:xfrm rot="10800000">
              <a:off x="396464" y="3645344"/>
              <a:ext cx="8352000" cy="0"/>
            </a:xfrm>
            <a:prstGeom prst="straightConnector1">
              <a:avLst/>
            </a:prstGeom>
            <a:noFill/>
            <a:ln w="12700" cap="flat" cmpd="sng">
              <a:solidFill>
                <a:srgbClr val="D8D8D8"/>
              </a:solidFill>
              <a:prstDash val="solid"/>
              <a:round/>
              <a:headEnd type="none" w="sm" len="sm"/>
              <a:tailEnd type="none" w="sm" len="sm"/>
            </a:ln>
          </p:spPr>
        </p:cxnSp>
      </p:grpSp>
      <p:sp>
        <p:nvSpPr>
          <p:cNvPr id="159" name="Google Shape;159;p22"/>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33_タイトルとコンテンツ">
  <p:cSld name="33_タイトルとコンテンツ">
    <p:spTree>
      <p:nvGrpSpPr>
        <p:cNvPr id="1" name="Shape 169"/>
        <p:cNvGrpSpPr/>
        <p:nvPr/>
      </p:nvGrpSpPr>
      <p:grpSpPr>
        <a:xfrm>
          <a:off x="0" y="0"/>
          <a:ext cx="0" cy="0"/>
          <a:chOff x="0" y="0"/>
          <a:chExt cx="0" cy="0"/>
        </a:xfrm>
      </p:grpSpPr>
      <p:pic>
        <p:nvPicPr>
          <p:cNvPr id="170" name="Google Shape;170;p24"/>
          <p:cNvPicPr preferRelativeResize="0"/>
          <p:nvPr/>
        </p:nvPicPr>
        <p:blipFill rotWithShape="1">
          <a:blip r:embed="rId2">
            <a:alphaModFix/>
          </a:blip>
          <a:srcRect/>
          <a:stretch/>
        </p:blipFill>
        <p:spPr>
          <a:xfrm>
            <a:off x="-1587" y="-2704"/>
            <a:ext cx="9144000" cy="6096000"/>
          </a:xfrm>
          <a:prstGeom prst="rect">
            <a:avLst/>
          </a:prstGeom>
          <a:noFill/>
          <a:ln>
            <a:noFill/>
          </a:ln>
        </p:spPr>
      </p:pic>
      <p:sp>
        <p:nvSpPr>
          <p:cNvPr id="171" name="Google Shape;171;p24"/>
          <p:cNvSpPr/>
          <p:nvPr/>
        </p:nvSpPr>
        <p:spPr>
          <a:xfrm>
            <a:off x="-4749" y="3293608"/>
            <a:ext cx="9147839" cy="3570058"/>
          </a:xfrm>
          <a:custGeom>
            <a:avLst/>
            <a:gdLst/>
            <a:ahLst/>
            <a:cxnLst/>
            <a:rect l="l" t="t" r="r" b="b"/>
            <a:pathLst>
              <a:path w="9147839" h="3570058" extrusionOk="0">
                <a:moveTo>
                  <a:pt x="4209642" y="0"/>
                </a:moveTo>
                <a:lnTo>
                  <a:pt x="9147839" y="1854200"/>
                </a:lnTo>
                <a:lnTo>
                  <a:pt x="9147839" y="3566886"/>
                </a:lnTo>
                <a:lnTo>
                  <a:pt x="0" y="3570058"/>
                </a:lnTo>
                <a:lnTo>
                  <a:pt x="0" y="2794989"/>
                </a:lnTo>
                <a:lnTo>
                  <a:pt x="4209642" y="0"/>
                </a:lnTo>
                <a:close/>
              </a:path>
            </a:pathLst>
          </a:custGeom>
          <a:gradFill>
            <a:gsLst>
              <a:gs pos="0">
                <a:srgbClr val="176E65">
                  <a:alpha val="90196"/>
                </a:srgbClr>
              </a:gs>
              <a:gs pos="51000">
                <a:srgbClr val="176E65">
                  <a:alpha val="90196"/>
                </a:srgbClr>
              </a:gs>
              <a:gs pos="79000">
                <a:srgbClr val="006057"/>
              </a:gs>
              <a:gs pos="93000">
                <a:srgbClr val="005C55"/>
              </a:gs>
              <a:gs pos="100000">
                <a:srgbClr val="005C55"/>
              </a:gs>
            </a:gsLst>
            <a:lin ang="5400000" scaled="0"/>
          </a:gradFill>
          <a:ln>
            <a:noFill/>
          </a:ln>
        </p:spPr>
        <p:txBody>
          <a:bodyPr spcFirstLastPara="1" wrap="square" lIns="72000" tIns="36000" rIns="72000" bIns="36000" anchor="ctr" anchorCtr="0">
            <a:noAutofit/>
          </a:bodyPr>
          <a:lstStyle/>
          <a:p>
            <a:pPr marL="0" marR="0" lvl="0" indent="0" algn="ctr" rtl="0">
              <a:spcBef>
                <a:spcPts val="0"/>
              </a:spcBef>
              <a:spcAft>
                <a:spcPts val="0"/>
              </a:spcAft>
              <a:buNone/>
            </a:pPr>
            <a:endParaRPr sz="1200">
              <a:solidFill>
                <a:schemeClr val="dk1"/>
              </a:solidFill>
              <a:latin typeface="Arial"/>
              <a:ea typeface="Arial"/>
              <a:cs typeface="Arial"/>
              <a:sym typeface="Arial"/>
            </a:endParaRPr>
          </a:p>
        </p:txBody>
      </p:sp>
      <p:sp>
        <p:nvSpPr>
          <p:cNvPr id="172" name="Google Shape;172;p24"/>
          <p:cNvSpPr/>
          <p:nvPr/>
        </p:nvSpPr>
        <p:spPr>
          <a:xfrm>
            <a:off x="0" y="1698171"/>
            <a:ext cx="4206240" cy="4388367"/>
          </a:xfrm>
          <a:custGeom>
            <a:avLst/>
            <a:gdLst/>
            <a:ahLst/>
            <a:cxnLst/>
            <a:rect l="l" t="t" r="r" b="b"/>
            <a:pathLst>
              <a:path w="4206240" h="4388367" extrusionOk="0">
                <a:moveTo>
                  <a:pt x="4206240" y="1596935"/>
                </a:moveTo>
                <a:lnTo>
                  <a:pt x="0" y="4388367"/>
                </a:lnTo>
                <a:lnTo>
                  <a:pt x="0" y="0"/>
                </a:lnTo>
                <a:lnTo>
                  <a:pt x="4206240" y="1596935"/>
                </a:lnTo>
                <a:close/>
              </a:path>
            </a:pathLst>
          </a:custGeom>
          <a:solidFill>
            <a:srgbClr val="66A09A">
              <a:alpha val="90196"/>
            </a:srgb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sp>
        <p:nvSpPr>
          <p:cNvPr id="173" name="Google Shape;173;p24"/>
          <p:cNvSpPr/>
          <p:nvPr/>
        </p:nvSpPr>
        <p:spPr>
          <a:xfrm>
            <a:off x="12698" y="-5518"/>
            <a:ext cx="9110863" cy="3307645"/>
          </a:xfrm>
          <a:custGeom>
            <a:avLst/>
            <a:gdLst/>
            <a:ahLst/>
            <a:cxnLst/>
            <a:rect l="l" t="t" r="r" b="b"/>
            <a:pathLst>
              <a:path w="9141914" h="3338535" extrusionOk="0">
                <a:moveTo>
                  <a:pt x="0" y="1733123"/>
                </a:moveTo>
                <a:lnTo>
                  <a:pt x="2626362" y="0"/>
                </a:lnTo>
                <a:lnTo>
                  <a:pt x="9141914" y="2839"/>
                </a:lnTo>
                <a:cubicBezTo>
                  <a:pt x="8176372" y="672354"/>
                  <a:pt x="4902606" y="2872220"/>
                  <a:pt x="4229164" y="3338535"/>
                </a:cubicBezTo>
                <a:lnTo>
                  <a:pt x="0" y="1733123"/>
                </a:lnTo>
                <a:close/>
              </a:path>
            </a:pathLst>
          </a:custGeom>
          <a:solidFill>
            <a:schemeClr val="lt1">
              <a:alpha val="40000"/>
            </a:scheme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2"/>
          <p:cNvCxnSpPr/>
          <p:nvPr/>
        </p:nvCxnSpPr>
        <p:spPr>
          <a:xfrm>
            <a:off x="360464" y="669925"/>
            <a:ext cx="8424000" cy="0"/>
          </a:xfrm>
          <a:prstGeom prst="straightConnector1">
            <a:avLst/>
          </a:prstGeom>
          <a:noFill/>
          <a:ln w="12700" cap="flat" cmpd="sng">
            <a:solidFill>
              <a:srgbClr val="5A5A5A"/>
            </a:solidFill>
            <a:prstDash val="solid"/>
            <a:round/>
            <a:headEnd type="none" w="sm" len="sm"/>
            <a:tailEnd type="none" w="sm" len="sm"/>
          </a:ln>
        </p:spPr>
      </p:cxnSp>
      <p:sp>
        <p:nvSpPr>
          <p:cNvPr id="12" name="Google Shape;12;p12"/>
          <p:cNvSpPr/>
          <p:nvPr/>
        </p:nvSpPr>
        <p:spPr>
          <a:xfrm>
            <a:off x="8820472" y="6597352"/>
            <a:ext cx="287992" cy="21600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5A5A5A"/>
              </a:buClr>
              <a:buSzPts val="900"/>
              <a:buFont typeface="Trebuchet MS"/>
              <a:buNone/>
            </a:pPr>
            <a:fld id="{00000000-1234-1234-1234-123412341234}" type="slidenum">
              <a:rPr lang="ja-JP" sz="900" b="0" i="0" u="none" strike="noStrike" cap="none">
                <a:solidFill>
                  <a:srgbClr val="5A5A5A"/>
                </a:solidFill>
                <a:latin typeface="Trebuchet MS"/>
                <a:ea typeface="Trebuchet MS"/>
                <a:cs typeface="Trebuchet MS"/>
                <a:sym typeface="Trebuchet MS"/>
              </a:rPr>
              <a:t>‹#›</a:t>
            </a:fld>
            <a:endParaRPr sz="900" b="0" i="0" u="none" strike="noStrike" cap="none">
              <a:solidFill>
                <a:srgbClr val="5A5A5A"/>
              </a:solidFill>
              <a:latin typeface="Trebuchet MS"/>
              <a:ea typeface="Trebuchet MS"/>
              <a:cs typeface="Trebuchet MS"/>
              <a:sym typeface="Trebuchet MS"/>
            </a:endParaRPr>
          </a:p>
        </p:txBody>
      </p:sp>
      <p:cxnSp>
        <p:nvCxnSpPr>
          <p:cNvPr id="13" name="Google Shape;13;p12"/>
          <p:cNvCxnSpPr/>
          <p:nvPr/>
        </p:nvCxnSpPr>
        <p:spPr>
          <a:xfrm>
            <a:off x="8820472" y="6655074"/>
            <a:ext cx="0" cy="108000"/>
          </a:xfrm>
          <a:prstGeom prst="straightConnector1">
            <a:avLst/>
          </a:prstGeom>
          <a:noFill/>
          <a:ln w="25400" cap="flat" cmpd="sng">
            <a:solidFill>
              <a:schemeClr val="lt2"/>
            </a:solidFill>
            <a:prstDash val="solid"/>
            <a:round/>
            <a:headEnd type="none" w="sm" len="sm"/>
            <a:tailEnd type="none" w="sm" len="sm"/>
          </a:ln>
        </p:spPr>
      </p:cxnSp>
      <p:sp>
        <p:nvSpPr>
          <p:cNvPr id="14" name="Google Shape;14;p12"/>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1" i="0" u="none" strike="noStrike" cap="none">
                <a:solidFill>
                  <a:srgbClr val="5C5C5C"/>
                </a:solidFill>
                <a:latin typeface="Arial"/>
                <a:ea typeface="Arial"/>
                <a:cs typeface="Arial"/>
                <a:sym typeface="Arial"/>
              </a:defRPr>
            </a:lvl1pPr>
            <a:lvl2pPr marR="0" lvl="1" algn="l" rtl="0">
              <a:spcBef>
                <a:spcPts val="0"/>
              </a:spcBef>
              <a:spcAft>
                <a:spcPts val="0"/>
              </a:spcAft>
              <a:buSzPts val="1400"/>
              <a:buNone/>
              <a:defRPr sz="1880" b="0" i="0" u="none" strike="noStrike" cap="none">
                <a:solidFill>
                  <a:srgbClr val="191919"/>
                </a:solidFill>
                <a:latin typeface="Arial"/>
                <a:ea typeface="Arial"/>
                <a:cs typeface="Arial"/>
                <a:sym typeface="Arial"/>
              </a:defRPr>
            </a:lvl2pPr>
            <a:lvl3pPr marR="0" lvl="2" algn="l" rtl="0">
              <a:spcBef>
                <a:spcPts val="0"/>
              </a:spcBef>
              <a:spcAft>
                <a:spcPts val="0"/>
              </a:spcAft>
              <a:buSzPts val="1400"/>
              <a:buNone/>
              <a:defRPr sz="1880" b="0" i="0" u="none" strike="noStrike" cap="none">
                <a:solidFill>
                  <a:srgbClr val="191919"/>
                </a:solidFill>
                <a:latin typeface="Arial"/>
                <a:ea typeface="Arial"/>
                <a:cs typeface="Arial"/>
                <a:sym typeface="Arial"/>
              </a:defRPr>
            </a:lvl3pPr>
            <a:lvl4pPr marR="0" lvl="3" algn="l" rtl="0">
              <a:spcBef>
                <a:spcPts val="0"/>
              </a:spcBef>
              <a:spcAft>
                <a:spcPts val="0"/>
              </a:spcAft>
              <a:buSzPts val="1400"/>
              <a:buNone/>
              <a:defRPr sz="1880" b="0" i="0" u="none" strike="noStrike" cap="none">
                <a:solidFill>
                  <a:srgbClr val="191919"/>
                </a:solidFill>
                <a:latin typeface="Arial"/>
                <a:ea typeface="Arial"/>
                <a:cs typeface="Arial"/>
                <a:sym typeface="Arial"/>
              </a:defRPr>
            </a:lvl4pPr>
            <a:lvl5pPr marR="0" lvl="4" algn="l" rtl="0">
              <a:spcBef>
                <a:spcPts val="0"/>
              </a:spcBef>
              <a:spcAft>
                <a:spcPts val="0"/>
              </a:spcAft>
              <a:buSzPts val="1400"/>
              <a:buNone/>
              <a:defRPr sz="1880" b="0" i="0" u="none" strike="noStrike" cap="none">
                <a:solidFill>
                  <a:srgbClr val="191919"/>
                </a:solidFill>
                <a:latin typeface="Arial"/>
                <a:ea typeface="Arial"/>
                <a:cs typeface="Arial"/>
                <a:sym typeface="Arial"/>
              </a:defRPr>
            </a:lvl5pPr>
            <a:lvl6pPr marR="0" lvl="5"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6pPr>
            <a:lvl7pPr marR="0" lvl="6"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7pPr>
            <a:lvl8pPr marR="0" lvl="7"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8pPr>
            <a:lvl9pPr marR="0" lvl="8"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296">
          <p15:clr>
            <a:srgbClr val="F26B43"/>
          </p15:clr>
        </p15:guide>
        <p15:guide id="2" pos="2880">
          <p15:clr>
            <a:srgbClr val="F26B43"/>
          </p15:clr>
        </p15:guide>
        <p15:guide id="3" pos="249">
          <p15:clr>
            <a:srgbClr val="F26B43"/>
          </p15:clr>
        </p15:guide>
        <p15:guide id="4" pos="5511">
          <p15:clr>
            <a:srgbClr val="F26B43"/>
          </p15:clr>
        </p15:guide>
        <p15:guide id="5" orient="horz" pos="527">
          <p15:clr>
            <a:srgbClr val="F26B43"/>
          </p15:clr>
        </p15:guide>
        <p15:guide id="6" orient="horz" pos="41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Google Shape;180;p1">
            <a:extLst>
              <a:ext uri="{FF2B5EF4-FFF2-40B4-BE49-F238E27FC236}">
                <a16:creationId xmlns:a16="http://schemas.microsoft.com/office/drawing/2014/main" id="{31BC779B-1A2F-3FAA-3491-C2DFDB9541FD}"/>
              </a:ext>
            </a:extLst>
          </p:cNvPr>
          <p:cNvSpPr txBox="1"/>
          <p:nvPr/>
        </p:nvSpPr>
        <p:spPr>
          <a:xfrm>
            <a:off x="361950" y="3717032"/>
            <a:ext cx="8314506" cy="998780"/>
          </a:xfrm>
          <a:prstGeom prst="rect">
            <a:avLst/>
          </a:prstGeom>
          <a:noFill/>
          <a:ln>
            <a:noFill/>
          </a:ln>
        </p:spPr>
        <p:txBody>
          <a:bodyPr spcFirstLastPara="1" wrap="square" lIns="91425" tIns="45700" rIns="0" bIns="45700" anchor="b" anchorCtr="0">
            <a:noAutofit/>
          </a:bodyPr>
          <a:lstStyle/>
          <a:p>
            <a:pPr marL="0" marR="0" lvl="0" indent="0" algn="l" rtl="0">
              <a:spcBef>
                <a:spcPts val="0"/>
              </a:spcBef>
              <a:spcAft>
                <a:spcPts val="0"/>
              </a:spcAft>
              <a:buNone/>
            </a:pPr>
            <a:r>
              <a:rPr lang="ja-JP" sz="3200" b="1" i="0" u="none" strike="noStrike" cap="none">
                <a:solidFill>
                  <a:schemeClr val="lt1"/>
                </a:solidFill>
                <a:latin typeface="Meiryo UI" panose="020B0604030504040204" pitchFamily="50" charset="-128"/>
                <a:ea typeface="Meiryo UI" panose="020B0604030504040204" pitchFamily="50" charset="-128"/>
                <a:sym typeface="Arial"/>
              </a:rPr>
              <a:t>今後のスケジュールと論点整理</a:t>
            </a:r>
            <a:endParaRPr sz="3200" b="1" i="0" u="none" strike="noStrike" cap="none">
              <a:solidFill>
                <a:schemeClr val="lt1"/>
              </a:solidFill>
              <a:latin typeface="Meiryo UI" panose="020B0604030504040204" pitchFamily="50" charset="-128"/>
              <a:ea typeface="Meiryo UI" panose="020B0604030504040204" pitchFamily="50" charset="-128"/>
              <a:sym typeface="Arial"/>
            </a:endParaRPr>
          </a:p>
        </p:txBody>
      </p:sp>
      <p:sp>
        <p:nvSpPr>
          <p:cNvPr id="4" name="Google Shape;181;p1">
            <a:extLst>
              <a:ext uri="{FF2B5EF4-FFF2-40B4-BE49-F238E27FC236}">
                <a16:creationId xmlns:a16="http://schemas.microsoft.com/office/drawing/2014/main" id="{96ACA2D1-2F49-09BE-FE99-3346A4F37EE8}"/>
              </a:ext>
            </a:extLst>
          </p:cNvPr>
          <p:cNvSpPr txBox="1"/>
          <p:nvPr/>
        </p:nvSpPr>
        <p:spPr>
          <a:xfrm>
            <a:off x="361949" y="5517232"/>
            <a:ext cx="3816000" cy="540000"/>
          </a:xfrm>
          <a:prstGeom prst="rect">
            <a:avLst/>
          </a:prstGeom>
          <a:noFill/>
          <a:ln>
            <a:noFill/>
          </a:ln>
        </p:spPr>
        <p:txBody>
          <a:bodyPr spcFirstLastPara="1" wrap="square" lIns="99050" tIns="49525" rIns="99050" bIns="49525" anchor="ctr" anchorCtr="0">
            <a:noAutofit/>
          </a:bodyPr>
          <a:lstStyle/>
          <a:p>
            <a:pPr marL="0" marR="0" lvl="0" indent="0" algn="l" rtl="0">
              <a:lnSpc>
                <a:spcPct val="100000"/>
              </a:lnSpc>
              <a:spcBef>
                <a:spcPts val="0"/>
              </a:spcBef>
              <a:spcAft>
                <a:spcPts val="0"/>
              </a:spcAft>
              <a:buClr>
                <a:srgbClr val="FFFFFF"/>
              </a:buClr>
              <a:buSzPts val="1400"/>
              <a:buFont typeface="Arial"/>
              <a:buNone/>
            </a:pPr>
            <a:r>
              <a:rPr lang="ja-JP" altLang="en-US" b="1" dirty="0">
                <a:solidFill>
                  <a:srgbClr val="FFFFFF"/>
                </a:solidFill>
                <a:latin typeface="Meiryo UI" panose="020B0604030504040204" pitchFamily="50" charset="-128"/>
                <a:ea typeface="Meiryo UI" panose="020B0604030504040204" pitchFamily="50" charset="-128"/>
              </a:rPr>
              <a:t>企業情報部</a:t>
            </a:r>
            <a:endParaRPr sz="1400" b="1" i="0" u="none" strike="noStrike" cap="none" dirty="0">
              <a:solidFill>
                <a:srgbClr val="FFFFFF"/>
              </a:solidFill>
              <a:latin typeface="Meiryo UI" panose="020B0604030504040204" pitchFamily="50" charset="-128"/>
              <a:ea typeface="Meiryo UI" panose="020B0604030504040204" pitchFamily="50" charset="-128"/>
              <a:sym typeface="Arial"/>
            </a:endParaRPr>
          </a:p>
          <a:p>
            <a:pPr marL="0" marR="0" lvl="0" indent="0" algn="l" rtl="0">
              <a:lnSpc>
                <a:spcPct val="100000"/>
              </a:lnSpc>
              <a:spcBef>
                <a:spcPts val="0"/>
              </a:spcBef>
              <a:spcAft>
                <a:spcPts val="0"/>
              </a:spcAft>
              <a:buClr>
                <a:srgbClr val="FFFFFF"/>
              </a:buClr>
              <a:buSzPts val="1400"/>
              <a:buFont typeface="Arial"/>
              <a:buNone/>
            </a:pPr>
            <a:r>
              <a:rPr lang="ja-JP" altLang="en-US" sz="1400" b="1" i="0" u="none" strike="noStrike" cap="none" dirty="0">
                <a:solidFill>
                  <a:srgbClr val="FFFFFF"/>
                </a:solidFill>
                <a:latin typeface="Meiryo UI" panose="020B0604030504040204" pitchFamily="50" charset="-128"/>
                <a:ea typeface="Meiryo UI" panose="020B0604030504040204" pitchFamily="50" charset="-128"/>
                <a:sym typeface="Arial"/>
              </a:rPr>
              <a:t>田垣内 啓介</a:t>
            </a:r>
            <a:endParaRPr sz="1400" b="1" i="0" u="none" strike="noStrike" cap="none" dirty="0">
              <a:solidFill>
                <a:srgbClr val="FFFFFF"/>
              </a:solidFill>
              <a:latin typeface="Meiryo UI" panose="020B0604030504040204" pitchFamily="50" charset="-128"/>
              <a:ea typeface="Meiryo UI" panose="020B0604030504040204" pitchFamily="50" charset="-128"/>
              <a:sym typeface="Arial"/>
            </a:endParaRPr>
          </a:p>
        </p:txBody>
      </p:sp>
      <p:sp>
        <p:nvSpPr>
          <p:cNvPr id="5" name="Google Shape;182;p1">
            <a:extLst>
              <a:ext uri="{FF2B5EF4-FFF2-40B4-BE49-F238E27FC236}">
                <a16:creationId xmlns:a16="http://schemas.microsoft.com/office/drawing/2014/main" id="{792F0345-6D09-C84A-AD32-06D94B9E9287}"/>
              </a:ext>
            </a:extLst>
          </p:cNvPr>
          <p:cNvSpPr txBox="1"/>
          <p:nvPr/>
        </p:nvSpPr>
        <p:spPr>
          <a:xfrm>
            <a:off x="288368" y="3341451"/>
            <a:ext cx="637913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buClr>
                <a:srgbClr val="FFFFFF"/>
              </a:buClr>
              <a:buSzPts val="1800"/>
              <a:buFont typeface="Arial"/>
              <a:buNone/>
            </a:pPr>
            <a:r>
              <a:rPr lang="ja-JP" sz="2400" b="1" i="0" u="none" strike="noStrike" cap="none" dirty="0">
                <a:solidFill>
                  <a:srgbClr val="FFFFFF"/>
                </a:solidFill>
                <a:latin typeface="Meiryo UI" panose="020B0604030504040204" pitchFamily="50" charset="-128"/>
                <a:ea typeface="Meiryo UI" panose="020B0604030504040204" pitchFamily="50" charset="-128"/>
                <a:sym typeface="Arial"/>
              </a:rPr>
              <a:t>株式会社ストラウト　御中</a:t>
            </a:r>
          </a:p>
        </p:txBody>
      </p:sp>
      <p:sp>
        <p:nvSpPr>
          <p:cNvPr id="6" name="Google Shape;183;p1">
            <a:extLst>
              <a:ext uri="{FF2B5EF4-FFF2-40B4-BE49-F238E27FC236}">
                <a16:creationId xmlns:a16="http://schemas.microsoft.com/office/drawing/2014/main" id="{6F3F9F3A-D75E-8ACA-12F1-136DD1993DD7}"/>
              </a:ext>
            </a:extLst>
          </p:cNvPr>
          <p:cNvSpPr txBox="1"/>
          <p:nvPr/>
        </p:nvSpPr>
        <p:spPr>
          <a:xfrm>
            <a:off x="361950" y="5157192"/>
            <a:ext cx="2122488" cy="360000"/>
          </a:xfrm>
          <a:prstGeom prst="rect">
            <a:avLst/>
          </a:prstGeom>
          <a:noFill/>
          <a:ln>
            <a:noFill/>
          </a:ln>
        </p:spPr>
        <p:txBody>
          <a:bodyPr spcFirstLastPara="1" wrap="square" lIns="99050" tIns="49525" rIns="99050" bIns="49525" anchor="ctr" anchorCtr="0">
            <a:noAutofit/>
          </a:bodyPr>
          <a:lstStyle/>
          <a:p>
            <a:pPr marL="0" marR="0" lvl="0" indent="0" algn="l" rtl="0">
              <a:lnSpc>
                <a:spcPct val="80000"/>
              </a:lnSpc>
              <a:buClr>
                <a:schemeClr val="lt1"/>
              </a:buClr>
              <a:buSzPts val="1200"/>
              <a:buFont typeface="Arial"/>
              <a:buNone/>
            </a:pPr>
            <a:r>
              <a:rPr lang="ja-JP" sz="1200" b="1" i="0" u="none" strike="noStrike" cap="none" dirty="0">
                <a:solidFill>
                  <a:schemeClr val="lt1"/>
                </a:solidFill>
                <a:latin typeface="Meiryo UI" panose="020B0604030504040204" pitchFamily="50" charset="-128"/>
                <a:ea typeface="Meiryo UI" panose="020B0604030504040204" pitchFamily="50" charset="-128"/>
                <a:sym typeface="Arial"/>
              </a:rPr>
              <a:t>2026年10月●日</a:t>
            </a:r>
          </a:p>
        </p:txBody>
      </p:sp>
      <p:sp>
        <p:nvSpPr>
          <p:cNvPr id="7" name="Google Shape;184;p1">
            <a:extLst>
              <a:ext uri="{FF2B5EF4-FFF2-40B4-BE49-F238E27FC236}">
                <a16:creationId xmlns:a16="http://schemas.microsoft.com/office/drawing/2014/main" id="{63C143C5-4722-1CCD-58AE-58D820F723AA}"/>
              </a:ext>
            </a:extLst>
          </p:cNvPr>
          <p:cNvSpPr/>
          <p:nvPr/>
        </p:nvSpPr>
        <p:spPr>
          <a:xfrm>
            <a:off x="7492789" y="155485"/>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i="0" u="none" strike="noStrike" cap="none">
                <a:solidFill>
                  <a:srgbClr val="F14040"/>
                </a:solidFill>
                <a:latin typeface="Meiryo UI" panose="020B0604030504040204" pitchFamily="50" charset="-128"/>
                <a:ea typeface="Meiryo UI" panose="020B0604030504040204" pitchFamily="50" charset="-128"/>
                <a:sym typeface="Arial"/>
              </a:rPr>
              <a:t>秘・貴社限り</a:t>
            </a:r>
            <a:endParaRPr sz="1300" b="1" i="0" u="none" strike="noStrike" cap="none">
              <a:solidFill>
                <a:srgbClr val="F14040"/>
              </a:solidFill>
              <a:latin typeface="Meiryo UI" panose="020B0604030504040204" pitchFamily="50" charset="-128"/>
              <a:ea typeface="Meiryo UI" panose="020B0604030504040204" pitchFamily="50" charset="-128"/>
              <a:sym typeface="Arial"/>
            </a:endParaRPr>
          </a:p>
        </p:txBody>
      </p:sp>
    </p:spTree>
    <p:extLst>
      <p:ext uri="{BB962C8B-B14F-4D97-AF65-F5344CB8AC3E}">
        <p14:creationId xmlns:p14="http://schemas.microsoft.com/office/powerpoint/2010/main" val="676783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 name="Shape 195"/>
        <p:cNvGrpSpPr/>
        <p:nvPr/>
      </p:nvGrpSpPr>
      <p:grpSpPr>
        <a:xfrm>
          <a:off x="0" y="0"/>
          <a:ext cx="0" cy="0"/>
          <a:chOff x="0" y="0"/>
          <a:chExt cx="0" cy="0"/>
        </a:xfrm>
      </p:grpSpPr>
      <p:sp>
        <p:nvSpPr>
          <p:cNvPr id="3" name="Google Shape;196;p2"/>
          <p:cNvSpPr txBox="1">
            <a:spLocks noGrp="1"/>
          </p:cNvSpPr>
          <p:nvPr>
            <p:ph type="subTitle" idx="1"/>
          </p:nvPr>
        </p:nvSpPr>
        <p:spPr>
          <a:xfrm>
            <a:off x="2007005" y="3163812"/>
            <a:ext cx="6813467" cy="841252"/>
          </a:xfrm>
          <a:prstGeom prst="rect">
            <a:avLst/>
          </a:prstGeom>
          <a:noFill/>
          <a:ln>
            <a:noFill/>
          </a:ln>
        </p:spPr>
        <p:txBody>
          <a:bodyPr spcFirstLastPara="1" wrap="square" lIns="91425" tIns="45700" rIns="91425" bIns="45700" anchor="t" anchorCtr="0">
            <a:noAutofit/>
          </a:bodyPr>
          <a:lstStyle/>
          <a:p>
            <a:pPr marL="0" lvl="0" indent="0" algn="r" rtl="0">
              <a:lnSpc>
                <a:spcPct val="120000"/>
              </a:lnSpc>
              <a:spcBef>
                <a:spcPts val="0"/>
              </a:spcBef>
              <a:spcAft>
                <a:spcPts val="0"/>
              </a:spcAft>
              <a:buSzPts val="1725"/>
              <a:buNone/>
            </a:pPr>
            <a:r>
              <a:rPr lang="ja-JP" dirty="0">
                <a:latin typeface="Meiryo UI" panose="020B0604030504040204" pitchFamily="50" charset="-128"/>
                <a:ea typeface="Meiryo UI" panose="020B0604030504040204" pitchFamily="50" charset="-128"/>
              </a:rPr>
              <a:t>各種条件について</a:t>
            </a:r>
            <a:endParaRPr dirty="0">
              <a:latin typeface="Meiryo UI" panose="020B0604030504040204" pitchFamily="50" charset="-128"/>
              <a:ea typeface="Meiryo UI" panose="020B0604030504040204" pitchFamily="50" charset="-128"/>
            </a:endParaRPr>
          </a:p>
        </p:txBody>
      </p:sp>
      <p:cxnSp>
        <p:nvCxnSpPr>
          <p:cNvPr id="4" name="Google Shape;197;p2"/>
          <p:cNvCxnSpPr/>
          <p:nvPr/>
        </p:nvCxnSpPr>
        <p:spPr>
          <a:xfrm>
            <a:off x="2018267" y="3155538"/>
            <a:ext cx="7125733" cy="0"/>
          </a:xfrm>
          <a:prstGeom prst="straightConnector1">
            <a:avLst/>
          </a:prstGeom>
          <a:noFill/>
          <a:ln w="12700" cap="flat" cmpd="sng">
            <a:solidFill>
              <a:srgbClr val="7F7F7F"/>
            </a:solidFill>
            <a:prstDash val="solid"/>
            <a:round/>
            <a:headEnd type="none" w="sm" len="sm"/>
            <a:tailEnd type="none" w="sm" len="sm"/>
          </a:ln>
        </p:spPr>
      </p:cxnSp>
      <p:sp>
        <p:nvSpPr>
          <p:cNvPr id="5" name="Google Shape;198;p2"/>
          <p:cNvSpPr/>
          <p:nvPr/>
        </p:nvSpPr>
        <p:spPr>
          <a:xfrm>
            <a:off x="3491880" y="2105561"/>
            <a:ext cx="1728192" cy="1323439"/>
          </a:xfrm>
          <a:prstGeom prst="rect">
            <a:avLst/>
          </a:prstGeom>
          <a:noFill/>
          <a:ln>
            <a:noFill/>
          </a:ln>
        </p:spPr>
        <p:txBody>
          <a:bodyPr spcFirstLastPara="1" wrap="square" lIns="91425" tIns="45700" rIns="91425" bIns="45700" anchor="b" anchorCtr="0">
            <a:spAutoFit/>
          </a:bodyPr>
          <a:lstStyle/>
          <a:p>
            <a:pPr marL="0" marR="0" lvl="0" indent="0" algn="l" rtl="0">
              <a:spcBef>
                <a:spcPts val="0"/>
              </a:spcBef>
              <a:spcAft>
                <a:spcPts val="0"/>
              </a:spcAft>
              <a:buNone/>
            </a:pPr>
            <a:r>
              <a:rPr lang="ja-JP" sz="8000" b="1" i="0" u="none" strike="noStrike" cap="none" dirty="0">
                <a:solidFill>
                  <a:schemeClr val="accent5">
                    <a:lumMod val="75000"/>
                  </a:schemeClr>
                </a:solidFill>
                <a:latin typeface="Meiryo UI" panose="020B0604030504040204" pitchFamily="50" charset="-128"/>
                <a:ea typeface="Meiryo UI" panose="020B0604030504040204" pitchFamily="50" charset="-128"/>
                <a:sym typeface="Arial"/>
              </a:rPr>
              <a:t>1</a:t>
            </a:r>
            <a:endParaRPr sz="8000" b="1" i="0" u="none" strike="noStrike" cap="none" dirty="0">
              <a:solidFill>
                <a:schemeClr val="accent5">
                  <a:lumMod val="75000"/>
                </a:schemeClr>
              </a:solidFill>
              <a:latin typeface="Meiryo UI" panose="020B0604030504040204" pitchFamily="50" charset="-128"/>
              <a:ea typeface="Meiryo UI" panose="020B0604030504040204" pitchFamily="50" charset="-128"/>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 name="Shape 203"/>
        <p:cNvGrpSpPr/>
        <p:nvPr/>
      </p:nvGrpSpPr>
      <p:grpSpPr>
        <a:xfrm>
          <a:off x="0" y="0"/>
          <a:ext cx="0" cy="0"/>
          <a:chOff x="0" y="0"/>
          <a:chExt cx="0" cy="0"/>
        </a:xfrm>
      </p:grpSpPr>
      <p:sp>
        <p:nvSpPr>
          <p:cNvPr id="3"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ltLang="en-US" b="1" dirty="0">
                <a:solidFill>
                  <a:srgbClr val="5A5A5A"/>
                </a:solidFill>
                <a:latin typeface="Meiryo UI" panose="020B0604030504040204" pitchFamily="50" charset="-128"/>
                <a:ea typeface="Meiryo UI" panose="020B0604030504040204" pitchFamily="50" charset="-128"/>
                <a:sym typeface="Arial"/>
              </a:rPr>
              <a:t>確認事項（譲渡条件）</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4"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5"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6" name="Google Shape;207;p3"/>
          <p:cNvGraphicFramePr/>
          <p:nvPr>
            <p:extLst>
              <p:ext uri="{D42A27DB-BD31-4B8C-83A1-F6EECF244321}">
                <p14:modId xmlns:p14="http://schemas.microsoft.com/office/powerpoint/2010/main" val="4168476943"/>
              </p:ext>
            </p:extLst>
          </p:nvPr>
        </p:nvGraphicFramePr>
        <p:xfrm>
          <a:off x="398462" y="839788"/>
          <a:ext cx="8352650" cy="569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70000">
                <a:tc>
                  <a:txBody>
                    <a:bodyPr/>
                    <a:lstStyle/>
                    <a:p>
                      <a:pPr marL="0" marR="0" lvl="0" indent="0" algn="ctr" rtl="0">
                        <a:buNone/>
                      </a:pPr>
                      <a:r>
                        <a:rPr lang="ja-JP" sz="1400" b="1" u="none" strike="noStrike" cap="none" dirty="0">
                          <a:solidFill>
                            <a:schemeClr val="lt1"/>
                          </a:solidFill>
                          <a:latin typeface="Meiryo UI" panose="020B0604030504040204" pitchFamily="50" charset="-128"/>
                          <a:ea typeface="Meiryo UI" panose="020B0604030504040204" pitchFamily="50" charset="-128"/>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u="none" strike="noStrike" cap="none" dirty="0">
                          <a:solidFill>
                            <a:schemeClr val="lt1"/>
                          </a:solidFill>
                          <a:latin typeface="Meiryo UI" panose="020B0604030504040204" pitchFamily="50" charset="-128"/>
                          <a:ea typeface="Meiryo UI" panose="020B0604030504040204" pitchFamily="50" charset="-128"/>
                        </a:rPr>
                        <a:t>項目</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u="none" strike="noStrike" cap="none" dirty="0">
                          <a:solidFill>
                            <a:schemeClr val="lt1"/>
                          </a:solidFill>
                          <a:latin typeface="Meiryo UI" panose="020B0604030504040204" pitchFamily="50" charset="-128"/>
                          <a:ea typeface="Meiryo UI" panose="020B0604030504040204" pitchFamily="50" charset="-128"/>
                        </a:rPr>
                        <a:t>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altLang="en-US" sz="1400" b="1" u="none" strike="noStrike" cap="none" dirty="0">
                          <a:solidFill>
                            <a:schemeClr val="lt1"/>
                          </a:solidFill>
                          <a:latin typeface="Meiryo UI" panose="020B0604030504040204" pitchFamily="50" charset="-128"/>
                          <a:ea typeface="Meiryo UI" panose="020B0604030504040204" pitchFamily="50" charset="-128"/>
                        </a:rPr>
                        <a:t>確認状況</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760000">
                <a:tc>
                  <a:txBody>
                    <a:bodyPr/>
                    <a:lstStyle/>
                    <a:p>
                      <a:pPr marL="0" marR="0" lvl="0" indent="0" algn="ctr" rtl="0">
                        <a:buNone/>
                      </a:pPr>
                      <a:r>
                        <a:rPr lang="ja-JP" sz="1500" b="0" u="none" strike="noStrike" cap="none"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sz="1200" b="0" u="none" strike="noStrike" cap="none" dirty="0">
                          <a:solidFill>
                            <a:schemeClr val="dk1"/>
                          </a:solidFill>
                          <a:latin typeface="Meiryo UI" panose="020B0604030504040204" pitchFamily="50" charset="-128"/>
                          <a:ea typeface="Meiryo UI" panose="020B0604030504040204" pitchFamily="50" charset="-128"/>
                        </a:rPr>
                        <a:t>譲渡スキーム</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株式会社鳥塚の株式100％を譲渡（発行済200株：鳥塚康弘氏150株／兼子貴絵氏50株）。</a:t>
                      </a:r>
                    </a:p>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※株式譲渡制限あり（株主総会承認）。令和8年7月より株券不発行化。</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ja-JP" sz="15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確認済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chemeClr val="tx2">
                        <a:lumMod val="90000"/>
                      </a:schemeClr>
                    </a:solidFill>
                  </a:tcPr>
                </a:tc>
                <a:extLst>
                  <a:ext uri="{0D108BD9-81ED-4DB2-BD59-A6C34878D82A}">
                    <a16:rowId xmlns:a16="http://schemas.microsoft.com/office/drawing/2014/main" val="10001"/>
                  </a:ext>
                </a:extLst>
              </a:tr>
              <a:tr h="760000">
                <a:tc>
                  <a:txBody>
                    <a:bodyPr/>
                    <a:lstStyle/>
                    <a:p>
                      <a:pPr marL="0" marR="0" lvl="0" indent="0" algn="ctr" rtl="0">
                        <a:buNone/>
                      </a:pPr>
                      <a:r>
                        <a:rPr lang="ja-JP" sz="1500" b="0" u="none" strike="noStrike" cap="none"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u="none" strike="noStrike" cap="none" dirty="0">
                          <a:solidFill>
                            <a:schemeClr val="dk1"/>
                          </a:solidFill>
                          <a:latin typeface="Meiryo UI" panose="020B0604030504040204" pitchFamily="50" charset="-128"/>
                          <a:ea typeface="Meiryo UI" panose="020B0604030504040204" pitchFamily="50" charset="-128"/>
                        </a:rPr>
                        <a:t>譲渡対象事業</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en-US" altLang="ja-JP" sz="1050" b="0" u="none" strike="noStrike" cap="none" dirty="0">
                          <a:solidFill>
                            <a:schemeClr val="dk1"/>
                          </a:solidFill>
                          <a:latin typeface="Meiryo UI" panose="020B0604030504040204" pitchFamily="50" charset="-128"/>
                          <a:ea typeface="Meiryo UI" panose="020B0604030504040204" pitchFamily="50" charset="-128"/>
                        </a:rPr>
                        <a:t>対象会社の全事業（鮎の採卵・種苗生産・養殖・出荷／人工種苗の生産販売）。</a:t>
                      </a:r>
                    </a:p>
                    <a:p>
                      <a:pPr marL="0" marR="0" lvl="0" indent="0" algn="l" rtl="0">
                        <a:buClr>
                          <a:srgbClr val="66A09A"/>
                        </a:buClr>
                        <a:buSzPts val="1120"/>
                        <a:buFont typeface="Arial"/>
                        <a:buNone/>
                      </a:pPr>
                      <a:r>
                        <a:rPr lang="en-US" altLang="ja-JP" sz="1050" b="0" u="none" strike="noStrike" cap="none" dirty="0">
                          <a:solidFill>
                            <a:schemeClr val="dk1"/>
                          </a:solidFill>
                          <a:latin typeface="Meiryo UI" panose="020B0604030504040204" pitchFamily="50" charset="-128"/>
                          <a:ea typeface="Meiryo UI" panose="020B0604030504040204" pitchFamily="50" charset="-128"/>
                        </a:rPr>
                        <a:t>※水産加工事業は2017年頃より休止中（加工場・設備は残存）。</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確認済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chemeClr val="tx2">
                        <a:lumMod val="90000"/>
                      </a:schemeClr>
                    </a:solidFill>
                  </a:tcPr>
                </a:tc>
                <a:extLst>
                  <a:ext uri="{0D108BD9-81ED-4DB2-BD59-A6C34878D82A}">
                    <a16:rowId xmlns:a16="http://schemas.microsoft.com/office/drawing/2014/main" val="10002"/>
                  </a:ext>
                </a:extLst>
              </a:tr>
              <a:tr h="760000">
                <a:tc>
                  <a:txBody>
                    <a:bodyPr/>
                    <a:lstStyle/>
                    <a:p>
                      <a:pPr marL="0" marR="0" lvl="0" indent="0" algn="ctr" rtl="0">
                        <a:buNone/>
                      </a:pPr>
                      <a:r>
                        <a:rPr lang="ja-JP" sz="1500" b="0" u="none" strike="noStrike" cap="none"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u="none" strike="noStrike" cap="none" dirty="0">
                          <a:solidFill>
                            <a:schemeClr val="dk1"/>
                          </a:solidFill>
                          <a:latin typeface="Meiryo UI" panose="020B0604030504040204" pitchFamily="50" charset="-128"/>
                          <a:ea typeface="Meiryo UI" panose="020B0604030504040204" pitchFamily="50" charset="-128"/>
                        </a:rPr>
                        <a:t>金額面の条件</a:t>
                      </a:r>
                    </a:p>
                    <a:p>
                      <a:pPr marL="0" marR="0" lvl="0" indent="0" algn="ctr" rtl="0">
                        <a:buNone/>
                      </a:pPr>
                      <a:r>
                        <a:rPr lang="ja-JP" altLang="en-US" sz="1200" b="0" u="none" strike="noStrike" cap="none" dirty="0">
                          <a:solidFill>
                            <a:schemeClr val="dk1"/>
                          </a:solidFill>
                          <a:latin typeface="Meiryo UI" panose="020B0604030504040204" pitchFamily="50" charset="-128"/>
                          <a:ea typeface="Meiryo UI" panose="020B0604030504040204" pitchFamily="50" charset="-128"/>
                        </a:rPr>
                        <a:t>（譲渡対価）</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・売主様希望価格：応相談</a:t>
                      </a:r>
                    </a:p>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※25/9期 売上高254,426千円・調整後EBITDA△13,763千円（3期平均約5,504千円）</a:t>
                      </a:r>
                    </a:p>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※25/9期 簿価純資産△20,912千円・時価純資産△23,594千円（5頁参照）</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760000">
                <a:tc>
                  <a:txBody>
                    <a:bodyPr/>
                    <a:lstStyle/>
                    <a:p>
                      <a:pPr marL="0" marR="0" lvl="0" indent="0" algn="ctr" rtl="0">
                        <a:buNone/>
                      </a:pPr>
                      <a:r>
                        <a:rPr lang="ja-JP" sz="1500" b="0" u="none" strike="noStrike" cap="none"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u="none" strike="noStrike" cap="none" dirty="0">
                          <a:solidFill>
                            <a:schemeClr val="dk1"/>
                          </a:solidFill>
                          <a:latin typeface="Meiryo UI" panose="020B0604030504040204" pitchFamily="50" charset="-128"/>
                          <a:ea typeface="Meiryo UI" panose="020B0604030504040204" pitchFamily="50" charset="-128"/>
                        </a:rPr>
                        <a:t>事業用不動産</a:t>
                      </a:r>
                    </a:p>
                    <a:p>
                      <a:pPr marL="0" marR="0" lvl="0" indent="0" algn="ctr" rtl="0">
                        <a:buNone/>
                      </a:pPr>
                      <a:r>
                        <a:rPr lang="ja-JP" altLang="en-US" sz="1200" b="0" u="none" strike="noStrike" cap="none" dirty="0">
                          <a:solidFill>
                            <a:schemeClr val="dk1"/>
                          </a:solidFill>
                          <a:latin typeface="Meiryo UI" panose="020B0604030504040204" pitchFamily="50" charset="-128"/>
                          <a:ea typeface="Meiryo UI" panose="020B0604030504040204" pitchFamily="50" charset="-128"/>
                        </a:rPr>
                        <a:t>（代表者個人名義）</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甲崎池・八坂池・新八坂池・湖北池・本社周辺の敷地（土地25筆・時価目安124,664千円）が代表者個人名義。</a:t>
                      </a:r>
                    </a:p>
                    <a:p>
                      <a:pPr marL="0" marR="0" lvl="0" indent="0" algn="l" rtl="0">
                        <a:buClr>
                          <a:srgbClr val="66A09A"/>
                        </a:buClr>
                        <a:buSzPts val="1120"/>
                        <a:buFont typeface="Arial"/>
                        <a:buNone/>
                      </a:pPr>
                      <a:r>
                        <a:rPr lang="ja-JP" altLang="en-US" sz="1050" b="0" u="none" strike="noStrike" cap="none" dirty="0">
                          <a:solidFill>
                            <a:schemeClr val="dk1"/>
                          </a:solidFill>
                          <a:latin typeface="Meiryo UI" panose="020B0604030504040204" pitchFamily="50" charset="-128"/>
                          <a:ea typeface="Meiryo UI" panose="020B0604030504040204" pitchFamily="50" charset="-128"/>
                        </a:rPr>
                        <a:t>→ 買取／賃貸借の取扱いは要協議（4頁参照）。</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ja-JP" sz="15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760000">
                <a:tc>
                  <a:txBody>
                    <a:bodyPr/>
                    <a:lstStyle/>
                    <a:p>
                      <a:pPr marL="0" marR="0" lvl="0" indent="0" algn="ctr" rtl="0">
                        <a:buNone/>
                      </a:pPr>
                      <a:r>
                        <a:rPr lang="en-US" sz="1500" b="0" u="none" strike="noStrike" cap="none"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sz="1200" b="0" u="none" strike="noStrike" cap="none" dirty="0">
                          <a:solidFill>
                            <a:schemeClr val="dk1"/>
                          </a:solidFill>
                          <a:latin typeface="Meiryo UI" panose="020B0604030504040204" pitchFamily="50" charset="-128"/>
                          <a:ea typeface="Meiryo UI" panose="020B0604030504040204" pitchFamily="50" charset="-128"/>
                        </a:rPr>
                        <a:t>役員の処遇</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buClr>
                          <a:srgbClr val="66A09A"/>
                        </a:buClr>
                        <a:buSzPts val="1120"/>
                        <a:buFont typeface="Arial"/>
                        <a:buNone/>
                      </a:pPr>
                      <a:r>
                        <a:rPr lang="ja-JP" sz="1050" b="0" u="none" strike="noStrike" cap="none" dirty="0">
                          <a:solidFill>
                            <a:schemeClr val="dk1"/>
                          </a:solidFill>
                          <a:latin typeface="Meiryo UI" panose="020B0604030504040204" pitchFamily="50" charset="-128"/>
                          <a:ea typeface="Meiryo UI" panose="020B0604030504040204" pitchFamily="50" charset="-128"/>
                        </a:rPr>
                        <a:t>・鳥塚社長・兼子副社長は譲渡後も継続勤務（期間・役職・報酬は要協議）</a:t>
                      </a:r>
                    </a:p>
                    <a:p>
                      <a:pPr marL="0" marR="0" lvl="0" indent="0" algn="l" rtl="0">
                        <a:buClr>
                          <a:srgbClr val="66A09A"/>
                        </a:buClr>
                        <a:buSzPts val="1120"/>
                        <a:buFont typeface="Arial"/>
                        <a:buNone/>
                      </a:pPr>
                      <a:r>
                        <a:rPr lang="ja-JP" sz="1050" b="0" u="none" strike="noStrike" cap="none" dirty="0">
                          <a:solidFill>
                            <a:schemeClr val="dk1"/>
                          </a:solidFill>
                          <a:latin typeface="Meiryo UI" panose="020B0604030504040204" pitchFamily="50" charset="-128"/>
                          <a:ea typeface="Meiryo UI" panose="020B0604030504040204" pitchFamily="50" charset="-128"/>
                        </a:rPr>
                        <a:t>・鳥塚あゆち氏（監査役・業務関与なし）は譲渡後に退任予定</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76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従業員の雇用</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chemeClr val="dk1"/>
                        </a:buClr>
                        <a:buSzPts val="1400"/>
                        <a:buFont typeface="Arial"/>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正社員10名・アルバイト3名（2026年7月時点）。株式譲渡のため雇用契約は包括承継。</a:t>
                      </a:r>
                    </a:p>
                    <a:p>
                      <a:pPr marL="0" marR="0" lvl="0" indent="0" algn="l" rtl="0">
                        <a:lnSpc>
                          <a:spcPct val="100000"/>
                        </a:lnSpc>
                        <a:buClr>
                          <a:schemeClr val="dk1"/>
                        </a:buClr>
                        <a:buSzPts val="1400"/>
                        <a:buFont typeface="Arial"/>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※現行水準以上での継続雇用が譲渡の付帯条件。</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確認済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chemeClr val="tx2">
                        <a:lumMod val="90000"/>
                      </a:schemeClr>
                    </a:solidFill>
                  </a:tcPr>
                </a:tc>
                <a:extLst>
                  <a:ext uri="{0D108BD9-81ED-4DB2-BD59-A6C34878D82A}">
                    <a16:rowId xmlns:a16="http://schemas.microsoft.com/office/drawing/2014/main" val="10006"/>
                  </a:ext>
                </a:extLst>
              </a:tr>
              <a:tr h="76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7</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役員借入金の返済・</a:t>
                      </a:r>
                    </a:p>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連帯保証の解除</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chemeClr val="dk1"/>
                        </a:buClr>
                        <a:buSzPts val="1400"/>
                        <a:buFont typeface="Arial"/>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・役員借入金31,300千円（社長14,000千円・副社長17,300千円）の返済</a:t>
                      </a:r>
                    </a:p>
                    <a:p>
                      <a:pPr marL="0" marR="0" lvl="0" indent="0" algn="l" rtl="0">
                        <a:lnSpc>
                          <a:spcPct val="100000"/>
                        </a:lnSpc>
                        <a:buClr>
                          <a:schemeClr val="dk1"/>
                        </a:buClr>
                        <a:buSzPts val="1400"/>
                        <a:buFont typeface="Arial"/>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・金融機関借入金212,425千円に係る代表者の連帯保証（保証内容は要確認）及び個人名義不動産の担保提供の解除</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prstClr val="black"/>
                        </a:buClr>
                        <a:buSzPts val="1600"/>
                        <a:buFont typeface="Arial"/>
                        <a:buNone/>
                        <a:tabLst/>
                        <a:defRPr/>
                      </a:pPr>
                      <a:r>
                        <a:rPr kumimoji="0" lang="ja-JP" altLang="en-US" sz="15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rPr>
                        <a:t>要対応</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7"/>
                  </a:ext>
                </a:extLst>
              </a:tr>
            </a:tbl>
          </a:graphicData>
        </a:graphic>
      </p:graphicFrame>
      <p:sp>
        <p:nvSpPr>
          <p:cNvPr id="7" name="Google Shape;208;p3"/>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【記載時の留意事項】</a:t>
            </a:r>
            <a:endParaRPr dirty="0"/>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１．譲渡スキームについて、株式譲渡の際は株券発行の有無（謄本確認）、株券発行の場合、印刷しているか（インタビュー）を確認し、株券不発行会社（株券廃止手続）にするかも確認。</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　</a:t>
            </a:r>
            <a:r>
              <a:rPr lang="ja-JP" sz="1200" b="0" i="0" u="none" strike="noStrike" cap="none" dirty="0">
                <a:solidFill>
                  <a:srgbClr val="FF0000"/>
                </a:solidFill>
                <a:latin typeface="Arial"/>
                <a:ea typeface="Arial"/>
                <a:cs typeface="Arial"/>
                <a:sym typeface="Arial"/>
              </a:rPr>
              <a:t>会社分割や事業譲渡の場合、譲渡対象やスケジュール感</a:t>
            </a:r>
            <a:r>
              <a:rPr lang="ja-JP" sz="1200" b="0" i="0" u="none" strike="noStrike" cap="none" dirty="0">
                <a:solidFill>
                  <a:schemeClr val="dk1"/>
                </a:solidFill>
                <a:latin typeface="Arial"/>
                <a:ea typeface="Arial"/>
                <a:cs typeface="Arial"/>
                <a:sym typeface="Arial"/>
              </a:rPr>
              <a:t>を固めること。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２．譲渡比率が一部譲渡の際は、譲渡しない株主が論点にならないか等を確認ください。</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３．金額面の条件について、希望株価をここでは記載するが、</a:t>
            </a:r>
            <a:r>
              <a:rPr lang="ja-JP" sz="1200" b="0" i="0" u="none" strike="noStrike" cap="none" dirty="0">
                <a:solidFill>
                  <a:srgbClr val="FF0000"/>
                </a:solidFill>
                <a:latin typeface="Arial"/>
                <a:ea typeface="Arial"/>
                <a:cs typeface="Arial"/>
                <a:sym typeface="Arial"/>
              </a:rPr>
              <a:t>最低応諾価格は把握しておくこと。希望株価はいつの時点の決算かを把握し、今期決算をどこまで織り込むか</a:t>
            </a:r>
            <a:r>
              <a:rPr lang="ja-JP" sz="1200" b="0" i="0" u="none" strike="noStrike" cap="none" dirty="0">
                <a:solidFill>
                  <a:schemeClr val="dk1"/>
                </a:solidFill>
                <a:latin typeface="Arial"/>
                <a:ea typeface="Arial"/>
                <a:cs typeface="Arial"/>
                <a:sym typeface="Arial"/>
              </a:rPr>
              <a:t>も留意すること。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４．役員退職金について、一般的に、</a:t>
            </a:r>
            <a:r>
              <a:rPr lang="ja-JP" sz="1200" b="0" i="0" u="none" strike="noStrike" cap="none" dirty="0">
                <a:solidFill>
                  <a:srgbClr val="FF0000"/>
                </a:solidFill>
                <a:latin typeface="Arial"/>
                <a:ea typeface="Arial"/>
                <a:cs typeface="Arial"/>
                <a:sym typeface="Arial"/>
              </a:rPr>
              <a:t>売り手は手取最大化、買い手は損金限度額まで支給したいニーズがあり、両者のニーズが合致しないので、気を付ける。</a:t>
            </a:r>
            <a:r>
              <a:rPr lang="ja-JP" sz="1200" b="0" i="0" u="none" strike="noStrike" cap="none" dirty="0">
                <a:solidFill>
                  <a:schemeClr val="dk1"/>
                </a:solidFill>
                <a:latin typeface="Arial"/>
                <a:ea typeface="Arial"/>
                <a:cs typeface="Arial"/>
                <a:sym typeface="Arial"/>
              </a:rPr>
              <a:t>また、対象企業で原資があるかどうか、エスクロー実施するかどうかも確認する。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５． ６．役員借入金（対象会社がオーナーから借りている借入金）/貸付金（対象会社からオーナーへ貸付している貸付金）は金額が大きく変動することもあり、常に更新する。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７．社長の引継ぎ条件については、条件は当然として、</a:t>
            </a:r>
            <a:r>
              <a:rPr lang="ja-JP" sz="1200" b="0" i="0" u="none" strike="noStrike" cap="none" dirty="0">
                <a:solidFill>
                  <a:srgbClr val="FF0000"/>
                </a:solidFill>
                <a:latin typeface="Arial"/>
                <a:ea typeface="Arial"/>
                <a:cs typeface="Arial"/>
                <a:sym typeface="Arial"/>
              </a:rPr>
              <a:t>社長の業務（経営判断・営業・経理等）を把握し、人材を派遣する必要があるのか？社内からの昇格を行うのか？</a:t>
            </a:r>
            <a:r>
              <a:rPr lang="ja-JP" sz="1200" b="0" i="0" u="none" strike="noStrike" cap="none" dirty="0">
                <a:solidFill>
                  <a:schemeClr val="dk1"/>
                </a:solidFill>
                <a:latin typeface="Arial"/>
                <a:ea typeface="Arial"/>
                <a:cs typeface="Arial"/>
                <a:sym typeface="Arial"/>
              </a:rPr>
              <a:t>なども確認する。</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 name="Shape 213"/>
        <p:cNvGrpSpPr/>
        <p:nvPr/>
      </p:nvGrpSpPr>
      <p:grpSpPr>
        <a:xfrm>
          <a:off x="0" y="0"/>
          <a:ext cx="0" cy="0"/>
          <a:chOff x="0" y="0"/>
          <a:chExt cx="0" cy="0"/>
        </a:xfrm>
      </p:grpSpPr>
      <p:sp>
        <p:nvSpPr>
          <p:cNvPr id="3"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ltLang="en-US" dirty="0">
                <a:solidFill>
                  <a:srgbClr val="5A5A5A"/>
                </a:solidFill>
                <a:latin typeface="Meiryo UI" panose="020B0604030504040204" pitchFamily="50" charset="-128"/>
                <a:ea typeface="Meiryo UI" panose="020B0604030504040204" pitchFamily="50" charset="-128"/>
              </a:rPr>
              <a:t>確認事項・要対応事項</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4"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5"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6" name="Google Shape;217;p4"/>
          <p:cNvGraphicFramePr/>
          <p:nvPr>
            <p:extLst>
              <p:ext uri="{D42A27DB-BD31-4B8C-83A1-F6EECF244321}">
                <p14:modId xmlns:p14="http://schemas.microsoft.com/office/powerpoint/2010/main" val="2032783406"/>
              </p:ext>
            </p:extLst>
          </p:nvPr>
        </p:nvGraphicFramePr>
        <p:xfrm>
          <a:off x="398462" y="838712"/>
          <a:ext cx="8352650" cy="5365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項目</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協議状況</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715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継続勤務の詳細条件</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00" b="0" dirty="0">
                          <a:solidFill>
                            <a:schemeClr val="dk1"/>
                          </a:solidFill>
                          <a:latin typeface="Meiryo UI" panose="020B0604030504040204" pitchFamily="50" charset="-128"/>
                          <a:ea typeface="Meiryo UI" panose="020B0604030504040204" pitchFamily="50" charset="-128"/>
                        </a:rPr>
                        <a:t>鳥塚社長・兼子副社長の継続勤務期間・役職・報酬（25/9期：社長4,200千円・副社長3,000千円、2025年10月より減額中）を協議。</a:t>
                      </a:r>
                    </a:p>
                    <a:p>
                      <a:pPr marL="0" marR="0" lvl="0" indent="0" algn="l" rtl="0">
                        <a:lnSpc>
                          <a:spcPct val="100000"/>
                        </a:lnSpc>
                        <a:buClr>
                          <a:srgbClr val="66A09A"/>
                        </a:buClr>
                        <a:buSzPts val="1120"/>
                        <a:buFont typeface="Arial"/>
                        <a:buNone/>
                      </a:pPr>
                      <a:r>
                        <a:rPr lang="ja-JP" altLang="en-US" sz="1000" b="0" dirty="0">
                          <a:solidFill>
                            <a:schemeClr val="dk1"/>
                          </a:solidFill>
                          <a:latin typeface="Meiryo UI" panose="020B0604030504040204" pitchFamily="50" charset="-128"/>
                          <a:ea typeface="Meiryo UI" panose="020B0604030504040204" pitchFamily="50" charset="-128"/>
                        </a:rPr>
                        <a:t>→ 兼子雅和氏（取締役統括部長・使用人兼務）の処遇も確認。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altLang="en-US"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715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許認可の継続</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00" b="0" dirty="0">
                          <a:solidFill>
                            <a:schemeClr val="dk1"/>
                          </a:solidFill>
                          <a:latin typeface="Meiryo UI" panose="020B0604030504040204" pitchFamily="50" charset="-128"/>
                          <a:ea typeface="Meiryo UI" panose="020B0604030504040204" pitchFamily="50" charset="-128"/>
                        </a:rPr>
                        <a:t>河川占用許可（琵琶湖からの取水等）・漁業免許（第一種区画漁業）。株式譲渡のため許認可の主体は変わらない。</a:t>
                      </a:r>
                    </a:p>
                    <a:p>
                      <a:pPr marL="0" marR="0" lvl="0" indent="0" algn="l" rtl="0">
                        <a:lnSpc>
                          <a:spcPct val="100000"/>
                        </a:lnSpc>
                        <a:buClr>
                          <a:srgbClr val="66A09A"/>
                        </a:buClr>
                        <a:buSzPts val="1120"/>
                        <a:buFont typeface="Arial"/>
                        <a:buNone/>
                      </a:pPr>
                      <a:r>
                        <a:rPr lang="ja-JP" altLang="en-US" sz="1000" b="0" dirty="0">
                          <a:solidFill>
                            <a:schemeClr val="dk1"/>
                          </a:solidFill>
                          <a:latin typeface="Meiryo UI" panose="020B0604030504040204" pitchFamily="50" charset="-128"/>
                          <a:ea typeface="Meiryo UI" panose="020B0604030504040204" pitchFamily="50" charset="-128"/>
                        </a:rPr>
                        <a:t>→ 役員変更時の届出・行政への事前説明の要否を確認予定。</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715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借地契約・</a:t>
                      </a:r>
                    </a:p>
                    <a:p>
                      <a:pPr marL="0" marR="0" lvl="0" indent="0" algn="ctr" rtl="0">
                        <a:buNone/>
                      </a:pPr>
                      <a:r>
                        <a:rPr lang="ja-JP" altLang="en-US" sz="1200" b="0" dirty="0">
                          <a:latin typeface="Meiryo UI" panose="020B0604030504040204" pitchFamily="50" charset="-128"/>
                          <a:ea typeface="Meiryo UI" panose="020B0604030504040204" pitchFamily="50" charset="-128"/>
                        </a:rPr>
                        <a:t>差入保証金</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en-US" altLang="ja-JP" sz="1000" b="0" dirty="0" err="1">
                          <a:solidFill>
                            <a:schemeClr val="dk1"/>
                          </a:solidFill>
                          <a:latin typeface="Meiryo UI" panose="020B0604030504040204" pitchFamily="50" charset="-128"/>
                          <a:ea typeface="Meiryo UI" panose="020B0604030504040204" pitchFamily="50" charset="-128"/>
                          <a:cs typeface="Arial"/>
                          <a:sym typeface="Arial"/>
                        </a:rPr>
                        <a:t>愛知分場（渥美養魚㈱・年額2,000千円）、尾上池（尾上自治会・年額200千円、譲渡・転貸禁止）。</a:t>
                      </a:r>
                    </a:p>
                    <a:p>
                      <a:pPr marL="139700" marR="0" lvl="0" indent="-139700" algn="l" rtl="0">
                        <a:lnSpc>
                          <a:spcPct val="100000"/>
                        </a:lnSpc>
                        <a:buClr>
                          <a:srgbClr val="66A09A"/>
                        </a:buClr>
                        <a:buSzPts val="1120"/>
                        <a:buFont typeface="Noto Sans Symbols"/>
                        <a:buNone/>
                      </a:pPr>
                      <a:r>
                        <a:rPr lang="en-US" altLang="ja-JP" sz="1000" b="0" dirty="0" err="1">
                          <a:solidFill>
                            <a:schemeClr val="dk1"/>
                          </a:solidFill>
                          <a:latin typeface="Meiryo UI" panose="020B0604030504040204" pitchFamily="50" charset="-128"/>
                          <a:ea typeface="Meiryo UI" panose="020B0604030504040204" pitchFamily="50" charset="-128"/>
                          <a:cs typeface="Arial"/>
                          <a:sym typeface="Arial"/>
                        </a:rPr>
                        <a:t>→ COC条項・事前承諾の要否、差入保証金33,624千円（うち渥美養魚㈱32,724千円）の性質・返還条件を確認予定。</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715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回収困難債権の</a:t>
                      </a:r>
                    </a:p>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取扱い</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rPr>
                        <a:t>短期貸付金3,704千円（うち3,600千円回収困難）・未収入金2,616千円（回収困難）。</a:t>
                      </a:r>
                    </a:p>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rPr>
                        <a:t>→ 譲渡前の償却／個人での買取など処理方針を協議。</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715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非稼働・非事業資産</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cs typeface="Arial"/>
                          <a:sym typeface="Arial"/>
                        </a:rPr>
                        <a:t>綾池（宮崎・停止中）・尾上池（停止中）・休業中の料亭建物・岩出（和歌山・賃貸中、2026年9月30日満了）・投資有価証券等。</a:t>
                      </a:r>
                      <a:endParaRPr lang="en-US" altLang="ja-JP" sz="1100" b="0" dirty="0">
                        <a:solidFill>
                          <a:schemeClr val="dk1"/>
                        </a:solidFill>
                        <a:latin typeface="Meiryo UI" panose="020B0604030504040204" pitchFamily="50" charset="-128"/>
                        <a:ea typeface="Meiryo UI" panose="020B0604030504040204" pitchFamily="50" charset="-128"/>
                        <a:cs typeface="Arial"/>
                        <a:sym typeface="Arial"/>
                      </a:endParaRPr>
                    </a:p>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cs typeface="Arial"/>
                          <a:sym typeface="Arial"/>
                        </a:rPr>
                        <a:t>→ 譲渡対象に含めるか、譲渡前に整理するかを協議。岩出の賃貸借の更新状況は確認予定。</a:t>
                      </a:r>
                      <a:endParaRPr lang="en-US" altLang="ja-JP" sz="1100" b="0" dirty="0">
                        <a:solidFill>
                          <a:schemeClr val="dk1"/>
                        </a:solidFill>
                        <a:latin typeface="Meiryo UI" panose="020B0604030504040204" pitchFamily="50" charset="-128"/>
                        <a:ea typeface="Meiryo UI" panose="020B0604030504040204" pitchFamily="50" charset="-128"/>
                        <a:cs typeface="Arial"/>
                        <a:sym typeface="Arial"/>
                      </a:endParaRP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715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en-US" altLang="ja-JP" sz="1200" b="0" dirty="0">
                          <a:solidFill>
                            <a:schemeClr val="dk1"/>
                          </a:solidFill>
                          <a:latin typeface="Meiryo UI" panose="020B0604030504040204" pitchFamily="50" charset="-128"/>
                          <a:ea typeface="Meiryo UI" panose="020B0604030504040204" pitchFamily="50" charset="-128"/>
                        </a:rPr>
                        <a:t>連帯保証・担保の解除</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rPr>
                        <a:t>長期借入金212,425千円（滋賀銀行・長浜信金・日本公庫・商工中金）に係る代表者の連帯保証及び個人名義不動産の担保を、譲渡後に解除をお願いしたい。</a:t>
                      </a:r>
                    </a:p>
                    <a:p>
                      <a:pPr marL="88900" marR="0" lvl="0" indent="-889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rPr>
                        <a:t>→ 保証差替え／借換えの方針を確認。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要対応</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6"/>
                  </a:ext>
                </a:extLst>
              </a:tr>
              <a:tr h="715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7</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M&amp;A後の</a:t>
                      </a:r>
                    </a:p>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引継期間・体制</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rPr>
                        <a:t>琵琶湖産天然鮎の集荷（代表者自ら漁師を巡回・交渉）は代表者に集中。本件は従業員へ未開示。</a:t>
                      </a:r>
                    </a:p>
                    <a:p>
                      <a:pPr marL="88900" marR="0" lvl="0" indent="-889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rPr>
                        <a:t>→ 引継範囲・期間、貴社からの役員派遣の要否、従業員への開示時期を協議。</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srgbClr val="252525"/>
                        </a:buClr>
                        <a:buSzPts val="1600"/>
                        <a:buFont typeface="Arial"/>
                        <a:buNone/>
                        <a:tabLst/>
                        <a:defRPr/>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7"/>
                  </a:ext>
                </a:extLst>
              </a:tr>
            </a:tbl>
          </a:graphicData>
        </a:graphic>
      </p:graphicFrame>
      <p:sp>
        <p:nvSpPr>
          <p:cNvPr id="7" name="Google Shape;218;p4"/>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８．社用車の引き取りについては、ディーラーからの見積もり等時価で評価し、買取か退職金で現物支給する。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９．社用車と同様に、時価で評価し、買取か退職金で現物支給する。 </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１０．不動産の取り扱いについて、不動産売買をするのか賃貸をするのか確認する。</a:t>
            </a:r>
            <a:r>
              <a:rPr lang="ja-JP" sz="1200" b="0" i="0" u="none" strike="noStrike" cap="none">
                <a:solidFill>
                  <a:srgbClr val="FF0000"/>
                </a:solidFill>
                <a:latin typeface="Arial"/>
                <a:ea typeface="Arial"/>
                <a:cs typeface="Arial"/>
                <a:sym typeface="Arial"/>
              </a:rPr>
              <a:t>オーナーが対象会社に賃貸している場合、賃料を安く設定していることが多く、M&amp;Aのタイミングで賃料を戻すこともあり、留意が必要。</a:t>
            </a:r>
            <a:r>
              <a:rPr lang="ja-JP" sz="1200" b="0" i="0" u="none" strike="noStrike" cap="none">
                <a:solidFill>
                  <a:schemeClr val="dk1"/>
                </a:solidFill>
                <a:latin typeface="Arial"/>
                <a:ea typeface="Arial"/>
                <a:cs typeface="Arial"/>
                <a:sym typeface="Arial"/>
              </a:rPr>
              <a:t>対象会社で所有している遊休地を買い取る（退職金として現物支給）ケースなども想定する。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１１．取締役・キーマンの継続勤務については、</a:t>
            </a:r>
            <a:r>
              <a:rPr lang="ja-JP" sz="1200" b="0" i="0" u="none" strike="noStrike" cap="none">
                <a:solidFill>
                  <a:srgbClr val="FF0000"/>
                </a:solidFill>
                <a:latin typeface="Arial"/>
                <a:ea typeface="Arial"/>
                <a:cs typeface="Arial"/>
                <a:sym typeface="Arial"/>
              </a:rPr>
              <a:t>本件M&amp;Aが開示が否かや非開示の場合、どのタイミングで開示をするかも確認</a:t>
            </a:r>
            <a:r>
              <a:rPr lang="ja-JP" sz="1200" b="0" i="0" u="none" strike="noStrike" cap="none">
                <a:solidFill>
                  <a:schemeClr val="dk1"/>
                </a:solidFill>
                <a:latin typeface="Arial"/>
                <a:ea typeface="Arial"/>
                <a:cs typeface="Arial"/>
                <a:sym typeface="Arial"/>
              </a:rPr>
              <a:t>する。また、</a:t>
            </a:r>
            <a:r>
              <a:rPr lang="ja-JP" sz="1200" b="0" i="0" u="none" strike="noStrike" cap="none">
                <a:solidFill>
                  <a:srgbClr val="FF0000"/>
                </a:solidFill>
                <a:latin typeface="Arial"/>
                <a:ea typeface="Arial"/>
                <a:cs typeface="Arial"/>
                <a:sym typeface="Arial"/>
              </a:rPr>
              <a:t>業務内容をしっかりと認識し、</a:t>
            </a:r>
            <a:r>
              <a:rPr lang="ja-JP" sz="1200" b="0" i="0" u="none" strike="noStrike" cap="none">
                <a:solidFill>
                  <a:schemeClr val="dk1"/>
                </a:solidFill>
                <a:latin typeface="Arial"/>
                <a:ea typeface="Arial"/>
                <a:cs typeface="Arial"/>
                <a:sym typeface="Arial"/>
              </a:rPr>
              <a:t>退職リスクも確認する。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１２．従業員の継続雇用は基本条件とはなる。一般的には1年間か当面の間（実質は1年）。</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１３．オーナー社長が差し入れする連帯保証の解除と個人資産の担保解除は必須条件。</a:t>
            </a:r>
            <a:r>
              <a:rPr lang="ja-JP" sz="1200" b="0" i="0" u="none" strike="noStrike" cap="none">
                <a:solidFill>
                  <a:srgbClr val="FF0000"/>
                </a:solidFill>
                <a:latin typeface="Arial"/>
                <a:ea typeface="Arial"/>
                <a:cs typeface="Arial"/>
                <a:sym typeface="Arial"/>
              </a:rPr>
              <a:t>個人資産の担保提供は必ず謄本等で確認</a:t>
            </a:r>
            <a:r>
              <a:rPr lang="ja-JP" sz="1200" b="0" i="0" u="none" strike="noStrike" cap="none">
                <a:solidFill>
                  <a:schemeClr val="dk1"/>
                </a:solidFill>
                <a:latin typeface="Arial"/>
                <a:ea typeface="Arial"/>
                <a:cs typeface="Arial"/>
                <a:sym typeface="Arial"/>
              </a:rPr>
              <a:t>する。</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 name="Shape 233"/>
        <p:cNvGrpSpPr/>
        <p:nvPr/>
      </p:nvGrpSpPr>
      <p:grpSpPr>
        <a:xfrm>
          <a:off x="0" y="0"/>
          <a:ext cx="0" cy="0"/>
          <a:chOff x="0" y="0"/>
          <a:chExt cx="0" cy="0"/>
        </a:xfrm>
      </p:grpSpPr>
      <p:sp>
        <p:nvSpPr>
          <p:cNvPr id="3" name="Google Shape;234;p6"/>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buNone/>
            </a:pPr>
            <a:r>
              <a:rPr lang="ja-JP">
                <a:latin typeface="Meiryo UI" panose="020B0604030504040204" pitchFamily="50" charset="-128"/>
                <a:ea typeface="Meiryo UI" panose="020B0604030504040204" pitchFamily="50" charset="-128"/>
              </a:rPr>
              <a:t>リスク事項（ネガティブ要素）に関する対応状況</a:t>
            </a:r>
          </a:p>
        </p:txBody>
      </p:sp>
      <p:sp>
        <p:nvSpPr>
          <p:cNvPr id="4" name="Google Shape;235;p6"/>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5" name="Google Shape;236;p6"/>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6" name="Google Shape;237;p6"/>
          <p:cNvGraphicFramePr/>
          <p:nvPr>
            <p:extLst>
              <p:ext uri="{D42A27DB-BD31-4B8C-83A1-F6EECF244321}">
                <p14:modId xmlns:p14="http://schemas.microsoft.com/office/powerpoint/2010/main" val="3403580983"/>
              </p:ext>
            </p:extLst>
          </p:nvPr>
        </p:nvGraphicFramePr>
        <p:xfrm>
          <a:off x="398711" y="838950"/>
          <a:ext cx="8352650" cy="528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リスク事項</a:t>
                      </a:r>
                    </a:p>
                  </a:txBody>
                  <a:tcPr marL="72000" marR="72000" marT="36000" marB="36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a:solidFill>
                            <a:schemeClr val="lt1"/>
                          </a:solidFill>
                          <a:latin typeface="Meiryo UI" panose="020B0604030504040204" pitchFamily="50" charset="-128"/>
                          <a:ea typeface="Meiryo UI" panose="020B0604030504040204" pitchFamily="50" charset="-128"/>
                          <a:cs typeface="Arial"/>
                          <a:sym typeface="Arial"/>
                        </a:rPr>
                        <a:t>内容</a:t>
                      </a:r>
                    </a:p>
                  </a:txBody>
                  <a:tcPr marL="72000" marR="72000" marT="36000" marB="36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状況</a:t>
                      </a:r>
                    </a:p>
                  </a:txBody>
                  <a:tcPr marL="72000" marR="72000" marT="36000" marB="36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820000">
                <a:tc>
                  <a:txBody>
                    <a:bodyPr/>
                    <a:lstStyle/>
                    <a:p>
                      <a:pPr marL="0" marR="0" lvl="0" indent="0" algn="ctr" rtl="0">
                        <a:lnSpc>
                          <a:spcPct val="100000"/>
                        </a:lnSpc>
                        <a:buClr>
                          <a:schemeClr val="dk1"/>
                        </a:buClr>
                        <a:buSzPts val="1500"/>
                        <a:buFont typeface="Arial"/>
                        <a:buNone/>
                      </a:pPr>
                      <a:r>
                        <a:rPr lang="ja-JP" sz="1500" b="0"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en-US" altLang="ja-JP" sz="1200" b="0" dirty="0">
                          <a:solidFill>
                            <a:schemeClr val="dk1"/>
                          </a:solidFill>
                          <a:latin typeface="Meiryo UI" panose="020B0604030504040204" pitchFamily="50" charset="-128"/>
                          <a:ea typeface="Meiryo UI" panose="020B0604030504040204" pitchFamily="50" charset="-128"/>
                        </a:rPr>
                        <a:t>業績動向・債務超過</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latin typeface="Meiryo UI" panose="020B0604030504040204" pitchFamily="50" charset="-128"/>
                          <a:ea typeface="Meiryo UI" panose="020B0604030504040204" pitchFamily="50" charset="-128"/>
                          <a:cs typeface="Arial"/>
                          <a:sym typeface="Arial"/>
                        </a:rPr>
                        <a:t>25/9期 売上高254,426千円（前期比86.4%）・営業損失△18,753千円・純資産△20,912千円。</a:t>
                      </a:r>
                    </a:p>
                    <a:p>
                      <a:pPr marL="139700" marR="0" lvl="0" indent="-139700" algn="l" rtl="0">
                        <a:lnSpc>
                          <a:spcPct val="100000"/>
                        </a:lnSpc>
                        <a:buClr>
                          <a:srgbClr val="66A09A"/>
                        </a:buClr>
                        <a:buSzPts val="1120"/>
                        <a:buFont typeface="Noto Sans Symbols"/>
                        <a:buNone/>
                      </a:pPr>
                      <a:r>
                        <a:rPr lang="ja-JP" altLang="en-US" sz="1050" b="0" dirty="0">
                          <a:latin typeface="Meiryo UI" panose="020B0604030504040204" pitchFamily="50" charset="-128"/>
                          <a:ea typeface="Meiryo UI" panose="020B0604030504040204" pitchFamily="50" charset="-128"/>
                          <a:cs typeface="Arial"/>
                          <a:sym typeface="Arial"/>
                        </a:rPr>
                        <a:t>→ 26/9期（2026年9月期）の決算見込み・月次推移を確認予定。</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a:solidFill>
                            <a:srgbClr val="252525"/>
                          </a:solidFill>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820000">
                <a:tc>
                  <a:txBody>
                    <a:bodyPr/>
                    <a:lstStyle/>
                    <a:p>
                      <a:pPr marL="0" marR="0" lvl="0" indent="0" algn="ctr" rtl="0">
                        <a:buNone/>
                      </a:pPr>
                      <a:r>
                        <a:rPr lang="ja-JP"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天然資源・</a:t>
                      </a:r>
                    </a:p>
                    <a:p>
                      <a:pPr marL="0" marR="0" lvl="0" indent="0" algn="ctr" rtl="0">
                        <a:buNone/>
                      </a:pPr>
                      <a:r>
                        <a:rPr lang="ja-JP" altLang="en-US" sz="1200" b="0" dirty="0">
                          <a:latin typeface="Meiryo UI" panose="020B0604030504040204" pitchFamily="50" charset="-128"/>
                          <a:ea typeface="Meiryo UI" panose="020B0604030504040204" pitchFamily="50" charset="-128"/>
                        </a:rPr>
                        <a:t>仕入価格への依存</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売上の70〜75%が琵琶湖産鮎由来。25/9期は歴史的不漁により種苗代が28,030→33,541千円に増加。</a:t>
                      </a:r>
                    </a:p>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 今季（12月仕入）の見通しと人工種苗比率の引上げ余地を確認予定。</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820000">
                <a:tc>
                  <a:txBody>
                    <a:bodyPr/>
                    <a:lstStyle/>
                    <a:p>
                      <a:pPr marL="0" marR="0" lvl="0" indent="0" algn="ctr" rtl="0">
                        <a:buNone/>
                      </a:pPr>
                      <a:r>
                        <a:rPr lang="ja-JP" sz="1500" b="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借入負担</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長期借入金212,425千円＋役員借入金31,300千円に対し、調整後EBITDAは3期平均約5,504千円。支払利息は年6,000〜7,000千円。</a:t>
                      </a:r>
                    </a:p>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 借換え・返済計画の検討が必要。</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要対応</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820000">
                <a:tc>
                  <a:txBody>
                    <a:bodyPr/>
                    <a:lstStyle/>
                    <a:p>
                      <a:pPr marL="0" marR="0" lvl="0" indent="0" algn="ctr" rtl="0">
                        <a:buNone/>
                      </a:pPr>
                      <a:r>
                        <a:rPr lang="ja-JP"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営業外収益への依存</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雑収入10,034〜17,279千円が経常利益を下支え（24/9期は債務免除益26,200千円を含む）。</a:t>
                      </a:r>
                    </a:p>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 雑収入の内訳（補助金等）と継続性を確認予定。</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820000">
                <a:tc>
                  <a:txBody>
                    <a:bodyPr/>
                    <a:lstStyle/>
                    <a:p>
                      <a:pPr marL="0" marR="0" lvl="0" indent="0" algn="ctr" rtl="0">
                        <a:buNone/>
                      </a:pPr>
                      <a:r>
                        <a:rPr lang="ja-JP"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属人性</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天然鮎の集荷数量・条件の交渉は代表者と漁師の関係性に依存。</a:t>
                      </a:r>
                    </a:p>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 継続勤務期間中の引継計画で手当て。</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要対応</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820000">
                <a:tc>
                  <a:txBody>
                    <a:bodyPr/>
                    <a:lstStyle/>
                    <a:p>
                      <a:pPr marL="0" marR="0" lvl="0" indent="0" algn="ctr" rtl="0">
                        <a:buNone/>
                      </a:pPr>
                      <a:r>
                        <a:rPr lang="ja-JP"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不動産の権利関係</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本社建物の相続登記手続中、新八坂池建物の未登記の可能性、綾池建物の課税状況不明、地目が田・畑の筆あり（農地法）。</a:t>
                      </a:r>
                    </a:p>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 個人名義不動産を含めDDで権利関係・境界等を確認。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6"/>
                  </a:ext>
                </a:extLst>
              </a:tr>
            </a:tbl>
          </a:graphicData>
        </a:graphic>
      </p:graphicFrame>
      <p:sp>
        <p:nvSpPr>
          <p:cNvPr id="7" name="Google Shape;238;p6"/>
          <p:cNvSpPr txBox="1"/>
          <p:nvPr/>
        </p:nvSpPr>
        <p:spPr>
          <a:xfrm>
            <a:off x="9252520" y="-55416"/>
            <a:ext cx="2736304" cy="6913416"/>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１．未開示の関係者への開示について、どのタイミングでどのように行うかを記載。</a:t>
            </a:r>
            <a:r>
              <a:rPr lang="ja-JP" sz="1200" b="0" i="0" u="none" strike="noStrike" cap="none">
                <a:solidFill>
                  <a:srgbClr val="FF0000"/>
                </a:solidFill>
                <a:latin typeface="Arial"/>
                <a:ea typeface="Arial"/>
                <a:cs typeface="Arial"/>
                <a:sym typeface="Arial"/>
              </a:rPr>
              <a:t>家族（特に、配偶者や創業者等の先代経営者、もしかしたら継ぐ可能性のある子ども）や重要な取引先、未開示の株主</a:t>
            </a:r>
            <a:r>
              <a:rPr lang="ja-JP" sz="1200" b="0" i="0" u="none" strike="noStrike" cap="none">
                <a:solidFill>
                  <a:schemeClr val="dk1"/>
                </a:solidFill>
                <a:latin typeface="Arial"/>
                <a:ea typeface="Arial"/>
                <a:cs typeface="Arial"/>
                <a:sym typeface="Arial"/>
              </a:rPr>
              <a:t>への開示は留意。</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２．株式の状況について、</a:t>
            </a:r>
            <a:r>
              <a:rPr lang="ja-JP" sz="1200" b="0" i="0" u="none" strike="noStrike" cap="none">
                <a:solidFill>
                  <a:srgbClr val="FF0000"/>
                </a:solidFill>
                <a:latin typeface="Arial"/>
                <a:ea typeface="Arial"/>
                <a:cs typeface="Arial"/>
                <a:sym typeface="Arial"/>
              </a:rPr>
              <a:t>反対するリスクのある株主がいるかを確認</a:t>
            </a:r>
            <a:r>
              <a:rPr lang="ja-JP" sz="1200" b="0" i="0" u="none" strike="noStrike" cap="none">
                <a:solidFill>
                  <a:schemeClr val="dk1"/>
                </a:solidFill>
                <a:latin typeface="Arial"/>
                <a:ea typeface="Arial"/>
                <a:cs typeface="Arial"/>
                <a:sym typeface="Arial"/>
              </a:rPr>
              <a:t>。所在不明株主や認知症の株主がいないかも確認。株券を過去に印刷したことがある場合、現物の所在をしっかりと追い、問題ないか確認。</a:t>
            </a:r>
            <a:r>
              <a:rPr lang="ja-JP" sz="1200" b="0" i="0" u="none" strike="noStrike" cap="none">
                <a:solidFill>
                  <a:srgbClr val="FF0000"/>
                </a:solidFill>
                <a:latin typeface="Arial"/>
                <a:ea typeface="Arial"/>
                <a:cs typeface="Arial"/>
                <a:sym typeface="Arial"/>
              </a:rPr>
              <a:t>名義株がある場合、本当に資金拠出の事実が無いかを確認し、名義株の場合、どうするかも確認</a:t>
            </a:r>
            <a:r>
              <a:rPr lang="ja-JP" sz="1200" b="0" i="0" u="none" strike="noStrike" cap="none">
                <a:solidFill>
                  <a:schemeClr val="dk1"/>
                </a:solidFill>
                <a:latin typeface="Arial"/>
                <a:ea typeface="Arial"/>
                <a:cs typeface="Arial"/>
                <a:sym typeface="Arial"/>
              </a:rPr>
              <a:t>（資金を出した株主にまとめるかそのまま売却するかなど。）。</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３．株式の変遷について、原始定款から現在までの変遷シート（エクセルでのフォーマットあり。）を作成する。把握できない場合、リスクの範囲を把握する。親族であれば、比較的リスクは低いものの、</a:t>
            </a:r>
            <a:r>
              <a:rPr lang="ja-JP" sz="1200" b="0" i="0" u="none" strike="noStrike" cap="none">
                <a:solidFill>
                  <a:srgbClr val="FF0000"/>
                </a:solidFill>
                <a:latin typeface="Arial"/>
                <a:ea typeface="Arial"/>
                <a:cs typeface="Arial"/>
                <a:sym typeface="Arial"/>
              </a:rPr>
              <a:t>外部株主（取引先・元役職員）は揉める</a:t>
            </a:r>
            <a:r>
              <a:rPr lang="ja-JP" sz="1200" b="0" i="0" u="none" strike="noStrike" cap="none">
                <a:solidFill>
                  <a:schemeClr val="dk1"/>
                </a:solidFill>
                <a:latin typeface="Arial"/>
                <a:ea typeface="Arial"/>
                <a:cs typeface="Arial"/>
                <a:sym typeface="Arial"/>
              </a:rPr>
              <a:t>ので留意。</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４．COC・主要取引先について、不動産の賃貸借契約や取引先・仕入先等の契約をチェックし、COCの有無を確認。契約上のCOCは無くても、主要先や賃貸人との関係性を考慮した対応を検討する。接待やリベート等も留意。</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５．不動産について、</a:t>
            </a:r>
            <a:r>
              <a:rPr lang="ja-JP" sz="1200" b="0" i="0" u="none" strike="noStrike" cap="none">
                <a:solidFill>
                  <a:srgbClr val="FF0000"/>
                </a:solidFill>
                <a:latin typeface="Arial"/>
                <a:ea typeface="Arial"/>
                <a:cs typeface="Arial"/>
                <a:sym typeface="Arial"/>
              </a:rPr>
              <a:t>違法建築・未登記物件・市街化調整区域内の建築・消防法違反・アスベストや土壌汚染等に留意する。土地の地目も留意（農地法の手続に1か月以上かかる場合もある）</a:t>
            </a:r>
            <a:r>
              <a:rPr lang="ja-JP" sz="1200" b="0" i="0" u="none" strike="noStrike" cap="none">
                <a:solidFill>
                  <a:schemeClr val="dk1"/>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６．訴訟・トラブルについて、簿外負債、業務上の死亡事故、横領、顧客とのトラブル（特にネット販売等）などを確認。代表者等の個人の訴訟有無も確認。</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 name="Shape 213"/>
        <p:cNvGrpSpPr/>
        <p:nvPr/>
      </p:nvGrpSpPr>
      <p:grpSpPr>
        <a:xfrm>
          <a:off x="0" y="0"/>
          <a:ext cx="0" cy="0"/>
          <a:chOff x="0" y="0"/>
          <a:chExt cx="0" cy="0"/>
        </a:xfrm>
      </p:grpSpPr>
      <p:sp>
        <p:nvSpPr>
          <p:cNvPr id="3"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buNone/>
            </a:pPr>
            <a:r>
              <a:rPr lang="ja-JP" altLang="en-US" dirty="0">
                <a:solidFill>
                  <a:srgbClr val="5A5A5A"/>
                </a:solidFill>
                <a:latin typeface="Meiryo UI" panose="020B0604030504040204" pitchFamily="50" charset="-128"/>
                <a:ea typeface="Meiryo UI" panose="020B0604030504040204" pitchFamily="50" charset="-128"/>
              </a:rPr>
              <a:t>貴社が想定されるシナジー（仮説）</a:t>
            </a:r>
          </a:p>
        </p:txBody>
      </p:sp>
      <p:sp>
        <p:nvSpPr>
          <p:cNvPr id="4"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5"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6" name="Google Shape;217;p4"/>
          <p:cNvGraphicFramePr/>
          <p:nvPr>
            <p:extLst>
              <p:ext uri="{D42A27DB-BD31-4B8C-83A1-F6EECF244321}">
                <p14:modId xmlns:p14="http://schemas.microsoft.com/office/powerpoint/2010/main" val="1048620396"/>
              </p:ext>
            </p:extLst>
          </p:nvPr>
        </p:nvGraphicFramePr>
        <p:xfrm>
          <a:off x="398462" y="838712"/>
          <a:ext cx="8352650" cy="516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想定シナジー</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内容（仮説）／確認したい内容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重要度</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80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生産性の改善</a:t>
                      </a:r>
                    </a:p>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（Sakana Edge導入）</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00" b="0" dirty="0">
                          <a:solidFill>
                            <a:schemeClr val="dk1"/>
                          </a:solidFill>
                          <a:latin typeface="Meiryo UI" panose="020B0604030504040204" pitchFamily="50" charset="-128"/>
                          <a:ea typeface="Meiryo UI" panose="020B0604030504040204" pitchFamily="50" charset="-128"/>
                        </a:rPr>
                        <a:t>6拠点・約82面の養殖池にAI・IoT（水質予測・魚病早期検知・給餌最適化）を導入し、冷水病等による斃死の低減・飼料費の削減を図る（仮説）。</a:t>
                      </a:r>
                    </a:p>
                    <a:p>
                      <a:pPr marL="0" marR="0" lvl="0" indent="0" algn="l" rtl="0">
                        <a:lnSpc>
                          <a:spcPct val="100000"/>
                        </a:lnSpc>
                        <a:buClr>
                          <a:srgbClr val="66A09A"/>
                        </a:buClr>
                        <a:buSzPts val="1120"/>
                        <a:buFont typeface="Arial"/>
                        <a:buNone/>
                      </a:pPr>
                      <a:r>
                        <a:rPr lang="ja-JP" altLang="en-US" sz="1000" b="0" dirty="0">
                          <a:solidFill>
                            <a:schemeClr val="dk1"/>
                          </a:solidFill>
                          <a:latin typeface="Meiryo UI" panose="020B0604030504040204" pitchFamily="50" charset="-128"/>
                          <a:ea typeface="Meiryo UI" panose="020B0604030504040204" pitchFamily="50" charset="-128"/>
                        </a:rPr>
                        <a:t>→ 導入計画・投資額・効果の見立てを確認。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altLang="en-US"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高</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800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生産拠点・許認可の</a:t>
                      </a:r>
                    </a:p>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獲得</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00" b="0" dirty="0">
                          <a:solidFill>
                            <a:schemeClr val="dk1"/>
                          </a:solidFill>
                          <a:latin typeface="Meiryo UI" panose="020B0604030504040204" pitchFamily="50" charset="-128"/>
                          <a:ea typeface="Meiryo UI" panose="020B0604030504040204" pitchFamily="50" charset="-128"/>
                        </a:rPr>
                        <a:t>地下水（滋賀5拠点）・地下海水（愛知分場）を活用した養殖池と許認可を取得し、貴社の国内拠点を補完（仮説）。停止中の綾池・尾上池の再稼働余地も含む。</a:t>
                      </a:r>
                      <a:endParaRPr lang="en-US" altLang="ja-JP" sz="1100" b="0" dirty="0">
                        <a:solidFill>
                          <a:schemeClr val="dk1"/>
                        </a:solidFill>
                        <a:latin typeface="Meiryo UI" panose="020B0604030504040204" pitchFamily="50" charset="-128"/>
                        <a:ea typeface="Meiryo UI" panose="020B0604030504040204" pitchFamily="50" charset="-128"/>
                      </a:endParaRPr>
                    </a:p>
                    <a:p>
                      <a:pPr marL="0" marR="0" lvl="0" indent="0" algn="l" rtl="0">
                        <a:lnSpc>
                          <a:spcPct val="100000"/>
                        </a:lnSpc>
                        <a:buClr>
                          <a:srgbClr val="66A09A"/>
                        </a:buClr>
                        <a:buSzPts val="1120"/>
                        <a:buFont typeface="Arial"/>
                        <a:buNone/>
                      </a:pPr>
                      <a:r>
                        <a:rPr lang="ja-JP" altLang="en-US" sz="1000" b="0" dirty="0">
                          <a:solidFill>
                            <a:schemeClr val="dk1"/>
                          </a:solidFill>
                          <a:latin typeface="Meiryo UI" panose="020B0604030504040204" pitchFamily="50" charset="-128"/>
                          <a:ea typeface="Meiryo UI" panose="020B0604030504040204" pitchFamily="50" charset="-128"/>
                        </a:rPr>
                        <a:t>→ 拠点の活用方針（鮎の継続／他魚種への転用）を確認。</a:t>
                      </a:r>
                      <a:endParaRPr lang="en-US" altLang="ja-JP" sz="1100" b="0" dirty="0">
                        <a:solidFill>
                          <a:schemeClr val="dk1"/>
                        </a:solidFill>
                        <a:latin typeface="Meiryo UI" panose="020B0604030504040204" pitchFamily="50" charset="-128"/>
                        <a:ea typeface="Meiryo UI" panose="020B0604030504040204" pitchFamily="50" charset="-128"/>
                      </a:endParaRP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高</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80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人工種苗技術の活用</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en-US" altLang="ja-JP" sz="1000" b="0" dirty="0">
                          <a:solidFill>
                            <a:schemeClr val="dk1"/>
                          </a:solidFill>
                          <a:latin typeface="Meiryo UI" panose="020B0604030504040204" pitchFamily="50" charset="-128"/>
                          <a:ea typeface="Meiryo UI" panose="020B0604030504040204" pitchFamily="50" charset="-128"/>
                          <a:cs typeface="Arial"/>
                          <a:sym typeface="Arial"/>
                        </a:rPr>
                        <a:t>全雌・二倍体の人工種苗生産技術（愛知分場：シーズン約900万尾／約400万尾）を、他魚種や海外展開に活用（仮説）。</a:t>
                      </a:r>
                    </a:p>
                    <a:p>
                      <a:pPr marL="139700" marR="0" lvl="0" indent="-139700" algn="l" rtl="0">
                        <a:lnSpc>
                          <a:spcPct val="100000"/>
                        </a:lnSpc>
                        <a:buClr>
                          <a:srgbClr val="66A09A"/>
                        </a:buClr>
                        <a:buSzPts val="1120"/>
                        <a:buFont typeface="Noto Sans Symbols"/>
                        <a:buNone/>
                      </a:pPr>
                      <a:r>
                        <a:rPr lang="en-US" altLang="ja-JP" sz="1000" b="0" dirty="0">
                          <a:solidFill>
                            <a:schemeClr val="dk1"/>
                          </a:solidFill>
                          <a:latin typeface="Meiryo UI" panose="020B0604030504040204" pitchFamily="50" charset="-128"/>
                          <a:ea typeface="Meiryo UI" panose="020B0604030504040204" pitchFamily="50" charset="-128"/>
                          <a:cs typeface="Arial"/>
                          <a:sym typeface="Arial"/>
                        </a:rPr>
                        <a:t>→ 鮎以外の魚種への展開意向を確認。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中</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80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販路の相互活用</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rPr>
                        <a:t>全国40超の河川漁協・中央市場・飲食店・養殖業者への販路と、貴社の顧客基盤・海外展開との相互活用（仮説）。</a:t>
                      </a:r>
                      <a:endParaRPr lang="en-US" altLang="ja-JP" sz="1100" b="0" dirty="0">
                        <a:solidFill>
                          <a:schemeClr val="dk1"/>
                        </a:solidFill>
                        <a:latin typeface="Meiryo UI" panose="020B0604030504040204" pitchFamily="50" charset="-128"/>
                        <a:ea typeface="Meiryo UI" panose="020B0604030504040204" pitchFamily="50" charset="-128"/>
                      </a:endParaRPr>
                    </a:p>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rPr>
                        <a:t>→ 想定する販売チャネルを確認。</a:t>
                      </a:r>
                      <a:endParaRPr lang="en-US" altLang="ja-JP" sz="1100" b="0" dirty="0">
                        <a:solidFill>
                          <a:schemeClr val="dk1"/>
                        </a:solidFill>
                        <a:latin typeface="Meiryo UI" panose="020B0604030504040204" pitchFamily="50" charset="-128"/>
                        <a:ea typeface="Meiryo UI" panose="020B0604030504040204" pitchFamily="50" charset="-128"/>
                      </a:endParaRP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中</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80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加工・商品化</a:t>
                      </a:r>
                    </a:p>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（売主様のご期待）</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cs typeface="Arial"/>
                          <a:sym typeface="Arial"/>
                        </a:rPr>
                        <a:t>売主様は販路拡大と、休止中の加工場を活かした加工・商品化（EC・ギフト需要等）を期待。</a:t>
                      </a:r>
                    </a:p>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cs typeface="Arial"/>
                          <a:sym typeface="Arial"/>
                        </a:rPr>
                        <a:t>→ 貴社の取組み余地・投資姿勢を確認。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高</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80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経営方針・</a:t>
                      </a:r>
                    </a:p>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継続勤務条件の受入</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cs typeface="Arial"/>
                          <a:sym typeface="Arial"/>
                        </a:rPr>
                        <a:t>現体制は代表者の即断型の意思決定。</a:t>
                      </a:r>
                    </a:p>
                    <a:p>
                      <a:pPr marL="139700" marR="0" lvl="0" indent="-139700" algn="l" rtl="0">
                        <a:lnSpc>
                          <a:spcPct val="100000"/>
                        </a:lnSpc>
                        <a:buClr>
                          <a:srgbClr val="66A09A"/>
                        </a:buClr>
                        <a:buSzPts val="1120"/>
                        <a:buFont typeface="Noto Sans Symbols"/>
                        <a:buNone/>
                      </a:pPr>
                      <a:r>
                        <a:rPr lang="ja-JP" altLang="en-US" sz="1000" b="0" dirty="0">
                          <a:solidFill>
                            <a:schemeClr val="dk1"/>
                          </a:solidFill>
                          <a:latin typeface="Meiryo UI" panose="020B0604030504040204" pitchFamily="50" charset="-128"/>
                          <a:ea typeface="Meiryo UI" panose="020B0604030504040204" pitchFamily="50" charset="-128"/>
                          <a:cs typeface="Arial"/>
                          <a:sym typeface="Arial"/>
                        </a:rPr>
                        <a:t>→ 譲渡後の決裁権限・子会社社長の裁量範囲、社長・副社長の継続勤務条件の受入可否を確認。</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高</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6"/>
                  </a:ext>
                </a:extLst>
              </a:tr>
            </a:tbl>
          </a:graphicData>
        </a:graphic>
      </p:graphicFrame>
      <p:sp>
        <p:nvSpPr>
          <p:cNvPr id="7" name="Google Shape;218;p4"/>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８．社用車の引き取りについては、ディーラーからの見積もり等時価で評価し、買取か退職金で現物支給する。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９．社用車と同様に、時価で評価し、買取か退職金で現物支給する。 </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１０．不動産の取り扱いについて、不動産売買をするのか賃貸をするのか確認する。</a:t>
            </a:r>
            <a:r>
              <a:rPr lang="ja-JP" sz="1200" b="0" i="0" u="none" strike="noStrike" cap="none">
                <a:solidFill>
                  <a:srgbClr val="FF0000"/>
                </a:solidFill>
                <a:latin typeface="Arial"/>
                <a:ea typeface="Arial"/>
                <a:cs typeface="Arial"/>
                <a:sym typeface="Arial"/>
              </a:rPr>
              <a:t>オーナーが対象会社に賃貸している場合、賃料を安く設定していることが多く、M&amp;Aのタイミングで賃料を戻すこともあり、留意が必要。</a:t>
            </a:r>
            <a:r>
              <a:rPr lang="ja-JP" sz="1200" b="0" i="0" u="none" strike="noStrike" cap="none">
                <a:solidFill>
                  <a:schemeClr val="dk1"/>
                </a:solidFill>
                <a:latin typeface="Arial"/>
                <a:ea typeface="Arial"/>
                <a:cs typeface="Arial"/>
                <a:sym typeface="Arial"/>
              </a:rPr>
              <a:t>対象会社で所有している遊休地を買い取る（退職金として現物支給）ケースなども想定する。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１１．取締役・キーマンの継続勤務については、</a:t>
            </a:r>
            <a:r>
              <a:rPr lang="ja-JP" sz="1200" b="0" i="0" u="none" strike="noStrike" cap="none">
                <a:solidFill>
                  <a:srgbClr val="FF0000"/>
                </a:solidFill>
                <a:latin typeface="Arial"/>
                <a:ea typeface="Arial"/>
                <a:cs typeface="Arial"/>
                <a:sym typeface="Arial"/>
              </a:rPr>
              <a:t>本件M&amp;Aが開示が否かや非開示の場合、どのタイミングで開示をするかも確認</a:t>
            </a:r>
            <a:r>
              <a:rPr lang="ja-JP" sz="1200" b="0" i="0" u="none" strike="noStrike" cap="none">
                <a:solidFill>
                  <a:schemeClr val="dk1"/>
                </a:solidFill>
                <a:latin typeface="Arial"/>
                <a:ea typeface="Arial"/>
                <a:cs typeface="Arial"/>
                <a:sym typeface="Arial"/>
              </a:rPr>
              <a:t>する。また、</a:t>
            </a:r>
            <a:r>
              <a:rPr lang="ja-JP" sz="1200" b="0" i="0" u="none" strike="noStrike" cap="none">
                <a:solidFill>
                  <a:srgbClr val="FF0000"/>
                </a:solidFill>
                <a:latin typeface="Arial"/>
                <a:ea typeface="Arial"/>
                <a:cs typeface="Arial"/>
                <a:sym typeface="Arial"/>
              </a:rPr>
              <a:t>業務内容をしっかりと認識し、</a:t>
            </a:r>
            <a:r>
              <a:rPr lang="ja-JP" sz="1200" b="0" i="0" u="none" strike="noStrike" cap="none">
                <a:solidFill>
                  <a:schemeClr val="dk1"/>
                </a:solidFill>
                <a:latin typeface="Arial"/>
                <a:ea typeface="Arial"/>
                <a:cs typeface="Arial"/>
                <a:sym typeface="Arial"/>
              </a:rPr>
              <a:t>退職リスクも確認する。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１２．従業員の継続雇用は基本条件とはなる。一般的には1年間か当面の間（実質は1年）。</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１３．オーナー社長が差し入れする連帯保証の解除と個人資産の担保解除は必須条件。</a:t>
            </a:r>
            <a:r>
              <a:rPr lang="ja-JP" sz="1200" b="0" i="0" u="none" strike="noStrike" cap="none">
                <a:solidFill>
                  <a:srgbClr val="FF0000"/>
                </a:solidFill>
                <a:latin typeface="Arial"/>
                <a:ea typeface="Arial"/>
                <a:cs typeface="Arial"/>
                <a:sym typeface="Arial"/>
              </a:rPr>
              <a:t>個人資産の担保提供は必ず謄本等で確認</a:t>
            </a:r>
            <a:r>
              <a:rPr lang="ja-JP" sz="1200" b="0" i="0" u="none" strike="noStrike" cap="none">
                <a:solidFill>
                  <a:schemeClr val="dk1"/>
                </a:solidFill>
                <a:latin typeface="Arial"/>
                <a:ea typeface="Arial"/>
                <a:cs typeface="Arial"/>
                <a:sym typeface="Arial"/>
              </a:rPr>
              <a:t>する。</a:t>
            </a:r>
            <a:endParaRPr sz="1200" b="0" i="0" u="none" strike="noStrike" cap="none">
              <a:solidFill>
                <a:schemeClr val="dk1"/>
              </a:solidFill>
              <a:latin typeface="Arial"/>
              <a:ea typeface="Arial"/>
              <a:cs typeface="Arial"/>
              <a:sym typeface="Arial"/>
            </a:endParaRPr>
          </a:p>
        </p:txBody>
      </p:sp>
      <p:sp>
        <p:nvSpPr>
          <p:cNvPr id="8" name="TextBox 209">
            <a:extLst>
              <a:ext uri="{FF2B5EF4-FFF2-40B4-BE49-F238E27FC236}">
                <a16:creationId xmlns:a16="http://schemas.microsoft.com/office/drawing/2014/main" id="{E8D35E91-51BA-570D-CC34-14FB5A0E533C}"/>
              </a:ext>
            </a:extLst>
          </p:cNvPr>
          <p:cNvSpPr txBox="1"/>
          <p:nvPr/>
        </p:nvSpPr>
        <p:spPr>
          <a:xfrm>
            <a:off x="398462" y="6080000"/>
            <a:ext cx="8352650" cy="438582"/>
          </a:xfrm>
          <a:prstGeom prst="rect">
            <a:avLst/>
          </a:prstGeom>
          <a:noFill/>
        </p:spPr>
        <p:txBody>
          <a:bodyPr wrap="square">
            <a:spAutoFit/>
          </a:bodyPr>
          <a:lstStyle/>
          <a:p>
            <a:r>
              <a:rPr sz="750" dirty="0">
                <a:latin typeface="Meiryo UI"/>
                <a:ea typeface="Meiryo UI"/>
              </a:rPr>
              <a:t>※本頁は貴社の公表情報（2026年4月の資金調達に関する発表等）を基に弊社にて整理した仮説であり、事前面談にて貴社のご意向を確認させていただきたい。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 name="Shape 213"/>
        <p:cNvGrpSpPr/>
        <p:nvPr/>
      </p:nvGrpSpPr>
      <p:grpSpPr>
        <a:xfrm>
          <a:off x="0" y="0"/>
          <a:ext cx="0" cy="0"/>
          <a:chOff x="0" y="0"/>
          <a:chExt cx="0" cy="0"/>
        </a:xfrm>
      </p:grpSpPr>
      <p:sp>
        <p:nvSpPr>
          <p:cNvPr id="3"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buNone/>
            </a:pPr>
            <a:r>
              <a:rPr lang="ja-JP" altLang="en-US" dirty="0">
                <a:solidFill>
                  <a:srgbClr val="5A5A5A"/>
                </a:solidFill>
                <a:latin typeface="Meiryo UI" panose="020B0604030504040204" pitchFamily="50" charset="-128"/>
                <a:ea typeface="Meiryo UI" panose="020B0604030504040204" pitchFamily="50" charset="-128"/>
              </a:rPr>
              <a:t>今後のスケジュール（想定）</a:t>
            </a:r>
          </a:p>
        </p:txBody>
      </p:sp>
      <p:sp>
        <p:nvSpPr>
          <p:cNvPr id="4"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5"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6" name="Google Shape;217;p4"/>
          <p:cNvGraphicFramePr/>
          <p:nvPr>
            <p:extLst>
              <p:ext uri="{D42A27DB-BD31-4B8C-83A1-F6EECF244321}">
                <p14:modId xmlns:p14="http://schemas.microsoft.com/office/powerpoint/2010/main" val="3614344389"/>
              </p:ext>
            </p:extLst>
          </p:nvPr>
        </p:nvGraphicFramePr>
        <p:xfrm>
          <a:off x="398462" y="838712"/>
          <a:ext cx="8352650" cy="484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2050000">
                  <a:extLst>
                    <a:ext uri="{9D8B030D-6E8A-4147-A177-3AD203B41FA5}">
                      <a16:colId xmlns:a16="http://schemas.microsoft.com/office/drawing/2014/main" val="20001"/>
                    </a:ext>
                  </a:extLst>
                </a:gridCol>
                <a:gridCol w="4220000">
                  <a:extLst>
                    <a:ext uri="{9D8B030D-6E8A-4147-A177-3AD203B41FA5}">
                      <a16:colId xmlns:a16="http://schemas.microsoft.com/office/drawing/2014/main" val="20002"/>
                    </a:ext>
                  </a:extLst>
                </a:gridCol>
                <a:gridCol w="1650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イベント</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時期</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事前面談</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本資料を基に、譲渡条件・論点・意向表明書の記載事項をすり合わせ</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altLang="en-US" sz="1100" b="0" i="0" u="none" strike="noStrike" cap="none" dirty="0">
                          <a:solidFill>
                            <a:srgbClr val="252525"/>
                          </a:solidFill>
                          <a:latin typeface="Meiryo UI" panose="020B0604030504040204" pitchFamily="50" charset="-128"/>
                          <a:ea typeface="Meiryo UI" panose="020B0604030504040204" pitchFamily="50" charset="-128"/>
                          <a:cs typeface="Arial"/>
                          <a:sym typeface="Arial"/>
                        </a:rPr>
                        <a:t>2026年</a:t>
                      </a:r>
                    </a:p>
                    <a:p>
                      <a:pPr marL="0" marR="0" lvl="0" indent="0" algn="ctr" rtl="0">
                        <a:lnSpc>
                          <a:spcPct val="100000"/>
                        </a:lnSpc>
                        <a:buClr>
                          <a:srgbClr val="252525"/>
                        </a:buClr>
                        <a:buSzPts val="1600"/>
                        <a:buFont typeface="Arial"/>
                        <a:buNone/>
                      </a:pPr>
                      <a:r>
                        <a:rPr lang="ja-JP" altLang="en-US" sz="1100" b="0" i="0" u="none" strike="noStrike" cap="none" dirty="0">
                          <a:solidFill>
                            <a:srgbClr val="252525"/>
                          </a:solidFill>
                          <a:latin typeface="Meiryo UI" panose="020B0604030504040204" pitchFamily="50" charset="-128"/>
                          <a:ea typeface="Meiryo UI" panose="020B0604030504040204" pitchFamily="50" charset="-128"/>
                          <a:cs typeface="Arial"/>
                          <a:sym typeface="Arial"/>
                        </a:rPr>
                        <a:t>10月下旬</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TOP面談・現地見学</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貴社と鳥塚社長のTOP面談（事前に想定質疑を打合せ）、養魚場のご見学</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a:t>
                      </a:r>
                    </a:p>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11月上旬</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意向表明書の提出・受領</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譲渡価格・不動産の取扱い・資金調達方法・スケジュール等を確定</a:t>
                      </a:r>
                    </a:p>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〜独占交渉権付与〜</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a:t>
                      </a:r>
                    </a:p>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11月中旬</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en-US" altLang="ja-JP" sz="1200" b="0" dirty="0">
                          <a:solidFill>
                            <a:schemeClr val="dk1"/>
                          </a:solidFill>
                          <a:latin typeface="Meiryo UI" panose="020B0604030504040204" pitchFamily="50" charset="-128"/>
                          <a:ea typeface="Meiryo UI" panose="020B0604030504040204" pitchFamily="50" charset="-128"/>
                        </a:rPr>
                        <a:t>26/9期決算の確認</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2026年9月期の決算内容を確認し、価格条件への反映を協議</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a:t>
                      </a:r>
                      <a:endParaRPr kumimoji="0" lang="en-US" altLang="ja-JP"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endParaRPr>
                    </a:p>
                    <a:p>
                      <a:pPr marL="0" marR="0" lvl="0" indent="0" algn="ctr" rtl="0">
                        <a:lnSpc>
                          <a:spcPct val="100000"/>
                        </a:lnSpc>
                        <a:buClr>
                          <a:srgbClr val="252525"/>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11月下旬</a:t>
                      </a:r>
                      <a:endParaRPr kumimoji="0" lang="en-US" altLang="ja-JP"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endParaRP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640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企業調査（DD）・報告会</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財務・税務・法務・労務・不動産（権利関係・農地法手続の要否）の調査及びご報告</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2026年12月〜</a:t>
                      </a:r>
                    </a:p>
                    <a:p>
                      <a:pPr marL="0" marR="0" lvl="0" indent="0" algn="ctr" rtl="0">
                        <a:lnSpc>
                          <a:spcPct val="100000"/>
                        </a:lnSpc>
                        <a:buClr>
                          <a:schemeClr val="dk1"/>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2027年1月</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最終契約書の締結</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DD結果を踏まえた条件確定、株式譲渡契約（SPA）及び個人名義不動産の売買／賃貸借契約の締結</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srgbClr val="252525"/>
                        </a:buClr>
                        <a:buSzPts val="1600"/>
                        <a:buFont typeface="Arial"/>
                        <a:buNone/>
                        <a:tabLst/>
                        <a:defRPr/>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2027年</a:t>
                      </a:r>
                    </a:p>
                    <a:p>
                      <a:pPr marL="0" marR="0" lvl="0" indent="0" algn="ctr" defTabSz="914400" rtl="0" eaLnBrk="1" fontAlgn="auto" latinLnBrk="0" hangingPunct="1">
                        <a:lnSpc>
                          <a:spcPct val="100000"/>
                        </a:lnSpc>
                        <a:buClr>
                          <a:srgbClr val="252525"/>
                        </a:buClr>
                        <a:buSzPts val="1600"/>
                        <a:buFont typeface="Arial"/>
                        <a:buNone/>
                        <a:tabLst/>
                        <a:defRPr/>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2月</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6"/>
                  </a:ext>
                </a:extLst>
              </a:tr>
              <a:tr h="640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7</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クロージング</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譲渡対価の決済、役員借入金の返済、連帯保証・担保の解除</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2027年</a:t>
                      </a:r>
                    </a:p>
                    <a:p>
                      <a:pPr marL="0" marR="0" lvl="0" indent="0" algn="ctr" rtl="0">
                        <a:lnSpc>
                          <a:spcPct val="100000"/>
                        </a:lnSpc>
                        <a:buClr>
                          <a:schemeClr val="dk1"/>
                        </a:buClr>
                        <a:buSzPts val="1600"/>
                        <a:buFont typeface="Arial"/>
                        <a:buNone/>
                      </a:pPr>
                      <a:r>
                        <a:rPr kumimoji="0" lang="ja-JP" altLang="en-US" sz="1100" b="0"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3月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7"/>
                  </a:ext>
                </a:extLst>
              </a:tr>
            </a:tbl>
          </a:graphicData>
        </a:graphic>
      </p:graphicFrame>
      <p:sp>
        <p:nvSpPr>
          <p:cNvPr id="7" name="Google Shape;218;p4"/>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８．社用車の引き取りについては、ディーラーからの見積もり等時価で評価し、買取か退職金で現物支給する。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９．社用車と同様に、時価で評価し、買取か退職金で現物支給する。 </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１０．不動産の取り扱いについて、不動産売買をするのか賃貸をするのか確認する。</a:t>
            </a:r>
            <a:r>
              <a:rPr lang="ja-JP" sz="1200" b="0" i="0" u="none" strike="noStrike" cap="none">
                <a:solidFill>
                  <a:srgbClr val="FF0000"/>
                </a:solidFill>
                <a:latin typeface="Arial"/>
                <a:ea typeface="Arial"/>
                <a:cs typeface="Arial"/>
                <a:sym typeface="Arial"/>
              </a:rPr>
              <a:t>オーナーが対象会社に賃貸している場合、賃料を安く設定していることが多く、M&amp;Aのタイミングで賃料を戻すこともあり、留意が必要。</a:t>
            </a:r>
            <a:r>
              <a:rPr lang="ja-JP" sz="1200" b="0" i="0" u="none" strike="noStrike" cap="none">
                <a:solidFill>
                  <a:schemeClr val="dk1"/>
                </a:solidFill>
                <a:latin typeface="Arial"/>
                <a:ea typeface="Arial"/>
                <a:cs typeface="Arial"/>
                <a:sym typeface="Arial"/>
              </a:rPr>
              <a:t>対象会社で所有している遊休地を買い取る（退職金として現物支給）ケースなども想定する。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１１．取締役・キーマンの継続勤務については、</a:t>
            </a:r>
            <a:r>
              <a:rPr lang="ja-JP" sz="1200" b="0" i="0" u="none" strike="noStrike" cap="none">
                <a:solidFill>
                  <a:srgbClr val="FF0000"/>
                </a:solidFill>
                <a:latin typeface="Arial"/>
                <a:ea typeface="Arial"/>
                <a:cs typeface="Arial"/>
                <a:sym typeface="Arial"/>
              </a:rPr>
              <a:t>本件M&amp;Aが開示が否かや非開示の場合、どのタイミングで開示をするかも確認</a:t>
            </a:r>
            <a:r>
              <a:rPr lang="ja-JP" sz="1200" b="0" i="0" u="none" strike="noStrike" cap="none">
                <a:solidFill>
                  <a:schemeClr val="dk1"/>
                </a:solidFill>
                <a:latin typeface="Arial"/>
                <a:ea typeface="Arial"/>
                <a:cs typeface="Arial"/>
                <a:sym typeface="Arial"/>
              </a:rPr>
              <a:t>する。また、</a:t>
            </a:r>
            <a:r>
              <a:rPr lang="ja-JP" sz="1200" b="0" i="0" u="none" strike="noStrike" cap="none">
                <a:solidFill>
                  <a:srgbClr val="FF0000"/>
                </a:solidFill>
                <a:latin typeface="Arial"/>
                <a:ea typeface="Arial"/>
                <a:cs typeface="Arial"/>
                <a:sym typeface="Arial"/>
              </a:rPr>
              <a:t>業務内容をしっかりと認識し、</a:t>
            </a:r>
            <a:r>
              <a:rPr lang="ja-JP" sz="1200" b="0" i="0" u="none" strike="noStrike" cap="none">
                <a:solidFill>
                  <a:schemeClr val="dk1"/>
                </a:solidFill>
                <a:latin typeface="Arial"/>
                <a:ea typeface="Arial"/>
                <a:cs typeface="Arial"/>
                <a:sym typeface="Arial"/>
              </a:rPr>
              <a:t>退職リスクも確認する。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１２．従業員の継続雇用は基本条件とはなる。一般的には1年間か当面の間（実質は1年）。</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１３．オーナー社長が差し入れする連帯保証の解除と個人資産の担保解除は必須条件。</a:t>
            </a:r>
            <a:r>
              <a:rPr lang="ja-JP" sz="1200" b="0" i="0" u="none" strike="noStrike" cap="none">
                <a:solidFill>
                  <a:srgbClr val="FF0000"/>
                </a:solidFill>
                <a:latin typeface="Arial"/>
                <a:ea typeface="Arial"/>
                <a:cs typeface="Arial"/>
                <a:sym typeface="Arial"/>
              </a:rPr>
              <a:t>個人資産の担保提供は必ず謄本等で確認</a:t>
            </a:r>
            <a:r>
              <a:rPr lang="ja-JP" sz="1200" b="0" i="0" u="none" strike="noStrike" cap="none">
                <a:solidFill>
                  <a:schemeClr val="dk1"/>
                </a:solidFill>
                <a:latin typeface="Arial"/>
                <a:ea typeface="Arial"/>
                <a:cs typeface="Arial"/>
                <a:sym typeface="Arial"/>
              </a:rPr>
              <a:t>する。</a:t>
            </a:r>
            <a:endParaRPr sz="1200" b="0" i="0" u="none" strike="noStrike" cap="none">
              <a:solidFill>
                <a:schemeClr val="dk1"/>
              </a:solidFill>
              <a:latin typeface="Arial"/>
              <a:ea typeface="Arial"/>
              <a:cs typeface="Arial"/>
              <a:sym typeface="Arial"/>
            </a:endParaRPr>
          </a:p>
        </p:txBody>
      </p:sp>
      <p:sp>
        <p:nvSpPr>
          <p:cNvPr id="8" name="TextBox 209">
            <a:extLst>
              <a:ext uri="{FF2B5EF4-FFF2-40B4-BE49-F238E27FC236}">
                <a16:creationId xmlns:a16="http://schemas.microsoft.com/office/drawing/2014/main" id="{E8D35E91-51BA-570D-CC34-14FB5A0E533C}"/>
              </a:ext>
            </a:extLst>
          </p:cNvPr>
          <p:cNvSpPr txBox="1"/>
          <p:nvPr/>
        </p:nvSpPr>
        <p:spPr>
          <a:xfrm>
            <a:off x="398462" y="5720000"/>
            <a:ext cx="8352650" cy="438582"/>
          </a:xfrm>
          <a:prstGeom prst="rect">
            <a:avLst/>
          </a:prstGeom>
          <a:noFill/>
        </p:spPr>
        <p:txBody>
          <a:bodyPr wrap="square">
            <a:spAutoFit/>
          </a:bodyPr>
          <a:lstStyle/>
          <a:p>
            <a:r>
              <a:rPr sz="750" dirty="0">
                <a:latin typeface="Meiryo UI"/>
                <a:ea typeface="Meiryo UI"/>
              </a:rPr>
              <a:t>※上記は弊社の想定であり、貴社のご意向・DDの期間・不動産の手続（農地法の許可等）により変動します。</a:t>
            </a:r>
          </a:p>
          <a:p>
            <a:r>
              <a:rPr sz="750" dirty="0">
                <a:latin typeface="Meiryo UI"/>
                <a:ea typeface="Meiryo UI"/>
              </a:rPr>
              <a:t>※12月は琵琶湖産稚鮎の仕入、4〜6月は放流出荷の最盛期にあたるため、DD・引継ぎ・クロージングの時期は事業運営に配慮して調整させていただきたい。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 name="Shape 288"/>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204;p3">
            <a:extLst>
              <a:ext uri="{FF2B5EF4-FFF2-40B4-BE49-F238E27FC236}">
                <a16:creationId xmlns:a16="http://schemas.microsoft.com/office/drawing/2014/main" id="{4EC6EFC1-ACE6-BC29-270A-1AE778498429}"/>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r>
              <a:rPr lang="ja-JP" altLang="en-US" dirty="0">
                <a:solidFill>
                  <a:srgbClr val="5A5A5A"/>
                </a:solidFill>
                <a:latin typeface="Meiryo UI" panose="020B0604030504040204" pitchFamily="50" charset="-128"/>
                <a:ea typeface="Meiryo UI" panose="020B0604030504040204" pitchFamily="50" charset="-128"/>
              </a:rPr>
              <a:t>事業用不動産（土地）の取扱い</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4" name="Google Shape;205;p3">
            <a:extLst>
              <a:ext uri="{FF2B5EF4-FFF2-40B4-BE49-F238E27FC236}">
                <a16:creationId xmlns:a16="http://schemas.microsoft.com/office/drawing/2014/main" id="{B83F51F1-B261-0626-851A-31131A041479}"/>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5" name="Google Shape;206;p3">
            <a:extLst>
              <a:ext uri="{FF2B5EF4-FFF2-40B4-BE49-F238E27FC236}">
                <a16:creationId xmlns:a16="http://schemas.microsoft.com/office/drawing/2014/main" id="{05AD748F-3EFD-92FD-98FA-7D2ACBDDA092}"/>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sp>
        <p:nvSpPr>
          <p:cNvPr id="6" name="Google Shape;208;p3">
            <a:extLst>
              <a:ext uri="{FF2B5EF4-FFF2-40B4-BE49-F238E27FC236}">
                <a16:creationId xmlns:a16="http://schemas.microsoft.com/office/drawing/2014/main" id="{FEFA887B-BAB0-4A91-060D-6EB5B38CA70D}"/>
              </a:ext>
            </a:extLst>
          </p:cNvPr>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【記載時の留意事項】</a:t>
            </a:r>
            <a:endParaRPr dirty="0"/>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１．譲渡スキームについて、株式譲渡の際は株券発行の有無（謄本確認）、株券発行の場合、印刷しているか（インタビュー）を確認し、株券不発行会社（株券廃止手続）にするかも確認。</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　</a:t>
            </a:r>
            <a:r>
              <a:rPr lang="ja-JP" sz="1200" b="0" i="0" u="none" strike="noStrike" cap="none" dirty="0">
                <a:solidFill>
                  <a:srgbClr val="FF0000"/>
                </a:solidFill>
                <a:latin typeface="Arial"/>
                <a:ea typeface="Arial"/>
                <a:cs typeface="Arial"/>
                <a:sym typeface="Arial"/>
              </a:rPr>
              <a:t>会社分割や事業譲渡の場合、譲渡対象やスケジュール感</a:t>
            </a:r>
            <a:r>
              <a:rPr lang="ja-JP" sz="1200" b="0" i="0" u="none" strike="noStrike" cap="none" dirty="0">
                <a:solidFill>
                  <a:schemeClr val="dk1"/>
                </a:solidFill>
                <a:latin typeface="Arial"/>
                <a:ea typeface="Arial"/>
                <a:cs typeface="Arial"/>
                <a:sym typeface="Arial"/>
              </a:rPr>
              <a:t>を固めること。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２．譲渡比率が一部譲渡の際は、譲渡しない株主が論点にならないか等を確認ください。</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３．金額面の条件について、希望株価をここでは記載するが、</a:t>
            </a:r>
            <a:r>
              <a:rPr lang="ja-JP" sz="1200" b="0" i="0" u="none" strike="noStrike" cap="none" dirty="0">
                <a:solidFill>
                  <a:srgbClr val="FF0000"/>
                </a:solidFill>
                <a:latin typeface="Arial"/>
                <a:ea typeface="Arial"/>
                <a:cs typeface="Arial"/>
                <a:sym typeface="Arial"/>
              </a:rPr>
              <a:t>最低応諾価格は把握しておくこと。希望株価はいつの時点の決算かを把握し、今期決算をどこまで織り込むか</a:t>
            </a:r>
            <a:r>
              <a:rPr lang="ja-JP" sz="1200" b="0" i="0" u="none" strike="noStrike" cap="none" dirty="0">
                <a:solidFill>
                  <a:schemeClr val="dk1"/>
                </a:solidFill>
                <a:latin typeface="Arial"/>
                <a:ea typeface="Arial"/>
                <a:cs typeface="Arial"/>
                <a:sym typeface="Arial"/>
              </a:rPr>
              <a:t>も留意すること。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４．役員退職金について、一般的に、</a:t>
            </a:r>
            <a:r>
              <a:rPr lang="ja-JP" sz="1200" b="0" i="0" u="none" strike="noStrike" cap="none" dirty="0">
                <a:solidFill>
                  <a:srgbClr val="FF0000"/>
                </a:solidFill>
                <a:latin typeface="Arial"/>
                <a:ea typeface="Arial"/>
                <a:cs typeface="Arial"/>
                <a:sym typeface="Arial"/>
              </a:rPr>
              <a:t>売り手は手取最大化、買い手は損金限度額まで支給したいニーズがあり、両者のニーズが合致しないので、気を付ける。</a:t>
            </a:r>
            <a:r>
              <a:rPr lang="ja-JP" sz="1200" b="0" i="0" u="none" strike="noStrike" cap="none" dirty="0">
                <a:solidFill>
                  <a:schemeClr val="dk1"/>
                </a:solidFill>
                <a:latin typeface="Arial"/>
                <a:ea typeface="Arial"/>
                <a:cs typeface="Arial"/>
                <a:sym typeface="Arial"/>
              </a:rPr>
              <a:t>また、対象企業で原資があるかどうか、エスクロー実施するかどうかも確認する。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５． ６．役員借入金（対象会社がオーナーから借りている借入金）/貸付金（対象会社からオーナーへ貸付している貸付金）は金額が大きく変動することもあり、常に更新する。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７．社長の引継ぎ条件については、条件は当然として、</a:t>
            </a:r>
            <a:r>
              <a:rPr lang="ja-JP" sz="1200" b="0" i="0" u="none" strike="noStrike" cap="none" dirty="0">
                <a:solidFill>
                  <a:srgbClr val="FF0000"/>
                </a:solidFill>
                <a:latin typeface="Arial"/>
                <a:ea typeface="Arial"/>
                <a:cs typeface="Arial"/>
                <a:sym typeface="Arial"/>
              </a:rPr>
              <a:t>社長の業務（経営判断・営業・経理等）を把握し、人材を派遣する必要があるのか？社内からの昇格を行うのか？</a:t>
            </a:r>
            <a:r>
              <a:rPr lang="ja-JP" sz="1200" b="0" i="0" u="none" strike="noStrike" cap="none" dirty="0">
                <a:solidFill>
                  <a:schemeClr val="dk1"/>
                </a:solidFill>
                <a:latin typeface="Arial"/>
                <a:ea typeface="Arial"/>
                <a:cs typeface="Arial"/>
                <a:sym typeface="Arial"/>
              </a:rPr>
              <a:t>なども確認する。</a:t>
            </a:r>
            <a:endParaRPr dirty="0"/>
          </a:p>
        </p:txBody>
      </p:sp>
      <p:sp>
        <p:nvSpPr>
          <p:cNvPr id="7" name="TextBox 209">
            <a:extLst>
              <a:ext uri="{FF2B5EF4-FFF2-40B4-BE49-F238E27FC236}">
                <a16:creationId xmlns:a16="http://schemas.microsoft.com/office/drawing/2014/main" id="{503165E7-17CD-D25F-9777-A78472EC3C28}"/>
              </a:ext>
            </a:extLst>
          </p:cNvPr>
          <p:cNvSpPr txBox="1"/>
          <p:nvPr/>
        </p:nvSpPr>
        <p:spPr>
          <a:xfrm>
            <a:off x="265176" y="800000"/>
            <a:ext cx="8631936" cy="461665"/>
          </a:xfrm>
          <a:prstGeom prst="rect">
            <a:avLst/>
          </a:prstGeom>
          <a:noFill/>
        </p:spPr>
        <p:txBody>
          <a:bodyPr wrap="square">
            <a:spAutoFit/>
          </a:bodyPr>
          <a:lstStyle/>
          <a:p>
            <a:r>
              <a:rPr lang="en-US" altLang="ja-JP" sz="1100" dirty="0">
                <a:latin typeface="Meiryo UI"/>
                <a:ea typeface="Meiryo UI"/>
              </a:rPr>
              <a:t>稼働拠点の敷地の相当部分が鳥塚社長個人名義（土地25筆・24,592㎡）であり、その多くが当社の金融機関借入の担保に供されている。不動産の手当て（買取／賃貸借）と担保・保証の解除を一体で設計する必要がある。</a:t>
            </a:r>
          </a:p>
        </p:txBody>
      </p:sp>
      <p:sp>
        <p:nvSpPr>
          <p:cNvPr id="8" name="Rectangle 211">
            <a:extLst>
              <a:ext uri="{FF2B5EF4-FFF2-40B4-BE49-F238E27FC236}">
                <a16:creationId xmlns:a16="http://schemas.microsoft.com/office/drawing/2014/main" id="{D2DE299A-D820-1D49-CFD7-B1582CCFE55F}"/>
              </a:ext>
            </a:extLst>
          </p:cNvPr>
          <p:cNvSpPr/>
          <p:nvPr/>
        </p:nvSpPr>
        <p:spPr>
          <a:xfrm>
            <a:off x="365760" y="3480000"/>
            <a:ext cx="2790666" cy="156000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9" name="Rectangle 212">
            <a:extLst>
              <a:ext uri="{FF2B5EF4-FFF2-40B4-BE49-F238E27FC236}">
                <a16:creationId xmlns:a16="http://schemas.microsoft.com/office/drawing/2014/main" id="{868696E2-E177-7722-970A-D79625123DD8}"/>
              </a:ext>
            </a:extLst>
          </p:cNvPr>
          <p:cNvSpPr/>
          <p:nvPr/>
        </p:nvSpPr>
        <p:spPr>
          <a:xfrm>
            <a:off x="365760" y="3480000"/>
            <a:ext cx="2790666" cy="300000"/>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altLang="en-US" sz="1050" b="1" dirty="0">
                <a:solidFill>
                  <a:srgbClr val="FFFFFF"/>
                </a:solidFill>
                <a:latin typeface="Meiryo UI"/>
                <a:ea typeface="Meiryo UI"/>
              </a:rPr>
              <a:t>A｜買取</a:t>
            </a:r>
          </a:p>
        </p:txBody>
      </p:sp>
      <p:sp>
        <p:nvSpPr>
          <p:cNvPr id="10" name="TextBox 213">
            <a:extLst>
              <a:ext uri="{FF2B5EF4-FFF2-40B4-BE49-F238E27FC236}">
                <a16:creationId xmlns:a16="http://schemas.microsoft.com/office/drawing/2014/main" id="{1B19AD1E-6226-1E23-5D70-96453057B1ED}"/>
              </a:ext>
            </a:extLst>
          </p:cNvPr>
          <p:cNvSpPr txBox="1"/>
          <p:nvPr/>
        </p:nvSpPr>
        <p:spPr>
          <a:xfrm>
            <a:off x="455760" y="3840000"/>
            <a:ext cx="2610666" cy="1160000"/>
          </a:xfrm>
          <a:prstGeom prst="rect">
            <a:avLst/>
          </a:prstGeom>
          <a:noFill/>
        </p:spPr>
        <p:txBody>
          <a:bodyPr wrap="square" lIns="54000" tIns="27000" rIns="54000" bIns="27000" anchor="t">
            <a:spAutoFit/>
          </a:bodyPr>
          <a:lstStyle/>
          <a:p>
            <a:pPr algn="l"/>
            <a:r>
              <a:rPr lang="ja-JP" sz="900" b="0" dirty="0">
                <a:solidFill>
                  <a:srgbClr val="000000"/>
                </a:solidFill>
                <a:latin typeface="Meiryo UI"/>
                <a:ea typeface="Meiryo UI"/>
              </a:rPr>
              <a:t>・対象会社（または貴社）が時価で取得</a:t>
            </a:r>
          </a:p>
          <a:p>
            <a:pPr algn="l"/>
            <a:r>
              <a:rPr lang="ja-JP" sz="900" b="0" dirty="0">
                <a:solidFill>
                  <a:srgbClr val="000000"/>
                </a:solidFill>
                <a:latin typeface="Meiryo UI"/>
                <a:ea typeface="Meiryo UI"/>
              </a:rPr>
              <a:t>・担保の付替え／借換えと同時に整理</a:t>
            </a:r>
          </a:p>
          <a:p>
            <a:pPr algn="l"/>
            <a:r>
              <a:rPr lang="ja-JP" sz="900" b="0" dirty="0">
                <a:solidFill>
                  <a:srgbClr val="000000"/>
                </a:solidFill>
                <a:latin typeface="Meiryo UI"/>
                <a:ea typeface="Meiryo UI"/>
              </a:rPr>
              <a:t>・地目が田・畑の筆は農地法の許可・届出が必要となり、手続に期間を要する可能性</a:t>
            </a:r>
          </a:p>
        </p:txBody>
      </p:sp>
      <p:sp>
        <p:nvSpPr>
          <p:cNvPr id="11" name="TextBox 209">
            <a:extLst>
              <a:ext uri="{FF2B5EF4-FFF2-40B4-BE49-F238E27FC236}">
                <a16:creationId xmlns:a16="http://schemas.microsoft.com/office/drawing/2014/main" id="{20A63D63-6BE0-49DB-AA2E-DCAC11E850C9}"/>
              </a:ext>
            </a:extLst>
          </p:cNvPr>
          <p:cNvSpPr txBox="1"/>
          <p:nvPr/>
        </p:nvSpPr>
        <p:spPr>
          <a:xfrm>
            <a:off x="265176" y="5720000"/>
            <a:ext cx="8631936" cy="323165"/>
          </a:xfrm>
          <a:prstGeom prst="rect">
            <a:avLst/>
          </a:prstGeom>
          <a:noFill/>
        </p:spPr>
        <p:txBody>
          <a:bodyPr wrap="square">
            <a:spAutoFit/>
          </a:bodyPr>
          <a:lstStyle/>
          <a:p>
            <a:r>
              <a:rPr sz="750" dirty="0">
                <a:latin typeface="Meiryo UI"/>
                <a:ea typeface="Meiryo UI"/>
              </a:rPr>
              <a:t>※時価目安＝固定資産税評価額÷0.7（企業概要書と同基準、単位：千円）。建物は時価目安に含まない。代表者個人の非事業用土地（25筆・時価10,711千円）は譲渡対象外。</a:t>
            </a:r>
          </a:p>
          <a:p>
            <a:r>
              <a:rPr sz="750" dirty="0">
                <a:latin typeface="Meiryo UI"/>
                <a:ea typeface="Meiryo UI"/>
              </a:rPr>
              <a:t>※本社建物（南浜町1166番）は先々代名義のため相続登記手続中（2026年10月頃完了見込み）。新八坂池の建物は登記面積と課税面積に差があり、未登記部分の有無を確認予定。</a:t>
            </a:r>
          </a:p>
          <a:p>
            <a:r>
              <a:rPr sz="750" dirty="0">
                <a:latin typeface="Meiryo UI"/>
                <a:ea typeface="Meiryo UI"/>
              </a:rPr>
              <a:t>※担保①②③の債務者はいずれも株式会社鳥塚（第三者債務に対する物上保証はなし）。</a:t>
            </a:r>
          </a:p>
        </p:txBody>
      </p:sp>
      <p:graphicFrame>
        <p:nvGraphicFramePr>
          <p:cNvPr id="12" name="Table 207">
            <a:extLst>
              <a:ext uri="{FF2B5EF4-FFF2-40B4-BE49-F238E27FC236}">
                <a16:creationId xmlns:a16="http://schemas.microsoft.com/office/drawing/2014/main" id="{58956B21-0138-AFE7-9E0E-9DDFA2F7643F}"/>
              </a:ext>
            </a:extLst>
          </p:cNvPr>
          <p:cNvGraphicFramePr>
            <a:graphicFrameLocks noGrp="1"/>
          </p:cNvGraphicFramePr>
          <p:nvPr/>
        </p:nvGraphicFramePr>
        <p:xfrm>
          <a:off x="365760" y="1500000"/>
          <a:ext cx="8480000" cy="1785000"/>
        </p:xfrm>
        <a:graphic>
          <a:graphicData uri="http://schemas.openxmlformats.org/drawingml/2006/table">
            <a:tbl>
              <a:tblPr>
                <a:tableStyleId>{5C22544A-7EE6-4342-B048-85BDC9FD1C3A}</a:tableStyleId>
              </a:tblPr>
              <a:tblGrid>
                <a:gridCol w="1900000">
                  <a:extLst>
                    <a:ext uri="{9D8B030D-6E8A-4147-A177-3AD203B41FA5}">
                      <a16:colId xmlns:a16="http://schemas.microsoft.com/office/drawing/2014/main" val="20000"/>
                    </a:ext>
                  </a:extLst>
                </a:gridCol>
                <a:gridCol w="2650000">
                  <a:extLst>
                    <a:ext uri="{9D8B030D-6E8A-4147-A177-3AD203B41FA5}">
                      <a16:colId xmlns:a16="http://schemas.microsoft.com/office/drawing/2014/main" val="20001"/>
                    </a:ext>
                  </a:extLst>
                </a:gridCol>
                <a:gridCol w="800000">
                  <a:extLst>
                    <a:ext uri="{9D8B030D-6E8A-4147-A177-3AD203B41FA5}">
                      <a16:colId xmlns:a16="http://schemas.microsoft.com/office/drawing/2014/main" val="20002"/>
                    </a:ext>
                  </a:extLst>
                </a:gridCol>
                <a:gridCol w="1130000">
                  <a:extLst>
                    <a:ext uri="{9D8B030D-6E8A-4147-A177-3AD203B41FA5}">
                      <a16:colId xmlns:a16="http://schemas.microsoft.com/office/drawing/2014/main" val="20003"/>
                    </a:ext>
                  </a:extLst>
                </a:gridCol>
                <a:gridCol w="1000000">
                  <a:extLst>
                    <a:ext uri="{9D8B030D-6E8A-4147-A177-3AD203B41FA5}">
                      <a16:colId xmlns:a16="http://schemas.microsoft.com/office/drawing/2014/main" val="20004"/>
                    </a:ext>
                  </a:extLst>
                </a:gridCol>
                <a:gridCol w="1000000">
                  <a:extLst>
                    <a:ext uri="{9D8B030D-6E8A-4147-A177-3AD203B41FA5}">
                      <a16:colId xmlns:a16="http://schemas.microsoft.com/office/drawing/2014/main" val="20005"/>
                    </a:ext>
                  </a:extLst>
                </a:gridCol>
              </a:tblGrid>
              <a:tr h="255000">
                <a:tc>
                  <a:txBody>
                    <a:bodyPr/>
                    <a:lstStyle/>
                    <a:p>
                      <a:pPr algn="ctr"/>
                      <a:r>
                        <a:rPr lang="ja-JP" sz="900" b="1">
                          <a:solidFill>
                            <a:srgbClr val="FFFFFF"/>
                          </a:solidFill>
                          <a:latin typeface="Meiryo UI"/>
                          <a:ea typeface="Meiryo UI"/>
                        </a:rPr>
                        <a:t>拠点</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a:txBody>
                    <a:bodyPr/>
                    <a:lstStyle/>
                    <a:p>
                      <a:pPr algn="ctr"/>
                      <a:r>
                        <a:rPr lang="ja-JP" sz="900" b="1">
                          <a:solidFill>
                            <a:srgbClr val="FFFFFF"/>
                          </a:solidFill>
                          <a:latin typeface="Meiryo UI"/>
                          <a:ea typeface="Meiryo UI"/>
                        </a:rPr>
                        <a:t>個人名義の範囲</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a:txBody>
                    <a:bodyPr/>
                    <a:lstStyle/>
                    <a:p>
                      <a:pPr algn="ctr"/>
                      <a:r>
                        <a:rPr lang="ja-JP" sz="900" b="1">
                          <a:solidFill>
                            <a:srgbClr val="FFFFFF"/>
                          </a:solidFill>
                          <a:latin typeface="Meiryo UI"/>
                          <a:ea typeface="Meiryo UI"/>
                        </a:rPr>
                        <a:t>面積(㎡)</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a:txBody>
                    <a:bodyPr/>
                    <a:lstStyle/>
                    <a:p>
                      <a:pPr algn="ctr"/>
                      <a:r>
                        <a:rPr lang="ja-JP" sz="900" b="1">
                          <a:solidFill>
                            <a:srgbClr val="FFFFFF"/>
                          </a:solidFill>
                          <a:latin typeface="Meiryo UI"/>
                          <a:ea typeface="Meiryo UI"/>
                        </a:rPr>
                        <a:t>主な地目</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a:txBody>
                    <a:bodyPr/>
                    <a:lstStyle/>
                    <a:p>
                      <a:pPr algn="ctr"/>
                      <a:r>
                        <a:rPr lang="ja-JP" sz="900" b="1">
                          <a:solidFill>
                            <a:srgbClr val="FFFFFF"/>
                          </a:solidFill>
                          <a:latin typeface="Meiryo UI"/>
                          <a:ea typeface="Meiryo UI"/>
                        </a:rPr>
                        <a:t>時価目安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a:txBody>
                    <a:bodyPr/>
                    <a:lstStyle/>
                    <a:p>
                      <a:pPr algn="ctr"/>
                      <a:r>
                        <a:rPr lang="ja-JP" sz="900" b="1">
                          <a:solidFill>
                            <a:srgbClr val="FFFFFF"/>
                          </a:solidFill>
                          <a:latin typeface="Meiryo UI"/>
                          <a:ea typeface="Meiryo UI"/>
                        </a:rPr>
                        <a:t>担保</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55000">
                <a:tc>
                  <a:txBody>
                    <a:bodyPr/>
                    <a:lstStyle/>
                    <a:p>
                      <a:pPr algn="l"/>
                      <a:r>
                        <a:rPr lang="ja-JP" sz="900" b="0">
                          <a:solidFill>
                            <a:srgbClr val="000000"/>
                          </a:solidFill>
                          <a:latin typeface="Meiryo UI"/>
                          <a:ea typeface="Meiryo UI"/>
                        </a:rPr>
                        <a:t>甲崎池（彦根養魚場）</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土地5筆（拠点全体）／建物は法人</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16,153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雑種地・田</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71,578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②滋賀銀行</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1"/>
                  </a:ext>
                </a:extLst>
              </a:tr>
              <a:tr h="255000">
                <a:tc>
                  <a:txBody>
                    <a:bodyPr/>
                    <a:lstStyle/>
                    <a:p>
                      <a:pPr algn="l"/>
                      <a:r>
                        <a:rPr lang="ja-JP" sz="900" b="0">
                          <a:solidFill>
                            <a:srgbClr val="000000"/>
                          </a:solidFill>
                          <a:latin typeface="Meiryo UI"/>
                          <a:ea typeface="Meiryo UI"/>
                        </a:rPr>
                        <a:t>八坂池</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土地6筆（法人所有1筆と混在）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2,750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畑・雑種地</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6,636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なし</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55000">
                <a:tc>
                  <a:txBody>
                    <a:bodyPr/>
                    <a:lstStyle/>
                    <a:p>
                      <a:pPr algn="l"/>
                      <a:r>
                        <a:rPr lang="ja-JP" sz="900" b="0">
                          <a:solidFill>
                            <a:srgbClr val="000000"/>
                          </a:solidFill>
                          <a:latin typeface="Meiryo UI"/>
                          <a:ea typeface="Meiryo UI"/>
                        </a:rPr>
                        <a:t>新八坂池</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土地1筆（拠点全体）／建物は法人</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1,476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宅地</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16,287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①滋賀銀行</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55000">
                <a:tc>
                  <a:txBody>
                    <a:bodyPr/>
                    <a:lstStyle/>
                    <a:p>
                      <a:pPr algn="l"/>
                      <a:r>
                        <a:rPr lang="ja-JP" sz="900" b="0">
                          <a:solidFill>
                            <a:srgbClr val="000000"/>
                          </a:solidFill>
                          <a:latin typeface="Meiryo UI"/>
                          <a:ea typeface="Meiryo UI"/>
                        </a:rPr>
                        <a:t>湖北池</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土地4筆＋建物1棟（拠点全体）</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2,066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宅地・田・畑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14,415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①滋賀銀行</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55000">
                <a:tc>
                  <a:txBody>
                    <a:bodyPr/>
                    <a:lstStyle/>
                    <a:p>
                      <a:pPr algn="l"/>
                      <a:r>
                        <a:rPr lang="ja-JP" sz="900" b="0">
                          <a:solidFill>
                            <a:srgbClr val="000000"/>
                          </a:solidFill>
                          <a:latin typeface="Meiryo UI"/>
                          <a:ea typeface="Meiryo UI"/>
                        </a:rPr>
                        <a:t>本社・加工場・冷凍庫周辺</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土地9筆＋建物2棟（建物の大半は法人）</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2,147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宅地・畑・雑種地</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15,748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lang="ja-JP" sz="900" b="0">
                          <a:solidFill>
                            <a:srgbClr val="000000"/>
                          </a:solidFill>
                          <a:latin typeface="Meiryo UI"/>
                          <a:ea typeface="Meiryo UI"/>
                        </a:rPr>
                        <a:t>一部③長浜信金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55000">
                <a:tc>
                  <a:txBody>
                    <a:bodyPr/>
                    <a:lstStyle/>
                    <a:p>
                      <a:pPr algn="l"/>
                      <a:r>
                        <a:rPr lang="ja-JP" sz="900" b="1">
                          <a:solidFill>
                            <a:srgbClr val="000000"/>
                          </a:solidFill>
                          <a:latin typeface="Meiryo UI"/>
                          <a:ea typeface="Meiryo UI"/>
                        </a:rPr>
                        <a:t>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l"/>
                      <a:r>
                        <a:rPr lang="ja-JP" sz="900" b="1">
                          <a:solidFill>
                            <a:srgbClr val="000000"/>
                          </a:solidFill>
                          <a:latin typeface="Meiryo UI"/>
                          <a:ea typeface="Meiryo UI"/>
                        </a:rPr>
                        <a:t>土地25筆＋建物3棟</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24,592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l"/>
                      <a:r>
                        <a:rPr lang="ja-JP" sz="900" b="1">
                          <a:solidFill>
                            <a:srgbClr val="000000"/>
                          </a:solidFill>
                          <a:latin typeface="Meiryo UI"/>
                          <a:ea typeface="Meiryo UI"/>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124,664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l"/>
                      <a:r>
                        <a:rPr lang="ja-JP" sz="900" b="1">
                          <a:solidFill>
                            <a:srgbClr val="000000"/>
                          </a:solidFill>
                          <a:latin typeface="Meiryo UI"/>
                          <a:ea typeface="Meiryo UI"/>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bl>
          </a:graphicData>
        </a:graphic>
      </p:graphicFrame>
      <p:sp>
        <p:nvSpPr>
          <p:cNvPr id="13" name="テキスト ボックス 21">
            <a:extLst>
              <a:ext uri="{FF2B5EF4-FFF2-40B4-BE49-F238E27FC236}">
                <a16:creationId xmlns:a16="http://schemas.microsoft.com/office/drawing/2014/main" id="{55399AA7-9FE0-C458-58D3-47B63EB7E9C6}"/>
              </a:ext>
            </a:extLst>
          </p:cNvPr>
          <p:cNvSpPr txBox="1"/>
          <p:nvPr/>
        </p:nvSpPr>
        <p:spPr>
          <a:xfrm>
            <a:off x="7996619" y="1290000"/>
            <a:ext cx="1036086" cy="230832"/>
          </a:xfrm>
          <a:prstGeom prst="rect">
            <a:avLst/>
          </a:prstGeom>
          <a:noFill/>
        </p:spPr>
        <p:txBody>
          <a:bodyPr wrap="square" rtlCol="0">
            <a:spAutoFit/>
          </a:bodyPr>
          <a:lstStyle/>
          <a:p>
            <a:r>
              <a:rPr kumimoji="1" lang="ja-JP" altLang="en-US" sz="900" dirty="0">
                <a:latin typeface="Meiryo UI" panose="020B0604030504040204" pitchFamily="50" charset="-128"/>
                <a:ea typeface="Meiryo UI" panose="020B0604030504040204" pitchFamily="50" charset="-128"/>
              </a:rPr>
              <a:t>（単位：千円）</a:t>
            </a:r>
          </a:p>
        </p:txBody>
      </p:sp>
      <p:sp>
        <p:nvSpPr>
          <p:cNvPr id="14" name="Rectangle 211">
            <a:extLst>
              <a:ext uri="{FF2B5EF4-FFF2-40B4-BE49-F238E27FC236}">
                <a16:creationId xmlns:a16="http://schemas.microsoft.com/office/drawing/2014/main" id="{D2DE299A-D820-1D49-CFD7-B1582CCFE55F}"/>
              </a:ext>
            </a:extLst>
          </p:cNvPr>
          <p:cNvSpPr/>
          <p:nvPr/>
        </p:nvSpPr>
        <p:spPr>
          <a:xfrm>
            <a:off x="3286426" y="3480000"/>
            <a:ext cx="2790666" cy="156000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15" name="Rectangle 212">
            <a:extLst>
              <a:ext uri="{FF2B5EF4-FFF2-40B4-BE49-F238E27FC236}">
                <a16:creationId xmlns:a16="http://schemas.microsoft.com/office/drawing/2014/main" id="{868696E2-E177-7722-970A-D79625123DD8}"/>
              </a:ext>
            </a:extLst>
          </p:cNvPr>
          <p:cNvSpPr/>
          <p:nvPr/>
        </p:nvSpPr>
        <p:spPr>
          <a:xfrm>
            <a:off x="3286426" y="3480000"/>
            <a:ext cx="2790666" cy="300000"/>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altLang="en-US" sz="1050" b="1" dirty="0">
                <a:solidFill>
                  <a:srgbClr val="FFFFFF"/>
                </a:solidFill>
                <a:latin typeface="Meiryo UI"/>
                <a:ea typeface="Meiryo UI"/>
              </a:rPr>
              <a:t>B｜賃貸借</a:t>
            </a:r>
          </a:p>
        </p:txBody>
      </p:sp>
      <p:sp>
        <p:nvSpPr>
          <p:cNvPr id="16" name="TextBox 213">
            <a:extLst>
              <a:ext uri="{FF2B5EF4-FFF2-40B4-BE49-F238E27FC236}">
                <a16:creationId xmlns:a16="http://schemas.microsoft.com/office/drawing/2014/main" id="{1B19AD1E-6226-1E23-5D70-96453057B1ED}"/>
              </a:ext>
            </a:extLst>
          </p:cNvPr>
          <p:cNvSpPr txBox="1"/>
          <p:nvPr/>
        </p:nvSpPr>
        <p:spPr>
          <a:xfrm>
            <a:off x="3376426" y="3840000"/>
            <a:ext cx="2610666" cy="1160000"/>
          </a:xfrm>
          <a:prstGeom prst="rect">
            <a:avLst/>
          </a:prstGeom>
          <a:noFill/>
        </p:spPr>
        <p:txBody>
          <a:bodyPr wrap="square" lIns="54000" tIns="27000" rIns="54000" bIns="27000" anchor="t">
            <a:spAutoFit/>
          </a:bodyPr>
          <a:lstStyle/>
          <a:p>
            <a:pPr algn="l"/>
            <a:r>
              <a:rPr lang="ja-JP" sz="900" b="0" dirty="0">
                <a:solidFill>
                  <a:srgbClr val="000000"/>
                </a:solidFill>
                <a:latin typeface="Meiryo UI"/>
                <a:ea typeface="Meiryo UI"/>
              </a:rPr>
              <a:t>・社長個人と対象会社で賃貸借契約を締結</a:t>
            </a:r>
          </a:p>
          <a:p>
            <a:pPr algn="l"/>
            <a:r>
              <a:rPr lang="ja-JP" sz="900" b="0" dirty="0">
                <a:solidFill>
                  <a:srgbClr val="000000"/>
                </a:solidFill>
                <a:latin typeface="Meiryo UI"/>
                <a:ea typeface="Meiryo UI"/>
              </a:rPr>
              <a:t>・本社敷地は現状無償（固定資産税相当額を当社負担）。他拠点の負担関係は要確認</a:t>
            </a:r>
          </a:p>
          <a:p>
            <a:pPr algn="l"/>
            <a:r>
              <a:rPr lang="ja-JP" sz="900" b="0" dirty="0">
                <a:solidFill>
                  <a:srgbClr val="000000"/>
                </a:solidFill>
                <a:latin typeface="Meiryo UI"/>
                <a:ea typeface="Meiryo UI"/>
              </a:rPr>
              <a:t>・賃料発生分は収益力（EBITDA）の下押し要因</a:t>
            </a:r>
          </a:p>
        </p:txBody>
      </p:sp>
      <p:sp>
        <p:nvSpPr>
          <p:cNvPr id="17" name="Rectangle 211">
            <a:extLst>
              <a:ext uri="{FF2B5EF4-FFF2-40B4-BE49-F238E27FC236}">
                <a16:creationId xmlns:a16="http://schemas.microsoft.com/office/drawing/2014/main" id="{D2DE299A-D820-1D49-CFD7-B1582CCFE55F}"/>
              </a:ext>
            </a:extLst>
          </p:cNvPr>
          <p:cNvSpPr/>
          <p:nvPr/>
        </p:nvSpPr>
        <p:spPr>
          <a:xfrm>
            <a:off x="6207092" y="3480000"/>
            <a:ext cx="2790666" cy="156000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18" name="Rectangle 212">
            <a:extLst>
              <a:ext uri="{FF2B5EF4-FFF2-40B4-BE49-F238E27FC236}">
                <a16:creationId xmlns:a16="http://schemas.microsoft.com/office/drawing/2014/main" id="{868696E2-E177-7722-970A-D79625123DD8}"/>
              </a:ext>
            </a:extLst>
          </p:cNvPr>
          <p:cNvSpPr/>
          <p:nvPr/>
        </p:nvSpPr>
        <p:spPr>
          <a:xfrm>
            <a:off x="6207092" y="3480000"/>
            <a:ext cx="2790666" cy="300000"/>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altLang="en-US" sz="1050" b="1" dirty="0">
                <a:solidFill>
                  <a:srgbClr val="FFFFFF"/>
                </a:solidFill>
                <a:latin typeface="Meiryo UI"/>
                <a:ea typeface="Meiryo UI"/>
              </a:rPr>
              <a:t>C｜組合せ（仮説）</a:t>
            </a:r>
          </a:p>
        </p:txBody>
      </p:sp>
      <p:sp>
        <p:nvSpPr>
          <p:cNvPr id="19" name="TextBox 213">
            <a:extLst>
              <a:ext uri="{FF2B5EF4-FFF2-40B4-BE49-F238E27FC236}">
                <a16:creationId xmlns:a16="http://schemas.microsoft.com/office/drawing/2014/main" id="{1B19AD1E-6226-1E23-5D70-96453057B1ED}"/>
              </a:ext>
            </a:extLst>
          </p:cNvPr>
          <p:cNvSpPr txBox="1"/>
          <p:nvPr/>
        </p:nvSpPr>
        <p:spPr>
          <a:xfrm>
            <a:off x="6297092" y="3840000"/>
            <a:ext cx="2610666" cy="1160000"/>
          </a:xfrm>
          <a:prstGeom prst="rect">
            <a:avLst/>
          </a:prstGeom>
          <a:noFill/>
        </p:spPr>
        <p:txBody>
          <a:bodyPr wrap="square" lIns="54000" tIns="27000" rIns="54000" bIns="27000" anchor="t">
            <a:spAutoFit/>
          </a:bodyPr>
          <a:lstStyle/>
          <a:p>
            <a:pPr algn="l"/>
            <a:r>
              <a:rPr lang="ja-JP" sz="900" b="0" dirty="0">
                <a:solidFill>
                  <a:srgbClr val="000000"/>
                </a:solidFill>
                <a:latin typeface="Meiryo UI"/>
                <a:ea typeface="Meiryo UI"/>
              </a:rPr>
              <a:t>・拠点全体が個人名義の甲崎池・新八坂池・湖北池は買取</a:t>
            </a:r>
          </a:p>
          <a:p>
            <a:pPr algn="l"/>
            <a:r>
              <a:rPr lang="ja-JP" sz="900" b="0" dirty="0">
                <a:solidFill>
                  <a:srgbClr val="000000"/>
                </a:solidFill>
                <a:latin typeface="Meiryo UI"/>
                <a:ea typeface="Meiryo UI"/>
              </a:rPr>
              <a:t>・その他（八坂池・本社周辺）は賃貸借</a:t>
            </a:r>
          </a:p>
          <a:p>
            <a:pPr algn="l"/>
            <a:r>
              <a:rPr lang="ja-JP" sz="900" b="0" dirty="0">
                <a:solidFill>
                  <a:srgbClr val="000000"/>
                </a:solidFill>
                <a:latin typeface="Meiryo UI"/>
                <a:ea typeface="Meiryo UI"/>
              </a:rPr>
              <a:t>・取得資金と賃料負担のバランスで設計</a:t>
            </a:r>
          </a:p>
        </p:txBody>
      </p:sp>
      <p:sp>
        <p:nvSpPr>
          <p:cNvPr id="20" name="TextBox 209">
            <a:extLst>
              <a:ext uri="{FF2B5EF4-FFF2-40B4-BE49-F238E27FC236}">
                <a16:creationId xmlns:a16="http://schemas.microsoft.com/office/drawing/2014/main" id="{503165E7-17CD-D25F-9777-A78472EC3C28}"/>
              </a:ext>
            </a:extLst>
          </p:cNvPr>
          <p:cNvSpPr txBox="1"/>
          <p:nvPr/>
        </p:nvSpPr>
        <p:spPr>
          <a:xfrm>
            <a:off x="265176" y="5130000"/>
            <a:ext cx="8631936" cy="420000"/>
          </a:xfrm>
          <a:prstGeom prst="rect">
            <a:avLst/>
          </a:prstGeom>
          <a:noFill/>
        </p:spPr>
        <p:txBody>
          <a:bodyPr wrap="square">
            <a:spAutoFit/>
          </a:bodyPr>
          <a:lstStyle/>
          <a:p>
            <a:r>
              <a:rPr lang="en-US" altLang="ja-JP" sz="1050" dirty="0" b="1">
                <a:latin typeface="Meiryo UI"/>
                <a:ea typeface="Meiryo UI"/>
              </a:rPr>
              <a:t>→ 貴社のご意向（買取／賃貸借）、取得主体（対象会社／貴社）、価格・賃料の算定方法（鑑定評価の要否）、資金手当てを確認させていただきたい。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204;p3">
            <a:extLst>
              <a:ext uri="{FF2B5EF4-FFF2-40B4-BE49-F238E27FC236}">
                <a16:creationId xmlns:a16="http://schemas.microsoft.com/office/drawing/2014/main" id="{2D1ED253-F40D-FF0C-6733-FB293BC49945}"/>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r>
              <a:rPr lang="ja-JP" altLang="en-US" dirty="0">
                <a:solidFill>
                  <a:srgbClr val="5A5A5A"/>
                </a:solidFill>
                <a:latin typeface="Meiryo UI" panose="020B0604030504040204" pitchFamily="50" charset="-128"/>
                <a:ea typeface="Meiryo UI" panose="020B0604030504040204" pitchFamily="50" charset="-128"/>
              </a:rPr>
              <a:t>譲渡対価の考え方と取得資金（ご参考）</a:t>
            </a:r>
          </a:p>
        </p:txBody>
      </p:sp>
      <p:sp>
        <p:nvSpPr>
          <p:cNvPr id="4" name="Google Shape;205;p3">
            <a:extLst>
              <a:ext uri="{FF2B5EF4-FFF2-40B4-BE49-F238E27FC236}">
                <a16:creationId xmlns:a16="http://schemas.microsoft.com/office/drawing/2014/main" id="{E50847C0-091C-291B-273F-333A519640AC}"/>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5" name="Google Shape;206;p3">
            <a:extLst>
              <a:ext uri="{FF2B5EF4-FFF2-40B4-BE49-F238E27FC236}">
                <a16:creationId xmlns:a16="http://schemas.microsoft.com/office/drawing/2014/main" id="{B227A796-C9B0-4950-E952-065264CBF78E}"/>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sp>
        <p:nvSpPr>
          <p:cNvPr id="6" name="Google Shape;208;p3">
            <a:extLst>
              <a:ext uri="{FF2B5EF4-FFF2-40B4-BE49-F238E27FC236}">
                <a16:creationId xmlns:a16="http://schemas.microsoft.com/office/drawing/2014/main" id="{A7E1A7B2-DD1F-D7B7-9B14-CD1190DF38BE}"/>
              </a:ext>
            </a:extLst>
          </p:cNvPr>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【記載時の留意事項】</a:t>
            </a:r>
            <a:endParaRPr dirty="0"/>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１．譲渡スキームについて、株式譲渡の際は株券発行の有無（謄本確認）、株券発行の場合、印刷しているか（インタビュー）を確認し、株券不発行会社（株券廃止手続）にするかも確認。</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　</a:t>
            </a:r>
            <a:r>
              <a:rPr lang="ja-JP" sz="1200" b="0" i="0" u="none" strike="noStrike" cap="none" dirty="0">
                <a:solidFill>
                  <a:srgbClr val="FF0000"/>
                </a:solidFill>
                <a:latin typeface="Arial"/>
                <a:ea typeface="Arial"/>
                <a:cs typeface="Arial"/>
                <a:sym typeface="Arial"/>
              </a:rPr>
              <a:t>会社分割や事業譲渡の場合、譲渡対象やスケジュール感</a:t>
            </a:r>
            <a:r>
              <a:rPr lang="ja-JP" sz="1200" b="0" i="0" u="none" strike="noStrike" cap="none" dirty="0">
                <a:solidFill>
                  <a:schemeClr val="dk1"/>
                </a:solidFill>
                <a:latin typeface="Arial"/>
                <a:ea typeface="Arial"/>
                <a:cs typeface="Arial"/>
                <a:sym typeface="Arial"/>
              </a:rPr>
              <a:t>を固めること。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２．譲渡比率が一部譲渡の際は、譲渡しない株主が論点にならないか等を確認ください。</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３．金額面の条件について、希望株価をここでは記載するが、</a:t>
            </a:r>
            <a:r>
              <a:rPr lang="ja-JP" sz="1200" b="0" i="0" u="none" strike="noStrike" cap="none" dirty="0">
                <a:solidFill>
                  <a:srgbClr val="FF0000"/>
                </a:solidFill>
                <a:latin typeface="Arial"/>
                <a:ea typeface="Arial"/>
                <a:cs typeface="Arial"/>
                <a:sym typeface="Arial"/>
              </a:rPr>
              <a:t>最低応諾価格は把握しておくこと。希望株価はいつの時点の決算かを把握し、今期決算をどこまで織り込むか</a:t>
            </a:r>
            <a:r>
              <a:rPr lang="ja-JP" sz="1200" b="0" i="0" u="none" strike="noStrike" cap="none" dirty="0">
                <a:solidFill>
                  <a:schemeClr val="dk1"/>
                </a:solidFill>
                <a:latin typeface="Arial"/>
                <a:ea typeface="Arial"/>
                <a:cs typeface="Arial"/>
                <a:sym typeface="Arial"/>
              </a:rPr>
              <a:t>も留意すること。</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４．役員退職金について、一般的に、</a:t>
            </a:r>
            <a:r>
              <a:rPr lang="ja-JP" sz="1200" b="0" i="0" u="none" strike="noStrike" cap="none" dirty="0">
                <a:solidFill>
                  <a:srgbClr val="FF0000"/>
                </a:solidFill>
                <a:latin typeface="Arial"/>
                <a:ea typeface="Arial"/>
                <a:cs typeface="Arial"/>
                <a:sym typeface="Arial"/>
              </a:rPr>
              <a:t>売り手は手取最大化、買い手は損金限度額まで支給したいニーズがあり、両者のニーズが合致しないので、気を付ける。</a:t>
            </a:r>
            <a:r>
              <a:rPr lang="ja-JP" sz="1200" b="0" i="0" u="none" strike="noStrike" cap="none" dirty="0">
                <a:solidFill>
                  <a:schemeClr val="dk1"/>
                </a:solidFill>
                <a:latin typeface="Arial"/>
                <a:ea typeface="Arial"/>
                <a:cs typeface="Arial"/>
                <a:sym typeface="Arial"/>
              </a:rPr>
              <a:t>また、対象企業で原資があるかどうか、エスクロー実施するかどうかも確認する。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５． ６．役員借入金（対象会社がオーナーから借りている借入金）/貸付金（対象会社からオーナーへ貸付している貸付金）は金額が大きく変動することもあり、常に更新する。</a:t>
            </a: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dirty="0">
                <a:solidFill>
                  <a:schemeClr val="dk1"/>
                </a:solidFill>
                <a:latin typeface="Arial"/>
                <a:ea typeface="Arial"/>
                <a:cs typeface="Arial"/>
                <a:sym typeface="Arial"/>
              </a:rPr>
              <a:t>７．社長の引継ぎ条件については、条件は当然として、</a:t>
            </a:r>
            <a:r>
              <a:rPr lang="ja-JP" sz="1200" b="0" i="0" u="none" strike="noStrike" cap="none" dirty="0">
                <a:solidFill>
                  <a:srgbClr val="FF0000"/>
                </a:solidFill>
                <a:latin typeface="Arial"/>
                <a:ea typeface="Arial"/>
                <a:cs typeface="Arial"/>
                <a:sym typeface="Arial"/>
              </a:rPr>
              <a:t>社長の業務（経営判断・営業・経理等）を把握し、人材を派遣する必要があるのか？社内からの昇格を行うのか？</a:t>
            </a:r>
            <a:r>
              <a:rPr lang="ja-JP" sz="1200" b="0" i="0" u="none" strike="noStrike" cap="none" dirty="0">
                <a:solidFill>
                  <a:schemeClr val="dk1"/>
                </a:solidFill>
                <a:latin typeface="Arial"/>
                <a:ea typeface="Arial"/>
                <a:cs typeface="Arial"/>
                <a:sym typeface="Arial"/>
              </a:rPr>
              <a:t>なども確認する。</a:t>
            </a:r>
            <a:endParaRPr dirty="0"/>
          </a:p>
        </p:txBody>
      </p:sp>
      <p:sp>
        <p:nvSpPr>
          <p:cNvPr id="7" name="TextBox 209">
            <a:extLst>
              <a:ext uri="{FF2B5EF4-FFF2-40B4-BE49-F238E27FC236}">
                <a16:creationId xmlns:a16="http://schemas.microsoft.com/office/drawing/2014/main" id="{6213C1B4-1DB8-B498-3A28-5942E4D4003E}"/>
              </a:ext>
            </a:extLst>
          </p:cNvPr>
          <p:cNvSpPr txBox="1"/>
          <p:nvPr/>
        </p:nvSpPr>
        <p:spPr>
          <a:xfrm>
            <a:off x="265176" y="836613"/>
            <a:ext cx="8631936" cy="646331"/>
          </a:xfrm>
          <a:prstGeom prst="rect">
            <a:avLst/>
          </a:prstGeom>
          <a:noFill/>
        </p:spPr>
        <p:txBody>
          <a:bodyPr wrap="square">
            <a:spAutoFit/>
          </a:bodyPr>
          <a:lstStyle/>
          <a:p>
            <a:r>
              <a:rPr lang="ja-JP" altLang="en-US" sz="1200" dirty="0">
                <a:latin typeface="Meiryo UI"/>
                <a:ea typeface="Meiryo UI"/>
              </a:rPr>
              <a:t>▪ 売主様の希望価格は「応相談」。25/9期は琵琶湖産天然鮎の不漁により営業損失・債務超過を計上</a:t>
            </a:r>
          </a:p>
          <a:p>
            <a:r>
              <a:rPr lang="ja-JP" altLang="en-US" sz="1200" dirty="0">
                <a:latin typeface="Meiryo UI"/>
                <a:ea typeface="Meiryo UI"/>
              </a:rPr>
              <a:t>▪ 一方、事業用土地の時価目安は法人・個人名義の合計で187,745千円と、相応の資産の裏付けを有する</a:t>
            </a:r>
          </a:p>
          <a:p>
            <a:r>
              <a:rPr lang="ja-JP" altLang="en-US" sz="1200" dirty="0">
                <a:latin typeface="Meiryo UI"/>
                <a:ea typeface="Meiryo UI"/>
              </a:rPr>
              <a:t>▪ 譲渡対価に加え、役員借入金の返済・不動産の手当て・借入金の保証差替えを含む総額でのご検討をお願いしたい</a:t>
            </a:r>
          </a:p>
        </p:txBody>
      </p:sp>
      <p:sp>
        <p:nvSpPr>
          <p:cNvPr id="8" name="TextBox 209">
            <a:extLst>
              <a:ext uri="{FF2B5EF4-FFF2-40B4-BE49-F238E27FC236}">
                <a16:creationId xmlns:a16="http://schemas.microsoft.com/office/drawing/2014/main" id="{E8D35E91-51BA-570D-CC34-14FB5A0E533C}"/>
              </a:ext>
            </a:extLst>
          </p:cNvPr>
          <p:cNvSpPr txBox="1"/>
          <p:nvPr/>
        </p:nvSpPr>
        <p:spPr>
          <a:xfrm>
            <a:off x="265176" y="5900000"/>
            <a:ext cx="8631936" cy="438582"/>
          </a:xfrm>
          <a:prstGeom prst="rect">
            <a:avLst/>
          </a:prstGeom>
          <a:noFill/>
        </p:spPr>
        <p:txBody>
          <a:bodyPr wrap="square">
            <a:spAutoFit/>
          </a:bodyPr>
          <a:lstStyle/>
          <a:p>
            <a:r>
              <a:rPr sz="750" dirty="0">
                <a:latin typeface="Meiryo UI"/>
                <a:ea typeface="Meiryo UI"/>
              </a:rPr>
              <a:t>※時価純資産は企業概要書記載の試算値（25/9期簿価純資産に貸倒引当金の戻入・土地の時価評価差額を反映）。土地時価目安＝固定資産税評価額÷0.7。</a:t>
            </a:r>
          </a:p>
          <a:p>
            <a:r>
              <a:rPr sz="750" dirty="0">
                <a:latin typeface="Meiryo UI"/>
                <a:ea typeface="Meiryo UI"/>
              </a:rPr>
              <a:t>※千円未満の端数処理により合計が一致しない場合があります。</a:t>
            </a:r>
          </a:p>
          <a:p>
            <a:r>
              <a:rPr sz="750" dirty="0">
                <a:latin typeface="Meiryo UI"/>
                <a:ea typeface="Meiryo UI"/>
              </a:rPr>
              <a:t>※資金需要は弊社試算であり、不動産の取扱い・金融機関との協議・DDの結果により変動します。</a:t>
            </a:r>
          </a:p>
        </p:txBody>
      </p:sp>
      <p:sp>
        <p:nvSpPr>
          <p:cNvPr id="9" name="テキスト ボックス 21">
            <a:extLst>
              <a:ext uri="{FF2B5EF4-FFF2-40B4-BE49-F238E27FC236}">
                <a16:creationId xmlns:a16="http://schemas.microsoft.com/office/drawing/2014/main" id="{55399AA7-9FE0-C458-58D3-47B63EB7E9C6}"/>
              </a:ext>
            </a:extLst>
          </p:cNvPr>
          <p:cNvSpPr txBox="1"/>
          <p:nvPr/>
        </p:nvSpPr>
        <p:spPr>
          <a:xfrm>
            <a:off x="7996619" y="1560000"/>
            <a:ext cx="1036086" cy="230832"/>
          </a:xfrm>
          <a:prstGeom prst="rect">
            <a:avLst/>
          </a:prstGeom>
          <a:noFill/>
        </p:spPr>
        <p:txBody>
          <a:bodyPr wrap="square" rtlCol="0">
            <a:spAutoFit/>
          </a:bodyPr>
          <a:lstStyle/>
          <a:p>
            <a:r>
              <a:rPr kumimoji="1" lang="ja-JP" altLang="en-US" sz="900" dirty="0">
                <a:latin typeface="Meiryo UI" panose="020B0604030504040204" pitchFamily="50" charset="-128"/>
                <a:ea typeface="Meiryo UI" panose="020B0604030504040204" pitchFamily="50" charset="-128"/>
              </a:rPr>
              <a:t>（単位：千円）</a:t>
            </a:r>
          </a:p>
        </p:txBody>
      </p:sp>
      <p:graphicFrame>
        <p:nvGraphicFramePr>
          <p:cNvPr id="10" name="Table 207">
            <a:extLst>
              <a:ext uri="{FF2B5EF4-FFF2-40B4-BE49-F238E27FC236}">
                <a16:creationId xmlns:a16="http://schemas.microsoft.com/office/drawing/2014/main" id="{58956B21-0138-AFE7-9E0E-9DDFA2F7643F}"/>
              </a:ext>
            </a:extLst>
          </p:cNvPr>
          <p:cNvGraphicFramePr>
            <a:graphicFrameLocks noGrp="1"/>
          </p:cNvGraphicFramePr>
          <p:nvPr/>
        </p:nvGraphicFramePr>
        <p:xfrm>
          <a:off x="365760" y="1830000"/>
          <a:ext cx="4030000" cy="3016000"/>
        </p:xfrm>
        <a:graphic>
          <a:graphicData uri="http://schemas.openxmlformats.org/drawingml/2006/table">
            <a:tbl>
              <a:tblPr>
                <a:tableStyleId>{5C22544A-7EE6-4342-B048-85BDC9FD1C3A}</a:tableStyleId>
              </a:tblPr>
              <a:tblGrid>
                <a:gridCol w="2780000">
                  <a:extLst>
                    <a:ext uri="{9D8B030D-6E8A-4147-A177-3AD203B41FA5}">
                      <a16:colId xmlns:a16="http://schemas.microsoft.com/office/drawing/2014/main" val="20000"/>
                    </a:ext>
                  </a:extLst>
                </a:gridCol>
                <a:gridCol w="1250000">
                  <a:extLst>
                    <a:ext uri="{9D8B030D-6E8A-4147-A177-3AD203B41FA5}">
                      <a16:colId xmlns:a16="http://schemas.microsoft.com/office/drawing/2014/main" val="20001"/>
                    </a:ext>
                  </a:extLst>
                </a:gridCol>
              </a:tblGrid>
              <a:tr h="232000">
                <a:tc>
                  <a:txBody>
                    <a:bodyPr/>
                    <a:lstStyle/>
                    <a:p>
                      <a:pPr algn="ctr"/>
                      <a:r>
                        <a:rPr lang="ja-JP" sz="900" b="1">
                          <a:solidFill>
                            <a:srgbClr val="FFFFFF"/>
                          </a:solidFill>
                          <a:latin typeface="Meiryo UI"/>
                          <a:ea typeface="Meiryo UI"/>
                        </a:rPr>
                        <a:t>株価算定の参考指標（25/9期）</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a:txBody>
                    <a:bodyPr/>
                    <a:lstStyle/>
                    <a:p>
                      <a:pPr algn="ctr"/>
                      <a:r>
                        <a:rPr lang="ja-JP" sz="900" b="1">
                          <a:solidFill>
                            <a:srgbClr val="FFFFFF"/>
                          </a:solidFill>
                          <a:latin typeface="Meiryo UI"/>
                          <a:ea typeface="Meiryo UI"/>
                        </a:rPr>
                        <a:t>金額</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32000">
                <a:tc>
                  <a:txBody>
                    <a:bodyPr/>
                    <a:lstStyle/>
                    <a:p>
                      <a:pPr algn="l"/>
                      <a:r>
                        <a:rPr lang="ja-JP" sz="900" b="1">
                          <a:solidFill>
                            <a:srgbClr val="000000"/>
                          </a:solidFill>
                          <a:latin typeface="Meiryo UI"/>
                          <a:ea typeface="Meiryo UI"/>
                        </a:rPr>
                        <a:t>損益</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1">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32000">
                <a:tc>
                  <a:txBody>
                    <a:bodyPr/>
                    <a:lstStyle/>
                    <a:p>
                      <a:pPr algn="l"/>
                      <a:r>
                        <a:rPr lang="ja-JP" sz="900" b="0">
                          <a:solidFill>
                            <a:srgbClr val="000000"/>
                          </a:solidFill>
                          <a:latin typeface="Meiryo UI"/>
                          <a:ea typeface="Meiryo UI"/>
                        </a:rPr>
                        <a:t>売上高</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254,426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2000">
                <a:tc>
                  <a:txBody>
                    <a:bodyPr/>
                    <a:lstStyle/>
                    <a:p>
                      <a:pPr algn="l"/>
                      <a:r>
                        <a:rPr lang="ja-JP" sz="900" b="0">
                          <a:solidFill>
                            <a:srgbClr val="000000"/>
                          </a:solidFill>
                          <a:latin typeface="Meiryo UI"/>
                          <a:ea typeface="Meiryo UI"/>
                        </a:rPr>
                        <a:t>調整後EBITDA</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△13,763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32000">
                <a:tc>
                  <a:txBody>
                    <a:bodyPr/>
                    <a:lstStyle/>
                    <a:p>
                      <a:pPr algn="l"/>
                      <a:r>
                        <a:rPr lang="ja-JP" sz="900" b="0">
                          <a:solidFill>
                            <a:srgbClr val="000000"/>
                          </a:solidFill>
                          <a:latin typeface="Meiryo UI"/>
                          <a:ea typeface="Meiryo UI"/>
                        </a:rPr>
                        <a:t>調整後EBITDA（3期平均）</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5,504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32000">
                <a:tc>
                  <a:txBody>
                    <a:bodyPr/>
                    <a:lstStyle/>
                    <a:p>
                      <a:pPr algn="l"/>
                      <a:r>
                        <a:rPr lang="ja-JP" sz="900" b="1">
                          <a:solidFill>
                            <a:srgbClr val="000000"/>
                          </a:solidFill>
                          <a:latin typeface="Meiryo UI"/>
                          <a:ea typeface="Meiryo UI"/>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1">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5"/>
                  </a:ext>
                </a:extLst>
              </a:tr>
              <a:tr h="232000">
                <a:tc>
                  <a:txBody>
                    <a:bodyPr/>
                    <a:lstStyle/>
                    <a:p>
                      <a:pPr algn="l"/>
                      <a:r>
                        <a:rPr lang="ja-JP" sz="900" b="0">
                          <a:solidFill>
                            <a:srgbClr val="000000"/>
                          </a:solidFill>
                          <a:latin typeface="Meiryo UI"/>
                          <a:ea typeface="Meiryo UI"/>
                        </a:rPr>
                        <a:t>簿価純資産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△20,912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6"/>
                  </a:ext>
                </a:extLst>
              </a:tr>
              <a:tr h="232000">
                <a:tc>
                  <a:txBody>
                    <a:bodyPr/>
                    <a:lstStyle/>
                    <a:p>
                      <a:pPr algn="l"/>
                      <a:r>
                        <a:rPr lang="ja-JP" sz="900" b="0">
                          <a:solidFill>
                            <a:srgbClr val="000000"/>
                          </a:solidFill>
                          <a:latin typeface="Meiryo UI"/>
                          <a:ea typeface="Meiryo UI"/>
                        </a:rPr>
                        <a:t>時価純資産（土地時価評価後）</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△23,594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7"/>
                  </a:ext>
                </a:extLst>
              </a:tr>
              <a:tr h="232000">
                <a:tc>
                  <a:txBody>
                    <a:bodyPr/>
                    <a:lstStyle/>
                    <a:p>
                      <a:pPr algn="l"/>
                      <a:r>
                        <a:rPr lang="ja-JP" sz="900" b="1">
                          <a:solidFill>
                            <a:srgbClr val="000000"/>
                          </a:solidFill>
                          <a:latin typeface="Meiryo UI"/>
                          <a:ea typeface="Meiryo UI"/>
                        </a:rPr>
                        <a:t>有利子負債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1">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8"/>
                  </a:ext>
                </a:extLst>
              </a:tr>
              <a:tr h="232000">
                <a:tc>
                  <a:txBody>
                    <a:bodyPr/>
                    <a:lstStyle/>
                    <a:p>
                      <a:pPr algn="l"/>
                      <a:r>
                        <a:rPr lang="ja-JP" sz="900" b="0">
                          <a:solidFill>
                            <a:srgbClr val="000000"/>
                          </a:solidFill>
                          <a:latin typeface="Meiryo UI"/>
                          <a:ea typeface="Meiryo UI"/>
                        </a:rPr>
                        <a:t>長期借入金（金融機関4先）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212,425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32000">
                <a:tc>
                  <a:txBody>
                    <a:bodyPr/>
                    <a:lstStyle/>
                    <a:p>
                      <a:pPr algn="l"/>
                      <a:r>
                        <a:rPr lang="ja-JP" sz="900" b="0">
                          <a:solidFill>
                            <a:srgbClr val="000000"/>
                          </a:solidFill>
                          <a:latin typeface="Meiryo UI"/>
                          <a:ea typeface="Meiryo UI"/>
                        </a:rPr>
                        <a:t>役員借入金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31,300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32000">
                <a:tc>
                  <a:txBody>
                    <a:bodyPr/>
                    <a:lstStyle/>
                    <a:p>
                      <a:pPr algn="l"/>
                      <a:r>
                        <a:rPr lang="ja-JP" sz="900" b="0">
                          <a:solidFill>
                            <a:srgbClr val="000000"/>
                          </a:solidFill>
                          <a:latin typeface="Meiryo UI"/>
                          <a:ea typeface="Meiryo UI"/>
                        </a:rPr>
                        <a:t>現預金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△36,804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1"/>
                  </a:ext>
                </a:extLst>
              </a:tr>
              <a:tr h="232000">
                <a:tc>
                  <a:txBody>
                    <a:bodyPr/>
                    <a:lstStyle/>
                    <a:p>
                      <a:pPr algn="l"/>
                      <a:r>
                        <a:rPr lang="ja-JP" sz="900" b="1">
                          <a:solidFill>
                            <a:srgbClr val="000000"/>
                          </a:solidFill>
                          <a:latin typeface="Meiryo UI"/>
                          <a:ea typeface="Meiryo UI"/>
                        </a:rPr>
                        <a:t>ネット有利子負債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206,921</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2"/>
                  </a:ext>
                </a:extLst>
              </a:tr>
            </a:tbl>
          </a:graphicData>
        </a:graphic>
      </p:graphicFrame>
      <p:graphicFrame>
        <p:nvGraphicFramePr>
          <p:cNvPr id="11" name="Table 207">
            <a:extLst>
              <a:ext uri="{FF2B5EF4-FFF2-40B4-BE49-F238E27FC236}">
                <a16:creationId xmlns:a16="http://schemas.microsoft.com/office/drawing/2014/main" id="{58956B21-0138-AFE7-9E0E-9DDFA2F7643F}"/>
              </a:ext>
            </a:extLst>
          </p:cNvPr>
          <p:cNvGraphicFramePr>
            <a:graphicFrameLocks noGrp="1"/>
          </p:cNvGraphicFramePr>
          <p:nvPr/>
        </p:nvGraphicFramePr>
        <p:xfrm>
          <a:off x="4640000" y="1830000"/>
          <a:ext cx="4260000" cy="2320000"/>
        </p:xfrm>
        <a:graphic>
          <a:graphicData uri="http://schemas.openxmlformats.org/drawingml/2006/table">
            <a:tbl>
              <a:tblPr>
                <a:tableStyleId>{5C22544A-7EE6-4342-B048-85BDC9FD1C3A}</a:tableStyleId>
              </a:tblPr>
              <a:tblGrid>
                <a:gridCol w="3060000">
                  <a:extLst>
                    <a:ext uri="{9D8B030D-6E8A-4147-A177-3AD203B41FA5}">
                      <a16:colId xmlns:a16="http://schemas.microsoft.com/office/drawing/2014/main" val="20000"/>
                    </a:ext>
                  </a:extLst>
                </a:gridCol>
                <a:gridCol w="1200000">
                  <a:extLst>
                    <a:ext uri="{9D8B030D-6E8A-4147-A177-3AD203B41FA5}">
                      <a16:colId xmlns:a16="http://schemas.microsoft.com/office/drawing/2014/main" val="20001"/>
                    </a:ext>
                  </a:extLst>
                </a:gridCol>
              </a:tblGrid>
              <a:tr h="232000">
                <a:tc>
                  <a:txBody>
                    <a:bodyPr/>
                    <a:lstStyle/>
                    <a:p>
                      <a:pPr algn="ctr"/>
                      <a:r>
                        <a:rPr lang="ja-JP" sz="900" b="1">
                          <a:solidFill>
                            <a:srgbClr val="FFFFFF"/>
                          </a:solidFill>
                          <a:latin typeface="Meiryo UI"/>
                          <a:ea typeface="Meiryo UI"/>
                        </a:rPr>
                        <a:t>取得に際し想定される資金需要</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a:txBody>
                    <a:bodyPr/>
                    <a:lstStyle/>
                    <a:p>
                      <a:pPr algn="ctr"/>
                      <a:r>
                        <a:rPr lang="ja-JP" sz="900" b="1">
                          <a:solidFill>
                            <a:srgbClr val="FFFFFF"/>
                          </a:solidFill>
                          <a:latin typeface="Meiryo UI"/>
                          <a:ea typeface="Meiryo UI"/>
                        </a:rPr>
                        <a:t>金額</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32000">
                <a:tc>
                  <a:txBody>
                    <a:bodyPr/>
                    <a:lstStyle/>
                    <a:p>
                      <a:pPr algn="l"/>
                      <a:r>
                        <a:rPr lang="ja-JP" sz="900" b="0">
                          <a:solidFill>
                            <a:srgbClr val="000000"/>
                          </a:solidFill>
                          <a:latin typeface="Meiryo UI"/>
                          <a:ea typeface="Meiryo UI"/>
                        </a:rPr>
                        <a:t>① 株式譲渡対価</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応相談</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1"/>
                  </a:ext>
                </a:extLst>
              </a:tr>
              <a:tr h="232000">
                <a:tc>
                  <a:txBody>
                    <a:bodyPr/>
                    <a:lstStyle/>
                    <a:p>
                      <a:pPr algn="l"/>
                      <a:r>
                        <a:rPr lang="ja-JP" sz="900" b="0">
                          <a:solidFill>
                            <a:srgbClr val="000000"/>
                          </a:solidFill>
                          <a:latin typeface="Meiryo UI"/>
                          <a:ea typeface="Meiryo UI"/>
                        </a:rPr>
                        <a:t>② 役員借入金の返済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31,300</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32000">
                <a:tc>
                  <a:txBody>
                    <a:bodyPr/>
                    <a:lstStyle/>
                    <a:p>
                      <a:pPr algn="l"/>
                      <a:r>
                        <a:rPr lang="ja-JP" sz="900" b="0">
                          <a:solidFill>
                            <a:srgbClr val="000000"/>
                          </a:solidFill>
                          <a:latin typeface="Meiryo UI"/>
                          <a:ea typeface="Meiryo UI"/>
                        </a:rPr>
                        <a:t>③ 個人名義不動産の買取（買取の場合）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124,664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32000">
                <a:tc>
                  <a:txBody>
                    <a:bodyPr/>
                    <a:lstStyle/>
                    <a:p>
                      <a:pPr algn="l"/>
                      <a:r>
                        <a:rPr lang="ja-JP" sz="900" b="0">
                          <a:solidFill>
                            <a:srgbClr val="000000"/>
                          </a:solidFill>
                          <a:latin typeface="Meiryo UI"/>
                          <a:ea typeface="Meiryo UI"/>
                        </a:rPr>
                        <a:t>④ 金融機関借入の借換え（保証差替えの場合は不要）</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212,425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32000">
                <a:tc>
                  <a:txBody>
                    <a:bodyPr/>
                    <a:lstStyle/>
                    <a:p>
                      <a:pPr algn="l"/>
                      <a:r>
                        <a:rPr lang="ja-JP" sz="900" b="1">
                          <a:solidFill>
                            <a:srgbClr val="000000"/>
                          </a:solidFill>
                          <a:latin typeface="Meiryo UI"/>
                          <a:ea typeface="Meiryo UI"/>
                        </a:rPr>
                        <a:t>②〜④ 合計（最大）</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368,389</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5"/>
                  </a:ext>
                </a:extLst>
              </a:tr>
              <a:tr h="232000">
                <a:tc>
                  <a:txBody>
                    <a:bodyPr/>
                    <a:lstStyle/>
                    <a:p>
                      <a:pPr algn="l"/>
                      <a:r>
                        <a:rPr lang="ja-JP" sz="900" b="1">
                          <a:solidFill>
                            <a:srgbClr val="000000"/>
                          </a:solidFill>
                          <a:latin typeface="Meiryo UI"/>
                          <a:ea typeface="Meiryo UI"/>
                        </a:rPr>
                        <a:t>ご参考｜事業用土地の時価目安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lang="ja-JP" sz="900" b="1">
                          <a:solidFill>
                            <a:srgbClr val="000000"/>
                          </a:solidFill>
                          <a:latin typeface="Meiryo UI"/>
                          <a:ea typeface="Meiryo UI"/>
                        </a:rPr>
                        <a:t>　</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6"/>
                  </a:ext>
                </a:extLst>
              </a:tr>
              <a:tr h="232000">
                <a:tc>
                  <a:txBody>
                    <a:bodyPr/>
                    <a:lstStyle/>
                    <a:p>
                      <a:pPr algn="l"/>
                      <a:r>
                        <a:rPr lang="ja-JP" sz="900" b="0">
                          <a:solidFill>
                            <a:srgbClr val="000000"/>
                          </a:solidFill>
                          <a:latin typeface="Meiryo UI"/>
                          <a:ea typeface="Meiryo UI"/>
                        </a:rPr>
                        <a:t>法人所有（10筆）</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63,082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7"/>
                  </a:ext>
                </a:extLst>
              </a:tr>
              <a:tr h="232000">
                <a:tc>
                  <a:txBody>
                    <a:bodyPr/>
                    <a:lstStyle/>
                    <a:p>
                      <a:pPr algn="l"/>
                      <a:r>
                        <a:rPr lang="ja-JP" sz="900" b="0">
                          <a:solidFill>
                            <a:srgbClr val="000000"/>
                          </a:solidFill>
                          <a:latin typeface="Meiryo UI"/>
                          <a:ea typeface="Meiryo UI"/>
                        </a:rPr>
                        <a:t>代表者個人名義・事業用（25筆）</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124,664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32000">
                <a:tc>
                  <a:txBody>
                    <a:bodyPr/>
                    <a:lstStyle/>
                    <a:p>
                      <a:pPr algn="l"/>
                      <a:r>
                        <a:rPr lang="ja-JP" sz="900" b="1">
                          <a:solidFill>
                            <a:srgbClr val="000000"/>
                          </a:solidFill>
                          <a:latin typeface="Meiryo UI"/>
                          <a:ea typeface="Meiryo UI"/>
                        </a:rPr>
                        <a:t>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187,745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9"/>
                  </a:ext>
                </a:extLst>
              </a:tr>
            </a:tbl>
          </a:graphicData>
        </a:graphic>
      </p:graphicFrame>
      <p:sp>
        <p:nvSpPr>
          <p:cNvPr id="12" name="TextBox 209">
            <a:extLst>
              <a:ext uri="{FF2B5EF4-FFF2-40B4-BE49-F238E27FC236}">
                <a16:creationId xmlns:a16="http://schemas.microsoft.com/office/drawing/2014/main" id="{6213C1B4-1DB8-B498-3A28-5942E4D4003E}"/>
              </a:ext>
            </a:extLst>
          </p:cNvPr>
          <p:cNvSpPr txBox="1"/>
          <p:nvPr/>
        </p:nvSpPr>
        <p:spPr>
          <a:xfrm>
            <a:off x="4640000" y="4250000"/>
            <a:ext cx="4260000" cy="1100000"/>
          </a:xfrm>
          <a:prstGeom prst="rect">
            <a:avLst/>
          </a:prstGeom>
          <a:noFill/>
        </p:spPr>
        <p:txBody>
          <a:bodyPr wrap="square">
            <a:spAutoFit/>
          </a:bodyPr>
          <a:lstStyle/>
          <a:p>
            <a:r>
              <a:rPr lang="ja-JP" altLang="en-US" sz="950" dirty="0" b="1">
                <a:latin typeface="Meiryo UI"/>
                <a:ea typeface="Meiryo UI"/>
              </a:rPr>
              <a:t>【確認させていただきたい事項】</a:t>
            </a:r>
          </a:p>
          <a:p>
            <a:r>
              <a:rPr lang="ja-JP" altLang="en-US" sz="950" dirty="0">
                <a:latin typeface="Meiryo UI"/>
                <a:ea typeface="Meiryo UI"/>
              </a:rPr>
              <a:t>→ 株価算定の考え方（時価純資産＋営業権／EBITDA倍率／不動産の評価）</a:t>
            </a:r>
          </a:p>
          <a:p>
            <a:r>
              <a:rPr lang="ja-JP" altLang="en-US" sz="950" dirty="0">
                <a:latin typeface="Meiryo UI"/>
                <a:ea typeface="Meiryo UI"/>
              </a:rPr>
              <a:t>→ 26/9期（2026年9月期）実績の織り込み方</a:t>
            </a:r>
          </a:p>
          <a:p>
            <a:r>
              <a:rPr lang="ja-JP" altLang="en-US" sz="950" dirty="0">
                <a:latin typeface="Meiryo UI"/>
                <a:ea typeface="Meiryo UI"/>
              </a:rPr>
              <a:t>→ 役員借入金返済の原資（対象会社資金／貴社からの貸付）</a:t>
            </a:r>
          </a:p>
          <a:p>
            <a:r>
              <a:rPr lang="ja-JP" altLang="en-US" sz="950" dirty="0">
                <a:latin typeface="Meiryo UI"/>
                <a:ea typeface="Meiryo UI"/>
              </a:rPr>
              <a:t>→ 既存借入金は保証差替えか借換えか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ltLang="en-US" dirty="0">
                <a:solidFill>
                  <a:srgbClr val="5A5A5A"/>
                </a:solidFill>
                <a:latin typeface="Meiryo UI" panose="020B0604030504040204" pitchFamily="50" charset="-128"/>
                <a:ea typeface="Meiryo UI" panose="020B0604030504040204" pitchFamily="50" charset="-128"/>
              </a:rPr>
              <a:t>貴社の資金手当て・意思決定プロセスについて</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4"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5"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6" name="Google Shape;217;p4"/>
          <p:cNvGraphicFramePr/>
          <p:nvPr>
            <p:extLst>
              <p:ext uri="{D42A27DB-BD31-4B8C-83A1-F6EECF244321}">
                <p14:modId xmlns:p14="http://schemas.microsoft.com/office/powerpoint/2010/main" val="2032783406"/>
              </p:ext>
            </p:extLst>
          </p:nvPr>
        </p:nvGraphicFramePr>
        <p:xfrm>
          <a:off x="398462" y="838712"/>
          <a:ext cx="8352650" cy="534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確認項目</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確認させていただきたい内容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確認状況</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83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資金調達の要否</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譲渡対価に加え、役員借入金の返済（31,300千円）・不動産の買取（買取の場合、時価目安124,664千円）・借入金の借換え（借換えの場合、212,425千円）を含む所要資金に対し、外部資金の調達が必要か。</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altLang="en-US"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830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資金調達方法</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自己資金／金融機関借入（買収ファイナンス含む）／増資（既存・新規投資家）等の内訳と、調達の確度・時期。</a:t>
                      </a:r>
                    </a:p>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 借入の場合、金融機関への事前相談状況。</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2"/>
                  </a:ext>
                </a:extLst>
              </a:tr>
              <a:tr h="83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社内の意思決定</a:t>
                      </a:r>
                    </a:p>
                    <a:p>
                      <a:pPr marL="0" marR="0" lvl="0" indent="0" algn="ctr" rtl="0">
                        <a:buNone/>
                      </a:pPr>
                      <a:r>
                        <a:rPr lang="ja-JP" altLang="en-US" sz="1200" b="0" dirty="0">
                          <a:latin typeface="Meiryo UI" panose="020B0604030504040204" pitchFamily="50" charset="-128"/>
                          <a:ea typeface="Meiryo UI" panose="020B0604030504040204" pitchFamily="50" charset="-128"/>
                        </a:rPr>
                        <a:t>プロセス</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en-US" altLang="ja-JP" sz="1050" b="0" dirty="0" err="1">
                          <a:solidFill>
                            <a:schemeClr val="dk1"/>
                          </a:solidFill>
                          <a:latin typeface="Meiryo UI" panose="020B0604030504040204" pitchFamily="50" charset="-128"/>
                          <a:ea typeface="Meiryo UI" panose="020B0604030504040204" pitchFamily="50" charset="-128"/>
                          <a:cs typeface="Arial"/>
                          <a:sym typeface="Arial"/>
                        </a:rPr>
                        <a:t>意向表明・基本合意・最終契約の各段階の決裁機関（取締役会／株主総会）と所要期間。</a:t>
                      </a:r>
                    </a:p>
                    <a:p>
                      <a:pPr marL="139700" marR="0" lvl="0" indent="-139700" algn="l" rtl="0">
                        <a:lnSpc>
                          <a:spcPct val="100000"/>
                        </a:lnSpc>
                        <a:buClr>
                          <a:srgbClr val="66A09A"/>
                        </a:buClr>
                        <a:buSzPts val="1120"/>
                        <a:buFont typeface="Noto Sans Symbols"/>
                        <a:buNone/>
                      </a:pPr>
                      <a:r>
                        <a:rPr lang="en-US" altLang="ja-JP" sz="1050" b="0" dirty="0" err="1">
                          <a:solidFill>
                            <a:schemeClr val="dk1"/>
                          </a:solidFill>
                          <a:latin typeface="Meiryo UI" panose="020B0604030504040204" pitchFamily="50" charset="-128"/>
                          <a:ea typeface="Meiryo UI" panose="020B0604030504040204" pitchFamily="50" charset="-128"/>
                          <a:cs typeface="Arial"/>
                          <a:sym typeface="Arial"/>
                        </a:rPr>
                        <a:t>→ 投資契約上、株主（投資家）の事前承諾を要する事項に該当するか。</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83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決裁者・体制</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最終決裁者、本件のご担当者、外部アドバイザー（会計士・弁護士等）の起用予定。</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83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DDの範囲・期間</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財務・税務・法務・労務・不動産（鑑定の要否）・ビジネスDDの範囲、委託先、所要期間。</a:t>
                      </a:r>
                      <a:endParaRPr lang="en-US" altLang="ja-JP" sz="1100" b="0" dirty="0">
                        <a:solidFill>
                          <a:schemeClr val="dk1"/>
                        </a:solidFill>
                        <a:latin typeface="Meiryo UI" panose="020B0604030504040204" pitchFamily="50" charset="-128"/>
                        <a:ea typeface="Meiryo UI" panose="020B0604030504040204" pitchFamily="50" charset="-128"/>
                        <a:cs typeface="Arial"/>
                        <a:sym typeface="Arial"/>
                      </a:endParaRP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83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en-US" altLang="ja-JP" sz="1200" b="0" dirty="0">
                          <a:solidFill>
                            <a:schemeClr val="dk1"/>
                          </a:solidFill>
                          <a:latin typeface="Meiryo UI" panose="020B0604030504040204" pitchFamily="50" charset="-128"/>
                          <a:ea typeface="Meiryo UI" panose="020B0604030504040204" pitchFamily="50" charset="-128"/>
                        </a:rPr>
                        <a:t>クロージングまでの</a:t>
                      </a:r>
                    </a:p>
                    <a:p>
                      <a:pPr marL="0" marR="0" lvl="0" indent="0" algn="ctr" rtl="0">
                        <a:lnSpc>
                          <a:spcPct val="100000"/>
                        </a:lnSpc>
                        <a:buClr>
                          <a:schemeClr val="dk1"/>
                        </a:buClr>
                        <a:buSzPts val="1500"/>
                        <a:buFont typeface="Arial"/>
                        <a:buNone/>
                      </a:pPr>
                      <a:r>
                        <a:rPr lang="en-US" altLang="ja-JP" sz="1200" b="0" dirty="0">
                          <a:solidFill>
                            <a:schemeClr val="dk1"/>
                          </a:solidFill>
                          <a:latin typeface="Meiryo UI" panose="020B0604030504040204" pitchFamily="50" charset="-128"/>
                          <a:ea typeface="Meiryo UI" panose="020B0604030504040204" pitchFamily="50" charset="-128"/>
                        </a:rPr>
                        <a:t>スケジュール</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貴社ご希望のクロージング時期。</a:t>
                      </a:r>
                    </a:p>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 鮎の事業サイクル（12月：稚鮎仕入／4〜6月：放流出荷の最盛期）を踏まえた引継時期の調整。</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6"/>
                  </a:ext>
                </a:extLst>
              </a:tr>
            </a:tbl>
          </a:graphicData>
        </a:graphic>
      </p:graphicFrame>
      <p:sp>
        <p:nvSpPr>
          <p:cNvPr id="7" name="Google Shape;218;p4"/>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８．社用車の引き取りについては、ディーラーからの見積もり等時価で評価し、買取か退職金で現物支給する。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９．社用車と同様に、時価で評価し、買取か退職金で現物支給する。 </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１０．不動産の取り扱いについて、不動産売買をするのか賃貸をするのか確認する。</a:t>
            </a:r>
            <a:r>
              <a:rPr lang="ja-JP" sz="1200" b="0" i="0" u="none" strike="noStrike" cap="none">
                <a:solidFill>
                  <a:srgbClr val="FF0000"/>
                </a:solidFill>
                <a:latin typeface="Arial"/>
                <a:ea typeface="Arial"/>
                <a:cs typeface="Arial"/>
                <a:sym typeface="Arial"/>
              </a:rPr>
              <a:t>オーナーが対象会社に賃貸している場合、賃料を安く設定していることが多く、M&amp;Aのタイミングで賃料を戻すこともあり、留意が必要。</a:t>
            </a:r>
            <a:r>
              <a:rPr lang="ja-JP" sz="1200" b="0" i="0" u="none" strike="noStrike" cap="none">
                <a:solidFill>
                  <a:schemeClr val="dk1"/>
                </a:solidFill>
                <a:latin typeface="Arial"/>
                <a:ea typeface="Arial"/>
                <a:cs typeface="Arial"/>
                <a:sym typeface="Arial"/>
              </a:rPr>
              <a:t>対象会社で所有している遊休地を買い取る（退職金として現物支給）ケースなども想定する。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１１．取締役・キーマンの継続勤務については、</a:t>
            </a:r>
            <a:r>
              <a:rPr lang="ja-JP" sz="1200" b="0" i="0" u="none" strike="noStrike" cap="none">
                <a:solidFill>
                  <a:srgbClr val="FF0000"/>
                </a:solidFill>
                <a:latin typeface="Arial"/>
                <a:ea typeface="Arial"/>
                <a:cs typeface="Arial"/>
                <a:sym typeface="Arial"/>
              </a:rPr>
              <a:t>本件M&amp;Aが開示が否かや非開示の場合、どのタイミングで開示をするかも確認</a:t>
            </a:r>
            <a:r>
              <a:rPr lang="ja-JP" sz="1200" b="0" i="0" u="none" strike="noStrike" cap="none">
                <a:solidFill>
                  <a:schemeClr val="dk1"/>
                </a:solidFill>
                <a:latin typeface="Arial"/>
                <a:ea typeface="Arial"/>
                <a:cs typeface="Arial"/>
                <a:sym typeface="Arial"/>
              </a:rPr>
              <a:t>する。また、</a:t>
            </a:r>
            <a:r>
              <a:rPr lang="ja-JP" sz="1200" b="0" i="0" u="none" strike="noStrike" cap="none">
                <a:solidFill>
                  <a:srgbClr val="FF0000"/>
                </a:solidFill>
                <a:latin typeface="Arial"/>
                <a:ea typeface="Arial"/>
                <a:cs typeface="Arial"/>
                <a:sym typeface="Arial"/>
              </a:rPr>
              <a:t>業務内容をしっかりと認識し、</a:t>
            </a:r>
            <a:r>
              <a:rPr lang="ja-JP" sz="1200" b="0" i="0" u="none" strike="noStrike" cap="none">
                <a:solidFill>
                  <a:schemeClr val="dk1"/>
                </a:solidFill>
                <a:latin typeface="Arial"/>
                <a:ea typeface="Arial"/>
                <a:cs typeface="Arial"/>
                <a:sym typeface="Arial"/>
              </a:rPr>
              <a:t>退職リスクも確認する。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１２．従業員の継続雇用は基本条件とはなる。一般的には1年間か当面の間（実質は1年）。</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１３．オーナー社長が差し入れする連帯保証の解除と個人資産の担保解除は必須条件。</a:t>
            </a:r>
            <a:r>
              <a:rPr lang="ja-JP" sz="1200" b="0" i="0" u="none" strike="noStrike" cap="none">
                <a:solidFill>
                  <a:srgbClr val="FF0000"/>
                </a:solidFill>
                <a:latin typeface="Arial"/>
                <a:ea typeface="Arial"/>
                <a:cs typeface="Arial"/>
                <a:sym typeface="Arial"/>
              </a:rPr>
              <a:t>個人資産の担保提供は必ず謄本等で確認</a:t>
            </a:r>
            <a:r>
              <a:rPr lang="ja-JP" sz="1200" b="0" i="0" u="none" strike="noStrike" cap="none">
                <a:solidFill>
                  <a:schemeClr val="dk1"/>
                </a:solidFill>
                <a:latin typeface="Arial"/>
                <a:ea typeface="Arial"/>
                <a:cs typeface="Arial"/>
                <a:sym typeface="Arial"/>
              </a:rPr>
              <a:t>する。</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ltLang="en-US" dirty="0">
                <a:solidFill>
                  <a:srgbClr val="5A5A5A"/>
                </a:solidFill>
                <a:latin typeface="Meiryo UI" panose="020B0604030504040204" pitchFamily="50" charset="-128"/>
                <a:ea typeface="Meiryo UI" panose="020B0604030504040204" pitchFamily="50" charset="-128"/>
              </a:rPr>
              <a:t>意向表明書の記載事項（すり合わせ）</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4"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dirty="0">
                <a:solidFill>
                  <a:srgbClr val="5A5A5A"/>
                </a:solidFill>
                <a:latin typeface="Meiryo UI" panose="020B0604030504040204" pitchFamily="50" charset="-128"/>
                <a:ea typeface="Meiryo UI" panose="020B0604030504040204" pitchFamily="50" charset="-128"/>
                <a:sym typeface="Arial"/>
              </a:rPr>
              <a:t>各種条件について</a:t>
            </a:r>
            <a:endParaRPr dirty="0">
              <a:latin typeface="Meiryo UI" panose="020B0604030504040204" pitchFamily="50" charset="-128"/>
              <a:ea typeface="Meiryo UI" panose="020B0604030504040204" pitchFamily="50" charset="-128"/>
            </a:endParaRPr>
          </a:p>
        </p:txBody>
      </p:sp>
      <p:sp>
        <p:nvSpPr>
          <p:cNvPr id="5"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graphicFrame>
        <p:nvGraphicFramePr>
          <p:cNvPr id="6" name="Google Shape;217;p4"/>
          <p:cNvGraphicFramePr/>
          <p:nvPr>
            <p:extLst>
              <p:ext uri="{D42A27DB-BD31-4B8C-83A1-F6EECF244321}">
                <p14:modId xmlns:p14="http://schemas.microsoft.com/office/powerpoint/2010/main" val="2032783406"/>
              </p:ext>
            </p:extLst>
          </p:nvPr>
        </p:nvGraphicFramePr>
        <p:xfrm>
          <a:off x="398462" y="838712"/>
          <a:ext cx="8352650" cy="5480000"/>
        </p:xfrm>
        <a:graphic>
          <a:graphicData uri="http://schemas.openxmlformats.org/drawingml/2006/table">
            <a:tbl>
              <a:tblPr>
                <a:noFill/>
                <a:tableStyleId>{FA6B9113-0DA6-4419-ABC6-697280B0F4CE}</a:tableStyleId>
              </a:tblPr>
              <a:tblGrid>
                <a:gridCol w="43265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5076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tblGrid>
              <a:tr h="360000">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No.</a:t>
                      </a:r>
                    </a:p>
                  </a:txBody>
                  <a:tcPr marL="0" marR="0" marT="0" marB="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記載項目</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売主様のご意向／ご記載いただきたい内容</a:t>
                      </a: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buNone/>
                      </a:pPr>
                      <a:r>
                        <a:rPr lang="ja-JP" sz="1400" b="1" dirty="0">
                          <a:solidFill>
                            <a:schemeClr val="lt1"/>
                          </a:solidFill>
                          <a:latin typeface="Meiryo UI" panose="020B0604030504040204" pitchFamily="50" charset="-128"/>
                          <a:ea typeface="Meiryo UI" panose="020B0604030504040204" pitchFamily="50" charset="-128"/>
                          <a:cs typeface="Arial"/>
                          <a:sym typeface="Arial"/>
                        </a:rPr>
                        <a:t>協議状況</a:t>
                      </a:r>
                    </a:p>
                  </a:txBody>
                  <a:tcPr marL="0" marR="0" marT="0" marB="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1</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譲渡価格・算定根拠</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売主様希望は応相談。価格に加え、算定根拠（純資産・営業権・不動産の評価、26/9期実績の扱い）の併記をお願いしたい。</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lang="ja-JP" altLang="en-US" sz="1500" b="1" i="0" u="none" strike="noStrike" cap="none" dirty="0">
                          <a:solidFill>
                            <a:srgbClr val="252525"/>
                          </a:solidFill>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1"/>
                  </a:ext>
                </a:extLst>
              </a:tr>
              <a:tr h="640000">
                <a:tc>
                  <a:txBody>
                    <a:bodyPr/>
                    <a:lstStyle/>
                    <a:p>
                      <a:pPr marL="0" marR="0" lvl="0" indent="0" algn="ctr" rtl="0">
                        <a:lnSpc>
                          <a:spcPct val="100000"/>
                        </a:lnSpc>
                        <a:buClr>
                          <a:schemeClr val="dk1"/>
                        </a:buClr>
                        <a:buSzPts val="1500"/>
                        <a:buFont typeface="Arial"/>
                        <a:buNone/>
                      </a:pPr>
                      <a:r>
                        <a:rPr lang="en-US" sz="1500" b="0" dirty="0">
                          <a:latin typeface="Meiryo UI" panose="020B0604030504040204" pitchFamily="50" charset="-128"/>
                          <a:ea typeface="Meiryo UI" panose="020B0604030504040204" pitchFamily="50" charset="-128"/>
                        </a:rPr>
                        <a:t>2</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solidFill>
                            <a:schemeClr val="dk1"/>
                          </a:solidFill>
                          <a:latin typeface="Meiryo UI" panose="020B0604030504040204" pitchFamily="50" charset="-128"/>
                          <a:ea typeface="Meiryo UI" panose="020B0604030504040204" pitchFamily="50" charset="-128"/>
                        </a:rPr>
                        <a:t>取引形態</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buClr>
                          <a:srgbClr val="66A09A"/>
                        </a:buClr>
                        <a:buSzPts val="1120"/>
                        <a:buFont typeface="Arial"/>
                        <a:buNone/>
                      </a:pPr>
                      <a:r>
                        <a:rPr lang="ja-JP" altLang="en-US" sz="1050" b="0" dirty="0">
                          <a:solidFill>
                            <a:schemeClr val="dk1"/>
                          </a:solidFill>
                          <a:latin typeface="Meiryo UI" panose="020B0604030504040204" pitchFamily="50" charset="-128"/>
                          <a:ea typeface="Meiryo UI" panose="020B0604030504040204" pitchFamily="50" charset="-128"/>
                        </a:rPr>
                        <a:t>株式100％譲渡（発行済200株）。</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chemeClr val="dk1"/>
                        </a:buClr>
                        <a:buSzPts val="1600"/>
                        <a:buFont typeface="Arial"/>
                        <a:buNone/>
                      </a:pPr>
                      <a:r>
                        <a:rPr kumimoji="0" lang="ja-JP" altLang="en-US" sz="1500" b="0"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確認済</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chemeClr val="tx2">
                        <a:lumMod val="90000"/>
                      </a:schemeClr>
                    </a:solidFill>
                  </a:tcPr>
                </a:tc>
                <a:extLst>
                  <a:ext uri="{0D108BD9-81ED-4DB2-BD59-A6C34878D82A}">
                    <a16:rowId xmlns:a16="http://schemas.microsoft.com/office/drawing/2014/main" val="10002"/>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3</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buNone/>
                      </a:pPr>
                      <a:r>
                        <a:rPr lang="ja-JP" altLang="en-US" sz="1200" b="0" dirty="0">
                          <a:latin typeface="Meiryo UI" panose="020B0604030504040204" pitchFamily="50" charset="-128"/>
                          <a:ea typeface="Meiryo UI" panose="020B0604030504040204" pitchFamily="50" charset="-128"/>
                        </a:rPr>
                        <a:t>個人名義不動産の</a:t>
                      </a:r>
                    </a:p>
                    <a:p>
                      <a:pPr marL="0" marR="0" lvl="0" indent="0" algn="ctr" rtl="0">
                        <a:buNone/>
                      </a:pPr>
                      <a:r>
                        <a:rPr lang="ja-JP" altLang="en-US" sz="1200" b="0" dirty="0">
                          <a:latin typeface="Meiryo UI" panose="020B0604030504040204" pitchFamily="50" charset="-128"/>
                          <a:ea typeface="Meiryo UI" panose="020B0604030504040204" pitchFamily="50" charset="-128"/>
                        </a:rPr>
                        <a:t>取扱い</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en-US" altLang="ja-JP" sz="1050" b="0" dirty="0" err="1">
                          <a:solidFill>
                            <a:schemeClr val="dk1"/>
                          </a:solidFill>
                          <a:latin typeface="Meiryo UI" panose="020B0604030504040204" pitchFamily="50" charset="-128"/>
                          <a:ea typeface="Meiryo UI" panose="020B0604030504040204" pitchFamily="50" charset="-128"/>
                          <a:cs typeface="Arial"/>
                          <a:sym typeface="Arial"/>
                        </a:rPr>
                        <a:t>買取／賃貸借の別、取得主体、価格・賃料の考え方。最終契約と同時期の締結を想定。</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3"/>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4</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役員借入金・</a:t>
                      </a:r>
                    </a:p>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連帯保証</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クロージング時の役員借入金31,300千円の返済、連帯保証・担保の解除方法（差替え／借換え）。</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4"/>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5</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役員・従業員の処遇</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cs typeface="Arial"/>
                          <a:sym typeface="Arial"/>
                        </a:rPr>
                        <a:t>社長・副社長の継続勤務（期間・役職・報酬）、従業員の現行水準以上での継続雇用。</a:t>
                      </a:r>
                      <a:endParaRPr lang="en-US" altLang="ja-JP" sz="1100" b="0" dirty="0">
                        <a:solidFill>
                          <a:schemeClr val="dk1"/>
                        </a:solidFill>
                        <a:latin typeface="Meiryo UI" panose="020B0604030504040204" pitchFamily="50" charset="-128"/>
                        <a:ea typeface="Meiryo UI" panose="020B0604030504040204" pitchFamily="50" charset="-128"/>
                        <a:cs typeface="Arial"/>
                        <a:sym typeface="Arial"/>
                      </a:endParaRP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要協議</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5"/>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6</a:t>
                      </a:r>
                    </a:p>
                  </a:txBody>
                  <a:tcPr marL="72000" marR="72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en-US" altLang="ja-JP" sz="1200" b="0" dirty="0">
                          <a:solidFill>
                            <a:schemeClr val="dk1"/>
                          </a:solidFill>
                          <a:latin typeface="Meiryo UI" panose="020B0604030504040204" pitchFamily="50" charset="-128"/>
                          <a:ea typeface="Meiryo UI" panose="020B0604030504040204" pitchFamily="50" charset="-128"/>
                        </a:rPr>
                        <a:t>資金調達方法</a:t>
                      </a:r>
                    </a:p>
                  </a:txBody>
                  <a:tcPr marL="0" marR="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自己資金／借入／増資の別と、調達の確度・時期。</a:t>
                      </a:r>
                    </a:p>
                  </a:txBody>
                  <a:tcPr marL="72000" marR="72000" marT="36000" marB="36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tcPr>
                </a:tc>
                <a:tc>
                  <a:txBody>
                    <a:bodyPr/>
                    <a:lstStyle/>
                    <a:p>
                      <a:pPr marL="0" marR="0" lvl="0" indent="0" algn="ctr" rtl="0">
                        <a:lnSpc>
                          <a:spcPct val="100000"/>
                        </a:lnSpc>
                        <a:buClr>
                          <a:srgbClr val="252525"/>
                        </a:buClr>
                        <a:buSzPts val="1600"/>
                        <a:buFont typeface="Arial"/>
                        <a:buNone/>
                      </a:pPr>
                      <a:r>
                        <a:rPr kumimoji="0" lang="ja-JP" altLang="en-US" sz="1500" b="1" i="0" u="none" strike="noStrike" kern="0" cap="none" spc="0" normalizeH="0" baseline="0" noProof="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6"/>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7</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DD・スケジュール</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DDの範囲・時期、最終契約・クロージングの予定時期、独占交渉期間、意向表明書の有効期限。</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srgbClr val="252525"/>
                        </a:buClr>
                        <a:buSzPts val="1600"/>
                        <a:buFont typeface="Arial"/>
                        <a:buNone/>
                        <a:tabLst/>
                        <a:defRPr/>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7"/>
                  </a:ext>
                </a:extLst>
              </a:tr>
              <a:tr h="640000">
                <a:tc>
                  <a:txBody>
                    <a:bodyPr/>
                    <a:lstStyle/>
                    <a:p>
                      <a:pPr marL="0" marR="0" lvl="0" indent="0" algn="ctr" rtl="0">
                        <a:buNone/>
                      </a:pPr>
                      <a:r>
                        <a:rPr lang="en-US" sz="1500" b="0" dirty="0">
                          <a:latin typeface="Meiryo UI" panose="020B0604030504040204" pitchFamily="50" charset="-128"/>
                          <a:ea typeface="Meiryo UI" panose="020B0604030504040204" pitchFamily="50" charset="-128"/>
                        </a:rPr>
                        <a:t>8</a:t>
                      </a:r>
                    </a:p>
                  </a:txBody>
                  <a:tcPr marL="72000" marR="72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buClr>
                          <a:schemeClr val="dk1"/>
                        </a:buClr>
                        <a:buSzPts val="1500"/>
                        <a:buFont typeface="Arial"/>
                        <a:buNone/>
                      </a:pPr>
                      <a:r>
                        <a:rPr lang="ja-JP" altLang="en-US" sz="1200" b="0" dirty="0">
                          <a:solidFill>
                            <a:schemeClr val="dk1"/>
                          </a:solidFill>
                          <a:latin typeface="Meiryo UI" panose="020B0604030504040204" pitchFamily="50" charset="-128"/>
                          <a:ea typeface="Meiryo UI" panose="020B0604030504040204" pitchFamily="50" charset="-128"/>
                        </a:rPr>
                        <a:t>前提条件</a:t>
                      </a:r>
                    </a:p>
                  </a:txBody>
                  <a:tcPr marL="0" marR="0" marT="36000" marB="36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buClr>
                          <a:srgbClr val="66A09A"/>
                        </a:buClr>
                        <a:buSzPts val="1120"/>
                        <a:buFont typeface="Noto Sans Symbols"/>
                        <a:buNone/>
                      </a:pPr>
                      <a:r>
                        <a:rPr lang="ja-JP" altLang="en-US" sz="1050" b="0" dirty="0">
                          <a:solidFill>
                            <a:schemeClr val="dk1"/>
                          </a:solidFill>
                          <a:latin typeface="Meiryo UI" panose="020B0604030504040204" pitchFamily="50" charset="-128"/>
                          <a:ea typeface="Meiryo UI" panose="020B0604030504040204" pitchFamily="50" charset="-128"/>
                        </a:rPr>
                        <a:t>26/9期決算の確認、許認可・借地契約の継続、金融機関の承諾、個人名義不動産の手当て等。</a:t>
                      </a:r>
                    </a:p>
                  </a:txBody>
                  <a:tcPr marL="72000" marR="72000" marT="36000" marB="36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buClr>
                          <a:srgbClr val="252525"/>
                        </a:buClr>
                        <a:buSzPts val="1600"/>
                        <a:buFont typeface="Arial"/>
                        <a:buNone/>
                        <a:tabLst/>
                        <a:defRPr/>
                      </a:pPr>
                      <a:r>
                        <a:rPr kumimoji="0" lang="ja-JP" altLang="en-US" sz="1500" b="1" i="0" u="none" strike="noStrike" kern="0" cap="none" spc="0" normalizeH="0" baseline="0" noProof="0" dirty="0">
                          <a:ln>
                            <a:noFill/>
                          </a:ln>
                          <a:solidFill>
                            <a:srgbClr val="252525"/>
                          </a:solidFill>
                          <a:effectLst/>
                          <a:uLnTx/>
                          <a:uFillTx/>
                          <a:latin typeface="Meiryo UI" panose="020B0604030504040204" pitchFamily="50" charset="-128"/>
                          <a:ea typeface="Meiryo UI" panose="020B0604030504040204" pitchFamily="50" charset="-128"/>
                          <a:cs typeface="Arial"/>
                          <a:sym typeface="Arial"/>
                        </a:rPr>
                        <a:t>要確認</a:t>
                      </a:r>
                    </a:p>
                  </a:txBody>
                  <a:tcPr marL="72000" marR="72000" marT="36000" marB="36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EF7CD"/>
                    </a:solidFill>
                  </a:tcPr>
                </a:tc>
                <a:extLst>
                  <a:ext uri="{0D108BD9-81ED-4DB2-BD59-A6C34878D82A}">
                    <a16:rowId xmlns:a16="http://schemas.microsoft.com/office/drawing/2014/main" val="10008"/>
                  </a:ext>
                </a:extLst>
              </a:tr>
            </a:tbl>
          </a:graphicData>
        </a:graphic>
      </p:graphicFrame>
      <p:sp>
        <p:nvSpPr>
          <p:cNvPr id="7" name="Google Shape;218;p4"/>
          <p:cNvSpPr txBox="1"/>
          <p:nvPr/>
        </p:nvSpPr>
        <p:spPr>
          <a:xfrm>
            <a:off x="9324528" y="0"/>
            <a:ext cx="2448272"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【記載時の留意事項】</a:t>
            </a:r>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８．社用車の引き取りについては、ディーラーからの見積もり等時価で評価し、買取か退職金で現物支給する。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９．社用車と同様に、時価で評価し、買取か退職金で現物支給する。 </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１０．不動産の取り扱いについて、不動産売買をするのか賃貸をするのか確認する。</a:t>
            </a:r>
            <a:r>
              <a:rPr lang="ja-JP" sz="1200" b="0" i="0" u="none" strike="noStrike" cap="none">
                <a:solidFill>
                  <a:srgbClr val="FF0000"/>
                </a:solidFill>
                <a:latin typeface="Arial"/>
                <a:ea typeface="Arial"/>
                <a:cs typeface="Arial"/>
                <a:sym typeface="Arial"/>
              </a:rPr>
              <a:t>オーナーが対象会社に賃貸している場合、賃料を安く設定していることが多く、M&amp;Aのタイミングで賃料を戻すこともあり、留意が必要。</a:t>
            </a:r>
            <a:r>
              <a:rPr lang="ja-JP" sz="1200" b="0" i="0" u="none" strike="noStrike" cap="none">
                <a:solidFill>
                  <a:schemeClr val="dk1"/>
                </a:solidFill>
                <a:latin typeface="Arial"/>
                <a:ea typeface="Arial"/>
                <a:cs typeface="Arial"/>
                <a:sym typeface="Arial"/>
              </a:rPr>
              <a:t>対象会社で所有している遊休地を買い取る（退職金として現物支給）ケースなども想定する。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１１．取締役・キーマンの継続勤務については、</a:t>
            </a:r>
            <a:r>
              <a:rPr lang="ja-JP" sz="1200" b="0" i="0" u="none" strike="noStrike" cap="none">
                <a:solidFill>
                  <a:srgbClr val="FF0000"/>
                </a:solidFill>
                <a:latin typeface="Arial"/>
                <a:ea typeface="Arial"/>
                <a:cs typeface="Arial"/>
                <a:sym typeface="Arial"/>
              </a:rPr>
              <a:t>本件M&amp;Aが開示が否かや非開示の場合、どのタイミングで開示をするかも確認</a:t>
            </a:r>
            <a:r>
              <a:rPr lang="ja-JP" sz="1200" b="0" i="0" u="none" strike="noStrike" cap="none">
                <a:solidFill>
                  <a:schemeClr val="dk1"/>
                </a:solidFill>
                <a:latin typeface="Arial"/>
                <a:ea typeface="Arial"/>
                <a:cs typeface="Arial"/>
                <a:sym typeface="Arial"/>
              </a:rPr>
              <a:t>する。また、</a:t>
            </a:r>
            <a:r>
              <a:rPr lang="ja-JP" sz="1200" b="0" i="0" u="none" strike="noStrike" cap="none">
                <a:solidFill>
                  <a:srgbClr val="FF0000"/>
                </a:solidFill>
                <a:latin typeface="Arial"/>
                <a:ea typeface="Arial"/>
                <a:cs typeface="Arial"/>
                <a:sym typeface="Arial"/>
              </a:rPr>
              <a:t>業務内容をしっかりと認識し、</a:t>
            </a:r>
            <a:r>
              <a:rPr lang="ja-JP" sz="1200" b="0" i="0" u="none" strike="noStrike" cap="none">
                <a:solidFill>
                  <a:schemeClr val="dk1"/>
                </a:solidFill>
                <a:latin typeface="Arial"/>
                <a:ea typeface="Arial"/>
                <a:cs typeface="Arial"/>
                <a:sym typeface="Arial"/>
              </a:rPr>
              <a:t>退職リスクも確認する。</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１２．従業員の継続雇用は基本条件とはなる。一般的には1年間か当面の間（実質は1年）。</a:t>
            </a: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ja-JP" sz="1200" b="0" i="0" u="none" strike="noStrike" cap="none">
                <a:solidFill>
                  <a:schemeClr val="dk1"/>
                </a:solidFill>
                <a:latin typeface="Arial"/>
                <a:ea typeface="Arial"/>
                <a:cs typeface="Arial"/>
                <a:sym typeface="Arial"/>
              </a:rPr>
              <a:t>１３．オーナー社長が差し入れする連帯保証の解除と個人資産の担保解除は必須条件。</a:t>
            </a:r>
            <a:r>
              <a:rPr lang="ja-JP" sz="1200" b="0" i="0" u="none" strike="noStrike" cap="none">
                <a:solidFill>
                  <a:srgbClr val="FF0000"/>
                </a:solidFill>
                <a:latin typeface="Arial"/>
                <a:ea typeface="Arial"/>
                <a:cs typeface="Arial"/>
                <a:sym typeface="Arial"/>
              </a:rPr>
              <a:t>個人資産の担保提供は必ず謄本等で確認</a:t>
            </a:r>
            <a:r>
              <a:rPr lang="ja-JP" sz="1200" b="0" i="0" u="none" strike="noStrike" cap="none">
                <a:solidFill>
                  <a:schemeClr val="dk1"/>
                </a:solidFill>
                <a:latin typeface="Arial"/>
                <a:ea typeface="Arial"/>
                <a:cs typeface="Arial"/>
                <a:sym typeface="Arial"/>
              </a:rPr>
              <a:t>する。</a:t>
            </a:r>
            <a:endParaRPr sz="1200" b="0"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1_Template1">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1388</TotalTime>
  <Words>3684</Words>
  <Application>Microsoft Office PowerPoint</Application>
  <PresentationFormat>画面に合わせる (4:3)</PresentationFormat>
  <Paragraphs>371</Paragraphs>
  <Slides>12</Slides>
  <Notes>7</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日本M&amp;Aセンター</dc:creator>
  <cp:lastModifiedBy>田垣内 啓介</cp:lastModifiedBy>
  <cp:revision>29</cp:revision>
  <cp:lastPrinted>2026-07-13T11:25:43Z</cp:lastPrinted>
  <dcterms:created xsi:type="dcterms:W3CDTF">2010-02-03T05:21:11Z</dcterms:created>
  <dcterms:modified xsi:type="dcterms:W3CDTF">2026-09-07T23:44:24Z</dcterms:modified>
</cp:coreProperties>
</file>